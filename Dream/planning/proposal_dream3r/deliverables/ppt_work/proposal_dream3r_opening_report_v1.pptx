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25" r:id="rId3"/>
    <p:sldId id="291" r:id="rId4"/>
    <p:sldId id="326" r:id="rId5"/>
    <p:sldId id="323" r:id="rId6"/>
    <p:sldId id="327" r:id="rId7"/>
    <p:sldId id="328" r:id="rId8"/>
    <p:sldId id="329" r:id="rId9"/>
    <p:sldId id="321" r:id="rId10"/>
    <p:sldId id="330" r:id="rId11"/>
    <p:sldId id="331" r:id="rId12"/>
    <p:sldId id="332" r:id="rId13"/>
    <p:sldId id="333" r:id="rId14"/>
    <p:sldId id="334" r:id="rId15"/>
    <p:sldId id="335" r:id="rId16"/>
    <p:sldId id="286" r:id="rId17"/>
    <p:sldId id="336" r:id="rId18"/>
    <p:sldId id="322" r:id="rId19"/>
    <p:sldId id="269" r:id="rId20"/>
    <p:sldId id="30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29381-CE07-2A8E-CE7D-7B8A92772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4CA9FA-67C9-1D7E-D7C9-1F799F5B8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A8743-85ED-264A-E42C-EE019F0D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8804B-2293-929E-74E4-E43B1CDC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B47495-B2A7-F5C6-0564-E01F76A4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9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E3CD0-7395-86A2-B7B8-6BA1AEB4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CEC29-1678-1AC9-AD6F-36772503D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EBEDC1-1F0E-AD30-B828-CD3EB9BD9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0D67F1-89C2-E964-C383-E999062E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88AC9E-4229-AD8C-40C7-6D3FFFC3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920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2BFFA-E220-3FD4-62F1-3EDF224B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A736BF-B84C-039E-A076-88F9961BB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4A04E5-2C45-DAD5-394D-AFEEAE61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D2BE9-2BA6-EA89-802E-736E4EA49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D2936-AD21-1B9A-08FA-C2FBA421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23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190F8-D825-57B5-4C4B-40710044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F17263-BDA7-6E00-9CEE-C9314DC90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C86A4E-9DE4-7CE3-4DF3-7AD62D9D1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DA50B1-DE27-5F31-7EEC-C9911276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BFBB61-E886-76DA-EB3A-51C8D0321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B964A8-ECA0-84F9-55AE-1695FA51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457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428D4-0BF1-61AD-42CE-7E3ADEDF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A0E7B8-5AC1-399E-193E-BB996D8F8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91DFE8-E358-492B-4751-ECC9B84F4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86BFDA-6334-EAC8-72E8-ABB861887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193B91-ECFE-C9A3-98F9-50FF4FE74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418B29-954E-07F8-3AD8-E2A819E7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D7A9B5-C7AB-9810-9761-7E215A2B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780240-4BB0-4BFB-F7EF-FC519B39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33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E057B-0C74-3E1E-BB19-71F821F4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96B932-412B-7890-C756-3C4885624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DF26CB-51A7-A73E-E94F-0B2753B8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BFFE98-64CD-4961-ECA4-AB8DB949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35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C14A88-BAD9-F405-A00B-3FE3EF094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6DE19A-A7B5-366F-E961-82C820B7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7A5AD3-692B-8B29-04C3-0F616055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609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DEF34-0742-5AD7-6093-343B17CA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DCE86-63C0-545B-660D-F2BE7B2C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D8CA6C-F1DF-B426-59B0-934C5E435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46143A-3E8C-718E-7038-E686896D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B1B6E0-5A64-F2FF-1B8B-2ADC78D7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0E12B3-BE0C-71E8-6362-BEEA4EDB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400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A8162-C162-3916-C28F-35D29F31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C4A836-E728-2A6B-689D-6EE848FAD9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00789E-5186-D14F-73CD-14DF013AA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B1FAA5-F789-4651-D09F-CA787761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898EC0-7548-AB7E-6300-94952881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9E4A13-3A6E-4C78-6D2A-11C89EB7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33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13B12-E1A5-5ED6-5271-7AB27B35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4C94C2-6931-62B4-843F-A05703650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368600-E4FE-0C7D-AD05-3C4B42DE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28327F-FDE8-2455-620F-D1D3EE61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4DA3CA-416F-0007-A386-6A128A71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5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0AC03A-E0DC-D9E0-C089-D3AA35DCA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8A293F-D054-D6C5-83FF-F51FA1A94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C0C070-8A92-6D1F-0AC7-68CF8EF4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B07AE-467B-8355-6F18-7A9B46896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A33EB7-0ACA-8CF3-CAE4-421FFBE5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320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563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89AF80-839E-C0D1-D624-4C86EC0F4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C149E0-859C-7D70-9DC0-E56DBB598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ACDBF3-99EA-329B-9032-262BEF915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398D1-D056-446E-9EBC-07E4BE92D889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F9CA77-A5E4-EF1D-5D35-55D763BFC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743A0C-07B2-FF10-57A8-86A6B9E21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C6C7C-5F0C-4909-863B-952DD71C0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881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3" Type="http://schemas.microsoft.com/office/2007/relationships/hdphoto" Target="../media/hdphoto2.wdp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74" descr="蓝色的火车在站台旁&#10;&#10;描述已自动生成">
            <a:extLst>
              <a:ext uri="{FF2B5EF4-FFF2-40B4-BE49-F238E27FC236}">
                <a16:creationId xmlns:a16="http://schemas.microsoft.com/office/drawing/2014/main" id="{C24D3379-CEA9-B5E4-8DD5-D6B28A6EFE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10992" y="1491674"/>
            <a:ext cx="12190866" cy="4060213"/>
          </a:xfrm>
          <a:prstGeom prst="rect">
            <a:avLst/>
          </a:prstGeom>
        </p:spPr>
      </p:pic>
      <p:pic>
        <p:nvPicPr>
          <p:cNvPr id="38" name="图片 37" descr="蓝色的火车在站台旁&#10;&#10;描述已自动生成">
            <a:extLst>
              <a:ext uri="{FF2B5EF4-FFF2-40B4-BE49-F238E27FC236}">
                <a16:creationId xmlns:a16="http://schemas.microsoft.com/office/drawing/2014/main" id="{AADB9E92-2602-E394-F5C1-CFB07044C6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C3ECDC1B-A721-5B7D-B18E-B865EB92FAB0}"/>
              </a:ext>
            </a:extLst>
          </p:cNvPr>
          <p:cNvSpPr/>
          <p:nvPr/>
        </p:nvSpPr>
        <p:spPr>
          <a:xfrm>
            <a:off x="9859" y="0"/>
            <a:ext cx="12191999" cy="4994676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A677FC0-A2E8-A823-37CD-63C05A4210C1}"/>
              </a:ext>
            </a:extLst>
          </p:cNvPr>
          <p:cNvSpPr/>
          <p:nvPr/>
        </p:nvSpPr>
        <p:spPr>
          <a:xfrm>
            <a:off x="-200025" y="4972049"/>
            <a:ext cx="12592049" cy="200932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65100" dist="38100" dir="2700000" algn="tl" rotWithShape="0">
              <a:schemeClr val="accent6">
                <a:lumMod val="7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B4F62AF-ED77-962C-9DA2-7D0E45B8BECA}"/>
              </a:ext>
            </a:extLst>
          </p:cNvPr>
          <p:cNvSpPr txBox="1"/>
          <p:nvPr/>
        </p:nvSpPr>
        <p:spPr>
          <a:xfrm>
            <a:off x="1121230" y="1370071"/>
            <a:ext cx="994954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fontAlgn="ctr"/>
            <a:endParaRPr lang="en-US" altLang="zh-CN" sz="8800" b="1" dirty="0"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1F2A59C-9C94-24D7-5F77-22C13C613D3A}"/>
              </a:ext>
            </a:extLst>
          </p:cNvPr>
          <p:cNvSpPr txBox="1"/>
          <p:nvPr/>
        </p:nvSpPr>
        <p:spPr>
          <a:xfrm>
            <a:off x="1121229" y="2868368"/>
            <a:ext cx="99495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19085B4-6B71-0628-F568-C5A895E8676C}"/>
              </a:ext>
            </a:extLst>
          </p:cNvPr>
          <p:cNvSpPr/>
          <p:nvPr/>
        </p:nvSpPr>
        <p:spPr>
          <a:xfrm>
            <a:off x="1708597" y="649431"/>
            <a:ext cx="8795657" cy="518999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D8AFCA1-80AF-C0A6-9F8C-17F39150AA91}"/>
              </a:ext>
            </a:extLst>
          </p:cNvPr>
          <p:cNvSpPr/>
          <p:nvPr/>
        </p:nvSpPr>
        <p:spPr>
          <a:xfrm>
            <a:off x="1698172" y="655128"/>
            <a:ext cx="8795657" cy="50760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698A0E3-EA56-CC91-88A4-0D3428451819}"/>
              </a:ext>
            </a:extLst>
          </p:cNvPr>
          <p:cNvSpPr txBox="1"/>
          <p:nvPr/>
        </p:nvSpPr>
        <p:spPr>
          <a:xfrm>
            <a:off x="2591205" y="724264"/>
            <a:ext cx="7009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7EC80C53-D93E-9AA1-ACDA-5CE0CB1E934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28724"/>
          <a:stretch/>
        </p:blipFill>
        <p:spPr>
          <a:xfrm>
            <a:off x="-189600" y="4956435"/>
            <a:ext cx="12592049" cy="2009321"/>
          </a:xfrm>
          <a:prstGeom prst="rect">
            <a:avLst/>
          </a:prstGeom>
        </p:spPr>
      </p:pic>
      <p:grpSp>
        <p:nvGrpSpPr>
          <p:cNvPr id="47" name="组合 46">
            <a:extLst>
              <a:ext uri="{FF2B5EF4-FFF2-40B4-BE49-F238E27FC236}">
                <a16:creationId xmlns:a16="http://schemas.microsoft.com/office/drawing/2014/main" id="{1F71F6B1-CA3F-ED32-14A0-ECD8A76CB701}"/>
              </a:ext>
            </a:extLst>
          </p:cNvPr>
          <p:cNvGrpSpPr/>
          <p:nvPr/>
        </p:nvGrpSpPr>
        <p:grpSpPr>
          <a:xfrm>
            <a:off x="3534319" y="4077132"/>
            <a:ext cx="5123363" cy="514187"/>
            <a:chOff x="3534319" y="4160835"/>
            <a:chExt cx="5123363" cy="514187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E0CFFFA4-B559-71FB-431F-3F8169EE97AE}"/>
                </a:ext>
              </a:extLst>
            </p:cNvPr>
            <p:cNvSpPr txBox="1"/>
            <p:nvPr/>
          </p:nvSpPr>
          <p:spPr>
            <a:xfrm>
              <a:off x="4477278" y="4203468"/>
              <a:ext cx="3237444" cy="4551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>
                <a:lnSpc>
                  <a:spcPts val="28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</a:t>
              </a:r>
              <a:r>
                <a:rPr lang="en-US" altLang="zh-CN" sz="28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</a:t>
              </a:r>
              <a:endPara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C79485F5-52A0-17E0-DEFE-CDC22063289C}"/>
                </a:ext>
              </a:extLst>
            </p:cNvPr>
            <p:cNvGrpSpPr/>
            <p:nvPr/>
          </p:nvGrpSpPr>
          <p:grpSpPr>
            <a:xfrm flipH="1">
              <a:off x="3534319" y="4160835"/>
              <a:ext cx="699494" cy="514187"/>
              <a:chOff x="7980705" y="3472450"/>
              <a:chExt cx="699494" cy="464314"/>
            </a:xfrm>
          </p:grpSpPr>
          <p:sp>
            <p:nvSpPr>
              <p:cNvPr id="53" name="半闭框 52">
                <a:extLst>
                  <a:ext uri="{FF2B5EF4-FFF2-40B4-BE49-F238E27FC236}">
                    <a16:creationId xmlns:a16="http://schemas.microsoft.com/office/drawing/2014/main" id="{12DC86D9-1EF6-4C26-5C0E-901ED12B0583}"/>
                  </a:ext>
                </a:extLst>
              </p:cNvPr>
              <p:cNvSpPr/>
              <p:nvPr/>
            </p:nvSpPr>
            <p:spPr>
              <a:xfrm rot="19098178">
                <a:off x="8225347" y="3472450"/>
                <a:ext cx="454852" cy="464314"/>
              </a:xfrm>
              <a:prstGeom prst="halfFrame">
                <a:avLst>
                  <a:gd name="adj1" fmla="val 20777"/>
                  <a:gd name="adj2" fmla="val 21653"/>
                </a:avLst>
              </a:prstGeom>
              <a:gradFill>
                <a:gsLst>
                  <a:gs pos="0">
                    <a:schemeClr val="accent1"/>
                  </a:gs>
                  <a:gs pos="30000">
                    <a:schemeClr val="accent2">
                      <a:alpha val="50000"/>
                    </a:schemeClr>
                  </a:gs>
                </a:gsLst>
                <a:lin ang="2700000" scaled="0"/>
              </a:gradFill>
              <a:ln>
                <a:gradFill>
                  <a:gsLst>
                    <a:gs pos="0">
                      <a:schemeClr val="accent6">
                        <a:lumMod val="5000"/>
                        <a:lumOff val="95000"/>
                      </a:schemeClr>
                    </a:gs>
                    <a:gs pos="45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4" name="半闭框 53">
                <a:extLst>
                  <a:ext uri="{FF2B5EF4-FFF2-40B4-BE49-F238E27FC236}">
                    <a16:creationId xmlns:a16="http://schemas.microsoft.com/office/drawing/2014/main" id="{4D5A8A2E-E35A-0A61-603D-FB80A87B6172}"/>
                  </a:ext>
                </a:extLst>
              </p:cNvPr>
              <p:cNvSpPr/>
              <p:nvPr/>
            </p:nvSpPr>
            <p:spPr>
              <a:xfrm rot="19098178">
                <a:off x="7980705" y="3493444"/>
                <a:ext cx="389222" cy="397318"/>
              </a:xfrm>
              <a:prstGeom prst="halfFrame">
                <a:avLst>
                  <a:gd name="adj1" fmla="val 20777"/>
                  <a:gd name="adj2" fmla="val 21653"/>
                </a:avLst>
              </a:prstGeom>
              <a:gradFill>
                <a:gsLst>
                  <a:gs pos="0">
                    <a:schemeClr val="accent1"/>
                  </a:gs>
                  <a:gs pos="30000">
                    <a:schemeClr val="accent2">
                      <a:alpha val="50000"/>
                    </a:schemeClr>
                  </a:gs>
                </a:gsLst>
                <a:lin ang="2700000" scaled="0"/>
              </a:gradFill>
              <a:ln>
                <a:gradFill>
                  <a:gsLst>
                    <a:gs pos="0">
                      <a:schemeClr val="accent6">
                        <a:lumMod val="5000"/>
                        <a:lumOff val="95000"/>
                      </a:schemeClr>
                    </a:gs>
                    <a:gs pos="45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96006435-31F5-D21C-7ED7-EF2FAEFE36CF}"/>
                </a:ext>
              </a:extLst>
            </p:cNvPr>
            <p:cNvGrpSpPr/>
            <p:nvPr/>
          </p:nvGrpSpPr>
          <p:grpSpPr>
            <a:xfrm>
              <a:off x="7958188" y="4160835"/>
              <a:ext cx="699494" cy="514187"/>
              <a:chOff x="7980705" y="3472450"/>
              <a:chExt cx="699494" cy="464314"/>
            </a:xfrm>
          </p:grpSpPr>
          <p:sp>
            <p:nvSpPr>
              <p:cNvPr id="51" name="半闭框 50">
                <a:extLst>
                  <a:ext uri="{FF2B5EF4-FFF2-40B4-BE49-F238E27FC236}">
                    <a16:creationId xmlns:a16="http://schemas.microsoft.com/office/drawing/2014/main" id="{94864E3B-9187-23B7-F3E0-39D9379C5895}"/>
                  </a:ext>
                </a:extLst>
              </p:cNvPr>
              <p:cNvSpPr/>
              <p:nvPr/>
            </p:nvSpPr>
            <p:spPr>
              <a:xfrm rot="19098178">
                <a:off x="8225347" y="3472450"/>
                <a:ext cx="454852" cy="464314"/>
              </a:xfrm>
              <a:prstGeom prst="halfFrame">
                <a:avLst>
                  <a:gd name="adj1" fmla="val 20777"/>
                  <a:gd name="adj2" fmla="val 21653"/>
                </a:avLst>
              </a:prstGeom>
              <a:gradFill>
                <a:gsLst>
                  <a:gs pos="0">
                    <a:schemeClr val="accent1"/>
                  </a:gs>
                  <a:gs pos="30000">
                    <a:schemeClr val="accent2">
                      <a:alpha val="50000"/>
                    </a:schemeClr>
                  </a:gs>
                </a:gsLst>
                <a:lin ang="2700000" scaled="0"/>
              </a:gradFill>
              <a:ln>
                <a:gradFill>
                  <a:gsLst>
                    <a:gs pos="0">
                      <a:schemeClr val="accent6">
                        <a:lumMod val="5000"/>
                        <a:lumOff val="95000"/>
                      </a:schemeClr>
                    </a:gs>
                    <a:gs pos="45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" name="半闭框 51">
                <a:extLst>
                  <a:ext uri="{FF2B5EF4-FFF2-40B4-BE49-F238E27FC236}">
                    <a16:creationId xmlns:a16="http://schemas.microsoft.com/office/drawing/2014/main" id="{495C2414-A520-FE24-72DB-3785729CF2D9}"/>
                  </a:ext>
                </a:extLst>
              </p:cNvPr>
              <p:cNvSpPr/>
              <p:nvPr/>
            </p:nvSpPr>
            <p:spPr>
              <a:xfrm rot="19098178">
                <a:off x="7980705" y="3493444"/>
                <a:ext cx="389222" cy="397318"/>
              </a:xfrm>
              <a:prstGeom prst="halfFrame">
                <a:avLst>
                  <a:gd name="adj1" fmla="val 20777"/>
                  <a:gd name="adj2" fmla="val 21653"/>
                </a:avLst>
              </a:prstGeom>
              <a:gradFill>
                <a:gsLst>
                  <a:gs pos="0">
                    <a:schemeClr val="accent1"/>
                  </a:gs>
                  <a:gs pos="30000">
                    <a:schemeClr val="accent2">
                      <a:alpha val="50000"/>
                    </a:schemeClr>
                  </a:gs>
                </a:gsLst>
                <a:lin ang="2700000" scaled="0"/>
              </a:gradFill>
              <a:ln>
                <a:gradFill>
                  <a:gsLst>
                    <a:gs pos="0">
                      <a:schemeClr val="accent6">
                        <a:lumMod val="5000"/>
                        <a:lumOff val="95000"/>
                      </a:schemeClr>
                    </a:gs>
                    <a:gs pos="45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36215C5-8A92-317A-0E80-14AE75E4C081}"/>
              </a:ext>
            </a:extLst>
          </p:cNvPr>
          <p:cNvGrpSpPr/>
          <p:nvPr/>
        </p:nvGrpSpPr>
        <p:grpSpPr>
          <a:xfrm>
            <a:off x="541283" y="5529259"/>
            <a:ext cx="11109435" cy="894900"/>
            <a:chOff x="68062" y="5495049"/>
            <a:chExt cx="11688576" cy="894900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A92B555D-322A-46D9-3C6C-F01653D4F1FB}"/>
                </a:ext>
              </a:extLst>
            </p:cNvPr>
            <p:cNvCxnSpPr>
              <a:cxnSpLocks/>
            </p:cNvCxnSpPr>
            <p:nvPr/>
          </p:nvCxnSpPr>
          <p:spPr>
            <a:xfrm>
              <a:off x="2627844" y="5518107"/>
              <a:ext cx="0" cy="323216"/>
            </a:xfrm>
            <a:prstGeom prst="line">
              <a:avLst/>
            </a:prstGeom>
            <a:ln w="15875">
              <a:solidFill>
                <a:schemeClr val="bg1">
                  <a:lumMod val="75000"/>
                  <a:alpha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4627FE61-24B7-1433-83C8-1F4F313E270F}"/>
                </a:ext>
              </a:extLst>
            </p:cNvPr>
            <p:cNvCxnSpPr>
              <a:cxnSpLocks/>
            </p:cNvCxnSpPr>
            <p:nvPr/>
          </p:nvCxnSpPr>
          <p:spPr>
            <a:xfrm>
              <a:off x="4406578" y="5517891"/>
              <a:ext cx="0" cy="323648"/>
            </a:xfrm>
            <a:prstGeom prst="line">
              <a:avLst/>
            </a:prstGeom>
            <a:ln w="15875">
              <a:solidFill>
                <a:schemeClr val="bg1">
                  <a:lumMod val="75000"/>
                  <a:alpha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89744A5F-5992-A0F2-DC6F-6309D4402D20}"/>
                </a:ext>
              </a:extLst>
            </p:cNvPr>
            <p:cNvCxnSpPr>
              <a:cxnSpLocks/>
            </p:cNvCxnSpPr>
            <p:nvPr/>
          </p:nvCxnSpPr>
          <p:spPr>
            <a:xfrm>
              <a:off x="6771856" y="5517752"/>
              <a:ext cx="0" cy="323927"/>
            </a:xfrm>
            <a:prstGeom prst="line">
              <a:avLst/>
            </a:prstGeom>
            <a:ln w="15875">
              <a:solidFill>
                <a:schemeClr val="bg1">
                  <a:lumMod val="75000"/>
                  <a:alpha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BFDF415-7178-E402-44A7-5AD037AE1CB9}"/>
                </a:ext>
              </a:extLst>
            </p:cNvPr>
            <p:cNvCxnSpPr>
              <a:cxnSpLocks/>
            </p:cNvCxnSpPr>
            <p:nvPr/>
          </p:nvCxnSpPr>
          <p:spPr>
            <a:xfrm>
              <a:off x="9157234" y="5517677"/>
              <a:ext cx="0" cy="324076"/>
            </a:xfrm>
            <a:prstGeom prst="line">
              <a:avLst/>
            </a:prstGeom>
            <a:ln w="15875">
              <a:solidFill>
                <a:schemeClr val="bg1">
                  <a:lumMod val="75000"/>
                  <a:alpha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09DD996-A1BE-B1E0-3671-747A2965E626}"/>
                </a:ext>
              </a:extLst>
            </p:cNvPr>
            <p:cNvSpPr txBox="1"/>
            <p:nvPr/>
          </p:nvSpPr>
          <p:spPr>
            <a:xfrm>
              <a:off x="68062" y="5495049"/>
              <a:ext cx="25994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重点实验室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85EDC70A-BC59-8779-2EE6-DFDF22130AAE}"/>
                </a:ext>
              </a:extLst>
            </p:cNvPr>
            <p:cNvSpPr txBox="1"/>
            <p:nvPr/>
          </p:nvSpPr>
          <p:spPr>
            <a:xfrm>
              <a:off x="2702178" y="5495049"/>
              <a:ext cx="16568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科技大学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11DCF56-E4CB-B936-59C8-FFFC470A9633}"/>
                </a:ext>
              </a:extLst>
            </p:cNvPr>
            <p:cNvSpPr txBox="1"/>
            <p:nvPr/>
          </p:nvSpPr>
          <p:spPr>
            <a:xfrm>
              <a:off x="4425018" y="5495049"/>
              <a:ext cx="23141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材料研究所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11BC6188-8E6B-2455-1931-0963ADC08D26}"/>
                </a:ext>
              </a:extLst>
            </p:cNvPr>
            <p:cNvSpPr txBox="1"/>
            <p:nvPr/>
          </p:nvSpPr>
          <p:spPr>
            <a:xfrm>
              <a:off x="6794316" y="5495049"/>
              <a:ext cx="2382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工程大学检验科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E27E6272-50A6-CBCE-9FB7-FECDF4DD7506}"/>
                </a:ext>
              </a:extLst>
            </p:cNvPr>
            <p:cNvSpPr txBox="1"/>
            <p:nvPr/>
          </p:nvSpPr>
          <p:spPr>
            <a:xfrm>
              <a:off x="9157234" y="5495049"/>
              <a:ext cx="25994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工程大仪器实验室</a:t>
              </a: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CF07F4A-5D46-32D7-9462-CCAB9717C793}"/>
                </a:ext>
              </a:extLst>
            </p:cNvPr>
            <p:cNvCxnSpPr>
              <a:cxnSpLocks/>
            </p:cNvCxnSpPr>
            <p:nvPr/>
          </p:nvCxnSpPr>
          <p:spPr>
            <a:xfrm>
              <a:off x="2627844" y="6043675"/>
              <a:ext cx="0" cy="323216"/>
            </a:xfrm>
            <a:prstGeom prst="line">
              <a:avLst/>
            </a:prstGeom>
            <a:ln w="15875">
              <a:solidFill>
                <a:schemeClr val="bg1">
                  <a:lumMod val="75000"/>
                  <a:alpha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3EA6EB3-4736-0DE6-80F5-305B80CE5CC9}"/>
                </a:ext>
              </a:extLst>
            </p:cNvPr>
            <p:cNvCxnSpPr>
              <a:cxnSpLocks/>
            </p:cNvCxnSpPr>
            <p:nvPr/>
          </p:nvCxnSpPr>
          <p:spPr>
            <a:xfrm>
              <a:off x="4406578" y="6043459"/>
              <a:ext cx="0" cy="323648"/>
            </a:xfrm>
            <a:prstGeom prst="line">
              <a:avLst/>
            </a:prstGeom>
            <a:ln w="15875">
              <a:solidFill>
                <a:schemeClr val="bg1">
                  <a:lumMod val="75000"/>
                  <a:alpha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8B9613A8-532B-69A5-D628-D7CAD70D3E20}"/>
                </a:ext>
              </a:extLst>
            </p:cNvPr>
            <p:cNvCxnSpPr>
              <a:cxnSpLocks/>
            </p:cNvCxnSpPr>
            <p:nvPr/>
          </p:nvCxnSpPr>
          <p:spPr>
            <a:xfrm>
              <a:off x="6771856" y="6043320"/>
              <a:ext cx="0" cy="323927"/>
            </a:xfrm>
            <a:prstGeom prst="line">
              <a:avLst/>
            </a:prstGeom>
            <a:ln w="15875">
              <a:solidFill>
                <a:schemeClr val="bg1">
                  <a:lumMod val="75000"/>
                  <a:alpha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228ECB88-00C5-A4C6-78A8-7B1C601A1BED}"/>
                </a:ext>
              </a:extLst>
            </p:cNvPr>
            <p:cNvCxnSpPr>
              <a:cxnSpLocks/>
            </p:cNvCxnSpPr>
            <p:nvPr/>
          </p:nvCxnSpPr>
          <p:spPr>
            <a:xfrm>
              <a:off x="9157234" y="6043245"/>
              <a:ext cx="0" cy="324076"/>
            </a:xfrm>
            <a:prstGeom prst="line">
              <a:avLst/>
            </a:prstGeom>
            <a:ln w="15875">
              <a:solidFill>
                <a:schemeClr val="bg1">
                  <a:lumMod val="75000"/>
                  <a:alpha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0BB3F62F-CDA7-DCA6-DAF6-F7DF3E88ED6C}"/>
                </a:ext>
              </a:extLst>
            </p:cNvPr>
            <p:cNvSpPr txBox="1"/>
            <p:nvPr/>
          </p:nvSpPr>
          <p:spPr>
            <a:xfrm>
              <a:off x="68062" y="6020617"/>
              <a:ext cx="25994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牵引动力重点实验室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7395D522-CE5C-CF07-0E6E-DF093ECADB6D}"/>
                </a:ext>
              </a:extLst>
            </p:cNvPr>
            <p:cNvSpPr txBox="1"/>
            <p:nvPr/>
          </p:nvSpPr>
          <p:spPr>
            <a:xfrm>
              <a:off x="2702178" y="6020617"/>
              <a:ext cx="16568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交通中心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3BAFBBFC-FB6D-1A74-CF1F-7BC2D3072E88}"/>
                </a:ext>
              </a:extLst>
            </p:cNvPr>
            <p:cNvSpPr txBox="1"/>
            <p:nvPr/>
          </p:nvSpPr>
          <p:spPr>
            <a:xfrm>
              <a:off x="4425018" y="6020617"/>
              <a:ext cx="23141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机械工程学院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FCC8663-637C-50AB-0D97-3B72DBD646E7}"/>
                </a:ext>
              </a:extLst>
            </p:cNvPr>
            <p:cNvSpPr txBox="1"/>
            <p:nvPr/>
          </p:nvSpPr>
          <p:spPr>
            <a:xfrm>
              <a:off x="6794316" y="6020617"/>
              <a:ext cx="2382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轨道技术重点实验室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315999A-E642-62AF-D707-E8170BAB7CC3}"/>
                </a:ext>
              </a:extLst>
            </p:cNvPr>
            <p:cNvSpPr txBox="1"/>
            <p:nvPr/>
          </p:nvSpPr>
          <p:spPr>
            <a:xfrm>
              <a:off x="9157234" y="6020617"/>
              <a:ext cx="25994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牵引动力重点实验室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777240" y="502920"/>
            <a:ext cx="10652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700" b="0">
                <a:solidFill>
                  <a:srgbClr val="666666"/>
                </a:solidFill>
                <a:latin typeface="Microsoft YaHei"/>
              </a:rPr>
              <a:t>硕士学位论文开题报告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1234440"/>
            <a:ext cx="10698480" cy="1325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400" b="1">
                <a:solidFill>
                  <a:srgbClr val="0B57A3"/>
                </a:solidFill>
                <a:latin typeface="Microsoft YaHei"/>
              </a:rPr>
              <a:t>面向前馈式三维重建的
候选架构设计与统一聚合管理平台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77639" y="3886200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003F7F"/>
                </a:solidFill>
                <a:latin typeface="Microsoft YaHei"/>
              </a:rPr>
              <a:t>汇报人：XXX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5321808"/>
            <a:ext cx="10149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北京航空航天大学  |  计算机视觉与三维重建方向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7680" y="5815584"/>
            <a:ext cx="35661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2026年5月</a:t>
            </a:r>
          </a:p>
        </p:txBody>
      </p:sp>
    </p:spTree>
    <p:extLst>
      <p:ext uri="{BB962C8B-B14F-4D97-AF65-F5344CB8AC3E}">
        <p14:creationId xmlns:p14="http://schemas.microsoft.com/office/powerpoint/2010/main" val="2650204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A2A4-1B07-73AA-D589-82D7CF08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BEAEF33-5431-17DD-5055-C80F2BB7B7C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36576" tIns="18288" rIns="36576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80C9AD9-072C-588D-E4CF-C7C13321FC75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研究背景：3R 方向爆发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8368" y="1078992"/>
            <a:ext cx="10881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700" b="0">
                <a:solidFill>
                  <a:srgbClr val="242424"/>
                </a:solidFill>
                <a:latin typeface="Microsoft YaHei"/>
              </a:rPr>
              <a:t>DUSt3R 之后，前馈式三维重建从单一基准方法演化为多支线并行的研究谱系。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005840" y="3154680"/>
            <a:ext cx="10058400" cy="0"/>
          </a:xfrm>
          <a:prstGeom prst="line">
            <a:avLst/>
          </a:prstGeom>
          <a:ln w="25400">
            <a:solidFill>
              <a:srgbClr val="0B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1143000" y="3035808"/>
            <a:ext cx="219456" cy="219456"/>
          </a:xfrm>
          <a:prstGeom prst="ellipse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22960" y="1965960"/>
            <a:ext cx="868680" cy="329184"/>
          </a:xfrm>
          <a:prstGeom prst="roundRect">
            <a:avLst/>
          </a:prstGeom>
          <a:solidFill>
            <a:srgbClr val="003F7F"/>
          </a:solidFill>
          <a:ln>
            <a:solidFill>
              <a:srgbClr val="003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2024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2359152"/>
            <a:ext cx="1417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0B57A3"/>
                </a:solidFill>
                <a:latin typeface="Microsoft YaHei"/>
              </a:rPr>
              <a:t>DUSt3R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3456432"/>
            <a:ext cx="160020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242424"/>
                </a:solidFill>
                <a:latin typeface="Microsoft YaHei"/>
              </a:rPr>
              <a:t>pose-free
pointmap</a:t>
            </a:r>
          </a:p>
        </p:txBody>
      </p:sp>
      <p:sp>
        <p:nvSpPr>
          <p:cNvPr id="99" name="Oval 98"/>
          <p:cNvSpPr/>
          <p:nvPr/>
        </p:nvSpPr>
        <p:spPr>
          <a:xfrm>
            <a:off x="2788920" y="3035808"/>
            <a:ext cx="219456" cy="219456"/>
          </a:xfrm>
          <a:prstGeom prst="ellipse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2468879" y="1965960"/>
            <a:ext cx="868680" cy="329184"/>
          </a:xfrm>
          <a:prstGeom prst="roundRect">
            <a:avLst/>
          </a:prstGeom>
          <a:solidFill>
            <a:srgbClr val="003F7F"/>
          </a:solidFill>
          <a:ln>
            <a:solidFill>
              <a:srgbClr val="003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2024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94560" y="2359152"/>
            <a:ext cx="1417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0B57A3"/>
                </a:solidFill>
                <a:latin typeface="Microsoft YaHei"/>
              </a:rPr>
              <a:t>MASt3R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03120" y="3456432"/>
            <a:ext cx="160020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242424"/>
                </a:solidFill>
                <a:latin typeface="Microsoft YaHei"/>
              </a:rPr>
              <a:t>3D-grounded
matching</a:t>
            </a:r>
          </a:p>
        </p:txBody>
      </p:sp>
      <p:sp>
        <p:nvSpPr>
          <p:cNvPr id="103" name="Oval 102"/>
          <p:cNvSpPr/>
          <p:nvPr/>
        </p:nvSpPr>
        <p:spPr>
          <a:xfrm>
            <a:off x="4434840" y="3035808"/>
            <a:ext cx="219456" cy="219456"/>
          </a:xfrm>
          <a:prstGeom prst="ellipse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114800" y="1965960"/>
            <a:ext cx="868680" cy="329184"/>
          </a:xfrm>
          <a:prstGeom prst="roundRect">
            <a:avLst/>
          </a:prstGeom>
          <a:solidFill>
            <a:srgbClr val="003F7F"/>
          </a:solidFill>
          <a:ln>
            <a:solidFill>
              <a:srgbClr val="003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2025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40479" y="2359152"/>
            <a:ext cx="1417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0B57A3"/>
                </a:solidFill>
                <a:latin typeface="Microsoft YaHei"/>
              </a:rPr>
              <a:t>Fast3R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49039" y="3456432"/>
            <a:ext cx="160020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242424"/>
                </a:solidFill>
                <a:latin typeface="Microsoft YaHei"/>
              </a:rPr>
              <a:t>many-view
single forward</a:t>
            </a:r>
          </a:p>
        </p:txBody>
      </p:sp>
      <p:sp>
        <p:nvSpPr>
          <p:cNvPr id="107" name="Oval 106"/>
          <p:cNvSpPr/>
          <p:nvPr/>
        </p:nvSpPr>
        <p:spPr>
          <a:xfrm>
            <a:off x="6080760" y="3035808"/>
            <a:ext cx="219456" cy="219456"/>
          </a:xfrm>
          <a:prstGeom prst="ellipse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5760720" y="1965960"/>
            <a:ext cx="868680" cy="329184"/>
          </a:xfrm>
          <a:prstGeom prst="roundRect">
            <a:avLst/>
          </a:prstGeom>
          <a:solidFill>
            <a:srgbClr val="003F7F"/>
          </a:solidFill>
          <a:ln>
            <a:solidFill>
              <a:srgbClr val="003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2024-25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0" y="2359152"/>
            <a:ext cx="1417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0B57A3"/>
                </a:solidFill>
                <a:latin typeface="Microsoft YaHei"/>
              </a:rPr>
              <a:t>MonST3R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94960" y="3456432"/>
            <a:ext cx="160020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242424"/>
                </a:solidFill>
                <a:latin typeface="Microsoft YaHei"/>
              </a:rPr>
              <a:t>video / dynamic
4D</a:t>
            </a:r>
          </a:p>
        </p:txBody>
      </p:sp>
      <p:sp>
        <p:nvSpPr>
          <p:cNvPr id="111" name="Oval 110"/>
          <p:cNvSpPr/>
          <p:nvPr/>
        </p:nvSpPr>
        <p:spPr>
          <a:xfrm>
            <a:off x="7726679" y="3035808"/>
            <a:ext cx="219456" cy="219456"/>
          </a:xfrm>
          <a:prstGeom prst="ellipse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7406640" y="1965960"/>
            <a:ext cx="868680" cy="329184"/>
          </a:xfrm>
          <a:prstGeom prst="roundRect">
            <a:avLst/>
          </a:prstGeom>
          <a:solidFill>
            <a:srgbClr val="003F7F"/>
          </a:solidFill>
          <a:ln>
            <a:solidFill>
              <a:srgbClr val="003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2024-25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32319" y="2359152"/>
            <a:ext cx="1417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0B57A3"/>
                </a:solidFill>
                <a:latin typeface="Microsoft YaHei"/>
              </a:rPr>
              <a:t>Spann3R / CUT3R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040879" y="3456432"/>
            <a:ext cx="160020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242424"/>
                </a:solidFill>
                <a:latin typeface="Microsoft YaHei"/>
              </a:rPr>
              <a:t>long-sequence
memory</a:t>
            </a:r>
          </a:p>
        </p:txBody>
      </p:sp>
      <p:sp>
        <p:nvSpPr>
          <p:cNvPr id="115" name="Oval 114"/>
          <p:cNvSpPr/>
          <p:nvPr/>
        </p:nvSpPr>
        <p:spPr>
          <a:xfrm>
            <a:off x="9646920" y="3035808"/>
            <a:ext cx="219456" cy="219456"/>
          </a:xfrm>
          <a:prstGeom prst="ellipse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9326880" y="1965960"/>
            <a:ext cx="868680" cy="329184"/>
          </a:xfrm>
          <a:prstGeom prst="roundRect">
            <a:avLst/>
          </a:prstGeom>
          <a:solidFill>
            <a:srgbClr val="003F7F"/>
          </a:solidFill>
          <a:ln>
            <a:solidFill>
              <a:srgbClr val="003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2025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52560" y="2359152"/>
            <a:ext cx="1417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0B57A3"/>
                </a:solidFill>
                <a:latin typeface="Microsoft YaHei"/>
              </a:rPr>
              <a:t>Test3R / TTT3R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61120" y="3456432"/>
            <a:ext cx="160020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242424"/>
                </a:solidFill>
                <a:latin typeface="Microsoft YaHei"/>
              </a:rPr>
              <a:t>test-time
mechanisms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77240" y="4800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77240" y="4800600"/>
            <a:ext cx="3337560" cy="310896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方向分化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80" y="5221224"/>
            <a:ext cx="3154679" cy="7040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>
                <a:solidFill>
                  <a:srgbClr val="242424"/>
                </a:solidFill>
                <a:latin typeface="Microsoft YaHei"/>
              </a:rPr>
              <a:t>跨视图几何 / 多视角规模化 / 动态 4D / 长序列 / 测试时机制 / 可渲染资产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434840" y="4800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4434840" y="4800600"/>
            <a:ext cx="3337560" cy="310896"/>
          </a:xfrm>
          <a:prstGeom prst="rect">
            <a:avLst/>
          </a:prstGeom>
          <a:solidFill>
            <a:srgbClr val="43A9A7"/>
          </a:solidFill>
          <a:ln>
            <a:solidFill>
              <a:srgbClr val="43A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问题变化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26279" y="5221224"/>
            <a:ext cx="3154679" cy="7040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>
                <a:solidFill>
                  <a:srgbClr val="242424"/>
                </a:solidFill>
                <a:latin typeface="Microsoft YaHei"/>
              </a:rPr>
              <a:t>方法快速增长后，失败模式、内存、验证和输出资产缺乏统一对照框架。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092440" y="4800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8092440" y="4800600"/>
            <a:ext cx="3337560" cy="310896"/>
          </a:xfrm>
          <a:prstGeom prst="rect">
            <a:avLst/>
          </a:prstGeom>
          <a:solidFill>
            <a:srgbClr val="5AB373"/>
          </a:solidFill>
          <a:ln>
            <a:solidFill>
              <a:srgbClr val="5AB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本研究入口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83879" y="5221224"/>
            <a:ext cx="3154679" cy="7040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>
                <a:solidFill>
                  <a:srgbClr val="242424"/>
                </a:solidFill>
                <a:latin typeface="Microsoft YaHei"/>
              </a:rPr>
              <a:t>以候选架构 X 与聚合管理平台建立可对照评估路径。</a:t>
            </a:r>
          </a:p>
        </p:txBody>
      </p:sp>
    </p:spTree>
    <p:extLst>
      <p:ext uri="{BB962C8B-B14F-4D97-AF65-F5344CB8AC3E}">
        <p14:creationId xmlns:p14="http://schemas.microsoft.com/office/powerpoint/2010/main" val="179394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C448-FC36-35AA-A309-8666383D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85A692C8-69B7-DF42-1D83-830EA65885C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36576" tIns="18288" rIns="36576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1.2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56D7332-671D-7D0A-7FA8-FCC77F89DBC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问题提出：失败模式与研究问题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58368" y="123444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58368" y="1234440"/>
            <a:ext cx="2148840" cy="310896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弱纹理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9808" y="1655064"/>
            <a:ext cx="196596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>
                <a:solidFill>
                  <a:srgbClr val="242424"/>
                </a:solidFill>
                <a:latin typeface="Microsoft YaHei"/>
              </a:rPr>
              <a:t>匹配点稀疏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081528" y="123444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081528" y="1234440"/>
            <a:ext cx="2148840" cy="310896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镜面反射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72968" y="1655064"/>
            <a:ext cx="196596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>
                <a:solidFill>
                  <a:srgbClr val="242424"/>
                </a:solidFill>
                <a:latin typeface="Microsoft YaHei"/>
              </a:rPr>
              <a:t>真实/反射几何混淆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58368" y="237744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58368" y="2377440"/>
            <a:ext cx="2148840" cy="310896"/>
          </a:xfrm>
          <a:prstGeom prst="rect">
            <a:avLst/>
          </a:prstGeom>
          <a:solidFill>
            <a:srgbClr val="43A9A7"/>
          </a:solidFill>
          <a:ln>
            <a:solidFill>
              <a:srgbClr val="43A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快速运动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808" y="2798064"/>
            <a:ext cx="196596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>
                <a:solidFill>
                  <a:srgbClr val="242424"/>
                </a:solidFill>
                <a:latin typeface="Microsoft YaHei"/>
              </a:rPr>
              <a:t>跨帧对应不稳定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081528" y="237744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081528" y="2377440"/>
            <a:ext cx="2148840" cy="310896"/>
          </a:xfrm>
          <a:prstGeom prst="rect">
            <a:avLst/>
          </a:prstGeom>
          <a:solidFill>
            <a:srgbClr val="43A9A7"/>
          </a:solidFill>
          <a:ln>
            <a:solidFill>
              <a:srgbClr val="43A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长基线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172968" y="2798064"/>
            <a:ext cx="196596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>
                <a:solidFill>
                  <a:srgbClr val="242424"/>
                </a:solidFill>
                <a:latin typeface="Microsoft YaHei"/>
              </a:rPr>
              <a:t>共视区域不足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58368" y="352044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58368" y="3520440"/>
            <a:ext cx="2148840" cy="310896"/>
          </a:xfrm>
          <a:prstGeom prst="rect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尺度漂移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9808" y="3941064"/>
            <a:ext cx="196596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>
                <a:solidFill>
                  <a:srgbClr val="242424"/>
                </a:solidFill>
                <a:latin typeface="Microsoft YaHei"/>
              </a:rPr>
              <a:t>长序列累积误差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081528" y="352044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3081528" y="3520440"/>
            <a:ext cx="2148840" cy="310896"/>
          </a:xfrm>
          <a:prstGeom prst="rect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域外场景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72968" y="3941064"/>
            <a:ext cx="196596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>
                <a:solidFill>
                  <a:srgbClr val="242424"/>
                </a:solidFill>
                <a:latin typeface="Microsoft YaHei"/>
              </a:rPr>
              <a:t>训练分布外置信下降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760720" y="1234440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5760720" y="1234440"/>
            <a:ext cx="5394960" cy="310896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Q1 验证机制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52159" y="1655064"/>
            <a:ext cx="521208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>
                <a:solidFill>
                  <a:srgbClr val="242424"/>
                </a:solidFill>
                <a:latin typeface="Microsoft YaHei"/>
              </a:rPr>
              <a:t>几何验证与测试时适应是否应拆分？如何分离边际贡献？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760720" y="2359152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5760720" y="2359152"/>
            <a:ext cx="5394960" cy="310896"/>
          </a:xfrm>
          <a:prstGeom prst="rect">
            <a:avLst/>
          </a:prstGeom>
          <a:solidFill>
            <a:srgbClr val="43A9A7"/>
          </a:solidFill>
          <a:ln>
            <a:solidFill>
              <a:srgbClr val="43A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Q2 长序列内存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852159" y="2779776"/>
            <a:ext cx="521208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>
                <a:solidFill>
                  <a:srgbClr val="242424"/>
                </a:solidFill>
                <a:latin typeface="Microsoft YaHei"/>
              </a:rPr>
              <a:t>四类内存机制能否在单一架构内统一评估？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760720" y="3483864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5760720" y="3483864"/>
            <a:ext cx="5394960" cy="310896"/>
          </a:xfrm>
          <a:prstGeom prst="rect">
            <a:avLst/>
          </a:prstGeom>
          <a:solidFill>
            <a:srgbClr val="5AB373"/>
          </a:solidFill>
          <a:ln>
            <a:solidFill>
              <a:srgbClr val="5AB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Q3 多专家组合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52159" y="3904488"/>
            <a:ext cx="521208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>
                <a:solidFill>
                  <a:srgbClr val="242424"/>
                </a:solidFill>
                <a:latin typeface="Microsoft YaHei"/>
              </a:rPr>
              <a:t>best-of-N 路由相对单一专家是否有实证价值？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760720" y="4608576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5760720" y="4608576"/>
            <a:ext cx="5394960" cy="310896"/>
          </a:xfrm>
          <a:prstGeom prst="rect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Q4 统一平台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52159" y="5029200"/>
            <a:ext cx="521208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>
                <a:solidFill>
                  <a:srgbClr val="242424"/>
                </a:solidFill>
                <a:latin typeface="Microsoft YaHei"/>
              </a:rPr>
              <a:t>异构模型如何通过统一合同调度与对比？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51560" y="6144768"/>
            <a:ext cx="9966960" cy="411480"/>
          </a:xfrm>
          <a:prstGeom prst="roundRect">
            <a:avLst/>
          </a:prstGeom>
          <a:solidFill>
            <a:srgbClr val="003F7F"/>
          </a:solidFill>
          <a:ln>
            <a:solidFill>
              <a:srgbClr val="003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研究边界：提供候选架构与对照实验路径，不预设单一方案优越。</a:t>
            </a:r>
          </a:p>
        </p:txBody>
      </p:sp>
    </p:spTree>
    <p:extLst>
      <p:ext uri="{BB962C8B-B14F-4D97-AF65-F5344CB8AC3E}">
        <p14:creationId xmlns:p14="http://schemas.microsoft.com/office/powerpoint/2010/main" val="72576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C448-FC36-35AA-A309-8666383D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85A692C8-69B7-DF42-1D83-830EA65885C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36576" tIns="18288" rIns="36576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1.3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56D7332-671D-7D0A-7FA8-FCC77F89DBC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研究现状：综述四轴总结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8368" y="1069848"/>
            <a:ext cx="10881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00" b="0">
                <a:solidFill>
                  <a:srgbClr val="242424"/>
                </a:solidFill>
                <a:latin typeface="Microsoft YaHei"/>
              </a:rPr>
              <a:t>覆盖矩阵说明：first-class 表示一等架构支持；partial 表示接口或方案存在但待执行；absent 表示当前明确缺口。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9808" y="1389888"/>
            <a:ext cx="2011680" cy="274320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轴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61488" y="1389888"/>
            <a:ext cx="2743200" cy="274320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子类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504688" y="1389888"/>
            <a:ext cx="1920240" cy="274320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覆盖状态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" y="1700784"/>
            <a:ext cx="201168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86384" y="1711756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A 失败模式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61488" y="1700784"/>
            <a:ext cx="274320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798064" y="1711756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弱纹理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04688" y="1700784"/>
            <a:ext cx="1920240" cy="256032"/>
          </a:xfrm>
          <a:prstGeom prst="rect">
            <a:avLst/>
          </a:prstGeom>
          <a:solidFill>
            <a:srgbClr val="5AB373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541264" y="1711756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first-class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9808" y="1956816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86384" y="1967788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A 失败模式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61488" y="195681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798064" y="1967788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长基线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504688" y="1956816"/>
            <a:ext cx="1920240" cy="256032"/>
          </a:xfrm>
          <a:prstGeom prst="rect">
            <a:avLst/>
          </a:prstGeom>
          <a:solidFill>
            <a:srgbClr val="5AB373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541264" y="1967788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first-class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49808" y="2212848"/>
            <a:ext cx="201168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86384" y="2223820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A 失败模式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61488" y="2212848"/>
            <a:ext cx="274320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798064" y="2223820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镜面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504688" y="2212848"/>
            <a:ext cx="1920240" cy="256032"/>
          </a:xfrm>
          <a:prstGeom prst="rect">
            <a:avLst/>
          </a:prstGeom>
          <a:solidFill>
            <a:srgbClr val="F6C344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541264" y="2223820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partial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49808" y="2468880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86384" y="2479852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A 失败模式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61488" y="2468880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798064" y="2479852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快速运动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504688" y="2468880"/>
            <a:ext cx="1920240" cy="256032"/>
          </a:xfrm>
          <a:prstGeom prst="rect">
            <a:avLst/>
          </a:prstGeom>
          <a:solidFill>
            <a:srgbClr val="F6C344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541264" y="2479852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partial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49808" y="2724912"/>
            <a:ext cx="201168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86384" y="2735884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A 失败模式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61488" y="2724912"/>
            <a:ext cx="274320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798064" y="2735884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尺度漂移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04688" y="2724912"/>
            <a:ext cx="1920240" cy="256032"/>
          </a:xfrm>
          <a:prstGeom prst="rect">
            <a:avLst/>
          </a:prstGeom>
          <a:solidFill>
            <a:srgbClr val="F6C344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41264" y="2735884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partial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9808" y="2980944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86384" y="2991916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A 失败模式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61488" y="2980944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798064" y="2991916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域外(OOD)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504688" y="2980944"/>
            <a:ext cx="1920240" cy="256032"/>
          </a:xfrm>
          <a:prstGeom prst="rect">
            <a:avLst/>
          </a:prstGeom>
          <a:solidFill>
            <a:srgbClr val="D64B45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541264" y="2991916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absent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49808" y="3236976"/>
            <a:ext cx="201168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86384" y="3247948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B 长序列内存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61488" y="3236976"/>
            <a:ext cx="274320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98064" y="3247948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B1 递推状态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504688" y="3236976"/>
            <a:ext cx="1920240" cy="256032"/>
          </a:xfrm>
          <a:prstGeom prst="rect">
            <a:avLst/>
          </a:prstGeom>
          <a:solidFill>
            <a:srgbClr val="5AB373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541264" y="3247948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first-class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49808" y="3493008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86384" y="3503980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B 长序列内存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61488" y="349300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798064" y="3503980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B2 空间指针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504688" y="3493008"/>
            <a:ext cx="1920240" cy="256032"/>
          </a:xfrm>
          <a:prstGeom prst="rect">
            <a:avLst/>
          </a:prstGeom>
          <a:solidFill>
            <a:srgbClr val="5AB373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541264" y="3503980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first-class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" y="3749040"/>
            <a:ext cx="201168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86384" y="3760012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B 长序列内存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61488" y="3749040"/>
            <a:ext cx="274320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798064" y="3760012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B3 混合记忆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04688" y="3749040"/>
            <a:ext cx="1920240" cy="256032"/>
          </a:xfrm>
          <a:prstGeom prst="rect">
            <a:avLst/>
          </a:prstGeom>
          <a:solidFill>
            <a:srgbClr val="5AB373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5541264" y="3760012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first-class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49808" y="4005072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86384" y="4016044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B 长序列内存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761488" y="4005072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798064" y="4016044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B4 缓存治理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504688" y="4005072"/>
            <a:ext cx="1920240" cy="256032"/>
          </a:xfrm>
          <a:prstGeom prst="rect">
            <a:avLst/>
          </a:prstGeom>
          <a:solidFill>
            <a:srgbClr val="F6C344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541264" y="4016044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partial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49808" y="4261104"/>
            <a:ext cx="201168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86384" y="4272076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C 测试时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761488" y="4261104"/>
            <a:ext cx="274320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2798064" y="4272076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C1 一致性优化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504688" y="4261104"/>
            <a:ext cx="1920240" cy="256032"/>
          </a:xfrm>
          <a:prstGeom prst="rect">
            <a:avLst/>
          </a:prstGeom>
          <a:solidFill>
            <a:srgbClr val="F6C344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5541264" y="4272076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partial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49808" y="4517136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786384" y="4528108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C 测试时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61488" y="451713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2798064" y="4528108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C2 TTT 参数更新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504688" y="4517136"/>
            <a:ext cx="1920240" cy="256032"/>
          </a:xfrm>
          <a:prstGeom prst="rect">
            <a:avLst/>
          </a:prstGeom>
          <a:solidFill>
            <a:srgbClr val="D64B45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541264" y="4528108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absent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49808" y="4773168"/>
            <a:ext cx="201168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6384" y="4784140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C 测试时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61488" y="4773168"/>
            <a:ext cx="274320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2798064" y="4784140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C3 先验注入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04688" y="4773168"/>
            <a:ext cx="1920240" cy="256032"/>
          </a:xfrm>
          <a:prstGeom prst="rect">
            <a:avLst/>
          </a:prstGeom>
          <a:solidFill>
            <a:srgbClr val="F6C344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41264" y="4784140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partial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49808" y="5029200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786384" y="5040172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D 输出资产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61488" y="5029200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2798064" y="5040172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D1 4D pointmap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504688" y="5029200"/>
            <a:ext cx="1920240" cy="256032"/>
          </a:xfrm>
          <a:prstGeom prst="rect">
            <a:avLst/>
          </a:prstGeom>
          <a:solidFill>
            <a:srgbClr val="5AB373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5541264" y="5040172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first-class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49808" y="5285232"/>
            <a:ext cx="201168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786384" y="5296204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D 输出资产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61488" y="5285232"/>
            <a:ext cx="274320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98064" y="5296204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D2 dynamic mask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504688" y="5285232"/>
            <a:ext cx="1920240" cy="256032"/>
          </a:xfrm>
          <a:prstGeom prst="rect">
            <a:avLst/>
          </a:prstGeom>
          <a:solidFill>
            <a:srgbClr val="F6C344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5541264" y="5296204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partial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749808" y="5541264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786384" y="5552236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D 输出资产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761488" y="5541264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2798064" y="5552236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D3 4DGS 渲染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504688" y="5541264"/>
            <a:ext cx="1920240" cy="256032"/>
          </a:xfrm>
          <a:prstGeom prst="rect">
            <a:avLst/>
          </a:prstGeom>
          <a:solidFill>
            <a:srgbClr val="D64B45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5541264" y="5552236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absent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" y="5797296"/>
            <a:ext cx="201168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86384" y="5808268"/>
            <a:ext cx="193852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扩展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761488" y="5797296"/>
            <a:ext cx="2743200" cy="256032"/>
          </a:xfrm>
          <a:prstGeom prst="rect">
            <a:avLst/>
          </a:prstGeom>
          <a:solidFill>
            <a:srgbClr val="F7FAFE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2798064" y="5808268"/>
            <a:ext cx="267004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19" b="0">
                <a:solidFill>
                  <a:srgbClr val="242424"/>
                </a:solidFill>
                <a:latin typeface="Microsoft YaHei"/>
              </a:rPr>
              <a:t>输入扩展轴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504688" y="5797296"/>
            <a:ext cx="1920240" cy="256032"/>
          </a:xfrm>
          <a:prstGeom prst="rect">
            <a:avLst/>
          </a:prstGeom>
          <a:solidFill>
            <a:srgbClr val="D64B45"/>
          </a:solidFill>
          <a:ln w="635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541264" y="5808268"/>
            <a:ext cx="184708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absent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7818120" y="1965960"/>
            <a:ext cx="3337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7818120" y="1965960"/>
            <a:ext cx="3337560" cy="310896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矩阵结论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909560" y="2386584"/>
            <a:ext cx="3154679" cy="1709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600" b="0">
                <a:solidFill>
                  <a:srgbClr val="242424"/>
                </a:solidFill>
                <a:latin typeface="Microsoft YaHei"/>
              </a:rPr>
              <a:t>6 项 first-class
11 项 partial
4 项 absent
缺口集中在域外检测、TTT 参数更新、4DGS 渲染和输入扩展轴。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7818120" y="4617720"/>
            <a:ext cx="3337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7818120" y="4617720"/>
            <a:ext cx="3337560" cy="310896"/>
          </a:xfrm>
          <a:prstGeom prst="rect">
            <a:avLst/>
          </a:prstGeom>
          <a:solidFill>
            <a:srgbClr val="43A9A7"/>
          </a:solidFill>
          <a:ln>
            <a:solidFill>
              <a:srgbClr val="43A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设计含义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909560" y="5038344"/>
            <a:ext cx="3154679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>
                <a:solidFill>
                  <a:srgbClr val="242424"/>
                </a:solidFill>
                <a:latin typeface="Microsoft YaHei"/>
              </a:rPr>
              <a:t>综述不是背景罗列，而是后续架构设计与实验分组的判断框架。</a:t>
            </a:r>
          </a:p>
        </p:txBody>
      </p:sp>
    </p:spTree>
    <p:extLst>
      <p:ext uri="{BB962C8B-B14F-4D97-AF65-F5344CB8AC3E}">
        <p14:creationId xmlns:p14="http://schemas.microsoft.com/office/powerpoint/2010/main" val="284637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1.4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工具链空白：支柱 B 的动机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600" b="0">
                <a:solidFill>
                  <a:srgbClr val="242424"/>
                </a:solidFill>
                <a:latin typeface="Microsoft YaHei"/>
              </a:rPr>
              <a:t>核心空白：现有工具无法把多模型接入、远端调度、结果归集和对照评估放到同一执行合同中。</a:t>
            </a:r>
          </a:p>
        </p:txBody>
      </p: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731520" y="17830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对象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适配范式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可控性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跨模型对比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主要局限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Nerfstudio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NeRF/GS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高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不面向前馈式 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商业产品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闭源流程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低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不可控、不可复现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官方 demo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单模型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环境与输出格式孤岛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本研究平台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前馈式 3R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高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4"/>
                          </a:solidFill>
                          <a:latin typeface="Microsoft YaHei"/>
                        </a:rPr>
                        <a:t>仍需持续扩展与验证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" name="Rounded Rectangle 94"/>
          <p:cNvSpPr/>
          <p:nvPr/>
        </p:nvSpPr>
        <p:spPr>
          <a:xfrm>
            <a:off x="1097280" y="5303520"/>
            <a:ext cx="9966960" cy="777240"/>
          </a:xfrm>
          <a:prstGeom prst="roundRect">
            <a:avLst/>
          </a:prstGeom>
          <a:solidFill>
            <a:srgbClr val="E9F2FB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207007" y="5413248"/>
            <a:ext cx="9747504" cy="5577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800" b="0">
                <a:solidFill>
                  <a:srgbClr val="242424"/>
                </a:solidFill>
                <a:latin typeface="Microsoft YaHei"/>
              </a:rPr>
              <a:t>7 个模型 × 不同环境 / 格式 / 输出：若缺乏统一平台，消融实验和横向对比成本不可控。</a:t>
            </a:r>
          </a:p>
        </p:txBody>
      </p:sp>
    </p:spTree>
    <p:extLst>
      <p:ext uri="{BB962C8B-B14F-4D97-AF65-F5344CB8AC3E}">
        <p14:creationId xmlns:p14="http://schemas.microsoft.com/office/powerpoint/2010/main" val="221490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A2A4-1B07-73AA-D589-82D7CF08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BEAEF33-5431-17DD-5055-C80F2BB7B7C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80C9AD9-072C-588D-E4CF-C7C13321FC75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研究目标：两大支柱</a:t>
            </a:r>
          </a:p>
        </p:txBody>
      </p:sp>
      <p:pic>
        <p:nvPicPr>
          <p:cNvPr id="93" name="Picture 92" descr="F04_two_pillars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04" y="1143000"/>
            <a:ext cx="9017286" cy="50749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58368" y="6263640"/>
            <a:ext cx="10881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Microsoft YaHei"/>
              </a:rPr>
              <a:t>两大支柱互相支撑：算法消融需要平台，平台功能由算法评测需求驱动。</a:t>
            </a:r>
          </a:p>
        </p:txBody>
      </p:sp>
    </p:spTree>
    <p:extLst>
      <p:ext uri="{BB962C8B-B14F-4D97-AF65-F5344CB8AC3E}">
        <p14:creationId xmlns:p14="http://schemas.microsoft.com/office/powerpoint/2010/main" val="112547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A2A4-1B07-73AA-D589-82D7CF08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BEAEF33-5431-17DD-5055-C80F2BB7B7C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2.2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80C9AD9-072C-588D-E4CF-C7C13321FC75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候选架构 X：整体设计</a:t>
            </a:r>
          </a:p>
        </p:txBody>
      </p:sp>
      <p:pic>
        <p:nvPicPr>
          <p:cNvPr id="93" name="Picture 92" descr="F05_candidate_architecture_x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04" y="1143000"/>
            <a:ext cx="9017286" cy="50749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58368" y="6263640"/>
            <a:ext cx="10881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Microsoft YaHei"/>
              </a:rPr>
              <a:t>候选架构 X 是待评估方案，不作为最终优越性声明。</a:t>
            </a:r>
          </a:p>
        </p:txBody>
      </p:sp>
    </p:spTree>
    <p:extLst>
      <p:ext uri="{BB962C8B-B14F-4D97-AF65-F5344CB8AC3E}">
        <p14:creationId xmlns:p14="http://schemas.microsoft.com/office/powerpoint/2010/main" val="288836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A2A4-1B07-73AA-D589-82D7CF08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BEAEF33-5431-17DD-5055-C80F2BB7B7C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2.3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80C9AD9-072C-588D-E4CF-C7C13321FC75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校验模块：主线 A</a:t>
            </a:r>
          </a:p>
        </p:txBody>
      </p:sp>
      <p:pic>
        <p:nvPicPr>
          <p:cNvPr id="93" name="Picture 92" descr="F06_critic_module_flow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04" y="1143000"/>
            <a:ext cx="9017286" cy="50749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58368" y="6263640"/>
            <a:ext cx="10881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Microsoft YaHei"/>
              </a:rPr>
              <a:t>校验模块把几何验证从测试后附加提升为架构内置组件。</a:t>
            </a:r>
          </a:p>
        </p:txBody>
      </p:sp>
    </p:spTree>
    <p:extLst>
      <p:ext uri="{BB962C8B-B14F-4D97-AF65-F5344CB8AC3E}">
        <p14:creationId xmlns:p14="http://schemas.microsoft.com/office/powerpoint/2010/main" val="1122330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2.4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编排模块：主线 D</a:t>
            </a: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566928" y="1188720"/>
          <a:ext cx="55778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专家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能力定位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路由角色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MASt3R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静态图像对匹配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静态对几何专家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Fast3R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多视角单次前向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多视图高效专家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Spann3R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流式空间记忆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长序列流式专家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CUT3R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在线递推状态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动态容忍专家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MoGe-2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单目 pointmap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失败兜底候选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DepthAnything-V2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单目深度先验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深度先验补充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Test3R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测试时一致性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验证路径对照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4" name="Picture 93" descr="F07_routing_decision_flow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2305"/>
            <a:ext cx="5029200" cy="2830428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6446520" y="4983480"/>
            <a:ext cx="4846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446520" y="4983480"/>
            <a:ext cx="4846320" cy="320040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边界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56248" y="5422392"/>
            <a:ext cx="4626864" cy="41147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400" b="0">
                <a:solidFill>
                  <a:srgbClr val="242424"/>
                </a:solidFill>
                <a:latin typeface="Microsoft YaHei"/>
              </a:rPr>
              <a:t>编排模块不证明 best-of-N 必然优越，而是提供多专家组合的对照评估入口。</a:t>
            </a:r>
          </a:p>
        </p:txBody>
      </p:sp>
    </p:spTree>
    <p:extLst>
      <p:ext uri="{BB962C8B-B14F-4D97-AF65-F5344CB8AC3E}">
        <p14:creationId xmlns:p14="http://schemas.microsoft.com/office/powerpoint/2010/main" val="935425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A2A4-1B07-73AA-D589-82D7CF08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BEAEF33-5431-17DD-5055-C80F2BB7B7C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2.5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80C9AD9-072C-588D-E4CF-C7C13321FC75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记忆模块：四类机制统一</a:t>
            </a:r>
          </a:p>
        </p:txBody>
      </p:sp>
      <p:pic>
        <p:nvPicPr>
          <p:cNvPr id="93" name="Picture 92" descr="F08_memory_three_branch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04" y="1143000"/>
            <a:ext cx="9017286" cy="50749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58368" y="6263640"/>
            <a:ext cx="10881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Microsoft YaHei"/>
              </a:rPr>
              <a:t>当前覆盖前三类内存机制；缓存治理为 partial，后续需单独验证。</a:t>
            </a:r>
          </a:p>
        </p:txBody>
      </p:sp>
    </p:spTree>
    <p:extLst>
      <p:ext uri="{BB962C8B-B14F-4D97-AF65-F5344CB8AC3E}">
        <p14:creationId xmlns:p14="http://schemas.microsoft.com/office/powerpoint/2010/main" val="328831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A2A4-1B07-73AA-D589-82D7CF08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BEAEF33-5431-17DD-5055-C80F2BB7B7C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80C9AD9-072C-588D-E4CF-C7C13321FC75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聚合管理平台架构</a:t>
            </a:r>
          </a:p>
        </p:txBody>
      </p:sp>
      <p:pic>
        <p:nvPicPr>
          <p:cNvPr id="93" name="Picture 92" descr="F09_platform_four_layer_architecture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04" y="1143000"/>
            <a:ext cx="9017286" cy="50749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58368" y="6263640"/>
            <a:ext cx="108813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Microsoft YaHei"/>
              </a:rPr>
              <a:t>平台架构图展示系统分层；界面截图待 UI 版本稳定后补充。</a:t>
            </a:r>
          </a:p>
        </p:txBody>
      </p:sp>
    </p:spTree>
    <p:extLst>
      <p:ext uri="{BB962C8B-B14F-4D97-AF65-F5344CB8AC3E}">
        <p14:creationId xmlns:p14="http://schemas.microsoft.com/office/powerpoint/2010/main" val="1139046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A2A4-1B07-73AA-D589-82D7CF08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BEAEF33-5431-17DD-5055-C80F2BB7B7C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3.2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80C9AD9-072C-588D-E4CF-C7C13321FC75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统一执行合同</a:t>
            </a:r>
          </a:p>
        </p:txBody>
      </p:sp>
      <p:pic>
        <p:nvPicPr>
          <p:cNvPr id="93" name="Picture 92" descr="F10_execution_contract_sequence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04" y="1143000"/>
            <a:ext cx="9017286" cy="50749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58368" y="6263640"/>
            <a:ext cx="10881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Microsoft YaHei"/>
              </a:rPr>
              <a:t>job.json / status.json / scene_meta.json 将 demo 孤岛转化为统一合同。</a:t>
            </a:r>
          </a:p>
        </p:txBody>
      </p:sp>
    </p:spTree>
    <p:extLst>
      <p:ext uri="{BB962C8B-B14F-4D97-AF65-F5344CB8AC3E}">
        <p14:creationId xmlns:p14="http://schemas.microsoft.com/office/powerpoint/2010/main" val="205169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C448-FC36-35AA-A309-8666383D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85A692C8-69B7-DF42-1D83-830EA65885C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56D7332-671D-7D0A-7FA8-FCC77F89DBC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跨模型实测数据</a:t>
            </a: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566928" y="1143000"/>
          <a:ext cx="4937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耗时(s)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产物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范式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Spann3R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24.8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流式序列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CUT3R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26.2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52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流式序列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Fast3R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28.5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多视图批处理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DUSt3R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91.2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≥1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静态重建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MASt3R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95.0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≥1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静态重建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MonST3R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223.3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≥1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424"/>
                          </a:solidFill>
                          <a:latin typeface="Microsoft YaHei"/>
                        </a:rPr>
                        <a:t>视频/动态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5989320" y="1399032"/>
            <a:ext cx="1143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Spann3R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23760" y="1417320"/>
            <a:ext cx="360518" cy="292608"/>
          </a:xfrm>
          <a:prstGeom prst="rect">
            <a:avLst/>
          </a:prstGeom>
          <a:solidFill>
            <a:srgbClr val="43A9A7"/>
          </a:solidFill>
          <a:ln>
            <a:solidFill>
              <a:srgbClr val="43A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657430" y="1399032"/>
            <a:ext cx="777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24.8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89320" y="1993392"/>
            <a:ext cx="1143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CUT3R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23760" y="2011680"/>
            <a:ext cx="380870" cy="292608"/>
          </a:xfrm>
          <a:prstGeom prst="rect">
            <a:avLst/>
          </a:prstGeom>
          <a:solidFill>
            <a:srgbClr val="43A9A7"/>
          </a:solidFill>
          <a:ln>
            <a:solidFill>
              <a:srgbClr val="43A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677782" y="1993392"/>
            <a:ext cx="777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26.2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89320" y="2587752"/>
            <a:ext cx="1143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Fast3R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223760" y="2606040"/>
            <a:ext cx="414305" cy="292608"/>
          </a:xfrm>
          <a:prstGeom prst="rect">
            <a:avLst/>
          </a:prstGeom>
          <a:solidFill>
            <a:srgbClr val="2F74B5"/>
          </a:solidFill>
          <a:ln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711217" y="2587752"/>
            <a:ext cx="777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28.5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89320" y="3182112"/>
            <a:ext cx="1143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DUSt3R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23760" y="3200400"/>
            <a:ext cx="1325777" cy="292608"/>
          </a:xfrm>
          <a:prstGeom prst="rect">
            <a:avLst/>
          </a:prstGeom>
          <a:solidFill>
            <a:srgbClr val="6A6A6A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622689" y="3182112"/>
            <a:ext cx="777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91.2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89320" y="3776472"/>
            <a:ext cx="1143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MASt3R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223760" y="3794760"/>
            <a:ext cx="1381018" cy="292608"/>
          </a:xfrm>
          <a:prstGeom prst="rect">
            <a:avLst/>
          </a:prstGeom>
          <a:solidFill>
            <a:srgbClr val="6A6A6A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677930" y="3776472"/>
            <a:ext cx="777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95.0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89320" y="4370832"/>
            <a:ext cx="1143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MonST3R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23760" y="4389120"/>
            <a:ext cx="3246120" cy="292608"/>
          </a:xfrm>
          <a:prstGeom prst="rect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543032" y="4370832"/>
            <a:ext cx="777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0">
                <a:solidFill>
                  <a:srgbClr val="242424"/>
                </a:solidFill>
                <a:latin typeface="Microsoft YaHei"/>
              </a:rPr>
              <a:t>223.3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89320" y="5166360"/>
            <a:ext cx="48463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500" b="0">
                <a:solidFill>
                  <a:srgbClr val="242424"/>
                </a:solidFill>
                <a:latin typeface="Microsoft YaHei"/>
              </a:rPr>
              <a:t>集成验证证据：流式模型最快，静态模型约 90s，动态模型最慢；不同产物结构印证统一合同必要性。</a:t>
            </a:r>
          </a:p>
        </p:txBody>
      </p:sp>
    </p:spTree>
    <p:extLst>
      <p:ext uri="{BB962C8B-B14F-4D97-AF65-F5344CB8AC3E}">
        <p14:creationId xmlns:p14="http://schemas.microsoft.com/office/powerpoint/2010/main" val="2015747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A2A4-1B07-73AA-D589-82D7CF08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BEAEF33-5431-17DD-5055-C80F2BB7B7C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4.2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80C9AD9-072C-588D-E4CF-C7C13321FC75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实验设计：三层证据与消融组</a:t>
            </a:r>
          </a:p>
        </p:txBody>
      </p:sp>
      <p:pic>
        <p:nvPicPr>
          <p:cNvPr id="93" name="Picture 92" descr="F12_experiment_design_overview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04" y="1143000"/>
            <a:ext cx="9017286" cy="50749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58368" y="6263640"/>
            <a:ext cx="10881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Microsoft YaHei"/>
              </a:rPr>
              <a:t>实验设计为 plan-ready，执行受服务器算力授权门控。</a:t>
            </a:r>
          </a:p>
        </p:txBody>
      </p:sp>
    </p:spTree>
    <p:extLst>
      <p:ext uri="{BB962C8B-B14F-4D97-AF65-F5344CB8AC3E}">
        <p14:creationId xmlns:p14="http://schemas.microsoft.com/office/powerpoint/2010/main" val="300400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4.3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四个创新点</a:t>
            </a:r>
          </a:p>
        </p:txBody>
      </p:sp>
      <p:pic>
        <p:nvPicPr>
          <p:cNvPr id="93" name="Picture 92" descr="F13_question_innovation_mapping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04" y="1143000"/>
            <a:ext cx="9017286" cy="50749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58368" y="6263640"/>
            <a:ext cx="10881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Microsoft YaHei"/>
              </a:rPr>
              <a:t>创新点措辞统一限制为“候选方案 + 对照实验证据”。</a:t>
            </a:r>
          </a:p>
        </p:txBody>
      </p:sp>
    </p:spTree>
    <p:extLst>
      <p:ext uri="{BB962C8B-B14F-4D97-AF65-F5344CB8AC3E}">
        <p14:creationId xmlns:p14="http://schemas.microsoft.com/office/powerpoint/2010/main" val="374699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66A7D-899C-16A5-D26E-35ED8B809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3D3385D2-CFBE-A93D-D8C2-134D1F0991BA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F351DE5-0A1E-DDD0-677A-B522E765998E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已完成工作：支柱 A 进展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58368" y="11430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58368" y="1143000"/>
            <a:ext cx="3291840" cy="320040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架构设计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8096" y="1581912"/>
            <a:ext cx="3072384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500" b="0">
                <a:solidFill>
                  <a:srgbClr val="242424"/>
                </a:solidFill>
                <a:latin typeface="Microsoft YaHei"/>
              </a:rPr>
              <a:t>7 份设计文档
跨模块信号契约 v2.1
实现里程碑 1-18 完成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434840" y="11430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434840" y="1143000"/>
            <a:ext cx="3291840" cy="320040"/>
          </a:xfrm>
          <a:prstGeom prst="rect">
            <a:avLst/>
          </a:prstGeom>
          <a:solidFill>
            <a:srgbClr val="43A9A7"/>
          </a:solidFill>
          <a:ln>
            <a:solidFill>
              <a:srgbClr val="43A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集成验证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44568" y="1581912"/>
            <a:ext cx="3072384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500" b="0">
                <a:solidFill>
                  <a:srgbClr val="242424"/>
                </a:solidFill>
                <a:latin typeface="Microsoft YaHei"/>
              </a:rPr>
              <a:t>KITTI 真实数据路径跑通
L2=20.47 / RMSE=21.87
集成证据，非训练后质量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211312" y="11430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211312" y="1143000"/>
            <a:ext cx="3291840" cy="320040"/>
          </a:xfrm>
          <a:prstGeom prst="rect">
            <a:avLst/>
          </a:prstGeom>
          <a:solidFill>
            <a:srgbClr val="5AB373"/>
          </a:solidFill>
          <a:ln>
            <a:solidFill>
              <a:srgbClr val="5AB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综述支撑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21040" y="1581912"/>
            <a:ext cx="3072384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500" b="0">
                <a:solidFill>
                  <a:srgbClr val="242424"/>
                </a:solidFill>
                <a:latin typeface="Microsoft YaHei"/>
              </a:rPr>
              <a:t>中文综述 18 页
44 篇引文
四轴覆盖矩阵反哺架构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58368" y="278892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58368" y="2788920"/>
            <a:ext cx="5257800" cy="320040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当前证据边界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8096" y="3227832"/>
            <a:ext cx="5038344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600" b="0">
                <a:solidFill>
                  <a:srgbClr val="242424"/>
                </a:solidFill>
                <a:latin typeface="Microsoft YaHei"/>
              </a:rPr>
              <a:t>已完成的是架构设计、fixture 与集成路径验证；真实训练与消融实验仍未执行。KITTI 数值仅说明系统跑通，不代表训练后重建质量。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263640" y="278892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263640" y="2788920"/>
            <a:ext cx="5257800" cy="320040"/>
          </a:xfrm>
          <a:prstGeom prst="rect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下一步入口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73368" y="3227832"/>
            <a:ext cx="5038344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600" b="0">
                <a:solidFill>
                  <a:srgbClr val="242424"/>
                </a:solidFill>
                <a:latin typeface="Microsoft YaHei"/>
              </a:rPr>
              <a:t>里程碑 19-24：真实数据 loader、多专家真实加载、校验阈值标定与长序列评测。每项均需独立决策与算力授权。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97280" y="5303520"/>
            <a:ext cx="9966960" cy="502920"/>
          </a:xfrm>
          <a:prstGeom prst="roundRect">
            <a:avLst/>
          </a:prstGeom>
          <a:solidFill>
            <a:srgbClr val="003F7F"/>
          </a:solidFill>
          <a:ln>
            <a:solidFill>
              <a:srgbClr val="003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支柱 A 的展示重点是“已具备评估入口”，不是宣称模型质量已优于现有方法。</a:t>
            </a:r>
          </a:p>
        </p:txBody>
      </p:sp>
    </p:spTree>
    <p:extLst>
      <p:ext uri="{BB962C8B-B14F-4D97-AF65-F5344CB8AC3E}">
        <p14:creationId xmlns:p14="http://schemas.microsoft.com/office/powerpoint/2010/main" val="3405926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5.2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已完成工作：支柱 B 进展</a:t>
            </a:r>
          </a:p>
        </p:txBody>
      </p: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658368" y="1554480"/>
          <a:ext cx="6675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执行器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远端环境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端到端验证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DUSt3R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已就绪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MASt3R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已就绪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MonST3R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已就绪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Spann3R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已就绪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Fast3R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已就绪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通过（需依赖修复）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CUT3R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已就绪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通过（52 产物）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Align3R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权重待上传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2424"/>
                          </a:solidFill>
                          <a:latin typeface="Microsoft YaHei"/>
                        </a:rPr>
                        <a:t>待验证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5" name="Rounded Rectangle 94"/>
          <p:cNvSpPr/>
          <p:nvPr/>
        </p:nvSpPr>
        <p:spPr>
          <a:xfrm>
            <a:off x="7635240" y="1554480"/>
            <a:ext cx="3566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635240" y="1554480"/>
            <a:ext cx="3566160" cy="320040"/>
          </a:xfrm>
          <a:prstGeom prst="rect">
            <a:avLst/>
          </a:prstGeom>
          <a:solidFill>
            <a:srgbClr val="0B57A3"/>
          </a:solidFill>
          <a:ln>
            <a:solidFill>
              <a:srgbClr val="0B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代码规模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967" y="1993391"/>
            <a:ext cx="3346704" cy="54863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500" b="0">
                <a:solidFill>
                  <a:srgbClr val="242424"/>
                </a:solidFill>
                <a:latin typeface="Microsoft YaHei"/>
              </a:rPr>
              <a:t>约 15000 行手写代码
前端 + 后端 + 调度 + 执行器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635240" y="2834640"/>
            <a:ext cx="3566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635240" y="2834640"/>
            <a:ext cx="3566160" cy="320040"/>
          </a:xfrm>
          <a:prstGeom prst="rect">
            <a:avLst/>
          </a:prstGeom>
          <a:solidFill>
            <a:srgbClr val="43A9A7"/>
          </a:solidFill>
          <a:ln>
            <a:solidFill>
              <a:srgbClr val="43A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调度能力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44967" y="3273552"/>
            <a:ext cx="3346704" cy="54863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500" b="0">
                <a:solidFill>
                  <a:srgbClr val="242424"/>
                </a:solidFill>
                <a:latin typeface="Microsoft YaHei"/>
              </a:rPr>
              <a:t>SSH/SCP 远端执行
状态轮询 / 回传 / 安全取消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635240" y="4114800"/>
            <a:ext cx="3566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635240" y="4114800"/>
            <a:ext cx="3566160" cy="320040"/>
          </a:xfrm>
          <a:prstGeom prst="rect">
            <a:avLst/>
          </a:prstGeom>
          <a:solidFill>
            <a:srgbClr val="E08A33"/>
          </a:solidFill>
          <a:ln>
            <a:solidFill>
              <a:srgbClr val="E0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证据边界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967" y="4553712"/>
            <a:ext cx="3346704" cy="54863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500" b="0">
                <a:solidFill>
                  <a:srgbClr val="242424"/>
                </a:solidFill>
                <a:latin typeface="Microsoft YaHei"/>
              </a:rPr>
              <a:t>工程集成验证
非标准 benchmark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1051560"/>
            <a:ext cx="10881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00" b="0">
                <a:solidFill>
                  <a:srgbClr val="6A6A6A"/>
                </a:solidFill>
                <a:latin typeface="Microsoft YaHei"/>
              </a:rPr>
              <a:t>平台进展以模型接入、统一合同覆盖和远端调度能力作为工程证据。</a:t>
            </a:r>
          </a:p>
        </p:txBody>
      </p:sp>
    </p:spTree>
    <p:extLst>
      <p:ext uri="{BB962C8B-B14F-4D97-AF65-F5344CB8AC3E}">
        <p14:creationId xmlns:p14="http://schemas.microsoft.com/office/powerpoint/2010/main" val="50907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80D6-7D14-1C95-AEC8-D2AF0317E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3D8BE58-E9E8-4C33-6FE6-D38EF27C3F73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6.1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537F0F4-F5CF-D204-5827-ABB0447E60B9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研究计划：时间线</a:t>
            </a:r>
          </a:p>
        </p:txBody>
      </p:sp>
      <p:pic>
        <p:nvPicPr>
          <p:cNvPr id="93" name="Picture 92" descr="F16_research_timeline_gantt_384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04" y="1143000"/>
            <a:ext cx="9017286" cy="50749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58368" y="6263640"/>
            <a:ext cx="10881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0">
                <a:solidFill>
                  <a:srgbClr val="6A6A6A"/>
                </a:solidFill>
                <a:latin typeface="Microsoft YaHei"/>
              </a:rPr>
              <a:t>候选时间表：实际推进受算力、导师反馈和实证结果影响。</a:t>
            </a:r>
          </a:p>
        </p:txBody>
      </p:sp>
    </p:spTree>
    <p:extLst>
      <p:ext uri="{BB962C8B-B14F-4D97-AF65-F5344CB8AC3E}">
        <p14:creationId xmlns:p14="http://schemas.microsoft.com/office/powerpoint/2010/main" val="1121600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6.2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风险分析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600" b="0">
                <a:solidFill>
                  <a:srgbClr val="242424"/>
                </a:solidFill>
                <a:latin typeface="Microsoft YaHei"/>
              </a:rPr>
              <a:t>风险不是回避项，而是候选架构需要被验证和收敛的研究对象。</a:t>
            </a:r>
          </a:p>
        </p:txBody>
      </p: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566928" y="169164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优先级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风险层面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核心缓解路径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残余风险</a:t>
                      </a:r>
                    </a:p>
                  </a:txBody>
                  <a:tcPr marL="36576" marR="36576" marT="18288" marB="18288">
                    <a:solidFill>
                      <a:srgbClr val="0B57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P0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实证执行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算力授权门控；待执行限定语；集成证据边界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消融全部待执行；训练后质量未知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P1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跨模块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校验标定方案域外模式；信号契约升级路径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均为方案级，执行需独立决策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P1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许可链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渲染器待执行门控；逐一许可证审查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渲染器选型未定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P2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架构层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有效性门控；信号契约日志拒绝；早期失败阈值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真实数据端到端验证待后续里程碑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P2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工程时序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候选时间表；里程碑独立决策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GPU 可用性与导师反馈不可控</a:t>
                      </a:r>
                    </a:p>
                  </a:txBody>
                  <a:tcPr marL="36576" marR="36576" marT="18288" marB="18288">
                    <a:solidFill>
                      <a:srgbClr val="E9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P2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平台层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环境锁定；回归验证；统一预处理；API 限内网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42424"/>
                          </a:solidFill>
                          <a:latin typeface="Microsoft YaHei"/>
                        </a:rPr>
                        <a:t>环境漂移需持续维护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217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CB35-8694-E821-7520-60C185A2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卡通人物&#10;&#10;中度可信度描述已自动生成">
            <a:extLst>
              <a:ext uri="{FF2B5EF4-FFF2-40B4-BE49-F238E27FC236}">
                <a16:creationId xmlns:a16="http://schemas.microsoft.com/office/drawing/2014/main" id="{469BA534-266A-CC41-748E-3E7AC8CF7F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42"/>
          <a:stretch/>
        </p:blipFill>
        <p:spPr>
          <a:xfrm>
            <a:off x="-23618" y="1787190"/>
            <a:ext cx="12191998" cy="5070810"/>
          </a:xfrm>
          <a:prstGeom prst="rect">
            <a:avLst/>
          </a:prstGeom>
        </p:spPr>
      </p:pic>
      <p:pic>
        <p:nvPicPr>
          <p:cNvPr id="21" name="Picture 50">
            <a:extLst>
              <a:ext uri="{FF2B5EF4-FFF2-40B4-BE49-F238E27FC236}">
                <a16:creationId xmlns:a16="http://schemas.microsoft.com/office/drawing/2014/main" id="{5ED016BF-2B5F-21EC-4BE9-702CE5840D3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alphaModFix amt="8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-11809" y="-7848"/>
            <a:ext cx="12191998" cy="6724453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6B85E432-9424-1520-F14A-047D9DEB83EC}"/>
              </a:ext>
            </a:extLst>
          </p:cNvPr>
          <p:cNvGrpSpPr/>
          <p:nvPr/>
        </p:nvGrpSpPr>
        <p:grpSpPr>
          <a:xfrm>
            <a:off x="4625885" y="4478837"/>
            <a:ext cx="2940230" cy="543560"/>
            <a:chOff x="4637690" y="4745298"/>
            <a:chExt cx="2940230" cy="543560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96713254-7B78-D09F-CB92-5C1095331685}"/>
                </a:ext>
              </a:extLst>
            </p:cNvPr>
            <p:cNvSpPr/>
            <p:nvPr/>
          </p:nvSpPr>
          <p:spPr>
            <a:xfrm>
              <a:off x="4637690" y="4745298"/>
              <a:ext cx="2940230" cy="54356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  <a:ln w="19050" cap="flat" cmpd="sng" algn="ctr">
              <a:gradFill>
                <a:gsLst>
                  <a:gs pos="0">
                    <a:schemeClr val="accent3"/>
                  </a:gs>
                  <a:gs pos="52000">
                    <a:schemeClr val="accent2">
                      <a:lumMod val="20000"/>
                      <a:lumOff val="80000"/>
                    </a:schemeClr>
                  </a:gs>
                  <a:gs pos="100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FF537F-4820-3529-96D8-CE2115B41E95}"/>
                </a:ext>
              </a:extLst>
            </p:cNvPr>
            <p:cNvSpPr txBox="1"/>
            <p:nvPr/>
          </p:nvSpPr>
          <p:spPr>
            <a:xfrm>
              <a:off x="4897699" y="4786246"/>
              <a:ext cx="2420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XXXX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A509069-3E25-6E6D-6852-C5E1A6073A3B}"/>
              </a:ext>
            </a:extLst>
          </p:cNvPr>
          <p:cNvGrpSpPr/>
          <p:nvPr/>
        </p:nvGrpSpPr>
        <p:grpSpPr>
          <a:xfrm>
            <a:off x="1219516" y="1161249"/>
            <a:ext cx="9752969" cy="0"/>
            <a:chOff x="2337007" y="9501547"/>
            <a:chExt cx="9271477" cy="0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17EDD84-DB34-0555-39A6-DB9B5291E6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7007" y="9501547"/>
              <a:ext cx="2580640" cy="0"/>
            </a:xfrm>
            <a:prstGeom prst="line">
              <a:avLst/>
            </a:prstGeom>
            <a:noFill/>
            <a:ln w="6350" cap="rnd" cmpd="sng" algn="ctr">
              <a:gradFill flip="none" rotWithShape="1">
                <a:gsLst>
                  <a:gs pos="0">
                    <a:sysClr val="window" lastClr="FFFFFF"/>
                  </a:gs>
                  <a:gs pos="87000">
                    <a:sysClr val="window" lastClr="FFFFFF">
                      <a:alpha val="0"/>
                    </a:sysClr>
                  </a:gs>
                </a:gsLst>
                <a:lin ang="0" scaled="1"/>
                <a:tileRect/>
              </a:gradFill>
              <a:prstDash val="solid"/>
              <a:round/>
              <a:headEnd type="oval"/>
            </a:ln>
            <a:effectLst/>
          </p:spPr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5649D57-710C-5405-2BE1-D74D4CF120E0}"/>
                </a:ext>
              </a:extLst>
            </p:cNvPr>
            <p:cNvCxnSpPr>
              <a:cxnSpLocks/>
            </p:cNvCxnSpPr>
            <p:nvPr/>
          </p:nvCxnSpPr>
          <p:spPr>
            <a:xfrm>
              <a:off x="9027844" y="9501547"/>
              <a:ext cx="2580640" cy="0"/>
            </a:xfrm>
            <a:prstGeom prst="line">
              <a:avLst/>
            </a:prstGeom>
            <a:noFill/>
            <a:ln w="6350" cap="rnd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0" scaled="1"/>
                <a:tileRect/>
              </a:gradFill>
              <a:prstDash val="solid"/>
              <a:round/>
              <a:headEnd type="oval"/>
            </a:ln>
            <a:effectLst/>
          </p:spPr>
        </p:cxnSp>
      </p:grpSp>
      <p:sp>
        <p:nvSpPr>
          <p:cNvPr id="32" name="TextBox 31"/>
          <p:cNvSpPr txBox="1"/>
          <p:nvPr/>
        </p:nvSpPr>
        <p:spPr>
          <a:xfrm>
            <a:off x="822960" y="1325880"/>
            <a:ext cx="1056132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</a:rPr>
              <a:t>总结与致谢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331720"/>
            <a:ext cx="9235440" cy="10515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本研究以候选架构 X 与聚合管理平台为两大支柱，为前馈式三维重建提供可对照评估的研究框架。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3886200"/>
            <a:ext cx="850392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Microsoft YaHei"/>
              </a:rPr>
              <a:t>已完成：架构设计、里程碑 1-18、KITTI 集成验证、平台 7 模型接入、中文综述。
待推进：消融执行、真实训练、平台 UI 优化与论文撰写。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5486400"/>
            <a:ext cx="4251960" cy="4023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敬请各位老师批评指正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245411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Microsoft Office PowerPoint</Application>
  <PresentationFormat>宽屏</PresentationFormat>
  <Paragraphs>342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2</cp:revision>
  <dcterms:created xsi:type="dcterms:W3CDTF">2026-05-17T14:57:31Z</dcterms:created>
  <dcterms:modified xsi:type="dcterms:W3CDTF">2026-05-17T15:06:43Z</dcterms:modified>
</cp:coreProperties>
</file>