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23" r:id="rId17"/>
    <p:sldId id="337" r:id="rId18"/>
    <p:sldId id="338" r:id="rId19"/>
    <p:sldId id="339" r:id="rId20"/>
    <p:sldId id="340" r:id="rId21"/>
    <p:sldId id="341" r:id="rId22"/>
    <p:sldId id="269" r:id="rId23"/>
    <p:sldId id="342" r:id="rId24"/>
    <p:sldId id="29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F41C9F-E9D2-7A97-CF3E-95D836636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FA23414-AFAE-FCA7-5B04-0C9ECA2A4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450F0B-DCC0-EB05-2304-93EBA700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3418-672F-487A-9C93-FEB55C8984C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806B9C-2A7F-A371-167C-3533020B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3966E-B7FA-41D8-406F-978DFB34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F7-E961-483A-A9E3-E236A7C7A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036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2059ED-FAE3-A1CF-BEC8-AFD9BF98F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49EE33-BD09-7E85-A40C-0FBCEF7AF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1685A1-A5E6-F7F0-2209-D4812318F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3418-672F-487A-9C93-FEB55C8984C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8FBFA3-783C-FC80-D456-079D1ABF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80F401-2F86-4E77-90BD-F02D40EBB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F7-E961-483A-A9E3-E236A7C7A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15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51313-F5ED-FA45-3089-110A92357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BB6D88-52D4-B502-6F41-AF5CEEFFA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B0C2BE-8990-A945-4C14-89E536BD5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3418-672F-487A-9C93-FEB55C8984C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BE6E65-FE5C-99C9-2833-AC083205F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50E1F5-91A6-7167-E8FD-72AFE317E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F7-E961-483A-A9E3-E236A7C7A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076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D5C40A-86F8-8ADB-66C1-A854D7BA6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87A267-1478-71BB-1B96-2641BE491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F625E7-A45D-D381-9924-4CD49C7FF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931CC2-B80D-8290-9902-45109C8F1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3418-672F-487A-9C93-FEB55C8984C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C4F4CB-8AE7-2394-B61F-BF5A2B4E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6F7EF9-A92D-DFB0-E218-B48426CC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F7-E961-483A-A9E3-E236A7C7A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129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7D1261-6AC6-E5EF-8040-8EE785772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815BAC-A38E-A3AC-73AB-4F5B3DF35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877A85-E170-CE1E-B90F-8B73D1650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CCB455-3A24-4FAD-63E5-1DF9450CCC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5405C23-866E-5256-BE0B-429E2E6255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851F88-D11E-3C9E-646F-DDD104D7F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3418-672F-487A-9C93-FEB55C8984C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5AAB96-526B-98BF-4AED-EFA02D5D1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8AB12A-CF29-5E99-0BD2-5CA86903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F7-E961-483A-A9E3-E236A7C7A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502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163FCC-DA4B-BE78-43A1-21625F980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AB320F-9000-1D37-699E-3302F2402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3418-672F-487A-9C93-FEB55C8984C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001715-BAA9-B505-A315-F2B41484C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BAE283-8B8C-D8A0-E826-457ED286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F7-E961-483A-A9E3-E236A7C7A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752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431BA8-62D8-3DC3-74B3-1FFDB52A7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3418-672F-487A-9C93-FEB55C8984C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0924D-01AB-96B1-A549-5AD973078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16C12A-7B15-3570-5D60-523830F5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F7-E961-483A-A9E3-E236A7C7A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300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FB7D74-077D-B95F-2D34-4E1990A11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6CC0A1-3A45-3391-F551-0487D0DE3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54B064-63B0-6A90-D42D-141EC8FA5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FDF9EF-B55F-5D2C-ED16-B75465E75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3418-672F-487A-9C93-FEB55C8984C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A41C03-2DA6-E194-40D8-218E2D95B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51B8D6-B57E-607A-6C3D-41140889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F7-E961-483A-A9E3-E236A7C7A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316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62D384-B0EE-862D-359F-1E9FD9086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C3141F-BCD0-A146-BF44-50B96AF1D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C8E263-C0B8-766D-20A3-31BFEC906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0A521F-B811-5459-9819-706917194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3418-672F-487A-9C93-FEB55C8984C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3C9C68-728D-B55F-176E-61AD7D604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718D4D-9E95-E749-EBFE-95409989C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F7-E961-483A-A9E3-E236A7C7A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433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D449B9-8080-0CAC-860B-247D4B0BE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D904E5-1215-2F3A-E1C3-303F02271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D94FFD-CD1D-054E-E218-AEC085A63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3418-672F-487A-9C93-FEB55C8984C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08FD2A-2866-62B9-41A6-3BA2D98D1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4966F2-4DE8-FA71-CA91-F187A7C7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F7-E961-483A-A9E3-E236A7C7A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850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4C8EEC-5E0D-930F-16A2-176FA4B78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C7A7F8-157C-EE79-431D-496C636F9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E8564E-0ED7-8BB6-D77F-BD873CE26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3418-672F-487A-9C93-FEB55C8984C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1B81CE-B84E-BDFC-658B-639A0D5A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A6E49A-AF84-2599-2E33-466315A1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F7-E961-483A-A9E3-E236A7C7A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052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700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1680B2-60A0-212E-8441-215A26DB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9F8C76-4B3D-FBC8-8F75-7DD955BDF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18E699-F92D-C79C-4C77-29FEF0A357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3418-672F-487A-9C93-FEB55C8984C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71B816-2B37-9A09-F662-7458863BF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3A7673-574B-5626-6382-476CA0827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ACBF7-E961-483A-A9E3-E236A7C7A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13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新型架构设计与聚合管理平台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9434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ED3FE0F-BECB-5B1A-3C15-32275F14CCF5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B58196-54B0-181C-B04B-357801C34B28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ABE066A-719B-50FF-9FDC-8C7213F71A79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F818E9F7-A781-F7B0-06E8-D981DF51B130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83D8C4-01AE-1D7B-B983-CFFA952A1165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054C9EB-1010-FE10-EBD8-6343658B4EA6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B8E9577-07BE-D168-8B5C-B6CA5E213187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C166CB-47C7-BABB-C789-65D37ED2591E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26E8F4-6467-C95B-D05F-1C5F85CC249F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BB4B3E4-8C55-E394-7EAE-CD4BB3F1CC78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62BF44C-6F56-52BA-77BD-13AAC0291CF3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BDE8AB-1424-A22A-0B30-2F9F9897B45D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3AC4B73-79A4-B90C-78EB-79F41375829D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026B569-D543-3E12-67E5-CD72F0E7EAC6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9C6D5AA-0F85-98AC-4637-F2FDD36A466F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525A148-0A9F-35F5-A4EC-861EA5E4D16B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7D1F653-3350-41FE-F159-A45B0F91E2F8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026597F-8E5E-8062-B642-1581ED61BFE9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4035A87-B444-44AE-BD02-0ED89A1C1369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4206753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三维重建与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9D26C3-2EBC-D193-36C5-A5894DFEB85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1BCA26-8168-E875-A8E4-365FB2E8A3F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将未标定图像对直接映射为稠密三维点图，是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路线的代表起点。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1B6E35-39D2-14B5-4334-14EF80180463}"/>
              </a:ext>
            </a:extLst>
          </p:cNvPr>
          <p:cNvSpPr/>
          <p:nvPr/>
        </p:nvSpPr>
        <p:spPr>
          <a:xfrm>
            <a:off x="762000" y="2095500"/>
            <a:ext cx="317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传统三维重建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D9D67B-7358-074D-1A5F-B307B14AB0F9}"/>
              </a:ext>
            </a:extLst>
          </p:cNvPr>
          <p:cNvSpPr/>
          <p:nvPr/>
        </p:nvSpPr>
        <p:spPr>
          <a:xfrm>
            <a:off x="762000" y="2552700"/>
            <a:ext cx="3175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特征提取
特征匹配
位姿估计
三角化与稠密重建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18BA9531-68E0-1D3C-506F-CFED693D4463}"/>
              </a:ext>
            </a:extLst>
          </p:cNvPr>
          <p:cNvSpPr/>
          <p:nvPr/>
        </p:nvSpPr>
        <p:spPr>
          <a:xfrm>
            <a:off x="4127500" y="29845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19907F89-CF82-1E31-74AC-CDD3947BDDD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906465"/>
            <a:ext cx="6350000" cy="293076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A2514EE9-28BF-3D58-E5AB-5DDCA9EC5503}"/>
              </a:ext>
            </a:extLst>
          </p:cNvPr>
          <p:cNvSpPr/>
          <p:nvPr/>
        </p:nvSpPr>
        <p:spPr>
          <a:xfrm>
            <a:off x="5207000" y="4978400"/>
            <a:ext cx="58420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100">
                <a:solidFill>
                  <a:srgbClr val="505050"/>
                </a:solidFill>
                <a:latin typeface="Microsoft YaHei" panose="020B0503020204020204" pitchFamily="34" charset="-122"/>
              </a:rPr>
              <a:t>图源：</a:t>
            </a:r>
            <a:r>
              <a:rPr lang="en-US" altLang="zh-CN" sz="1100">
                <a:solidFill>
                  <a:srgbClr val="505050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1100">
                <a:solidFill>
                  <a:srgbClr val="505050"/>
                </a:solidFill>
                <a:latin typeface="Microsoft YaHei" panose="020B0503020204020204" pitchFamily="34" charset="-122"/>
              </a:rPr>
              <a:t>论文 </a:t>
            </a:r>
            <a:r>
              <a:rPr lang="en-US" altLang="zh-CN" sz="1100">
                <a:solidFill>
                  <a:srgbClr val="505050"/>
                </a:solidFill>
                <a:latin typeface="Microsoft YaHei" panose="020B0503020204020204" pitchFamily="34" charset="-122"/>
              </a:rPr>
              <a:t>Fig.1</a:t>
            </a:r>
            <a:r>
              <a:rPr lang="zh-CN" altLang="en-US" sz="1100">
                <a:solidFill>
                  <a:srgbClr val="505050"/>
                </a:solidFill>
                <a:latin typeface="Microsoft YaHei" panose="020B0503020204020204" pitchFamily="34" charset="-122"/>
              </a:rPr>
              <a:t>，本地综述素材裁剪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F7FC2EE-3DE6-DC44-F671-E3B038F347A4}"/>
              </a:ext>
            </a:extLst>
          </p:cNvPr>
          <p:cNvSpPr/>
          <p:nvPr/>
        </p:nvSpPr>
        <p:spPr>
          <a:xfrm>
            <a:off x="1079500" y="5524500"/>
            <a:ext cx="10033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的价值在于统一输入输出；后续问题集中转向长序列、动态场景和结果可靠性。</a:t>
            </a:r>
          </a:p>
        </p:txBody>
      </p:sp>
    </p:spTree>
    <p:extLst>
      <p:ext uri="{BB962C8B-B14F-4D97-AF65-F5344CB8AC3E}">
        <p14:creationId xmlns:p14="http://schemas.microsoft.com/office/powerpoint/2010/main" val="2768075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模型的优势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96B2965-C933-976E-4AB5-B01CD9789C4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51B4407-01D3-864A-BCFA-08EC2D90572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模型的优势集中在速度、端到端学习、统一输出和特色机制。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8A2D572-BA9B-EC3E-CC22-926F44ADDB4A}"/>
              </a:ext>
            </a:extLst>
          </p:cNvPr>
          <p:cNvSpPr/>
          <p:nvPr/>
        </p:nvSpPr>
        <p:spPr>
          <a:xfrm>
            <a:off x="762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速度快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F7EB3A7-EBF8-566D-8D7A-923923F7D941}"/>
              </a:ext>
            </a:extLst>
          </p:cNvPr>
          <p:cNvSpPr/>
          <p:nvPr/>
        </p:nvSpPr>
        <p:spPr>
          <a:xfrm>
            <a:off x="762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
无需迭代优化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157BB5D-E3CD-8F3C-821F-EFEE0075DB70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端到端学习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1811510-9732-D81C-034A-C0BB3DBC7B77}"/>
              </a:ext>
            </a:extLst>
          </p:cNvPr>
          <p:cNvSpPr/>
          <p:nvPr/>
        </p:nvSpPr>
        <p:spPr>
          <a:xfrm>
            <a:off x="3556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几何先验
隐式写入权重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231B9F2-3657-58DB-11AA-B4E0D28DC2B8}"/>
              </a:ext>
            </a:extLst>
          </p:cNvPr>
          <p:cNvSpPr/>
          <p:nvPr/>
        </p:nvSpPr>
        <p:spPr>
          <a:xfrm>
            <a:off x="6350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统一输出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F84C34-5254-5377-A83C-059868A2AF70}"/>
              </a:ext>
            </a:extLst>
          </p:cNvPr>
          <p:cNvSpPr/>
          <p:nvPr/>
        </p:nvSpPr>
        <p:spPr>
          <a:xfrm>
            <a:off x="6350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支持
深度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位姿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法线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945BD37-0B11-2624-8522-F59D39EF40B5}"/>
              </a:ext>
            </a:extLst>
          </p:cNvPr>
          <p:cNvSpPr/>
          <p:nvPr/>
        </p:nvSpPr>
        <p:spPr>
          <a:xfrm>
            <a:off x="9144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特色机制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F4AE5B9-1092-0688-D0D8-81C9DCC78EC5}"/>
              </a:ext>
            </a:extLst>
          </p:cNvPr>
          <p:cNvSpPr/>
          <p:nvPr/>
        </p:nvSpPr>
        <p:spPr>
          <a:xfrm>
            <a:off x="9144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记忆、递推
校验、匹配增强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AA9D13F-2DC4-D860-D686-3DEBE37DC52B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CUT3R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等工作提供了可借鉴的机制来源。</a:t>
            </a:r>
          </a:p>
        </p:txBody>
      </p:sp>
    </p:spTree>
    <p:extLst>
      <p:ext uri="{BB962C8B-B14F-4D97-AF65-F5344CB8AC3E}">
        <p14:creationId xmlns:p14="http://schemas.microsoft.com/office/powerpoint/2010/main" val="173812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模型面临的共性缺陷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DC169B-7794-C914-D0BB-7EDF33048AD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6C1876-0911-0995-89D7-3641A8FF9B3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模型在长序列、动态场景、自检查和多模型协同方面仍有短板。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489995-E2EC-7242-967C-470D5CA63832}"/>
              </a:ext>
            </a:extLst>
          </p:cNvPr>
          <p:cNvSpPr/>
          <p:nvPr/>
        </p:nvSpPr>
        <p:spPr>
          <a:xfrm>
            <a:off x="952500" y="1841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长序列漂移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04C41D-8DE1-02E5-2DD1-C386FC142831}"/>
              </a:ext>
            </a:extLst>
          </p:cNvPr>
          <p:cNvSpPr/>
          <p:nvPr/>
        </p:nvSpPr>
        <p:spPr>
          <a:xfrm>
            <a:off x="3302000" y="1841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视频长度增加后几何逐渐跑偏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AE907D-23F7-B743-40C2-7D440D9FED0B}"/>
              </a:ext>
            </a:extLst>
          </p:cNvPr>
          <p:cNvSpPr/>
          <p:nvPr/>
        </p:nvSpPr>
        <p:spPr>
          <a:xfrm>
            <a:off x="952500" y="2540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动态场景干扰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2E8DBF-600D-975C-8BB1-A3B11DA81860}"/>
              </a:ext>
            </a:extLst>
          </p:cNvPr>
          <p:cNvSpPr/>
          <p:nvPr/>
        </p:nvSpPr>
        <p:spPr>
          <a:xfrm>
            <a:off x="3302000" y="2540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移动物体破坏静态重建假设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209422-D3CA-E219-CDDB-EB025D9B556C}"/>
              </a:ext>
            </a:extLst>
          </p:cNvPr>
          <p:cNvSpPr/>
          <p:nvPr/>
        </p:nvSpPr>
        <p:spPr>
          <a:xfrm>
            <a:off x="952500" y="3238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缺乏自检查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05BA4C-66F5-0D73-C316-A70A1A3814CE}"/>
              </a:ext>
            </a:extLst>
          </p:cNvPr>
          <p:cNvSpPr/>
          <p:nvPr/>
        </p:nvSpPr>
        <p:spPr>
          <a:xfrm>
            <a:off x="3302000" y="3238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结果错误难以及时发现和修复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B5333BE-3DD4-3233-6003-74FE9673A264}"/>
              </a:ext>
            </a:extLst>
          </p:cNvPr>
          <p:cNvSpPr/>
          <p:nvPr/>
        </p:nvSpPr>
        <p:spPr>
          <a:xfrm>
            <a:off x="952500" y="3937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单模型上限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23411C8-AB0C-0299-8280-54FFD721F007}"/>
              </a:ext>
            </a:extLst>
          </p:cNvPr>
          <p:cNvSpPr/>
          <p:nvPr/>
        </p:nvSpPr>
        <p:spPr>
          <a:xfrm>
            <a:off x="3302000" y="3937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弱纹理、镜面、快速运动各有短板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B266EA6-377F-5FC4-4552-470D4604B2B4}"/>
              </a:ext>
            </a:extLst>
          </p:cNvPr>
          <p:cNvSpPr/>
          <p:nvPr/>
        </p:nvSpPr>
        <p:spPr>
          <a:xfrm>
            <a:off x="952500" y="4635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模型之间孤立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52848A-1FC4-9B3E-2399-5D9A70D94E25}"/>
              </a:ext>
            </a:extLst>
          </p:cNvPr>
          <p:cNvSpPr/>
          <p:nvPr/>
        </p:nvSpPr>
        <p:spPr>
          <a:xfrm>
            <a:off x="3302000" y="4635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缺少统一对比与组合框架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A72762-7B72-B516-F5E3-9B7F62ED571F}"/>
              </a:ext>
            </a:extLst>
          </p:cNvPr>
          <p:cNvSpPr/>
          <p:nvPr/>
        </p:nvSpPr>
        <p:spPr>
          <a:xfrm>
            <a:off x="1397000" y="5524500"/>
            <a:ext cx="9398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课题目标由这些短板自然引出：记忆、校验、多专家编排和统一平台。</a:t>
            </a:r>
          </a:p>
        </p:txBody>
      </p:sp>
    </p:spTree>
    <p:extLst>
      <p:ext uri="{BB962C8B-B14F-4D97-AF65-F5344CB8AC3E}">
        <p14:creationId xmlns:p14="http://schemas.microsoft.com/office/powerpoint/2010/main" val="658600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设计思路：学习与补足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527C17-FABE-B2EA-0F19-AA551DAAD24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3CC866-9420-A964-9F46-F078193D8BA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设计思路分为两步：提取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有效机制，再引入新方法补足短板。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89C3C1-A2B7-6EC9-5FEA-FC7AC5EBC76B}"/>
              </a:ext>
            </a:extLst>
          </p:cNvPr>
          <p:cNvSpPr/>
          <p:nvPr/>
        </p:nvSpPr>
        <p:spPr>
          <a:xfrm>
            <a:off x="698500" y="2032000"/>
            <a:ext cx="4953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中学习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BA2EBF-27C2-2525-4F54-7D331683A2E2}"/>
              </a:ext>
            </a:extLst>
          </p:cNvPr>
          <p:cNvSpPr/>
          <p:nvPr/>
        </p:nvSpPr>
        <p:spPr>
          <a:xfrm>
            <a:off x="698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空间记忆：保留已见区域
流式递推：支持长视频
几何校验：推理时自检查
多模型互补：专家各取所长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D4477D96-5D44-B90C-B2DA-99F18286DA13}"/>
              </a:ext>
            </a:extLst>
          </p:cNvPr>
          <p:cNvSpPr/>
          <p:nvPr/>
        </p:nvSpPr>
        <p:spPr>
          <a:xfrm>
            <a:off x="59055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866242-BFEA-4046-0403-DBE31D931BBD}"/>
              </a:ext>
            </a:extLst>
          </p:cNvPr>
          <p:cNvSpPr/>
          <p:nvPr/>
        </p:nvSpPr>
        <p:spPr>
          <a:xfrm>
            <a:off x="6667500" y="2032000"/>
            <a:ext cx="4953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用新方法补足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8262AF-7D9B-B912-F1E6-A02D3A049ED8}"/>
              </a:ext>
            </a:extLst>
          </p:cNvPr>
          <p:cNvSpPr/>
          <p:nvPr/>
        </p:nvSpPr>
        <p:spPr>
          <a:xfrm>
            <a:off x="6667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稀疏注意力：管理长序列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：线性复杂度递推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Attention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：动静分离
能力描述符：多专家路由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60DADE-4993-60D1-C15E-2B22E0D93130}"/>
              </a:ext>
            </a:extLst>
          </p:cNvPr>
          <p:cNvSpPr/>
          <p:nvPr/>
        </p:nvSpPr>
        <p:spPr>
          <a:xfrm>
            <a:off x="1206500" y="5143500"/>
            <a:ext cx="9779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本课题的架构由这些机制组合自然推出，并通过实验检验各模块作用。</a:t>
            </a:r>
          </a:p>
        </p:txBody>
      </p:sp>
    </p:spTree>
    <p:extLst>
      <p:ext uri="{BB962C8B-B14F-4D97-AF65-F5344CB8AC3E}">
        <p14:creationId xmlns:p14="http://schemas.microsoft.com/office/powerpoint/2010/main" val="2169828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设计目标与课题两条主线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4CD945-C351-CF9F-5724-095D1125545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42031F-8B0C-1D9A-3DCD-58498D274D5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课题包含新架构设计和聚合管理平台两条主线，二者服务于同一组实验目标。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567EC2-2A35-3050-1938-56E865016CA2}"/>
              </a:ext>
            </a:extLst>
          </p:cNvPr>
          <p:cNvSpPr/>
          <p:nvPr/>
        </p:nvSpPr>
        <p:spPr>
          <a:xfrm>
            <a:off x="889000" y="2095500"/>
            <a:ext cx="444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主线一：新架构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91E139-9B9E-3B49-5B6A-49B043E1EBC4}"/>
              </a:ext>
            </a:extLst>
          </p:cNvPr>
          <p:cNvSpPr/>
          <p:nvPr/>
        </p:nvSpPr>
        <p:spPr>
          <a:xfrm>
            <a:off x="889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
几何校验
多专家编排
长序列与动态场景评测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41821D0-0213-F0F5-A54A-F8E47E4324B5}"/>
              </a:ext>
            </a:extLst>
          </p:cNvPr>
          <p:cNvSpPr/>
          <p:nvPr/>
        </p:nvSpPr>
        <p:spPr>
          <a:xfrm>
            <a:off x="5715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F16086-B244-CEEC-517B-3A254026724A}"/>
              </a:ext>
            </a:extLst>
          </p:cNvPr>
          <p:cNvSpPr/>
          <p:nvPr/>
        </p:nvSpPr>
        <p:spPr>
          <a:xfrm>
            <a:off x="6858000" y="2095500"/>
            <a:ext cx="444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主线二：管理平台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6F15F1-0745-4806-A4E3-C4C51093167A}"/>
              </a:ext>
            </a:extLst>
          </p:cNvPr>
          <p:cNvSpPr/>
          <p:nvPr/>
        </p:nvSpPr>
        <p:spPr>
          <a:xfrm>
            <a:off x="6858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模型统一调度
结果统一归集
跨模型对比
新模型快速接入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5964FE-9060-6495-0492-1EC1877F455E}"/>
              </a:ext>
            </a:extLst>
          </p:cNvPr>
          <p:cNvSpPr/>
          <p:nvPr/>
        </p:nvSpPr>
        <p:spPr>
          <a:xfrm>
            <a:off x="1206500" y="5080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平台提供统一实验条件；新架构完成后作为第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8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个模型接入平台进行同条件比较。</a:t>
            </a:r>
          </a:p>
        </p:txBody>
      </p:sp>
    </p:spTree>
    <p:extLst>
      <p:ext uri="{BB962C8B-B14F-4D97-AF65-F5344CB8AC3E}">
        <p14:creationId xmlns:p14="http://schemas.microsoft.com/office/powerpoint/2010/main" val="125673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总体架构一览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9225A3-6097-CEA0-B5C4-AF9B75B1881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00FFB7-171C-330C-05B9-B7A47AFC105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总体架构以总线为核心，把感知、记忆、动静分离、校验和专家编排串联起来。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E82258-46F5-1525-E0E4-76E8BEF3846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133" y="1752600"/>
            <a:ext cx="6769734" cy="381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E48601A-CE6A-AE40-C9D8-F8C7E09C393F}"/>
              </a:ext>
            </a:extLst>
          </p:cNvPr>
          <p:cNvSpPr/>
          <p:nvPr/>
        </p:nvSpPr>
        <p:spPr>
          <a:xfrm>
            <a:off x="1460500" y="5715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输出包括逐帧三维点图、动态掩码和用于复核的中间证据。</a:t>
            </a:r>
          </a:p>
        </p:txBody>
      </p:sp>
    </p:spTree>
    <p:extLst>
      <p:ext uri="{BB962C8B-B14F-4D97-AF65-F5344CB8AC3E}">
        <p14:creationId xmlns:p14="http://schemas.microsoft.com/office/powerpoint/2010/main" val="3390226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空间记忆模块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A167AF-0E4D-F4AD-2026-7CB242C1CD6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1E99C1-7CA5-1F38-430D-8FB342068A8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空间记忆模块把长序列上下文拆成压缩状态、空间锚点和局部滑窗三条路径。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6ADC8A-1EC2-12BF-6A09-818B85D00A6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205" y="1841500"/>
            <a:ext cx="6205590" cy="3492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F9A9691-B348-E0B8-BA89-BFEB1194F5E5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压缩管远程状态，选择管空间锚点，滑窗管当前上下文。</a:t>
            </a:r>
          </a:p>
        </p:txBody>
      </p:sp>
    </p:spTree>
    <p:extLst>
      <p:ext uri="{BB962C8B-B14F-4D97-AF65-F5344CB8AC3E}">
        <p14:creationId xmlns:p14="http://schemas.microsoft.com/office/powerpoint/2010/main" val="4181908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1B2FD5-4ECD-0CCF-C3F7-D0D909FA65BB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4F0D8F-0C34-3C72-31D9-1BFEBD14379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几何校验模块先聚合冲突信号，再按阈值触发重跑或专家切换。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0A7FA2-74CF-0EAD-3F46-356D9301808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19" y="1905000"/>
            <a:ext cx="6092761" cy="3429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43B9A35-EB41-6BAB-EEF8-9903F2485FA7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校验理念来自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，本课题把它接入架构内部的修复动作。</a:t>
            </a:r>
          </a:p>
        </p:txBody>
      </p:sp>
    </p:spTree>
    <p:extLst>
      <p:ext uri="{BB962C8B-B14F-4D97-AF65-F5344CB8AC3E}">
        <p14:creationId xmlns:p14="http://schemas.microsoft.com/office/powerpoint/2010/main" val="2092125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多专家编排模块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A228C4-9CC1-BC02-170C-50F996DEEDE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35997E-605F-F31D-D0AD-6C4DC7BD476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多专家编排模块根据输入条件和校验结果在七个模型专家之间切换。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183B70-38E6-BEF6-9A38-7ED6626D2078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52C7B3-858E-DD45-D359-5F9EFA0842D7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C57046-A4AC-2AFE-5ED7-2AB8B8793DC6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7AB6F1-E6B7-81A5-143D-1880AFB630FE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6ABE76B-FA77-40EF-6AA3-2F5E98ACC477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F50EED-EB15-2992-88DA-447167251844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1942CF-91C5-1D39-08C9-A4DEAA23F165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817B0C-5659-9233-8162-B7732B132B6F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能力匹配度跨度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AC055C64-536D-C185-1EE8-FD88AB7FAE68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DD663A-93FA-489C-7212-6DE0B04C009D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成本调整解析平局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D9518FC8-9E53-47F6-A909-3564A6447EEE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B812B89-2C96-B2F9-5CF3-3535C96F51B9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失败退化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A6B7AF-1844-57DA-5CBD-272B9CB1E547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单模型各有优势场景，多专家路由用于提升复杂输入下的适应能力。</a:t>
            </a:r>
          </a:p>
        </p:txBody>
      </p:sp>
    </p:spTree>
    <p:extLst>
      <p:ext uri="{BB962C8B-B14F-4D97-AF65-F5344CB8AC3E}">
        <p14:creationId xmlns:p14="http://schemas.microsoft.com/office/powerpoint/2010/main" val="311027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当前实现进展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5F2433-2988-1897-5E6A-95C34F9E837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663FFB-1DBC-49CA-2205-4A674B3421F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架构原型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已跑通端到端流水线，当前为集成验证阶段。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E616A6-3BB0-81F9-A0E4-A20700A2A44E}"/>
              </a:ext>
            </a:extLst>
          </p:cNvPr>
          <p:cNvSpPr/>
          <p:nvPr/>
        </p:nvSpPr>
        <p:spPr>
          <a:xfrm>
            <a:off x="1016000" y="18415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原型状态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015D59-27B1-0FA5-E80D-5416A00AB41E}"/>
              </a:ext>
            </a:extLst>
          </p:cNvPr>
          <p:cNvSpPr/>
          <p:nvPr/>
        </p:nvSpPr>
        <p:spPr>
          <a:xfrm>
            <a:off x="3238500" y="18415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端到端流水线已跑通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E2B7BF-6730-53C3-B85F-5B213AF46B36}"/>
              </a:ext>
            </a:extLst>
          </p:cNvPr>
          <p:cNvSpPr/>
          <p:nvPr/>
        </p:nvSpPr>
        <p:spPr>
          <a:xfrm>
            <a:off x="1016000" y="26289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技术里程碑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CC1FAC-426D-3453-DD01-0DA9B2480B65}"/>
              </a:ext>
            </a:extLst>
          </p:cNvPr>
          <p:cNvSpPr/>
          <p:nvPr/>
        </p:nvSpPr>
        <p:spPr>
          <a:xfrm>
            <a:off x="3238500" y="26289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项完成：视觉骨干、三维检索、校验流程、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循环等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4DB3BE-3AB4-B454-3D34-F10D5E0B9C56}"/>
              </a:ext>
            </a:extLst>
          </p:cNvPr>
          <p:cNvSpPr/>
          <p:nvPr/>
        </p:nvSpPr>
        <p:spPr>
          <a:xfrm>
            <a:off x="1016000" y="34163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5CD523-3958-3E2C-E5DC-EF76FABE297D}"/>
              </a:ext>
            </a:extLst>
          </p:cNvPr>
          <p:cNvSpPr/>
          <p:nvPr/>
        </p:nvSpPr>
        <p:spPr>
          <a:xfrm>
            <a:off x="3238500" y="34163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端到端运行无崩溃，点图 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L2 = 20.47</a:t>
            </a:r>
            <a:endParaRPr lang="zh-CN" altLang="en-US" sz="17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C5F6383-FDF0-D90F-9993-DE0AA854F5CE}"/>
              </a:ext>
            </a:extLst>
          </p:cNvPr>
          <p:cNvSpPr/>
          <p:nvPr/>
        </p:nvSpPr>
        <p:spPr>
          <a:xfrm>
            <a:off x="1016000" y="42037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阶段边界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B6431EA-45C6-D34B-A983-3F66E9EACF1A}"/>
              </a:ext>
            </a:extLst>
          </p:cNvPr>
          <p:cNvSpPr/>
          <p:nvPr/>
        </p:nvSpPr>
        <p:spPr>
          <a:xfrm>
            <a:off x="3238500" y="42037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集成验证数据，非训练后质量指标</a:t>
            </a:r>
          </a:p>
        </p:txBody>
      </p:sp>
    </p:spTree>
    <p:extLst>
      <p:ext uri="{BB962C8B-B14F-4D97-AF65-F5344CB8AC3E}">
        <p14:creationId xmlns:p14="http://schemas.microsoft.com/office/powerpoint/2010/main" val="3276236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8FB94A-20A1-1F7C-EA7D-BC4763F12A9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EBA84C-A536-AE85-90FE-AFE9B06F41D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多模型对比实验需要统一调度、统一格式和统一结果归集。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18478B-7DD4-43A9-578A-B75377A1CDA9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环境差异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F79513-E525-DD5C-8C32-5A9245855B70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每个模型都有自己的运行环境和依赖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C9678B-98E0-5AB6-B6C4-5FC92176BBD2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格式差异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9CA9C8-D898-74FE-B16E-A4DBE640A57E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输入、输出和结果目录结构各不相同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1EF606-C9E4-E477-7647-18A2828626AC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工具限制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BD36D7-9D88-3F32-6C43-9507955DBC40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Nerfstudio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；商业产品闭源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AA7449-2C34-2E0A-0766-EC309795740A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平台需求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11733F-A160-3E77-5531-BB248DC0DE3C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统一模型调度、结果格式化和多专家对照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B403E8-2BF2-6EFA-8473-9F6C29D0E4D8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聚合平台用于降低多模型实验的人工配置和手动对比成本。</a:t>
            </a:r>
          </a:p>
        </p:txBody>
      </p:sp>
    </p:spTree>
    <p:extLst>
      <p:ext uri="{BB962C8B-B14F-4D97-AF65-F5344CB8AC3E}">
        <p14:creationId xmlns:p14="http://schemas.microsoft.com/office/powerpoint/2010/main" val="3916429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658AC5-A8FE-7FBD-D1B5-02160E7F696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577F54-30BE-D4F0-C4A6-A13F7AFE48F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平台围绕任务提交、状态追踪、结果对比、模型注册和远程调度展开。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6184F4-9779-3A53-B814-3A59A7AE81A5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E37389-736F-F4DD-313A-FF146A96FD51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提交任务
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15C77D-C3AA-309E-0A2A-97E6376DC4A2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7B40F0-235B-EA04-FE0D-A3D3783F7401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上传→运行
回传→完成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ACFC0A-36AD-3CD8-4D1C-73CAAA57E4E4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A441F8-A539-C3D1-1A15-C8473421D3E8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
多模型并排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7A1D70-DA55-E95C-CE7E-59E77E5856A8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27E159D-C385-5771-84B8-0D26C5A93DD4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一个执行器
接入新模型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BF923B-BE00-FBA4-AA54-3656D6B96A9C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结果归集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22B059-A06B-5268-BBA9-F05BBF77E02A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统一输出
导出报告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3E6C11-E2E5-1E85-EABF-879799CFE955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 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UI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截图待用户补充；本版先用功能框图说明系统能力。</a:t>
            </a:r>
          </a:p>
        </p:txBody>
      </p:sp>
    </p:spTree>
    <p:extLst>
      <p:ext uri="{BB962C8B-B14F-4D97-AF65-F5344CB8AC3E}">
        <p14:creationId xmlns:p14="http://schemas.microsoft.com/office/powerpoint/2010/main" val="4263522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D4CA51-67FD-39C2-7268-B2923B80213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C12377-84AE-81FA-B53F-F7AC15555A8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平台通过统一执行合同，把桌面前端、后端调度和模型执行器连接起来。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D10F47-6D5D-D09E-F194-3FF01A5F32C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376" y="1841500"/>
            <a:ext cx="6431248" cy="3619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8A4E1E4-B6B5-857E-7C2C-B3379462BC65}"/>
              </a:ext>
            </a:extLst>
          </p:cNvPr>
          <p:cNvSpPr/>
          <p:nvPr/>
        </p:nvSpPr>
        <p:spPr>
          <a:xfrm>
            <a:off x="1206500" y="5778500"/>
            <a:ext cx="9779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执行器只封装模型差异，平台层保持统一提交、统一跟踪和统一归集。</a:t>
            </a:r>
          </a:p>
        </p:txBody>
      </p:sp>
    </p:spTree>
    <p:extLst>
      <p:ext uri="{BB962C8B-B14F-4D97-AF65-F5344CB8AC3E}">
        <p14:creationId xmlns:p14="http://schemas.microsoft.com/office/powerpoint/2010/main" val="285128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BB7C3F7-9A9A-5DB9-AF2E-521F478E4BF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544DEF-8A67-F22D-AF15-8AFC5FF9DDB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个模型端到端验证通过，统一输入下的推理耗时差异明显。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42C282-13A4-46ED-2EBE-62CB28C0A2A2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28A700-91FF-48BF-4567-FFB1E0422240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2B6580-A7D4-C4C4-483D-499D70A71172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99EBAA-8EA9-88A1-E972-2A0C5EBAE372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2846A4E-D7D8-B433-B03C-01682C4D3358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0E1F31C-4A2A-FFA7-9F29-E6600387D95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8C4E45-C14C-11B7-F8A0-FD312E5F2C1C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统一输入为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帧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1920×1080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；耗时差异说明统一调度的必要性。</a:t>
            </a:r>
          </a:p>
        </p:txBody>
      </p:sp>
    </p:spTree>
    <p:extLst>
      <p:ext uri="{BB962C8B-B14F-4D97-AF65-F5344CB8AC3E}">
        <p14:creationId xmlns:p14="http://schemas.microsoft.com/office/powerpoint/2010/main" val="445585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C8866E-1539-5DAA-6D44-2FBB17C8E67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9DE682-4520-B0A7-0E18-7B650398781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平台后续将围绕模型验证、对比视图、报告导出和下游接口推进。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EEE58C-D9B9-2019-F519-F86C81C8177E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81F6CC-574C-358C-4C43-50CB5313A857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补齐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验证，完善跨模型对比视图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E048C9-233D-7F43-BAAD-967BD40D7D69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2C50EA-9E83-C32C-3954-15C0E56F4D3B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导出论文表格和图表，设计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层接口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311E27-BDBA-5C23-F75F-94C03F6872E9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94FC26-2F3B-2E1C-BFB3-8203E20216B3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初始化、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建模和机器人场景理解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6DD5E3-99EB-CFA4-B945-BD979E9F43B6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B67D87-1AE9-BA64-976E-998F74967E0D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科研实验、模型评估、教学演示</a:t>
            </a:r>
          </a:p>
        </p:txBody>
      </p:sp>
    </p:spTree>
    <p:extLst>
      <p:ext uri="{BB962C8B-B14F-4D97-AF65-F5344CB8AC3E}">
        <p14:creationId xmlns:p14="http://schemas.microsoft.com/office/powerpoint/2010/main" val="2541315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平台如何支撑架构研究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1E717C-F33B-F64D-9F6A-0BDAFFFDC0B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2D3929-E469-E1C8-4DA6-83E152D93AF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平台为架构消融提供统一运行环境和结果对比条件。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C5C97B-9721-13E2-FD24-74135E02862F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架构研究需求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5A049A-B6FD-B62C-7199-9E15E8219807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多专家对照
模块消融
长序列评测
新架构接入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75473D44-28A2-EC4E-2A54-69EAFCD04F1D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A12832E-559A-AD72-36F8-85349FF29AD8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CB222C-C2A8-E260-0096-586FD8231D3A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
统一输出格式
同条件对比
运行数据记录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7E273C-F0EE-602B-9E96-08358B07856C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新架构训练完成后可作为第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8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个模型接入平台，与现有模型同条件比较。</a:t>
            </a:r>
          </a:p>
        </p:txBody>
      </p:sp>
    </p:spTree>
    <p:extLst>
      <p:ext uri="{BB962C8B-B14F-4D97-AF65-F5344CB8AC3E}">
        <p14:creationId xmlns:p14="http://schemas.microsoft.com/office/powerpoint/2010/main" val="1181973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525117-017E-4F85-444D-DB7DBB8393B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59FA33-AF5D-9063-5F4C-1027099CA8E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实验设计分为架构侧实验和平台侧评测两部分。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4CC068-88F3-EE4A-944C-A06432D790CF}"/>
              </a:ext>
            </a:extLst>
          </p:cNvPr>
          <p:cNvSpPr/>
          <p:nvPr/>
        </p:nvSpPr>
        <p:spPr>
          <a:xfrm>
            <a:off x="698500" y="1905000"/>
            <a:ext cx="508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架构侧实验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A7AA5B-8CF3-E191-D29A-63987563488A}"/>
              </a:ext>
            </a:extLst>
          </p:cNvPr>
          <p:cNvSpPr/>
          <p:nvPr/>
        </p:nvSpPr>
        <p:spPr>
          <a:xfrm>
            <a:off x="698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消融实验：移除记忆、校验、多专家路由
长序列评测：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10 / 20 / 50 / 100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帧
多专家与单专家对照
六类场景阈值标定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CA3B46-421B-6ADA-8517-0F7CAEC1C3E0}"/>
              </a:ext>
            </a:extLst>
          </p:cNvPr>
          <p:cNvSpPr/>
          <p:nvPr/>
        </p:nvSpPr>
        <p:spPr>
          <a:xfrm>
            <a:off x="6413500" y="1905000"/>
            <a:ext cx="5080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平台侧评测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5DEC26-5428-3056-764D-C3A999012D39}"/>
              </a:ext>
            </a:extLst>
          </p:cNvPr>
          <p:cNvSpPr/>
          <p:nvPr/>
        </p:nvSpPr>
        <p:spPr>
          <a:xfrm>
            <a:off x="6413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模型接入覆盖率：目标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7/7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跨模型对比矩阵完整性
新模型接入边际成本
报告导出能力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9BCBAE-5877-1CC8-321F-E93DE2575F7D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预算约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1400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小时，按里程碑分批申请。</a:t>
            </a:r>
          </a:p>
        </p:txBody>
      </p:sp>
    </p:spTree>
    <p:extLst>
      <p:ext uri="{BB962C8B-B14F-4D97-AF65-F5344CB8AC3E}">
        <p14:creationId xmlns:p14="http://schemas.microsoft.com/office/powerpoint/2010/main" val="2573409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创新点总结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2466B4-129D-10FB-EA62-3A33DE9C700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0FA3AA-E243-DF23-FB2F-C7CD4048E31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创新点围绕几何校验、多专家编排、长序列记忆和聚合平台展开。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7600BD-D34F-E877-D465-B28DEDAC4947}"/>
              </a:ext>
            </a:extLst>
          </p:cNvPr>
          <p:cNvSpPr/>
          <p:nvPr/>
        </p:nvSpPr>
        <p:spPr>
          <a:xfrm>
            <a:off x="1143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E60CD5-195C-B198-CA3F-F7961383E3FB}"/>
              </a:ext>
            </a:extLst>
          </p:cNvPr>
          <p:cNvSpPr/>
          <p:nvPr/>
        </p:nvSpPr>
        <p:spPr>
          <a:xfrm>
            <a:off x="2286000" y="20955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几何校验作为架构内置组件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9F14A6-947C-80D9-C29A-0C0B7FBE1F0F}"/>
              </a:ext>
            </a:extLst>
          </p:cNvPr>
          <p:cNvSpPr/>
          <p:nvPr/>
        </p:nvSpPr>
        <p:spPr>
          <a:xfrm>
            <a:off x="6350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17CDFF-D382-1847-7F1D-E2E7D3124FD7}"/>
              </a:ext>
            </a:extLst>
          </p:cNvPr>
          <p:cNvSpPr/>
          <p:nvPr/>
        </p:nvSpPr>
        <p:spPr>
          <a:xfrm>
            <a:off x="7493000" y="20955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异构多专家组合与路由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2778F6-97B2-42F3-90B9-A7AB884CC2F9}"/>
              </a:ext>
            </a:extLst>
          </p:cNvPr>
          <p:cNvSpPr/>
          <p:nvPr/>
        </p:nvSpPr>
        <p:spPr>
          <a:xfrm>
            <a:off x="1143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3AAA56-67B1-909B-3D62-2AA8D0CC59FF}"/>
              </a:ext>
            </a:extLst>
          </p:cNvPr>
          <p:cNvSpPr/>
          <p:nvPr/>
        </p:nvSpPr>
        <p:spPr>
          <a:xfrm>
            <a:off x="2286000" y="35179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三分支稀疏注意力记忆统一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7625893-5241-8CFF-D77C-D8B24F91CFEC}"/>
              </a:ext>
            </a:extLst>
          </p:cNvPr>
          <p:cNvSpPr/>
          <p:nvPr/>
        </p:nvSpPr>
        <p:spPr>
          <a:xfrm>
            <a:off x="6350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DA77F1-798D-62DC-B860-92043016EF16}"/>
              </a:ext>
            </a:extLst>
          </p:cNvPr>
          <p:cNvSpPr/>
          <p:nvPr/>
        </p:nvSpPr>
        <p:spPr>
          <a:xfrm>
            <a:off x="7493000" y="35179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750243-2A02-5282-9DB9-E2D8CD0A8A25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各创新点均需通过后续消融和对比实验支撑。</a:t>
            </a:r>
          </a:p>
        </p:txBody>
      </p:sp>
    </p:spTree>
    <p:extLst>
      <p:ext uri="{BB962C8B-B14F-4D97-AF65-F5344CB8AC3E}">
        <p14:creationId xmlns:p14="http://schemas.microsoft.com/office/powerpoint/2010/main" val="4025936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A85285-7A33-AC69-5C7A-12DAD82A294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7B50A6-3A68-FBE6-8074-FA3B384C833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当前已完成架构文档、原型验证、平台代码和阶段综述。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15E816-59A6-0942-6E36-D5A5F80F1915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3079D4-C6A4-A6C1-4F44-BC96E0FA812E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份设计文档
跨模块信号规约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v2.1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跑通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项技术里程碑完成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6C19C8-4572-019F-4C34-2A6141AF3272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F6166C-E948-141B-A407-A859B95E8062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个执行器完成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跨模型对比数据已生成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6C41E7-C731-C0DA-864A-08CCEBAC473A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同期完成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页中文综述，包含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篇引用、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图和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2940666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21452E-8A47-A10A-CB0F-5EB164172E1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996D9A-CD70-C372-1BE4-200EBB44388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后续时间安排分为近期准备、中期实验和后期论文三个阶段。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D54EB-11A4-51DC-E59F-4A53FE16B567}"/>
              </a:ext>
            </a:extLst>
          </p:cNvPr>
          <p:cNvSpPr/>
          <p:nvPr/>
        </p:nvSpPr>
        <p:spPr>
          <a:xfrm>
            <a:off x="29210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近期准备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99CD02-9CD9-290D-5286-99DC7A096A0D}"/>
              </a:ext>
            </a:extLst>
          </p:cNvPr>
          <p:cNvSpPr/>
          <p:nvPr/>
        </p:nvSpPr>
        <p:spPr>
          <a:xfrm>
            <a:off x="4749800" y="1828800"/>
            <a:ext cx="3657600" cy="3556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CD0B47-93D8-01F1-1001-D1CF13A1FC4E}"/>
              </a:ext>
            </a:extLst>
          </p:cNvPr>
          <p:cNvSpPr/>
          <p:nvPr/>
        </p:nvSpPr>
        <p:spPr>
          <a:xfrm>
            <a:off x="84074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后期论文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101D8F-2907-E58D-CB93-B745AE93326C}"/>
              </a:ext>
            </a:extLst>
          </p:cNvPr>
          <p:cNvSpPr/>
          <p:nvPr/>
        </p:nvSpPr>
        <p:spPr>
          <a:xfrm>
            <a:off x="2921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M1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30EBBE-2AEF-AD84-C52C-55B5EED7ED47}"/>
              </a:ext>
            </a:extLst>
          </p:cNvPr>
          <p:cNvSpPr/>
          <p:nvPr/>
        </p:nvSpPr>
        <p:spPr>
          <a:xfrm>
            <a:off x="3835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M2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335C3D-DA81-559F-C80B-93395D33CD02}"/>
              </a:ext>
            </a:extLst>
          </p:cNvPr>
          <p:cNvSpPr/>
          <p:nvPr/>
        </p:nvSpPr>
        <p:spPr>
          <a:xfrm>
            <a:off x="4749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M3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B01367-3726-AD40-57C5-FEE5D49340D6}"/>
              </a:ext>
            </a:extLst>
          </p:cNvPr>
          <p:cNvSpPr/>
          <p:nvPr/>
        </p:nvSpPr>
        <p:spPr>
          <a:xfrm>
            <a:off x="56642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M4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AE8F3C-BE47-F89D-0C3E-DF43B0A472F8}"/>
              </a:ext>
            </a:extLst>
          </p:cNvPr>
          <p:cNvSpPr/>
          <p:nvPr/>
        </p:nvSpPr>
        <p:spPr>
          <a:xfrm>
            <a:off x="65786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M5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116FAF-2621-C87D-E5F4-220B0F751BBF}"/>
              </a:ext>
            </a:extLst>
          </p:cNvPr>
          <p:cNvSpPr/>
          <p:nvPr/>
        </p:nvSpPr>
        <p:spPr>
          <a:xfrm>
            <a:off x="7493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M6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3F53C3-638D-F4AB-844A-3F515DB0FD9E}"/>
              </a:ext>
            </a:extLst>
          </p:cNvPr>
          <p:cNvSpPr/>
          <p:nvPr/>
        </p:nvSpPr>
        <p:spPr>
          <a:xfrm>
            <a:off x="8407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M7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92480E-B381-C2E9-A97B-6DF37DAC96FF}"/>
              </a:ext>
            </a:extLst>
          </p:cNvPr>
          <p:cNvSpPr/>
          <p:nvPr/>
        </p:nvSpPr>
        <p:spPr>
          <a:xfrm>
            <a:off x="9321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M8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E2DD88-BEE6-08EB-44B3-172E1C097DED}"/>
              </a:ext>
            </a:extLst>
          </p:cNvPr>
          <p:cNvSpPr/>
          <p:nvPr/>
        </p:nvSpPr>
        <p:spPr>
          <a:xfrm>
            <a:off x="889000" y="28321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开题定稿与平台补充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7DFE2F-81ED-A106-D2EE-9DA7F72E0E44}"/>
              </a:ext>
            </a:extLst>
          </p:cNvPr>
          <p:cNvSpPr/>
          <p:nvPr/>
        </p:nvSpPr>
        <p:spPr>
          <a:xfrm>
            <a:off x="2921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DDBC56A-8509-1083-B445-8088344CCFE5}"/>
              </a:ext>
            </a:extLst>
          </p:cNvPr>
          <p:cNvSpPr/>
          <p:nvPr/>
        </p:nvSpPr>
        <p:spPr>
          <a:xfrm>
            <a:off x="3835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C44451-D07A-814F-1D55-CDF20A65ACEB}"/>
              </a:ext>
            </a:extLst>
          </p:cNvPr>
          <p:cNvSpPr/>
          <p:nvPr/>
        </p:nvSpPr>
        <p:spPr>
          <a:xfrm>
            <a:off x="4749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3DD6434-1281-A3BD-6194-23816418A185}"/>
              </a:ext>
            </a:extLst>
          </p:cNvPr>
          <p:cNvSpPr/>
          <p:nvPr/>
        </p:nvSpPr>
        <p:spPr>
          <a:xfrm>
            <a:off x="56642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63713E3-63D8-7D22-31C2-4A7BE86D0081}"/>
              </a:ext>
            </a:extLst>
          </p:cNvPr>
          <p:cNvSpPr/>
          <p:nvPr/>
        </p:nvSpPr>
        <p:spPr>
          <a:xfrm>
            <a:off x="65786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90AA55-B280-1646-3288-9C736EED2115}"/>
              </a:ext>
            </a:extLst>
          </p:cNvPr>
          <p:cNvSpPr/>
          <p:nvPr/>
        </p:nvSpPr>
        <p:spPr>
          <a:xfrm>
            <a:off x="7493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06121E-469B-0EEF-86A6-21971EA1E521}"/>
              </a:ext>
            </a:extLst>
          </p:cNvPr>
          <p:cNvSpPr/>
          <p:nvPr/>
        </p:nvSpPr>
        <p:spPr>
          <a:xfrm>
            <a:off x="8407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2A25C07-53B4-EBCB-5FA6-12D48B82E807}"/>
              </a:ext>
            </a:extLst>
          </p:cNvPr>
          <p:cNvSpPr/>
          <p:nvPr/>
        </p:nvSpPr>
        <p:spPr>
          <a:xfrm>
            <a:off x="9321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46FAA65-81BD-3301-B741-1BAF26C571C9}"/>
              </a:ext>
            </a:extLst>
          </p:cNvPr>
          <p:cNvSpPr/>
          <p:nvPr/>
        </p:nvSpPr>
        <p:spPr>
          <a:xfrm>
            <a:off x="3035300" y="2921000"/>
            <a:ext cx="1600200" cy="177800"/>
          </a:xfrm>
          <a:prstGeom prst="roundRect">
            <a:avLst/>
          </a:prstGeom>
          <a:solidFill>
            <a:srgbClr val="00468E"/>
          </a:solidFill>
          <a:ln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1954CB7-6CCA-FE77-0E0B-BE839B615E4B}"/>
              </a:ext>
            </a:extLst>
          </p:cNvPr>
          <p:cNvSpPr/>
          <p:nvPr/>
        </p:nvSpPr>
        <p:spPr>
          <a:xfrm>
            <a:off x="889000" y="33655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校验标定与模块消融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37491AE-E7A5-4A72-70DE-FBB7F66134B9}"/>
              </a:ext>
            </a:extLst>
          </p:cNvPr>
          <p:cNvSpPr/>
          <p:nvPr/>
        </p:nvSpPr>
        <p:spPr>
          <a:xfrm>
            <a:off x="2921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BBE32F-AA52-4F7F-CD95-D51D6F6E0CA3}"/>
              </a:ext>
            </a:extLst>
          </p:cNvPr>
          <p:cNvSpPr/>
          <p:nvPr/>
        </p:nvSpPr>
        <p:spPr>
          <a:xfrm>
            <a:off x="3835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5B94384-3337-F756-5A22-61313CB8AF0A}"/>
              </a:ext>
            </a:extLst>
          </p:cNvPr>
          <p:cNvSpPr/>
          <p:nvPr/>
        </p:nvSpPr>
        <p:spPr>
          <a:xfrm>
            <a:off x="4749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518E362-6A93-0501-3785-32CF2133A41B}"/>
              </a:ext>
            </a:extLst>
          </p:cNvPr>
          <p:cNvSpPr/>
          <p:nvPr/>
        </p:nvSpPr>
        <p:spPr>
          <a:xfrm>
            <a:off x="56642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B4B5832-1852-2989-8A3C-089BE9E89CD2}"/>
              </a:ext>
            </a:extLst>
          </p:cNvPr>
          <p:cNvSpPr/>
          <p:nvPr/>
        </p:nvSpPr>
        <p:spPr>
          <a:xfrm>
            <a:off x="65786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7824DB1-614F-9573-EDC8-E482BBA941F4}"/>
              </a:ext>
            </a:extLst>
          </p:cNvPr>
          <p:cNvSpPr/>
          <p:nvPr/>
        </p:nvSpPr>
        <p:spPr>
          <a:xfrm>
            <a:off x="7493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0A1563B-24BC-0EC9-6AAB-F29761614D2B}"/>
              </a:ext>
            </a:extLst>
          </p:cNvPr>
          <p:cNvSpPr/>
          <p:nvPr/>
        </p:nvSpPr>
        <p:spPr>
          <a:xfrm>
            <a:off x="8407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68F115-DF85-698F-77EC-87C7C1E5D8A2}"/>
              </a:ext>
            </a:extLst>
          </p:cNvPr>
          <p:cNvSpPr/>
          <p:nvPr/>
        </p:nvSpPr>
        <p:spPr>
          <a:xfrm>
            <a:off x="9321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6075DAC9-A252-4A86-952D-A8D77CD364AB}"/>
              </a:ext>
            </a:extLst>
          </p:cNvPr>
          <p:cNvSpPr/>
          <p:nvPr/>
        </p:nvSpPr>
        <p:spPr>
          <a:xfrm>
            <a:off x="3949700" y="3454400"/>
            <a:ext cx="3429000" cy="177800"/>
          </a:xfrm>
          <a:prstGeom prst="roundRect">
            <a:avLst/>
          </a:prstGeom>
          <a:solidFill>
            <a:srgbClr val="EB8A2E"/>
          </a:solidFill>
          <a:ln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002A150-304F-197E-10EC-EDA8644BCE77}"/>
              </a:ext>
            </a:extLst>
          </p:cNvPr>
          <p:cNvSpPr/>
          <p:nvPr/>
        </p:nvSpPr>
        <p:spPr>
          <a:xfrm>
            <a:off x="889000" y="38989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长序列与多专家评测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FDA3CF3-B295-CB12-D392-6B7836B8A073}"/>
              </a:ext>
            </a:extLst>
          </p:cNvPr>
          <p:cNvSpPr/>
          <p:nvPr/>
        </p:nvSpPr>
        <p:spPr>
          <a:xfrm>
            <a:off x="2921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350BF99-5A9B-1727-32A6-9C4A0B967335}"/>
              </a:ext>
            </a:extLst>
          </p:cNvPr>
          <p:cNvSpPr/>
          <p:nvPr/>
        </p:nvSpPr>
        <p:spPr>
          <a:xfrm>
            <a:off x="3835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46296E4-AE3D-03D4-0E13-FD2399BF828D}"/>
              </a:ext>
            </a:extLst>
          </p:cNvPr>
          <p:cNvSpPr/>
          <p:nvPr/>
        </p:nvSpPr>
        <p:spPr>
          <a:xfrm>
            <a:off x="4749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922BC82-DE3F-41E4-4175-0E2A63EB489C}"/>
              </a:ext>
            </a:extLst>
          </p:cNvPr>
          <p:cNvSpPr/>
          <p:nvPr/>
        </p:nvSpPr>
        <p:spPr>
          <a:xfrm>
            <a:off x="56642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40911D2-D2B9-A811-C0C9-A77170029C9A}"/>
              </a:ext>
            </a:extLst>
          </p:cNvPr>
          <p:cNvSpPr/>
          <p:nvPr/>
        </p:nvSpPr>
        <p:spPr>
          <a:xfrm>
            <a:off x="65786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870E292-651A-0DC4-EDA0-DABEB22FE270}"/>
              </a:ext>
            </a:extLst>
          </p:cNvPr>
          <p:cNvSpPr/>
          <p:nvPr/>
        </p:nvSpPr>
        <p:spPr>
          <a:xfrm>
            <a:off x="7493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4EF7779-D643-D356-4C27-84A80D37B177}"/>
              </a:ext>
            </a:extLst>
          </p:cNvPr>
          <p:cNvSpPr/>
          <p:nvPr/>
        </p:nvSpPr>
        <p:spPr>
          <a:xfrm>
            <a:off x="8407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AA51CA4-C833-45FC-FDDF-6A0FEEECA4CE}"/>
              </a:ext>
            </a:extLst>
          </p:cNvPr>
          <p:cNvSpPr/>
          <p:nvPr/>
        </p:nvSpPr>
        <p:spPr>
          <a:xfrm>
            <a:off x="9321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9264FA72-40D8-60CE-A34E-A9C5755BA7D1}"/>
              </a:ext>
            </a:extLst>
          </p:cNvPr>
          <p:cNvSpPr/>
          <p:nvPr/>
        </p:nvSpPr>
        <p:spPr>
          <a:xfrm>
            <a:off x="5778500" y="3987800"/>
            <a:ext cx="2514600" cy="177800"/>
          </a:xfrm>
          <a:prstGeom prst="roundRect">
            <a:avLst/>
          </a:prstGeom>
          <a:solidFill>
            <a:srgbClr val="26915F"/>
          </a:solidFill>
          <a:ln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8BC6714-046C-131A-78B8-C9C12B8987D3}"/>
              </a:ext>
            </a:extLst>
          </p:cNvPr>
          <p:cNvSpPr/>
          <p:nvPr/>
        </p:nvSpPr>
        <p:spPr>
          <a:xfrm>
            <a:off x="889000" y="44323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平台对比视图与报告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373A0B1-9C6F-ADEB-C5A9-846DC2D42A3F}"/>
              </a:ext>
            </a:extLst>
          </p:cNvPr>
          <p:cNvSpPr/>
          <p:nvPr/>
        </p:nvSpPr>
        <p:spPr>
          <a:xfrm>
            <a:off x="2921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BBBCBD3-03B7-9ED0-A6E6-C61C155DC87F}"/>
              </a:ext>
            </a:extLst>
          </p:cNvPr>
          <p:cNvSpPr/>
          <p:nvPr/>
        </p:nvSpPr>
        <p:spPr>
          <a:xfrm>
            <a:off x="3835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84F83CD-E089-79C0-5F74-C3C7D5EDF3BB}"/>
              </a:ext>
            </a:extLst>
          </p:cNvPr>
          <p:cNvSpPr/>
          <p:nvPr/>
        </p:nvSpPr>
        <p:spPr>
          <a:xfrm>
            <a:off x="4749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F717154-BB27-4179-D9C3-BC4821B1F4B0}"/>
              </a:ext>
            </a:extLst>
          </p:cNvPr>
          <p:cNvSpPr/>
          <p:nvPr/>
        </p:nvSpPr>
        <p:spPr>
          <a:xfrm>
            <a:off x="56642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19C07E2-F987-944F-4087-C2298FFD9095}"/>
              </a:ext>
            </a:extLst>
          </p:cNvPr>
          <p:cNvSpPr/>
          <p:nvPr/>
        </p:nvSpPr>
        <p:spPr>
          <a:xfrm>
            <a:off x="65786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324550E-6C31-B2CC-A775-2884AF71E6E9}"/>
              </a:ext>
            </a:extLst>
          </p:cNvPr>
          <p:cNvSpPr/>
          <p:nvPr/>
        </p:nvSpPr>
        <p:spPr>
          <a:xfrm>
            <a:off x="7493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A3E4EBB-774C-01DB-15DC-032270A4BAB0}"/>
              </a:ext>
            </a:extLst>
          </p:cNvPr>
          <p:cNvSpPr/>
          <p:nvPr/>
        </p:nvSpPr>
        <p:spPr>
          <a:xfrm>
            <a:off x="8407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BE33FA9-E157-AF48-993E-D2A41B2D2A71}"/>
              </a:ext>
            </a:extLst>
          </p:cNvPr>
          <p:cNvSpPr/>
          <p:nvPr/>
        </p:nvSpPr>
        <p:spPr>
          <a:xfrm>
            <a:off x="9321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90611155-08E7-0499-609B-3124B7AFE8DC}"/>
              </a:ext>
            </a:extLst>
          </p:cNvPr>
          <p:cNvSpPr/>
          <p:nvPr/>
        </p:nvSpPr>
        <p:spPr>
          <a:xfrm>
            <a:off x="3949700" y="4521200"/>
            <a:ext cx="4343400" cy="177800"/>
          </a:xfrm>
          <a:prstGeom prst="roundRect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DE13BE6-9762-0C81-93E6-572CF4CDA4BB}"/>
              </a:ext>
            </a:extLst>
          </p:cNvPr>
          <p:cNvSpPr/>
          <p:nvPr/>
        </p:nvSpPr>
        <p:spPr>
          <a:xfrm>
            <a:off x="889000" y="49657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论文整理与系统固化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BF7D8F9C-ECE4-A63E-880E-1B1849B2E15C}"/>
              </a:ext>
            </a:extLst>
          </p:cNvPr>
          <p:cNvSpPr/>
          <p:nvPr/>
        </p:nvSpPr>
        <p:spPr>
          <a:xfrm>
            <a:off x="2921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BE63751-C24C-3A21-45F3-7BD4C963BD5C}"/>
              </a:ext>
            </a:extLst>
          </p:cNvPr>
          <p:cNvSpPr/>
          <p:nvPr/>
        </p:nvSpPr>
        <p:spPr>
          <a:xfrm>
            <a:off x="3835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BA791DB8-2D3A-ECC0-BD44-4E02C4122F06}"/>
              </a:ext>
            </a:extLst>
          </p:cNvPr>
          <p:cNvSpPr/>
          <p:nvPr/>
        </p:nvSpPr>
        <p:spPr>
          <a:xfrm>
            <a:off x="4749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48FC0C5-2871-A076-436B-E9BF3DC892A9}"/>
              </a:ext>
            </a:extLst>
          </p:cNvPr>
          <p:cNvSpPr/>
          <p:nvPr/>
        </p:nvSpPr>
        <p:spPr>
          <a:xfrm>
            <a:off x="56642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20D4D262-AD01-5AAC-1821-8707C15D0EE2}"/>
              </a:ext>
            </a:extLst>
          </p:cNvPr>
          <p:cNvSpPr/>
          <p:nvPr/>
        </p:nvSpPr>
        <p:spPr>
          <a:xfrm>
            <a:off x="65786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3C9681B-9FCC-8207-2684-B20E2810B9CC}"/>
              </a:ext>
            </a:extLst>
          </p:cNvPr>
          <p:cNvSpPr/>
          <p:nvPr/>
        </p:nvSpPr>
        <p:spPr>
          <a:xfrm>
            <a:off x="7493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F1FD81AC-33C6-A0B6-9A3A-95F7A5E77582}"/>
              </a:ext>
            </a:extLst>
          </p:cNvPr>
          <p:cNvSpPr/>
          <p:nvPr/>
        </p:nvSpPr>
        <p:spPr>
          <a:xfrm>
            <a:off x="8407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7777C9EE-24D5-9035-6E35-824C7D560D1E}"/>
              </a:ext>
            </a:extLst>
          </p:cNvPr>
          <p:cNvSpPr/>
          <p:nvPr/>
        </p:nvSpPr>
        <p:spPr>
          <a:xfrm>
            <a:off x="9321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E9B7916C-1A84-EB4E-B51E-0CD2B6F6D417}"/>
              </a:ext>
            </a:extLst>
          </p:cNvPr>
          <p:cNvSpPr/>
          <p:nvPr/>
        </p:nvSpPr>
        <p:spPr>
          <a:xfrm>
            <a:off x="8521700" y="5054600"/>
            <a:ext cx="1600200" cy="177800"/>
          </a:xfrm>
          <a:prstGeom prst="roundRect">
            <a:avLst/>
          </a:prstGeom>
          <a:solidFill>
            <a:srgbClr val="205291"/>
          </a:solidFill>
          <a:ln>
            <a:solidFill>
              <a:srgbClr val="2052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5F4D9F3-B29D-D3EB-4F88-845E4FEA3124}"/>
              </a:ext>
            </a:extLst>
          </p:cNvPr>
          <p:cNvSpPr/>
          <p:nvPr/>
        </p:nvSpPr>
        <p:spPr>
          <a:xfrm>
            <a:off x="1143000" y="5588000"/>
            <a:ext cx="9906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近期完成开题与平台补齐，中期集中做训练消融，后期整理论文并补充实验。</a:t>
            </a:r>
          </a:p>
        </p:txBody>
      </p:sp>
    </p:spTree>
    <p:extLst>
      <p:ext uri="{BB962C8B-B14F-4D97-AF65-F5344CB8AC3E}">
        <p14:creationId xmlns:p14="http://schemas.microsoft.com/office/powerpoint/2010/main" val="3472197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132A5B-7393-6000-E86D-11315D50CF7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8037E6-6974-F5EA-9B4B-0BD27C02677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主要风险来自训练质量、算力约束、多专家效果和校验标定复杂度。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FC890F-D928-CAC0-F10F-8C4F6893D2E4}"/>
              </a:ext>
            </a:extLst>
          </p:cNvPr>
          <p:cNvSpPr/>
          <p:nvPr/>
        </p:nvSpPr>
        <p:spPr>
          <a:xfrm>
            <a:off x="889000" y="19050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训练质量未知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71C68D-1D42-FA94-951A-9C2636882421}"/>
              </a:ext>
            </a:extLst>
          </p:cNvPr>
          <p:cNvSpPr/>
          <p:nvPr/>
        </p:nvSpPr>
        <p:spPr>
          <a:xfrm>
            <a:off x="3619500" y="19050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消融实验逐步推进，每一步保留独立结论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49CCCE-2AE5-D452-7BB6-2E69541E0868}"/>
              </a:ext>
            </a:extLst>
          </p:cNvPr>
          <p:cNvSpPr/>
          <p:nvPr/>
        </p:nvSpPr>
        <p:spPr>
          <a:xfrm>
            <a:off x="889000" y="27686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0E206C-5894-7263-B901-5CA274952431}"/>
              </a:ext>
            </a:extLst>
          </p:cNvPr>
          <p:cNvSpPr/>
          <p:nvPr/>
        </p:nvSpPr>
        <p:spPr>
          <a:xfrm>
            <a:off x="3619500" y="27686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按里程碑分批申请，优先小规模验证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0EDFE1-1E39-240A-B4CE-A5B7DCB40F79}"/>
              </a:ext>
            </a:extLst>
          </p:cNvPr>
          <p:cNvSpPr/>
          <p:nvPr/>
        </p:nvSpPr>
        <p:spPr>
          <a:xfrm>
            <a:off x="889000" y="36322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多专家收益不稳定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D0B83E-6125-AA72-6D01-6CE2B28D3F9A}"/>
              </a:ext>
            </a:extLst>
          </p:cNvPr>
          <p:cNvSpPr/>
          <p:nvPr/>
        </p:nvSpPr>
        <p:spPr>
          <a:xfrm>
            <a:off x="3619500" y="36322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保留单模型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baseline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作为对照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139CDCB-1B7A-F030-0FAB-FCFD26247378}"/>
              </a:ext>
            </a:extLst>
          </p:cNvPr>
          <p:cNvSpPr/>
          <p:nvPr/>
        </p:nvSpPr>
        <p:spPr>
          <a:xfrm>
            <a:off x="889000" y="44958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阈值标定复杂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C3D3CC-E2E0-D4D4-6D05-C49C603420BC}"/>
              </a:ext>
            </a:extLst>
          </p:cNvPr>
          <p:cNvSpPr/>
          <p:nvPr/>
        </p:nvSpPr>
        <p:spPr>
          <a:xfrm>
            <a:off x="3619500" y="44958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先标定主要失败模式，再逐步扩展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1CC8D3D-9A6A-4886-98D8-F1E6F000EB88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后续按优先级推进，确保每个阶段都有可复核产出。</a:t>
            </a:r>
          </a:p>
        </p:txBody>
      </p:sp>
    </p:spTree>
    <p:extLst>
      <p:ext uri="{BB962C8B-B14F-4D97-AF65-F5344CB8AC3E}">
        <p14:creationId xmlns:p14="http://schemas.microsoft.com/office/powerpoint/2010/main" val="2752435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DB8945-DAD3-5160-93B9-B498628E6875}"/>
              </a:ext>
            </a:extLst>
          </p:cNvPr>
          <p:cNvSpPr/>
          <p:nvPr/>
        </p:nvSpPr>
        <p:spPr>
          <a:xfrm>
            <a:off x="1143000" y="2095500"/>
            <a:ext cx="9906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68E"/>
                </a:solidFill>
                <a:latin typeface="Microsoft YaHei" panose="020B0503020204020204" pitchFamily="34" charset="-122"/>
              </a:rPr>
              <a:t>总结致谢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27798B-490C-731D-8003-E9625F02AAD6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本课题从 </a:t>
            </a:r>
            <a:r>
              <a:rPr lang="en-US" altLang="zh-CN" b="1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模型的优势出发，针对长序列漂移、缺乏校验和单模型局限三个问题，设计融合空间记忆、几何校验和多专家编排的新型架构。
同时开发聚合管理平台，支撑多模型对比实验和后续架构评测。</a:t>
            </a:r>
          </a:p>
        </p:txBody>
      </p:sp>
    </p:spTree>
    <p:extLst>
      <p:ext uri="{BB962C8B-B14F-4D97-AF65-F5344CB8AC3E}">
        <p14:creationId xmlns:p14="http://schemas.microsoft.com/office/powerpoint/2010/main" val="885063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1641</Words>
  <Application>Microsoft Office PowerPoint</Application>
  <PresentationFormat>宽屏</PresentationFormat>
  <Paragraphs>220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2026-05-18T03:03:35Z</dcterms:created>
  <dcterms:modified xsi:type="dcterms:W3CDTF">2026-05-18T03:03:35Z</dcterms:modified>
</cp:coreProperties>
</file>