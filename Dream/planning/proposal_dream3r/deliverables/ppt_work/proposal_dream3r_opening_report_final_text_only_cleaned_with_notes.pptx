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31DEA-BD73-4E00-A417-FADF8CA4DF58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3466-CFF1-4A5E-864A-EAC119F62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73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封面（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各位老师好，我们的开题题目是</a:t>
            </a:r>
            <a:r>
              <a:rPr lang="en-US" altLang="zh-CN" sz="1100">
                <a:latin typeface="微软雅黑" panose="020B0503020204020204" pitchFamily="34" charset="-122"/>
              </a:rPr>
              <a:t>"</a:t>
            </a:r>
            <a:r>
              <a:rPr lang="zh-CN" altLang="en-US" sz="1100">
                <a:latin typeface="微软雅黑" panose="020B0503020204020204" pitchFamily="34" charset="-122"/>
              </a:rPr>
              <a:t>面向前馈式三维重建的新型架构设计与聚合管理平台</a:t>
            </a:r>
            <a:r>
              <a:rPr lang="en-US" altLang="zh-CN" sz="1100">
                <a:latin typeface="微软雅黑" panose="020B0503020204020204" pitchFamily="34" charset="-122"/>
              </a:rPr>
              <a:t>"</a:t>
            </a:r>
            <a:r>
              <a:rPr lang="zh-CN" altLang="en-US" sz="1100">
                <a:latin typeface="微软雅黑" panose="020B0503020204020204" pitchFamily="34" charset="-122"/>
              </a:rPr>
              <a:t>。
课题关注两件事：一是针对当前 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模型的共性不足，设计一套更适合长序列和复杂场景的候选架构；二是搭建一个聚合管理平台来支撑多模型实验和架构验证。下面开始汇报。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433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汇报提纲（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汇报分四部分。第一部分是研究背景，说清楚 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模型的现状和问题。第二部分是架构设计，包括整体思路和关键模块。第三部分是软件平台。第四部分是实验方案、已完成工作、时间安排和风险应对。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549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三维重建与 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模型的兴起（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传统三维重建是级联流程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特征提取、匹配、位姿估计、三角化、稠密重建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环节多，链路长，前面出了问题后面跟着偏。
</a:t>
            </a:r>
            <a:r>
              <a:rPr lang="en-US" altLang="zh-CN" sz="1100">
                <a:latin typeface="微软雅黑" panose="020B0503020204020204" pitchFamily="34" charset="-122"/>
              </a:rPr>
              <a:t>DUSt3R </a:t>
            </a:r>
            <a:r>
              <a:rPr lang="zh-CN" altLang="en-US" sz="1100">
                <a:latin typeface="微软雅黑" panose="020B0503020204020204" pitchFamily="34" charset="-122"/>
              </a:rPr>
              <a:t>提出了另一种思路：把未标定图像对直接映射为稠密三维点图，一次前向推理完成。这把输入输出统一了，省掉了大量中间调参。后续 </a:t>
            </a:r>
            <a:r>
              <a:rPr lang="en-US" altLang="zh-CN" sz="1100">
                <a:latin typeface="微软雅黑" panose="020B0503020204020204" pitchFamily="34" charset="-122"/>
              </a:rPr>
              <a:t>MASt3R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MonST3R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Spann3R </a:t>
            </a:r>
            <a:r>
              <a:rPr lang="zh-CN" altLang="en-US" sz="1100">
                <a:latin typeface="微软雅黑" panose="020B0503020204020204" pitchFamily="34" charset="-122"/>
              </a:rPr>
              <a:t>等在此基础上扩展，形成了 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模型家族。
但速度和统一性解决之后，长序列漂移和结果可靠性的问题开始暴露。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76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模型的优势（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用一次推理替代了多步级联，后续工作还沉淀出了一些可借鉴的技术线索。
速度上，单次前向就出结果，不需要迭代优化。学习能力上，几何先验直接写入网络权重，对弱纹理和遮挡也有泛化。输出格式上，统一的点图表示天然支持深度、位姿等下游扩展。
更值得关注的是后续沉淀出的技术线索：</a:t>
            </a:r>
            <a:r>
              <a:rPr lang="en-US" altLang="zh-CN" sz="1100">
                <a:latin typeface="微软雅黑" panose="020B0503020204020204" pitchFamily="34" charset="-122"/>
              </a:rPr>
              <a:t>Spann3R </a:t>
            </a:r>
            <a:r>
              <a:rPr lang="zh-CN" altLang="en-US" sz="1100">
                <a:latin typeface="微软雅黑" panose="020B0503020204020204" pitchFamily="34" charset="-122"/>
              </a:rPr>
              <a:t>的空间记忆、</a:t>
            </a:r>
            <a:r>
              <a:rPr lang="en-US" altLang="zh-CN" sz="1100">
                <a:latin typeface="微软雅黑" panose="020B0503020204020204" pitchFamily="34" charset="-122"/>
              </a:rPr>
              <a:t>CUT3R </a:t>
            </a:r>
            <a:r>
              <a:rPr lang="zh-CN" altLang="en-US" sz="1100">
                <a:latin typeface="微软雅黑" panose="020B0503020204020204" pitchFamily="34" charset="-122"/>
              </a:rPr>
              <a:t>的流式递推、</a:t>
            </a:r>
            <a:r>
              <a:rPr lang="en-US" altLang="zh-CN" sz="1100">
                <a:latin typeface="微软雅黑" panose="020B0503020204020204" pitchFamily="34" charset="-122"/>
              </a:rPr>
              <a:t>Test3R </a:t>
            </a:r>
            <a:r>
              <a:rPr lang="zh-CN" altLang="en-US" sz="1100">
                <a:latin typeface="微软雅黑" panose="020B0503020204020204" pitchFamily="34" charset="-122"/>
              </a:rPr>
              <a:t>的几何校验、</a:t>
            </a:r>
            <a:r>
              <a:rPr lang="en-US" altLang="zh-CN" sz="1100">
                <a:latin typeface="微软雅黑" panose="020B0503020204020204" pitchFamily="34" charset="-122"/>
              </a:rPr>
              <a:t>MASt3R </a:t>
            </a:r>
            <a:r>
              <a:rPr lang="zh-CN" altLang="en-US" sz="1100">
                <a:latin typeface="微软雅黑" panose="020B0503020204020204" pitchFamily="34" charset="-122"/>
              </a:rPr>
              <a:t>的匹配增强。这些线索为我们后面的候选架构提供了直接参考。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697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模型面临的共性缺陷（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速度和统一性解决了，但五个问题依然突出。
长序列漂移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帧数一多误差逐帧累积。动态场景干扰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运动物体破坏静态假设。缺乏自检查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出了错模型自己发现不了。单模型有上限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弱纹理、镜面、快速运动各有短板，没有一个能通吃。模型之间孤立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缺少统一对比和组合的手段。
这五类短板直接引出了课题的四个设计方向：记忆、校验、多模型编排和统一平台。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218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设计思路：学习与补足（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思路分两步。
第一步，从已有 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工作中提炼可借鉴的技术线索。空间记忆保留已见区域，流式递推处理长视频，几何校验做推理时自检查，多模型互补让各模型覆盖各自擅长的场景。
第二步，用本课题的设计补足没解决的部分。稀疏注意力和 </a:t>
            </a:r>
            <a:r>
              <a:rPr lang="en-US" altLang="zh-CN" sz="1100">
                <a:latin typeface="微软雅黑" panose="020B0503020204020204" pitchFamily="34" charset="-122"/>
              </a:rPr>
              <a:t>Mamba </a:t>
            </a:r>
            <a:r>
              <a:rPr lang="zh-CN" altLang="en-US" sz="1100">
                <a:latin typeface="微软雅黑" panose="020B0503020204020204" pitchFamily="34" charset="-122"/>
              </a:rPr>
              <a:t>管理长序列计算开销，</a:t>
            </a:r>
            <a:r>
              <a:rPr lang="en-US" altLang="zh-CN" sz="1100">
                <a:latin typeface="微软雅黑" panose="020B0503020204020204" pitchFamily="34" charset="-122"/>
              </a:rPr>
              <a:t>Slot Attention </a:t>
            </a:r>
            <a:r>
              <a:rPr lang="zh-CN" altLang="en-US" sz="1100">
                <a:latin typeface="微软雅黑" panose="020B0503020204020204" pitchFamily="34" charset="-122"/>
              </a:rPr>
              <a:t>做动静分离，能力描述符实现多模型路由。
既有机制借鉴加四项补足设计，组合成我们的候选架构方案。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56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设计目标与课题两条主线（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由此形成两条主线。架构负责出方案，平台负责跑实验和做对比。
架构主线的核心任务：空间记忆、几何校验、多模型编排，以及长序列与动态场景的评测。平台主线的核心任务：多模型统一调度、结果统一归集、跨模型对比和新模型快速接入。
架构提出候选方案，平台提供统一实验条件。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766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总体架构一览（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这一页是候选架构的整体结构。
五个核心模块由总线模块协调，形成从特征提取到校验输出的完整链路。感知模块提取视觉特征，记忆模块管理长序列上下文，永久性模块负责动静分离，校验模块定位几何冲突并决定修复动作，编排模块在多个候选模型之间选择切换。
总线负责跨模块的信号传递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状态、置信度、校验证据都走这条通道。输出包括三维点图、动态掩码和可复核的中间证据。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09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记忆模块（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长序列记忆分为压缩、检索和滑窗三条支路，分别处理不同的时间尺度。
压缩分支保留远程状态，把长时间历史压成紧凑表示。选择分支检索空间锚点，负责定位已见过的关键区域。滑窗分支保留近邻上下文，维持当前帧附近的局部信息。
三条支路各管各的，后续通过消融实验验证每条的贡献。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201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几何校验模块（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校验模块解决</a:t>
            </a:r>
            <a:r>
              <a:rPr lang="en-US" altLang="zh-CN" sz="1100">
                <a:latin typeface="微软雅黑" panose="020B0503020204020204" pitchFamily="34" charset="-122"/>
              </a:rPr>
              <a:t>"</a:t>
            </a:r>
            <a:r>
              <a:rPr lang="zh-CN" altLang="en-US" sz="1100">
                <a:latin typeface="微软雅黑" panose="020B0503020204020204" pitchFamily="34" charset="-122"/>
              </a:rPr>
              <a:t>结果对不对</a:t>
            </a:r>
            <a:r>
              <a:rPr lang="en-US" altLang="zh-CN" sz="1100">
                <a:latin typeface="微软雅黑" panose="020B0503020204020204" pitchFamily="34" charset="-122"/>
              </a:rPr>
              <a:t>"</a:t>
            </a:r>
            <a:r>
              <a:rPr lang="zh-CN" altLang="en-US" sz="1100">
                <a:latin typeface="微软雅黑" panose="020B0503020204020204" pitchFamily="34" charset="-122"/>
              </a:rPr>
              <a:t>的问题。
当前 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模型只管输出，不管输出是否可信。我们在架构内部嵌入了校验环节：聚合 </a:t>
            </a:r>
            <a:r>
              <a:rPr lang="en-US" altLang="zh-CN" sz="1100">
                <a:latin typeface="微软雅黑" panose="020B0503020204020204" pitchFamily="34" charset="-122"/>
              </a:rPr>
              <a:t>Sampson </a:t>
            </a:r>
            <a:r>
              <a:rPr lang="zh-CN" altLang="en-US" sz="1100">
                <a:latin typeface="微软雅黑" panose="020B0503020204020204" pitchFamily="34" charset="-122"/>
              </a:rPr>
              <a:t>残差、深度一致性和共视冲突三类信号，加权形成冲突评分，然后按阈值决定动作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冲突小就通过，中等就局部重跑，严重就反馈给编排模块切换模型。
这个思路源自 </a:t>
            </a:r>
            <a:r>
              <a:rPr lang="en-US" altLang="zh-CN" sz="1100">
                <a:latin typeface="微软雅黑" panose="020B0503020204020204" pitchFamily="34" charset="-122"/>
              </a:rPr>
              <a:t>Test3R</a:t>
            </a:r>
            <a:r>
              <a:rPr lang="zh-CN" altLang="en-US" sz="1100">
                <a:latin typeface="微软雅黑" panose="020B0503020204020204" pitchFamily="34" charset="-122"/>
              </a:rPr>
              <a:t>，我们将其嵌入架构内部，支持在线复核与修复。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808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多模型编排模块（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编排模块针对的是单一模型能力上限的问题。
七个候选模型各有分工：</a:t>
            </a:r>
            <a:r>
              <a:rPr lang="en-US" altLang="zh-CN" sz="1100">
                <a:latin typeface="微软雅黑" panose="020B0503020204020204" pitchFamily="34" charset="-122"/>
              </a:rPr>
              <a:t>MASt3R </a:t>
            </a:r>
            <a:r>
              <a:rPr lang="zh-CN" altLang="en-US" sz="1100">
                <a:latin typeface="微软雅黑" panose="020B0503020204020204" pitchFamily="34" charset="-122"/>
              </a:rPr>
              <a:t>擅长静态对，</a:t>
            </a:r>
            <a:r>
              <a:rPr lang="en-US" altLang="zh-CN" sz="1100">
                <a:latin typeface="微软雅黑" panose="020B0503020204020204" pitchFamily="34" charset="-122"/>
              </a:rPr>
              <a:t>Fast3R </a:t>
            </a:r>
            <a:r>
              <a:rPr lang="zh-CN" altLang="en-US" sz="1100">
                <a:latin typeface="微软雅黑" panose="020B0503020204020204" pitchFamily="34" charset="-122"/>
              </a:rPr>
              <a:t>适合多视图，</a:t>
            </a:r>
            <a:r>
              <a:rPr lang="en-US" altLang="zh-CN" sz="1100">
                <a:latin typeface="微软雅黑" panose="020B0503020204020204" pitchFamily="34" charset="-122"/>
              </a:rPr>
              <a:t>Spann3R </a:t>
            </a:r>
            <a:r>
              <a:rPr lang="zh-CN" altLang="en-US" sz="1100">
                <a:latin typeface="微软雅黑" panose="020B0503020204020204" pitchFamily="34" charset="-122"/>
              </a:rPr>
              <a:t>做流式，</a:t>
            </a:r>
            <a:r>
              <a:rPr lang="en-US" altLang="zh-CN" sz="1100">
                <a:latin typeface="微软雅黑" panose="020B0503020204020204" pitchFamily="34" charset="-122"/>
              </a:rPr>
              <a:t>CUT3R </a:t>
            </a:r>
            <a:r>
              <a:rPr lang="zh-CN" altLang="en-US" sz="1100">
                <a:latin typeface="微软雅黑" panose="020B0503020204020204" pitchFamily="34" charset="-122"/>
              </a:rPr>
              <a:t>对动态容忍度高，</a:t>
            </a:r>
            <a:r>
              <a:rPr lang="en-US" altLang="zh-CN" sz="1100">
                <a:latin typeface="微软雅黑" panose="020B0503020204020204" pitchFamily="34" charset="-122"/>
              </a:rPr>
              <a:t>MoGe-2 </a:t>
            </a:r>
            <a:r>
              <a:rPr lang="zh-CN" altLang="en-US" sz="1100">
                <a:latin typeface="微软雅黑" panose="020B0503020204020204" pitchFamily="34" charset="-122"/>
              </a:rPr>
              <a:t>专做单目，</a:t>
            </a:r>
            <a:r>
              <a:rPr lang="en-US" altLang="zh-CN" sz="1100">
                <a:latin typeface="微软雅黑" panose="020B0503020204020204" pitchFamily="34" charset="-122"/>
              </a:rPr>
              <a:t>DepthAnything </a:t>
            </a:r>
            <a:r>
              <a:rPr lang="zh-CN" altLang="en-US" sz="1100">
                <a:latin typeface="微软雅黑" panose="020B0503020204020204" pitchFamily="34" charset="-122"/>
              </a:rPr>
              <a:t>提供深度先验，</a:t>
            </a:r>
            <a:r>
              <a:rPr lang="en-US" altLang="zh-CN" sz="1100">
                <a:latin typeface="微软雅黑" panose="020B0503020204020204" pitchFamily="34" charset="-122"/>
              </a:rPr>
              <a:t>Test3R </a:t>
            </a:r>
            <a:r>
              <a:rPr lang="zh-CN" altLang="en-US" sz="1100">
                <a:latin typeface="微软雅黑" panose="020B0503020204020204" pitchFamily="34" charset="-122"/>
              </a:rPr>
              <a:t>负责校验。
编排逻辑三步走：先做能力匹配，看哪个模型最适合当前场景；再考虑成本约束，在计算预算内选择；如果校验不通过就触发失败回退，换一个模型重新处理。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822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当前实现进展（</a:t>
            </a:r>
            <a:r>
              <a:rPr lang="en-US" altLang="zh-CN" sz="1100">
                <a:latin typeface="微软雅黑" panose="020B0503020204020204" pitchFamily="34" charset="-122"/>
              </a:rPr>
              <a:t>A</a:t>
            </a:r>
            <a:r>
              <a:rPr lang="zh-CN" altLang="en-US" sz="1100">
                <a:latin typeface="微软雅黑" panose="020B0503020204020204" pitchFamily="34" charset="-122"/>
              </a:rPr>
              <a:t>）
架构侧目前的进展。
</a:t>
            </a:r>
            <a:r>
              <a:rPr lang="en-US" altLang="zh-CN" sz="1100">
                <a:latin typeface="微软雅黑" panose="020B0503020204020204" pitchFamily="34" charset="-122"/>
              </a:rPr>
              <a:t>v0.3 </a:t>
            </a:r>
            <a:r>
              <a:rPr lang="zh-CN" altLang="en-US" sz="1100">
                <a:latin typeface="微软雅黑" panose="020B0503020204020204" pitchFamily="34" charset="-122"/>
              </a:rPr>
              <a:t>原型已跑通端到端流水线。技术里程碑完成 </a:t>
            </a:r>
            <a:r>
              <a:rPr lang="en-US" altLang="zh-CN" sz="1100">
                <a:latin typeface="微软雅黑" panose="020B0503020204020204" pitchFamily="34" charset="-122"/>
              </a:rPr>
              <a:t>18 </a:t>
            </a:r>
            <a:r>
              <a:rPr lang="zh-CN" altLang="en-US" sz="1100">
                <a:latin typeface="微软雅黑" panose="020B0503020204020204" pitchFamily="34" charset="-122"/>
              </a:rPr>
              <a:t>项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视觉骨干、三维检索、校验流程、</a:t>
            </a:r>
            <a:r>
              <a:rPr lang="en-US" altLang="zh-CN" sz="1100">
                <a:latin typeface="微软雅黑" panose="020B0503020204020204" pitchFamily="34" charset="-122"/>
              </a:rPr>
              <a:t>Mamba </a:t>
            </a:r>
            <a:r>
              <a:rPr lang="zh-CN" altLang="en-US" sz="1100">
                <a:latin typeface="微软雅黑" panose="020B0503020204020204" pitchFamily="34" charset="-122"/>
              </a:rPr>
              <a:t>循环都已串通。在 </a:t>
            </a:r>
            <a:r>
              <a:rPr lang="en-US" altLang="zh-CN" sz="1100">
                <a:latin typeface="微软雅黑" panose="020B0503020204020204" pitchFamily="34" charset="-122"/>
              </a:rPr>
              <a:t>KITTI </a:t>
            </a:r>
            <a:r>
              <a:rPr lang="zh-CN" altLang="en-US" sz="1100">
                <a:latin typeface="微软雅黑" panose="020B0503020204020204" pitchFamily="34" charset="-122"/>
              </a:rPr>
              <a:t>上做过集成验证，端到端运行无崩溃，点图误差指标已完成初步接入。需要说明的是，这是集成验证阶段的数据，不作为训练后的质量指标。
后续将集中推进正式训练、模块消融和长序列评测。
架构部分到这里。接下来请纪博闻介绍聚合管理平台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后续所有多模型对比和架构验证都在平台上完成。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275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为什么需要一个聚合平台（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谢谢。接下来我讲平台部分。
我们做这个平台，首先不是为了单纯多做一个界面，而是因为学习和实践 </a:t>
            </a:r>
            <a:r>
              <a:rPr lang="en-US" altLang="zh-CN" sz="1100">
                <a:latin typeface="微软雅黑" panose="020B0503020204020204" pitchFamily="34" charset="-122"/>
              </a:rPr>
              <a:t>3R </a:t>
            </a:r>
            <a:r>
              <a:rPr lang="zh-CN" altLang="en-US" sz="1100">
                <a:latin typeface="微软雅黑" panose="020B0503020204020204" pitchFamily="34" charset="-122"/>
              </a:rPr>
              <a:t>模型时，最先遇到的困难就是部署和运行成本太高。每个模型都有自己的环境、依赖、权重路径和推理脚本，想把一个模型真正跑起来，往往比理解论文还花时间。
第二个问题是算力使用不方便。实验通常要放到远端服务器或 </a:t>
            </a:r>
            <a:r>
              <a:rPr lang="en-US" altLang="zh-CN" sz="1100">
                <a:latin typeface="微软雅黑" panose="020B0503020204020204" pitchFamily="34" charset="-122"/>
              </a:rPr>
              <a:t>GPU </a:t>
            </a:r>
            <a:r>
              <a:rPr lang="zh-CN" altLang="en-US" sz="1100">
                <a:latin typeface="微软雅黑" panose="020B0503020204020204" pitchFamily="34" charset="-122"/>
              </a:rPr>
              <a:t>机器上跑，但文件上传、任务启动、日志查看、结果回传都很分散。如果每次都靠手动命令操作，学习时不直观，做实验时也不利于复现。
所以平台的定位有三层：第一，方便学习和实践中的快速部署；第二，统一管理远端算力和实验任务；第三，支撑后续多模型对比、架构验证和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化调用。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072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平台核心功能（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对应这三个目标，平台的功能分成五块。
命令中心解决入口统一的问题，部署、提交任务和查看状态都从这里开始。任务工作台解决运行过程管理的问题，包括上传输入、启动远端推理、监控日志和回传结果。样本矩阵用于学习和实验对比，同一组输入可以并排查看不同模型的输出。模型注册让新模型接入时只需要补执行器，不需要重写平台。能力输出则负责统一格式导出，并为后续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封装预留接口。
这样平台就不只是“放几个模型”，而是把部署、运行、对比和输出连成一条完整链路。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485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技术架构（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技术实现上，平台分成桌面前端、本地后端、远端调度和模型执行器四层。
桌面前端用 </a:t>
            </a:r>
            <a:r>
              <a:rPr lang="en-US" altLang="zh-CN" sz="1100">
                <a:latin typeface="微软雅黑" panose="020B0503020204020204" pitchFamily="34" charset="-122"/>
              </a:rPr>
              <a:t>Tauri 2 </a:t>
            </a:r>
            <a:r>
              <a:rPr lang="zh-CN" altLang="en-US" sz="1100">
                <a:latin typeface="微软雅黑" panose="020B0503020204020204" pitchFamily="34" charset="-122"/>
              </a:rPr>
              <a:t>加 </a:t>
            </a:r>
            <a:r>
              <a:rPr lang="en-US" altLang="zh-CN" sz="1100">
                <a:latin typeface="微软雅黑" panose="020B0503020204020204" pitchFamily="34" charset="-122"/>
              </a:rPr>
              <a:t>React</a:t>
            </a:r>
            <a:r>
              <a:rPr lang="zh-CN" altLang="en-US" sz="1100">
                <a:latin typeface="微软雅黑" panose="020B0503020204020204" pitchFamily="34" charset="-122"/>
              </a:rPr>
              <a:t>，负责命令中心、任务工作台和模型路线这些界面。本地后端用 </a:t>
            </a:r>
            <a:r>
              <a:rPr lang="en-US" altLang="zh-CN" sz="1100">
                <a:latin typeface="微软雅黑" panose="020B0503020204020204" pitchFamily="34" charset="-122"/>
              </a:rPr>
              <a:t>FastAPI</a:t>
            </a:r>
            <a:r>
              <a:rPr lang="zh-CN" altLang="en-US" sz="1100">
                <a:latin typeface="微软雅黑" panose="020B0503020204020204" pitchFamily="34" charset="-122"/>
              </a:rPr>
              <a:t>，负责模型注册、任务队列和执行合同校验。远端调度层通过 </a:t>
            </a:r>
            <a:r>
              <a:rPr lang="en-US" altLang="zh-CN" sz="1100">
                <a:latin typeface="微软雅黑" panose="020B0503020204020204" pitchFamily="34" charset="-122"/>
              </a:rPr>
              <a:t>SSH </a:t>
            </a:r>
            <a:r>
              <a:rPr lang="zh-CN" altLang="en-US" sz="1100">
                <a:latin typeface="微软雅黑" panose="020B0503020204020204" pitchFamily="34" charset="-122"/>
              </a:rPr>
              <a:t>和 </a:t>
            </a:r>
            <a:r>
              <a:rPr lang="en-US" altLang="zh-CN" sz="1100">
                <a:latin typeface="微软雅黑" panose="020B0503020204020204" pitchFamily="34" charset="-122"/>
              </a:rPr>
              <a:t>SCP </a:t>
            </a:r>
            <a:r>
              <a:rPr lang="zh-CN" altLang="en-US" sz="1100">
                <a:latin typeface="微软雅黑" panose="020B0503020204020204" pitchFamily="34" charset="-122"/>
              </a:rPr>
              <a:t>启动任务、同步文件、监听日志和回传产物。最底层是模型执行器，每个执行器只处理某个模型自己的推理差异。
这个设计的好处是，使用者不需要每次重新记命令和路径；算力机器也可以通过统一流程调度。后续如果某个模型验证稳定，就可以在顶层进一步封装成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服务。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741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已接入模型与实测数据（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目前平台已经接入并验证了六个模型，包括 </a:t>
            </a:r>
            <a:r>
              <a:rPr lang="en-US" altLang="zh-CN" sz="1100">
                <a:latin typeface="微软雅黑" panose="020B0503020204020204" pitchFamily="34" charset="-122"/>
              </a:rPr>
              <a:t>DUSt3R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MASt3R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MonST3R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Spann3R</a:t>
            </a:r>
            <a:r>
              <a:rPr lang="zh-CN" altLang="en-US" sz="1100">
                <a:latin typeface="微软雅黑" panose="020B0503020204020204" pitchFamily="34" charset="-122"/>
              </a:rPr>
              <a:t>、</a:t>
            </a:r>
            <a:r>
              <a:rPr lang="en-US" altLang="zh-CN" sz="1100">
                <a:latin typeface="微软雅黑" panose="020B0503020204020204" pitchFamily="34" charset="-122"/>
              </a:rPr>
              <a:t>Fast3R </a:t>
            </a:r>
            <a:r>
              <a:rPr lang="zh-CN" altLang="en-US" sz="1100">
                <a:latin typeface="微软雅黑" panose="020B0503020204020204" pitchFamily="34" charset="-122"/>
              </a:rPr>
              <a:t>和 </a:t>
            </a:r>
            <a:r>
              <a:rPr lang="en-US" altLang="zh-CN" sz="1100">
                <a:latin typeface="微软雅黑" panose="020B0503020204020204" pitchFamily="34" charset="-122"/>
              </a:rPr>
              <a:t>CUT3R</a:t>
            </a:r>
            <a:r>
              <a:rPr lang="zh-CN" altLang="en-US" sz="1100">
                <a:latin typeface="微软雅黑" panose="020B0503020204020204" pitchFamily="34" charset="-122"/>
              </a:rPr>
              <a:t>。</a:t>
            </a:r>
            <a:r>
              <a:rPr lang="en-US" altLang="zh-CN" sz="1100">
                <a:latin typeface="微软雅黑" panose="020B0503020204020204" pitchFamily="34" charset="-122"/>
              </a:rPr>
              <a:t>Align3R </a:t>
            </a:r>
            <a:r>
              <a:rPr lang="zh-CN" altLang="en-US" sz="1100">
                <a:latin typeface="微软雅黑" panose="020B0503020204020204" pitchFamily="34" charset="-122"/>
              </a:rPr>
              <a:t>这一路还需要补充权重和验证。
右侧是统一输入、统一机器下的推理耗时对比。可以看到不同模型耗时差别很大，最快和最慢相差约 </a:t>
            </a:r>
            <a:r>
              <a:rPr lang="en-US" altLang="zh-CN" sz="1100">
                <a:latin typeface="微软雅黑" panose="020B0503020204020204" pitchFamily="34" charset="-122"/>
              </a:rPr>
              <a:t>9 </a:t>
            </a:r>
            <a:r>
              <a:rPr lang="zh-CN" altLang="en-US" sz="1100">
                <a:latin typeface="微软雅黑" panose="020B0503020204020204" pitchFamily="34" charset="-122"/>
              </a:rPr>
              <a:t>倍。这说明平台不只是为了展示结果，也是在帮助我们更清楚地管理算力预算：什么时候适合用快模型，什么时候值得用慢但更强的模型，后续都可以通过平台记录和比较。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40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后续更新方向与应用场景（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后续平台的发展也分三步。
短期重点是辅助实验，把对比视图、任务记录和结果回溯完善好，支撑后续消融和对照实验。中期重点是快速部署，新模型接入以后能尽量一键运行、即时对比，方便学习、调试和论文整理。长期方向是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化服务，把验证过的模型能力封装出来，供 </a:t>
            </a:r>
            <a:r>
              <a:rPr lang="en-US" altLang="zh-CN" sz="1100">
                <a:latin typeface="微软雅黑" panose="020B0503020204020204" pitchFamily="34" charset="-122"/>
              </a:rPr>
              <a:t>SLAM </a:t>
            </a:r>
            <a:r>
              <a:rPr lang="zh-CN" altLang="en-US" sz="1100">
                <a:latin typeface="微软雅黑" panose="020B0503020204020204" pitchFamily="34" charset="-122"/>
              </a:rPr>
              <a:t>初始化、</a:t>
            </a:r>
            <a:r>
              <a:rPr lang="en-US" altLang="zh-CN" sz="1100">
                <a:latin typeface="微软雅黑" panose="020B0503020204020204" pitchFamily="34" charset="-122"/>
              </a:rPr>
              <a:t>AR </a:t>
            </a:r>
            <a:r>
              <a:rPr lang="zh-CN" altLang="en-US" sz="1100">
                <a:latin typeface="微软雅黑" panose="020B0503020204020204" pitchFamily="34" charset="-122"/>
              </a:rPr>
              <a:t>建模和机器人场景理解等下游任务调用。
也就是说，平台先解决“跑起来”和“比得清”的问题，再逐步走向“用得上”和“接得出去”。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0701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平台如何支撑架构研究（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回到课题本身，平台和架构不是两条断开的线。前面讲的新架构后续要做消融、对照和长序列评测，这些实验都要求条件一致：同样的输入、同样的硬件、同样的输出格式，以及可追踪的运行记录。平台提供的就是这套统一实验环境。
另外，我们自己的架构训练和验证完成后，也可以作为新模型接入平台，和已有模型在相同条件下比较。如果效果稳定，再进一步封装为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对外输出。这样平台前期支撑学习、部署和实验，后期支撑架构能力的应用化。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8880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实验设计（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实验设计分成架构侧和平台侧两部分。
架构侧主要验证每个模块是否真正有用。模块消融会分别关闭记忆、校验和路由，观察指标变化；长序列对照从短序列逐步扩展到长序列，评估漂移控制；单模型和多模型对照用于判断组合调度是否有收益；失败场景复核则关注动态、弱纹理、反射这些典型难例。
平台侧验证的是实验流程和算力使用是否可靠，包括模型接入稳定性、任务状态追踪、输出格式统一和对比报告导出。这里的目标不是证明平台本身有多复杂，而是保证后续实验能稳定复现。
整体策略是先完成小规模可复现实例，再逐步扩展到长序列和多模型对照。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068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创新点总结（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四个创新点，对应前面提出的主要问题。
第一，几何校验做成架构内置组件，推理过程中就能发现问题并触发修复。第二，多模型组合加路由，根据场景选择更合适的模型。第三，三分支记忆模块，把远程、检索和局部三个时间尺度分开处理。第四，搭建面向前馈式三维重建的聚合平台，降低学习和实践中的部署门槛，同时支持统一对比、算力调度和后续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输出。
每个点后续都有对应的实验来验证。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848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已完成工作（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说一下目前做到哪了。
架构侧，设计文档写完了，跨模块信号契约定稿了，原型 </a:t>
            </a:r>
            <a:r>
              <a:rPr lang="en-US" altLang="zh-CN" sz="1100">
                <a:latin typeface="微软雅黑" panose="020B0503020204020204" pitchFamily="34" charset="-122"/>
              </a:rPr>
              <a:t>v0.3 </a:t>
            </a:r>
            <a:r>
              <a:rPr lang="zh-CN" altLang="en-US" sz="1100">
                <a:latin typeface="微软雅黑" panose="020B0503020204020204" pitchFamily="34" charset="-122"/>
              </a:rPr>
              <a:t>跑通了端到端流水线，</a:t>
            </a:r>
            <a:r>
              <a:rPr lang="en-US" altLang="zh-CN" sz="1100">
                <a:latin typeface="微软雅黑" panose="020B0503020204020204" pitchFamily="34" charset="-122"/>
              </a:rPr>
              <a:t>18 </a:t>
            </a:r>
            <a:r>
              <a:rPr lang="zh-CN" altLang="en-US" sz="1100">
                <a:latin typeface="微软雅黑" panose="020B0503020204020204" pitchFamily="34" charset="-122"/>
              </a:rPr>
              <a:t>项技术里程碑完成。平台侧，统一调度和对比功能已经实现，六个模型全部跑通端到端验证，跨模型对比数据已经生成。同期还完成了 </a:t>
            </a:r>
            <a:r>
              <a:rPr lang="en-US" altLang="zh-CN" sz="1100">
                <a:latin typeface="微软雅黑" panose="020B0503020204020204" pitchFamily="34" charset="-122"/>
              </a:rPr>
              <a:t>18 </a:t>
            </a:r>
            <a:r>
              <a:rPr lang="zh-CN" altLang="en-US" sz="1100">
                <a:latin typeface="微软雅黑" panose="020B0503020204020204" pitchFamily="34" charset="-122"/>
              </a:rPr>
              <a:t>页的中文综述，引用了 </a:t>
            </a:r>
            <a:r>
              <a:rPr lang="en-US" altLang="zh-CN" sz="1100">
                <a:latin typeface="微软雅黑" panose="020B0503020204020204" pitchFamily="34" charset="-122"/>
              </a:rPr>
              <a:t>44 </a:t>
            </a:r>
            <a:r>
              <a:rPr lang="zh-CN" altLang="en-US" sz="1100">
                <a:latin typeface="微软雅黑" panose="020B0503020204020204" pitchFamily="34" charset="-122"/>
              </a:rPr>
              <a:t>篇文献。
这些工作说明两条主线都已经有基础：架构侧可以进入正式训练和消融实验，平台侧可以继续补齐对比视图、任务报告和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封装。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209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时间安排（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后续分三段。
近期先把开题材料定下来，同时继续补平台的部署、任务记录和对比视图。中期集中做模块消融、长序列评测和多模型对照。后期整理实验结果和论文，同时把平台流程固化，形成后续可复用的实验和部署工具。
先保证每一步都有可复现的东西出来，再往大了扩。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743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风险与应对（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四个风险。
训练质量不确定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消融实验一步一步来，每步出独立结论，不赌最后一把。算力有限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通过平台统一提交、记录和回收结果，优先小规模验证，再按阶段扩展。多模型组合不一定稳定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单模型 </a:t>
            </a:r>
            <a:r>
              <a:rPr lang="en-US" altLang="zh-CN" sz="1100">
                <a:latin typeface="微软雅黑" panose="020B0503020204020204" pitchFamily="34" charset="-122"/>
              </a:rPr>
              <a:t>baseline </a:t>
            </a:r>
            <a:r>
              <a:rPr lang="zh-CN" altLang="en-US" sz="1100">
                <a:latin typeface="微软雅黑" panose="020B0503020204020204" pitchFamily="34" charset="-122"/>
              </a:rPr>
              <a:t>始终保留，组合不行至少有退路。阈值标定复杂</a:t>
            </a:r>
            <a:r>
              <a:rPr lang="en-US" altLang="zh-CN" sz="1100">
                <a:latin typeface="微软雅黑" panose="020B0503020204020204" pitchFamily="34" charset="-122"/>
              </a:rPr>
              <a:t>——</a:t>
            </a:r>
            <a:r>
              <a:rPr lang="zh-CN" altLang="en-US" sz="1100">
                <a:latin typeface="微软雅黑" panose="020B0503020204020204" pitchFamily="34" charset="-122"/>
              </a:rPr>
              <a:t>先把最常见的失败模式覆盖住，再逐步扩展。
每个阶段都保证有可复核的产出。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204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微软雅黑" panose="020B0503020204020204" pitchFamily="34" charset="-122"/>
              </a:rPr>
              <a:t>总结致谢（</a:t>
            </a:r>
            <a:r>
              <a:rPr lang="en-US" altLang="zh-CN" sz="1100">
                <a:latin typeface="微软雅黑" panose="020B0503020204020204" pitchFamily="34" charset="-122"/>
              </a:rPr>
              <a:t>B</a:t>
            </a:r>
            <a:r>
              <a:rPr lang="zh-CN" altLang="en-US" sz="1100">
                <a:latin typeface="微软雅黑" panose="020B0503020204020204" pitchFamily="34" charset="-122"/>
              </a:rPr>
              <a:t>）
总结一下。
本课题针对前馈式三维重建里长序列漂移、缺乏校验和单模型局限这三个问题，设计融合空间记忆、几何校验和多模型编排的候选架构。同时搭建聚合管理平台，降低学习和实践中的部署成本，让模型运行、算力使用和结果对比更加统一，后续再逐步扩展到 </a:t>
            </a:r>
            <a:r>
              <a:rPr lang="en-US" altLang="zh-CN" sz="1100">
                <a:latin typeface="微软雅黑" panose="020B0503020204020204" pitchFamily="34" charset="-122"/>
              </a:rPr>
              <a:t>API </a:t>
            </a:r>
            <a:r>
              <a:rPr lang="zh-CN" altLang="en-US" sz="1100">
                <a:latin typeface="微软雅黑" panose="020B0503020204020204" pitchFamily="34" charset="-122"/>
              </a:rPr>
              <a:t>化调用。
以上是我们的汇报，请各位老师批评指正。谢谢。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63466-CFF1-4A5E-864A-EAC119F6205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042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DC92-5C5A-E916-9D02-D36CB8AD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48E1E-DC42-6947-E45B-F6A24F28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0755B-2209-0CE1-6A71-E72697C4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2CEB2-6D6C-52CC-B21F-C287222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3B173-014B-79CB-E379-25A3F4BD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B7F62-DDA7-A492-6EC7-D1378430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B399D-A996-75AC-C01C-F89F5252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480DD-B675-3338-D4A6-B4B144BC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5F065-3C7E-D607-5C22-B407E1C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12489-47E8-84D3-B0AF-3C39579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3FDE-FECC-ED71-0D89-3C3E3A5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EF781-F306-A984-E47E-BC6959B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3646-C797-A625-D769-EC72B5BF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4BEAD-8514-E2F8-5D69-D16A34BF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46A9-EADF-90DF-25FA-1B75449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5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D7AB-578B-8EE0-99DC-157B7744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F8CE5-2CC2-3FDB-4E7A-62B03D46F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26A00-A02C-F592-BB2F-08AA6A09F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1244D-0408-FA64-78C4-35E5100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C1F90-5C99-3B9F-8798-74B10602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B5599-425F-2AF5-4163-03CB85A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1640-B2DF-AC01-830C-0603B71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A630C-7895-0FC3-8D46-268D7658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87F39-6CB8-D0FB-C8FC-176AD0558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24BD50-0928-5286-93F7-80DBD906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00BB2B-7AAA-251E-BE82-7D03DC53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6F2FE-65EE-DB7E-E553-F559A65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03F5C9-F8E9-A2E9-F1C2-161184E6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9CB79-1485-DB67-E03F-8DB0C2CA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A1D25-16ED-2B79-0399-196A4B32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6322B-6E3E-1C76-E752-CAA3D36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E065-5D1C-9CB1-318A-1BD9409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1D8A03-A537-7BA8-1D07-D86C4142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9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438ED-3410-335F-1F03-C38702B0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B8E4A-AE12-E908-2C2F-ED8BF919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DC725-E884-995F-62F8-003FD50E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0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DFBE-2647-4BEB-BC5B-0A5105F3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76485-8482-6FF6-CAB9-2BC96C4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704DB-588C-EFCD-4AFF-EFC1D68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AFB1B-4B38-F6AA-69FF-F832F56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058B-13A5-8513-198B-1D7BD4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3B885-A28C-CAED-4D57-1A144B9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F185-C103-F7F3-9DF6-5C2045C8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16EECB-DBA9-1450-0A8C-FDF8B617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F8CB4-BFA8-BF87-A0FB-49686C7C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2EC61-2532-CF43-E023-B0A35371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187CEA-BC28-E1BD-DD18-99F9F7C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D003-FB77-3A01-B8BA-57D82FF9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D684A-9EB8-1A8D-1AF8-06E3EDE3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E3C19-0702-D7AD-9D27-B7CA38D9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8BE6D-BE9B-35B7-7083-57B6271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9B90-FAA4-9EA9-5113-8A1B391D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86C6E-98C8-9DB9-E028-5D04CCCB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7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4C4218-218C-50ED-FF48-FCA48C54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E4CD9-8531-1A6F-045B-BEC7EF0C0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22B01-BB0F-C9DA-E541-83125FC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EBA42-5C8B-4131-D32D-553601C1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A7804-4F4C-06A4-872A-926DF8A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6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8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26C74-8EBA-85F5-DA46-576578BB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5E6E-EB52-0122-1AAF-9BC12B1E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5BE7-7BB6-248E-C562-D2213D59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683C4-FFAA-918C-D334-6ADF5DF2E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2995B-BEB8-5939-05F2-C33BD6758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封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78180" y="371074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3768924" y="5288908"/>
            <a:ext cx="4703820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5288909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4518671" y="5266355"/>
            <a:ext cx="38651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崔昊喆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纪博闻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086476" y="10234"/>
            <a:ext cx="40190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年春科研课堂开题报告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2" y="5957723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E6C6DB-1208-8BDA-4E82-74801731556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9670D2-5F7C-DF7E-0568-BC3ABC3004F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CBF0E-078C-57AA-C1C8-3F13FEF34E2D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E5F95DA-93BE-2F2D-9182-4C69DAA2330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C7E53-7AFD-D828-7C88-B7EBB1DFD5AC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55E7D9-A825-D88A-74A2-D8DBD8BC7AA7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BF06450-CDFD-CFA7-5F43-E0F7B32F92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4BDFB-6AC1-0008-783D-002E02955F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D7806-809C-256B-E875-665649CF93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782766-BFE2-E5A6-5E67-72D3CED9713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DBAC0-0230-E39F-1580-C85B2C66AF0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F8649-D7CE-5841-B517-EFB685F875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FFB233-FE2C-FC4A-73C5-D159D6A6822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13B03C-1806-83E3-F660-D2DC2EBFAF4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E0ADD-064E-1B44-FE0E-A25DE4BCAA2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45E88E-E630-F5A6-C369-551A857FC95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789D1B-E634-9731-18F2-109B913F115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020ED3-0C96-41D0-34C1-7CB93C55926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540CF-A579-65E3-8E89-E5A6A39381F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5790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0C046-8CBF-4E65-A073-E41ABF32638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66CDDB-48C0-90E6-52B9-F7B6F062E7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BF8473-E5C2-F319-33C0-91B9387D095B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73F060-F5B9-B228-19B6-7855727B5E60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74868B8A-1742-F108-3ECE-50F875B30E28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D26E25F-7BC0-9612-E71D-C112F1057F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D5359C2-A44C-41ED-C1A4-E8C7A5F07F9A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统一输入输出，待解决长序列与可靠性</a:t>
            </a:r>
          </a:p>
        </p:txBody>
      </p:sp>
    </p:spTree>
    <p:extLst>
      <p:ext uri="{BB962C8B-B14F-4D97-AF65-F5344CB8AC3E}">
        <p14:creationId xmlns:p14="http://schemas.microsoft.com/office/powerpoint/2010/main" val="74064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2DF677-AFD0-4447-62E7-25E287DEA65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F0942-AB65-1F5F-E366-2FB0F52614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用一次推理替代多步级联，后续工作沉淀出可借鉴的技术线索。</a:t>
            </a:r>
            <a:endParaRPr lang="en-US" altLang="zh-CN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9AE74-7AAA-C9E7-944F-64C474A38F68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AC73BC-2938-9D06-FC24-1B9F1BD96023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535D81-22E1-F812-AF0E-81B311DF3B91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C7FC743-D526-A69A-A3F7-2C894786663D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C50AA8-D485-6FD3-0590-B516E1331D87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AE67CC-C71B-D556-EBAB-520362E574F3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点图表示
支持深度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位姿扩展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35918A-0E1A-4070-D7C4-D2A347A09A0A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可借鉴线索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E3E8C7-267C-EEAA-B86F-6A40D33D363A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C2FF26-F745-3CF8-9C08-275CB8B36A6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这些技术线索为候选架构提供直接参考</a:t>
            </a:r>
            <a:endParaRPr lang="en-US" altLang="zh-CN" sz="19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432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1E5154-1F0B-FAB9-A6E6-B6F20E24D50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99E0A2-93E5-703F-888E-E9BD068FDD1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速度和统一性解决了，但长序列、动态场景和结果可靠性问题依然突出。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640054-D763-A463-BDFA-FF805A9075E2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CC9AF-3DB5-1325-828F-703172A4249D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C3452-95B0-AA4E-CD14-CDBCE820C026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A0E7A2-6C05-BF4F-639C-C968993EBC7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118E91-3997-0CEC-402B-EADF2285FE2B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30E64D-311C-0A0E-D538-AB8D0A0615A7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67B259-C0B8-C278-1AF6-2E6EE6AA15E0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FF0CFE-A756-D074-7BA6-C93D4DA34DF6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792F99-4A17-D622-121D-E6CADF824EBA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59FAE1-560E-4B1E-FC6C-8ABA202E86D9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5D3116-291E-493B-E708-A9050C7745D4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五类短板引出四个设计方向</a:t>
            </a:r>
          </a:p>
        </p:txBody>
      </p:sp>
    </p:spTree>
    <p:extLst>
      <p:ext uri="{BB962C8B-B14F-4D97-AF65-F5344CB8AC3E}">
        <p14:creationId xmlns:p14="http://schemas.microsoft.com/office/powerpoint/2010/main" val="267396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877E15-B985-D9B3-E86E-78514C004E3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94BA2A-FE32-D09A-1929-0DAACBAC5C9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先从已有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工作中提炼可用机制，再用本课题设计补足未解决的问题。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D138FF-4BA3-C50D-3BEA-B16C567EE718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已有技术线索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96EFDF-F187-291D-979B-88CA74CD6F44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多模型互补：模型各取所长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2DA1A15-F8C4-7FAC-F33E-84B2422F5EA3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E71C5-FBC9-3A62-FDB5-42F21916078D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本课题补足设计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F0914-806E-1FB7-2F9A-EC8EDBD47771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能力描述符：多模型路由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73E498-E369-5A31-F98E-AAFDC6EEF7E4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既有机制借鉴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四项补足设计 → 候选架构方案</a:t>
            </a:r>
          </a:p>
        </p:txBody>
      </p:sp>
    </p:spTree>
    <p:extLst>
      <p:ext uri="{BB962C8B-B14F-4D97-AF65-F5344CB8AC3E}">
        <p14:creationId xmlns:p14="http://schemas.microsoft.com/office/powerpoint/2010/main" val="142669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69321-963C-CCE8-F936-7A160A6DFC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876E2-A335-D698-811B-A1AD4386FCD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架构负责出方案，平台负责跑实验和做对比。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15F2D-DBAD-5D74-4737-6D4C98964795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FC8E6-68BD-1EBC-F9B0-33D20BA65151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多模型编排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3233558-9BFE-11B3-BA38-38EE732811DD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EE0A6E-1431-7D71-47CD-502ED1A012D4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ACBCC9-5A8A-C17A-56D2-7CEE5BEA589E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DEFF78-0402-A5E5-0D12-2E9121286CAF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架构提出候选方案，平台提供统一实验条件</a:t>
            </a:r>
          </a:p>
        </p:txBody>
      </p:sp>
    </p:spTree>
    <p:extLst>
      <p:ext uri="{BB962C8B-B14F-4D97-AF65-F5344CB8AC3E}">
        <p14:creationId xmlns:p14="http://schemas.microsoft.com/office/powerpoint/2010/main" val="68165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8C107-B7E6-A953-20A4-7DA17F58404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B8700B-B78F-E956-670B-B85A14A5C75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五个核心模块由总线模块协调，形成从特征提取到校验输出的完整链路。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978121-05A4-9068-91C9-B30155AA9D7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D358739-FF2F-99E7-92FA-F8C082172A51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输出包括三维点图、动态掩码和可复核中间证据。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7728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00285F"/>
                </a:solidFill>
                <a:latin typeface="Microsoft YaHei" panose="020B0503020204020204" pitchFamily="34" charset="-122"/>
              </a:rPr>
              <a:t>记忆模块</a:t>
            </a:r>
            <a:endParaRPr lang="zh-CN" altLang="en-US" sz="28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9FD4E-9909-F6FD-9062-DDFAFC90DF3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A15ED5-EA1C-5BBF-785D-55B5D90EE9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长序列记忆分为压缩、检索和滑窗三条支路，分别处理远程状态、空间锚点和近邻上下文。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F8D0C4-6872-57E1-E462-20A1402AAE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4607EF-933A-0520-E6CD-D777D8E03DA3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压缩分支保留远程状态，选择分支检索空间锚点，滑窗分支保留近邻上下文。</a:t>
            </a:r>
          </a:p>
        </p:txBody>
      </p:sp>
    </p:spTree>
    <p:extLst>
      <p:ext uri="{BB962C8B-B14F-4D97-AF65-F5344CB8AC3E}">
        <p14:creationId xmlns:p14="http://schemas.microsoft.com/office/powerpoint/2010/main" val="39437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ADC39C-70ED-1254-B6DC-575A4F7766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D4E07D-9189-F472-285F-312002E73D8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几何校验模块先聚合冲突信号，再按阈值触发重跑或模型切换。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5F6060-82A1-5167-CC9C-A0B66FBAA2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761F1E6-7D02-2CA9-22EA-9F9EFB3B2B7C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校验思路源自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，本课题将其嵌入架构内部，支持在线复核与修复。</a:t>
            </a:r>
          </a:p>
        </p:txBody>
      </p:sp>
    </p:spTree>
    <p:extLst>
      <p:ext uri="{BB962C8B-B14F-4D97-AF65-F5344CB8AC3E}">
        <p14:creationId xmlns:p14="http://schemas.microsoft.com/office/powerpoint/2010/main" val="380226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多模型编排模块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78F43F-EB52-0B49-0736-1564E61E54F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3DD714-4246-DD9B-E0D9-32079E80C9E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多模型编排模块根据输入条件和校验结果在七个候选模型之间切换。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2C5387-BD43-08A2-2041-C521BBC47E6F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C01B14-785F-08D1-7D75-6FD3CE4DE470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16EC2-9750-F9C6-7E93-C051302E2649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59D9E7-FAEF-B5CA-9491-054ED0EC897B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04574C-459B-D1D8-994C-80F1E6BF2A4B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F2F9F-7527-004B-C7D9-7643AD033A46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549D3-4806-4B37-06C3-1D7436C81C3C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2169B-29F2-2F9E-DA67-D630499114F7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B7E475D-562F-FA44-8024-F936F474429E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EC6A04-36E9-10AA-F72F-A51A4E2EF540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成本约束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BB8E196-6C61-C27B-6042-D2E59E660FF8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FE4F9-B3DC-E27F-DF09-7F214695E661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失败回退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D812EF-0AEE-AB2F-AEAE-04405613812A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按场景、预算和校验结果选择合适模型</a:t>
            </a:r>
          </a:p>
        </p:txBody>
      </p:sp>
    </p:spTree>
    <p:extLst>
      <p:ext uri="{BB962C8B-B14F-4D97-AF65-F5344CB8AC3E}">
        <p14:creationId xmlns:p14="http://schemas.microsoft.com/office/powerpoint/2010/main" val="375411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E4528-B5B4-1869-86B9-37C31AD8B89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E722F2-75E7-C53A-4C60-89D58789534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6A6FF-D3A2-FE5C-005F-3CA5234B6925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B3A99A-3983-EDDD-084C-C2F515D265DD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DA0518-F8BC-1319-7A32-E7C769204EDD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4D3DB-81EA-DA00-BCC6-E1F1E3101DA6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F54022-6742-9BE5-3FA1-69EC58E67BEA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86643-89DA-1D6F-2E70-4A1FAEF69B2B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端到端运行无崩溃，点图误差指标完成初步接入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88625-4B1D-B709-55D3-6E358D0425AA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CD1353-D011-A95C-63E2-5944F9B20FCE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57359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48C21B-FC96-5C5B-D979-2DB1B90014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9BEE8-FC8C-10E4-8631-0A10E311BC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模型缺少统一的部署、对比和调用基础设施，实验效率和应用落地都受限。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E3AB9C-8823-4F70-2AF5-3EB215A2BB4C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部署成本高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E9290-2716-B101-9500-0F0B7BBF6F0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每个模型各有环境和依赖，部署一次耗时长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5ECA0-26E4-C903-DB7C-9432208662FB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对比困难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859A1A-61A8-10CE-67A4-147B1DF98F44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输入输出格式不统一，横向比较需大量手动对齐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107D-ECA2-06E3-5CF0-7206CDEF65F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现有工具不适用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50917-3EBC-2448-B43E-80A05C46C0A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，商业产品闭源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F3CB78-7BEE-D661-6EFB-E09C9207A136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下游无法调用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3AF3F-D9D4-0BE2-E085-5593F9C1FA47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模型能力停留在脚本级，缺少标准接口供应用集成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89531-0E43-0AD0-1F08-E76812D5BF1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统一部署、统一对比、标准化输出与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</p:spTree>
    <p:extLst>
      <p:ext uri="{BB962C8B-B14F-4D97-AF65-F5344CB8AC3E}">
        <p14:creationId xmlns:p14="http://schemas.microsoft.com/office/powerpoint/2010/main" val="117871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26D588-E1AD-30C6-081B-395AD8E810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7940A-32D9-1AF3-2ED0-7C4A0AA2C5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平台覆盖从模型部署、实验运行到能力输出的完整链路。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C20BF-BF7A-84B3-B9E4-5C5311D11E17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7FA47-9ABB-F449-6945-E64BB0718DE3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一键部署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D30A4-2C38-2ECD-F6EE-C76BCD815237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FAC6C-943B-DDD1-12B6-44B88522A79A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DC74B-E5A6-4026-AAC8-628E079DFABD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8CEFA-04CC-924A-8022-31A4EFA3AE9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多模型并排对比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884A5-D606-BEC9-C99E-13F0E02953B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09003-5364-5BF7-B06E-2D821C12F87C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标准接口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新模型快速上线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F1309E-E130-7A84-5AB5-E9B4F070C196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能力输出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21CA1-FD44-30FB-4EEE-AA9B545CAA34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统一格式导出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封装调用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85D684-99B5-6819-7482-32D9F6335A7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部署→实验→对比→输出，覆盖研究到应用的完整路径</a:t>
            </a:r>
          </a:p>
        </p:txBody>
      </p:sp>
    </p:spTree>
    <p:extLst>
      <p:ext uri="{BB962C8B-B14F-4D97-AF65-F5344CB8AC3E}">
        <p14:creationId xmlns:p14="http://schemas.microsoft.com/office/powerpoint/2010/main" val="146148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ED5A48-D199-AD34-FCE8-479D7D2EC99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365CF-9523-F3B3-C2A5-958CE6E2529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47C2B-BA41-3098-946D-782A3954509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2011680"/>
            <a:ext cx="5074920" cy="28529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8CBF0B-3E8B-7F6C-97E7-854A91BB32C7}"/>
              </a:ext>
            </a:extLst>
          </p:cNvPr>
          <p:cNvSpPr/>
          <p:nvPr/>
        </p:nvSpPr>
        <p:spPr>
          <a:xfrm>
            <a:off x="1206500" y="5870448"/>
            <a:ext cx="9779000" cy="384048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执行器封装模型差异，平台层统一提交和归集，顶层预留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导出接口。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1746504"/>
            <a:ext cx="21945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平台执行架构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72200" y="1746504"/>
            <a:ext cx="2743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Vision：任务面板</a:t>
            </a:r>
          </a:p>
        </p:txBody>
      </p:sp>
      <p:pic>
        <p:nvPicPr>
          <p:cNvPr id="95" name="Picture 94" descr="software_screenshot_dashboard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93392"/>
            <a:ext cx="5440680" cy="190195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172200" y="4096512"/>
            <a:ext cx="29260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Vision：模型路线</a:t>
            </a:r>
          </a:p>
        </p:txBody>
      </p:sp>
      <p:pic>
        <p:nvPicPr>
          <p:cNvPr id="97" name="Picture 96" descr="software_screenshot_models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343400"/>
            <a:ext cx="544068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7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C6EC04-9316-46BA-74EE-1DA642D7D5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8ACE7-FEBB-C054-48C4-901D337C86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个模型端到端验证通过，同一输入下最快与最慢相差约 9 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73525-F25F-E14E-6E02-B15DB375EDEE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059DD-7FD8-31FA-576E-FB93FA91E16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E0FF0-B609-0DBC-B86A-AC22CAC59B4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8EC46-BABC-93F2-60A0-0FA177330D6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84D35E-C6C8-C9B0-3B2E-EF8E995FC357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B7315C-52D6-3334-56D3-285130CCA8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A0BBB15-D531-0505-E57F-1768AAD50C38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统一条件下耗时差异显著</a:t>
            </a:r>
          </a:p>
        </p:txBody>
      </p:sp>
    </p:spTree>
    <p:extLst>
      <p:ext uri="{BB962C8B-B14F-4D97-AF65-F5344CB8AC3E}">
        <p14:creationId xmlns:p14="http://schemas.microsoft.com/office/powerpoint/2010/main" val="65617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FD55BE-72DF-9B7D-7FC9-64CFE88E6B7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C0EF2-760E-76E3-326B-D8AC276BA2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从辅助实验到快速部署，再到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化服务下游应用。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6C7EF-24D0-7E1F-4558-7C46F05EA670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97AEF-E1F4-36B2-64B2-C21D5428326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辅助实验：完善对比视图，支撑消融和对照实验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9F333-846C-93C0-7D53-E22EC5A3241C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13CC2-88C6-B077-0FD5-6F69C2F3F04D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快速部署：新模型一键接入、即时对比，结果直接导出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0F09C-B213-AD4E-2554-B82E60E0C06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92F56-BEFF-8754-8B18-DDA6CDD1D4F6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服务：封装模型为标准接口，供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/ AR /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机器人调用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45747-DD97-3F92-E082-8C45067BAB5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85CB8C-0B3E-2ED0-0989-D600D75BAF0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 → 模型评估 → 下游应用集成</a:t>
            </a:r>
          </a:p>
        </p:txBody>
      </p:sp>
    </p:spTree>
    <p:extLst>
      <p:ext uri="{BB962C8B-B14F-4D97-AF65-F5344CB8AC3E}">
        <p14:creationId xmlns:p14="http://schemas.microsoft.com/office/powerpoint/2010/main" val="244798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23B8F6-6D09-7FC2-8ACD-2940C01BDC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0C218-DD12-E97F-7C66-6586243B65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平台支撑架构验证，验证通过的模型能力可进一步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化输出。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D1915-42CA-370F-8C9E-E0426E674BA7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1003-C953-7FBB-06B0-E38BE5009520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40D9D1-D6E4-E362-9AEF-34C509F556D9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7E499-A0F6-5AE3-3D58-FC2074EFFD44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D5918-30E9-52FE-E306-3E503C855BD1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统一输出格式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同条件对比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运行数据记录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274458-9BBE-B32D-8697-3A876ED4E8A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平台支撑验证，验证通过的架构可进一步封装为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对外输出</a:t>
            </a:r>
          </a:p>
        </p:txBody>
      </p:sp>
    </p:spTree>
    <p:extLst>
      <p:ext uri="{BB962C8B-B14F-4D97-AF65-F5344CB8AC3E}">
        <p14:creationId xmlns:p14="http://schemas.microsoft.com/office/powerpoint/2010/main" val="336951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FA3A9-1488-1DF5-983E-5CD681C22F1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E4CEA-09D6-4B6A-4C45-B1A6020FF5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架构侧验证模块是否有用，平台侧验证流程是否跑得通。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6418-07E3-08B6-CBC2-BA8B1ED0C40B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3659C-5D45-C750-BBB1-2B602F8BE1C4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模型对照：单模型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42C8E8-BA83-6CD4-FD4E-683C13C6CEB6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F5200-035F-3B1F-ADCA-496F61E18EEC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21F794-44B3-9A4D-7C58-EAACB793B1C8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74695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B514AE-B67E-6266-F32C-D66F1CD52AF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1578F-F4FE-BA87-7934-4539DC7D404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四个创新点分别回应前面提出的主要问题。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68AF3E-F906-B6C2-4CFB-BBC60C4AA85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301160-A915-4E8E-7E9D-0A5BDACD0F0F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816FC5-F7FC-90D0-C295-B6C5442B0330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2D17EC-4559-E507-8478-4FF7E1E1B878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异构多模型组合与路由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EE8A26-5713-B3F1-8952-0282CE22FC68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65825-8103-4BC4-6B6D-A9ACFE2490E4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C4800D-82FD-4550-3A7E-A76A3D72BC89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E910F-FF00-6B5E-DCF6-B075E44665C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0D1E3A-8895-488F-3278-FF09E0FE92D5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每个创新点都有对应的验证实验。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000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支持在线检测与修复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88936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按场景按需调用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0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覆盖远程/检索/局部时间尺度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88936" y="4187952"/>
            <a:ext cx="167353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zh-CN" sz="1200">
                <a:solidFill>
                  <a:srgbClr val="566880"/>
                </a:solidFill>
                <a:latin typeface="Microsoft YaHei"/>
              </a:rPr>
              <a:t>6 </a:t>
            </a:r>
            <a:r>
              <a:rPr lang="zh-CN" altLang="en-US" sz="1200">
                <a:solidFill>
                  <a:srgbClr val="566880"/>
                </a:solidFill>
                <a:latin typeface="Microsoft YaHei"/>
              </a:rPr>
              <a:t>个模型完成端到端验证</a:t>
            </a:r>
            <a:endParaRPr sz="1200">
              <a:solidFill>
                <a:srgbClr val="56688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71664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D47-635A-2B05-F6F9-65F65AFEBBB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064781-E2B9-14CA-D708-1E133F2C38C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2B3640-6FB2-8DF0-8E13-4F0AD87D50B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05A9E9-8844-5923-DC9D-E168ED018FED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跨模块信号契约完成
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D43C39-4ADE-B722-0EF8-0E9B1F6FA7D7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EE319-A01F-DAFC-9029-D9CA337CBD5C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ED455-6764-1A1C-8602-5412CACF9007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029592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C8C469-AB9F-1AC2-727A-062A69B2E72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EF0EA-9063-1633-CC1F-B67D016D7A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42E746-FC33-0B86-4555-75AD5CA3E7DF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0E0AF-5EAC-44E9-51BE-624FDBB5A848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9DEB4-89C5-E56E-5E32-895D83DE7750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456ADB-8401-BC2F-8C6B-31936444F331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9EA0F-9CBE-C1ED-61BC-3CECA88EE3BF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8C207-A53D-D596-7E6A-67F92A301228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94E997-A5D1-6992-119B-0928C7550702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5C129B-8D59-C6B6-C087-6D9B77BA38CA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F82661-25D3-2DBE-B1CF-170968456B18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A012D3-77AE-BE5A-2B18-DA3662926C8D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EBDDD5-2D5F-2441-2B3D-D7B95304207E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1C702-B461-A328-2BA1-F7C75215C74F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113FD4-9599-00E7-536C-597A5833C15D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2AA4C-8514-CA98-8C6C-D629EF1C1703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18741-5B0B-F687-74C4-78F678B52FA6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CE3F0-F42D-B042-FA6C-1FD93A759DB0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2C71F2-1737-DBE7-326F-D56637B1B9EE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81D43-B2C9-1E6F-4704-08C474E2E9D0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9D293-2607-8DE6-D267-D94371841566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E373EE-BF60-2B48-387B-19CCDBFB7DFE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1D92F4C-15A0-564C-F95A-046555FEE745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74A724-F4EC-BCBC-85EF-DC7DE846ADCD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70D48-1535-2232-D39B-197E66FB4B70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82072F-E914-CF0F-BF8C-C1640B3D2C79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6642CF-3496-B6BA-C925-B7CB4329C491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722605-85F8-42C2-56BC-603E040432E4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2334D0-6407-2FA0-BC0A-8755169EC11D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B3AC27-1A57-1E94-9211-9F5B3CDB8C03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65D35-FFD0-7C5C-B08A-AEF00468E727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13CCB5-95AB-29AF-86C4-94AD9681AF64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0D2D804-1F7C-D3E8-E88F-4D115E9DB368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5625DD-BCFA-17C0-82AF-F6EF8E476BC9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长序列与多模型评测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30018C9-9707-3A96-2F68-106B49E2A956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86228D2-CE9D-5D0C-A470-992C679633F6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FAF83F-A44E-F0BE-F61C-36DF6EAFF414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03BE0A-E622-D812-FB0F-A1FF3BA3E9D9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F58D30-C6D6-7FDB-C4BC-B7294788A390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963256A-B425-B8C8-6A67-C76ED37B49AE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1813FDC-AA53-A73D-AEDB-C61EC8FE3A5B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9B8A619-D841-6297-A21B-3969812855FD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39C442B-1A7C-99BB-CF2E-298242D431A1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E0A118C-CE87-2999-30FF-CCA2D275A1F0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1014E4-3EC3-BFD0-4A93-DA74C05BAF03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2515F0-F89B-3ED9-A141-16E4CDE2990B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42AAA9E-243C-5C60-6EDA-BD5984FCCAA0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FBCDE3-80F9-44F0-6BD0-08E20927C6A6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E23DE39-587D-3000-BB09-CEDEF9360553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4B067E-CCBB-EA27-1030-85CD1650BADE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42893C7-FDE2-CFD8-FF57-D3F67B8CC049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396FC91-43A2-6FC9-D2DC-D8189B14CB9A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1CE2738-D2B9-D4BD-51A5-F898CF216A0F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9BD7CB5-B17E-F9CD-388F-4B18301D962E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F8A9230-1FA7-327C-B2AE-178CD4FA26BE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344DA2B-0DFA-E6DD-AB49-D8908FFCBDAE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8476C3A-EF7C-3E21-6FEA-78ACB5D9AFC8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353EBDE-D799-EB35-C50C-3903A58B5303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1090E9D-0F67-A8AD-2406-F716F9793AEE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F7A09DF-75C1-F074-FBAD-2F6BD37484C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4329D4-8035-EDB3-AE60-1D82C688608A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4354C4-23E9-F5BF-D7E4-68CBC5A1DD46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E1FA180-4ACC-7935-BF83-96DC8EB9395B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C85157A-09AE-2AFD-D14E-9ABB009B8C5C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近期完成开题与平台补齐，中期集中做模块消融，后期整理论文并补充实验。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76234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609D6D-BB21-4B99-B338-E61C76AC82C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627D15-2B0B-0C32-386F-4830E9A0ADF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四个主要风险，每个都有对应的退路和分阶段应对策略。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8414AB-97AA-1825-21B4-6BF7AD172C2B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A3F44B-4BBC-5214-C5CD-44FBB5846081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05C9A9-9841-DB76-CF57-04F19C8746AB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4D800-588C-B0DF-68CB-8A64552DCC30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4B2800-5957-3BEB-8B28-1F1BEB4DD444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98C78-8D27-10CC-652D-95B1139F3633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5B6BBC-D03B-362A-6853-6CFB6D70A3CC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A5627D-44F3-6D2C-8DB1-D028DB909129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0AD122-7150-F2AC-84E5-D9DA6293A3B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56325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封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1EDB7-90B4-12FF-7168-DD60F0ED51AC}"/>
              </a:ext>
            </a:extLst>
          </p:cNvPr>
          <p:cNvSpPr/>
          <p:nvPr/>
        </p:nvSpPr>
        <p:spPr>
          <a:xfrm>
            <a:off x="1143000" y="1638106"/>
            <a:ext cx="9906000" cy="13463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 dirty="0">
                <a:solidFill>
                  <a:srgbClr val="00468E"/>
                </a:solidFill>
                <a:latin typeface="Microsoft YaHei" panose="020B0503020204020204" pitchFamily="34" charset="-122"/>
              </a:rPr>
              <a:t>
敬请批评指正！</a:t>
            </a:r>
          </a:p>
          <a:p>
            <a:pPr algn="ctr"/>
            <a:endParaRPr lang="zh-CN" altLang="en-US" sz="3400" b="1" dirty="0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564CBD-0E78-458F-E156-E452B5FAF8DB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模型的优势出发，针对长序列漂移、缺乏校验和单模型局限三个问题，设计融合空间记忆、几何校验和多模型编排的新型架构。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19297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4529</Words>
  <Application>Microsoft Office PowerPoint</Application>
  <PresentationFormat>宽屏</PresentationFormat>
  <Paragraphs>284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8</cp:revision>
  <dcterms:created xsi:type="dcterms:W3CDTF">2026-05-18T03:21:27Z</dcterms:created>
  <dcterms:modified xsi:type="dcterms:W3CDTF">2026-05-18T10:36:34Z</dcterms:modified>
</cp:coreProperties>
</file>