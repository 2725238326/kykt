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1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11.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12.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1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83" r:id="rId2"/>
    <p:sldId id="258" r:id="rId3"/>
    <p:sldId id="321" r:id="rId4"/>
    <p:sldId id="322" r:id="rId5"/>
    <p:sldId id="275" r:id="rId6"/>
    <p:sldId id="323" r:id="rId7"/>
    <p:sldId id="298" r:id="rId8"/>
    <p:sldId id="324" r:id="rId9"/>
    <p:sldId id="302" r:id="rId10"/>
    <p:sldId id="291" r:id="rId11"/>
    <p:sldId id="325" r:id="rId12"/>
    <p:sldId id="326" r:id="rId13"/>
    <p:sldId id="327" r:id="rId14"/>
    <p:sldId id="328" r:id="rId15"/>
    <p:sldId id="329" r:id="rId16"/>
    <p:sldId id="294"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476"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4.3332097501265265E-2"/>
          <c:y val="8.5251887716540076E-2"/>
          <c:w val="0.94726116074055766"/>
          <c:h val="0.80651416774640616"/>
        </c:manualLayout>
      </c:layout>
      <c:barChart>
        <c:barDir val="col"/>
        <c:grouping val="clustered"/>
        <c:varyColors val="0"/>
        <c:ser>
          <c:idx val="0"/>
          <c:order val="0"/>
          <c:tx>
            <c:strRef>
              <c:f>Sheet1!$B$1</c:f>
              <c:strCache>
                <c:ptCount val="1"/>
                <c:pt idx="0">
                  <c:v>费用支出项目</c:v>
                </c:pt>
              </c:strCache>
            </c:strRef>
          </c:tx>
          <c:spPr>
            <a:solidFill>
              <a:srgbClr val="9A0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Sheet1!$A$2:$A$10</c:f>
              <c:strCache>
                <c:ptCount val="9"/>
                <c:pt idx="0">
                  <c:v>员工薪酬</c:v>
                </c:pt>
                <c:pt idx="1">
                  <c:v>办公租赁</c:v>
                </c:pt>
                <c:pt idx="2">
                  <c:v>设备采购</c:v>
                </c:pt>
                <c:pt idx="3">
                  <c:v>市场营销</c:v>
                </c:pt>
                <c:pt idx="4">
                  <c:v>研发投入</c:v>
                </c:pt>
                <c:pt idx="5">
                  <c:v>材料采购</c:v>
                </c:pt>
                <c:pt idx="6">
                  <c:v>物流运输</c:v>
                </c:pt>
                <c:pt idx="7">
                  <c:v>行政管理</c:v>
                </c:pt>
                <c:pt idx="8">
                  <c:v>法律咨询</c:v>
                </c:pt>
              </c:strCache>
            </c:strRef>
          </c:cat>
          <c:val>
            <c:numRef>
              <c:f>Sheet1!$B$2:$B$10</c:f>
              <c:numCache>
                <c:formatCode>General</c:formatCode>
                <c:ptCount val="9"/>
                <c:pt idx="0">
                  <c:v>24</c:v>
                </c:pt>
                <c:pt idx="1">
                  <c:v>26</c:v>
                </c:pt>
                <c:pt idx="2">
                  <c:v>55</c:v>
                </c:pt>
                <c:pt idx="3">
                  <c:v>27</c:v>
                </c:pt>
                <c:pt idx="4">
                  <c:v>23</c:v>
                </c:pt>
                <c:pt idx="5">
                  <c:v>28</c:v>
                </c:pt>
                <c:pt idx="6">
                  <c:v>22</c:v>
                </c:pt>
                <c:pt idx="7">
                  <c:v>29</c:v>
                </c:pt>
                <c:pt idx="8">
                  <c:v>21</c:v>
                </c:pt>
              </c:numCache>
            </c:numRef>
          </c:val>
          <c:extLst>
            <c:ext xmlns:c16="http://schemas.microsoft.com/office/drawing/2014/chart" uri="{C3380CC4-5D6E-409C-BE32-E72D297353CC}">
              <c16:uniqueId val="{00000000-F6FD-441B-AA3C-615FF2E1C46E}"/>
            </c:ext>
          </c:extLst>
        </c:ser>
        <c:dLbls>
          <c:showLegendKey val="0"/>
          <c:showVal val="0"/>
          <c:showCatName val="0"/>
          <c:showSerName val="0"/>
          <c:showPercent val="0"/>
          <c:showBubbleSize val="0"/>
        </c:dLbls>
        <c:gapWidth val="357"/>
        <c:axId val="1531171824"/>
        <c:axId val="1531174576"/>
      </c:barChart>
      <c:catAx>
        <c:axId val="1531171824"/>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OPPOSans R" panose="00020600040101010101" pitchFamily="18" charset="-122"/>
                <a:ea typeface="OPPOSans R" panose="00020600040101010101" pitchFamily="18" charset="-122"/>
                <a:cs typeface="OPPOSans R" panose="00020600040101010101" pitchFamily="18" charset="-122"/>
              </a:defRPr>
            </a:pPr>
            <a:endParaRPr lang="zh-CN"/>
          </a:p>
        </c:txPr>
        <c:crossAx val="1531174576"/>
        <c:crosses val="autoZero"/>
        <c:auto val="1"/>
        <c:lblAlgn val="ctr"/>
        <c:lblOffset val="100"/>
        <c:noMultiLvlLbl val="0"/>
      </c:catAx>
      <c:valAx>
        <c:axId val="1531174576"/>
        <c:scaling>
          <c:orientation val="minMax"/>
        </c:scaling>
        <c:delete val="0"/>
        <c:axPos val="l"/>
        <c:majorGridlines>
          <c:spPr>
            <a:ln w="9525" cap="flat" cmpd="sng" algn="ctr">
              <a:solidFill>
                <a:schemeClr val="tx1">
                  <a:alpha val="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ontserrat Light" panose="00000400000000000000" pitchFamily="2" charset="0"/>
                <a:ea typeface="+mn-ea"/>
                <a:cs typeface="+mn-cs"/>
              </a:defRPr>
            </a:pPr>
            <a:endParaRPr lang="zh-CN"/>
          </a:p>
        </c:txPr>
        <c:crossAx val="1531171824"/>
        <c:crosses val="autoZero"/>
        <c:crossBetween val="between"/>
      </c:valAx>
      <c:spPr>
        <a:noFill/>
        <a:ln>
          <a:noFill/>
        </a:ln>
        <a:effectLst/>
      </c:spPr>
    </c:plotArea>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4.3332097501265265E-2"/>
          <c:y val="8.5251887716540076E-2"/>
          <c:w val="0.94726116074055766"/>
          <c:h val="0.80651416774640616"/>
        </c:manualLayout>
      </c:layout>
      <c:barChart>
        <c:barDir val="col"/>
        <c:grouping val="clustered"/>
        <c:varyColors val="0"/>
        <c:ser>
          <c:idx val="0"/>
          <c:order val="0"/>
          <c:tx>
            <c:strRef>
              <c:f>Sheet1!$B$1</c:f>
              <c:strCache>
                <c:ptCount val="1"/>
                <c:pt idx="0">
                  <c:v>费用支出项目</c:v>
                </c:pt>
              </c:strCache>
            </c:strRef>
          </c:tx>
          <c:spPr>
            <a:solidFill>
              <a:srgbClr val="9A0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Sheet1!$A$2:$A$10</c:f>
              <c:strCache>
                <c:ptCount val="9"/>
                <c:pt idx="0">
                  <c:v>员工薪酬</c:v>
                </c:pt>
                <c:pt idx="1">
                  <c:v>办公租赁</c:v>
                </c:pt>
                <c:pt idx="2">
                  <c:v>设备采购</c:v>
                </c:pt>
                <c:pt idx="3">
                  <c:v>市场营销</c:v>
                </c:pt>
                <c:pt idx="4">
                  <c:v>研发投入</c:v>
                </c:pt>
                <c:pt idx="5">
                  <c:v>材料采购</c:v>
                </c:pt>
                <c:pt idx="6">
                  <c:v>物流运输</c:v>
                </c:pt>
                <c:pt idx="7">
                  <c:v>行政管理</c:v>
                </c:pt>
                <c:pt idx="8">
                  <c:v>法律咨询</c:v>
                </c:pt>
              </c:strCache>
            </c:strRef>
          </c:cat>
          <c:val>
            <c:numRef>
              <c:f>Sheet1!$B$2:$B$10</c:f>
              <c:numCache>
                <c:formatCode>General</c:formatCode>
                <c:ptCount val="9"/>
                <c:pt idx="0">
                  <c:v>24</c:v>
                </c:pt>
                <c:pt idx="1">
                  <c:v>26</c:v>
                </c:pt>
                <c:pt idx="2">
                  <c:v>55</c:v>
                </c:pt>
                <c:pt idx="3">
                  <c:v>27</c:v>
                </c:pt>
                <c:pt idx="4">
                  <c:v>23</c:v>
                </c:pt>
                <c:pt idx="5">
                  <c:v>28</c:v>
                </c:pt>
                <c:pt idx="6">
                  <c:v>22</c:v>
                </c:pt>
                <c:pt idx="7">
                  <c:v>29</c:v>
                </c:pt>
                <c:pt idx="8">
                  <c:v>21</c:v>
                </c:pt>
              </c:numCache>
            </c:numRef>
          </c:val>
          <c:extLst>
            <c:ext xmlns:c16="http://schemas.microsoft.com/office/drawing/2014/chart" uri="{C3380CC4-5D6E-409C-BE32-E72D297353CC}">
              <c16:uniqueId val="{00000000-F6FD-441B-AA3C-615FF2E1C46E}"/>
            </c:ext>
          </c:extLst>
        </c:ser>
        <c:dLbls>
          <c:showLegendKey val="0"/>
          <c:showVal val="0"/>
          <c:showCatName val="0"/>
          <c:showSerName val="0"/>
          <c:showPercent val="0"/>
          <c:showBubbleSize val="0"/>
        </c:dLbls>
        <c:gapWidth val="357"/>
        <c:axId val="1531171824"/>
        <c:axId val="1531174576"/>
      </c:barChart>
      <c:catAx>
        <c:axId val="1531171824"/>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OPPOSans R" panose="00020600040101010101" pitchFamily="18" charset="-122"/>
                <a:ea typeface="OPPOSans R" panose="00020600040101010101" pitchFamily="18" charset="-122"/>
                <a:cs typeface="OPPOSans R" panose="00020600040101010101" pitchFamily="18" charset="-122"/>
              </a:defRPr>
            </a:pPr>
            <a:endParaRPr lang="zh-CN"/>
          </a:p>
        </c:txPr>
        <c:crossAx val="1531174576"/>
        <c:crosses val="autoZero"/>
        <c:auto val="1"/>
        <c:lblAlgn val="ctr"/>
        <c:lblOffset val="100"/>
        <c:noMultiLvlLbl val="0"/>
      </c:catAx>
      <c:valAx>
        <c:axId val="1531174576"/>
        <c:scaling>
          <c:orientation val="minMax"/>
        </c:scaling>
        <c:delete val="0"/>
        <c:axPos val="l"/>
        <c:majorGridlines>
          <c:spPr>
            <a:ln w="9525" cap="flat" cmpd="sng" algn="ctr">
              <a:solidFill>
                <a:schemeClr val="tx1">
                  <a:alpha val="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ontserrat Light" panose="00000400000000000000" pitchFamily="2" charset="0"/>
                <a:ea typeface="+mn-ea"/>
                <a:cs typeface="+mn-cs"/>
              </a:defRPr>
            </a:pPr>
            <a:endParaRPr lang="zh-CN"/>
          </a:p>
        </c:txPr>
        <c:crossAx val="1531171824"/>
        <c:crosses val="autoZero"/>
        <c:crossBetween val="between"/>
      </c:valAx>
      <c:spPr>
        <a:noFill/>
        <a:ln>
          <a:noFill/>
        </a:ln>
        <a:effectLst/>
      </c:spPr>
    </c:plotArea>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4.3332097501265265E-2"/>
          <c:y val="8.5251887716540076E-2"/>
          <c:w val="0.94726116074055766"/>
          <c:h val="0.80651416774640616"/>
        </c:manualLayout>
      </c:layout>
      <c:barChart>
        <c:barDir val="col"/>
        <c:grouping val="clustered"/>
        <c:varyColors val="0"/>
        <c:ser>
          <c:idx val="0"/>
          <c:order val="0"/>
          <c:tx>
            <c:strRef>
              <c:f>Sheet1!$B$1</c:f>
              <c:strCache>
                <c:ptCount val="1"/>
                <c:pt idx="0">
                  <c:v>费用支出项目</c:v>
                </c:pt>
              </c:strCache>
            </c:strRef>
          </c:tx>
          <c:spPr>
            <a:solidFill>
              <a:srgbClr val="9A0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Sheet1!$A$2:$A$10</c:f>
              <c:strCache>
                <c:ptCount val="9"/>
                <c:pt idx="0">
                  <c:v>员工薪酬</c:v>
                </c:pt>
                <c:pt idx="1">
                  <c:v>办公租赁</c:v>
                </c:pt>
                <c:pt idx="2">
                  <c:v>设备采购</c:v>
                </c:pt>
                <c:pt idx="3">
                  <c:v>市场营销</c:v>
                </c:pt>
                <c:pt idx="4">
                  <c:v>研发投入</c:v>
                </c:pt>
                <c:pt idx="5">
                  <c:v>材料采购</c:v>
                </c:pt>
                <c:pt idx="6">
                  <c:v>物流运输</c:v>
                </c:pt>
                <c:pt idx="7">
                  <c:v>行政管理</c:v>
                </c:pt>
                <c:pt idx="8">
                  <c:v>法律咨询</c:v>
                </c:pt>
              </c:strCache>
            </c:strRef>
          </c:cat>
          <c:val>
            <c:numRef>
              <c:f>Sheet1!$B$2:$B$10</c:f>
              <c:numCache>
                <c:formatCode>General</c:formatCode>
                <c:ptCount val="9"/>
                <c:pt idx="0">
                  <c:v>24</c:v>
                </c:pt>
                <c:pt idx="1">
                  <c:v>26</c:v>
                </c:pt>
                <c:pt idx="2">
                  <c:v>55</c:v>
                </c:pt>
                <c:pt idx="3">
                  <c:v>27</c:v>
                </c:pt>
                <c:pt idx="4">
                  <c:v>23</c:v>
                </c:pt>
                <c:pt idx="5">
                  <c:v>28</c:v>
                </c:pt>
                <c:pt idx="6">
                  <c:v>22</c:v>
                </c:pt>
                <c:pt idx="7">
                  <c:v>29</c:v>
                </c:pt>
                <c:pt idx="8">
                  <c:v>21</c:v>
                </c:pt>
              </c:numCache>
            </c:numRef>
          </c:val>
          <c:extLst>
            <c:ext xmlns:c16="http://schemas.microsoft.com/office/drawing/2014/chart" uri="{C3380CC4-5D6E-409C-BE32-E72D297353CC}">
              <c16:uniqueId val="{00000000-F6FD-441B-AA3C-615FF2E1C46E}"/>
            </c:ext>
          </c:extLst>
        </c:ser>
        <c:dLbls>
          <c:showLegendKey val="0"/>
          <c:showVal val="0"/>
          <c:showCatName val="0"/>
          <c:showSerName val="0"/>
          <c:showPercent val="0"/>
          <c:showBubbleSize val="0"/>
        </c:dLbls>
        <c:gapWidth val="357"/>
        <c:axId val="1531171824"/>
        <c:axId val="1531174576"/>
      </c:barChart>
      <c:catAx>
        <c:axId val="1531171824"/>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OPPOSans R" panose="00020600040101010101" pitchFamily="18" charset="-122"/>
                <a:ea typeface="OPPOSans R" panose="00020600040101010101" pitchFamily="18" charset="-122"/>
                <a:cs typeface="OPPOSans R" panose="00020600040101010101" pitchFamily="18" charset="-122"/>
              </a:defRPr>
            </a:pPr>
            <a:endParaRPr lang="zh-CN"/>
          </a:p>
        </c:txPr>
        <c:crossAx val="1531174576"/>
        <c:crosses val="autoZero"/>
        <c:auto val="1"/>
        <c:lblAlgn val="ctr"/>
        <c:lblOffset val="100"/>
        <c:noMultiLvlLbl val="0"/>
      </c:catAx>
      <c:valAx>
        <c:axId val="1531174576"/>
        <c:scaling>
          <c:orientation val="minMax"/>
        </c:scaling>
        <c:delete val="0"/>
        <c:axPos val="l"/>
        <c:majorGridlines>
          <c:spPr>
            <a:ln w="9525" cap="flat" cmpd="sng" algn="ctr">
              <a:solidFill>
                <a:schemeClr val="tx1">
                  <a:alpha val="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ontserrat Light" panose="00000400000000000000" pitchFamily="2" charset="0"/>
                <a:ea typeface="+mn-ea"/>
                <a:cs typeface="+mn-cs"/>
              </a:defRPr>
            </a:pPr>
            <a:endParaRPr lang="zh-CN"/>
          </a:p>
        </c:txPr>
        <c:crossAx val="1531171824"/>
        <c:crosses val="autoZero"/>
        <c:crossBetween val="between"/>
      </c:valAx>
      <c:spPr>
        <a:noFill/>
        <a:ln>
          <a:noFill/>
        </a:ln>
        <a:effectLst/>
      </c:spPr>
    </c:plotArea>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A982EF-987A-42BC-B9D3-4A12591B8638}" type="datetimeFigureOut">
              <a:rPr lang="zh-CN" altLang="en-US" smtClean="0"/>
              <a:t>2026/6/8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75E584-B3A8-4B3F-AA5F-E8D5C7C2367E}" type="slidenum">
              <a:rPr lang="zh-CN" altLang="en-US" smtClean="0"/>
              <a:t>‹#›</a:t>
            </a:fld>
            <a:endParaRPr lang="zh-CN" altLang="en-US"/>
          </a:p>
        </p:txBody>
      </p:sp>
    </p:spTree>
    <p:extLst>
      <p:ext uri="{BB962C8B-B14F-4D97-AF65-F5344CB8AC3E}">
        <p14:creationId xmlns:p14="http://schemas.microsoft.com/office/powerpoint/2010/main" val="23365864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100">
                <a:latin typeface="微软雅黑" panose="020B0503020204020204" pitchFamily="34" charset="-122"/>
              </a:rPr>
              <a:t>开场：本次开题聚焦平台方向，目标是构建面向前馈式三维重建模型的统一实验、部署与调用平台。</a:t>
            </a:r>
          </a:p>
        </p:txBody>
      </p:sp>
      <p:sp>
        <p:nvSpPr>
          <p:cNvPr id="4" name="灯片编号占位符 3"/>
          <p:cNvSpPr>
            <a:spLocks noGrp="1"/>
          </p:cNvSpPr>
          <p:nvPr>
            <p:ph type="sldNum" sz="quarter" idx="5"/>
          </p:nvPr>
        </p:nvSpPr>
        <p:spPr/>
        <p:txBody>
          <a:bodyPr/>
          <a:lstStyle/>
          <a:p>
            <a:fld id="{2175E584-B3A8-4B3F-AA5F-E8D5C7C2367E}" type="slidenum">
              <a:rPr lang="zh-CN" altLang="en-US" smtClean="0"/>
              <a:t>1</a:t>
            </a:fld>
            <a:endParaRPr lang="zh-CN" altLang="en-US"/>
          </a:p>
        </p:txBody>
      </p:sp>
    </p:spTree>
    <p:extLst>
      <p:ext uri="{BB962C8B-B14F-4D97-AF65-F5344CB8AC3E}">
        <p14:creationId xmlns:p14="http://schemas.microsoft.com/office/powerpoint/2010/main" val="35897989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100">
                <a:latin typeface="微软雅黑" panose="020B0503020204020204" pitchFamily="34" charset="-122"/>
              </a:rPr>
              <a:t>目录分四部分：背景问题、平台定位、系统设计、验证计划。</a:t>
            </a:r>
          </a:p>
        </p:txBody>
      </p:sp>
      <p:sp>
        <p:nvSpPr>
          <p:cNvPr id="4" name="灯片编号占位符 3"/>
          <p:cNvSpPr>
            <a:spLocks noGrp="1"/>
          </p:cNvSpPr>
          <p:nvPr>
            <p:ph type="sldNum" sz="quarter" idx="5"/>
          </p:nvPr>
        </p:nvSpPr>
        <p:spPr/>
        <p:txBody>
          <a:bodyPr/>
          <a:lstStyle/>
          <a:p>
            <a:fld id="{2175E584-B3A8-4B3F-AA5F-E8D5C7C2367E}" type="slidenum">
              <a:rPr lang="zh-CN" altLang="en-US" smtClean="0"/>
              <a:t>2</a:t>
            </a:fld>
            <a:endParaRPr lang="zh-CN" altLang="en-US"/>
          </a:p>
        </p:txBody>
      </p:sp>
    </p:spTree>
    <p:extLst>
      <p:ext uri="{BB962C8B-B14F-4D97-AF65-F5344CB8AC3E}">
        <p14:creationId xmlns:p14="http://schemas.microsoft.com/office/powerpoint/2010/main" val="41395465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100">
                <a:latin typeface="微软雅黑" panose="020B0503020204020204" pitchFamily="34" charset="-122"/>
              </a:rPr>
              <a:t>背景页只讲方向变化：</a:t>
            </a:r>
            <a:r>
              <a:rPr lang="en-US" altLang="zh-CN" sz="1100">
                <a:latin typeface="微软雅黑" panose="020B0503020204020204" pitchFamily="34" charset="-122"/>
              </a:rPr>
              <a:t>3R </a:t>
            </a:r>
            <a:r>
              <a:rPr lang="zh-CN" altLang="en-US" sz="1100">
                <a:latin typeface="微软雅黑" panose="020B0503020204020204" pitchFamily="34" charset="-122"/>
              </a:rPr>
              <a:t>模型让重建更直接，但从论文到可用工具仍有工程距离。</a:t>
            </a:r>
          </a:p>
        </p:txBody>
      </p:sp>
      <p:sp>
        <p:nvSpPr>
          <p:cNvPr id="4" name="灯片编号占位符 3"/>
          <p:cNvSpPr>
            <a:spLocks noGrp="1"/>
          </p:cNvSpPr>
          <p:nvPr>
            <p:ph type="sldNum" sz="quarter" idx="5"/>
          </p:nvPr>
        </p:nvSpPr>
        <p:spPr/>
        <p:txBody>
          <a:bodyPr/>
          <a:lstStyle/>
          <a:p>
            <a:fld id="{2175E584-B3A8-4B3F-AA5F-E8D5C7C2367E}" type="slidenum">
              <a:rPr lang="zh-CN" altLang="en-US" smtClean="0"/>
              <a:t>3</a:t>
            </a:fld>
            <a:endParaRPr lang="zh-CN" altLang="en-US"/>
          </a:p>
        </p:txBody>
      </p:sp>
    </p:spTree>
    <p:extLst>
      <p:ext uri="{BB962C8B-B14F-4D97-AF65-F5344CB8AC3E}">
        <p14:creationId xmlns:p14="http://schemas.microsoft.com/office/powerpoint/2010/main" val="7606409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100">
                <a:latin typeface="微软雅黑" panose="020B0503020204020204" pitchFamily="34" charset="-122"/>
              </a:rPr>
              <a:t>问题页强调真实痛点：部署、远端算力、结果对齐。避免把平台说成单纯 </a:t>
            </a:r>
            <a:r>
              <a:rPr lang="en-US" altLang="zh-CN" sz="1100">
                <a:latin typeface="微软雅黑" panose="020B0503020204020204" pitchFamily="34" charset="-122"/>
              </a:rPr>
              <a:t>UI</a:t>
            </a:r>
            <a:r>
              <a:rPr lang="zh-CN" altLang="en-US" sz="1100">
                <a:latin typeface="微软雅黑" panose="020B0503020204020204" pitchFamily="34" charset="-122"/>
              </a:rPr>
              <a:t>。</a:t>
            </a:r>
          </a:p>
        </p:txBody>
      </p:sp>
      <p:sp>
        <p:nvSpPr>
          <p:cNvPr id="4" name="灯片编号占位符 3"/>
          <p:cNvSpPr>
            <a:spLocks noGrp="1"/>
          </p:cNvSpPr>
          <p:nvPr>
            <p:ph type="sldNum" sz="quarter" idx="5"/>
          </p:nvPr>
        </p:nvSpPr>
        <p:spPr/>
        <p:txBody>
          <a:bodyPr/>
          <a:lstStyle/>
          <a:p>
            <a:fld id="{2175E584-B3A8-4B3F-AA5F-E8D5C7C2367E}" type="slidenum">
              <a:rPr lang="zh-CN" altLang="en-US" smtClean="0"/>
              <a:t>4</a:t>
            </a:fld>
            <a:endParaRPr lang="zh-CN" altLang="en-US"/>
          </a:p>
        </p:txBody>
      </p:sp>
    </p:spTree>
    <p:extLst>
      <p:ext uri="{BB962C8B-B14F-4D97-AF65-F5344CB8AC3E}">
        <p14:creationId xmlns:p14="http://schemas.microsoft.com/office/powerpoint/2010/main" val="2365249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100">
                <a:latin typeface="微软雅黑" panose="020B0503020204020204" pitchFamily="34" charset="-122"/>
              </a:rPr>
              <a:t>第二部分说明平台定位和研究目标。</a:t>
            </a:r>
          </a:p>
        </p:txBody>
      </p:sp>
      <p:sp>
        <p:nvSpPr>
          <p:cNvPr id="4" name="灯片编号占位符 3"/>
          <p:cNvSpPr>
            <a:spLocks noGrp="1"/>
          </p:cNvSpPr>
          <p:nvPr>
            <p:ph type="sldNum" sz="quarter" idx="5"/>
          </p:nvPr>
        </p:nvSpPr>
        <p:spPr/>
        <p:txBody>
          <a:bodyPr/>
          <a:lstStyle/>
          <a:p>
            <a:fld id="{2175E584-B3A8-4B3F-AA5F-E8D5C7C2367E}" type="slidenum">
              <a:rPr lang="zh-CN" altLang="en-US" smtClean="0"/>
              <a:t>5</a:t>
            </a:fld>
            <a:endParaRPr lang="zh-CN" altLang="en-US"/>
          </a:p>
        </p:txBody>
      </p:sp>
    </p:spTree>
    <p:extLst>
      <p:ext uri="{BB962C8B-B14F-4D97-AF65-F5344CB8AC3E}">
        <p14:creationId xmlns:p14="http://schemas.microsoft.com/office/powerpoint/2010/main" val="24697740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100">
                <a:latin typeface="微软雅黑" panose="020B0503020204020204" pitchFamily="34" charset="-122"/>
              </a:rPr>
              <a:t>这页讲平台三层价值：学习实践、实验研究、应用扩展。</a:t>
            </a:r>
          </a:p>
        </p:txBody>
      </p:sp>
      <p:sp>
        <p:nvSpPr>
          <p:cNvPr id="4" name="灯片编号占位符 3"/>
          <p:cNvSpPr>
            <a:spLocks noGrp="1"/>
          </p:cNvSpPr>
          <p:nvPr>
            <p:ph type="sldNum" sz="quarter" idx="5"/>
          </p:nvPr>
        </p:nvSpPr>
        <p:spPr/>
        <p:txBody>
          <a:bodyPr/>
          <a:lstStyle/>
          <a:p>
            <a:fld id="{2175E584-B3A8-4B3F-AA5F-E8D5C7C2367E}" type="slidenum">
              <a:rPr lang="zh-CN" altLang="en-US" smtClean="0"/>
              <a:t>6</a:t>
            </a:fld>
            <a:endParaRPr lang="zh-CN" altLang="en-US"/>
          </a:p>
        </p:txBody>
      </p:sp>
    </p:spTree>
    <p:extLst>
      <p:ext uri="{BB962C8B-B14F-4D97-AF65-F5344CB8AC3E}">
        <p14:creationId xmlns:p14="http://schemas.microsoft.com/office/powerpoint/2010/main" val="9658443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100">
                <a:latin typeface="微软雅黑" panose="020B0503020204020204" pitchFamily="34" charset="-122"/>
              </a:rPr>
              <a:t>目标页用可验收表述，不写宏大口号。</a:t>
            </a:r>
          </a:p>
        </p:txBody>
      </p:sp>
      <p:sp>
        <p:nvSpPr>
          <p:cNvPr id="4" name="灯片编号占位符 3"/>
          <p:cNvSpPr>
            <a:spLocks noGrp="1"/>
          </p:cNvSpPr>
          <p:nvPr>
            <p:ph type="sldNum" sz="quarter" idx="5"/>
          </p:nvPr>
        </p:nvSpPr>
        <p:spPr/>
        <p:txBody>
          <a:bodyPr/>
          <a:lstStyle/>
          <a:p>
            <a:fld id="{2175E584-B3A8-4B3F-AA5F-E8D5C7C2367E}" type="slidenum">
              <a:rPr lang="zh-CN" altLang="en-US" smtClean="0"/>
              <a:t>7</a:t>
            </a:fld>
            <a:endParaRPr lang="zh-CN" altLang="en-US"/>
          </a:p>
        </p:txBody>
      </p:sp>
    </p:spTree>
    <p:extLst>
      <p:ext uri="{BB962C8B-B14F-4D97-AF65-F5344CB8AC3E}">
        <p14:creationId xmlns:p14="http://schemas.microsoft.com/office/powerpoint/2010/main" val="2682082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100">
                <a:latin typeface="微软雅黑" panose="020B0503020204020204" pitchFamily="34" charset="-122"/>
              </a:rPr>
              <a:t>功能页把平台对象讲清楚：样本、模型、任务、日志、结果。</a:t>
            </a:r>
          </a:p>
        </p:txBody>
      </p:sp>
      <p:sp>
        <p:nvSpPr>
          <p:cNvPr id="4" name="灯片编号占位符 3"/>
          <p:cNvSpPr>
            <a:spLocks noGrp="1"/>
          </p:cNvSpPr>
          <p:nvPr>
            <p:ph type="sldNum" sz="quarter" idx="5"/>
          </p:nvPr>
        </p:nvSpPr>
        <p:spPr/>
        <p:txBody>
          <a:bodyPr/>
          <a:lstStyle/>
          <a:p>
            <a:fld id="{2175E584-B3A8-4B3F-AA5F-E8D5C7C2367E}" type="slidenum">
              <a:rPr lang="zh-CN" altLang="en-US" smtClean="0"/>
              <a:t>8</a:t>
            </a:fld>
            <a:endParaRPr lang="zh-CN" altLang="en-US"/>
          </a:p>
        </p:txBody>
      </p:sp>
    </p:spTree>
    <p:extLst>
      <p:ext uri="{BB962C8B-B14F-4D97-AF65-F5344CB8AC3E}">
        <p14:creationId xmlns:p14="http://schemas.microsoft.com/office/powerpoint/2010/main" val="20299991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100">
                <a:latin typeface="微软雅黑" panose="020B0503020204020204" pitchFamily="34" charset="-122"/>
              </a:rPr>
              <a:t>架构页讲四层分工。重点是执行器隔离模型差异，平台负责统一流程。</a:t>
            </a:r>
          </a:p>
        </p:txBody>
      </p:sp>
      <p:sp>
        <p:nvSpPr>
          <p:cNvPr id="4" name="灯片编号占位符 3"/>
          <p:cNvSpPr>
            <a:spLocks noGrp="1"/>
          </p:cNvSpPr>
          <p:nvPr>
            <p:ph type="sldNum" sz="quarter" idx="5"/>
          </p:nvPr>
        </p:nvSpPr>
        <p:spPr/>
        <p:txBody>
          <a:bodyPr/>
          <a:lstStyle/>
          <a:p>
            <a:fld id="{2175E584-B3A8-4B3F-AA5F-E8D5C7C2367E}" type="slidenum">
              <a:rPr lang="zh-CN" altLang="en-US" smtClean="0"/>
              <a:t>9</a:t>
            </a:fld>
            <a:endParaRPr lang="zh-CN" altLang="en-US"/>
          </a:p>
        </p:txBody>
      </p:sp>
    </p:spTree>
    <p:extLst>
      <p:ext uri="{BB962C8B-B14F-4D97-AF65-F5344CB8AC3E}">
        <p14:creationId xmlns:p14="http://schemas.microsoft.com/office/powerpoint/2010/main" val="1228480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100">
                <a:latin typeface="微软雅黑" panose="020B0503020204020204" pitchFamily="34" charset="-122"/>
              </a:rPr>
              <a:t>合同页是平台的核心抽象。不要讲太多代码，只讲三类文件如何统一流程。</a:t>
            </a:r>
          </a:p>
        </p:txBody>
      </p:sp>
      <p:sp>
        <p:nvSpPr>
          <p:cNvPr id="4" name="灯片编号占位符 3"/>
          <p:cNvSpPr>
            <a:spLocks noGrp="1"/>
          </p:cNvSpPr>
          <p:nvPr>
            <p:ph type="sldNum" sz="quarter" idx="5"/>
          </p:nvPr>
        </p:nvSpPr>
        <p:spPr/>
        <p:txBody>
          <a:bodyPr/>
          <a:lstStyle/>
          <a:p>
            <a:fld id="{2175E584-B3A8-4B3F-AA5F-E8D5C7C2367E}" type="slidenum">
              <a:rPr lang="zh-CN" altLang="en-US" smtClean="0"/>
              <a:t>10</a:t>
            </a:fld>
            <a:endParaRPr lang="zh-CN" altLang="en-US"/>
          </a:p>
        </p:txBody>
      </p:sp>
    </p:spTree>
    <p:extLst>
      <p:ext uri="{BB962C8B-B14F-4D97-AF65-F5344CB8AC3E}">
        <p14:creationId xmlns:p14="http://schemas.microsoft.com/office/powerpoint/2010/main" val="13989170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100">
                <a:latin typeface="微软雅黑" panose="020B0503020204020204" pitchFamily="34" charset="-122"/>
              </a:rPr>
              <a:t>运行流程页是展示平台实用性的关键页。中期报告时这里要换成真实截图。</a:t>
            </a:r>
          </a:p>
        </p:txBody>
      </p:sp>
      <p:sp>
        <p:nvSpPr>
          <p:cNvPr id="4" name="灯片编号占位符 3"/>
          <p:cNvSpPr>
            <a:spLocks noGrp="1"/>
          </p:cNvSpPr>
          <p:nvPr>
            <p:ph type="sldNum" sz="quarter" idx="5"/>
          </p:nvPr>
        </p:nvSpPr>
        <p:spPr/>
        <p:txBody>
          <a:bodyPr/>
          <a:lstStyle/>
          <a:p>
            <a:fld id="{2175E584-B3A8-4B3F-AA5F-E8D5C7C2367E}" type="slidenum">
              <a:rPr lang="zh-CN" altLang="en-US" smtClean="0"/>
              <a:t>11</a:t>
            </a:fld>
            <a:endParaRPr lang="zh-CN" altLang="en-US"/>
          </a:p>
        </p:txBody>
      </p:sp>
    </p:spTree>
    <p:extLst>
      <p:ext uri="{BB962C8B-B14F-4D97-AF65-F5344CB8AC3E}">
        <p14:creationId xmlns:p14="http://schemas.microsoft.com/office/powerpoint/2010/main" val="17639437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100">
                <a:latin typeface="微软雅黑" panose="020B0503020204020204" pitchFamily="34" charset="-122"/>
              </a:rPr>
              <a:t>这页把模型池讲成平台验证对象，不夸大已完成状态。</a:t>
            </a:r>
          </a:p>
        </p:txBody>
      </p:sp>
      <p:sp>
        <p:nvSpPr>
          <p:cNvPr id="4" name="灯片编号占位符 3"/>
          <p:cNvSpPr>
            <a:spLocks noGrp="1"/>
          </p:cNvSpPr>
          <p:nvPr>
            <p:ph type="sldNum" sz="quarter" idx="5"/>
          </p:nvPr>
        </p:nvSpPr>
        <p:spPr/>
        <p:txBody>
          <a:bodyPr/>
          <a:lstStyle/>
          <a:p>
            <a:fld id="{2175E584-B3A8-4B3F-AA5F-E8D5C7C2367E}" type="slidenum">
              <a:rPr lang="zh-CN" altLang="en-US" smtClean="0"/>
              <a:t>12</a:t>
            </a:fld>
            <a:endParaRPr lang="zh-CN" altLang="en-US"/>
          </a:p>
        </p:txBody>
      </p:sp>
    </p:spTree>
    <p:extLst>
      <p:ext uri="{BB962C8B-B14F-4D97-AF65-F5344CB8AC3E}">
        <p14:creationId xmlns:p14="http://schemas.microsoft.com/office/powerpoint/2010/main" val="25569436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100">
                <a:latin typeface="微软雅黑" panose="020B0503020204020204" pitchFamily="34" charset="-122"/>
              </a:rPr>
              <a:t>验证方案页强调工程证据，避免把耗时或指标说成算法优势。</a:t>
            </a:r>
          </a:p>
        </p:txBody>
      </p:sp>
      <p:sp>
        <p:nvSpPr>
          <p:cNvPr id="4" name="灯片编号占位符 3"/>
          <p:cNvSpPr>
            <a:spLocks noGrp="1"/>
          </p:cNvSpPr>
          <p:nvPr>
            <p:ph type="sldNum" sz="quarter" idx="5"/>
          </p:nvPr>
        </p:nvSpPr>
        <p:spPr/>
        <p:txBody>
          <a:bodyPr/>
          <a:lstStyle/>
          <a:p>
            <a:fld id="{2175E584-B3A8-4B3F-AA5F-E8D5C7C2367E}" type="slidenum">
              <a:rPr lang="zh-CN" altLang="en-US" smtClean="0"/>
              <a:t>13</a:t>
            </a:fld>
            <a:endParaRPr lang="zh-CN" altLang="en-US"/>
          </a:p>
        </p:txBody>
      </p:sp>
    </p:spTree>
    <p:extLst>
      <p:ext uri="{BB962C8B-B14F-4D97-AF65-F5344CB8AC3E}">
        <p14:creationId xmlns:p14="http://schemas.microsoft.com/office/powerpoint/2010/main" val="29662403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100">
                <a:latin typeface="微软雅黑" panose="020B0503020204020204" pitchFamily="34" charset="-122"/>
              </a:rPr>
              <a:t>进展页要诚实：能说基础原型，不要说所有功能已成熟。</a:t>
            </a:r>
          </a:p>
        </p:txBody>
      </p:sp>
      <p:sp>
        <p:nvSpPr>
          <p:cNvPr id="4" name="灯片编号占位符 3"/>
          <p:cNvSpPr>
            <a:spLocks noGrp="1"/>
          </p:cNvSpPr>
          <p:nvPr>
            <p:ph type="sldNum" sz="quarter" idx="5"/>
          </p:nvPr>
        </p:nvSpPr>
        <p:spPr/>
        <p:txBody>
          <a:bodyPr/>
          <a:lstStyle/>
          <a:p>
            <a:fld id="{2175E584-B3A8-4B3F-AA5F-E8D5C7C2367E}" type="slidenum">
              <a:rPr lang="zh-CN" altLang="en-US" smtClean="0"/>
              <a:t>14</a:t>
            </a:fld>
            <a:endParaRPr lang="zh-CN" altLang="en-US"/>
          </a:p>
        </p:txBody>
      </p:sp>
    </p:spTree>
    <p:extLst>
      <p:ext uri="{BB962C8B-B14F-4D97-AF65-F5344CB8AC3E}">
        <p14:creationId xmlns:p14="http://schemas.microsoft.com/office/powerpoint/2010/main" val="15308901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100">
                <a:latin typeface="微软雅黑" panose="020B0503020204020204" pitchFamily="34" charset="-122"/>
              </a:rPr>
              <a:t>计划页给出阶段和风险。中期 </a:t>
            </a:r>
            <a:r>
              <a:rPr lang="en-US" altLang="zh-CN" sz="1100">
                <a:latin typeface="微软雅黑" panose="020B0503020204020204" pitchFamily="34" charset="-122"/>
              </a:rPr>
              <a:t>PPT </a:t>
            </a:r>
            <a:r>
              <a:rPr lang="zh-CN" altLang="en-US" sz="1100">
                <a:latin typeface="微软雅黑" panose="020B0503020204020204" pitchFamily="34" charset="-122"/>
              </a:rPr>
              <a:t>要把这里的计划换成已完成证据。</a:t>
            </a:r>
          </a:p>
        </p:txBody>
      </p:sp>
      <p:sp>
        <p:nvSpPr>
          <p:cNvPr id="4" name="灯片编号占位符 3"/>
          <p:cNvSpPr>
            <a:spLocks noGrp="1"/>
          </p:cNvSpPr>
          <p:nvPr>
            <p:ph type="sldNum" sz="quarter" idx="5"/>
          </p:nvPr>
        </p:nvSpPr>
        <p:spPr/>
        <p:txBody>
          <a:bodyPr/>
          <a:lstStyle/>
          <a:p>
            <a:fld id="{2175E584-B3A8-4B3F-AA5F-E8D5C7C2367E}" type="slidenum">
              <a:rPr lang="zh-CN" altLang="en-US" smtClean="0"/>
              <a:t>15</a:t>
            </a:fld>
            <a:endParaRPr lang="zh-CN" altLang="en-US"/>
          </a:p>
        </p:txBody>
      </p:sp>
    </p:spTree>
    <p:extLst>
      <p:ext uri="{BB962C8B-B14F-4D97-AF65-F5344CB8AC3E}">
        <p14:creationId xmlns:p14="http://schemas.microsoft.com/office/powerpoint/2010/main" val="718224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100">
                <a:latin typeface="微软雅黑" panose="020B0503020204020204" pitchFamily="34" charset="-122"/>
              </a:rPr>
              <a:t>结束语：欢迎老师对平台边界、验证方式和后续计划提出建议。</a:t>
            </a:r>
          </a:p>
        </p:txBody>
      </p:sp>
      <p:sp>
        <p:nvSpPr>
          <p:cNvPr id="4" name="灯片编号占位符 3"/>
          <p:cNvSpPr>
            <a:spLocks noGrp="1"/>
          </p:cNvSpPr>
          <p:nvPr>
            <p:ph type="sldNum" sz="quarter" idx="5"/>
          </p:nvPr>
        </p:nvSpPr>
        <p:spPr/>
        <p:txBody>
          <a:bodyPr/>
          <a:lstStyle/>
          <a:p>
            <a:fld id="{2175E584-B3A8-4B3F-AA5F-E8D5C7C2367E}" type="slidenum">
              <a:rPr lang="zh-CN" altLang="en-US" smtClean="0"/>
              <a:t>16</a:t>
            </a:fld>
            <a:endParaRPr lang="zh-CN" altLang="en-US"/>
          </a:p>
        </p:txBody>
      </p:sp>
    </p:spTree>
    <p:extLst>
      <p:ext uri="{BB962C8B-B14F-4D97-AF65-F5344CB8AC3E}">
        <p14:creationId xmlns:p14="http://schemas.microsoft.com/office/powerpoint/2010/main" val="4841050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1918D0-084B-6DC7-C419-3E20F7CEF213}"/>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62EF3E48-1EE3-E50D-1CA6-5B8B0829A13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F9DE4B9E-AE0D-9059-AF58-8E48B2F81660}"/>
              </a:ext>
            </a:extLst>
          </p:cNvPr>
          <p:cNvSpPr>
            <a:spLocks noGrp="1"/>
          </p:cNvSpPr>
          <p:nvPr>
            <p:ph type="dt" sz="half" idx="10"/>
          </p:nvPr>
        </p:nvSpPr>
        <p:spPr/>
        <p:txBody>
          <a:bodyPr/>
          <a:lstStyle/>
          <a:p>
            <a:fld id="{C60BF78B-EE4C-4A52-A4F0-5BAA682F3CFF}" type="datetimeFigureOut">
              <a:rPr lang="zh-CN" altLang="en-US" smtClean="0"/>
              <a:t>2026/6/8</a:t>
            </a:fld>
            <a:endParaRPr lang="zh-CN" altLang="en-US"/>
          </a:p>
        </p:txBody>
      </p:sp>
      <p:sp>
        <p:nvSpPr>
          <p:cNvPr id="5" name="页脚占位符 4">
            <a:extLst>
              <a:ext uri="{FF2B5EF4-FFF2-40B4-BE49-F238E27FC236}">
                <a16:creationId xmlns:a16="http://schemas.microsoft.com/office/drawing/2014/main" id="{178B5D71-111D-B422-89B5-3922EC37442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64799E6-17C8-0438-1817-F5FB350DE0F4}"/>
              </a:ext>
            </a:extLst>
          </p:cNvPr>
          <p:cNvSpPr>
            <a:spLocks noGrp="1"/>
          </p:cNvSpPr>
          <p:nvPr>
            <p:ph type="sldNum" sz="quarter" idx="12"/>
          </p:nvPr>
        </p:nvSpPr>
        <p:spPr/>
        <p:txBody>
          <a:bodyPr/>
          <a:lstStyle/>
          <a:p>
            <a:fld id="{D77D0AD0-A83A-4D9B-AB39-6360B2A85B9D}" type="slidenum">
              <a:rPr lang="zh-CN" altLang="en-US" smtClean="0"/>
              <a:t>‹#›</a:t>
            </a:fld>
            <a:endParaRPr lang="zh-CN" altLang="en-US"/>
          </a:p>
        </p:txBody>
      </p:sp>
    </p:spTree>
    <p:extLst>
      <p:ext uri="{BB962C8B-B14F-4D97-AF65-F5344CB8AC3E}">
        <p14:creationId xmlns:p14="http://schemas.microsoft.com/office/powerpoint/2010/main" val="18310108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5D1B0A-0090-34B0-1AE9-BD56715D773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414D4CD-EB8C-19C0-4383-275B934AB4C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7A67495-6D08-30F1-AEE6-2D711AC0A9E5}"/>
              </a:ext>
            </a:extLst>
          </p:cNvPr>
          <p:cNvSpPr>
            <a:spLocks noGrp="1"/>
          </p:cNvSpPr>
          <p:nvPr>
            <p:ph type="dt" sz="half" idx="10"/>
          </p:nvPr>
        </p:nvSpPr>
        <p:spPr/>
        <p:txBody>
          <a:bodyPr/>
          <a:lstStyle/>
          <a:p>
            <a:fld id="{C60BF78B-EE4C-4A52-A4F0-5BAA682F3CFF}" type="datetimeFigureOut">
              <a:rPr lang="zh-CN" altLang="en-US" smtClean="0"/>
              <a:t>2026/6/8</a:t>
            </a:fld>
            <a:endParaRPr lang="zh-CN" altLang="en-US"/>
          </a:p>
        </p:txBody>
      </p:sp>
      <p:sp>
        <p:nvSpPr>
          <p:cNvPr id="5" name="页脚占位符 4">
            <a:extLst>
              <a:ext uri="{FF2B5EF4-FFF2-40B4-BE49-F238E27FC236}">
                <a16:creationId xmlns:a16="http://schemas.microsoft.com/office/drawing/2014/main" id="{0CCD1F6F-F541-A2B7-CC4D-8427A8C62C3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15F4A4A-3C4D-DAA8-77FF-2450725F1385}"/>
              </a:ext>
            </a:extLst>
          </p:cNvPr>
          <p:cNvSpPr>
            <a:spLocks noGrp="1"/>
          </p:cNvSpPr>
          <p:nvPr>
            <p:ph type="sldNum" sz="quarter" idx="12"/>
          </p:nvPr>
        </p:nvSpPr>
        <p:spPr/>
        <p:txBody>
          <a:bodyPr/>
          <a:lstStyle/>
          <a:p>
            <a:fld id="{D77D0AD0-A83A-4D9B-AB39-6360B2A85B9D}" type="slidenum">
              <a:rPr lang="zh-CN" altLang="en-US" smtClean="0"/>
              <a:t>‹#›</a:t>
            </a:fld>
            <a:endParaRPr lang="zh-CN" altLang="en-US"/>
          </a:p>
        </p:txBody>
      </p:sp>
    </p:spTree>
    <p:extLst>
      <p:ext uri="{BB962C8B-B14F-4D97-AF65-F5344CB8AC3E}">
        <p14:creationId xmlns:p14="http://schemas.microsoft.com/office/powerpoint/2010/main" val="3207161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614884-9F23-5ACF-8958-2FC3372369F0}"/>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AB6012A0-6A7B-6248-9E24-62AC22DDE2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80F96628-3298-CB47-E295-83CFBFB233D9}"/>
              </a:ext>
            </a:extLst>
          </p:cNvPr>
          <p:cNvSpPr>
            <a:spLocks noGrp="1"/>
          </p:cNvSpPr>
          <p:nvPr>
            <p:ph type="dt" sz="half" idx="10"/>
          </p:nvPr>
        </p:nvSpPr>
        <p:spPr/>
        <p:txBody>
          <a:bodyPr/>
          <a:lstStyle/>
          <a:p>
            <a:fld id="{C60BF78B-EE4C-4A52-A4F0-5BAA682F3CFF}" type="datetimeFigureOut">
              <a:rPr lang="zh-CN" altLang="en-US" smtClean="0"/>
              <a:t>2026/6/8</a:t>
            </a:fld>
            <a:endParaRPr lang="zh-CN" altLang="en-US"/>
          </a:p>
        </p:txBody>
      </p:sp>
      <p:sp>
        <p:nvSpPr>
          <p:cNvPr id="5" name="页脚占位符 4">
            <a:extLst>
              <a:ext uri="{FF2B5EF4-FFF2-40B4-BE49-F238E27FC236}">
                <a16:creationId xmlns:a16="http://schemas.microsoft.com/office/drawing/2014/main" id="{902971B9-0B82-2A2B-7C8D-207ECB3F82D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B2594FA-7427-8850-488F-178A3E50A6D2}"/>
              </a:ext>
            </a:extLst>
          </p:cNvPr>
          <p:cNvSpPr>
            <a:spLocks noGrp="1"/>
          </p:cNvSpPr>
          <p:nvPr>
            <p:ph type="sldNum" sz="quarter" idx="12"/>
          </p:nvPr>
        </p:nvSpPr>
        <p:spPr/>
        <p:txBody>
          <a:bodyPr/>
          <a:lstStyle/>
          <a:p>
            <a:fld id="{D77D0AD0-A83A-4D9B-AB39-6360B2A85B9D}" type="slidenum">
              <a:rPr lang="zh-CN" altLang="en-US" smtClean="0"/>
              <a:t>‹#›</a:t>
            </a:fld>
            <a:endParaRPr lang="zh-CN" altLang="en-US"/>
          </a:p>
        </p:txBody>
      </p:sp>
    </p:spTree>
    <p:extLst>
      <p:ext uri="{BB962C8B-B14F-4D97-AF65-F5344CB8AC3E}">
        <p14:creationId xmlns:p14="http://schemas.microsoft.com/office/powerpoint/2010/main" val="18198476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714706-6581-7DD9-708B-9974F7E4E73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8968228-F808-3994-C2CD-223E8F2AE3D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3EB9697-1066-ED72-0272-916EEDEF186C}"/>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741911B-0BDF-05EC-A3A0-491508C6F515}"/>
              </a:ext>
            </a:extLst>
          </p:cNvPr>
          <p:cNvSpPr>
            <a:spLocks noGrp="1"/>
          </p:cNvSpPr>
          <p:nvPr>
            <p:ph type="dt" sz="half" idx="10"/>
          </p:nvPr>
        </p:nvSpPr>
        <p:spPr/>
        <p:txBody>
          <a:bodyPr/>
          <a:lstStyle/>
          <a:p>
            <a:fld id="{C60BF78B-EE4C-4A52-A4F0-5BAA682F3CFF}" type="datetimeFigureOut">
              <a:rPr lang="zh-CN" altLang="en-US" smtClean="0"/>
              <a:t>2026/6/8</a:t>
            </a:fld>
            <a:endParaRPr lang="zh-CN" altLang="en-US"/>
          </a:p>
        </p:txBody>
      </p:sp>
      <p:sp>
        <p:nvSpPr>
          <p:cNvPr id="6" name="页脚占位符 5">
            <a:extLst>
              <a:ext uri="{FF2B5EF4-FFF2-40B4-BE49-F238E27FC236}">
                <a16:creationId xmlns:a16="http://schemas.microsoft.com/office/drawing/2014/main" id="{41DA0FEC-6B0A-2A32-DE43-23A622B10CE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5CCA0C1-8EE5-6C68-BD7E-C7C5361BE6F8}"/>
              </a:ext>
            </a:extLst>
          </p:cNvPr>
          <p:cNvSpPr>
            <a:spLocks noGrp="1"/>
          </p:cNvSpPr>
          <p:nvPr>
            <p:ph type="sldNum" sz="quarter" idx="12"/>
          </p:nvPr>
        </p:nvSpPr>
        <p:spPr/>
        <p:txBody>
          <a:bodyPr/>
          <a:lstStyle/>
          <a:p>
            <a:fld id="{D77D0AD0-A83A-4D9B-AB39-6360B2A85B9D}" type="slidenum">
              <a:rPr lang="zh-CN" altLang="en-US" smtClean="0"/>
              <a:t>‹#›</a:t>
            </a:fld>
            <a:endParaRPr lang="zh-CN" altLang="en-US"/>
          </a:p>
        </p:txBody>
      </p:sp>
    </p:spTree>
    <p:extLst>
      <p:ext uri="{BB962C8B-B14F-4D97-AF65-F5344CB8AC3E}">
        <p14:creationId xmlns:p14="http://schemas.microsoft.com/office/powerpoint/2010/main" val="33135182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0F2BE4-7A27-6B80-5933-80BC606097E3}"/>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AD3DE2D-5933-395E-687F-1564D22C66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7BCABFC-9A84-208A-7765-D9854EB21A3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3EDDF44-E4DC-7E01-63F9-48A1566078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F3548B0C-BD5D-BC65-EEAF-365FB93C73CB}"/>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317DA196-9E7F-5D52-5DE4-BC556A8A4701}"/>
              </a:ext>
            </a:extLst>
          </p:cNvPr>
          <p:cNvSpPr>
            <a:spLocks noGrp="1"/>
          </p:cNvSpPr>
          <p:nvPr>
            <p:ph type="dt" sz="half" idx="10"/>
          </p:nvPr>
        </p:nvSpPr>
        <p:spPr/>
        <p:txBody>
          <a:bodyPr/>
          <a:lstStyle/>
          <a:p>
            <a:fld id="{C60BF78B-EE4C-4A52-A4F0-5BAA682F3CFF}" type="datetimeFigureOut">
              <a:rPr lang="zh-CN" altLang="en-US" smtClean="0"/>
              <a:t>2026/6/8</a:t>
            </a:fld>
            <a:endParaRPr lang="zh-CN" altLang="en-US"/>
          </a:p>
        </p:txBody>
      </p:sp>
      <p:sp>
        <p:nvSpPr>
          <p:cNvPr id="8" name="页脚占位符 7">
            <a:extLst>
              <a:ext uri="{FF2B5EF4-FFF2-40B4-BE49-F238E27FC236}">
                <a16:creationId xmlns:a16="http://schemas.microsoft.com/office/drawing/2014/main" id="{F57151F2-B850-C129-767D-0FDC37A47B4D}"/>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298426F-CD02-7124-9FE8-FA975F57CC02}"/>
              </a:ext>
            </a:extLst>
          </p:cNvPr>
          <p:cNvSpPr>
            <a:spLocks noGrp="1"/>
          </p:cNvSpPr>
          <p:nvPr>
            <p:ph type="sldNum" sz="quarter" idx="12"/>
          </p:nvPr>
        </p:nvSpPr>
        <p:spPr/>
        <p:txBody>
          <a:bodyPr/>
          <a:lstStyle/>
          <a:p>
            <a:fld id="{D77D0AD0-A83A-4D9B-AB39-6360B2A85B9D}" type="slidenum">
              <a:rPr lang="zh-CN" altLang="en-US" smtClean="0"/>
              <a:t>‹#›</a:t>
            </a:fld>
            <a:endParaRPr lang="zh-CN" altLang="en-US"/>
          </a:p>
        </p:txBody>
      </p:sp>
    </p:spTree>
    <p:extLst>
      <p:ext uri="{BB962C8B-B14F-4D97-AF65-F5344CB8AC3E}">
        <p14:creationId xmlns:p14="http://schemas.microsoft.com/office/powerpoint/2010/main" val="323085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823A53-3C40-C4E3-C366-382E5C4BF4FB}"/>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A07C788-4F1F-68EA-81F8-F01DA6A05D9C}"/>
              </a:ext>
            </a:extLst>
          </p:cNvPr>
          <p:cNvSpPr>
            <a:spLocks noGrp="1"/>
          </p:cNvSpPr>
          <p:nvPr>
            <p:ph type="dt" sz="half" idx="10"/>
          </p:nvPr>
        </p:nvSpPr>
        <p:spPr/>
        <p:txBody>
          <a:bodyPr/>
          <a:lstStyle/>
          <a:p>
            <a:fld id="{C60BF78B-EE4C-4A52-A4F0-5BAA682F3CFF}" type="datetimeFigureOut">
              <a:rPr lang="zh-CN" altLang="en-US" smtClean="0"/>
              <a:t>2026/6/8</a:t>
            </a:fld>
            <a:endParaRPr lang="zh-CN" altLang="en-US"/>
          </a:p>
        </p:txBody>
      </p:sp>
      <p:sp>
        <p:nvSpPr>
          <p:cNvPr id="4" name="页脚占位符 3">
            <a:extLst>
              <a:ext uri="{FF2B5EF4-FFF2-40B4-BE49-F238E27FC236}">
                <a16:creationId xmlns:a16="http://schemas.microsoft.com/office/drawing/2014/main" id="{C7A372C4-D1F0-33E0-F033-EC4A1DFB8C18}"/>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7C2E2CAF-7B80-5A38-7E7B-C7AD4DB15FF5}"/>
              </a:ext>
            </a:extLst>
          </p:cNvPr>
          <p:cNvSpPr>
            <a:spLocks noGrp="1"/>
          </p:cNvSpPr>
          <p:nvPr>
            <p:ph type="sldNum" sz="quarter" idx="12"/>
          </p:nvPr>
        </p:nvSpPr>
        <p:spPr/>
        <p:txBody>
          <a:bodyPr/>
          <a:lstStyle/>
          <a:p>
            <a:fld id="{D77D0AD0-A83A-4D9B-AB39-6360B2A85B9D}" type="slidenum">
              <a:rPr lang="zh-CN" altLang="en-US" smtClean="0"/>
              <a:t>‹#›</a:t>
            </a:fld>
            <a:endParaRPr lang="zh-CN" altLang="en-US"/>
          </a:p>
        </p:txBody>
      </p:sp>
    </p:spTree>
    <p:extLst>
      <p:ext uri="{BB962C8B-B14F-4D97-AF65-F5344CB8AC3E}">
        <p14:creationId xmlns:p14="http://schemas.microsoft.com/office/powerpoint/2010/main" val="13854532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882D9A9-A4A3-B94E-CE6F-E84A7A5EA062}"/>
              </a:ext>
            </a:extLst>
          </p:cNvPr>
          <p:cNvSpPr>
            <a:spLocks noGrp="1"/>
          </p:cNvSpPr>
          <p:nvPr>
            <p:ph type="dt" sz="half" idx="10"/>
          </p:nvPr>
        </p:nvSpPr>
        <p:spPr/>
        <p:txBody>
          <a:bodyPr/>
          <a:lstStyle/>
          <a:p>
            <a:fld id="{C60BF78B-EE4C-4A52-A4F0-5BAA682F3CFF}" type="datetimeFigureOut">
              <a:rPr lang="zh-CN" altLang="en-US" smtClean="0"/>
              <a:t>2026/6/8</a:t>
            </a:fld>
            <a:endParaRPr lang="zh-CN" altLang="en-US"/>
          </a:p>
        </p:txBody>
      </p:sp>
      <p:sp>
        <p:nvSpPr>
          <p:cNvPr id="3" name="页脚占位符 2">
            <a:extLst>
              <a:ext uri="{FF2B5EF4-FFF2-40B4-BE49-F238E27FC236}">
                <a16:creationId xmlns:a16="http://schemas.microsoft.com/office/drawing/2014/main" id="{49FB75F7-31DA-AB58-10F9-4327045F8604}"/>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EF0B0757-7F3A-9D15-5CC7-0DD51BDF3BE2}"/>
              </a:ext>
            </a:extLst>
          </p:cNvPr>
          <p:cNvSpPr>
            <a:spLocks noGrp="1"/>
          </p:cNvSpPr>
          <p:nvPr>
            <p:ph type="sldNum" sz="quarter" idx="12"/>
          </p:nvPr>
        </p:nvSpPr>
        <p:spPr/>
        <p:txBody>
          <a:bodyPr/>
          <a:lstStyle/>
          <a:p>
            <a:fld id="{D77D0AD0-A83A-4D9B-AB39-6360B2A85B9D}" type="slidenum">
              <a:rPr lang="zh-CN" altLang="en-US" smtClean="0"/>
              <a:t>‹#›</a:t>
            </a:fld>
            <a:endParaRPr lang="zh-CN" altLang="en-US"/>
          </a:p>
        </p:txBody>
      </p:sp>
    </p:spTree>
    <p:extLst>
      <p:ext uri="{BB962C8B-B14F-4D97-AF65-F5344CB8AC3E}">
        <p14:creationId xmlns:p14="http://schemas.microsoft.com/office/powerpoint/2010/main" val="38243034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018F54-6D15-4D7D-66FB-67C18F989E1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2CBA296-8311-5A3A-7A0F-0579818D57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09CBFF4E-9B93-BB6A-C83C-F3F4B0D32D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233F12C-080A-3ED9-BBE4-FBFFEBF2E2C1}"/>
              </a:ext>
            </a:extLst>
          </p:cNvPr>
          <p:cNvSpPr>
            <a:spLocks noGrp="1"/>
          </p:cNvSpPr>
          <p:nvPr>
            <p:ph type="dt" sz="half" idx="10"/>
          </p:nvPr>
        </p:nvSpPr>
        <p:spPr/>
        <p:txBody>
          <a:bodyPr/>
          <a:lstStyle/>
          <a:p>
            <a:fld id="{C60BF78B-EE4C-4A52-A4F0-5BAA682F3CFF}" type="datetimeFigureOut">
              <a:rPr lang="zh-CN" altLang="en-US" smtClean="0"/>
              <a:t>2026/6/8</a:t>
            </a:fld>
            <a:endParaRPr lang="zh-CN" altLang="en-US"/>
          </a:p>
        </p:txBody>
      </p:sp>
      <p:sp>
        <p:nvSpPr>
          <p:cNvPr id="6" name="页脚占位符 5">
            <a:extLst>
              <a:ext uri="{FF2B5EF4-FFF2-40B4-BE49-F238E27FC236}">
                <a16:creationId xmlns:a16="http://schemas.microsoft.com/office/drawing/2014/main" id="{7683840F-EC42-2A21-3CC3-48B1AF57691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A48DBEC-6E83-FE69-B9F8-6FACCBEA2C86}"/>
              </a:ext>
            </a:extLst>
          </p:cNvPr>
          <p:cNvSpPr>
            <a:spLocks noGrp="1"/>
          </p:cNvSpPr>
          <p:nvPr>
            <p:ph type="sldNum" sz="quarter" idx="12"/>
          </p:nvPr>
        </p:nvSpPr>
        <p:spPr/>
        <p:txBody>
          <a:bodyPr/>
          <a:lstStyle/>
          <a:p>
            <a:fld id="{D77D0AD0-A83A-4D9B-AB39-6360B2A85B9D}" type="slidenum">
              <a:rPr lang="zh-CN" altLang="en-US" smtClean="0"/>
              <a:t>‹#›</a:t>
            </a:fld>
            <a:endParaRPr lang="zh-CN" altLang="en-US"/>
          </a:p>
        </p:txBody>
      </p:sp>
    </p:spTree>
    <p:extLst>
      <p:ext uri="{BB962C8B-B14F-4D97-AF65-F5344CB8AC3E}">
        <p14:creationId xmlns:p14="http://schemas.microsoft.com/office/powerpoint/2010/main" val="42862593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2FEFD2-590A-76D6-7346-E37AB4A311B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049E2DE1-39EA-A2A9-6743-F9647B7AFC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45DB94B6-B29A-14E7-646C-2568762C5E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379A6C2-CC5F-3D97-E8F5-F8C4704FDBF4}"/>
              </a:ext>
            </a:extLst>
          </p:cNvPr>
          <p:cNvSpPr>
            <a:spLocks noGrp="1"/>
          </p:cNvSpPr>
          <p:nvPr>
            <p:ph type="dt" sz="half" idx="10"/>
          </p:nvPr>
        </p:nvSpPr>
        <p:spPr/>
        <p:txBody>
          <a:bodyPr/>
          <a:lstStyle/>
          <a:p>
            <a:fld id="{C60BF78B-EE4C-4A52-A4F0-5BAA682F3CFF}" type="datetimeFigureOut">
              <a:rPr lang="zh-CN" altLang="en-US" smtClean="0"/>
              <a:t>2026/6/8</a:t>
            </a:fld>
            <a:endParaRPr lang="zh-CN" altLang="en-US"/>
          </a:p>
        </p:txBody>
      </p:sp>
      <p:sp>
        <p:nvSpPr>
          <p:cNvPr id="6" name="页脚占位符 5">
            <a:extLst>
              <a:ext uri="{FF2B5EF4-FFF2-40B4-BE49-F238E27FC236}">
                <a16:creationId xmlns:a16="http://schemas.microsoft.com/office/drawing/2014/main" id="{227B3206-16A2-970A-368F-4A9FF24FDDF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49D4539-9E64-A45E-4E4C-F48758333AE3}"/>
              </a:ext>
            </a:extLst>
          </p:cNvPr>
          <p:cNvSpPr>
            <a:spLocks noGrp="1"/>
          </p:cNvSpPr>
          <p:nvPr>
            <p:ph type="sldNum" sz="quarter" idx="12"/>
          </p:nvPr>
        </p:nvSpPr>
        <p:spPr/>
        <p:txBody>
          <a:bodyPr/>
          <a:lstStyle/>
          <a:p>
            <a:fld id="{D77D0AD0-A83A-4D9B-AB39-6360B2A85B9D}" type="slidenum">
              <a:rPr lang="zh-CN" altLang="en-US" smtClean="0"/>
              <a:t>‹#›</a:t>
            </a:fld>
            <a:endParaRPr lang="zh-CN" altLang="en-US"/>
          </a:p>
        </p:txBody>
      </p:sp>
    </p:spTree>
    <p:extLst>
      <p:ext uri="{BB962C8B-B14F-4D97-AF65-F5344CB8AC3E}">
        <p14:creationId xmlns:p14="http://schemas.microsoft.com/office/powerpoint/2010/main" val="29298543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8ECF28-11D9-80CE-3781-585B0751E337}"/>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ECC0D6AD-7897-7820-B5A2-DB88CEA9894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0EBBB0A-FCA2-ACEB-09E8-C5E0BEF85926}"/>
              </a:ext>
            </a:extLst>
          </p:cNvPr>
          <p:cNvSpPr>
            <a:spLocks noGrp="1"/>
          </p:cNvSpPr>
          <p:nvPr>
            <p:ph type="dt" sz="half" idx="10"/>
          </p:nvPr>
        </p:nvSpPr>
        <p:spPr/>
        <p:txBody>
          <a:bodyPr/>
          <a:lstStyle/>
          <a:p>
            <a:fld id="{C60BF78B-EE4C-4A52-A4F0-5BAA682F3CFF}" type="datetimeFigureOut">
              <a:rPr lang="zh-CN" altLang="en-US" smtClean="0"/>
              <a:t>2026/6/8</a:t>
            </a:fld>
            <a:endParaRPr lang="zh-CN" altLang="en-US"/>
          </a:p>
        </p:txBody>
      </p:sp>
      <p:sp>
        <p:nvSpPr>
          <p:cNvPr id="5" name="页脚占位符 4">
            <a:extLst>
              <a:ext uri="{FF2B5EF4-FFF2-40B4-BE49-F238E27FC236}">
                <a16:creationId xmlns:a16="http://schemas.microsoft.com/office/drawing/2014/main" id="{3442E10F-A49E-6171-8F87-C2778FF321C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6636534-EBA7-D839-285D-59A5306E9EB6}"/>
              </a:ext>
            </a:extLst>
          </p:cNvPr>
          <p:cNvSpPr>
            <a:spLocks noGrp="1"/>
          </p:cNvSpPr>
          <p:nvPr>
            <p:ph type="sldNum" sz="quarter" idx="12"/>
          </p:nvPr>
        </p:nvSpPr>
        <p:spPr/>
        <p:txBody>
          <a:bodyPr/>
          <a:lstStyle/>
          <a:p>
            <a:fld id="{D77D0AD0-A83A-4D9B-AB39-6360B2A85B9D}" type="slidenum">
              <a:rPr lang="zh-CN" altLang="en-US" smtClean="0"/>
              <a:t>‹#›</a:t>
            </a:fld>
            <a:endParaRPr lang="zh-CN" altLang="en-US"/>
          </a:p>
        </p:txBody>
      </p:sp>
    </p:spTree>
    <p:extLst>
      <p:ext uri="{BB962C8B-B14F-4D97-AF65-F5344CB8AC3E}">
        <p14:creationId xmlns:p14="http://schemas.microsoft.com/office/powerpoint/2010/main" val="2062574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50E6728-8BF1-641A-67E1-46E4D8184641}"/>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AC99ACA-F8B7-6B19-E5C7-03093DA9CCC0}"/>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9BF0D90-A53D-685D-A687-7866BB1C48F3}"/>
              </a:ext>
            </a:extLst>
          </p:cNvPr>
          <p:cNvSpPr>
            <a:spLocks noGrp="1"/>
          </p:cNvSpPr>
          <p:nvPr>
            <p:ph type="dt" sz="half" idx="10"/>
          </p:nvPr>
        </p:nvSpPr>
        <p:spPr/>
        <p:txBody>
          <a:bodyPr/>
          <a:lstStyle/>
          <a:p>
            <a:fld id="{C60BF78B-EE4C-4A52-A4F0-5BAA682F3CFF}" type="datetimeFigureOut">
              <a:rPr lang="zh-CN" altLang="en-US" smtClean="0"/>
              <a:t>2026/6/8</a:t>
            </a:fld>
            <a:endParaRPr lang="zh-CN" altLang="en-US"/>
          </a:p>
        </p:txBody>
      </p:sp>
      <p:sp>
        <p:nvSpPr>
          <p:cNvPr id="5" name="页脚占位符 4">
            <a:extLst>
              <a:ext uri="{FF2B5EF4-FFF2-40B4-BE49-F238E27FC236}">
                <a16:creationId xmlns:a16="http://schemas.microsoft.com/office/drawing/2014/main" id="{87A78CE4-0D8E-DB96-9977-5DC015D049D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32D07F9-5F1F-4B93-95DF-FAF401698387}"/>
              </a:ext>
            </a:extLst>
          </p:cNvPr>
          <p:cNvSpPr>
            <a:spLocks noGrp="1"/>
          </p:cNvSpPr>
          <p:nvPr>
            <p:ph type="sldNum" sz="quarter" idx="12"/>
          </p:nvPr>
        </p:nvSpPr>
        <p:spPr/>
        <p:txBody>
          <a:bodyPr/>
          <a:lstStyle/>
          <a:p>
            <a:fld id="{D77D0AD0-A83A-4D9B-AB39-6360B2A85B9D}" type="slidenum">
              <a:rPr lang="zh-CN" altLang="en-US" smtClean="0"/>
              <a:t>‹#›</a:t>
            </a:fld>
            <a:endParaRPr lang="zh-CN" altLang="en-US"/>
          </a:p>
        </p:txBody>
      </p:sp>
    </p:spTree>
    <p:extLst>
      <p:ext uri="{BB962C8B-B14F-4D97-AF65-F5344CB8AC3E}">
        <p14:creationId xmlns:p14="http://schemas.microsoft.com/office/powerpoint/2010/main" val="24692708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D997B5FA-0921-464F-AAE1-844C04324D75}" type="datetimeFigureOut">
              <a:rPr lang="zh-CN" altLang="en-US" smtClean="0"/>
              <a:t>2026/6/8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3928349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CE06EB6-072B-0F12-6854-C257789E37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4F6815A2-481D-DD44-1B36-3AFFA492E0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3A27C74-F50F-2D03-C8D9-2F1BA626E9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0BF78B-EE4C-4A52-A4F0-5BAA682F3CFF}" type="datetimeFigureOut">
              <a:rPr lang="zh-CN" altLang="en-US" smtClean="0"/>
              <a:t>2026/6/8</a:t>
            </a:fld>
            <a:endParaRPr lang="zh-CN" altLang="en-US"/>
          </a:p>
        </p:txBody>
      </p:sp>
      <p:sp>
        <p:nvSpPr>
          <p:cNvPr id="5" name="页脚占位符 4">
            <a:extLst>
              <a:ext uri="{FF2B5EF4-FFF2-40B4-BE49-F238E27FC236}">
                <a16:creationId xmlns:a16="http://schemas.microsoft.com/office/drawing/2014/main" id="{3B4FAF72-6FF8-EAC6-EB8D-B8A3BD0E08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28CEA869-1FEF-57B2-5719-D7EE84D5C9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7D0AD0-A83A-4D9B-AB39-6360B2A85B9D}" type="slidenum">
              <a:rPr lang="zh-CN" altLang="en-US" smtClean="0"/>
              <a:t>‹#›</a:t>
            </a:fld>
            <a:endParaRPr lang="zh-CN" altLang="en-US"/>
          </a:p>
        </p:txBody>
      </p:sp>
    </p:spTree>
    <p:extLst>
      <p:ext uri="{BB962C8B-B14F-4D97-AF65-F5344CB8AC3E}">
        <p14:creationId xmlns:p14="http://schemas.microsoft.com/office/powerpoint/2010/main" val="38289328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3.xml"/><Relationship Id="rId7" Type="http://schemas.openxmlformats.org/officeDocument/2006/relationships/notesSlide" Target="../notesSlides/notesSlide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Layout" Target="../slideLayouts/slideLayout12.xml"/><Relationship Id="rId5" Type="http://schemas.openxmlformats.org/officeDocument/2006/relationships/tags" Target="../tags/tag5.xml"/><Relationship Id="rId10" Type="http://schemas.openxmlformats.org/officeDocument/2006/relationships/image" Target="../media/image4.jpg"/><Relationship Id="rId4" Type="http://schemas.openxmlformats.org/officeDocument/2006/relationships/tags" Target="../tags/tag4.xml"/><Relationship Id="rId9"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8" Type="http://schemas.openxmlformats.org/officeDocument/2006/relationships/tags" Target="../tags/tag13.xml"/><Relationship Id="rId13" Type="http://schemas.openxmlformats.org/officeDocument/2006/relationships/image" Target="../media/image13.jpeg"/><Relationship Id="rId3" Type="http://schemas.openxmlformats.org/officeDocument/2006/relationships/tags" Target="../tags/tag8.xml"/><Relationship Id="rId7" Type="http://schemas.openxmlformats.org/officeDocument/2006/relationships/tags" Target="../tags/tag12.xml"/><Relationship Id="rId12" Type="http://schemas.openxmlformats.org/officeDocument/2006/relationships/image" Target="../media/image12.jpeg"/><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tags" Target="../tags/tag11.xml"/><Relationship Id="rId11" Type="http://schemas.openxmlformats.org/officeDocument/2006/relationships/chart" Target="../charts/chart1.xml"/><Relationship Id="rId5" Type="http://schemas.openxmlformats.org/officeDocument/2006/relationships/tags" Target="../tags/tag10.xml"/><Relationship Id="rId10" Type="http://schemas.openxmlformats.org/officeDocument/2006/relationships/notesSlide" Target="../notesSlides/notesSlide10.xml"/><Relationship Id="rId4" Type="http://schemas.openxmlformats.org/officeDocument/2006/relationships/tags" Target="../tags/tag9.xml"/><Relationship Id="rId9"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tags" Target="../tags/tag21.xml"/><Relationship Id="rId13" Type="http://schemas.openxmlformats.org/officeDocument/2006/relationships/image" Target="../media/image13.jpeg"/><Relationship Id="rId3" Type="http://schemas.openxmlformats.org/officeDocument/2006/relationships/tags" Target="../tags/tag16.xml"/><Relationship Id="rId7" Type="http://schemas.openxmlformats.org/officeDocument/2006/relationships/tags" Target="../tags/tag20.xml"/><Relationship Id="rId12" Type="http://schemas.openxmlformats.org/officeDocument/2006/relationships/image" Target="../media/image12.jpe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tags" Target="../tags/tag19.xml"/><Relationship Id="rId11" Type="http://schemas.openxmlformats.org/officeDocument/2006/relationships/chart" Target="../charts/chart2.xml"/><Relationship Id="rId5" Type="http://schemas.openxmlformats.org/officeDocument/2006/relationships/tags" Target="../tags/tag18.xml"/><Relationship Id="rId10" Type="http://schemas.openxmlformats.org/officeDocument/2006/relationships/notesSlide" Target="../notesSlides/notesSlide12.xml"/><Relationship Id="rId4" Type="http://schemas.openxmlformats.org/officeDocument/2006/relationships/tags" Target="../tags/tag17.xml"/><Relationship Id="rId9"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15.xml.rels><?xml version="1.0" encoding="UTF-8" standalone="yes"?>
<Relationships xmlns="http://schemas.openxmlformats.org/package/2006/relationships"><Relationship Id="rId8" Type="http://schemas.openxmlformats.org/officeDocument/2006/relationships/tags" Target="../tags/tag29.xml"/><Relationship Id="rId13" Type="http://schemas.openxmlformats.org/officeDocument/2006/relationships/image" Target="../media/image13.jpeg"/><Relationship Id="rId3" Type="http://schemas.openxmlformats.org/officeDocument/2006/relationships/tags" Target="../tags/tag24.xml"/><Relationship Id="rId7" Type="http://schemas.openxmlformats.org/officeDocument/2006/relationships/tags" Target="../tags/tag28.xml"/><Relationship Id="rId12" Type="http://schemas.openxmlformats.org/officeDocument/2006/relationships/image" Target="../media/image12.jpeg"/><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11" Type="http://schemas.openxmlformats.org/officeDocument/2006/relationships/chart" Target="../charts/chart3.xml"/><Relationship Id="rId5" Type="http://schemas.openxmlformats.org/officeDocument/2006/relationships/tags" Target="../tags/tag26.xml"/><Relationship Id="rId10" Type="http://schemas.openxmlformats.org/officeDocument/2006/relationships/notesSlide" Target="../notesSlides/notesSlide15.xml"/><Relationship Id="rId4" Type="http://schemas.openxmlformats.org/officeDocument/2006/relationships/tags" Target="../tags/tag25.xml"/><Relationship Id="rId9"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3C712-3CEF-6C6F-815D-BF40CE6AB0AC}"/>
            </a:ext>
          </a:extLst>
        </p:cNvPr>
        <p:cNvGrpSpPr/>
        <p:nvPr/>
      </p:nvGrpSpPr>
      <p:grpSpPr>
        <a:xfrm>
          <a:off x="0" y="0"/>
          <a:ext cx="0" cy="0"/>
          <a:chOff x="0" y="0"/>
          <a:chExt cx="0" cy="0"/>
        </a:xfrm>
      </p:grpSpPr>
      <p:pic>
        <p:nvPicPr>
          <p:cNvPr id="11" name="图片 10" descr="蓝色的火车在站台旁&#10;&#10;描述已自动生成">
            <a:extLst>
              <a:ext uri="{FF2B5EF4-FFF2-40B4-BE49-F238E27FC236}">
                <a16:creationId xmlns:a16="http://schemas.microsoft.com/office/drawing/2014/main" id="{DC642186-E975-96D8-8408-C4456DEE3F53}"/>
              </a:ext>
            </a:extLst>
          </p:cNvPr>
          <p:cNvPicPr>
            <a:picLocks noChangeAspect="1"/>
          </p:cNvPicPr>
          <p:nvPr/>
        </p:nvPicPr>
        <p:blipFill rotWithShape="1">
          <a:blip r:embed="rId3" cstate="print">
            <a:duotone>
              <a:schemeClr val="accent6">
                <a:shade val="45000"/>
                <a:satMod val="135000"/>
              </a:schemeClr>
              <a:prstClr val="white"/>
            </a:duotone>
            <a:extLst>
              <a:ext uri="{BEBA8EAE-BF5A-486C-A8C5-ECC9F3942E4B}">
                <a14:imgProps xmlns:a14="http://schemas.microsoft.com/office/drawing/2010/main">
                  <a14:imgLayer r:embed="rId4">
                    <a14:imgEffect>
                      <a14:saturation sat="0"/>
                    </a14:imgEffect>
                    <a14:imgEffect>
                      <a14:brightnessContrast contrast="-40000"/>
                    </a14:imgEffect>
                  </a14:imgLayer>
                </a14:imgProps>
              </a:ext>
              <a:ext uri="{28A0092B-C50C-407E-A947-70E740481C1C}">
                <a14:useLocalDpi xmlns:a14="http://schemas.microsoft.com/office/drawing/2010/main" val="0"/>
              </a:ext>
            </a:extLst>
          </a:blip>
          <a:srcRect l="51" b="33391"/>
          <a:stretch/>
        </p:blipFill>
        <p:spPr>
          <a:xfrm>
            <a:off x="567" y="1099270"/>
            <a:ext cx="12190866" cy="4060213"/>
          </a:xfrm>
          <a:prstGeom prst="rect">
            <a:avLst/>
          </a:prstGeom>
        </p:spPr>
      </p:pic>
      <p:sp>
        <p:nvSpPr>
          <p:cNvPr id="12" name="矩形 11">
            <a:extLst>
              <a:ext uri="{FF2B5EF4-FFF2-40B4-BE49-F238E27FC236}">
                <a16:creationId xmlns:a16="http://schemas.microsoft.com/office/drawing/2014/main" id="{1C9DA934-52C4-4CB2-4D02-075830AA3AF2}"/>
              </a:ext>
            </a:extLst>
          </p:cNvPr>
          <p:cNvSpPr/>
          <p:nvPr/>
        </p:nvSpPr>
        <p:spPr>
          <a:xfrm>
            <a:off x="9859" y="-1"/>
            <a:ext cx="12191999" cy="5159483"/>
          </a:xfrm>
          <a:prstGeom prst="rect">
            <a:avLst/>
          </a:prstGeom>
          <a:gradFill flip="none" rotWithShape="1">
            <a:gsLst>
              <a:gs pos="49000">
                <a:schemeClr val="bg1"/>
              </a:gs>
              <a:gs pos="100000">
                <a:schemeClr val="accent3">
                  <a:alpha val="2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b="1" dirty="0">
              <a:solidFill>
                <a:prstClr val="white"/>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F08D48A3-B931-466F-18C0-A1C304D1FEF8}"/>
              </a:ext>
            </a:extLst>
          </p:cNvPr>
          <p:cNvSpPr txBox="1"/>
          <p:nvPr/>
        </p:nvSpPr>
        <p:spPr>
          <a:xfrm>
            <a:off x="0" y="1366919"/>
            <a:ext cx="12192000" cy="2540247"/>
          </a:xfrm>
          <a:prstGeom prst="rect">
            <a:avLst/>
          </a:prstGeom>
          <a:noFill/>
        </p:spPr>
        <p:txBody>
          <a:bodyPr wrap="square">
            <a:spAutoFit/>
          </a:bodyPr>
          <a:lstStyle/>
          <a:p>
            <a:pPr algn="ctr">
              <a:lnSpc>
                <a:spcPts val="10500"/>
              </a:lnSpc>
              <a:defRPr/>
            </a:pPr>
            <a:r>
              <a:rPr lang="zh-CN" altLang="en-US" sz="3000" b="1">
                <a:solidFill>
                  <a:schemeClr val="accent1"/>
                </a:solidFill>
                <a:latin typeface="微软雅黑" panose="020B0503020204020204" pitchFamily="34" charset="-122"/>
                <a:ea typeface="微软雅黑" panose="020B0503020204020204" pitchFamily="34" charset="-122"/>
              </a:rPr>
              <a:t>面向前馈式三维重建模型的
聚合管理平台设计与实现</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3" name="矩形: 圆角 2">
            <a:extLst>
              <a:ext uri="{FF2B5EF4-FFF2-40B4-BE49-F238E27FC236}">
                <a16:creationId xmlns:a16="http://schemas.microsoft.com/office/drawing/2014/main" id="{4B2EA678-3420-5C54-B4C3-C8CAD209A7CE}"/>
              </a:ext>
            </a:extLst>
          </p:cNvPr>
          <p:cNvSpPr/>
          <p:nvPr/>
        </p:nvSpPr>
        <p:spPr>
          <a:xfrm>
            <a:off x="4839038" y="4461335"/>
            <a:ext cx="2768614" cy="584778"/>
          </a:xfrm>
          <a:prstGeom prst="roundRect">
            <a:avLst>
              <a:gd name="adj" fmla="val 50000"/>
            </a:avLst>
          </a:prstGeom>
          <a:solidFill>
            <a:srgbClr val="FFFFFF"/>
          </a:solidFill>
          <a:ln w="3175" cap="flat" cmpd="sng" algn="ctr">
            <a:solidFill>
              <a:schemeClr val="accent1"/>
            </a:solid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600" b="1" i="0" u="none" strike="noStrike" kern="0" cap="none" spc="0" normalizeH="0" baseline="0" noProof="0" dirty="0">
              <a:ln>
                <a:noFill/>
              </a:ln>
              <a:solidFill>
                <a:prstClr val="white"/>
              </a:solidFill>
              <a:effectLst/>
              <a:uLnTx/>
              <a:uFillTx/>
              <a:latin typeface="微软雅黑"/>
            </a:endParaRPr>
          </a:p>
        </p:txBody>
      </p:sp>
      <p:sp>
        <p:nvSpPr>
          <p:cNvPr id="4" name="矩形: 圆角 3">
            <a:extLst>
              <a:ext uri="{FF2B5EF4-FFF2-40B4-BE49-F238E27FC236}">
                <a16:creationId xmlns:a16="http://schemas.microsoft.com/office/drawing/2014/main" id="{DA1E6CA0-D601-DDA2-0D66-6669E5F33476}"/>
              </a:ext>
            </a:extLst>
          </p:cNvPr>
          <p:cNvSpPr/>
          <p:nvPr/>
        </p:nvSpPr>
        <p:spPr>
          <a:xfrm>
            <a:off x="3768924" y="4454012"/>
            <a:ext cx="1685122" cy="584776"/>
          </a:xfrm>
          <a:prstGeom prst="roundRect">
            <a:avLst>
              <a:gd name="adj" fmla="val 50000"/>
            </a:avLst>
          </a:prstGeom>
          <a:solidFill>
            <a:schemeClr val="accent1"/>
          </a:solidFill>
          <a:ln w="3175" cap="flat" cmpd="sng" algn="ctr">
            <a:solidFill>
              <a:srgbClr val="0C56AE"/>
            </a:solidFill>
            <a:prstDash val="solid"/>
            <a:miter lim="800000"/>
          </a:ln>
          <a:effectLst/>
        </p:spPr>
        <p:txBody>
          <a:bodyPr wrap="square" rtlCol="0" anchor="ctr">
            <a:noAutofit/>
          </a:bodyPr>
          <a:lstStyle/>
          <a:p>
            <a:pPr algn="ctr">
              <a:defRPr/>
            </a:pPr>
            <a:r>
              <a:rPr lang="zh-CN" altLang="en-US" sz="1600" b="1" kern="0">
                <a:solidFill>
                  <a:prstClr val="white"/>
                </a:solidFill>
                <a:latin typeface="微软雅黑" panose="020B0503020204020204" pitchFamily="34" charset="-122"/>
                <a:ea typeface="微软雅黑" panose="020B0503020204020204" pitchFamily="34" charset="-122"/>
              </a:rPr>
              <a:t>汇报人</a:t>
            </a:r>
            <a:endParaRPr lang="zh-CN" altLang="en-US" sz="1600" b="1" kern="0" dirty="0">
              <a:solidFill>
                <a:prstClr val="white"/>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E592BA2D-3982-DE10-3446-DA44D71D602C}"/>
              </a:ext>
            </a:extLst>
          </p:cNvPr>
          <p:cNvSpPr txBox="1"/>
          <p:nvPr/>
        </p:nvSpPr>
        <p:spPr>
          <a:xfrm>
            <a:off x="5624923" y="4461337"/>
            <a:ext cx="1707519" cy="369332"/>
          </a:xfrm>
          <a:prstGeom prst="rect">
            <a:avLst/>
          </a:prstGeom>
          <a:noFill/>
        </p:spPr>
        <p:txBody>
          <a:bodyPr wrap="none">
            <a:spAutoFit/>
          </a:bodyPr>
          <a:lstStyle/>
          <a:p>
            <a:pPr algn="ctr">
              <a:defRPr/>
            </a:pPr>
            <a:r>
              <a:rPr lang="zh-CN" altLang="en-US" b="1">
                <a:solidFill>
                  <a:schemeClr val="accent1"/>
                </a:solidFill>
                <a:latin typeface="微软雅黑" panose="020B0503020204020204" pitchFamily="34" charset="-122"/>
                <a:ea typeface="微软雅黑" panose="020B0503020204020204" pitchFamily="34" charset="-122"/>
              </a:rPr>
              <a:t>崔昊喆  纪博闻</a:t>
            </a:r>
            <a:endParaRPr lang="zh-CN" altLang="en-US" b="1" dirty="0">
              <a:solidFill>
                <a:schemeClr val="accent1"/>
              </a:solidFill>
              <a:latin typeface="微软雅黑" panose="020B0503020204020204" pitchFamily="34" charset="-122"/>
              <a:ea typeface="微软雅黑" panose="020B0503020204020204" pitchFamily="34" charset="-122"/>
            </a:endParaRPr>
          </a:p>
        </p:txBody>
      </p:sp>
      <p:sp>
        <p:nvSpPr>
          <p:cNvPr id="6" name="任意多边形: 形状 5">
            <a:extLst>
              <a:ext uri="{FF2B5EF4-FFF2-40B4-BE49-F238E27FC236}">
                <a16:creationId xmlns:a16="http://schemas.microsoft.com/office/drawing/2014/main" id="{03437287-155F-B97B-812D-904A5FB34C93}"/>
              </a:ext>
            </a:extLst>
          </p:cNvPr>
          <p:cNvSpPr/>
          <p:nvPr/>
        </p:nvSpPr>
        <p:spPr>
          <a:xfrm>
            <a:off x="2614943" y="-5733"/>
            <a:ext cx="6962115" cy="493598"/>
          </a:xfrm>
          <a:custGeom>
            <a:avLst/>
            <a:gdLst>
              <a:gd name="connsiteX0" fmla="*/ 0 w 8717654"/>
              <a:gd name="connsiteY0" fmla="*/ 0 h 562725"/>
              <a:gd name="connsiteX1" fmla="*/ 1155700 w 8717654"/>
              <a:gd name="connsiteY1" fmla="*/ 0 h 562725"/>
              <a:gd name="connsiteX2" fmla="*/ 7561954 w 8717654"/>
              <a:gd name="connsiteY2" fmla="*/ 0 h 562725"/>
              <a:gd name="connsiteX3" fmla="*/ 8717654 w 8717654"/>
              <a:gd name="connsiteY3" fmla="*/ 0 h 562725"/>
              <a:gd name="connsiteX4" fmla="*/ 8717381 w 8717654"/>
              <a:gd name="connsiteY4" fmla="*/ 1022 h 562725"/>
              <a:gd name="connsiteX5" fmla="*/ 8441286 w 8717654"/>
              <a:gd name="connsiteY5" fmla="*/ 521969 h 562725"/>
              <a:gd name="connsiteX6" fmla="*/ 8383695 w 8717654"/>
              <a:gd name="connsiteY6" fmla="*/ 562725 h 562725"/>
              <a:gd name="connsiteX7" fmla="*/ 7227995 w 8717654"/>
              <a:gd name="connsiteY7" fmla="*/ 562725 h 562725"/>
              <a:gd name="connsiteX8" fmla="*/ 1489659 w 8717654"/>
              <a:gd name="connsiteY8" fmla="*/ 562725 h 562725"/>
              <a:gd name="connsiteX9" fmla="*/ 333959 w 8717654"/>
              <a:gd name="connsiteY9" fmla="*/ 562725 h 562725"/>
              <a:gd name="connsiteX10" fmla="*/ 276368 w 8717654"/>
              <a:gd name="connsiteY10" fmla="*/ 521969 h 562725"/>
              <a:gd name="connsiteX11" fmla="*/ 273 w 8717654"/>
              <a:gd name="connsiteY11" fmla="*/ 1022 h 562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717654" h="562725">
                <a:moveTo>
                  <a:pt x="0" y="0"/>
                </a:moveTo>
                <a:lnTo>
                  <a:pt x="1155700" y="0"/>
                </a:lnTo>
                <a:lnTo>
                  <a:pt x="7561954" y="0"/>
                </a:lnTo>
                <a:lnTo>
                  <a:pt x="8717654" y="0"/>
                </a:lnTo>
                <a:lnTo>
                  <a:pt x="8717381" y="1022"/>
                </a:lnTo>
                <a:lnTo>
                  <a:pt x="8441286" y="521969"/>
                </a:lnTo>
                <a:cubicBezTo>
                  <a:pt x="8427678" y="547645"/>
                  <a:pt x="8406370" y="562725"/>
                  <a:pt x="8383695" y="562725"/>
                </a:cubicBezTo>
                <a:lnTo>
                  <a:pt x="7227995" y="562725"/>
                </a:lnTo>
                <a:lnTo>
                  <a:pt x="1489659" y="562725"/>
                </a:lnTo>
                <a:lnTo>
                  <a:pt x="333959" y="562725"/>
                </a:lnTo>
                <a:cubicBezTo>
                  <a:pt x="311285" y="562725"/>
                  <a:pt x="289976" y="547645"/>
                  <a:pt x="276368" y="521969"/>
                </a:cubicBezTo>
                <a:lnTo>
                  <a:pt x="273" y="1022"/>
                </a:lnTo>
                <a:close/>
              </a:path>
            </a:pathLst>
          </a:custGeom>
          <a:solidFill>
            <a:schemeClr val="accent1"/>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dirty="0">
              <a:ln>
                <a:noFill/>
              </a:ln>
              <a:solidFill>
                <a:srgbClr val="0C56AE"/>
              </a:solidFill>
              <a:effectLst/>
              <a:uLnTx/>
              <a:uFillTx/>
              <a:latin typeface="微软雅黑" panose="020B0503020204020204" pitchFamily="34" charset="-122"/>
              <a:ea typeface="微软雅黑" panose="020B0503020204020204" pitchFamily="34" charset="-122"/>
              <a:cs typeface="+mn-cs"/>
            </a:endParaRPr>
          </a:p>
        </p:txBody>
      </p:sp>
      <p:sp>
        <p:nvSpPr>
          <p:cNvPr id="7" name="文本框 6">
            <a:extLst>
              <a:ext uri="{FF2B5EF4-FFF2-40B4-BE49-F238E27FC236}">
                <a16:creationId xmlns:a16="http://schemas.microsoft.com/office/drawing/2014/main" id="{FFC05B4F-2BD2-017A-D833-AFB9CBAC897A}"/>
              </a:ext>
            </a:extLst>
          </p:cNvPr>
          <p:cNvSpPr txBox="1"/>
          <p:nvPr/>
        </p:nvSpPr>
        <p:spPr>
          <a:xfrm>
            <a:off x="2925902" y="10234"/>
            <a:ext cx="2743059" cy="338554"/>
          </a:xfrm>
          <a:prstGeom prst="rect">
            <a:avLst/>
          </a:prstGeom>
          <a:noFill/>
        </p:spPr>
        <p:txBody>
          <a:bodyPr wrap="none">
            <a:spAutoFit/>
          </a:bodyPr>
          <a:lstStyle/>
          <a:p>
            <a:pPr>
              <a:defRPr/>
            </a:pPr>
            <a:r>
              <a:rPr lang="en-US" altLang="zh-CN" sz="1600" b="1">
                <a:solidFill>
                  <a:srgbClr val="FFFFFF"/>
                </a:solidFill>
                <a:latin typeface="微软雅黑" panose="020B0503020204020204" pitchFamily="34" charset="-122"/>
                <a:ea typeface="微软雅黑" panose="020B0503020204020204" pitchFamily="34" charset="-122"/>
              </a:rPr>
              <a:t>2026</a:t>
            </a:r>
            <a:r>
              <a:rPr lang="zh-CN" altLang="en-US" sz="1600" b="1">
                <a:solidFill>
                  <a:srgbClr val="FFFFFF"/>
                </a:solidFill>
                <a:latin typeface="微软雅黑" panose="020B0503020204020204" pitchFamily="34" charset="-122"/>
                <a:ea typeface="微软雅黑" panose="020B0503020204020204" pitchFamily="34" charset="-122"/>
              </a:rPr>
              <a:t>年春科研课堂开题报告</a:t>
            </a:r>
            <a:endParaRPr lang="zh-CN" altLang="en-US" sz="1600" b="1" dirty="0">
              <a:solidFill>
                <a:srgbClr val="FFFFFF"/>
              </a:solidFill>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50993921-4A01-0A89-1E61-7A819B4A1E2F}"/>
              </a:ext>
            </a:extLst>
          </p:cNvPr>
          <p:cNvSpPr txBox="1"/>
          <p:nvPr/>
        </p:nvSpPr>
        <p:spPr>
          <a:xfrm>
            <a:off x="5182930" y="5238426"/>
            <a:ext cx="1826141" cy="338554"/>
          </a:xfrm>
          <a:prstGeom prst="rect">
            <a:avLst/>
          </a:prstGeom>
          <a:noFill/>
        </p:spPr>
        <p:txBody>
          <a:bodyPr wrap="none">
            <a:spAutoFit/>
          </a:bodyPr>
          <a:lstStyle/>
          <a:p>
            <a:pPr algn="ctr">
              <a:defRPr/>
            </a:pPr>
            <a:r>
              <a:rPr lang="zh-CN" altLang="en-US" sz="1600">
                <a:ln w="0"/>
                <a:solidFill>
                  <a:prstClr val="black"/>
                </a:solidFill>
                <a:latin typeface="微软雅黑" panose="020B0503020204020204" pitchFamily="34" charset="-122"/>
                <a:ea typeface="微软雅黑" panose="020B0503020204020204" pitchFamily="34" charset="-122"/>
              </a:rPr>
              <a:t>北京航空航天大学</a:t>
            </a:r>
            <a:endParaRPr lang="zh-CN" altLang="en-US" sz="1600" dirty="0">
              <a:ln w="0"/>
              <a:solidFill>
                <a:prstClr val="black"/>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6A13CF40-C608-8D36-562A-C2261D580099}"/>
              </a:ext>
            </a:extLst>
          </p:cNvPr>
          <p:cNvSpPr/>
          <p:nvPr/>
        </p:nvSpPr>
        <p:spPr>
          <a:xfrm>
            <a:off x="0" y="6632574"/>
            <a:ext cx="12192000" cy="23447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文本框 9">
            <a:extLst>
              <a:ext uri="{FF2B5EF4-FFF2-40B4-BE49-F238E27FC236}">
                <a16:creationId xmlns:a16="http://schemas.microsoft.com/office/drawing/2014/main" id="{FFDD9BF1-26C1-D8B1-4EF4-E6DFBF680AE0}"/>
              </a:ext>
            </a:extLst>
          </p:cNvPr>
          <p:cNvSpPr txBox="1"/>
          <p:nvPr/>
        </p:nvSpPr>
        <p:spPr>
          <a:xfrm>
            <a:off x="5497919" y="5721158"/>
            <a:ext cx="1196161" cy="338554"/>
          </a:xfrm>
          <a:prstGeom prst="rect">
            <a:avLst/>
          </a:prstGeom>
          <a:noFill/>
        </p:spPr>
        <p:txBody>
          <a:bodyPr wrap="none">
            <a:spAutoFit/>
          </a:bodyPr>
          <a:lstStyle/>
          <a:p>
            <a:pPr algn="ctr">
              <a:defRPr/>
            </a:pPr>
            <a:r>
              <a:rPr lang="en-US" altLang="zh-CN" sz="1600">
                <a:ln w="0"/>
                <a:solidFill>
                  <a:prstClr val="black"/>
                </a:solidFill>
                <a:latin typeface="微软雅黑" panose="020B0503020204020204" pitchFamily="34" charset="-122"/>
                <a:ea typeface="微软雅黑" panose="020B0503020204020204" pitchFamily="34" charset="-122"/>
              </a:rPr>
              <a:t>2026</a:t>
            </a:r>
            <a:r>
              <a:rPr lang="zh-CN" altLang="en-US" sz="1600">
                <a:ln w="0"/>
                <a:solidFill>
                  <a:prstClr val="black"/>
                </a:solidFill>
                <a:latin typeface="微软雅黑" panose="020B0503020204020204" pitchFamily="34" charset="-122"/>
                <a:ea typeface="微软雅黑" panose="020B0503020204020204" pitchFamily="34" charset="-122"/>
              </a:rPr>
              <a:t>年</a:t>
            </a:r>
            <a:r>
              <a:rPr lang="en-US" altLang="zh-CN" sz="1600">
                <a:ln w="0"/>
                <a:solidFill>
                  <a:prstClr val="black"/>
                </a:solidFill>
                <a:latin typeface="微软雅黑" panose="020B0503020204020204" pitchFamily="34" charset="-122"/>
                <a:ea typeface="微软雅黑" panose="020B0503020204020204" pitchFamily="34" charset="-122"/>
              </a:rPr>
              <a:t>6</a:t>
            </a:r>
            <a:r>
              <a:rPr lang="zh-CN" altLang="en-US" sz="1600">
                <a:ln w="0"/>
                <a:solidFill>
                  <a:prstClr val="black"/>
                </a:solidFill>
                <a:latin typeface="微软雅黑" panose="020B0503020204020204" pitchFamily="34" charset="-122"/>
                <a:ea typeface="微软雅黑" panose="020B0503020204020204" pitchFamily="34" charset="-122"/>
              </a:rPr>
              <a:t>月</a:t>
            </a:r>
            <a:endParaRPr lang="zh-CN" altLang="en-US" sz="1600" dirty="0">
              <a:ln w="0"/>
              <a:solidFill>
                <a:prstClr val="black"/>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418148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Picture 89">
            <a:extLst>
              <a:ext uri="{FF2B5EF4-FFF2-40B4-BE49-F238E27FC236}">
                <a16:creationId xmlns:a16="http://schemas.microsoft.com/office/drawing/2014/main" id="{E9CAE631-11B1-6B01-385A-60C92A6A83B3}"/>
              </a:ext>
            </a:extLst>
          </p:cNvPr>
          <p:cNvPicPr>
            <a:picLocks noChangeAspect="1"/>
          </p:cNvPicPr>
          <p:nvPr/>
        </p:nvPicPr>
        <p:blipFill>
          <a:blip r:embed="rId8">
            <a:alphaModFix amt="60000"/>
          </a:blip>
          <a:stretch>
            <a:fillRect/>
          </a:stretch>
        </p:blipFill>
        <p:spPr>
          <a:xfrm rot="10800000">
            <a:off x="-8340" y="1"/>
            <a:ext cx="12200340" cy="2868908"/>
          </a:xfrm>
          <a:prstGeom prst="rect">
            <a:avLst/>
          </a:prstGeom>
        </p:spPr>
      </p:pic>
      <p:pic>
        <p:nvPicPr>
          <p:cNvPr id="45" name="图片 44">
            <a:extLst>
              <a:ext uri="{FF2B5EF4-FFF2-40B4-BE49-F238E27FC236}">
                <a16:creationId xmlns:a16="http://schemas.microsoft.com/office/drawing/2014/main" id="{9C7262D3-C5E7-98B9-085E-5298B67D1C9A}"/>
              </a:ext>
            </a:extLst>
          </p:cNvPr>
          <p:cNvPicPr>
            <a:picLocks noChangeAspect="1"/>
          </p:cNvPicPr>
          <p:nvPr/>
        </p:nvPicPr>
        <p:blipFill rotWithShape="1">
          <a:blip r:embed="rId9"/>
          <a:srcRect r="16168"/>
          <a:stretch/>
        </p:blipFill>
        <p:spPr>
          <a:xfrm flipH="1">
            <a:off x="0" y="4270329"/>
            <a:ext cx="12192000" cy="2600960"/>
          </a:xfrm>
          <a:prstGeom prst="rect">
            <a:avLst/>
          </a:prstGeom>
        </p:spPr>
      </p:pic>
      <p:sp>
        <p:nvSpPr>
          <p:cNvPr id="46" name="矩形: 圆角 45">
            <a:extLst>
              <a:ext uri="{FF2B5EF4-FFF2-40B4-BE49-F238E27FC236}">
                <a16:creationId xmlns:a16="http://schemas.microsoft.com/office/drawing/2014/main" id="{8850DB52-E07B-E457-2D16-03191921B357}"/>
              </a:ext>
            </a:extLst>
          </p:cNvPr>
          <p:cNvSpPr/>
          <p:nvPr/>
        </p:nvSpPr>
        <p:spPr>
          <a:xfrm flipH="1">
            <a:off x="2579592" y="1079699"/>
            <a:ext cx="8422734" cy="5146730"/>
          </a:xfrm>
          <a:prstGeom prst="roundRect">
            <a:avLst>
              <a:gd name="adj" fmla="val 841"/>
            </a:avLst>
          </a:prstGeom>
          <a:gradFill flip="none" rotWithShape="1">
            <a:gsLst>
              <a:gs pos="25000">
                <a:schemeClr val="accent3"/>
              </a:gs>
              <a:gs pos="99083">
                <a:schemeClr val="bg1"/>
              </a:gs>
            </a:gsLst>
            <a:lin ang="5400000" scaled="1"/>
            <a:tileRect/>
          </a:gradFill>
          <a:ln w="3175" cap="flat" cmpd="sng" algn="ctr">
            <a:gradFill flip="none" rotWithShape="1">
              <a:gsLst>
                <a:gs pos="0">
                  <a:schemeClr val="accent3"/>
                </a:gs>
                <a:gs pos="100000">
                  <a:schemeClr val="accent1"/>
                </a:gs>
              </a:gsLst>
              <a:lin ang="10800000" scaled="1"/>
              <a:tileRect/>
            </a:gradFill>
            <a:prstDash val="solid"/>
            <a:miter lim="800000"/>
          </a:ln>
          <a:effectLst>
            <a:outerShdw blurRad="304800" sx="102000" sy="102000" algn="ctr" rotWithShape="0">
              <a:srgbClr val="0B4FA1">
                <a:lumMod val="20000"/>
                <a:lumOff val="80000"/>
                <a:alpha val="16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sp>
        <p:nvSpPr>
          <p:cNvPr id="47" name="矩形: 圆角 46">
            <a:extLst>
              <a:ext uri="{FF2B5EF4-FFF2-40B4-BE49-F238E27FC236}">
                <a16:creationId xmlns:a16="http://schemas.microsoft.com/office/drawing/2014/main" id="{A03CD020-8E49-BC23-82FE-80B9ABCA3972}"/>
              </a:ext>
            </a:extLst>
          </p:cNvPr>
          <p:cNvSpPr/>
          <p:nvPr/>
        </p:nvSpPr>
        <p:spPr>
          <a:xfrm>
            <a:off x="-100120" y="-79828"/>
            <a:ext cx="4207663" cy="7017657"/>
          </a:xfrm>
          <a:prstGeom prst="roundRect">
            <a:avLst>
              <a:gd name="adj" fmla="val 0"/>
            </a:avLst>
          </a:prstGeom>
          <a:gradFill>
            <a:gsLst>
              <a:gs pos="0">
                <a:schemeClr val="accent1"/>
              </a:gs>
              <a:gs pos="100000">
                <a:schemeClr val="accent2">
                  <a:lumMod val="50000"/>
                </a:schemeClr>
              </a:gs>
            </a:gsLst>
            <a:lin ang="5400000" scaled="1"/>
          </a:gradFill>
          <a:ln w="19050" cap="flat" cmpd="sng" algn="ctr">
            <a:solidFill>
              <a:sysClr val="window" lastClr="FFFFFF"/>
            </a:solidFill>
            <a:prstDash val="solid"/>
            <a:miter lim="800000"/>
          </a:ln>
          <a:effectLst>
            <a:outerShdw blurRad="165100" dist="38100" dir="2700000" algn="tl" rotWithShape="0">
              <a:sysClr val="window" lastClr="FFFFFF">
                <a:lumMod val="85000"/>
                <a:alpha val="35000"/>
              </a:sys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grpSp>
        <p:nvGrpSpPr>
          <p:cNvPr id="48" name="组合 47">
            <a:extLst>
              <a:ext uri="{FF2B5EF4-FFF2-40B4-BE49-F238E27FC236}">
                <a16:creationId xmlns:a16="http://schemas.microsoft.com/office/drawing/2014/main" id="{2075B5A1-8EA3-C140-6558-7D305793ECD4}"/>
              </a:ext>
            </a:extLst>
          </p:cNvPr>
          <p:cNvGrpSpPr/>
          <p:nvPr/>
        </p:nvGrpSpPr>
        <p:grpSpPr>
          <a:xfrm>
            <a:off x="4866627" y="1421463"/>
            <a:ext cx="5384517" cy="747324"/>
            <a:chOff x="4874973" y="1293731"/>
            <a:chExt cx="5384517" cy="747324"/>
          </a:xfrm>
        </p:grpSpPr>
        <p:sp>
          <p:nvSpPr>
            <p:cNvPr id="49" name="PA-圆角矩形 5824">
              <a:extLst>
                <a:ext uri="{FF2B5EF4-FFF2-40B4-BE49-F238E27FC236}">
                  <a16:creationId xmlns:a16="http://schemas.microsoft.com/office/drawing/2014/main" id="{97A53DB7-BAA8-AAC0-903F-78EFA2529DE9}"/>
                </a:ext>
              </a:extLst>
            </p:cNvPr>
            <p:cNvSpPr/>
            <p:nvPr>
              <p:custDataLst>
                <p:tags r:id="rId5"/>
              </p:custDataLst>
            </p:nvPr>
          </p:nvSpPr>
          <p:spPr>
            <a:xfrm>
              <a:off x="4874973" y="1350313"/>
              <a:ext cx="5384517" cy="690742"/>
            </a:xfrm>
            <a:prstGeom prst="roundRect">
              <a:avLst>
                <a:gd name="adj" fmla="val 4123"/>
              </a:avLst>
            </a:prstGeom>
            <a:solidFill>
              <a:schemeClr val="accent1"/>
            </a:solidFill>
            <a:ln w="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35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nvGrpSpPr>
            <p:cNvPr id="50" name="组合 49">
              <a:extLst>
                <a:ext uri="{FF2B5EF4-FFF2-40B4-BE49-F238E27FC236}">
                  <a16:creationId xmlns:a16="http://schemas.microsoft.com/office/drawing/2014/main" id="{67CC0FB4-A977-6105-2E34-7E7F25DC6E0C}"/>
                </a:ext>
              </a:extLst>
            </p:cNvPr>
            <p:cNvGrpSpPr/>
            <p:nvPr/>
          </p:nvGrpSpPr>
          <p:grpSpPr>
            <a:xfrm>
              <a:off x="5124372" y="1293731"/>
              <a:ext cx="4885719" cy="746522"/>
              <a:chOff x="5220820" y="1308122"/>
              <a:chExt cx="4633253" cy="746522"/>
            </a:xfrm>
          </p:grpSpPr>
          <p:cxnSp>
            <p:nvCxnSpPr>
              <p:cNvPr id="51" name="直接连接符 50">
                <a:extLst>
                  <a:ext uri="{FF2B5EF4-FFF2-40B4-BE49-F238E27FC236}">
                    <a16:creationId xmlns:a16="http://schemas.microsoft.com/office/drawing/2014/main" id="{A284F074-C6D5-7033-8336-D70A9D53D6EF}"/>
                  </a:ext>
                </a:extLst>
              </p:cNvPr>
              <p:cNvCxnSpPr>
                <a:cxnSpLocks/>
              </p:cNvCxnSpPr>
              <p:nvPr/>
            </p:nvCxnSpPr>
            <p:spPr>
              <a:xfrm>
                <a:off x="6138577" y="1462265"/>
                <a:ext cx="0" cy="482352"/>
              </a:xfrm>
              <a:prstGeom prst="line">
                <a:avLst/>
              </a:prstGeom>
              <a:noFill/>
              <a:ln w="9525" cap="flat" cmpd="sng" algn="ctr">
                <a:solidFill>
                  <a:sysClr val="window" lastClr="FFFFFF">
                    <a:lumMod val="85000"/>
                  </a:sysClr>
                </a:solidFill>
                <a:prstDash val="solid"/>
                <a:miter lim="800000"/>
              </a:ln>
              <a:effectLst/>
            </p:spPr>
          </p:cxnSp>
          <p:sp>
            <p:nvSpPr>
              <p:cNvPr id="52" name="矩形 51">
                <a:extLst>
                  <a:ext uri="{FF2B5EF4-FFF2-40B4-BE49-F238E27FC236}">
                    <a16:creationId xmlns:a16="http://schemas.microsoft.com/office/drawing/2014/main" id="{55DA4B51-29E0-1486-4901-A69DAAC1270A}"/>
                  </a:ext>
                </a:extLst>
              </p:cNvPr>
              <p:cNvSpPr/>
              <p:nvPr/>
            </p:nvSpPr>
            <p:spPr>
              <a:xfrm>
                <a:off x="6267875" y="1428373"/>
                <a:ext cx="3586198" cy="550136"/>
              </a:xfrm>
              <a:prstGeom prst="rect">
                <a:avLst/>
              </a:prstGeom>
            </p:spPr>
            <p:txBody>
              <a:bodyPr wrap="square" lIns="68499" tIns="34251" rIns="68499" bIns="34251" anchor="ctr">
                <a:spAutoFit/>
              </a:bodyPr>
              <a:lstStyle/>
              <a:p>
                <a:pPr marL="0" marR="0" lvl="0" indent="0" defTabSz="514350" eaLnBrk="1" fontAlgn="auto" latinLnBrk="0" hangingPunct="1">
                  <a:lnSpc>
                    <a:spcPct val="120000"/>
                  </a:lnSpc>
                  <a:spcBef>
                    <a:spcPts val="0"/>
                  </a:spcBef>
                  <a:spcAft>
                    <a:spcPts val="0"/>
                  </a:spcAft>
                  <a:buClr>
                    <a:srgbClr val="6EC8AA"/>
                  </a:buClr>
                  <a:buSzTx/>
                  <a:buFontTx/>
                  <a:buNone/>
                  <a:tabLst/>
                  <a:defRPr/>
                </a:pPr>
                <a:r>
                  <a:rPr kumimoji="0" lang="zh-CN" altLang="en-US" sz="2800" b="1" i="0" u="none" strike="noStrike" kern="0" cap="none" spc="0" normalizeH="0" baseline="0" noProof="0" dirty="0">
                    <a:ln>
                      <a:noFill/>
                    </a:ln>
                    <a:solidFill>
                      <a:prstClr val="white"/>
                    </a:solidFill>
                    <a:effectLst>
                      <a:outerShdw blurRad="50800" dist="38100" dir="5400000" algn="t" rotWithShape="0">
                        <a:srgbClr val="0B4FA1">
                          <a:lumMod val="75000"/>
                          <a:alpha val="40000"/>
                        </a:srgbClr>
                      </a:outerShdw>
                    </a:effectLst>
                    <a:uLnTx/>
                    <a:uFillTx/>
                    <a:latin typeface="微软雅黑" panose="020B0503020204020204" pitchFamily="34" charset="-122"/>
                    <a:ea typeface="微软雅黑" panose="020B0503020204020204" pitchFamily="34" charset="-122"/>
                    <a:cs typeface="+mn-ea"/>
                  </a:rPr>
                  <a:t>项目背景与研究现状</a:t>
                </a:r>
              </a:p>
            </p:txBody>
          </p:sp>
          <p:sp>
            <p:nvSpPr>
              <p:cNvPr id="53" name="标题占位符 27">
                <a:extLst>
                  <a:ext uri="{FF2B5EF4-FFF2-40B4-BE49-F238E27FC236}">
                    <a16:creationId xmlns:a16="http://schemas.microsoft.com/office/drawing/2014/main" id="{B42CD262-5953-A448-F38F-35E2E40A78ED}"/>
                  </a:ext>
                </a:extLst>
              </p:cNvPr>
              <p:cNvSpPr txBox="1">
                <a:spLocks/>
              </p:cNvSpPr>
              <p:nvPr/>
            </p:nvSpPr>
            <p:spPr>
              <a:xfrm>
                <a:off x="5220820" y="1308122"/>
                <a:ext cx="872036" cy="746522"/>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2200" kern="1200">
                    <a:solidFill>
                      <a:srgbClr val="D7000F"/>
                    </a:solidFill>
                    <a:latin typeface="+mj-ea"/>
                    <a:ea typeface="+mj-ea"/>
                    <a:cs typeface="+mj-cs"/>
                  </a:defRPr>
                </a:lvl1pPr>
              </a:lstStyle>
              <a:p>
                <a:pPr marL="0" marR="0" lvl="0" indent="0" algn="ctr" defTabSz="685800" rtl="0" eaLnBrk="1" fontAlgn="auto" latinLnBrk="0" hangingPunct="1">
                  <a:lnSpc>
                    <a:spcPct val="120000"/>
                  </a:lnSpc>
                  <a:spcBef>
                    <a:spcPct val="0"/>
                  </a:spcBef>
                  <a:spcAft>
                    <a:spcPts val="0"/>
                  </a:spcAft>
                  <a:buClrTx/>
                  <a:buSzTx/>
                  <a:buFontTx/>
                  <a:buNone/>
                  <a:tabLst/>
                  <a:defRPr/>
                </a:pPr>
                <a:r>
                  <a:rPr kumimoji="0" lang="en-US" altLang="zh-CN" sz="4000" b="1" i="0" u="none" strike="noStrike" kern="1200" cap="none" spc="0" normalizeH="0" baseline="0" noProof="0" dirty="0">
                    <a:ln>
                      <a:noFill/>
                    </a:ln>
                    <a:solidFill>
                      <a:prstClr val="white"/>
                    </a:solidFill>
                    <a:effectLst>
                      <a:outerShdw blurRad="50800" dist="38100" dir="5400000" algn="t" rotWithShape="0">
                        <a:srgbClr val="0B4FA1">
                          <a:lumMod val="75000"/>
                          <a:alpha val="40000"/>
                        </a:srgbClr>
                      </a:outerShdw>
                    </a:effectLst>
                    <a:uLnTx/>
                    <a:uFillTx/>
                    <a:latin typeface="Arial" panose="020B0604020202020204" pitchFamily="34" charset="0"/>
                    <a:ea typeface="微软雅黑" panose="020B0503020204020204" pitchFamily="34" charset="-122"/>
                    <a:cs typeface="+mj-cs"/>
                  </a:rPr>
                  <a:t>01</a:t>
                </a:r>
                <a:endParaRPr kumimoji="0" lang="en-US" altLang="zh-CN" sz="4400" b="1" i="0" u="none" strike="noStrike" kern="1200" cap="none" spc="0" normalizeH="0" baseline="0" noProof="0" dirty="0">
                  <a:ln>
                    <a:noFill/>
                  </a:ln>
                  <a:solidFill>
                    <a:prstClr val="white"/>
                  </a:solidFill>
                  <a:effectLst>
                    <a:outerShdw blurRad="50800" dist="38100" dir="5400000" algn="t" rotWithShape="0">
                      <a:srgbClr val="0B4FA1">
                        <a:lumMod val="75000"/>
                        <a:alpha val="40000"/>
                      </a:srgbClr>
                    </a:outerShdw>
                  </a:effectLst>
                  <a:uLnTx/>
                  <a:uFillTx/>
                  <a:latin typeface="Arial" panose="020B0604020202020204" pitchFamily="34" charset="0"/>
                  <a:ea typeface="微软雅黑" panose="020B0503020204020204" pitchFamily="34" charset="-122"/>
                  <a:cs typeface="+mj-cs"/>
                </a:endParaRPr>
              </a:p>
            </p:txBody>
          </p:sp>
        </p:grpSp>
      </p:grpSp>
      <p:grpSp>
        <p:nvGrpSpPr>
          <p:cNvPr id="54" name="组合 53">
            <a:extLst>
              <a:ext uri="{FF2B5EF4-FFF2-40B4-BE49-F238E27FC236}">
                <a16:creationId xmlns:a16="http://schemas.microsoft.com/office/drawing/2014/main" id="{8BACE6A6-5BB8-1F47-A1C7-FF1BFF42128F}"/>
              </a:ext>
            </a:extLst>
          </p:cNvPr>
          <p:cNvGrpSpPr/>
          <p:nvPr/>
        </p:nvGrpSpPr>
        <p:grpSpPr>
          <a:xfrm>
            <a:off x="4866627" y="2348432"/>
            <a:ext cx="5384517" cy="747324"/>
            <a:chOff x="4874973" y="1293731"/>
            <a:chExt cx="5384517" cy="747324"/>
          </a:xfrm>
        </p:grpSpPr>
        <p:sp>
          <p:nvSpPr>
            <p:cNvPr id="55" name="PA-圆角矩形 5824">
              <a:extLst>
                <a:ext uri="{FF2B5EF4-FFF2-40B4-BE49-F238E27FC236}">
                  <a16:creationId xmlns:a16="http://schemas.microsoft.com/office/drawing/2014/main" id="{FEBFA8E8-8406-F7EC-EDA0-B2CB91888460}"/>
                </a:ext>
              </a:extLst>
            </p:cNvPr>
            <p:cNvSpPr/>
            <p:nvPr>
              <p:custDataLst>
                <p:tags r:id="rId4"/>
              </p:custDataLst>
            </p:nvPr>
          </p:nvSpPr>
          <p:spPr>
            <a:xfrm>
              <a:off x="4874973" y="1350313"/>
              <a:ext cx="5384517" cy="690742"/>
            </a:xfrm>
            <a:prstGeom prst="roundRect">
              <a:avLst>
                <a:gd name="adj" fmla="val 4123"/>
              </a:avLst>
            </a:prstGeom>
            <a:solidFill>
              <a:schemeClr val="bg1"/>
            </a:solidFill>
            <a:ln w="0" cap="flat" cmpd="sng" algn="ctr">
              <a:solidFill>
                <a:schemeClr val="bg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35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nvGrpSpPr>
            <p:cNvPr id="56" name="组合 55">
              <a:extLst>
                <a:ext uri="{FF2B5EF4-FFF2-40B4-BE49-F238E27FC236}">
                  <a16:creationId xmlns:a16="http://schemas.microsoft.com/office/drawing/2014/main" id="{C2E521D8-A37A-97AD-A065-9D5BA2FADAD9}"/>
                </a:ext>
              </a:extLst>
            </p:cNvPr>
            <p:cNvGrpSpPr/>
            <p:nvPr/>
          </p:nvGrpSpPr>
          <p:grpSpPr>
            <a:xfrm>
              <a:off x="5124372" y="1293731"/>
              <a:ext cx="4885719" cy="746522"/>
              <a:chOff x="5220820" y="1308122"/>
              <a:chExt cx="4633253" cy="746522"/>
            </a:xfrm>
          </p:grpSpPr>
          <p:cxnSp>
            <p:nvCxnSpPr>
              <p:cNvPr id="57" name="直接连接符 56">
                <a:extLst>
                  <a:ext uri="{FF2B5EF4-FFF2-40B4-BE49-F238E27FC236}">
                    <a16:creationId xmlns:a16="http://schemas.microsoft.com/office/drawing/2014/main" id="{494B665A-0B14-6079-0EA2-EA96330CCB61}"/>
                  </a:ext>
                </a:extLst>
              </p:cNvPr>
              <p:cNvCxnSpPr>
                <a:cxnSpLocks/>
              </p:cNvCxnSpPr>
              <p:nvPr/>
            </p:nvCxnSpPr>
            <p:spPr>
              <a:xfrm>
                <a:off x="6138577" y="1462265"/>
                <a:ext cx="0" cy="482352"/>
              </a:xfrm>
              <a:prstGeom prst="line">
                <a:avLst/>
              </a:prstGeom>
              <a:noFill/>
              <a:ln w="9525" cap="flat" cmpd="sng" algn="ctr">
                <a:solidFill>
                  <a:sysClr val="window" lastClr="FFFFFF">
                    <a:lumMod val="85000"/>
                  </a:sysClr>
                </a:solidFill>
                <a:prstDash val="solid"/>
                <a:miter lim="800000"/>
              </a:ln>
              <a:effectLst/>
            </p:spPr>
          </p:cxnSp>
          <p:sp>
            <p:nvSpPr>
              <p:cNvPr id="58" name="矩形 57">
                <a:extLst>
                  <a:ext uri="{FF2B5EF4-FFF2-40B4-BE49-F238E27FC236}">
                    <a16:creationId xmlns:a16="http://schemas.microsoft.com/office/drawing/2014/main" id="{B528DCA6-688F-2EC2-45C4-3B0680A1F19F}"/>
                  </a:ext>
                </a:extLst>
              </p:cNvPr>
              <p:cNvSpPr/>
              <p:nvPr/>
            </p:nvSpPr>
            <p:spPr>
              <a:xfrm>
                <a:off x="6267875" y="1428373"/>
                <a:ext cx="3586198" cy="550136"/>
              </a:xfrm>
              <a:prstGeom prst="rect">
                <a:avLst/>
              </a:prstGeom>
            </p:spPr>
            <p:txBody>
              <a:bodyPr wrap="square" lIns="68499" tIns="34251" rIns="68499" bIns="34251" anchor="ctr">
                <a:spAutoFit/>
              </a:bodyPr>
              <a:lstStyle/>
              <a:p>
                <a:pPr marL="0" marR="0" lvl="0" indent="0" defTabSz="514350" eaLnBrk="1" fontAlgn="auto" latinLnBrk="0" hangingPunct="1">
                  <a:lnSpc>
                    <a:spcPct val="120000"/>
                  </a:lnSpc>
                  <a:spcBef>
                    <a:spcPts val="0"/>
                  </a:spcBef>
                  <a:spcAft>
                    <a:spcPts val="0"/>
                  </a:spcAft>
                  <a:buClr>
                    <a:srgbClr val="6EC8AA"/>
                  </a:buClr>
                  <a:buSzTx/>
                  <a:buFontTx/>
                  <a:buNone/>
                  <a:tabLst/>
                  <a:defRPr/>
                </a:pPr>
                <a:r>
                  <a:rPr kumimoji="0" lang="zh-CN" altLang="en-US" sz="2800" b="1" i="0" u="none" strike="noStrike" kern="0" cap="none" spc="0" normalizeH="0" baseline="0" noProof="0" dirty="0">
                    <a:ln>
                      <a:noFill/>
                    </a:ln>
                    <a:solidFill>
                      <a:prstClr val="white">
                        <a:lumMod val="85000"/>
                      </a:prstClr>
                    </a:solidFill>
                    <a:effectLst/>
                    <a:uLnTx/>
                    <a:uFillTx/>
                    <a:latin typeface="微软雅黑" panose="020B0503020204020204" pitchFamily="34" charset="-122"/>
                    <a:ea typeface="微软雅黑" panose="020B0503020204020204" pitchFamily="34" charset="-122"/>
                    <a:cs typeface="+mn-ea"/>
                  </a:rPr>
                  <a:t>课题分解与研究内容</a:t>
                </a:r>
              </a:p>
            </p:txBody>
          </p:sp>
          <p:sp>
            <p:nvSpPr>
              <p:cNvPr id="59" name="标题占位符 27">
                <a:extLst>
                  <a:ext uri="{FF2B5EF4-FFF2-40B4-BE49-F238E27FC236}">
                    <a16:creationId xmlns:a16="http://schemas.microsoft.com/office/drawing/2014/main" id="{BB8E6F84-8606-0F4E-54D6-4698755378AA}"/>
                  </a:ext>
                </a:extLst>
              </p:cNvPr>
              <p:cNvSpPr txBox="1">
                <a:spLocks/>
              </p:cNvSpPr>
              <p:nvPr/>
            </p:nvSpPr>
            <p:spPr>
              <a:xfrm>
                <a:off x="5220820" y="1308122"/>
                <a:ext cx="872036" cy="746522"/>
              </a:xfrm>
              <a:prstGeom prst="rect">
                <a:avLst/>
              </a:prstGeom>
            </p:spPr>
            <p:txBody>
              <a:bodyPr vert="horz" lIns="68580" tIns="34290" rIns="68580" bIns="34290" rtlCol="0" anchor="ctr">
                <a:normAutofit/>
              </a:bodyPr>
              <a:lstStyle>
                <a:defPPr>
                  <a:defRPr lang="zh-CN"/>
                </a:defPPr>
                <a:lvl1pPr algn="ctr" defTabSz="685800">
                  <a:lnSpc>
                    <a:spcPct val="120000"/>
                  </a:lnSpc>
                  <a:spcBef>
                    <a:spcPct val="0"/>
                  </a:spcBef>
                  <a:buNone/>
                  <a:defRPr sz="4000">
                    <a:solidFill>
                      <a:schemeClr val="accent6"/>
                    </a:solidFill>
                    <a:latin typeface="+mj-lt"/>
                    <a:ea typeface="思源宋体 CN Heavy" panose="02020900000000000000" pitchFamily="18" charset="-122"/>
                    <a:cs typeface="+mj-cs"/>
                  </a:defRPr>
                </a:lvl1pPr>
              </a:lstStyle>
              <a:p>
                <a:pPr marL="0" marR="0" lvl="0" indent="0" algn="ctr" defTabSz="685800" eaLnBrk="1" fontAlgn="auto" latinLnBrk="0" hangingPunct="1">
                  <a:lnSpc>
                    <a:spcPct val="120000"/>
                  </a:lnSpc>
                  <a:spcBef>
                    <a:spcPct val="0"/>
                  </a:spcBef>
                  <a:spcAft>
                    <a:spcPts val="0"/>
                  </a:spcAft>
                  <a:buClrTx/>
                  <a:buSzTx/>
                  <a:buFontTx/>
                  <a:buNone/>
                  <a:tabLst/>
                  <a:defRPr/>
                </a:pPr>
                <a:r>
                  <a:rPr kumimoji="0" lang="en-US" altLang="zh-CN" sz="4000" b="1" i="0" u="none" strike="noStrike" kern="0" cap="none" spc="0" normalizeH="0" baseline="0" noProof="0" dirty="0">
                    <a:ln>
                      <a:noFill/>
                    </a:ln>
                    <a:solidFill>
                      <a:prstClr val="white">
                        <a:lumMod val="85000"/>
                      </a:prstClr>
                    </a:solidFill>
                    <a:effectLst/>
                    <a:uLnTx/>
                    <a:uFillTx/>
                    <a:latin typeface="Arial" panose="020B0604020202020204" pitchFamily="34" charset="0"/>
                    <a:ea typeface="微软雅黑" panose="020B0503020204020204" pitchFamily="34" charset="-122"/>
                    <a:cs typeface="+mj-cs"/>
                  </a:rPr>
                  <a:t>02</a:t>
                </a:r>
              </a:p>
            </p:txBody>
          </p:sp>
        </p:grpSp>
      </p:grpSp>
      <p:grpSp>
        <p:nvGrpSpPr>
          <p:cNvPr id="60" name="组合 59">
            <a:extLst>
              <a:ext uri="{FF2B5EF4-FFF2-40B4-BE49-F238E27FC236}">
                <a16:creationId xmlns:a16="http://schemas.microsoft.com/office/drawing/2014/main" id="{D8702272-84E0-6B6F-E959-B91E5B3FE887}"/>
              </a:ext>
            </a:extLst>
          </p:cNvPr>
          <p:cNvGrpSpPr/>
          <p:nvPr/>
        </p:nvGrpSpPr>
        <p:grpSpPr>
          <a:xfrm>
            <a:off x="4866627" y="3275401"/>
            <a:ext cx="5384517" cy="747324"/>
            <a:chOff x="4874973" y="1293731"/>
            <a:chExt cx="5384517" cy="747324"/>
          </a:xfrm>
        </p:grpSpPr>
        <p:sp>
          <p:nvSpPr>
            <p:cNvPr id="61" name="PA-圆角矩形 5824">
              <a:extLst>
                <a:ext uri="{FF2B5EF4-FFF2-40B4-BE49-F238E27FC236}">
                  <a16:creationId xmlns:a16="http://schemas.microsoft.com/office/drawing/2014/main" id="{14FA4A3C-392E-F489-D2CA-49C218B8F847}"/>
                </a:ext>
              </a:extLst>
            </p:cNvPr>
            <p:cNvSpPr/>
            <p:nvPr>
              <p:custDataLst>
                <p:tags r:id="rId3"/>
              </p:custDataLst>
            </p:nvPr>
          </p:nvSpPr>
          <p:spPr>
            <a:xfrm>
              <a:off x="4874973" y="1350313"/>
              <a:ext cx="5384517" cy="690742"/>
            </a:xfrm>
            <a:prstGeom prst="roundRect">
              <a:avLst>
                <a:gd name="adj" fmla="val 4123"/>
              </a:avLst>
            </a:prstGeom>
            <a:solidFill>
              <a:schemeClr val="bg1"/>
            </a:solidFill>
            <a:ln w="0" cap="flat" cmpd="sng" algn="ctr">
              <a:solidFill>
                <a:schemeClr val="bg2"/>
              </a:solidFill>
              <a:prstDash val="solid"/>
              <a:miter lim="800000"/>
            </a:ln>
            <a:effectLst/>
          </p:spPr>
          <p:txBody>
            <a:bodyPr rtlCol="0" anchor="ctr"/>
            <a:lstStyle/>
            <a:p>
              <a:pPr algn="ctr"/>
              <a:endParaRPr lang="zh-CN" altLang="en-US" sz="1350" b="1" kern="0" dirty="0">
                <a:solidFill>
                  <a:prstClr val="white"/>
                </a:solidFill>
                <a:latin typeface="微软雅黑" panose="020B0503020204020204" pitchFamily="34" charset="-122"/>
                <a:ea typeface="微软雅黑" panose="020B0503020204020204" pitchFamily="34" charset="-122"/>
              </a:endParaRPr>
            </a:p>
          </p:txBody>
        </p:sp>
        <p:grpSp>
          <p:nvGrpSpPr>
            <p:cNvPr id="62" name="组合 61">
              <a:extLst>
                <a:ext uri="{FF2B5EF4-FFF2-40B4-BE49-F238E27FC236}">
                  <a16:creationId xmlns:a16="http://schemas.microsoft.com/office/drawing/2014/main" id="{0733EA0C-62D1-99E8-6C6C-8AD6C17214B4}"/>
                </a:ext>
              </a:extLst>
            </p:cNvPr>
            <p:cNvGrpSpPr/>
            <p:nvPr/>
          </p:nvGrpSpPr>
          <p:grpSpPr>
            <a:xfrm>
              <a:off x="5124372" y="1293731"/>
              <a:ext cx="4885719" cy="746522"/>
              <a:chOff x="5220820" y="1308122"/>
              <a:chExt cx="4633253" cy="746522"/>
            </a:xfrm>
          </p:grpSpPr>
          <p:cxnSp>
            <p:nvCxnSpPr>
              <p:cNvPr id="63" name="直接连接符 62">
                <a:extLst>
                  <a:ext uri="{FF2B5EF4-FFF2-40B4-BE49-F238E27FC236}">
                    <a16:creationId xmlns:a16="http://schemas.microsoft.com/office/drawing/2014/main" id="{17C31866-82D3-EAEE-A81D-FB6B2A07D4A4}"/>
                  </a:ext>
                </a:extLst>
              </p:cNvPr>
              <p:cNvCxnSpPr>
                <a:cxnSpLocks/>
              </p:cNvCxnSpPr>
              <p:nvPr/>
            </p:nvCxnSpPr>
            <p:spPr>
              <a:xfrm>
                <a:off x="6138577" y="1462265"/>
                <a:ext cx="0" cy="482352"/>
              </a:xfrm>
              <a:prstGeom prst="line">
                <a:avLst/>
              </a:prstGeom>
              <a:noFill/>
              <a:ln w="9525" cap="flat" cmpd="sng" algn="ctr">
                <a:solidFill>
                  <a:sysClr val="window" lastClr="FFFFFF">
                    <a:lumMod val="85000"/>
                  </a:sysClr>
                </a:solidFill>
                <a:prstDash val="solid"/>
                <a:miter lim="800000"/>
              </a:ln>
              <a:effectLst/>
            </p:spPr>
          </p:cxnSp>
          <p:sp>
            <p:nvSpPr>
              <p:cNvPr id="64" name="矩形 63">
                <a:extLst>
                  <a:ext uri="{FF2B5EF4-FFF2-40B4-BE49-F238E27FC236}">
                    <a16:creationId xmlns:a16="http://schemas.microsoft.com/office/drawing/2014/main" id="{2B79F03A-2F00-0381-CAA5-E3421FB7EF9E}"/>
                  </a:ext>
                </a:extLst>
              </p:cNvPr>
              <p:cNvSpPr/>
              <p:nvPr/>
            </p:nvSpPr>
            <p:spPr>
              <a:xfrm>
                <a:off x="6267875" y="1453412"/>
                <a:ext cx="3586198" cy="500058"/>
              </a:xfrm>
              <a:prstGeom prst="rect">
                <a:avLst/>
              </a:prstGeom>
            </p:spPr>
            <p:txBody>
              <a:bodyPr wrap="square" lIns="68499" tIns="34251" rIns="68499" bIns="34251"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a:ln>
                      <a:noFill/>
                    </a:ln>
                    <a:solidFill>
                      <a:prstClr val="white">
                        <a:lumMod val="85000"/>
                      </a:prstClr>
                    </a:solidFill>
                    <a:effectLst/>
                    <a:uLnTx/>
                    <a:uFillTx/>
                    <a:latin typeface="微软雅黑" panose="020B0503020204020204" pitchFamily="34" charset="-122"/>
                    <a:ea typeface="微软雅黑" panose="020B0503020204020204" pitchFamily="34" charset="-122"/>
                    <a:cs typeface="+mn-ea"/>
                  </a:rPr>
                  <a:t>任务分解与进度安排</a:t>
                </a:r>
              </a:p>
            </p:txBody>
          </p:sp>
          <p:sp>
            <p:nvSpPr>
              <p:cNvPr id="65" name="标题占位符 27">
                <a:extLst>
                  <a:ext uri="{FF2B5EF4-FFF2-40B4-BE49-F238E27FC236}">
                    <a16:creationId xmlns:a16="http://schemas.microsoft.com/office/drawing/2014/main" id="{4692B76A-417A-5F95-019F-4B8ECB694772}"/>
                  </a:ext>
                </a:extLst>
              </p:cNvPr>
              <p:cNvSpPr txBox="1">
                <a:spLocks/>
              </p:cNvSpPr>
              <p:nvPr/>
            </p:nvSpPr>
            <p:spPr>
              <a:xfrm>
                <a:off x="5220820" y="1308122"/>
                <a:ext cx="872036" cy="746522"/>
              </a:xfrm>
              <a:prstGeom prst="rect">
                <a:avLst/>
              </a:prstGeom>
            </p:spPr>
            <p:txBody>
              <a:bodyPr vert="horz" lIns="68580" tIns="34290" rIns="68580" bIns="34290" rtlCol="0" anchor="ctr">
                <a:normAutofit/>
              </a:bodyPr>
              <a:lstStyle>
                <a:defPPr>
                  <a:defRPr lang="zh-CN"/>
                </a:defPPr>
                <a:lvl1pPr algn="ctr" defTabSz="685800">
                  <a:lnSpc>
                    <a:spcPct val="120000"/>
                  </a:lnSpc>
                  <a:spcBef>
                    <a:spcPct val="0"/>
                  </a:spcBef>
                  <a:buNone/>
                  <a:defRPr sz="4000">
                    <a:solidFill>
                      <a:schemeClr val="accent6"/>
                    </a:solidFill>
                    <a:latin typeface="+mj-lt"/>
                    <a:ea typeface="思源宋体 CN Heavy" panose="02020900000000000000" pitchFamily="18" charset="-122"/>
                    <a:cs typeface="+mj-cs"/>
                  </a:defRPr>
                </a:lvl1pPr>
              </a:lstStyle>
              <a:p>
                <a:pPr marL="0" marR="0" lvl="0" indent="0" algn="ctr" defTabSz="685800" eaLnBrk="1" fontAlgn="auto" latinLnBrk="0" hangingPunct="1">
                  <a:lnSpc>
                    <a:spcPct val="120000"/>
                  </a:lnSpc>
                  <a:spcBef>
                    <a:spcPct val="0"/>
                  </a:spcBef>
                  <a:spcAft>
                    <a:spcPts val="0"/>
                  </a:spcAft>
                  <a:buClrTx/>
                  <a:buSzTx/>
                  <a:buFontTx/>
                  <a:buNone/>
                  <a:tabLst/>
                  <a:defRPr/>
                </a:pPr>
                <a:r>
                  <a:rPr kumimoji="0" lang="en-US" altLang="zh-CN" sz="4000" b="1" i="0" u="none" strike="noStrike" kern="0" cap="none" spc="0" normalizeH="0" baseline="0" noProof="0" dirty="0">
                    <a:ln>
                      <a:noFill/>
                    </a:ln>
                    <a:solidFill>
                      <a:prstClr val="white">
                        <a:lumMod val="85000"/>
                      </a:prstClr>
                    </a:solidFill>
                    <a:effectLst/>
                    <a:uLnTx/>
                    <a:uFillTx/>
                    <a:latin typeface="Arial" panose="020B0604020202020204" pitchFamily="34" charset="0"/>
                    <a:ea typeface="微软雅黑" panose="020B0503020204020204" pitchFamily="34" charset="-122"/>
                    <a:cs typeface="+mj-cs"/>
                  </a:rPr>
                  <a:t>03</a:t>
                </a:r>
              </a:p>
            </p:txBody>
          </p:sp>
        </p:grpSp>
      </p:grpSp>
      <p:grpSp>
        <p:nvGrpSpPr>
          <p:cNvPr id="66" name="组合 65">
            <a:extLst>
              <a:ext uri="{FF2B5EF4-FFF2-40B4-BE49-F238E27FC236}">
                <a16:creationId xmlns:a16="http://schemas.microsoft.com/office/drawing/2014/main" id="{A85FC275-0468-7B2C-4F40-8D545F69CE5D}"/>
              </a:ext>
            </a:extLst>
          </p:cNvPr>
          <p:cNvGrpSpPr/>
          <p:nvPr/>
        </p:nvGrpSpPr>
        <p:grpSpPr>
          <a:xfrm>
            <a:off x="4866627" y="4202370"/>
            <a:ext cx="5384517" cy="747324"/>
            <a:chOff x="4874973" y="1293731"/>
            <a:chExt cx="5384517" cy="747324"/>
          </a:xfrm>
        </p:grpSpPr>
        <p:sp>
          <p:nvSpPr>
            <p:cNvPr id="67" name="PA-圆角矩形 5824">
              <a:extLst>
                <a:ext uri="{FF2B5EF4-FFF2-40B4-BE49-F238E27FC236}">
                  <a16:creationId xmlns:a16="http://schemas.microsoft.com/office/drawing/2014/main" id="{13BAD14B-9D8E-AD64-67DA-223C45B514CA}"/>
                </a:ext>
              </a:extLst>
            </p:cNvPr>
            <p:cNvSpPr/>
            <p:nvPr>
              <p:custDataLst>
                <p:tags r:id="rId2"/>
              </p:custDataLst>
            </p:nvPr>
          </p:nvSpPr>
          <p:spPr>
            <a:xfrm>
              <a:off x="4874973" y="1350313"/>
              <a:ext cx="5384517" cy="690742"/>
            </a:xfrm>
            <a:prstGeom prst="roundRect">
              <a:avLst>
                <a:gd name="adj" fmla="val 4123"/>
              </a:avLst>
            </a:prstGeom>
            <a:solidFill>
              <a:schemeClr val="bg1"/>
            </a:solidFill>
            <a:ln w="0" cap="flat" cmpd="sng" algn="ctr">
              <a:solidFill>
                <a:schemeClr val="bg2"/>
              </a:solidFill>
              <a:prstDash val="solid"/>
              <a:miter lim="800000"/>
            </a:ln>
            <a:effectLst/>
          </p:spPr>
          <p:txBody>
            <a:bodyPr rtlCol="0" anchor="ctr"/>
            <a:lstStyle/>
            <a:p>
              <a:pPr algn="ctr"/>
              <a:endParaRPr lang="zh-CN" altLang="en-US" sz="1350" b="1" kern="0" dirty="0">
                <a:solidFill>
                  <a:prstClr val="white"/>
                </a:solidFill>
                <a:latin typeface="微软雅黑" panose="020B0503020204020204" pitchFamily="34" charset="-122"/>
                <a:ea typeface="微软雅黑" panose="020B0503020204020204" pitchFamily="34" charset="-122"/>
              </a:endParaRPr>
            </a:p>
          </p:txBody>
        </p:sp>
        <p:grpSp>
          <p:nvGrpSpPr>
            <p:cNvPr id="68" name="组合 67">
              <a:extLst>
                <a:ext uri="{FF2B5EF4-FFF2-40B4-BE49-F238E27FC236}">
                  <a16:creationId xmlns:a16="http://schemas.microsoft.com/office/drawing/2014/main" id="{951756C6-F51E-9B9D-2177-0ADD004EC199}"/>
                </a:ext>
              </a:extLst>
            </p:cNvPr>
            <p:cNvGrpSpPr/>
            <p:nvPr/>
          </p:nvGrpSpPr>
          <p:grpSpPr>
            <a:xfrm>
              <a:off x="5124372" y="1293731"/>
              <a:ext cx="4885719" cy="746522"/>
              <a:chOff x="5220820" y="1308122"/>
              <a:chExt cx="4633253" cy="746522"/>
            </a:xfrm>
          </p:grpSpPr>
          <p:cxnSp>
            <p:nvCxnSpPr>
              <p:cNvPr id="69" name="直接连接符 68">
                <a:extLst>
                  <a:ext uri="{FF2B5EF4-FFF2-40B4-BE49-F238E27FC236}">
                    <a16:creationId xmlns:a16="http://schemas.microsoft.com/office/drawing/2014/main" id="{C6812289-70B4-7198-196C-DDBAFC27EAE2}"/>
                  </a:ext>
                </a:extLst>
              </p:cNvPr>
              <p:cNvCxnSpPr>
                <a:cxnSpLocks/>
              </p:cNvCxnSpPr>
              <p:nvPr/>
            </p:nvCxnSpPr>
            <p:spPr>
              <a:xfrm>
                <a:off x="6138577" y="1462265"/>
                <a:ext cx="0" cy="482352"/>
              </a:xfrm>
              <a:prstGeom prst="line">
                <a:avLst/>
              </a:prstGeom>
              <a:noFill/>
              <a:ln w="9525" cap="flat" cmpd="sng" algn="ctr">
                <a:solidFill>
                  <a:sysClr val="window" lastClr="FFFFFF">
                    <a:lumMod val="85000"/>
                  </a:sysClr>
                </a:solidFill>
                <a:prstDash val="solid"/>
                <a:miter lim="800000"/>
              </a:ln>
              <a:effectLst/>
            </p:spPr>
          </p:cxnSp>
          <p:sp>
            <p:nvSpPr>
              <p:cNvPr id="70" name="矩形 69">
                <a:extLst>
                  <a:ext uri="{FF2B5EF4-FFF2-40B4-BE49-F238E27FC236}">
                    <a16:creationId xmlns:a16="http://schemas.microsoft.com/office/drawing/2014/main" id="{73AB15A1-7629-AB0B-8C46-DCC90380FFBD}"/>
                  </a:ext>
                </a:extLst>
              </p:cNvPr>
              <p:cNvSpPr/>
              <p:nvPr/>
            </p:nvSpPr>
            <p:spPr>
              <a:xfrm>
                <a:off x="6267875" y="1453412"/>
                <a:ext cx="3586198" cy="500058"/>
              </a:xfrm>
              <a:prstGeom prst="rect">
                <a:avLst/>
              </a:prstGeom>
            </p:spPr>
            <p:txBody>
              <a:bodyPr wrap="square" lIns="68499" tIns="34251" rIns="68499" bIns="34251"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a:ln>
                      <a:noFill/>
                    </a:ln>
                    <a:solidFill>
                      <a:prstClr val="white">
                        <a:lumMod val="85000"/>
                      </a:prstClr>
                    </a:solidFill>
                    <a:effectLst/>
                    <a:uLnTx/>
                    <a:uFillTx/>
                    <a:latin typeface="微软雅黑" panose="020B0503020204020204" pitchFamily="34" charset="-122"/>
                    <a:ea typeface="微软雅黑" panose="020B0503020204020204" pitchFamily="34" charset="-122"/>
                    <a:cs typeface="+mn-ea"/>
                  </a:rPr>
                  <a:t>研发团队与工作基础</a:t>
                </a:r>
              </a:p>
            </p:txBody>
          </p:sp>
          <p:sp>
            <p:nvSpPr>
              <p:cNvPr id="71" name="标题占位符 27">
                <a:extLst>
                  <a:ext uri="{FF2B5EF4-FFF2-40B4-BE49-F238E27FC236}">
                    <a16:creationId xmlns:a16="http://schemas.microsoft.com/office/drawing/2014/main" id="{564A85F3-0338-1680-DA01-D208708734BB}"/>
                  </a:ext>
                </a:extLst>
              </p:cNvPr>
              <p:cNvSpPr txBox="1">
                <a:spLocks/>
              </p:cNvSpPr>
              <p:nvPr/>
            </p:nvSpPr>
            <p:spPr>
              <a:xfrm>
                <a:off x="5220820" y="1308122"/>
                <a:ext cx="872036" cy="746522"/>
              </a:xfrm>
              <a:prstGeom prst="rect">
                <a:avLst/>
              </a:prstGeom>
            </p:spPr>
            <p:txBody>
              <a:bodyPr vert="horz" lIns="68580" tIns="34290" rIns="68580" bIns="34290" rtlCol="0" anchor="ctr">
                <a:normAutofit/>
              </a:bodyPr>
              <a:lstStyle>
                <a:defPPr>
                  <a:defRPr lang="zh-CN"/>
                </a:defPPr>
                <a:lvl1pPr algn="ctr" defTabSz="685800">
                  <a:lnSpc>
                    <a:spcPct val="120000"/>
                  </a:lnSpc>
                  <a:spcBef>
                    <a:spcPct val="0"/>
                  </a:spcBef>
                  <a:buNone/>
                  <a:defRPr sz="4000">
                    <a:solidFill>
                      <a:schemeClr val="accent6"/>
                    </a:solidFill>
                    <a:latin typeface="+mj-lt"/>
                    <a:ea typeface="思源宋体 CN Heavy" panose="02020900000000000000" pitchFamily="18" charset="-122"/>
                    <a:cs typeface="+mj-cs"/>
                  </a:defRPr>
                </a:lvl1pPr>
              </a:lstStyle>
              <a:p>
                <a:pPr marL="0" marR="0" lvl="0" indent="0" algn="ctr" defTabSz="685800" eaLnBrk="1" fontAlgn="auto" latinLnBrk="0" hangingPunct="1">
                  <a:lnSpc>
                    <a:spcPct val="120000"/>
                  </a:lnSpc>
                  <a:spcBef>
                    <a:spcPct val="0"/>
                  </a:spcBef>
                  <a:spcAft>
                    <a:spcPts val="0"/>
                  </a:spcAft>
                  <a:buClrTx/>
                  <a:buSzTx/>
                  <a:buFontTx/>
                  <a:buNone/>
                  <a:tabLst/>
                  <a:defRPr/>
                </a:pPr>
                <a:r>
                  <a:rPr kumimoji="0" lang="en-US" altLang="zh-CN" sz="4000" b="1" i="0" u="none" strike="noStrike" kern="0" cap="none" spc="0" normalizeH="0" baseline="0" noProof="0" dirty="0">
                    <a:ln>
                      <a:noFill/>
                    </a:ln>
                    <a:solidFill>
                      <a:prstClr val="white">
                        <a:lumMod val="85000"/>
                      </a:prstClr>
                    </a:solidFill>
                    <a:effectLst/>
                    <a:uLnTx/>
                    <a:uFillTx/>
                    <a:latin typeface="Arial" panose="020B0604020202020204" pitchFamily="34" charset="0"/>
                    <a:ea typeface="微软雅黑" panose="020B0503020204020204" pitchFamily="34" charset="-122"/>
                    <a:cs typeface="+mj-cs"/>
                  </a:rPr>
                  <a:t>04</a:t>
                </a:r>
              </a:p>
            </p:txBody>
          </p:sp>
        </p:grpSp>
      </p:grpSp>
      <p:pic>
        <p:nvPicPr>
          <p:cNvPr id="72" name="图片 71">
            <a:extLst>
              <a:ext uri="{FF2B5EF4-FFF2-40B4-BE49-F238E27FC236}">
                <a16:creationId xmlns:a16="http://schemas.microsoft.com/office/drawing/2014/main" id="{9EEBD94C-B44D-2A8B-AC9A-D4C40C3FAC2A}"/>
              </a:ext>
            </a:extLst>
          </p:cNvPr>
          <p:cNvPicPr>
            <a:picLocks noChangeAspect="1"/>
          </p:cNvPicPr>
          <p:nvPr/>
        </p:nvPicPr>
        <p:blipFill rotWithShape="1">
          <a:blip r:embed="rId10">
            <a:alphaModFix amt="7000"/>
            <a:extLst>
              <a:ext uri="{28A0092B-C50C-407E-A947-70E740481C1C}">
                <a14:useLocalDpi xmlns:a14="http://schemas.microsoft.com/office/drawing/2010/main" val="0"/>
              </a:ext>
            </a:extLst>
          </a:blip>
          <a:srcRect l="29460" r="29859"/>
          <a:stretch/>
        </p:blipFill>
        <p:spPr>
          <a:xfrm>
            <a:off x="-79458" y="-79829"/>
            <a:ext cx="4215566" cy="7017657"/>
          </a:xfrm>
          <a:prstGeom prst="rect">
            <a:avLst/>
          </a:prstGeom>
        </p:spPr>
      </p:pic>
      <p:grpSp>
        <p:nvGrpSpPr>
          <p:cNvPr id="73" name="组合 72">
            <a:extLst>
              <a:ext uri="{FF2B5EF4-FFF2-40B4-BE49-F238E27FC236}">
                <a16:creationId xmlns:a16="http://schemas.microsoft.com/office/drawing/2014/main" id="{F10A3A7F-8E83-4014-E614-25C9E95EE201}"/>
              </a:ext>
            </a:extLst>
          </p:cNvPr>
          <p:cNvGrpSpPr/>
          <p:nvPr/>
        </p:nvGrpSpPr>
        <p:grpSpPr>
          <a:xfrm>
            <a:off x="4866627" y="5129338"/>
            <a:ext cx="5384517" cy="747324"/>
            <a:chOff x="4874973" y="1293731"/>
            <a:chExt cx="5384517" cy="747324"/>
          </a:xfrm>
        </p:grpSpPr>
        <p:sp>
          <p:nvSpPr>
            <p:cNvPr id="74" name="PA-圆角矩形 5824">
              <a:extLst>
                <a:ext uri="{FF2B5EF4-FFF2-40B4-BE49-F238E27FC236}">
                  <a16:creationId xmlns:a16="http://schemas.microsoft.com/office/drawing/2014/main" id="{95943574-BE53-23A2-FDFD-5F088519B918}"/>
                </a:ext>
              </a:extLst>
            </p:cNvPr>
            <p:cNvSpPr/>
            <p:nvPr>
              <p:custDataLst>
                <p:tags r:id="rId1"/>
              </p:custDataLst>
            </p:nvPr>
          </p:nvSpPr>
          <p:spPr>
            <a:xfrm>
              <a:off x="4874973" y="1350313"/>
              <a:ext cx="5384517" cy="690742"/>
            </a:xfrm>
            <a:prstGeom prst="roundRect">
              <a:avLst>
                <a:gd name="adj" fmla="val 4123"/>
              </a:avLst>
            </a:prstGeom>
            <a:solidFill>
              <a:schemeClr val="bg1"/>
            </a:solidFill>
            <a:ln w="0" cap="flat" cmpd="sng" algn="ctr">
              <a:solidFill>
                <a:schemeClr val="bg2"/>
              </a:solidFill>
              <a:prstDash val="solid"/>
              <a:miter lim="800000"/>
            </a:ln>
            <a:effectLst/>
          </p:spPr>
          <p:txBody>
            <a:bodyPr rtlCol="0" anchor="ctr"/>
            <a:lstStyle/>
            <a:p>
              <a:pPr algn="ctr"/>
              <a:endParaRPr lang="zh-CN" altLang="en-US" sz="1350" b="1" kern="0" dirty="0">
                <a:solidFill>
                  <a:prstClr val="white"/>
                </a:solidFill>
                <a:latin typeface="微软雅黑" panose="020B0503020204020204" pitchFamily="34" charset="-122"/>
                <a:ea typeface="微软雅黑" panose="020B0503020204020204" pitchFamily="34" charset="-122"/>
              </a:endParaRPr>
            </a:p>
          </p:txBody>
        </p:sp>
        <p:grpSp>
          <p:nvGrpSpPr>
            <p:cNvPr id="75" name="组合 74">
              <a:extLst>
                <a:ext uri="{FF2B5EF4-FFF2-40B4-BE49-F238E27FC236}">
                  <a16:creationId xmlns:a16="http://schemas.microsoft.com/office/drawing/2014/main" id="{F5AB95B1-3191-5CD6-6A7A-4EA4DC499377}"/>
                </a:ext>
              </a:extLst>
            </p:cNvPr>
            <p:cNvGrpSpPr/>
            <p:nvPr/>
          </p:nvGrpSpPr>
          <p:grpSpPr>
            <a:xfrm>
              <a:off x="5124372" y="1293731"/>
              <a:ext cx="4885719" cy="746522"/>
              <a:chOff x="5220820" y="1308122"/>
              <a:chExt cx="4633253" cy="746522"/>
            </a:xfrm>
          </p:grpSpPr>
          <p:cxnSp>
            <p:nvCxnSpPr>
              <p:cNvPr id="76" name="直接连接符 75">
                <a:extLst>
                  <a:ext uri="{FF2B5EF4-FFF2-40B4-BE49-F238E27FC236}">
                    <a16:creationId xmlns:a16="http://schemas.microsoft.com/office/drawing/2014/main" id="{5719E891-DECF-963B-4E78-C486DBBD4229}"/>
                  </a:ext>
                </a:extLst>
              </p:cNvPr>
              <p:cNvCxnSpPr>
                <a:cxnSpLocks/>
              </p:cNvCxnSpPr>
              <p:nvPr/>
            </p:nvCxnSpPr>
            <p:spPr>
              <a:xfrm>
                <a:off x="6138577" y="1462265"/>
                <a:ext cx="0" cy="482352"/>
              </a:xfrm>
              <a:prstGeom prst="line">
                <a:avLst/>
              </a:prstGeom>
              <a:noFill/>
              <a:ln w="9525" cap="flat" cmpd="sng" algn="ctr">
                <a:solidFill>
                  <a:sysClr val="window" lastClr="FFFFFF">
                    <a:lumMod val="85000"/>
                  </a:sysClr>
                </a:solidFill>
                <a:prstDash val="solid"/>
                <a:miter lim="800000"/>
              </a:ln>
              <a:effectLst/>
            </p:spPr>
          </p:cxnSp>
          <p:sp>
            <p:nvSpPr>
              <p:cNvPr id="77" name="矩形 76">
                <a:extLst>
                  <a:ext uri="{FF2B5EF4-FFF2-40B4-BE49-F238E27FC236}">
                    <a16:creationId xmlns:a16="http://schemas.microsoft.com/office/drawing/2014/main" id="{D8A625D4-E931-039E-B140-2104937F7432}"/>
                  </a:ext>
                </a:extLst>
              </p:cNvPr>
              <p:cNvSpPr/>
              <p:nvPr/>
            </p:nvSpPr>
            <p:spPr>
              <a:xfrm>
                <a:off x="6267875" y="1453412"/>
                <a:ext cx="3586198" cy="500058"/>
              </a:xfrm>
              <a:prstGeom prst="rect">
                <a:avLst/>
              </a:prstGeom>
            </p:spPr>
            <p:txBody>
              <a:bodyPr wrap="square" lIns="68499" tIns="34251" rIns="68499" bIns="34251"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a:ln>
                      <a:noFill/>
                    </a:ln>
                    <a:solidFill>
                      <a:prstClr val="white">
                        <a:lumMod val="85000"/>
                      </a:prstClr>
                    </a:solidFill>
                    <a:effectLst/>
                    <a:uLnTx/>
                    <a:uFillTx/>
                    <a:latin typeface="微软雅黑" panose="020B0503020204020204" pitchFamily="34" charset="-122"/>
                    <a:ea typeface="微软雅黑" panose="020B0503020204020204" pitchFamily="34" charset="-122"/>
                    <a:cs typeface="+mn-ea"/>
                  </a:rPr>
                  <a:t>预期成果与风险分析</a:t>
                </a:r>
              </a:p>
            </p:txBody>
          </p:sp>
          <p:sp>
            <p:nvSpPr>
              <p:cNvPr id="78" name="标题占位符 27">
                <a:extLst>
                  <a:ext uri="{FF2B5EF4-FFF2-40B4-BE49-F238E27FC236}">
                    <a16:creationId xmlns:a16="http://schemas.microsoft.com/office/drawing/2014/main" id="{2EADEA33-2133-578E-84C7-327ABC33CD51}"/>
                  </a:ext>
                </a:extLst>
              </p:cNvPr>
              <p:cNvSpPr txBox="1">
                <a:spLocks/>
              </p:cNvSpPr>
              <p:nvPr/>
            </p:nvSpPr>
            <p:spPr>
              <a:xfrm>
                <a:off x="5220820" y="1308122"/>
                <a:ext cx="872036" cy="746522"/>
              </a:xfrm>
              <a:prstGeom prst="rect">
                <a:avLst/>
              </a:prstGeom>
            </p:spPr>
            <p:txBody>
              <a:bodyPr vert="horz" lIns="68580" tIns="34290" rIns="68580" bIns="34290" rtlCol="0" anchor="ctr">
                <a:normAutofit/>
              </a:bodyPr>
              <a:lstStyle>
                <a:defPPr>
                  <a:defRPr lang="zh-CN"/>
                </a:defPPr>
                <a:lvl1pPr algn="ctr" defTabSz="685800">
                  <a:lnSpc>
                    <a:spcPct val="120000"/>
                  </a:lnSpc>
                  <a:spcBef>
                    <a:spcPct val="0"/>
                  </a:spcBef>
                  <a:buNone/>
                  <a:defRPr sz="4000">
                    <a:solidFill>
                      <a:schemeClr val="accent6"/>
                    </a:solidFill>
                    <a:latin typeface="+mj-lt"/>
                    <a:ea typeface="思源宋体 CN Heavy" panose="02020900000000000000" pitchFamily="18" charset="-122"/>
                    <a:cs typeface="+mj-cs"/>
                  </a:defRPr>
                </a:lvl1pPr>
              </a:lstStyle>
              <a:p>
                <a:pPr marL="0" marR="0" lvl="0" indent="0" algn="ctr" defTabSz="685800" eaLnBrk="1" fontAlgn="auto" latinLnBrk="0" hangingPunct="1">
                  <a:lnSpc>
                    <a:spcPct val="120000"/>
                  </a:lnSpc>
                  <a:spcBef>
                    <a:spcPct val="0"/>
                  </a:spcBef>
                  <a:spcAft>
                    <a:spcPts val="0"/>
                  </a:spcAft>
                  <a:buClrTx/>
                  <a:buSzTx/>
                  <a:buFontTx/>
                  <a:buNone/>
                  <a:tabLst/>
                  <a:defRPr/>
                </a:pPr>
                <a:r>
                  <a:rPr kumimoji="0" lang="en-US" altLang="zh-CN" sz="4000" b="1" i="0" u="none" strike="noStrike" kern="0" cap="none" spc="0" normalizeH="0" baseline="0" noProof="0" dirty="0">
                    <a:ln>
                      <a:noFill/>
                    </a:ln>
                    <a:solidFill>
                      <a:prstClr val="white">
                        <a:lumMod val="85000"/>
                      </a:prstClr>
                    </a:solidFill>
                    <a:effectLst/>
                    <a:uLnTx/>
                    <a:uFillTx/>
                    <a:latin typeface="Arial" panose="020B0604020202020204" pitchFamily="34" charset="0"/>
                    <a:ea typeface="微软雅黑" panose="020B0503020204020204" pitchFamily="34" charset="-122"/>
                    <a:cs typeface="+mj-cs"/>
                  </a:rPr>
                  <a:t>05</a:t>
                </a:r>
              </a:p>
            </p:txBody>
          </p:sp>
        </p:grpSp>
      </p:grpSp>
      <p:grpSp>
        <p:nvGrpSpPr>
          <p:cNvPr id="79" name="组合 78">
            <a:extLst>
              <a:ext uri="{FF2B5EF4-FFF2-40B4-BE49-F238E27FC236}">
                <a16:creationId xmlns:a16="http://schemas.microsoft.com/office/drawing/2014/main" id="{A880724A-D213-04F5-5924-6FFB3394C479}"/>
              </a:ext>
            </a:extLst>
          </p:cNvPr>
          <p:cNvGrpSpPr/>
          <p:nvPr/>
        </p:nvGrpSpPr>
        <p:grpSpPr>
          <a:xfrm>
            <a:off x="1142593" y="1199713"/>
            <a:ext cx="1384986" cy="4593613"/>
            <a:chOff x="1267368" y="1564791"/>
            <a:chExt cx="1124127" cy="3728416"/>
          </a:xfrm>
        </p:grpSpPr>
        <p:grpSp>
          <p:nvGrpSpPr>
            <p:cNvPr id="80" name="组合 79">
              <a:extLst>
                <a:ext uri="{FF2B5EF4-FFF2-40B4-BE49-F238E27FC236}">
                  <a16:creationId xmlns:a16="http://schemas.microsoft.com/office/drawing/2014/main" id="{A7CF90BC-AD78-6A18-1081-6DE8AEDED568}"/>
                </a:ext>
              </a:extLst>
            </p:cNvPr>
            <p:cNvGrpSpPr/>
            <p:nvPr/>
          </p:nvGrpSpPr>
          <p:grpSpPr>
            <a:xfrm>
              <a:off x="1267368" y="1564791"/>
              <a:ext cx="1097439" cy="3728416"/>
              <a:chOff x="2430187" y="1489115"/>
              <a:chExt cx="1097439" cy="3728416"/>
            </a:xfrm>
          </p:grpSpPr>
          <p:sp>
            <p:nvSpPr>
              <p:cNvPr id="82" name="文本框 81">
                <a:extLst>
                  <a:ext uri="{FF2B5EF4-FFF2-40B4-BE49-F238E27FC236}">
                    <a16:creationId xmlns:a16="http://schemas.microsoft.com/office/drawing/2014/main" id="{14884942-1DA1-A612-FCF1-B5011D606609}"/>
                  </a:ext>
                </a:extLst>
              </p:cNvPr>
              <p:cNvSpPr txBox="1"/>
              <p:nvPr/>
            </p:nvSpPr>
            <p:spPr>
              <a:xfrm rot="5400000">
                <a:off x="1260788" y="3523537"/>
                <a:ext cx="2863393" cy="524596"/>
              </a:xfrm>
              <a:prstGeom prst="rect">
                <a:avLst/>
              </a:prstGeom>
              <a:noFill/>
            </p:spPr>
            <p:txBody>
              <a:bodyPr vert="horz" wrap="square">
                <a:spAutoFit/>
              </a:bodyPr>
              <a:lstStyle/>
              <a:p>
                <a:pPr marL="0" marR="0" lvl="0" indent="0" algn="dist" defTabSz="914400" eaLnBrk="1" fontAlgn="auto" latinLnBrk="0" hangingPunct="1">
                  <a:lnSpc>
                    <a:spcPct val="100000"/>
                  </a:lnSpc>
                  <a:spcBef>
                    <a:spcPts val="0"/>
                  </a:spcBef>
                  <a:spcAft>
                    <a:spcPts val="0"/>
                  </a:spcAft>
                  <a:buClrTx/>
                  <a:buSzTx/>
                  <a:buFontTx/>
                  <a:buNone/>
                  <a:tabLst/>
                  <a:defRPr/>
                </a:pPr>
                <a:r>
                  <a:rPr kumimoji="0" lang="en-US" altLang="zh-CN" sz="3600" b="1" i="0" u="none" strike="noStrike" kern="0" cap="none" spc="0" normalizeH="0" baseline="0" noProof="0" dirty="0">
                    <a:ln>
                      <a:solidFill>
                        <a:schemeClr val="accent3">
                          <a:alpha val="22000"/>
                        </a:schemeClr>
                      </a:solidFill>
                    </a:ln>
                    <a:noFill/>
                    <a:effectLst/>
                    <a:uLnTx/>
                    <a:uFillTx/>
                    <a:latin typeface="Arial" panose="020B0604020202020204" pitchFamily="34" charset="0"/>
                    <a:cs typeface="阿里巴巴普惠体 Heavy" panose="00020600040101010101" pitchFamily="18" charset="-122"/>
                  </a:rPr>
                  <a:t>CONTENTS</a:t>
                </a:r>
              </a:p>
            </p:txBody>
          </p:sp>
          <p:sp>
            <p:nvSpPr>
              <p:cNvPr id="83" name="平行四边形 82">
                <a:extLst>
                  <a:ext uri="{FF2B5EF4-FFF2-40B4-BE49-F238E27FC236}">
                    <a16:creationId xmlns:a16="http://schemas.microsoft.com/office/drawing/2014/main" id="{83FDD8D8-6F77-1402-0C4F-C66FCBB741AE}"/>
                  </a:ext>
                </a:extLst>
              </p:cNvPr>
              <p:cNvSpPr/>
              <p:nvPr/>
            </p:nvSpPr>
            <p:spPr>
              <a:xfrm>
                <a:off x="2610429" y="1489115"/>
                <a:ext cx="917197" cy="1784366"/>
              </a:xfrm>
              <a:prstGeom prst="parallelogram">
                <a:avLst>
                  <a:gd name="adj" fmla="val 43802"/>
                </a:avLst>
              </a:prstGeom>
              <a:gradFill>
                <a:gsLst>
                  <a:gs pos="73000">
                    <a:schemeClr val="accent3">
                      <a:alpha val="0"/>
                    </a:schemeClr>
                  </a:gs>
                  <a:gs pos="0">
                    <a:schemeClr val="accent3">
                      <a:alpha val="35000"/>
                    </a:schemeClr>
                  </a:gs>
                </a:gsLst>
                <a:lin ang="5400000" scaled="0"/>
              </a:gra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4" name="平行四边形 83">
                <a:extLst>
                  <a:ext uri="{FF2B5EF4-FFF2-40B4-BE49-F238E27FC236}">
                    <a16:creationId xmlns:a16="http://schemas.microsoft.com/office/drawing/2014/main" id="{4C00609F-15B5-23CA-AFDD-A83D3AE2DC1D}"/>
                  </a:ext>
                </a:extLst>
              </p:cNvPr>
              <p:cNvSpPr/>
              <p:nvPr/>
            </p:nvSpPr>
            <p:spPr>
              <a:xfrm>
                <a:off x="2439546" y="1936465"/>
                <a:ext cx="584776" cy="1137656"/>
              </a:xfrm>
              <a:prstGeom prst="parallelogram">
                <a:avLst>
                  <a:gd name="adj" fmla="val 43802"/>
                </a:avLst>
              </a:prstGeom>
              <a:gradFill>
                <a:gsLst>
                  <a:gs pos="73000">
                    <a:schemeClr val="accent3">
                      <a:alpha val="0"/>
                    </a:schemeClr>
                  </a:gs>
                  <a:gs pos="0">
                    <a:schemeClr val="accent3">
                      <a:alpha val="40000"/>
                    </a:schemeClr>
                  </a:gs>
                </a:gsLst>
                <a:lin ang="5400000" scaled="0"/>
              </a:gra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cxnSp>
            <p:nvCxnSpPr>
              <p:cNvPr id="85" name="直接连接符 84">
                <a:extLst>
                  <a:ext uri="{FF2B5EF4-FFF2-40B4-BE49-F238E27FC236}">
                    <a16:creationId xmlns:a16="http://schemas.microsoft.com/office/drawing/2014/main" id="{F0C106D5-8F14-9273-F3E5-C35A522043DD}"/>
                  </a:ext>
                </a:extLst>
              </p:cNvPr>
              <p:cNvCxnSpPr/>
              <p:nvPr/>
            </p:nvCxnSpPr>
            <p:spPr>
              <a:xfrm>
                <a:off x="3069028" y="2981499"/>
                <a:ext cx="0" cy="2056789"/>
              </a:xfrm>
              <a:prstGeom prst="line">
                <a:avLst/>
              </a:prstGeom>
              <a:noFill/>
              <a:ln w="12700" cap="flat" cmpd="sng" algn="ctr">
                <a:solidFill>
                  <a:sysClr val="window" lastClr="FFFFFF">
                    <a:alpha val="17000"/>
                  </a:sysClr>
                </a:solidFill>
                <a:prstDash val="solid"/>
                <a:miter lim="800000"/>
              </a:ln>
              <a:effectLst/>
            </p:spPr>
          </p:cxnSp>
        </p:grpSp>
        <p:sp>
          <p:nvSpPr>
            <p:cNvPr id="81" name="文本框 80">
              <a:extLst>
                <a:ext uri="{FF2B5EF4-FFF2-40B4-BE49-F238E27FC236}">
                  <a16:creationId xmlns:a16="http://schemas.microsoft.com/office/drawing/2014/main" id="{8447F2A9-035D-DC61-D599-7FB886503E68}"/>
                </a:ext>
              </a:extLst>
            </p:cNvPr>
            <p:cNvSpPr txBox="1"/>
            <p:nvPr/>
          </p:nvSpPr>
          <p:spPr>
            <a:xfrm>
              <a:off x="1986274" y="1616018"/>
              <a:ext cx="405221" cy="337240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6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汇报提纲</a:t>
              </a:r>
            </a:p>
          </p:txBody>
        </p:sp>
      </p:grpSp>
      <p:sp>
        <p:nvSpPr>
          <p:cNvPr id="2" name="矩形 1">
            <a:extLst>
              <a:ext uri="{FF2B5EF4-FFF2-40B4-BE49-F238E27FC236}">
                <a16:creationId xmlns:a16="http://schemas.microsoft.com/office/drawing/2014/main" id="{09BAB71D-4C92-3039-97CD-69349E7F1D0C}"/>
              </a:ext>
            </a:extLst>
          </p:cNvPr>
          <p:cNvSpPr/>
          <p:nvPr/>
        </p:nvSpPr>
        <p:spPr>
          <a:xfrm>
            <a:off x="4508500" y="1041400"/>
            <a:ext cx="6604000" cy="4826000"/>
          </a:xfrm>
          <a:prstGeom prst="rect">
            <a:avLst/>
          </a:prstGeom>
          <a:solidFill>
            <a:srgbClr val="F6FAFD"/>
          </a:solidFill>
          <a:ln w="12700">
            <a:solidFill>
              <a:srgbClr val="A0BE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E2CFC41D-4E12-4195-460B-47B9B7FDE18A}"/>
              </a:ext>
            </a:extLst>
          </p:cNvPr>
          <p:cNvSpPr/>
          <p:nvPr/>
        </p:nvSpPr>
        <p:spPr>
          <a:xfrm>
            <a:off x="4889500" y="1473200"/>
            <a:ext cx="1168400" cy="584200"/>
          </a:xfrm>
          <a:prstGeom prst="rect">
            <a:avLst/>
          </a:prstGeom>
          <a:solidFill>
            <a:srgbClr val="0054A0"/>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altLang="zh-CN" sz="1700" b="1">
                <a:solidFill>
                  <a:srgbClr val="FFFFFF"/>
                </a:solidFill>
                <a:latin typeface="微软雅黑" panose="020B0503020204020204" pitchFamily="34" charset="-122"/>
              </a:rPr>
              <a:t>01</a:t>
            </a:r>
            <a:endParaRPr lang="zh-CN" altLang="en-US" sz="1700" b="1">
              <a:solidFill>
                <a:srgbClr val="FFFFFF"/>
              </a:solidFill>
              <a:latin typeface="微软雅黑" panose="020B0503020204020204" pitchFamily="34" charset="-122"/>
            </a:endParaRPr>
          </a:p>
        </p:txBody>
      </p:sp>
      <p:sp>
        <p:nvSpPr>
          <p:cNvPr id="4" name="矩形 3">
            <a:extLst>
              <a:ext uri="{FF2B5EF4-FFF2-40B4-BE49-F238E27FC236}">
                <a16:creationId xmlns:a16="http://schemas.microsoft.com/office/drawing/2014/main" id="{52D2F7F9-64E6-6C0B-5BD0-6DD4C9123B5F}"/>
              </a:ext>
            </a:extLst>
          </p:cNvPr>
          <p:cNvSpPr/>
          <p:nvPr/>
        </p:nvSpPr>
        <p:spPr>
          <a:xfrm>
            <a:off x="6248400" y="1473200"/>
            <a:ext cx="4419600" cy="584200"/>
          </a:xfrm>
          <a:prstGeom prst="rect">
            <a:avLst/>
          </a:prstGeom>
          <a:solidFill>
            <a:srgbClr val="FFFFFF"/>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r>
              <a:rPr lang="zh-CN" altLang="en-US" sz="1700" b="1">
                <a:solidFill>
                  <a:srgbClr val="00417D"/>
                </a:solidFill>
                <a:latin typeface="微软雅黑" panose="020B0503020204020204" pitchFamily="34" charset="-122"/>
              </a:rPr>
              <a:t>研究背景与问题提出</a:t>
            </a:r>
          </a:p>
        </p:txBody>
      </p:sp>
      <p:sp>
        <p:nvSpPr>
          <p:cNvPr id="5" name="矩形 4">
            <a:extLst>
              <a:ext uri="{FF2B5EF4-FFF2-40B4-BE49-F238E27FC236}">
                <a16:creationId xmlns:a16="http://schemas.microsoft.com/office/drawing/2014/main" id="{956E1D56-5BCF-5013-EC12-7D50F03EC3E5}"/>
              </a:ext>
            </a:extLst>
          </p:cNvPr>
          <p:cNvSpPr/>
          <p:nvPr/>
        </p:nvSpPr>
        <p:spPr>
          <a:xfrm>
            <a:off x="4889500" y="2362200"/>
            <a:ext cx="1168400" cy="584200"/>
          </a:xfrm>
          <a:prstGeom prst="rect">
            <a:avLst/>
          </a:prstGeom>
          <a:solidFill>
            <a:srgbClr val="FFFFFF"/>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altLang="zh-CN" sz="1700" b="1">
                <a:solidFill>
                  <a:srgbClr val="00417D"/>
                </a:solidFill>
                <a:latin typeface="微软雅黑" panose="020B0503020204020204" pitchFamily="34" charset="-122"/>
              </a:rPr>
              <a:t>02</a:t>
            </a:r>
            <a:endParaRPr lang="zh-CN" altLang="en-US" sz="1700" b="1">
              <a:solidFill>
                <a:srgbClr val="00417D"/>
              </a:solidFill>
              <a:latin typeface="微软雅黑" panose="020B0503020204020204" pitchFamily="34" charset="-122"/>
            </a:endParaRPr>
          </a:p>
        </p:txBody>
      </p:sp>
      <p:sp>
        <p:nvSpPr>
          <p:cNvPr id="6" name="矩形 5">
            <a:extLst>
              <a:ext uri="{FF2B5EF4-FFF2-40B4-BE49-F238E27FC236}">
                <a16:creationId xmlns:a16="http://schemas.microsoft.com/office/drawing/2014/main" id="{5D1B9411-C8EB-A109-0941-031E7194C752}"/>
              </a:ext>
            </a:extLst>
          </p:cNvPr>
          <p:cNvSpPr/>
          <p:nvPr/>
        </p:nvSpPr>
        <p:spPr>
          <a:xfrm>
            <a:off x="6248400" y="2362200"/>
            <a:ext cx="4419600" cy="584200"/>
          </a:xfrm>
          <a:prstGeom prst="rect">
            <a:avLst/>
          </a:prstGeom>
          <a:solidFill>
            <a:srgbClr val="FFFFFF"/>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r>
              <a:rPr lang="zh-CN" altLang="en-US" sz="1700" b="1">
                <a:solidFill>
                  <a:srgbClr val="00417D"/>
                </a:solidFill>
                <a:latin typeface="微软雅黑" panose="020B0503020204020204" pitchFamily="34" charset="-122"/>
              </a:rPr>
              <a:t>平台定位与研究目标</a:t>
            </a:r>
          </a:p>
        </p:txBody>
      </p:sp>
      <p:sp>
        <p:nvSpPr>
          <p:cNvPr id="7" name="矩形 6">
            <a:extLst>
              <a:ext uri="{FF2B5EF4-FFF2-40B4-BE49-F238E27FC236}">
                <a16:creationId xmlns:a16="http://schemas.microsoft.com/office/drawing/2014/main" id="{011A3F74-A318-560B-6BF0-30F4C0C43B98}"/>
              </a:ext>
            </a:extLst>
          </p:cNvPr>
          <p:cNvSpPr/>
          <p:nvPr/>
        </p:nvSpPr>
        <p:spPr>
          <a:xfrm>
            <a:off x="4889500" y="3251200"/>
            <a:ext cx="1168400" cy="584200"/>
          </a:xfrm>
          <a:prstGeom prst="rect">
            <a:avLst/>
          </a:prstGeom>
          <a:solidFill>
            <a:srgbClr val="FFFFFF"/>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altLang="zh-CN" sz="1700" b="1">
                <a:solidFill>
                  <a:srgbClr val="00417D"/>
                </a:solidFill>
                <a:latin typeface="微软雅黑" panose="020B0503020204020204" pitchFamily="34" charset="-122"/>
              </a:rPr>
              <a:t>03</a:t>
            </a:r>
            <a:endParaRPr lang="zh-CN" altLang="en-US" sz="1700" b="1">
              <a:solidFill>
                <a:srgbClr val="00417D"/>
              </a:solidFill>
              <a:latin typeface="微软雅黑" panose="020B0503020204020204" pitchFamily="34" charset="-122"/>
            </a:endParaRPr>
          </a:p>
        </p:txBody>
      </p:sp>
      <p:sp>
        <p:nvSpPr>
          <p:cNvPr id="8" name="矩形 7">
            <a:extLst>
              <a:ext uri="{FF2B5EF4-FFF2-40B4-BE49-F238E27FC236}">
                <a16:creationId xmlns:a16="http://schemas.microsoft.com/office/drawing/2014/main" id="{94930850-1824-9434-6E08-AD1DA85BBCE6}"/>
              </a:ext>
            </a:extLst>
          </p:cNvPr>
          <p:cNvSpPr/>
          <p:nvPr/>
        </p:nvSpPr>
        <p:spPr>
          <a:xfrm>
            <a:off x="6248400" y="3251200"/>
            <a:ext cx="4419600" cy="584200"/>
          </a:xfrm>
          <a:prstGeom prst="rect">
            <a:avLst/>
          </a:prstGeom>
          <a:solidFill>
            <a:srgbClr val="FFFFFF"/>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r>
              <a:rPr lang="zh-CN" altLang="en-US" sz="1700" b="1">
                <a:solidFill>
                  <a:srgbClr val="00417D"/>
                </a:solidFill>
                <a:latin typeface="微软雅黑" panose="020B0503020204020204" pitchFamily="34" charset="-122"/>
              </a:rPr>
              <a:t>系统设计与关键实现</a:t>
            </a:r>
          </a:p>
        </p:txBody>
      </p:sp>
      <p:sp>
        <p:nvSpPr>
          <p:cNvPr id="9" name="矩形 8">
            <a:extLst>
              <a:ext uri="{FF2B5EF4-FFF2-40B4-BE49-F238E27FC236}">
                <a16:creationId xmlns:a16="http://schemas.microsoft.com/office/drawing/2014/main" id="{718E15BA-4501-B57A-EC94-5A70F1D9366B}"/>
              </a:ext>
            </a:extLst>
          </p:cNvPr>
          <p:cNvSpPr/>
          <p:nvPr/>
        </p:nvSpPr>
        <p:spPr>
          <a:xfrm>
            <a:off x="4889500" y="4140200"/>
            <a:ext cx="1168400" cy="584200"/>
          </a:xfrm>
          <a:prstGeom prst="rect">
            <a:avLst/>
          </a:prstGeom>
          <a:solidFill>
            <a:srgbClr val="FFFFFF"/>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altLang="zh-CN" sz="1700" b="1">
                <a:solidFill>
                  <a:srgbClr val="00417D"/>
                </a:solidFill>
                <a:latin typeface="微软雅黑" panose="020B0503020204020204" pitchFamily="34" charset="-122"/>
              </a:rPr>
              <a:t>04</a:t>
            </a:r>
            <a:endParaRPr lang="zh-CN" altLang="en-US" sz="1700" b="1">
              <a:solidFill>
                <a:srgbClr val="00417D"/>
              </a:solidFill>
              <a:latin typeface="微软雅黑" panose="020B0503020204020204" pitchFamily="34" charset="-122"/>
            </a:endParaRPr>
          </a:p>
        </p:txBody>
      </p:sp>
      <p:sp>
        <p:nvSpPr>
          <p:cNvPr id="10" name="矩形 9">
            <a:extLst>
              <a:ext uri="{FF2B5EF4-FFF2-40B4-BE49-F238E27FC236}">
                <a16:creationId xmlns:a16="http://schemas.microsoft.com/office/drawing/2014/main" id="{8C7DC55F-A6A7-A7FE-B0D8-CB71042C18D8}"/>
              </a:ext>
            </a:extLst>
          </p:cNvPr>
          <p:cNvSpPr/>
          <p:nvPr/>
        </p:nvSpPr>
        <p:spPr>
          <a:xfrm>
            <a:off x="6248400" y="4140200"/>
            <a:ext cx="4419600" cy="584200"/>
          </a:xfrm>
          <a:prstGeom prst="rect">
            <a:avLst/>
          </a:prstGeom>
          <a:solidFill>
            <a:srgbClr val="FFFFFF"/>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r>
              <a:rPr lang="zh-CN" altLang="en-US" sz="1700" b="1">
                <a:solidFill>
                  <a:srgbClr val="00417D"/>
                </a:solidFill>
                <a:latin typeface="微软雅黑" panose="020B0503020204020204" pitchFamily="34" charset="-122"/>
              </a:rPr>
              <a:t>实验验证与进度安排</a:t>
            </a:r>
          </a:p>
        </p:txBody>
      </p:sp>
    </p:spTree>
    <p:extLst>
      <p:ext uri="{BB962C8B-B14F-4D97-AF65-F5344CB8AC3E}">
        <p14:creationId xmlns:p14="http://schemas.microsoft.com/office/powerpoint/2010/main" val="17871247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3DD42-58F1-BF23-F1D1-911D6ECA1AC9}"/>
            </a:ext>
          </a:extLst>
        </p:cNvPr>
        <p:cNvGrpSpPr/>
        <p:nvPr/>
      </p:nvGrpSpPr>
      <p:grpSpPr>
        <a:xfrm>
          <a:off x="0" y="0"/>
          <a:ext cx="0" cy="0"/>
          <a:chOff x="0" y="0"/>
          <a:chExt cx="0" cy="0"/>
        </a:xfrm>
      </p:grpSpPr>
      <p:sp>
        <p:nvSpPr>
          <p:cNvPr id="90" name="文本框 89">
            <a:extLst>
              <a:ext uri="{FF2B5EF4-FFF2-40B4-BE49-F238E27FC236}">
                <a16:creationId xmlns:a16="http://schemas.microsoft.com/office/drawing/2014/main" id="{25103B3E-9250-E6B9-EDDC-2ED6F90CF039}"/>
              </a:ext>
            </a:extLst>
          </p:cNvPr>
          <p:cNvSpPr txBox="1"/>
          <p:nvPr/>
        </p:nvSpPr>
        <p:spPr>
          <a:xfrm>
            <a:off x="115452" y="243436"/>
            <a:ext cx="772964" cy="369332"/>
          </a:xfrm>
          <a:prstGeom prst="rect">
            <a:avLst/>
          </a:prstGeom>
          <a:noFill/>
        </p:spPr>
        <p:txBody>
          <a:bodyPr wrap="square" rtlCol="0">
            <a:spAutoFit/>
          </a:bodyPr>
          <a:lstStyle/>
          <a:p>
            <a:pPr algn="ctr"/>
            <a:r>
              <a:rPr lang="en-US" altLang="zh-CN" b="1">
                <a:solidFill>
                  <a:srgbClr val="00417D"/>
                </a:solidFill>
                <a:latin typeface="微软雅黑" panose="020B0503020204020204" pitchFamily="34" charset="-122"/>
              </a:rPr>
              <a:t>1.1</a:t>
            </a:r>
            <a:endParaRPr lang="zh-CN" altLang="en-US" b="1" dirty="0">
              <a:solidFill>
                <a:srgbClr val="00417D"/>
              </a:solidFill>
              <a:latin typeface="微软雅黑" panose="020B0503020204020204" pitchFamily="34" charset="-122"/>
            </a:endParaRPr>
          </a:p>
        </p:txBody>
      </p:sp>
      <p:sp>
        <p:nvSpPr>
          <p:cNvPr id="92" name="文本框 91">
            <a:extLst>
              <a:ext uri="{FF2B5EF4-FFF2-40B4-BE49-F238E27FC236}">
                <a16:creationId xmlns:a16="http://schemas.microsoft.com/office/drawing/2014/main" id="{C27D3A61-0DEC-BA16-46CE-C27F01A6C4A8}"/>
              </a:ext>
            </a:extLst>
          </p:cNvPr>
          <p:cNvSpPr txBox="1"/>
          <p:nvPr/>
        </p:nvSpPr>
        <p:spPr>
          <a:xfrm>
            <a:off x="946461" y="269201"/>
            <a:ext cx="6440714" cy="477054"/>
          </a:xfrm>
          <a:prstGeom prst="rect">
            <a:avLst/>
          </a:prstGeom>
          <a:noFill/>
        </p:spPr>
        <p:txBody>
          <a:bodyPr wrap="square">
            <a:spAutoFit/>
          </a:bodyPr>
          <a:lstStyle/>
          <a:p>
            <a:r>
              <a:rPr lang="zh-CN" altLang="en-US" sz="2500" b="1">
                <a:solidFill>
                  <a:srgbClr val="00417D"/>
                </a:solidFill>
                <a:latin typeface="微软雅黑" panose="020B0503020204020204" pitchFamily="34" charset="-122"/>
              </a:rPr>
              <a:t>研究背景</a:t>
            </a:r>
            <a:endParaRPr lang="zh-CN" altLang="en-US" sz="2500" b="1" dirty="0">
              <a:solidFill>
                <a:srgbClr val="00417D"/>
              </a:solidFill>
              <a:latin typeface="微软雅黑" panose="020B0503020204020204" pitchFamily="34" charset="-122"/>
            </a:endParaRPr>
          </a:p>
        </p:txBody>
      </p:sp>
      <p:sp>
        <p:nvSpPr>
          <p:cNvPr id="6" name="矩形 5">
            <a:extLst>
              <a:ext uri="{FF2B5EF4-FFF2-40B4-BE49-F238E27FC236}">
                <a16:creationId xmlns:a16="http://schemas.microsoft.com/office/drawing/2014/main" id="{204B3276-1D6D-A659-B777-7A8B73B43410}"/>
              </a:ext>
            </a:extLst>
          </p:cNvPr>
          <p:cNvSpPr/>
          <p:nvPr/>
        </p:nvSpPr>
        <p:spPr>
          <a:xfrm>
            <a:off x="488951" y="1148185"/>
            <a:ext cx="11214099" cy="573683"/>
          </a:xfrm>
          <a:prstGeom prst="rect">
            <a:avLst/>
          </a:prstGeom>
          <a:solidFill>
            <a:schemeClr val="accent1"/>
          </a:solidFill>
          <a:ln w="317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3" name="文本框 12">
            <a:extLst>
              <a:ext uri="{FF2B5EF4-FFF2-40B4-BE49-F238E27FC236}">
                <a16:creationId xmlns:a16="http://schemas.microsoft.com/office/drawing/2014/main" id="{17E4BB18-6BF3-E577-1061-8ED13EE92896}"/>
              </a:ext>
            </a:extLst>
          </p:cNvPr>
          <p:cNvSpPr txBox="1"/>
          <p:nvPr/>
        </p:nvSpPr>
        <p:spPr>
          <a:xfrm>
            <a:off x="1848684" y="1204194"/>
            <a:ext cx="8494633" cy="461665"/>
          </a:xfrm>
          <a:prstGeom prst="rect">
            <a:avLst/>
          </a:prstGeom>
          <a:noFill/>
        </p:spPr>
        <p:txBody>
          <a:bodyPr wrap="none">
            <a:spAutoFit/>
          </a:bodyPr>
          <a:lstStyle/>
          <a:p>
            <a:pPr algn="ctr"/>
            <a:r>
              <a:rPr lang="zh-CN" altLang="en-US" sz="2400" b="1" dirty="0">
                <a:solidFill>
                  <a:schemeClr val="accent3"/>
                </a:solidFill>
                <a:latin typeface="微软雅黑" panose="020B0503020204020204" pitchFamily="34" charset="-122"/>
                <a:ea typeface="微软雅黑" panose="020B0503020204020204" pitchFamily="34" charset="-122"/>
              </a:rPr>
              <a:t>选择热带季风区中具有不同岩性的森林生态系统作为研究对象</a:t>
            </a:r>
          </a:p>
        </p:txBody>
      </p:sp>
      <p:grpSp>
        <p:nvGrpSpPr>
          <p:cNvPr id="16" name="组合 15">
            <a:extLst>
              <a:ext uri="{FF2B5EF4-FFF2-40B4-BE49-F238E27FC236}">
                <a16:creationId xmlns:a16="http://schemas.microsoft.com/office/drawing/2014/main" id="{78EB1953-AD90-70D1-101F-4F57C659A9D3}"/>
              </a:ext>
            </a:extLst>
          </p:cNvPr>
          <p:cNvGrpSpPr/>
          <p:nvPr/>
        </p:nvGrpSpPr>
        <p:grpSpPr>
          <a:xfrm>
            <a:off x="485774" y="1706080"/>
            <a:ext cx="11210925" cy="308759"/>
            <a:chOff x="490655" y="3938634"/>
            <a:chExt cx="5140454" cy="204788"/>
          </a:xfrm>
        </p:grpSpPr>
        <p:sp>
          <p:nvSpPr>
            <p:cNvPr id="17" name="任意多边形: 形状 16">
              <a:extLst>
                <a:ext uri="{FF2B5EF4-FFF2-40B4-BE49-F238E27FC236}">
                  <a16:creationId xmlns:a16="http://schemas.microsoft.com/office/drawing/2014/main" id="{1EB340B5-558D-4A4C-C06D-67931BC6006C}"/>
                </a:ext>
              </a:extLst>
            </p:cNvPr>
            <p:cNvSpPr/>
            <p:nvPr/>
          </p:nvSpPr>
          <p:spPr>
            <a:xfrm>
              <a:off x="490655" y="3943397"/>
              <a:ext cx="4600015" cy="200025"/>
            </a:xfrm>
            <a:custGeom>
              <a:avLst/>
              <a:gdLst>
                <a:gd name="connsiteX0" fmla="*/ 0 w 5229225"/>
                <a:gd name="connsiteY0" fmla="*/ 200025 h 200025"/>
                <a:gd name="connsiteX1" fmla="*/ 1047750 w 5229225"/>
                <a:gd name="connsiteY1" fmla="*/ 200025 h 200025"/>
                <a:gd name="connsiteX2" fmla="*/ 5229225 w 5229225"/>
                <a:gd name="connsiteY2" fmla="*/ 0 h 200025"/>
                <a:gd name="connsiteX3" fmla="*/ 642938 w 5229225"/>
                <a:gd name="connsiteY3" fmla="*/ 0 h 200025"/>
                <a:gd name="connsiteX4" fmla="*/ 0 w 5229225"/>
                <a:gd name="connsiteY4" fmla="*/ 200025 h 200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29225" h="200025">
                  <a:moveTo>
                    <a:pt x="0" y="200025"/>
                  </a:moveTo>
                  <a:lnTo>
                    <a:pt x="1047750" y="200025"/>
                  </a:lnTo>
                  <a:lnTo>
                    <a:pt x="5229225" y="0"/>
                  </a:lnTo>
                  <a:lnTo>
                    <a:pt x="642938" y="0"/>
                  </a:lnTo>
                  <a:lnTo>
                    <a:pt x="0" y="200025"/>
                  </a:lnTo>
                  <a:close/>
                </a:path>
              </a:pathLst>
            </a:custGeom>
            <a:gradFill>
              <a:gsLst>
                <a:gs pos="0">
                  <a:schemeClr val="accent1">
                    <a:alpha val="30000"/>
                  </a:schemeClr>
                </a:gs>
                <a:gs pos="100000">
                  <a:schemeClr val="accent1">
                    <a:alpha val="0"/>
                  </a:scheme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8" name="任意多边形: 形状 17">
              <a:extLst>
                <a:ext uri="{FF2B5EF4-FFF2-40B4-BE49-F238E27FC236}">
                  <a16:creationId xmlns:a16="http://schemas.microsoft.com/office/drawing/2014/main" id="{6063A832-FEA9-6E9B-BA1A-55F0A270B69D}"/>
                </a:ext>
              </a:extLst>
            </p:cNvPr>
            <p:cNvSpPr/>
            <p:nvPr/>
          </p:nvSpPr>
          <p:spPr>
            <a:xfrm>
              <a:off x="1068799" y="3943397"/>
              <a:ext cx="4009303" cy="195262"/>
            </a:xfrm>
            <a:custGeom>
              <a:avLst/>
              <a:gdLst>
                <a:gd name="connsiteX0" fmla="*/ 928688 w 4557713"/>
                <a:gd name="connsiteY0" fmla="*/ 195262 h 195262"/>
                <a:gd name="connsiteX1" fmla="*/ 1990725 w 4557713"/>
                <a:gd name="connsiteY1" fmla="*/ 195262 h 195262"/>
                <a:gd name="connsiteX2" fmla="*/ 4557713 w 4557713"/>
                <a:gd name="connsiteY2" fmla="*/ 0 h 195262"/>
                <a:gd name="connsiteX3" fmla="*/ 0 w 4557713"/>
                <a:gd name="connsiteY3" fmla="*/ 0 h 195262"/>
                <a:gd name="connsiteX4" fmla="*/ 928688 w 4557713"/>
                <a:gd name="connsiteY4" fmla="*/ 195262 h 1952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7713" h="195262">
                  <a:moveTo>
                    <a:pt x="928688" y="195262"/>
                  </a:moveTo>
                  <a:lnTo>
                    <a:pt x="1990725" y="195262"/>
                  </a:lnTo>
                  <a:lnTo>
                    <a:pt x="4557713" y="0"/>
                  </a:lnTo>
                  <a:lnTo>
                    <a:pt x="0" y="0"/>
                  </a:lnTo>
                  <a:lnTo>
                    <a:pt x="928688" y="195262"/>
                  </a:lnTo>
                  <a:close/>
                </a:path>
              </a:pathLst>
            </a:custGeom>
            <a:gradFill>
              <a:gsLst>
                <a:gs pos="0">
                  <a:schemeClr val="accent1">
                    <a:alpha val="30000"/>
                  </a:schemeClr>
                </a:gs>
                <a:gs pos="100000">
                  <a:schemeClr val="accent1">
                    <a:alpha val="0"/>
                  </a:scheme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9" name="任意多边形: 形状 18">
              <a:extLst>
                <a:ext uri="{FF2B5EF4-FFF2-40B4-BE49-F238E27FC236}">
                  <a16:creationId xmlns:a16="http://schemas.microsoft.com/office/drawing/2014/main" id="{3051218A-398A-D30B-0989-EADE8277FE7C}"/>
                </a:ext>
              </a:extLst>
            </p:cNvPr>
            <p:cNvSpPr/>
            <p:nvPr/>
          </p:nvSpPr>
          <p:spPr>
            <a:xfrm>
              <a:off x="1064610" y="3943397"/>
              <a:ext cx="4013492" cy="195262"/>
            </a:xfrm>
            <a:custGeom>
              <a:avLst/>
              <a:gdLst>
                <a:gd name="connsiteX0" fmla="*/ 2552700 w 4562475"/>
                <a:gd name="connsiteY0" fmla="*/ 195262 h 195262"/>
                <a:gd name="connsiteX1" fmla="*/ 3600450 w 4562475"/>
                <a:gd name="connsiteY1" fmla="*/ 195262 h 195262"/>
                <a:gd name="connsiteX2" fmla="*/ 4562475 w 4562475"/>
                <a:gd name="connsiteY2" fmla="*/ 0 h 195262"/>
                <a:gd name="connsiteX3" fmla="*/ 0 w 4562475"/>
                <a:gd name="connsiteY3" fmla="*/ 0 h 195262"/>
                <a:gd name="connsiteX4" fmla="*/ 2552700 w 4562475"/>
                <a:gd name="connsiteY4" fmla="*/ 195262 h 1952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2475" h="195262">
                  <a:moveTo>
                    <a:pt x="2552700" y="195262"/>
                  </a:moveTo>
                  <a:lnTo>
                    <a:pt x="3600450" y="195262"/>
                  </a:lnTo>
                  <a:lnTo>
                    <a:pt x="4562475" y="0"/>
                  </a:lnTo>
                  <a:lnTo>
                    <a:pt x="0" y="0"/>
                  </a:lnTo>
                  <a:lnTo>
                    <a:pt x="2552700" y="195262"/>
                  </a:lnTo>
                  <a:close/>
                </a:path>
              </a:pathLst>
            </a:custGeom>
            <a:gradFill>
              <a:gsLst>
                <a:gs pos="0">
                  <a:schemeClr val="accent1">
                    <a:alpha val="30000"/>
                  </a:schemeClr>
                </a:gs>
                <a:gs pos="100000">
                  <a:schemeClr val="accent1">
                    <a:alpha val="0"/>
                  </a:scheme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0" name="任意多边形: 形状 19">
              <a:extLst>
                <a:ext uri="{FF2B5EF4-FFF2-40B4-BE49-F238E27FC236}">
                  <a16:creationId xmlns:a16="http://schemas.microsoft.com/office/drawing/2014/main" id="{357FB65C-0A83-ABDE-A352-DD2F29CE1D1D}"/>
                </a:ext>
              </a:extLst>
            </p:cNvPr>
            <p:cNvSpPr/>
            <p:nvPr/>
          </p:nvSpPr>
          <p:spPr>
            <a:xfrm>
              <a:off x="1085557" y="3938634"/>
              <a:ext cx="4545552" cy="200025"/>
            </a:xfrm>
            <a:custGeom>
              <a:avLst/>
              <a:gdLst>
                <a:gd name="connsiteX0" fmla="*/ 5167313 w 5167313"/>
                <a:gd name="connsiteY0" fmla="*/ 200025 h 200025"/>
                <a:gd name="connsiteX1" fmla="*/ 4138613 w 5167313"/>
                <a:gd name="connsiteY1" fmla="*/ 200025 h 200025"/>
                <a:gd name="connsiteX2" fmla="*/ 0 w 5167313"/>
                <a:gd name="connsiteY2" fmla="*/ 0 h 200025"/>
                <a:gd name="connsiteX3" fmla="*/ 4538663 w 5167313"/>
                <a:gd name="connsiteY3" fmla="*/ 0 h 200025"/>
                <a:gd name="connsiteX4" fmla="*/ 5167313 w 5167313"/>
                <a:gd name="connsiteY4" fmla="*/ 200025 h 200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67313" h="200025">
                  <a:moveTo>
                    <a:pt x="5167313" y="200025"/>
                  </a:moveTo>
                  <a:lnTo>
                    <a:pt x="4138613" y="200025"/>
                  </a:lnTo>
                  <a:lnTo>
                    <a:pt x="0" y="0"/>
                  </a:lnTo>
                  <a:lnTo>
                    <a:pt x="4538663" y="0"/>
                  </a:lnTo>
                  <a:lnTo>
                    <a:pt x="5167313" y="200025"/>
                  </a:lnTo>
                  <a:close/>
                </a:path>
              </a:pathLst>
            </a:custGeom>
            <a:gradFill>
              <a:gsLst>
                <a:gs pos="0">
                  <a:schemeClr val="accent1">
                    <a:alpha val="30000"/>
                  </a:schemeClr>
                </a:gs>
                <a:gs pos="100000">
                  <a:schemeClr val="accent1">
                    <a:alpha val="0"/>
                  </a:scheme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21" name="组合 20">
            <a:extLst>
              <a:ext uri="{FF2B5EF4-FFF2-40B4-BE49-F238E27FC236}">
                <a16:creationId xmlns:a16="http://schemas.microsoft.com/office/drawing/2014/main" id="{A337F25B-75BB-78BD-8329-594463BC8D29}"/>
              </a:ext>
            </a:extLst>
          </p:cNvPr>
          <p:cNvGrpSpPr/>
          <p:nvPr/>
        </p:nvGrpSpPr>
        <p:grpSpPr>
          <a:xfrm>
            <a:off x="2219490" y="2028529"/>
            <a:ext cx="1906711" cy="400110"/>
            <a:chOff x="2033153" y="2026823"/>
            <a:chExt cx="1906711" cy="400110"/>
          </a:xfrm>
        </p:grpSpPr>
        <p:sp>
          <p:nvSpPr>
            <p:cNvPr id="22" name="矩形: 圆角 21">
              <a:extLst>
                <a:ext uri="{FF2B5EF4-FFF2-40B4-BE49-F238E27FC236}">
                  <a16:creationId xmlns:a16="http://schemas.microsoft.com/office/drawing/2014/main" id="{56F2A4A9-3F6C-758C-AEC2-E8A9455B3278}"/>
                </a:ext>
              </a:extLst>
            </p:cNvPr>
            <p:cNvSpPr/>
            <p:nvPr/>
          </p:nvSpPr>
          <p:spPr>
            <a:xfrm>
              <a:off x="2033153" y="2027933"/>
              <a:ext cx="1906711" cy="397891"/>
            </a:xfrm>
            <a:prstGeom prst="roundRect">
              <a:avLst>
                <a:gd name="adj" fmla="val 50000"/>
              </a:avLst>
            </a:prstGeom>
            <a:gradFill flip="none" rotWithShape="1">
              <a:gsLst>
                <a:gs pos="0">
                  <a:schemeClr val="accent1">
                    <a:alpha val="10000"/>
                  </a:schemeClr>
                </a:gs>
                <a:gs pos="30000">
                  <a:schemeClr val="accent1">
                    <a:alpha val="0"/>
                  </a:schemeClr>
                </a:gs>
                <a:gs pos="100000">
                  <a:schemeClr val="accent1">
                    <a:alpha val="10000"/>
                  </a:schemeClr>
                </a:gs>
                <a:gs pos="70000">
                  <a:schemeClr val="accent1">
                    <a:alpha val="0"/>
                  </a:schemeClr>
                </a:gs>
              </a:gsLst>
              <a:lin ang="2700000" scaled="1"/>
              <a:tileRect/>
            </a:gradFill>
            <a:ln w="3175" cap="flat" cmpd="sng" algn="ctr">
              <a:solidFill>
                <a:srgbClr val="0249A1">
                  <a:alpha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3" name="文本框 22">
              <a:extLst>
                <a:ext uri="{FF2B5EF4-FFF2-40B4-BE49-F238E27FC236}">
                  <a16:creationId xmlns:a16="http://schemas.microsoft.com/office/drawing/2014/main" id="{92C5F401-9FE6-D01C-68E1-0975F2BDFCF9}"/>
                </a:ext>
              </a:extLst>
            </p:cNvPr>
            <p:cNvSpPr txBox="1"/>
            <p:nvPr/>
          </p:nvSpPr>
          <p:spPr>
            <a:xfrm>
              <a:off x="2459548" y="2026823"/>
              <a:ext cx="1053920" cy="400110"/>
            </a:xfrm>
            <a:prstGeom prst="rect">
              <a:avLst/>
            </a:prstGeom>
            <a:noFill/>
          </p:spPr>
          <p:txBody>
            <a:bodyPr wrap="square">
              <a:spAutoFit/>
            </a:bodyPr>
            <a:lstStyle/>
            <a:p>
              <a:pPr marL="0" marR="0" lvl="0" indent="0" algn="dist" defTabSz="914400" eaLnBrk="1" fontAlgn="auto" latinLnBrk="0" hangingPunct="1">
                <a:lnSpc>
                  <a:spcPct val="100000"/>
                </a:lnSpc>
                <a:spcBef>
                  <a:spcPct val="0"/>
                </a:spcBef>
                <a:spcAft>
                  <a:spcPts val="0"/>
                </a:spcAft>
                <a:buClrTx/>
                <a:buSzTx/>
                <a:buFontTx/>
                <a:buNone/>
                <a:tabLst/>
                <a:defRPr/>
              </a:pPr>
              <a:r>
                <a:rPr kumimoji="0" lang="zh-CN" altLang="en-US" sz="2000" b="1" i="0" u="none" strike="noStrike" kern="0" cap="none" spc="15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sym typeface="+mn-ea"/>
                </a:rPr>
                <a:t>成果一</a:t>
              </a:r>
            </a:p>
          </p:txBody>
        </p:sp>
      </p:grpSp>
      <p:grpSp>
        <p:nvGrpSpPr>
          <p:cNvPr id="24" name="组合 23">
            <a:extLst>
              <a:ext uri="{FF2B5EF4-FFF2-40B4-BE49-F238E27FC236}">
                <a16:creationId xmlns:a16="http://schemas.microsoft.com/office/drawing/2014/main" id="{1E948EF5-ABCA-ABBC-67C4-B88F8DF67D24}"/>
              </a:ext>
            </a:extLst>
          </p:cNvPr>
          <p:cNvGrpSpPr/>
          <p:nvPr/>
        </p:nvGrpSpPr>
        <p:grpSpPr>
          <a:xfrm>
            <a:off x="5694416" y="2028529"/>
            <a:ext cx="1906711" cy="400110"/>
            <a:chOff x="2033153" y="2026823"/>
            <a:chExt cx="1906711" cy="400110"/>
          </a:xfrm>
        </p:grpSpPr>
        <p:sp>
          <p:nvSpPr>
            <p:cNvPr id="25" name="矩形: 圆角 24">
              <a:extLst>
                <a:ext uri="{FF2B5EF4-FFF2-40B4-BE49-F238E27FC236}">
                  <a16:creationId xmlns:a16="http://schemas.microsoft.com/office/drawing/2014/main" id="{ABB2AA48-84F2-78A0-636A-B843AF0BE02F}"/>
                </a:ext>
              </a:extLst>
            </p:cNvPr>
            <p:cNvSpPr/>
            <p:nvPr/>
          </p:nvSpPr>
          <p:spPr>
            <a:xfrm>
              <a:off x="2033153" y="2027933"/>
              <a:ext cx="1906711" cy="397891"/>
            </a:xfrm>
            <a:prstGeom prst="roundRect">
              <a:avLst>
                <a:gd name="adj" fmla="val 50000"/>
              </a:avLst>
            </a:prstGeom>
            <a:gradFill flip="none" rotWithShape="1">
              <a:gsLst>
                <a:gs pos="0">
                  <a:schemeClr val="accent1">
                    <a:alpha val="10000"/>
                  </a:schemeClr>
                </a:gs>
                <a:gs pos="30000">
                  <a:schemeClr val="accent1">
                    <a:alpha val="0"/>
                  </a:schemeClr>
                </a:gs>
                <a:gs pos="100000">
                  <a:schemeClr val="accent1">
                    <a:alpha val="10000"/>
                  </a:schemeClr>
                </a:gs>
                <a:gs pos="70000">
                  <a:schemeClr val="accent1">
                    <a:alpha val="0"/>
                  </a:schemeClr>
                </a:gs>
              </a:gsLst>
              <a:lin ang="2700000" scaled="1"/>
              <a:tileRect/>
            </a:gradFill>
            <a:ln w="3175" cap="flat" cmpd="sng" algn="ctr">
              <a:solidFill>
                <a:srgbClr val="0249A1">
                  <a:alpha val="50000"/>
                </a:srgbClr>
              </a:solid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26" name="文本框 25">
              <a:extLst>
                <a:ext uri="{FF2B5EF4-FFF2-40B4-BE49-F238E27FC236}">
                  <a16:creationId xmlns:a16="http://schemas.microsoft.com/office/drawing/2014/main" id="{B38D0028-98C4-6B15-9865-E694273DC8B7}"/>
                </a:ext>
              </a:extLst>
            </p:cNvPr>
            <p:cNvSpPr txBox="1"/>
            <p:nvPr/>
          </p:nvSpPr>
          <p:spPr>
            <a:xfrm>
              <a:off x="2459548" y="2026823"/>
              <a:ext cx="1053920" cy="400110"/>
            </a:xfrm>
            <a:prstGeom prst="rect">
              <a:avLst/>
            </a:prstGeom>
            <a:noFill/>
          </p:spPr>
          <p:txBody>
            <a:bodyPr wrap="square">
              <a:spAutoFit/>
            </a:bodyPr>
            <a:lstStyle/>
            <a:p>
              <a:pPr marL="0" marR="0" lvl="0" indent="0" algn="dist" defTabSz="914400" eaLnBrk="1" fontAlgn="auto" latinLnBrk="0" hangingPunct="1">
                <a:lnSpc>
                  <a:spcPct val="100000"/>
                </a:lnSpc>
                <a:spcBef>
                  <a:spcPct val="0"/>
                </a:spcBef>
                <a:spcAft>
                  <a:spcPts val="0"/>
                </a:spcAft>
                <a:buClrTx/>
                <a:buSzTx/>
                <a:buFontTx/>
                <a:buNone/>
                <a:tabLst/>
                <a:defRPr/>
              </a:pPr>
              <a:r>
                <a:rPr kumimoji="0" lang="zh-CN" altLang="en-US" sz="2000" b="1" i="0" u="none" strike="noStrike" kern="0" cap="none" spc="15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sym typeface="+mn-ea"/>
                </a:rPr>
                <a:t>成果二</a:t>
              </a:r>
            </a:p>
          </p:txBody>
        </p:sp>
      </p:grpSp>
      <p:grpSp>
        <p:nvGrpSpPr>
          <p:cNvPr id="35" name="组合 34">
            <a:extLst>
              <a:ext uri="{FF2B5EF4-FFF2-40B4-BE49-F238E27FC236}">
                <a16:creationId xmlns:a16="http://schemas.microsoft.com/office/drawing/2014/main" id="{2ABD8B06-C8C6-7EBA-AE9B-6C0A373452D9}"/>
              </a:ext>
            </a:extLst>
          </p:cNvPr>
          <p:cNvGrpSpPr/>
          <p:nvPr/>
        </p:nvGrpSpPr>
        <p:grpSpPr>
          <a:xfrm>
            <a:off x="9169342" y="2028529"/>
            <a:ext cx="1906711" cy="400110"/>
            <a:chOff x="2033153" y="2026823"/>
            <a:chExt cx="1906711" cy="400110"/>
          </a:xfrm>
        </p:grpSpPr>
        <p:sp>
          <p:nvSpPr>
            <p:cNvPr id="36" name="矩形: 圆角 35">
              <a:extLst>
                <a:ext uri="{FF2B5EF4-FFF2-40B4-BE49-F238E27FC236}">
                  <a16:creationId xmlns:a16="http://schemas.microsoft.com/office/drawing/2014/main" id="{6A045275-8036-6984-3C30-7A1B96368070}"/>
                </a:ext>
              </a:extLst>
            </p:cNvPr>
            <p:cNvSpPr/>
            <p:nvPr/>
          </p:nvSpPr>
          <p:spPr>
            <a:xfrm>
              <a:off x="2033153" y="2027933"/>
              <a:ext cx="1906711" cy="397891"/>
            </a:xfrm>
            <a:prstGeom prst="roundRect">
              <a:avLst>
                <a:gd name="adj" fmla="val 50000"/>
              </a:avLst>
            </a:prstGeom>
            <a:gradFill flip="none" rotWithShape="1">
              <a:gsLst>
                <a:gs pos="0">
                  <a:schemeClr val="accent1">
                    <a:alpha val="10000"/>
                  </a:schemeClr>
                </a:gs>
                <a:gs pos="30000">
                  <a:schemeClr val="accent1">
                    <a:alpha val="0"/>
                  </a:schemeClr>
                </a:gs>
                <a:gs pos="100000">
                  <a:schemeClr val="accent1">
                    <a:alpha val="10000"/>
                  </a:schemeClr>
                </a:gs>
                <a:gs pos="70000">
                  <a:schemeClr val="accent1">
                    <a:alpha val="0"/>
                  </a:schemeClr>
                </a:gs>
              </a:gsLst>
              <a:lin ang="2700000" scaled="1"/>
              <a:tileRect/>
            </a:gradFill>
            <a:ln w="3175" cap="flat" cmpd="sng" algn="ctr">
              <a:solidFill>
                <a:srgbClr val="0249A1">
                  <a:alpha val="50000"/>
                </a:srgbClr>
              </a:solid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37" name="文本框 36">
              <a:extLst>
                <a:ext uri="{FF2B5EF4-FFF2-40B4-BE49-F238E27FC236}">
                  <a16:creationId xmlns:a16="http://schemas.microsoft.com/office/drawing/2014/main" id="{C7722346-123C-7DEC-235E-D36422CD5622}"/>
                </a:ext>
              </a:extLst>
            </p:cNvPr>
            <p:cNvSpPr txBox="1"/>
            <p:nvPr/>
          </p:nvSpPr>
          <p:spPr>
            <a:xfrm>
              <a:off x="2459548" y="2026823"/>
              <a:ext cx="1053920" cy="400110"/>
            </a:xfrm>
            <a:prstGeom prst="rect">
              <a:avLst/>
            </a:prstGeom>
            <a:noFill/>
          </p:spPr>
          <p:txBody>
            <a:bodyPr wrap="square">
              <a:spAutoFit/>
            </a:bodyPr>
            <a:lstStyle/>
            <a:p>
              <a:pPr marL="0" marR="0" lvl="0" indent="0" algn="dist" defTabSz="914400" eaLnBrk="1" fontAlgn="auto" latinLnBrk="0" hangingPunct="1">
                <a:lnSpc>
                  <a:spcPct val="100000"/>
                </a:lnSpc>
                <a:spcBef>
                  <a:spcPct val="0"/>
                </a:spcBef>
                <a:spcAft>
                  <a:spcPts val="0"/>
                </a:spcAft>
                <a:buClrTx/>
                <a:buSzTx/>
                <a:buFontTx/>
                <a:buNone/>
                <a:tabLst/>
                <a:defRPr/>
              </a:pPr>
              <a:r>
                <a:rPr kumimoji="0" lang="zh-CN" altLang="en-US" sz="2000" b="1" i="0" u="none" strike="noStrike" kern="0" cap="none" spc="15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sym typeface="+mn-ea"/>
                </a:rPr>
                <a:t>成果三</a:t>
              </a:r>
            </a:p>
          </p:txBody>
        </p:sp>
      </p:grpSp>
      <p:sp>
        <p:nvSpPr>
          <p:cNvPr id="38" name="矩形: 圆角 37">
            <a:extLst>
              <a:ext uri="{FF2B5EF4-FFF2-40B4-BE49-F238E27FC236}">
                <a16:creationId xmlns:a16="http://schemas.microsoft.com/office/drawing/2014/main" id="{BA3777C8-6A7C-0AF8-37BB-17F0D6E24F82}"/>
              </a:ext>
            </a:extLst>
          </p:cNvPr>
          <p:cNvSpPr/>
          <p:nvPr/>
        </p:nvSpPr>
        <p:spPr>
          <a:xfrm flipH="1">
            <a:off x="475463" y="2909026"/>
            <a:ext cx="1262062" cy="825500"/>
          </a:xfrm>
          <a:prstGeom prst="roundRect">
            <a:avLst>
              <a:gd name="adj" fmla="val 0"/>
            </a:avLst>
          </a:prstGeom>
          <a:gradFill>
            <a:gsLst>
              <a:gs pos="100000">
                <a:schemeClr val="accent2">
                  <a:alpha val="10000"/>
                </a:schemeClr>
              </a:gs>
              <a:gs pos="0">
                <a:schemeClr val="accent2">
                  <a:alpha val="0"/>
                </a:schemeClr>
              </a:gs>
            </a:gsLst>
            <a:lin ang="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9" name="文本框 38">
            <a:extLst>
              <a:ext uri="{FF2B5EF4-FFF2-40B4-BE49-F238E27FC236}">
                <a16:creationId xmlns:a16="http://schemas.microsoft.com/office/drawing/2014/main" id="{7D23964C-1875-6C93-78D7-0165D5A1151B}"/>
              </a:ext>
            </a:extLst>
          </p:cNvPr>
          <p:cNvSpPr txBox="1"/>
          <p:nvPr/>
        </p:nvSpPr>
        <p:spPr>
          <a:xfrm>
            <a:off x="578503" y="3090944"/>
            <a:ext cx="910842" cy="461665"/>
          </a:xfrm>
          <a:prstGeom prst="rect">
            <a:avLst/>
          </a:prstGeom>
          <a:noFill/>
        </p:spPr>
        <p:txBody>
          <a:bodyPr wrap="square">
            <a:spAutoFit/>
          </a:bodyPr>
          <a:lstStyle/>
          <a:p>
            <a:pPr algn="ctr"/>
            <a:r>
              <a:rPr lang="zh-CN" altLang="en-US" sz="2400" b="1" dirty="0">
                <a:solidFill>
                  <a:schemeClr val="accent1"/>
                </a:solidFill>
                <a:latin typeface="微软雅黑" panose="020B0503020204020204" pitchFamily="34" charset="-122"/>
                <a:ea typeface="微软雅黑" panose="020B0503020204020204" pitchFamily="34" charset="-122"/>
                <a:cs typeface="+mn-ea"/>
              </a:rPr>
              <a:t>问 题</a:t>
            </a:r>
          </a:p>
        </p:txBody>
      </p:sp>
      <p:sp>
        <p:nvSpPr>
          <p:cNvPr id="40" name="矩形: 圆角 39">
            <a:extLst>
              <a:ext uri="{FF2B5EF4-FFF2-40B4-BE49-F238E27FC236}">
                <a16:creationId xmlns:a16="http://schemas.microsoft.com/office/drawing/2014/main" id="{4FE91C36-DE1D-7ECE-23BA-505ED9EC4BCD}"/>
              </a:ext>
            </a:extLst>
          </p:cNvPr>
          <p:cNvSpPr/>
          <p:nvPr/>
        </p:nvSpPr>
        <p:spPr>
          <a:xfrm flipH="1">
            <a:off x="475463" y="4187718"/>
            <a:ext cx="1262062" cy="825500"/>
          </a:xfrm>
          <a:prstGeom prst="roundRect">
            <a:avLst>
              <a:gd name="adj" fmla="val 0"/>
            </a:avLst>
          </a:prstGeom>
          <a:gradFill>
            <a:gsLst>
              <a:gs pos="100000">
                <a:schemeClr val="accent2">
                  <a:alpha val="10000"/>
                </a:schemeClr>
              </a:gs>
              <a:gs pos="0">
                <a:schemeClr val="accent2">
                  <a:alpha val="0"/>
                </a:schemeClr>
              </a:gs>
            </a:gsLst>
            <a:lin ang="0" scaled="1"/>
          </a:gradFill>
          <a:ln w="12700" cap="flat" cmpd="sng" algn="ctr">
            <a:no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41" name="文本框 40">
            <a:extLst>
              <a:ext uri="{FF2B5EF4-FFF2-40B4-BE49-F238E27FC236}">
                <a16:creationId xmlns:a16="http://schemas.microsoft.com/office/drawing/2014/main" id="{58F343BA-F168-2AE3-87BE-36512791E7F7}"/>
              </a:ext>
            </a:extLst>
          </p:cNvPr>
          <p:cNvSpPr txBox="1"/>
          <p:nvPr/>
        </p:nvSpPr>
        <p:spPr>
          <a:xfrm>
            <a:off x="578503" y="4369636"/>
            <a:ext cx="910842" cy="461665"/>
          </a:xfrm>
          <a:prstGeom prst="rect">
            <a:avLst/>
          </a:prstGeom>
          <a:noFill/>
        </p:spPr>
        <p:txBody>
          <a:bodyPr wrap="square">
            <a:spAutoFit/>
          </a:bodyPr>
          <a:lstStyle/>
          <a:p>
            <a:pPr algn="ctr"/>
            <a:r>
              <a:rPr lang="zh-CN" altLang="en-US" sz="2400" b="1" dirty="0">
                <a:solidFill>
                  <a:schemeClr val="accent1"/>
                </a:solidFill>
                <a:latin typeface="微软雅黑" panose="020B0503020204020204" pitchFamily="34" charset="-122"/>
                <a:ea typeface="微软雅黑" panose="020B0503020204020204" pitchFamily="34" charset="-122"/>
                <a:cs typeface="+mn-ea"/>
              </a:rPr>
              <a:t>思 路</a:t>
            </a:r>
          </a:p>
        </p:txBody>
      </p:sp>
      <p:sp>
        <p:nvSpPr>
          <p:cNvPr id="51" name="矩形: 圆角 50">
            <a:extLst>
              <a:ext uri="{FF2B5EF4-FFF2-40B4-BE49-F238E27FC236}">
                <a16:creationId xmlns:a16="http://schemas.microsoft.com/office/drawing/2014/main" id="{905CECEA-C436-4B9B-27CE-15031E7216DF}"/>
              </a:ext>
            </a:extLst>
          </p:cNvPr>
          <p:cNvSpPr/>
          <p:nvPr/>
        </p:nvSpPr>
        <p:spPr>
          <a:xfrm flipH="1">
            <a:off x="475463" y="5466411"/>
            <a:ext cx="1262062" cy="825500"/>
          </a:xfrm>
          <a:prstGeom prst="roundRect">
            <a:avLst>
              <a:gd name="adj" fmla="val 0"/>
            </a:avLst>
          </a:prstGeom>
          <a:gradFill>
            <a:gsLst>
              <a:gs pos="100000">
                <a:schemeClr val="accent2">
                  <a:alpha val="10000"/>
                </a:schemeClr>
              </a:gs>
              <a:gs pos="0">
                <a:schemeClr val="accent2">
                  <a:alpha val="0"/>
                </a:schemeClr>
              </a:gs>
            </a:gsLst>
            <a:lin ang="0" scaled="1"/>
          </a:gradFill>
          <a:ln w="12700" cap="flat" cmpd="sng" algn="ctr">
            <a:no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52" name="文本框 51">
            <a:extLst>
              <a:ext uri="{FF2B5EF4-FFF2-40B4-BE49-F238E27FC236}">
                <a16:creationId xmlns:a16="http://schemas.microsoft.com/office/drawing/2014/main" id="{9C855167-6E48-7646-F165-2DDF82402DFA}"/>
              </a:ext>
            </a:extLst>
          </p:cNvPr>
          <p:cNvSpPr txBox="1"/>
          <p:nvPr/>
        </p:nvSpPr>
        <p:spPr>
          <a:xfrm>
            <a:off x="578503" y="5648329"/>
            <a:ext cx="910842" cy="461665"/>
          </a:xfrm>
          <a:prstGeom prst="rect">
            <a:avLst/>
          </a:prstGeom>
          <a:noFill/>
        </p:spPr>
        <p:txBody>
          <a:bodyPr wrap="square">
            <a:spAutoFit/>
          </a:bodyPr>
          <a:lstStyle/>
          <a:p>
            <a:pPr algn="ctr"/>
            <a:r>
              <a:rPr lang="zh-CN" altLang="en-US" sz="2400" b="1" dirty="0">
                <a:solidFill>
                  <a:schemeClr val="accent1"/>
                </a:solidFill>
                <a:latin typeface="微软雅黑" panose="020B0503020204020204" pitchFamily="34" charset="-122"/>
                <a:ea typeface="微软雅黑" panose="020B0503020204020204" pitchFamily="34" charset="-122"/>
                <a:cs typeface="+mn-ea"/>
              </a:rPr>
              <a:t>技 术</a:t>
            </a:r>
          </a:p>
        </p:txBody>
      </p:sp>
      <p:sp>
        <p:nvSpPr>
          <p:cNvPr id="53" name="矩形 52">
            <a:extLst>
              <a:ext uri="{FF2B5EF4-FFF2-40B4-BE49-F238E27FC236}">
                <a16:creationId xmlns:a16="http://schemas.microsoft.com/office/drawing/2014/main" id="{4E0BF1BB-346F-55F9-9689-106CA5E9BC1C}"/>
              </a:ext>
            </a:extLst>
          </p:cNvPr>
          <p:cNvSpPr/>
          <p:nvPr/>
        </p:nvSpPr>
        <p:spPr>
          <a:xfrm>
            <a:off x="1592492" y="2612138"/>
            <a:ext cx="3160706" cy="3976661"/>
          </a:xfrm>
          <a:prstGeom prst="rect">
            <a:avLst/>
          </a:prstGeom>
          <a:solidFill>
            <a:sysClr val="window" lastClr="FFFFFF"/>
          </a:solidFill>
          <a:ln w="3175" cap="flat" cmpd="sng" algn="ctr">
            <a:gradFill flip="none" rotWithShape="1">
              <a:gsLst>
                <a:gs pos="0">
                  <a:schemeClr val="accent1">
                    <a:alpha val="50000"/>
                  </a:schemeClr>
                </a:gs>
                <a:gs pos="100000">
                  <a:schemeClr val="accent1">
                    <a:alpha val="0"/>
                  </a:schemeClr>
                </a:gs>
              </a:gsLst>
              <a:lin ang="5400000" scaled="1"/>
              <a:tileRect/>
            </a:gradFill>
            <a:prstDash val="solid"/>
            <a:miter lim="800000"/>
          </a:ln>
          <a:effectLst>
            <a:outerShdw blurRad="190500" dist="25400" algn="ctr" rotWithShape="0">
              <a:schemeClr val="accent1">
                <a:alpha val="8000"/>
              </a:scheme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4" name="矩形 53">
            <a:extLst>
              <a:ext uri="{FF2B5EF4-FFF2-40B4-BE49-F238E27FC236}">
                <a16:creationId xmlns:a16="http://schemas.microsoft.com/office/drawing/2014/main" id="{D16C79F1-6191-5EFA-B569-569A4A32FD81}"/>
              </a:ext>
            </a:extLst>
          </p:cNvPr>
          <p:cNvSpPr/>
          <p:nvPr/>
        </p:nvSpPr>
        <p:spPr>
          <a:xfrm>
            <a:off x="5067418" y="2612138"/>
            <a:ext cx="3160706" cy="3976661"/>
          </a:xfrm>
          <a:prstGeom prst="rect">
            <a:avLst/>
          </a:prstGeom>
          <a:solidFill>
            <a:sysClr val="window" lastClr="FFFFFF"/>
          </a:solidFill>
          <a:ln w="3175" cap="flat" cmpd="sng" algn="ctr">
            <a:gradFill flip="none" rotWithShape="1">
              <a:gsLst>
                <a:gs pos="0">
                  <a:schemeClr val="accent1">
                    <a:alpha val="50000"/>
                  </a:schemeClr>
                </a:gs>
                <a:gs pos="100000">
                  <a:schemeClr val="accent1">
                    <a:alpha val="0"/>
                  </a:schemeClr>
                </a:gs>
              </a:gsLst>
              <a:lin ang="5400000" scaled="1"/>
              <a:tileRect/>
            </a:gradFill>
            <a:prstDash val="solid"/>
            <a:miter lim="800000"/>
          </a:ln>
          <a:effectLst>
            <a:outerShdw blurRad="190500" dist="25400" algn="ctr" rotWithShape="0">
              <a:schemeClr val="accent1">
                <a:alpha val="8000"/>
              </a:schemeClr>
            </a:outerShdw>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55" name="矩形 54">
            <a:extLst>
              <a:ext uri="{FF2B5EF4-FFF2-40B4-BE49-F238E27FC236}">
                <a16:creationId xmlns:a16="http://schemas.microsoft.com/office/drawing/2014/main" id="{D12842D0-00DC-D431-3515-614FA2B126BE}"/>
              </a:ext>
            </a:extLst>
          </p:cNvPr>
          <p:cNvSpPr/>
          <p:nvPr/>
        </p:nvSpPr>
        <p:spPr>
          <a:xfrm>
            <a:off x="8542344" y="2612138"/>
            <a:ext cx="3160706" cy="3976661"/>
          </a:xfrm>
          <a:prstGeom prst="rect">
            <a:avLst/>
          </a:prstGeom>
          <a:solidFill>
            <a:sysClr val="window" lastClr="FFFFFF"/>
          </a:solidFill>
          <a:ln w="3175" cap="flat" cmpd="sng" algn="ctr">
            <a:gradFill flip="none" rotWithShape="1">
              <a:gsLst>
                <a:gs pos="0">
                  <a:schemeClr val="accent1">
                    <a:alpha val="50000"/>
                  </a:schemeClr>
                </a:gs>
                <a:gs pos="100000">
                  <a:schemeClr val="accent1">
                    <a:alpha val="0"/>
                  </a:schemeClr>
                </a:gs>
              </a:gsLst>
              <a:lin ang="5400000" scaled="1"/>
              <a:tileRect/>
            </a:gradFill>
            <a:prstDash val="solid"/>
            <a:miter lim="800000"/>
          </a:ln>
          <a:effectLst>
            <a:outerShdw blurRad="190500" dist="25400" algn="ctr" rotWithShape="0">
              <a:schemeClr val="accent1">
                <a:alpha val="8000"/>
              </a:schemeClr>
            </a:outerShdw>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56" name="矩形 55">
            <a:extLst>
              <a:ext uri="{FF2B5EF4-FFF2-40B4-BE49-F238E27FC236}">
                <a16:creationId xmlns:a16="http://schemas.microsoft.com/office/drawing/2014/main" id="{4AC2AEAD-5504-5947-BA36-366E67D5A7D1}"/>
              </a:ext>
            </a:extLst>
          </p:cNvPr>
          <p:cNvSpPr/>
          <p:nvPr/>
        </p:nvSpPr>
        <p:spPr>
          <a:xfrm>
            <a:off x="1592385" y="2901845"/>
            <a:ext cx="3160706" cy="832680"/>
          </a:xfrm>
          <a:prstGeom prst="rect">
            <a:avLst/>
          </a:prstGeom>
          <a:solidFill>
            <a:schemeClr val="accent2">
              <a:alpha val="7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7" name="矩形 56">
            <a:extLst>
              <a:ext uri="{FF2B5EF4-FFF2-40B4-BE49-F238E27FC236}">
                <a16:creationId xmlns:a16="http://schemas.microsoft.com/office/drawing/2014/main" id="{7C14FEFA-3FA9-FF21-A0EC-C5BC22762BDB}"/>
              </a:ext>
            </a:extLst>
          </p:cNvPr>
          <p:cNvSpPr/>
          <p:nvPr/>
        </p:nvSpPr>
        <p:spPr>
          <a:xfrm>
            <a:off x="5067418" y="2901845"/>
            <a:ext cx="3160706" cy="832680"/>
          </a:xfrm>
          <a:prstGeom prst="rect">
            <a:avLst/>
          </a:prstGeom>
          <a:solidFill>
            <a:schemeClr val="accent2">
              <a:alpha val="7000"/>
            </a:schemeClr>
          </a:solidFill>
          <a:ln w="12700" cap="flat" cmpd="sng" algn="ctr">
            <a:no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58" name="矩形 57">
            <a:extLst>
              <a:ext uri="{FF2B5EF4-FFF2-40B4-BE49-F238E27FC236}">
                <a16:creationId xmlns:a16="http://schemas.microsoft.com/office/drawing/2014/main" id="{64959D66-F3F3-D977-9C4D-D3ED3F39250A}"/>
              </a:ext>
            </a:extLst>
          </p:cNvPr>
          <p:cNvSpPr/>
          <p:nvPr/>
        </p:nvSpPr>
        <p:spPr>
          <a:xfrm>
            <a:off x="8542344" y="2901845"/>
            <a:ext cx="3160706" cy="832680"/>
          </a:xfrm>
          <a:prstGeom prst="rect">
            <a:avLst/>
          </a:prstGeom>
          <a:solidFill>
            <a:schemeClr val="accent2">
              <a:alpha val="7000"/>
            </a:schemeClr>
          </a:solidFill>
          <a:ln w="12700" cap="flat" cmpd="sng" algn="ctr">
            <a:no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59" name="等腰三角形 58">
            <a:extLst>
              <a:ext uri="{FF2B5EF4-FFF2-40B4-BE49-F238E27FC236}">
                <a16:creationId xmlns:a16="http://schemas.microsoft.com/office/drawing/2014/main" id="{D59EDA26-FD78-12C7-586B-35D6B8EBC0B1}"/>
              </a:ext>
            </a:extLst>
          </p:cNvPr>
          <p:cNvSpPr/>
          <p:nvPr/>
        </p:nvSpPr>
        <p:spPr>
          <a:xfrm flipV="1">
            <a:off x="3065642" y="3828502"/>
            <a:ext cx="214192" cy="111065"/>
          </a:xfrm>
          <a:prstGeom prst="triangle">
            <a:avLst/>
          </a:prstGeom>
          <a:solidFill>
            <a:schemeClr val="accent1"/>
          </a:solidFill>
          <a:ln w="12700" cap="flat" cmpd="sng" algn="ctr">
            <a:noFill/>
            <a:prstDash val="solid"/>
            <a:miter lim="800000"/>
          </a:ln>
          <a:effectLst>
            <a:outerShdw blurRad="76200" sx="102000" sy="1020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60" name="等腰三角形 59">
            <a:extLst>
              <a:ext uri="{FF2B5EF4-FFF2-40B4-BE49-F238E27FC236}">
                <a16:creationId xmlns:a16="http://schemas.microsoft.com/office/drawing/2014/main" id="{3452B0F5-AC3C-96DF-2AB7-962C02284681}"/>
              </a:ext>
            </a:extLst>
          </p:cNvPr>
          <p:cNvSpPr/>
          <p:nvPr/>
        </p:nvSpPr>
        <p:spPr>
          <a:xfrm flipV="1">
            <a:off x="6540675" y="3854708"/>
            <a:ext cx="214192" cy="111065"/>
          </a:xfrm>
          <a:prstGeom prst="triangle">
            <a:avLst/>
          </a:prstGeom>
          <a:solidFill>
            <a:schemeClr val="accent1"/>
          </a:solidFill>
          <a:ln w="12700" cap="flat" cmpd="sng" algn="ctr">
            <a:noFill/>
            <a:prstDash val="solid"/>
            <a:miter lim="800000"/>
          </a:ln>
          <a:effectLst>
            <a:outerShdw blurRad="76200" sx="102000" sy="1020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61" name="等腰三角形 60">
            <a:extLst>
              <a:ext uri="{FF2B5EF4-FFF2-40B4-BE49-F238E27FC236}">
                <a16:creationId xmlns:a16="http://schemas.microsoft.com/office/drawing/2014/main" id="{43983FB1-228E-6A9D-5963-092096A90D04}"/>
              </a:ext>
            </a:extLst>
          </p:cNvPr>
          <p:cNvSpPr/>
          <p:nvPr/>
        </p:nvSpPr>
        <p:spPr>
          <a:xfrm flipV="1">
            <a:off x="10015601" y="3854708"/>
            <a:ext cx="214192" cy="111065"/>
          </a:xfrm>
          <a:prstGeom prst="triangle">
            <a:avLst/>
          </a:prstGeom>
          <a:solidFill>
            <a:schemeClr val="accent1"/>
          </a:solidFill>
          <a:ln w="12700" cap="flat" cmpd="sng" algn="ctr">
            <a:noFill/>
            <a:prstDash val="solid"/>
            <a:miter lim="800000"/>
          </a:ln>
          <a:effectLst>
            <a:outerShdw blurRad="76200" sx="102000" sy="1020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62" name="矩形 61">
            <a:extLst>
              <a:ext uri="{FF2B5EF4-FFF2-40B4-BE49-F238E27FC236}">
                <a16:creationId xmlns:a16="http://schemas.microsoft.com/office/drawing/2014/main" id="{459BCD59-3B30-BDB8-DAC9-16149B016808}"/>
              </a:ext>
            </a:extLst>
          </p:cNvPr>
          <p:cNvSpPr/>
          <p:nvPr/>
        </p:nvSpPr>
        <p:spPr>
          <a:xfrm>
            <a:off x="1592385" y="5466814"/>
            <a:ext cx="3160706" cy="832680"/>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3" name="矩形 62">
            <a:extLst>
              <a:ext uri="{FF2B5EF4-FFF2-40B4-BE49-F238E27FC236}">
                <a16:creationId xmlns:a16="http://schemas.microsoft.com/office/drawing/2014/main" id="{7720F624-449C-5BCF-EECD-DF9D9BFB46A4}"/>
              </a:ext>
            </a:extLst>
          </p:cNvPr>
          <p:cNvSpPr/>
          <p:nvPr/>
        </p:nvSpPr>
        <p:spPr>
          <a:xfrm>
            <a:off x="1778493" y="4033544"/>
            <a:ext cx="2788704" cy="1134251"/>
          </a:xfrm>
          <a:prstGeom prst="rect">
            <a:avLst/>
          </a:prstGeom>
          <a:gradFill flip="none" rotWithShape="1">
            <a:gsLst>
              <a:gs pos="25000">
                <a:schemeClr val="accent3"/>
              </a:gs>
              <a:gs pos="99083">
                <a:schemeClr val="bg1"/>
              </a:gs>
            </a:gsLst>
            <a:lin ang="5400000" scaled="1"/>
            <a:tileRect/>
          </a:gradFill>
          <a:ln w="3175" cap="flat" cmpd="sng" algn="ctr">
            <a:solidFill>
              <a:srgbClr val="0B4FA1"/>
            </a:solidFill>
            <a:prstDash val="solid"/>
            <a:miter lim="800000"/>
          </a:ln>
          <a:effectLst>
            <a:outerShdw blurRad="304800" sx="102000" sy="102000" algn="ctr" rotWithShape="0">
              <a:schemeClr val="accent1">
                <a:alpha val="16000"/>
              </a:schemeClr>
            </a:outerShdw>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64" name="等腰三角形 63">
            <a:extLst>
              <a:ext uri="{FF2B5EF4-FFF2-40B4-BE49-F238E27FC236}">
                <a16:creationId xmlns:a16="http://schemas.microsoft.com/office/drawing/2014/main" id="{3802D0B9-20A9-55E5-0B98-E787D98C6305}"/>
              </a:ext>
            </a:extLst>
          </p:cNvPr>
          <p:cNvSpPr/>
          <p:nvPr/>
        </p:nvSpPr>
        <p:spPr>
          <a:xfrm flipV="1">
            <a:off x="3065642" y="5261772"/>
            <a:ext cx="214192" cy="111065"/>
          </a:xfrm>
          <a:prstGeom prst="triangle">
            <a:avLst/>
          </a:prstGeom>
          <a:solidFill>
            <a:schemeClr val="accent1"/>
          </a:solidFill>
          <a:ln w="12700" cap="flat" cmpd="sng" algn="ctr">
            <a:noFill/>
            <a:prstDash val="solid"/>
            <a:miter lim="800000"/>
          </a:ln>
          <a:effectLst>
            <a:outerShdw blurRad="76200" sx="102000" sy="1020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65" name="文本框 64">
            <a:extLst>
              <a:ext uri="{FF2B5EF4-FFF2-40B4-BE49-F238E27FC236}">
                <a16:creationId xmlns:a16="http://schemas.microsoft.com/office/drawing/2014/main" id="{BFE24891-0057-15FE-6336-F130CDF367A4}"/>
              </a:ext>
            </a:extLst>
          </p:cNvPr>
          <p:cNvSpPr txBox="1"/>
          <p:nvPr/>
        </p:nvSpPr>
        <p:spPr>
          <a:xfrm>
            <a:off x="1762681" y="2939804"/>
            <a:ext cx="2891781" cy="705962"/>
          </a:xfrm>
          <a:prstGeom prst="rect">
            <a:avLst/>
          </a:prstGeom>
          <a:noFill/>
        </p:spPr>
        <p:txBody>
          <a:bodyPr wrap="square">
            <a:spAutoFit/>
          </a:bodyPr>
          <a:lstStyle/>
          <a:p>
            <a:pPr>
              <a:lnSpc>
                <a:spcPct val="130000"/>
              </a:lnSpc>
            </a:pPr>
            <a:r>
              <a:rPr lang="zh-CN" altLang="en-US" sz="1600" dirty="0">
                <a:solidFill>
                  <a:srgbClr val="060607"/>
                </a:solidFill>
                <a:latin typeface="微软雅黑" panose="020B0503020204020204" pitchFamily="34" charset="-122"/>
                <a:ea typeface="微软雅黑" panose="020B0503020204020204" pitchFamily="34" charset="-122"/>
              </a:rPr>
              <a:t>带季风区气候复杂，干旱的时空分布不均</a:t>
            </a:r>
            <a:endParaRPr lang="zh-CN" altLang="en-US" sz="1600" dirty="0">
              <a:solidFill>
                <a:prstClr val="black"/>
              </a:solidFill>
              <a:latin typeface="微软雅黑" panose="020B0503020204020204" pitchFamily="34" charset="-122"/>
              <a:ea typeface="微软雅黑" panose="020B0503020204020204" pitchFamily="34" charset="-122"/>
            </a:endParaRPr>
          </a:p>
        </p:txBody>
      </p:sp>
      <p:sp>
        <p:nvSpPr>
          <p:cNvPr id="66" name="文本框 65">
            <a:extLst>
              <a:ext uri="{FF2B5EF4-FFF2-40B4-BE49-F238E27FC236}">
                <a16:creationId xmlns:a16="http://schemas.microsoft.com/office/drawing/2014/main" id="{56EF7A17-F78E-CFCE-9C42-83AA064815CF}"/>
              </a:ext>
            </a:extLst>
          </p:cNvPr>
          <p:cNvSpPr txBox="1"/>
          <p:nvPr/>
        </p:nvSpPr>
        <p:spPr>
          <a:xfrm>
            <a:off x="5238662" y="2939804"/>
            <a:ext cx="2891781" cy="705962"/>
          </a:xfrm>
          <a:prstGeom prst="rect">
            <a:avLst/>
          </a:prstGeom>
          <a:noFill/>
        </p:spPr>
        <p:txBody>
          <a:bodyPr wrap="square">
            <a:spAutoFit/>
          </a:bodyPr>
          <a:lstStyle/>
          <a:p>
            <a:pPr>
              <a:lnSpc>
                <a:spcPct val="130000"/>
              </a:lnSpc>
            </a:pPr>
            <a:r>
              <a:rPr lang="zh-CN" altLang="en-US" sz="1600" dirty="0">
                <a:solidFill>
                  <a:srgbClr val="060607"/>
                </a:solidFill>
                <a:latin typeface="微软雅黑" panose="020B0503020204020204" pitchFamily="34" charset="-122"/>
                <a:ea typeface="微软雅黑" panose="020B0503020204020204" pitchFamily="34" charset="-122"/>
              </a:rPr>
              <a:t>岩溶区土壤层较薄，保水能力弱，植物更容易受到干旱胁迫</a:t>
            </a:r>
            <a:endParaRPr lang="zh-CN" altLang="en-US" sz="1600" dirty="0">
              <a:solidFill>
                <a:prstClr val="black"/>
              </a:solidFill>
              <a:latin typeface="微软雅黑" panose="020B0503020204020204" pitchFamily="34" charset="-122"/>
              <a:ea typeface="微软雅黑" panose="020B0503020204020204" pitchFamily="34" charset="-122"/>
            </a:endParaRPr>
          </a:p>
        </p:txBody>
      </p:sp>
      <p:sp>
        <p:nvSpPr>
          <p:cNvPr id="67" name="文本框 66">
            <a:extLst>
              <a:ext uri="{FF2B5EF4-FFF2-40B4-BE49-F238E27FC236}">
                <a16:creationId xmlns:a16="http://schemas.microsoft.com/office/drawing/2014/main" id="{314CA427-B0F6-5C83-FFE1-E2F2F78E15CD}"/>
              </a:ext>
            </a:extLst>
          </p:cNvPr>
          <p:cNvSpPr txBox="1"/>
          <p:nvPr/>
        </p:nvSpPr>
        <p:spPr>
          <a:xfrm>
            <a:off x="8717890" y="2939804"/>
            <a:ext cx="2891781" cy="705962"/>
          </a:xfrm>
          <a:prstGeom prst="rect">
            <a:avLst/>
          </a:prstGeom>
          <a:noFill/>
        </p:spPr>
        <p:txBody>
          <a:bodyPr wrap="square">
            <a:spAutoFit/>
          </a:bodyPr>
          <a:lstStyle/>
          <a:p>
            <a:pPr>
              <a:lnSpc>
                <a:spcPct val="130000"/>
              </a:lnSpc>
            </a:pPr>
            <a:r>
              <a:rPr lang="zh-CN" altLang="en-US" sz="1600" dirty="0">
                <a:solidFill>
                  <a:srgbClr val="060607"/>
                </a:solidFill>
                <a:latin typeface="微软雅黑" panose="020B0503020204020204" pitchFamily="34" charset="-122"/>
                <a:ea typeface="微软雅黑" panose="020B0503020204020204" pitchFamily="34" charset="-122"/>
              </a:rPr>
              <a:t>不同岩性区域的土壤水、地下水和降水的同位素组成差异</a:t>
            </a:r>
            <a:endParaRPr lang="zh-CN" altLang="en-US" sz="1600" dirty="0">
              <a:solidFill>
                <a:prstClr val="black"/>
              </a:solidFill>
              <a:latin typeface="微软雅黑" panose="020B0503020204020204" pitchFamily="34" charset="-122"/>
              <a:ea typeface="微软雅黑" panose="020B0503020204020204" pitchFamily="34" charset="-122"/>
            </a:endParaRPr>
          </a:p>
        </p:txBody>
      </p:sp>
      <p:sp>
        <p:nvSpPr>
          <p:cNvPr id="68" name="矩形 67">
            <a:extLst>
              <a:ext uri="{FF2B5EF4-FFF2-40B4-BE49-F238E27FC236}">
                <a16:creationId xmlns:a16="http://schemas.microsoft.com/office/drawing/2014/main" id="{C0898607-B318-3E2E-1246-3DE6C6BEE82C}"/>
              </a:ext>
            </a:extLst>
          </p:cNvPr>
          <p:cNvSpPr/>
          <p:nvPr/>
        </p:nvSpPr>
        <p:spPr>
          <a:xfrm>
            <a:off x="5253419" y="4033544"/>
            <a:ext cx="2788704" cy="1134251"/>
          </a:xfrm>
          <a:prstGeom prst="rect">
            <a:avLst/>
          </a:prstGeom>
          <a:gradFill flip="none" rotWithShape="1">
            <a:gsLst>
              <a:gs pos="25000">
                <a:schemeClr val="accent3"/>
              </a:gs>
              <a:gs pos="99083">
                <a:schemeClr val="bg1"/>
              </a:gs>
            </a:gsLst>
            <a:lin ang="5400000" scaled="1"/>
            <a:tileRect/>
          </a:gradFill>
          <a:ln w="3175" cap="flat" cmpd="sng" algn="ctr">
            <a:solidFill>
              <a:srgbClr val="0B4FA1"/>
            </a:solidFill>
            <a:prstDash val="solid"/>
            <a:miter lim="800000"/>
          </a:ln>
          <a:effectLst>
            <a:outerShdw blurRad="304800" sx="102000" sy="102000" algn="ctr" rotWithShape="0">
              <a:schemeClr val="accent1">
                <a:alpha val="16000"/>
              </a:schemeClr>
            </a:outerShdw>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69" name="矩形 68">
            <a:extLst>
              <a:ext uri="{FF2B5EF4-FFF2-40B4-BE49-F238E27FC236}">
                <a16:creationId xmlns:a16="http://schemas.microsoft.com/office/drawing/2014/main" id="{D92AC5AE-1008-76D1-98E6-9D052A98ED0C}"/>
              </a:ext>
            </a:extLst>
          </p:cNvPr>
          <p:cNvSpPr/>
          <p:nvPr/>
        </p:nvSpPr>
        <p:spPr>
          <a:xfrm>
            <a:off x="8728345" y="4033544"/>
            <a:ext cx="2788704" cy="1134251"/>
          </a:xfrm>
          <a:prstGeom prst="rect">
            <a:avLst/>
          </a:prstGeom>
          <a:gradFill flip="none" rotWithShape="1">
            <a:gsLst>
              <a:gs pos="25000">
                <a:schemeClr val="accent3"/>
              </a:gs>
              <a:gs pos="99083">
                <a:schemeClr val="bg1"/>
              </a:gs>
            </a:gsLst>
            <a:lin ang="5400000" scaled="1"/>
            <a:tileRect/>
          </a:gradFill>
          <a:ln w="3175" cap="flat" cmpd="sng" algn="ctr">
            <a:solidFill>
              <a:srgbClr val="0B4FA1"/>
            </a:solidFill>
            <a:prstDash val="solid"/>
            <a:miter lim="800000"/>
          </a:ln>
          <a:effectLst>
            <a:outerShdw blurRad="304800" sx="102000" sy="102000" algn="ctr" rotWithShape="0">
              <a:schemeClr val="accent1">
                <a:alpha val="16000"/>
              </a:schemeClr>
            </a:outerShdw>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70" name="矩形 69">
            <a:extLst>
              <a:ext uri="{FF2B5EF4-FFF2-40B4-BE49-F238E27FC236}">
                <a16:creationId xmlns:a16="http://schemas.microsoft.com/office/drawing/2014/main" id="{EFCB47EC-864B-AAD5-A472-00AA391549FE}"/>
              </a:ext>
            </a:extLst>
          </p:cNvPr>
          <p:cNvSpPr/>
          <p:nvPr/>
        </p:nvSpPr>
        <p:spPr>
          <a:xfrm>
            <a:off x="5067365" y="5466814"/>
            <a:ext cx="3160706" cy="832680"/>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1" name="矩形 70">
            <a:extLst>
              <a:ext uri="{FF2B5EF4-FFF2-40B4-BE49-F238E27FC236}">
                <a16:creationId xmlns:a16="http://schemas.microsoft.com/office/drawing/2014/main" id="{D499CDC0-6EAF-4CDE-EC69-384809F6400E}"/>
              </a:ext>
            </a:extLst>
          </p:cNvPr>
          <p:cNvSpPr/>
          <p:nvPr/>
        </p:nvSpPr>
        <p:spPr>
          <a:xfrm>
            <a:off x="8542344" y="5466814"/>
            <a:ext cx="3160706" cy="832680"/>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2" name="文本框 71">
            <a:extLst>
              <a:ext uri="{FF2B5EF4-FFF2-40B4-BE49-F238E27FC236}">
                <a16:creationId xmlns:a16="http://schemas.microsoft.com/office/drawing/2014/main" id="{328EC5CD-7D02-F580-116B-8C1346812E9D}"/>
              </a:ext>
            </a:extLst>
          </p:cNvPr>
          <p:cNvSpPr txBox="1"/>
          <p:nvPr/>
        </p:nvSpPr>
        <p:spPr>
          <a:xfrm>
            <a:off x="1887321" y="4046254"/>
            <a:ext cx="2586289" cy="1108830"/>
          </a:xfrm>
          <a:prstGeom prst="rect">
            <a:avLst/>
          </a:prstGeom>
          <a:noFill/>
        </p:spPr>
        <p:txBody>
          <a:bodyPr wrap="square">
            <a:spAutoFit/>
          </a:bodyPr>
          <a:lstStyle/>
          <a:p>
            <a:pPr marL="252000" indent="-252000">
              <a:lnSpc>
                <a:spcPct val="120000"/>
              </a:lnSpc>
              <a:buFont typeface="+mj-lt"/>
              <a:buAutoNum type="arabicPeriod"/>
            </a:pPr>
            <a:r>
              <a:rPr lang="zh-CN" altLang="en-US" sz="1400" dirty="0">
                <a:latin typeface="微软雅黑" panose="020B0503020204020204" pitchFamily="34" charset="-122"/>
                <a:ea typeface="微软雅黑" panose="020B0503020204020204" pitchFamily="34" charset="-122"/>
              </a:rPr>
              <a:t>构建综合干旱监测模型</a:t>
            </a:r>
          </a:p>
          <a:p>
            <a:pPr marL="252000" indent="-252000">
              <a:lnSpc>
                <a:spcPct val="120000"/>
              </a:lnSpc>
              <a:buFont typeface="+mj-lt"/>
              <a:buAutoNum type="arabicPeriod"/>
            </a:pPr>
            <a:r>
              <a:rPr lang="zh-CN" altLang="en-US" sz="1400" dirty="0">
                <a:latin typeface="微软雅黑" panose="020B0503020204020204" pitchFamily="34" charset="-122"/>
                <a:ea typeface="微软雅黑" panose="020B0503020204020204" pitchFamily="34" charset="-122"/>
              </a:rPr>
              <a:t>记录土壤水分含量，评估干旱发生的时间、强度和持续时间</a:t>
            </a:r>
          </a:p>
        </p:txBody>
      </p:sp>
      <p:sp>
        <p:nvSpPr>
          <p:cNvPr id="73" name="文本框 72">
            <a:extLst>
              <a:ext uri="{FF2B5EF4-FFF2-40B4-BE49-F238E27FC236}">
                <a16:creationId xmlns:a16="http://schemas.microsoft.com/office/drawing/2014/main" id="{71C87C36-C89F-C97A-ACCF-307579A4CD32}"/>
              </a:ext>
            </a:extLst>
          </p:cNvPr>
          <p:cNvSpPr txBox="1"/>
          <p:nvPr/>
        </p:nvSpPr>
        <p:spPr>
          <a:xfrm>
            <a:off x="5362487" y="4046254"/>
            <a:ext cx="2586289" cy="1108830"/>
          </a:xfrm>
          <a:prstGeom prst="rect">
            <a:avLst/>
          </a:prstGeom>
          <a:noFill/>
        </p:spPr>
        <p:txBody>
          <a:bodyPr wrap="square">
            <a:spAutoFit/>
          </a:bodyPr>
          <a:lstStyle/>
          <a:p>
            <a:pPr marL="252000" indent="-252000">
              <a:lnSpc>
                <a:spcPct val="120000"/>
              </a:lnSpc>
              <a:buFont typeface="+mj-lt"/>
              <a:buAutoNum type="arabicPeriod"/>
            </a:pPr>
            <a:r>
              <a:rPr lang="zh-CN" altLang="en-US" sz="1400" dirty="0">
                <a:latin typeface="微软雅黑" panose="020B0503020204020204" pitchFamily="34" charset="-122"/>
                <a:ea typeface="微软雅黑" panose="020B0503020204020204" pitchFamily="34" charset="-122"/>
              </a:rPr>
              <a:t>分析植物的水分来源和效率</a:t>
            </a:r>
            <a:endParaRPr lang="en-US" altLang="zh-CN" sz="1400" dirty="0">
              <a:latin typeface="微软雅黑" panose="020B0503020204020204" pitchFamily="34" charset="-122"/>
              <a:ea typeface="微软雅黑" panose="020B0503020204020204" pitchFamily="34" charset="-122"/>
            </a:endParaRPr>
          </a:p>
          <a:p>
            <a:pPr marL="252000" indent="-252000">
              <a:lnSpc>
                <a:spcPct val="120000"/>
              </a:lnSpc>
              <a:buFont typeface="+mj-lt"/>
              <a:buAutoNum type="arabicPeriod"/>
            </a:pPr>
            <a:r>
              <a:rPr lang="zh-CN" altLang="en-US" sz="1400" dirty="0">
                <a:latin typeface="微软雅黑" panose="020B0503020204020204" pitchFamily="34" charset="-122"/>
                <a:ea typeface="微软雅黑" panose="020B0503020204020204" pitchFamily="34" charset="-122"/>
              </a:rPr>
              <a:t>测量植物叶片厚度、比叶面积等功能性状，分析其在不同岩性区域的变异</a:t>
            </a:r>
          </a:p>
        </p:txBody>
      </p:sp>
      <p:sp>
        <p:nvSpPr>
          <p:cNvPr id="74" name="文本框 73">
            <a:extLst>
              <a:ext uri="{FF2B5EF4-FFF2-40B4-BE49-F238E27FC236}">
                <a16:creationId xmlns:a16="http://schemas.microsoft.com/office/drawing/2014/main" id="{C39EBB13-14FE-D424-94A3-54641B4E3265}"/>
              </a:ext>
            </a:extLst>
          </p:cNvPr>
          <p:cNvSpPr txBox="1"/>
          <p:nvPr/>
        </p:nvSpPr>
        <p:spPr>
          <a:xfrm>
            <a:off x="8839955" y="4046254"/>
            <a:ext cx="2586289" cy="1108830"/>
          </a:xfrm>
          <a:prstGeom prst="rect">
            <a:avLst/>
          </a:prstGeom>
          <a:noFill/>
        </p:spPr>
        <p:txBody>
          <a:bodyPr wrap="square">
            <a:spAutoFit/>
          </a:bodyPr>
          <a:lstStyle/>
          <a:p>
            <a:pPr marL="252000" indent="-252000">
              <a:lnSpc>
                <a:spcPct val="120000"/>
              </a:lnSpc>
              <a:buFont typeface="+mj-lt"/>
              <a:buAutoNum type="arabicPeriod"/>
            </a:pPr>
            <a:r>
              <a:rPr lang="zh-CN" altLang="en-US" sz="1400" dirty="0">
                <a:latin typeface="微软雅黑" panose="020B0503020204020204" pitchFamily="34" charset="-122"/>
                <a:ea typeface="微软雅黑" panose="020B0503020204020204" pitchFamily="34" charset="-122"/>
              </a:rPr>
              <a:t>分析不同岩性区域土壤结构裂隙发育程度地下水分布</a:t>
            </a:r>
            <a:endParaRPr lang="en-US" altLang="zh-CN" sz="1400" dirty="0">
              <a:latin typeface="微软雅黑" panose="020B0503020204020204" pitchFamily="34" charset="-122"/>
              <a:ea typeface="微软雅黑" panose="020B0503020204020204" pitchFamily="34" charset="-122"/>
            </a:endParaRPr>
          </a:p>
          <a:p>
            <a:pPr marL="252000" indent="-252000">
              <a:lnSpc>
                <a:spcPct val="120000"/>
              </a:lnSpc>
              <a:buFont typeface="+mj-lt"/>
              <a:buAutoNum type="arabicPeriod"/>
            </a:pPr>
            <a:r>
              <a:rPr lang="zh-CN" altLang="en-US" sz="1400" dirty="0">
                <a:latin typeface="微软雅黑" panose="020B0503020204020204" pitchFamily="34" charset="-122"/>
                <a:ea typeface="微软雅黑" panose="020B0503020204020204" pitchFamily="34" charset="-122"/>
              </a:rPr>
              <a:t>模拟不同岩性森林在干旱条件下水分循环和动态变化</a:t>
            </a:r>
          </a:p>
        </p:txBody>
      </p:sp>
      <p:sp>
        <p:nvSpPr>
          <p:cNvPr id="75" name="文本框 74">
            <a:extLst>
              <a:ext uri="{FF2B5EF4-FFF2-40B4-BE49-F238E27FC236}">
                <a16:creationId xmlns:a16="http://schemas.microsoft.com/office/drawing/2014/main" id="{1EE41AD5-F1C9-DA54-A175-E37395E49415}"/>
              </a:ext>
            </a:extLst>
          </p:cNvPr>
          <p:cNvSpPr txBox="1"/>
          <p:nvPr/>
        </p:nvSpPr>
        <p:spPr>
          <a:xfrm>
            <a:off x="1783184" y="5540428"/>
            <a:ext cx="2801686" cy="662874"/>
          </a:xfrm>
          <a:prstGeom prst="rect">
            <a:avLst/>
          </a:prstGeom>
          <a:noFill/>
        </p:spPr>
        <p:txBody>
          <a:bodyPr wrap="square">
            <a:spAutoFit/>
          </a:bodyPr>
          <a:lstStyle/>
          <a:p>
            <a:pPr>
              <a:lnSpc>
                <a:spcPct val="120000"/>
              </a:lnSpc>
            </a:pPr>
            <a:r>
              <a:rPr lang="zh-CN" altLang="en-US" sz="1600" dirty="0">
                <a:solidFill>
                  <a:prstClr val="white"/>
                </a:solidFill>
                <a:latin typeface="微软雅黑" panose="020B0503020204020204" pitchFamily="34" charset="-122"/>
                <a:ea typeface="微软雅黑" panose="020B0503020204020204" pitchFamily="34" charset="-122"/>
              </a:rPr>
              <a:t>构建综合干旱指数（</a:t>
            </a:r>
            <a:r>
              <a:rPr lang="en-US" altLang="zh-CN" sz="1600" dirty="0">
                <a:solidFill>
                  <a:prstClr val="white"/>
                </a:solidFill>
                <a:latin typeface="微软雅黑" panose="020B0503020204020204" pitchFamily="34" charset="-122"/>
                <a:ea typeface="微软雅黑" panose="020B0503020204020204" pitchFamily="34" charset="-122"/>
              </a:rPr>
              <a:t>CDI</a:t>
            </a:r>
            <a:r>
              <a:rPr lang="zh-CN" altLang="en-US" sz="1600" dirty="0">
                <a:solidFill>
                  <a:prstClr val="white"/>
                </a:solidFill>
                <a:latin typeface="微软雅黑" panose="020B0503020204020204" pitchFamily="34" charset="-122"/>
                <a:ea typeface="微软雅黑" panose="020B0503020204020204" pitchFamily="34" charset="-122"/>
              </a:rPr>
              <a:t>）以提高干旱监测的精度</a:t>
            </a:r>
          </a:p>
        </p:txBody>
      </p:sp>
      <p:sp>
        <p:nvSpPr>
          <p:cNvPr id="76" name="文本框 75">
            <a:extLst>
              <a:ext uri="{FF2B5EF4-FFF2-40B4-BE49-F238E27FC236}">
                <a16:creationId xmlns:a16="http://schemas.microsoft.com/office/drawing/2014/main" id="{0471995B-0ADD-228F-7FB6-8755CF317F35}"/>
              </a:ext>
            </a:extLst>
          </p:cNvPr>
          <p:cNvSpPr txBox="1"/>
          <p:nvPr/>
        </p:nvSpPr>
        <p:spPr>
          <a:xfrm>
            <a:off x="5227373" y="5540428"/>
            <a:ext cx="2978120" cy="662874"/>
          </a:xfrm>
          <a:prstGeom prst="rect">
            <a:avLst/>
          </a:prstGeom>
          <a:noFill/>
        </p:spPr>
        <p:txBody>
          <a:bodyPr wrap="square">
            <a:spAutoFit/>
          </a:bodyPr>
          <a:lstStyle/>
          <a:p>
            <a:pPr>
              <a:lnSpc>
                <a:spcPct val="120000"/>
              </a:lnSpc>
            </a:pPr>
            <a:r>
              <a:rPr lang="zh-CN" altLang="en-US" sz="1600" dirty="0">
                <a:solidFill>
                  <a:prstClr val="white"/>
                </a:solidFill>
                <a:latin typeface="微软雅黑" panose="020B0503020204020204" pitchFamily="34" charset="-122"/>
                <a:ea typeface="微软雅黑" panose="020B0503020204020204" pitchFamily="34" charset="-122"/>
              </a:rPr>
              <a:t>模拟不同岩性森林对干旱的响应机制，预测未来气候变化</a:t>
            </a:r>
          </a:p>
        </p:txBody>
      </p:sp>
      <p:sp>
        <p:nvSpPr>
          <p:cNvPr id="77" name="文本框 76">
            <a:extLst>
              <a:ext uri="{FF2B5EF4-FFF2-40B4-BE49-F238E27FC236}">
                <a16:creationId xmlns:a16="http://schemas.microsoft.com/office/drawing/2014/main" id="{55346BD5-E333-F829-FAEC-63EC306B2F91}"/>
              </a:ext>
            </a:extLst>
          </p:cNvPr>
          <p:cNvSpPr txBox="1"/>
          <p:nvPr/>
        </p:nvSpPr>
        <p:spPr>
          <a:xfrm>
            <a:off x="8739634" y="5540428"/>
            <a:ext cx="2801686" cy="662874"/>
          </a:xfrm>
          <a:prstGeom prst="rect">
            <a:avLst/>
          </a:prstGeom>
          <a:noFill/>
        </p:spPr>
        <p:txBody>
          <a:bodyPr wrap="square">
            <a:spAutoFit/>
          </a:bodyPr>
          <a:lstStyle/>
          <a:p>
            <a:pPr>
              <a:lnSpc>
                <a:spcPct val="120000"/>
              </a:lnSpc>
            </a:pPr>
            <a:r>
              <a:rPr lang="zh-CN" altLang="en-US" sz="1600" dirty="0">
                <a:solidFill>
                  <a:prstClr val="white"/>
                </a:solidFill>
                <a:latin typeface="微软雅黑" panose="020B0503020204020204" pitchFamily="34" charset="-122"/>
                <a:ea typeface="微软雅黑" panose="020B0503020204020204" pitchFamily="34" charset="-122"/>
              </a:rPr>
              <a:t>建立干旱指标与生态系统响应之间的关联模型</a:t>
            </a:r>
          </a:p>
        </p:txBody>
      </p:sp>
      <p:sp>
        <p:nvSpPr>
          <p:cNvPr id="2" name="矩形 1">
            <a:extLst>
              <a:ext uri="{FF2B5EF4-FFF2-40B4-BE49-F238E27FC236}">
                <a16:creationId xmlns:a16="http://schemas.microsoft.com/office/drawing/2014/main" id="{AE7A15E5-D18D-7301-0C4D-AE16B383348A}"/>
              </a:ext>
            </a:extLst>
          </p:cNvPr>
          <p:cNvSpPr/>
          <p:nvPr/>
        </p:nvSpPr>
        <p:spPr>
          <a:xfrm>
            <a:off x="0" y="1066800"/>
            <a:ext cx="12192000" cy="5791200"/>
          </a:xfrm>
          <a:prstGeom prst="rect">
            <a:avLst/>
          </a:prstGeom>
          <a:solidFill>
            <a:srgbClr val="FFFFFF"/>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67948C9A-AE17-6951-1CBE-9F6B035477C6}"/>
              </a:ext>
            </a:extLst>
          </p:cNvPr>
          <p:cNvSpPr/>
          <p:nvPr/>
        </p:nvSpPr>
        <p:spPr>
          <a:xfrm>
            <a:off x="431800" y="1219200"/>
            <a:ext cx="11328400" cy="533400"/>
          </a:xfrm>
          <a:prstGeom prst="rect">
            <a:avLst/>
          </a:prstGeom>
          <a:solidFill>
            <a:srgbClr val="0054A0"/>
          </a:solidFill>
          <a:ln w="1270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700" b="1">
                <a:solidFill>
                  <a:srgbClr val="FFFFFF"/>
                </a:solidFill>
                <a:latin typeface="微软雅黑" panose="020B0503020204020204" pitchFamily="34" charset="-122"/>
              </a:rPr>
              <a:t>前馈式 </a:t>
            </a:r>
            <a:r>
              <a:rPr lang="en-US" altLang="zh-CN" sz="1700" b="1">
                <a:solidFill>
                  <a:srgbClr val="FFFFFF"/>
                </a:solidFill>
                <a:latin typeface="微软雅黑" panose="020B0503020204020204" pitchFamily="34" charset="-122"/>
              </a:rPr>
              <a:t>3R </a:t>
            </a:r>
            <a:r>
              <a:rPr lang="zh-CN" altLang="en-US" sz="1700" b="1">
                <a:solidFill>
                  <a:srgbClr val="FFFFFF"/>
                </a:solidFill>
                <a:latin typeface="微软雅黑" panose="020B0503020204020204" pitchFamily="34" charset="-122"/>
              </a:rPr>
              <a:t>模型降低了三维重建门槛，但工程使用仍然分散</a:t>
            </a:r>
          </a:p>
        </p:txBody>
      </p:sp>
      <p:sp>
        <p:nvSpPr>
          <p:cNvPr id="4" name="文本框 3">
            <a:extLst>
              <a:ext uri="{FF2B5EF4-FFF2-40B4-BE49-F238E27FC236}">
                <a16:creationId xmlns:a16="http://schemas.microsoft.com/office/drawing/2014/main" id="{B890EB67-30E9-F6FA-BB27-EF6BF846102B}"/>
              </a:ext>
            </a:extLst>
          </p:cNvPr>
          <p:cNvSpPr txBox="1"/>
          <p:nvPr/>
        </p:nvSpPr>
        <p:spPr>
          <a:xfrm>
            <a:off x="889000" y="2159000"/>
            <a:ext cx="10414000" cy="287258"/>
          </a:xfrm>
          <a:prstGeom prst="rect">
            <a:avLst/>
          </a:prstGeom>
          <a:noFill/>
        </p:spPr>
        <p:txBody>
          <a:bodyPr vert="horz" lIns="25400" tIns="12700" rIns="25400" bIns="12700" rtlCol="0">
            <a:spAutoFit/>
          </a:bodyPr>
          <a:lstStyle/>
          <a:p>
            <a:pPr algn="ctr"/>
            <a:r>
              <a:rPr lang="en-US" altLang="zh-CN" sz="1700" b="1">
                <a:solidFill>
                  <a:srgbClr val="00417D"/>
                </a:solidFill>
                <a:latin typeface="微软雅黑" panose="020B0503020204020204" pitchFamily="34" charset="-122"/>
              </a:rPr>
              <a:t>DUSt3R </a:t>
            </a:r>
            <a:r>
              <a:rPr lang="zh-CN" altLang="en-US" sz="1700" b="1">
                <a:solidFill>
                  <a:srgbClr val="00417D"/>
                </a:solidFill>
                <a:latin typeface="微软雅黑" panose="020B0503020204020204" pitchFamily="34" charset="-122"/>
              </a:rPr>
              <a:t>以来，三维重建逐步从多阶段几何流程转向端到端前馈推理。</a:t>
            </a:r>
          </a:p>
        </p:txBody>
      </p:sp>
      <p:sp>
        <p:nvSpPr>
          <p:cNvPr id="5" name="矩形 4">
            <a:extLst>
              <a:ext uri="{FF2B5EF4-FFF2-40B4-BE49-F238E27FC236}">
                <a16:creationId xmlns:a16="http://schemas.microsoft.com/office/drawing/2014/main" id="{C353E191-0267-1706-83C0-9730B5C858B4}"/>
              </a:ext>
            </a:extLst>
          </p:cNvPr>
          <p:cNvSpPr/>
          <p:nvPr/>
        </p:nvSpPr>
        <p:spPr>
          <a:xfrm>
            <a:off x="698500" y="3111500"/>
            <a:ext cx="1600200" cy="6858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500" b="1">
                <a:solidFill>
                  <a:srgbClr val="052346"/>
                </a:solidFill>
                <a:latin typeface="微软雅黑" panose="020B0503020204020204" pitchFamily="34" charset="-122"/>
              </a:rPr>
              <a:t>输入图像</a:t>
            </a:r>
          </a:p>
        </p:txBody>
      </p:sp>
      <p:cxnSp>
        <p:nvCxnSpPr>
          <p:cNvPr id="7" name="直接连接符 6">
            <a:extLst>
              <a:ext uri="{FF2B5EF4-FFF2-40B4-BE49-F238E27FC236}">
                <a16:creationId xmlns:a16="http://schemas.microsoft.com/office/drawing/2014/main" id="{E6180EF6-DBDC-ECF9-10D3-8DDD3062CE99}"/>
              </a:ext>
            </a:extLst>
          </p:cNvPr>
          <p:cNvCxnSpPr/>
          <p:nvPr/>
        </p:nvCxnSpPr>
        <p:spPr>
          <a:xfrm>
            <a:off x="2349500" y="3454400"/>
            <a:ext cx="406400" cy="0"/>
          </a:xfrm>
          <a:prstGeom prst="line">
            <a:avLst/>
          </a:prstGeom>
          <a:ln w="25400">
            <a:solidFill>
              <a:srgbClr val="236CB4"/>
            </a:solidFill>
            <a:tailEnd type="arrow"/>
          </a:ln>
        </p:spPr>
        <p:style>
          <a:lnRef idx="1">
            <a:schemeClr val="accent1"/>
          </a:lnRef>
          <a:fillRef idx="0">
            <a:schemeClr val="accent1"/>
          </a:fillRef>
          <a:effectRef idx="0">
            <a:schemeClr val="accent1"/>
          </a:effectRef>
          <a:fontRef idx="minor">
            <a:schemeClr val="tx1"/>
          </a:fontRef>
        </p:style>
      </p:cxnSp>
      <p:sp>
        <p:nvSpPr>
          <p:cNvPr id="8" name="矩形 7">
            <a:extLst>
              <a:ext uri="{FF2B5EF4-FFF2-40B4-BE49-F238E27FC236}">
                <a16:creationId xmlns:a16="http://schemas.microsoft.com/office/drawing/2014/main" id="{A6745254-9E04-009E-4E78-C9F9FC54C502}"/>
              </a:ext>
            </a:extLst>
          </p:cNvPr>
          <p:cNvSpPr/>
          <p:nvPr/>
        </p:nvSpPr>
        <p:spPr>
          <a:xfrm>
            <a:off x="2908300" y="3111500"/>
            <a:ext cx="1600200" cy="685800"/>
          </a:xfrm>
          <a:prstGeom prst="rect">
            <a:avLst/>
          </a:prstGeom>
          <a:solidFill>
            <a:srgbClr val="FFFFFF"/>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500" b="1">
                <a:solidFill>
                  <a:srgbClr val="052346"/>
                </a:solidFill>
                <a:latin typeface="微软雅黑" panose="020B0503020204020204" pitchFamily="34" charset="-122"/>
              </a:rPr>
              <a:t>模型推理</a:t>
            </a:r>
          </a:p>
        </p:txBody>
      </p:sp>
      <p:cxnSp>
        <p:nvCxnSpPr>
          <p:cNvPr id="9" name="直接连接符 8">
            <a:extLst>
              <a:ext uri="{FF2B5EF4-FFF2-40B4-BE49-F238E27FC236}">
                <a16:creationId xmlns:a16="http://schemas.microsoft.com/office/drawing/2014/main" id="{1EEE530D-BC3F-E7C2-3714-FB79B0992A07}"/>
              </a:ext>
            </a:extLst>
          </p:cNvPr>
          <p:cNvCxnSpPr/>
          <p:nvPr/>
        </p:nvCxnSpPr>
        <p:spPr>
          <a:xfrm>
            <a:off x="4559300" y="3454400"/>
            <a:ext cx="406400" cy="0"/>
          </a:xfrm>
          <a:prstGeom prst="line">
            <a:avLst/>
          </a:prstGeom>
          <a:ln w="25400">
            <a:solidFill>
              <a:srgbClr val="236CB4"/>
            </a:solidFill>
            <a:tailEnd type="arrow"/>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C720C3B2-F142-1F52-3EC0-DE37147FB7AD}"/>
              </a:ext>
            </a:extLst>
          </p:cNvPr>
          <p:cNvSpPr/>
          <p:nvPr/>
        </p:nvSpPr>
        <p:spPr>
          <a:xfrm>
            <a:off x="5118100" y="3111500"/>
            <a:ext cx="1600200" cy="6858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500" b="1">
                <a:solidFill>
                  <a:srgbClr val="052346"/>
                </a:solidFill>
                <a:latin typeface="微软雅黑" panose="020B0503020204020204" pitchFamily="34" charset="-122"/>
              </a:rPr>
              <a:t>点图输出</a:t>
            </a:r>
          </a:p>
        </p:txBody>
      </p:sp>
      <p:cxnSp>
        <p:nvCxnSpPr>
          <p:cNvPr id="11" name="直接连接符 10">
            <a:extLst>
              <a:ext uri="{FF2B5EF4-FFF2-40B4-BE49-F238E27FC236}">
                <a16:creationId xmlns:a16="http://schemas.microsoft.com/office/drawing/2014/main" id="{9567DDA3-F626-6AB4-92C4-3E4986E0738B}"/>
              </a:ext>
            </a:extLst>
          </p:cNvPr>
          <p:cNvCxnSpPr/>
          <p:nvPr/>
        </p:nvCxnSpPr>
        <p:spPr>
          <a:xfrm>
            <a:off x="6769100" y="3454400"/>
            <a:ext cx="406400" cy="0"/>
          </a:xfrm>
          <a:prstGeom prst="line">
            <a:avLst/>
          </a:prstGeom>
          <a:ln w="25400">
            <a:solidFill>
              <a:srgbClr val="236CB4"/>
            </a:solidFill>
            <a:tailEnd type="arrow"/>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8C0EDE55-31F8-2D90-9EA9-75271E41EDF5}"/>
              </a:ext>
            </a:extLst>
          </p:cNvPr>
          <p:cNvSpPr/>
          <p:nvPr/>
        </p:nvSpPr>
        <p:spPr>
          <a:xfrm>
            <a:off x="7327900" y="3111500"/>
            <a:ext cx="1600200" cy="685800"/>
          </a:xfrm>
          <a:prstGeom prst="rect">
            <a:avLst/>
          </a:prstGeom>
          <a:solidFill>
            <a:srgbClr val="FFFFFF"/>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500" b="1">
                <a:solidFill>
                  <a:srgbClr val="052346"/>
                </a:solidFill>
                <a:latin typeface="微软雅黑" panose="020B0503020204020204" pitchFamily="34" charset="-122"/>
              </a:rPr>
              <a:t>结果转换</a:t>
            </a:r>
          </a:p>
        </p:txBody>
      </p:sp>
      <p:cxnSp>
        <p:nvCxnSpPr>
          <p:cNvPr id="14" name="直接连接符 13">
            <a:extLst>
              <a:ext uri="{FF2B5EF4-FFF2-40B4-BE49-F238E27FC236}">
                <a16:creationId xmlns:a16="http://schemas.microsoft.com/office/drawing/2014/main" id="{38B14C5B-62B0-8D31-33E8-DFE23AD39E35}"/>
              </a:ext>
            </a:extLst>
          </p:cNvPr>
          <p:cNvCxnSpPr/>
          <p:nvPr/>
        </p:nvCxnSpPr>
        <p:spPr>
          <a:xfrm>
            <a:off x="8978900" y="3454400"/>
            <a:ext cx="406400" cy="0"/>
          </a:xfrm>
          <a:prstGeom prst="line">
            <a:avLst/>
          </a:prstGeom>
          <a:ln w="25400">
            <a:solidFill>
              <a:srgbClr val="236CB4"/>
            </a:solidFill>
            <a:tailEnd type="arrow"/>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a16="http://schemas.microsoft.com/office/drawing/2014/main" id="{A77496B7-3066-30F1-D40F-FB2E9C2BD966}"/>
              </a:ext>
            </a:extLst>
          </p:cNvPr>
          <p:cNvSpPr/>
          <p:nvPr/>
        </p:nvSpPr>
        <p:spPr>
          <a:xfrm>
            <a:off x="9537700" y="3111500"/>
            <a:ext cx="1600200" cy="6858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500" b="1">
                <a:solidFill>
                  <a:srgbClr val="052346"/>
                </a:solidFill>
                <a:latin typeface="微软雅黑" panose="020B0503020204020204" pitchFamily="34" charset="-122"/>
              </a:rPr>
              <a:t>应用使用</a:t>
            </a:r>
          </a:p>
        </p:txBody>
      </p:sp>
      <p:sp>
        <p:nvSpPr>
          <p:cNvPr id="27" name="矩形 26">
            <a:extLst>
              <a:ext uri="{FF2B5EF4-FFF2-40B4-BE49-F238E27FC236}">
                <a16:creationId xmlns:a16="http://schemas.microsoft.com/office/drawing/2014/main" id="{289EC23E-919C-3049-3EBF-2709BC784A6E}"/>
              </a:ext>
            </a:extLst>
          </p:cNvPr>
          <p:cNvSpPr/>
          <p:nvPr/>
        </p:nvSpPr>
        <p:spPr>
          <a:xfrm>
            <a:off x="1143000" y="4445000"/>
            <a:ext cx="9906000" cy="7366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600" b="1">
                <a:solidFill>
                  <a:srgbClr val="052346"/>
                </a:solidFill>
                <a:latin typeface="微软雅黑" panose="020B0503020204020204" pitchFamily="34" charset="-122"/>
              </a:rPr>
              <a:t>平台建设的出发点：把模型能力从论文 </a:t>
            </a:r>
            <a:r>
              <a:rPr lang="en-US" altLang="zh-CN" sz="1600" b="1">
                <a:solidFill>
                  <a:srgbClr val="052346"/>
                </a:solidFill>
                <a:latin typeface="微软雅黑" panose="020B0503020204020204" pitchFamily="34" charset="-122"/>
              </a:rPr>
              <a:t>demo </a:t>
            </a:r>
            <a:r>
              <a:rPr lang="zh-CN" altLang="en-US" sz="1600" b="1">
                <a:solidFill>
                  <a:srgbClr val="052346"/>
                </a:solidFill>
                <a:latin typeface="微软雅黑" panose="020B0503020204020204" pitchFamily="34" charset="-122"/>
              </a:rPr>
              <a:t>和命令行脚本中抽取出来，形成可复现、可对比、可扩展的工程流程。</a:t>
            </a:r>
          </a:p>
        </p:txBody>
      </p:sp>
    </p:spTree>
    <p:extLst>
      <p:ext uri="{BB962C8B-B14F-4D97-AF65-F5344CB8AC3E}">
        <p14:creationId xmlns:p14="http://schemas.microsoft.com/office/powerpoint/2010/main" val="1663225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3DD42-58F1-BF23-F1D1-911D6ECA1AC9}"/>
            </a:ext>
          </a:extLst>
        </p:cNvPr>
        <p:cNvGrpSpPr/>
        <p:nvPr/>
      </p:nvGrpSpPr>
      <p:grpSpPr>
        <a:xfrm>
          <a:off x="0" y="0"/>
          <a:ext cx="0" cy="0"/>
          <a:chOff x="0" y="0"/>
          <a:chExt cx="0" cy="0"/>
        </a:xfrm>
      </p:grpSpPr>
      <p:sp>
        <p:nvSpPr>
          <p:cNvPr id="90" name="文本框 89">
            <a:extLst>
              <a:ext uri="{FF2B5EF4-FFF2-40B4-BE49-F238E27FC236}">
                <a16:creationId xmlns:a16="http://schemas.microsoft.com/office/drawing/2014/main" id="{25103B3E-9250-E6B9-EDDC-2ED6F90CF039}"/>
              </a:ext>
            </a:extLst>
          </p:cNvPr>
          <p:cNvSpPr txBox="1"/>
          <p:nvPr/>
        </p:nvSpPr>
        <p:spPr>
          <a:xfrm>
            <a:off x="115452" y="243436"/>
            <a:ext cx="772964" cy="369332"/>
          </a:xfrm>
          <a:prstGeom prst="rect">
            <a:avLst/>
          </a:prstGeom>
          <a:noFill/>
        </p:spPr>
        <p:txBody>
          <a:bodyPr wrap="square" rtlCol="0">
            <a:spAutoFit/>
          </a:bodyPr>
          <a:lstStyle/>
          <a:p>
            <a:pPr algn="ctr"/>
            <a:r>
              <a:rPr lang="en-US" altLang="zh-CN" b="1">
                <a:solidFill>
                  <a:srgbClr val="00417D"/>
                </a:solidFill>
                <a:latin typeface="微软雅黑" panose="020B0503020204020204" pitchFamily="34" charset="-122"/>
              </a:rPr>
              <a:t>1.2</a:t>
            </a:r>
            <a:endParaRPr lang="zh-CN" altLang="en-US" b="1" dirty="0">
              <a:solidFill>
                <a:srgbClr val="00417D"/>
              </a:solidFill>
              <a:latin typeface="微软雅黑" panose="020B0503020204020204" pitchFamily="34" charset="-122"/>
            </a:endParaRPr>
          </a:p>
        </p:txBody>
      </p:sp>
      <p:sp>
        <p:nvSpPr>
          <p:cNvPr id="92" name="文本框 91">
            <a:extLst>
              <a:ext uri="{FF2B5EF4-FFF2-40B4-BE49-F238E27FC236}">
                <a16:creationId xmlns:a16="http://schemas.microsoft.com/office/drawing/2014/main" id="{C27D3A61-0DEC-BA16-46CE-C27F01A6C4A8}"/>
              </a:ext>
            </a:extLst>
          </p:cNvPr>
          <p:cNvSpPr txBox="1"/>
          <p:nvPr/>
        </p:nvSpPr>
        <p:spPr>
          <a:xfrm>
            <a:off x="946461" y="269201"/>
            <a:ext cx="6440714" cy="477054"/>
          </a:xfrm>
          <a:prstGeom prst="rect">
            <a:avLst/>
          </a:prstGeom>
          <a:noFill/>
        </p:spPr>
        <p:txBody>
          <a:bodyPr wrap="square">
            <a:spAutoFit/>
          </a:bodyPr>
          <a:lstStyle/>
          <a:p>
            <a:r>
              <a:rPr lang="zh-CN" altLang="en-US" sz="2500" b="1">
                <a:solidFill>
                  <a:srgbClr val="00417D"/>
                </a:solidFill>
                <a:latin typeface="微软雅黑" panose="020B0503020204020204" pitchFamily="34" charset="-122"/>
              </a:rPr>
              <a:t>问题提出</a:t>
            </a:r>
            <a:endParaRPr lang="zh-CN" altLang="en-US" sz="2500" b="1" dirty="0">
              <a:solidFill>
                <a:srgbClr val="00417D"/>
              </a:solidFill>
              <a:latin typeface="微软雅黑" panose="020B0503020204020204" pitchFamily="34" charset="-122"/>
            </a:endParaRPr>
          </a:p>
        </p:txBody>
      </p:sp>
      <p:sp>
        <p:nvSpPr>
          <p:cNvPr id="6" name="矩形 5">
            <a:extLst>
              <a:ext uri="{FF2B5EF4-FFF2-40B4-BE49-F238E27FC236}">
                <a16:creationId xmlns:a16="http://schemas.microsoft.com/office/drawing/2014/main" id="{204B3276-1D6D-A659-B777-7A8B73B43410}"/>
              </a:ext>
            </a:extLst>
          </p:cNvPr>
          <p:cNvSpPr/>
          <p:nvPr/>
        </p:nvSpPr>
        <p:spPr>
          <a:xfrm>
            <a:off x="488951" y="1148185"/>
            <a:ext cx="11214099" cy="573683"/>
          </a:xfrm>
          <a:prstGeom prst="rect">
            <a:avLst/>
          </a:prstGeom>
          <a:solidFill>
            <a:schemeClr val="accent1"/>
          </a:solidFill>
          <a:ln w="317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3" name="文本框 12">
            <a:extLst>
              <a:ext uri="{FF2B5EF4-FFF2-40B4-BE49-F238E27FC236}">
                <a16:creationId xmlns:a16="http://schemas.microsoft.com/office/drawing/2014/main" id="{17E4BB18-6BF3-E577-1061-8ED13EE92896}"/>
              </a:ext>
            </a:extLst>
          </p:cNvPr>
          <p:cNvSpPr txBox="1"/>
          <p:nvPr/>
        </p:nvSpPr>
        <p:spPr>
          <a:xfrm>
            <a:off x="1848684" y="1204194"/>
            <a:ext cx="8494633" cy="461665"/>
          </a:xfrm>
          <a:prstGeom prst="rect">
            <a:avLst/>
          </a:prstGeom>
          <a:noFill/>
        </p:spPr>
        <p:txBody>
          <a:bodyPr wrap="none">
            <a:spAutoFit/>
          </a:bodyPr>
          <a:lstStyle/>
          <a:p>
            <a:pPr algn="ctr"/>
            <a:r>
              <a:rPr lang="zh-CN" altLang="en-US" sz="2400" b="1" dirty="0">
                <a:solidFill>
                  <a:schemeClr val="accent3"/>
                </a:solidFill>
                <a:latin typeface="微软雅黑" panose="020B0503020204020204" pitchFamily="34" charset="-122"/>
                <a:ea typeface="微软雅黑" panose="020B0503020204020204" pitchFamily="34" charset="-122"/>
              </a:rPr>
              <a:t>选择热带季风区中具有不同岩性的森林生态系统作为研究对象</a:t>
            </a:r>
          </a:p>
        </p:txBody>
      </p:sp>
      <p:grpSp>
        <p:nvGrpSpPr>
          <p:cNvPr id="16" name="组合 15">
            <a:extLst>
              <a:ext uri="{FF2B5EF4-FFF2-40B4-BE49-F238E27FC236}">
                <a16:creationId xmlns:a16="http://schemas.microsoft.com/office/drawing/2014/main" id="{78EB1953-AD90-70D1-101F-4F57C659A9D3}"/>
              </a:ext>
            </a:extLst>
          </p:cNvPr>
          <p:cNvGrpSpPr/>
          <p:nvPr/>
        </p:nvGrpSpPr>
        <p:grpSpPr>
          <a:xfrm>
            <a:off x="485774" y="1706080"/>
            <a:ext cx="11210925" cy="308759"/>
            <a:chOff x="490655" y="3938634"/>
            <a:chExt cx="5140454" cy="204788"/>
          </a:xfrm>
        </p:grpSpPr>
        <p:sp>
          <p:nvSpPr>
            <p:cNvPr id="17" name="任意多边形: 形状 16">
              <a:extLst>
                <a:ext uri="{FF2B5EF4-FFF2-40B4-BE49-F238E27FC236}">
                  <a16:creationId xmlns:a16="http://schemas.microsoft.com/office/drawing/2014/main" id="{1EB340B5-558D-4A4C-C06D-67931BC6006C}"/>
                </a:ext>
              </a:extLst>
            </p:cNvPr>
            <p:cNvSpPr/>
            <p:nvPr/>
          </p:nvSpPr>
          <p:spPr>
            <a:xfrm>
              <a:off x="490655" y="3943397"/>
              <a:ext cx="4600015" cy="200025"/>
            </a:xfrm>
            <a:custGeom>
              <a:avLst/>
              <a:gdLst>
                <a:gd name="connsiteX0" fmla="*/ 0 w 5229225"/>
                <a:gd name="connsiteY0" fmla="*/ 200025 h 200025"/>
                <a:gd name="connsiteX1" fmla="*/ 1047750 w 5229225"/>
                <a:gd name="connsiteY1" fmla="*/ 200025 h 200025"/>
                <a:gd name="connsiteX2" fmla="*/ 5229225 w 5229225"/>
                <a:gd name="connsiteY2" fmla="*/ 0 h 200025"/>
                <a:gd name="connsiteX3" fmla="*/ 642938 w 5229225"/>
                <a:gd name="connsiteY3" fmla="*/ 0 h 200025"/>
                <a:gd name="connsiteX4" fmla="*/ 0 w 5229225"/>
                <a:gd name="connsiteY4" fmla="*/ 200025 h 200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29225" h="200025">
                  <a:moveTo>
                    <a:pt x="0" y="200025"/>
                  </a:moveTo>
                  <a:lnTo>
                    <a:pt x="1047750" y="200025"/>
                  </a:lnTo>
                  <a:lnTo>
                    <a:pt x="5229225" y="0"/>
                  </a:lnTo>
                  <a:lnTo>
                    <a:pt x="642938" y="0"/>
                  </a:lnTo>
                  <a:lnTo>
                    <a:pt x="0" y="200025"/>
                  </a:lnTo>
                  <a:close/>
                </a:path>
              </a:pathLst>
            </a:custGeom>
            <a:gradFill>
              <a:gsLst>
                <a:gs pos="0">
                  <a:schemeClr val="accent1">
                    <a:alpha val="30000"/>
                  </a:schemeClr>
                </a:gs>
                <a:gs pos="100000">
                  <a:schemeClr val="accent1">
                    <a:alpha val="0"/>
                  </a:scheme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8" name="任意多边形: 形状 17">
              <a:extLst>
                <a:ext uri="{FF2B5EF4-FFF2-40B4-BE49-F238E27FC236}">
                  <a16:creationId xmlns:a16="http://schemas.microsoft.com/office/drawing/2014/main" id="{6063A832-FEA9-6E9B-BA1A-55F0A270B69D}"/>
                </a:ext>
              </a:extLst>
            </p:cNvPr>
            <p:cNvSpPr/>
            <p:nvPr/>
          </p:nvSpPr>
          <p:spPr>
            <a:xfrm>
              <a:off x="1068799" y="3943397"/>
              <a:ext cx="4009303" cy="195262"/>
            </a:xfrm>
            <a:custGeom>
              <a:avLst/>
              <a:gdLst>
                <a:gd name="connsiteX0" fmla="*/ 928688 w 4557713"/>
                <a:gd name="connsiteY0" fmla="*/ 195262 h 195262"/>
                <a:gd name="connsiteX1" fmla="*/ 1990725 w 4557713"/>
                <a:gd name="connsiteY1" fmla="*/ 195262 h 195262"/>
                <a:gd name="connsiteX2" fmla="*/ 4557713 w 4557713"/>
                <a:gd name="connsiteY2" fmla="*/ 0 h 195262"/>
                <a:gd name="connsiteX3" fmla="*/ 0 w 4557713"/>
                <a:gd name="connsiteY3" fmla="*/ 0 h 195262"/>
                <a:gd name="connsiteX4" fmla="*/ 928688 w 4557713"/>
                <a:gd name="connsiteY4" fmla="*/ 195262 h 1952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7713" h="195262">
                  <a:moveTo>
                    <a:pt x="928688" y="195262"/>
                  </a:moveTo>
                  <a:lnTo>
                    <a:pt x="1990725" y="195262"/>
                  </a:lnTo>
                  <a:lnTo>
                    <a:pt x="4557713" y="0"/>
                  </a:lnTo>
                  <a:lnTo>
                    <a:pt x="0" y="0"/>
                  </a:lnTo>
                  <a:lnTo>
                    <a:pt x="928688" y="195262"/>
                  </a:lnTo>
                  <a:close/>
                </a:path>
              </a:pathLst>
            </a:custGeom>
            <a:gradFill>
              <a:gsLst>
                <a:gs pos="0">
                  <a:schemeClr val="accent1">
                    <a:alpha val="30000"/>
                  </a:schemeClr>
                </a:gs>
                <a:gs pos="100000">
                  <a:schemeClr val="accent1">
                    <a:alpha val="0"/>
                  </a:scheme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9" name="任意多边形: 形状 18">
              <a:extLst>
                <a:ext uri="{FF2B5EF4-FFF2-40B4-BE49-F238E27FC236}">
                  <a16:creationId xmlns:a16="http://schemas.microsoft.com/office/drawing/2014/main" id="{3051218A-398A-D30B-0989-EADE8277FE7C}"/>
                </a:ext>
              </a:extLst>
            </p:cNvPr>
            <p:cNvSpPr/>
            <p:nvPr/>
          </p:nvSpPr>
          <p:spPr>
            <a:xfrm>
              <a:off x="1064610" y="3943397"/>
              <a:ext cx="4013492" cy="195262"/>
            </a:xfrm>
            <a:custGeom>
              <a:avLst/>
              <a:gdLst>
                <a:gd name="connsiteX0" fmla="*/ 2552700 w 4562475"/>
                <a:gd name="connsiteY0" fmla="*/ 195262 h 195262"/>
                <a:gd name="connsiteX1" fmla="*/ 3600450 w 4562475"/>
                <a:gd name="connsiteY1" fmla="*/ 195262 h 195262"/>
                <a:gd name="connsiteX2" fmla="*/ 4562475 w 4562475"/>
                <a:gd name="connsiteY2" fmla="*/ 0 h 195262"/>
                <a:gd name="connsiteX3" fmla="*/ 0 w 4562475"/>
                <a:gd name="connsiteY3" fmla="*/ 0 h 195262"/>
                <a:gd name="connsiteX4" fmla="*/ 2552700 w 4562475"/>
                <a:gd name="connsiteY4" fmla="*/ 195262 h 1952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2475" h="195262">
                  <a:moveTo>
                    <a:pt x="2552700" y="195262"/>
                  </a:moveTo>
                  <a:lnTo>
                    <a:pt x="3600450" y="195262"/>
                  </a:lnTo>
                  <a:lnTo>
                    <a:pt x="4562475" y="0"/>
                  </a:lnTo>
                  <a:lnTo>
                    <a:pt x="0" y="0"/>
                  </a:lnTo>
                  <a:lnTo>
                    <a:pt x="2552700" y="195262"/>
                  </a:lnTo>
                  <a:close/>
                </a:path>
              </a:pathLst>
            </a:custGeom>
            <a:gradFill>
              <a:gsLst>
                <a:gs pos="0">
                  <a:schemeClr val="accent1">
                    <a:alpha val="30000"/>
                  </a:schemeClr>
                </a:gs>
                <a:gs pos="100000">
                  <a:schemeClr val="accent1">
                    <a:alpha val="0"/>
                  </a:scheme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0" name="任意多边形: 形状 19">
              <a:extLst>
                <a:ext uri="{FF2B5EF4-FFF2-40B4-BE49-F238E27FC236}">
                  <a16:creationId xmlns:a16="http://schemas.microsoft.com/office/drawing/2014/main" id="{357FB65C-0A83-ABDE-A352-DD2F29CE1D1D}"/>
                </a:ext>
              </a:extLst>
            </p:cNvPr>
            <p:cNvSpPr/>
            <p:nvPr/>
          </p:nvSpPr>
          <p:spPr>
            <a:xfrm>
              <a:off x="1085557" y="3938634"/>
              <a:ext cx="4545552" cy="200025"/>
            </a:xfrm>
            <a:custGeom>
              <a:avLst/>
              <a:gdLst>
                <a:gd name="connsiteX0" fmla="*/ 5167313 w 5167313"/>
                <a:gd name="connsiteY0" fmla="*/ 200025 h 200025"/>
                <a:gd name="connsiteX1" fmla="*/ 4138613 w 5167313"/>
                <a:gd name="connsiteY1" fmla="*/ 200025 h 200025"/>
                <a:gd name="connsiteX2" fmla="*/ 0 w 5167313"/>
                <a:gd name="connsiteY2" fmla="*/ 0 h 200025"/>
                <a:gd name="connsiteX3" fmla="*/ 4538663 w 5167313"/>
                <a:gd name="connsiteY3" fmla="*/ 0 h 200025"/>
                <a:gd name="connsiteX4" fmla="*/ 5167313 w 5167313"/>
                <a:gd name="connsiteY4" fmla="*/ 200025 h 200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67313" h="200025">
                  <a:moveTo>
                    <a:pt x="5167313" y="200025"/>
                  </a:moveTo>
                  <a:lnTo>
                    <a:pt x="4138613" y="200025"/>
                  </a:lnTo>
                  <a:lnTo>
                    <a:pt x="0" y="0"/>
                  </a:lnTo>
                  <a:lnTo>
                    <a:pt x="4538663" y="0"/>
                  </a:lnTo>
                  <a:lnTo>
                    <a:pt x="5167313" y="200025"/>
                  </a:lnTo>
                  <a:close/>
                </a:path>
              </a:pathLst>
            </a:custGeom>
            <a:gradFill>
              <a:gsLst>
                <a:gs pos="0">
                  <a:schemeClr val="accent1">
                    <a:alpha val="30000"/>
                  </a:schemeClr>
                </a:gs>
                <a:gs pos="100000">
                  <a:schemeClr val="accent1">
                    <a:alpha val="0"/>
                  </a:scheme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21" name="组合 20">
            <a:extLst>
              <a:ext uri="{FF2B5EF4-FFF2-40B4-BE49-F238E27FC236}">
                <a16:creationId xmlns:a16="http://schemas.microsoft.com/office/drawing/2014/main" id="{A337F25B-75BB-78BD-8329-594463BC8D29}"/>
              </a:ext>
            </a:extLst>
          </p:cNvPr>
          <p:cNvGrpSpPr/>
          <p:nvPr/>
        </p:nvGrpSpPr>
        <p:grpSpPr>
          <a:xfrm>
            <a:off x="2219490" y="2028529"/>
            <a:ext cx="1906711" cy="400110"/>
            <a:chOff x="2033153" y="2026823"/>
            <a:chExt cx="1906711" cy="400110"/>
          </a:xfrm>
        </p:grpSpPr>
        <p:sp>
          <p:nvSpPr>
            <p:cNvPr id="22" name="矩形: 圆角 21">
              <a:extLst>
                <a:ext uri="{FF2B5EF4-FFF2-40B4-BE49-F238E27FC236}">
                  <a16:creationId xmlns:a16="http://schemas.microsoft.com/office/drawing/2014/main" id="{56F2A4A9-3F6C-758C-AEC2-E8A9455B3278}"/>
                </a:ext>
              </a:extLst>
            </p:cNvPr>
            <p:cNvSpPr/>
            <p:nvPr/>
          </p:nvSpPr>
          <p:spPr>
            <a:xfrm>
              <a:off x="2033153" y="2027933"/>
              <a:ext cx="1906711" cy="397891"/>
            </a:xfrm>
            <a:prstGeom prst="roundRect">
              <a:avLst>
                <a:gd name="adj" fmla="val 50000"/>
              </a:avLst>
            </a:prstGeom>
            <a:gradFill flip="none" rotWithShape="1">
              <a:gsLst>
                <a:gs pos="0">
                  <a:schemeClr val="accent1">
                    <a:alpha val="10000"/>
                  </a:schemeClr>
                </a:gs>
                <a:gs pos="30000">
                  <a:schemeClr val="accent1">
                    <a:alpha val="0"/>
                  </a:schemeClr>
                </a:gs>
                <a:gs pos="100000">
                  <a:schemeClr val="accent1">
                    <a:alpha val="10000"/>
                  </a:schemeClr>
                </a:gs>
                <a:gs pos="70000">
                  <a:schemeClr val="accent1">
                    <a:alpha val="0"/>
                  </a:schemeClr>
                </a:gs>
              </a:gsLst>
              <a:lin ang="2700000" scaled="1"/>
              <a:tileRect/>
            </a:gradFill>
            <a:ln w="3175" cap="flat" cmpd="sng" algn="ctr">
              <a:solidFill>
                <a:srgbClr val="0249A1">
                  <a:alpha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3" name="文本框 22">
              <a:extLst>
                <a:ext uri="{FF2B5EF4-FFF2-40B4-BE49-F238E27FC236}">
                  <a16:creationId xmlns:a16="http://schemas.microsoft.com/office/drawing/2014/main" id="{92C5F401-9FE6-D01C-68E1-0975F2BDFCF9}"/>
                </a:ext>
              </a:extLst>
            </p:cNvPr>
            <p:cNvSpPr txBox="1"/>
            <p:nvPr/>
          </p:nvSpPr>
          <p:spPr>
            <a:xfrm>
              <a:off x="2459548" y="2026823"/>
              <a:ext cx="1053920" cy="400110"/>
            </a:xfrm>
            <a:prstGeom prst="rect">
              <a:avLst/>
            </a:prstGeom>
            <a:noFill/>
          </p:spPr>
          <p:txBody>
            <a:bodyPr wrap="square">
              <a:spAutoFit/>
            </a:bodyPr>
            <a:lstStyle/>
            <a:p>
              <a:pPr marL="0" marR="0" lvl="0" indent="0" algn="dist" defTabSz="914400" eaLnBrk="1" fontAlgn="auto" latinLnBrk="0" hangingPunct="1">
                <a:lnSpc>
                  <a:spcPct val="100000"/>
                </a:lnSpc>
                <a:spcBef>
                  <a:spcPct val="0"/>
                </a:spcBef>
                <a:spcAft>
                  <a:spcPts val="0"/>
                </a:spcAft>
                <a:buClrTx/>
                <a:buSzTx/>
                <a:buFontTx/>
                <a:buNone/>
                <a:tabLst/>
                <a:defRPr/>
              </a:pPr>
              <a:r>
                <a:rPr kumimoji="0" lang="zh-CN" altLang="en-US" sz="2000" b="1" i="0" u="none" strike="noStrike" kern="0" cap="none" spc="15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sym typeface="+mn-ea"/>
                </a:rPr>
                <a:t>成果一</a:t>
              </a:r>
            </a:p>
          </p:txBody>
        </p:sp>
      </p:grpSp>
      <p:grpSp>
        <p:nvGrpSpPr>
          <p:cNvPr id="24" name="组合 23">
            <a:extLst>
              <a:ext uri="{FF2B5EF4-FFF2-40B4-BE49-F238E27FC236}">
                <a16:creationId xmlns:a16="http://schemas.microsoft.com/office/drawing/2014/main" id="{1E948EF5-ABCA-ABBC-67C4-B88F8DF67D24}"/>
              </a:ext>
            </a:extLst>
          </p:cNvPr>
          <p:cNvGrpSpPr/>
          <p:nvPr/>
        </p:nvGrpSpPr>
        <p:grpSpPr>
          <a:xfrm>
            <a:off x="5694416" y="2028529"/>
            <a:ext cx="1906711" cy="400110"/>
            <a:chOff x="2033153" y="2026823"/>
            <a:chExt cx="1906711" cy="400110"/>
          </a:xfrm>
        </p:grpSpPr>
        <p:sp>
          <p:nvSpPr>
            <p:cNvPr id="25" name="矩形: 圆角 24">
              <a:extLst>
                <a:ext uri="{FF2B5EF4-FFF2-40B4-BE49-F238E27FC236}">
                  <a16:creationId xmlns:a16="http://schemas.microsoft.com/office/drawing/2014/main" id="{ABB2AA48-84F2-78A0-636A-B843AF0BE02F}"/>
                </a:ext>
              </a:extLst>
            </p:cNvPr>
            <p:cNvSpPr/>
            <p:nvPr/>
          </p:nvSpPr>
          <p:spPr>
            <a:xfrm>
              <a:off x="2033153" y="2027933"/>
              <a:ext cx="1906711" cy="397891"/>
            </a:xfrm>
            <a:prstGeom prst="roundRect">
              <a:avLst>
                <a:gd name="adj" fmla="val 50000"/>
              </a:avLst>
            </a:prstGeom>
            <a:gradFill flip="none" rotWithShape="1">
              <a:gsLst>
                <a:gs pos="0">
                  <a:schemeClr val="accent1">
                    <a:alpha val="10000"/>
                  </a:schemeClr>
                </a:gs>
                <a:gs pos="30000">
                  <a:schemeClr val="accent1">
                    <a:alpha val="0"/>
                  </a:schemeClr>
                </a:gs>
                <a:gs pos="100000">
                  <a:schemeClr val="accent1">
                    <a:alpha val="10000"/>
                  </a:schemeClr>
                </a:gs>
                <a:gs pos="70000">
                  <a:schemeClr val="accent1">
                    <a:alpha val="0"/>
                  </a:schemeClr>
                </a:gs>
              </a:gsLst>
              <a:lin ang="2700000" scaled="1"/>
              <a:tileRect/>
            </a:gradFill>
            <a:ln w="3175" cap="flat" cmpd="sng" algn="ctr">
              <a:solidFill>
                <a:srgbClr val="0249A1">
                  <a:alpha val="50000"/>
                </a:srgbClr>
              </a:solid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26" name="文本框 25">
              <a:extLst>
                <a:ext uri="{FF2B5EF4-FFF2-40B4-BE49-F238E27FC236}">
                  <a16:creationId xmlns:a16="http://schemas.microsoft.com/office/drawing/2014/main" id="{B38D0028-98C4-6B15-9865-E694273DC8B7}"/>
                </a:ext>
              </a:extLst>
            </p:cNvPr>
            <p:cNvSpPr txBox="1"/>
            <p:nvPr/>
          </p:nvSpPr>
          <p:spPr>
            <a:xfrm>
              <a:off x="2459548" y="2026823"/>
              <a:ext cx="1053920" cy="400110"/>
            </a:xfrm>
            <a:prstGeom prst="rect">
              <a:avLst/>
            </a:prstGeom>
            <a:noFill/>
          </p:spPr>
          <p:txBody>
            <a:bodyPr wrap="square">
              <a:spAutoFit/>
            </a:bodyPr>
            <a:lstStyle/>
            <a:p>
              <a:pPr marL="0" marR="0" lvl="0" indent="0" algn="dist" defTabSz="914400" eaLnBrk="1" fontAlgn="auto" latinLnBrk="0" hangingPunct="1">
                <a:lnSpc>
                  <a:spcPct val="100000"/>
                </a:lnSpc>
                <a:spcBef>
                  <a:spcPct val="0"/>
                </a:spcBef>
                <a:spcAft>
                  <a:spcPts val="0"/>
                </a:spcAft>
                <a:buClrTx/>
                <a:buSzTx/>
                <a:buFontTx/>
                <a:buNone/>
                <a:tabLst/>
                <a:defRPr/>
              </a:pPr>
              <a:r>
                <a:rPr kumimoji="0" lang="zh-CN" altLang="en-US" sz="2000" b="1" i="0" u="none" strike="noStrike" kern="0" cap="none" spc="15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sym typeface="+mn-ea"/>
                </a:rPr>
                <a:t>成果二</a:t>
              </a:r>
            </a:p>
          </p:txBody>
        </p:sp>
      </p:grpSp>
      <p:grpSp>
        <p:nvGrpSpPr>
          <p:cNvPr id="35" name="组合 34">
            <a:extLst>
              <a:ext uri="{FF2B5EF4-FFF2-40B4-BE49-F238E27FC236}">
                <a16:creationId xmlns:a16="http://schemas.microsoft.com/office/drawing/2014/main" id="{2ABD8B06-C8C6-7EBA-AE9B-6C0A373452D9}"/>
              </a:ext>
            </a:extLst>
          </p:cNvPr>
          <p:cNvGrpSpPr/>
          <p:nvPr/>
        </p:nvGrpSpPr>
        <p:grpSpPr>
          <a:xfrm>
            <a:off x="9169342" y="2028529"/>
            <a:ext cx="1906711" cy="400110"/>
            <a:chOff x="2033153" y="2026823"/>
            <a:chExt cx="1906711" cy="400110"/>
          </a:xfrm>
        </p:grpSpPr>
        <p:sp>
          <p:nvSpPr>
            <p:cNvPr id="36" name="矩形: 圆角 35">
              <a:extLst>
                <a:ext uri="{FF2B5EF4-FFF2-40B4-BE49-F238E27FC236}">
                  <a16:creationId xmlns:a16="http://schemas.microsoft.com/office/drawing/2014/main" id="{6A045275-8036-6984-3C30-7A1B96368070}"/>
                </a:ext>
              </a:extLst>
            </p:cNvPr>
            <p:cNvSpPr/>
            <p:nvPr/>
          </p:nvSpPr>
          <p:spPr>
            <a:xfrm>
              <a:off x="2033153" y="2027933"/>
              <a:ext cx="1906711" cy="397891"/>
            </a:xfrm>
            <a:prstGeom prst="roundRect">
              <a:avLst>
                <a:gd name="adj" fmla="val 50000"/>
              </a:avLst>
            </a:prstGeom>
            <a:gradFill flip="none" rotWithShape="1">
              <a:gsLst>
                <a:gs pos="0">
                  <a:schemeClr val="accent1">
                    <a:alpha val="10000"/>
                  </a:schemeClr>
                </a:gs>
                <a:gs pos="30000">
                  <a:schemeClr val="accent1">
                    <a:alpha val="0"/>
                  </a:schemeClr>
                </a:gs>
                <a:gs pos="100000">
                  <a:schemeClr val="accent1">
                    <a:alpha val="10000"/>
                  </a:schemeClr>
                </a:gs>
                <a:gs pos="70000">
                  <a:schemeClr val="accent1">
                    <a:alpha val="0"/>
                  </a:schemeClr>
                </a:gs>
              </a:gsLst>
              <a:lin ang="2700000" scaled="1"/>
              <a:tileRect/>
            </a:gradFill>
            <a:ln w="3175" cap="flat" cmpd="sng" algn="ctr">
              <a:solidFill>
                <a:srgbClr val="0249A1">
                  <a:alpha val="50000"/>
                </a:srgbClr>
              </a:solid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37" name="文本框 36">
              <a:extLst>
                <a:ext uri="{FF2B5EF4-FFF2-40B4-BE49-F238E27FC236}">
                  <a16:creationId xmlns:a16="http://schemas.microsoft.com/office/drawing/2014/main" id="{C7722346-123C-7DEC-235E-D36422CD5622}"/>
                </a:ext>
              </a:extLst>
            </p:cNvPr>
            <p:cNvSpPr txBox="1"/>
            <p:nvPr/>
          </p:nvSpPr>
          <p:spPr>
            <a:xfrm>
              <a:off x="2459548" y="2026823"/>
              <a:ext cx="1053920" cy="400110"/>
            </a:xfrm>
            <a:prstGeom prst="rect">
              <a:avLst/>
            </a:prstGeom>
            <a:noFill/>
          </p:spPr>
          <p:txBody>
            <a:bodyPr wrap="square">
              <a:spAutoFit/>
            </a:bodyPr>
            <a:lstStyle/>
            <a:p>
              <a:pPr marL="0" marR="0" lvl="0" indent="0" algn="dist" defTabSz="914400" eaLnBrk="1" fontAlgn="auto" latinLnBrk="0" hangingPunct="1">
                <a:lnSpc>
                  <a:spcPct val="100000"/>
                </a:lnSpc>
                <a:spcBef>
                  <a:spcPct val="0"/>
                </a:spcBef>
                <a:spcAft>
                  <a:spcPts val="0"/>
                </a:spcAft>
                <a:buClrTx/>
                <a:buSzTx/>
                <a:buFontTx/>
                <a:buNone/>
                <a:tabLst/>
                <a:defRPr/>
              </a:pPr>
              <a:r>
                <a:rPr kumimoji="0" lang="zh-CN" altLang="en-US" sz="2000" b="1" i="0" u="none" strike="noStrike" kern="0" cap="none" spc="15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sym typeface="+mn-ea"/>
                </a:rPr>
                <a:t>成果三</a:t>
              </a:r>
            </a:p>
          </p:txBody>
        </p:sp>
      </p:grpSp>
      <p:sp>
        <p:nvSpPr>
          <p:cNvPr id="38" name="矩形: 圆角 37">
            <a:extLst>
              <a:ext uri="{FF2B5EF4-FFF2-40B4-BE49-F238E27FC236}">
                <a16:creationId xmlns:a16="http://schemas.microsoft.com/office/drawing/2014/main" id="{BA3777C8-6A7C-0AF8-37BB-17F0D6E24F82}"/>
              </a:ext>
            </a:extLst>
          </p:cNvPr>
          <p:cNvSpPr/>
          <p:nvPr/>
        </p:nvSpPr>
        <p:spPr>
          <a:xfrm flipH="1">
            <a:off x="475463" y="2909026"/>
            <a:ext cx="1262062" cy="825500"/>
          </a:xfrm>
          <a:prstGeom prst="roundRect">
            <a:avLst>
              <a:gd name="adj" fmla="val 0"/>
            </a:avLst>
          </a:prstGeom>
          <a:gradFill>
            <a:gsLst>
              <a:gs pos="100000">
                <a:schemeClr val="accent2">
                  <a:alpha val="10000"/>
                </a:schemeClr>
              </a:gs>
              <a:gs pos="0">
                <a:schemeClr val="accent2">
                  <a:alpha val="0"/>
                </a:schemeClr>
              </a:gs>
            </a:gsLst>
            <a:lin ang="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9" name="文本框 38">
            <a:extLst>
              <a:ext uri="{FF2B5EF4-FFF2-40B4-BE49-F238E27FC236}">
                <a16:creationId xmlns:a16="http://schemas.microsoft.com/office/drawing/2014/main" id="{7D23964C-1875-6C93-78D7-0165D5A1151B}"/>
              </a:ext>
            </a:extLst>
          </p:cNvPr>
          <p:cNvSpPr txBox="1"/>
          <p:nvPr/>
        </p:nvSpPr>
        <p:spPr>
          <a:xfrm>
            <a:off x="578503" y="3090944"/>
            <a:ext cx="910842" cy="461665"/>
          </a:xfrm>
          <a:prstGeom prst="rect">
            <a:avLst/>
          </a:prstGeom>
          <a:noFill/>
        </p:spPr>
        <p:txBody>
          <a:bodyPr wrap="square">
            <a:spAutoFit/>
          </a:bodyPr>
          <a:lstStyle/>
          <a:p>
            <a:pPr algn="ctr"/>
            <a:r>
              <a:rPr lang="zh-CN" altLang="en-US" sz="2400" b="1" dirty="0">
                <a:solidFill>
                  <a:schemeClr val="accent1"/>
                </a:solidFill>
                <a:latin typeface="微软雅黑" panose="020B0503020204020204" pitchFamily="34" charset="-122"/>
                <a:ea typeface="微软雅黑" panose="020B0503020204020204" pitchFamily="34" charset="-122"/>
                <a:cs typeface="+mn-ea"/>
              </a:rPr>
              <a:t>问 题</a:t>
            </a:r>
          </a:p>
        </p:txBody>
      </p:sp>
      <p:sp>
        <p:nvSpPr>
          <p:cNvPr id="40" name="矩形: 圆角 39">
            <a:extLst>
              <a:ext uri="{FF2B5EF4-FFF2-40B4-BE49-F238E27FC236}">
                <a16:creationId xmlns:a16="http://schemas.microsoft.com/office/drawing/2014/main" id="{4FE91C36-DE1D-7ECE-23BA-505ED9EC4BCD}"/>
              </a:ext>
            </a:extLst>
          </p:cNvPr>
          <p:cNvSpPr/>
          <p:nvPr/>
        </p:nvSpPr>
        <p:spPr>
          <a:xfrm flipH="1">
            <a:off x="475463" y="4187718"/>
            <a:ext cx="1262062" cy="825500"/>
          </a:xfrm>
          <a:prstGeom prst="roundRect">
            <a:avLst>
              <a:gd name="adj" fmla="val 0"/>
            </a:avLst>
          </a:prstGeom>
          <a:gradFill>
            <a:gsLst>
              <a:gs pos="100000">
                <a:schemeClr val="accent2">
                  <a:alpha val="10000"/>
                </a:schemeClr>
              </a:gs>
              <a:gs pos="0">
                <a:schemeClr val="accent2">
                  <a:alpha val="0"/>
                </a:schemeClr>
              </a:gs>
            </a:gsLst>
            <a:lin ang="0" scaled="1"/>
          </a:gradFill>
          <a:ln w="12700" cap="flat" cmpd="sng" algn="ctr">
            <a:no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41" name="文本框 40">
            <a:extLst>
              <a:ext uri="{FF2B5EF4-FFF2-40B4-BE49-F238E27FC236}">
                <a16:creationId xmlns:a16="http://schemas.microsoft.com/office/drawing/2014/main" id="{58F343BA-F168-2AE3-87BE-36512791E7F7}"/>
              </a:ext>
            </a:extLst>
          </p:cNvPr>
          <p:cNvSpPr txBox="1"/>
          <p:nvPr/>
        </p:nvSpPr>
        <p:spPr>
          <a:xfrm>
            <a:off x="578503" y="4369636"/>
            <a:ext cx="910842" cy="461665"/>
          </a:xfrm>
          <a:prstGeom prst="rect">
            <a:avLst/>
          </a:prstGeom>
          <a:noFill/>
        </p:spPr>
        <p:txBody>
          <a:bodyPr wrap="square">
            <a:spAutoFit/>
          </a:bodyPr>
          <a:lstStyle/>
          <a:p>
            <a:pPr algn="ctr"/>
            <a:r>
              <a:rPr lang="zh-CN" altLang="en-US" sz="2400" b="1" dirty="0">
                <a:solidFill>
                  <a:schemeClr val="accent1"/>
                </a:solidFill>
                <a:latin typeface="微软雅黑" panose="020B0503020204020204" pitchFamily="34" charset="-122"/>
                <a:ea typeface="微软雅黑" panose="020B0503020204020204" pitchFamily="34" charset="-122"/>
                <a:cs typeface="+mn-ea"/>
              </a:rPr>
              <a:t>思 路</a:t>
            </a:r>
          </a:p>
        </p:txBody>
      </p:sp>
      <p:sp>
        <p:nvSpPr>
          <p:cNvPr id="51" name="矩形: 圆角 50">
            <a:extLst>
              <a:ext uri="{FF2B5EF4-FFF2-40B4-BE49-F238E27FC236}">
                <a16:creationId xmlns:a16="http://schemas.microsoft.com/office/drawing/2014/main" id="{905CECEA-C436-4B9B-27CE-15031E7216DF}"/>
              </a:ext>
            </a:extLst>
          </p:cNvPr>
          <p:cNvSpPr/>
          <p:nvPr/>
        </p:nvSpPr>
        <p:spPr>
          <a:xfrm flipH="1">
            <a:off x="475463" y="5466411"/>
            <a:ext cx="1262062" cy="825500"/>
          </a:xfrm>
          <a:prstGeom prst="roundRect">
            <a:avLst>
              <a:gd name="adj" fmla="val 0"/>
            </a:avLst>
          </a:prstGeom>
          <a:gradFill>
            <a:gsLst>
              <a:gs pos="100000">
                <a:schemeClr val="accent2">
                  <a:alpha val="10000"/>
                </a:schemeClr>
              </a:gs>
              <a:gs pos="0">
                <a:schemeClr val="accent2">
                  <a:alpha val="0"/>
                </a:schemeClr>
              </a:gs>
            </a:gsLst>
            <a:lin ang="0" scaled="1"/>
          </a:gradFill>
          <a:ln w="12700" cap="flat" cmpd="sng" algn="ctr">
            <a:no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52" name="文本框 51">
            <a:extLst>
              <a:ext uri="{FF2B5EF4-FFF2-40B4-BE49-F238E27FC236}">
                <a16:creationId xmlns:a16="http://schemas.microsoft.com/office/drawing/2014/main" id="{9C855167-6E48-7646-F165-2DDF82402DFA}"/>
              </a:ext>
            </a:extLst>
          </p:cNvPr>
          <p:cNvSpPr txBox="1"/>
          <p:nvPr/>
        </p:nvSpPr>
        <p:spPr>
          <a:xfrm>
            <a:off x="578503" y="5648329"/>
            <a:ext cx="910842" cy="461665"/>
          </a:xfrm>
          <a:prstGeom prst="rect">
            <a:avLst/>
          </a:prstGeom>
          <a:noFill/>
        </p:spPr>
        <p:txBody>
          <a:bodyPr wrap="square">
            <a:spAutoFit/>
          </a:bodyPr>
          <a:lstStyle/>
          <a:p>
            <a:pPr algn="ctr"/>
            <a:r>
              <a:rPr lang="zh-CN" altLang="en-US" sz="2400" b="1" dirty="0">
                <a:solidFill>
                  <a:schemeClr val="accent1"/>
                </a:solidFill>
                <a:latin typeface="微软雅黑" panose="020B0503020204020204" pitchFamily="34" charset="-122"/>
                <a:ea typeface="微软雅黑" panose="020B0503020204020204" pitchFamily="34" charset="-122"/>
                <a:cs typeface="+mn-ea"/>
              </a:rPr>
              <a:t>技 术</a:t>
            </a:r>
          </a:p>
        </p:txBody>
      </p:sp>
      <p:sp>
        <p:nvSpPr>
          <p:cNvPr id="53" name="矩形 52">
            <a:extLst>
              <a:ext uri="{FF2B5EF4-FFF2-40B4-BE49-F238E27FC236}">
                <a16:creationId xmlns:a16="http://schemas.microsoft.com/office/drawing/2014/main" id="{4E0BF1BB-346F-55F9-9689-106CA5E9BC1C}"/>
              </a:ext>
            </a:extLst>
          </p:cNvPr>
          <p:cNvSpPr/>
          <p:nvPr/>
        </p:nvSpPr>
        <p:spPr>
          <a:xfrm>
            <a:off x="1592492" y="2612138"/>
            <a:ext cx="3160706" cy="3976661"/>
          </a:xfrm>
          <a:prstGeom prst="rect">
            <a:avLst/>
          </a:prstGeom>
          <a:solidFill>
            <a:sysClr val="window" lastClr="FFFFFF"/>
          </a:solidFill>
          <a:ln w="3175" cap="flat" cmpd="sng" algn="ctr">
            <a:gradFill flip="none" rotWithShape="1">
              <a:gsLst>
                <a:gs pos="0">
                  <a:schemeClr val="accent1">
                    <a:alpha val="50000"/>
                  </a:schemeClr>
                </a:gs>
                <a:gs pos="100000">
                  <a:schemeClr val="accent1">
                    <a:alpha val="0"/>
                  </a:schemeClr>
                </a:gs>
              </a:gsLst>
              <a:lin ang="5400000" scaled="1"/>
              <a:tileRect/>
            </a:gradFill>
            <a:prstDash val="solid"/>
            <a:miter lim="800000"/>
          </a:ln>
          <a:effectLst>
            <a:outerShdw blurRad="190500" dist="25400" algn="ctr" rotWithShape="0">
              <a:schemeClr val="accent1">
                <a:alpha val="8000"/>
              </a:scheme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4" name="矩形 53">
            <a:extLst>
              <a:ext uri="{FF2B5EF4-FFF2-40B4-BE49-F238E27FC236}">
                <a16:creationId xmlns:a16="http://schemas.microsoft.com/office/drawing/2014/main" id="{D16C79F1-6191-5EFA-B569-569A4A32FD81}"/>
              </a:ext>
            </a:extLst>
          </p:cNvPr>
          <p:cNvSpPr/>
          <p:nvPr/>
        </p:nvSpPr>
        <p:spPr>
          <a:xfrm>
            <a:off x="5067418" y="2612138"/>
            <a:ext cx="3160706" cy="3976661"/>
          </a:xfrm>
          <a:prstGeom prst="rect">
            <a:avLst/>
          </a:prstGeom>
          <a:solidFill>
            <a:sysClr val="window" lastClr="FFFFFF"/>
          </a:solidFill>
          <a:ln w="3175" cap="flat" cmpd="sng" algn="ctr">
            <a:gradFill flip="none" rotWithShape="1">
              <a:gsLst>
                <a:gs pos="0">
                  <a:schemeClr val="accent1">
                    <a:alpha val="50000"/>
                  </a:schemeClr>
                </a:gs>
                <a:gs pos="100000">
                  <a:schemeClr val="accent1">
                    <a:alpha val="0"/>
                  </a:schemeClr>
                </a:gs>
              </a:gsLst>
              <a:lin ang="5400000" scaled="1"/>
              <a:tileRect/>
            </a:gradFill>
            <a:prstDash val="solid"/>
            <a:miter lim="800000"/>
          </a:ln>
          <a:effectLst>
            <a:outerShdw blurRad="190500" dist="25400" algn="ctr" rotWithShape="0">
              <a:schemeClr val="accent1">
                <a:alpha val="8000"/>
              </a:schemeClr>
            </a:outerShdw>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55" name="矩形 54">
            <a:extLst>
              <a:ext uri="{FF2B5EF4-FFF2-40B4-BE49-F238E27FC236}">
                <a16:creationId xmlns:a16="http://schemas.microsoft.com/office/drawing/2014/main" id="{D12842D0-00DC-D431-3515-614FA2B126BE}"/>
              </a:ext>
            </a:extLst>
          </p:cNvPr>
          <p:cNvSpPr/>
          <p:nvPr/>
        </p:nvSpPr>
        <p:spPr>
          <a:xfrm>
            <a:off x="8542344" y="2612138"/>
            <a:ext cx="3160706" cy="3976661"/>
          </a:xfrm>
          <a:prstGeom prst="rect">
            <a:avLst/>
          </a:prstGeom>
          <a:solidFill>
            <a:sysClr val="window" lastClr="FFFFFF"/>
          </a:solidFill>
          <a:ln w="3175" cap="flat" cmpd="sng" algn="ctr">
            <a:gradFill flip="none" rotWithShape="1">
              <a:gsLst>
                <a:gs pos="0">
                  <a:schemeClr val="accent1">
                    <a:alpha val="50000"/>
                  </a:schemeClr>
                </a:gs>
                <a:gs pos="100000">
                  <a:schemeClr val="accent1">
                    <a:alpha val="0"/>
                  </a:schemeClr>
                </a:gs>
              </a:gsLst>
              <a:lin ang="5400000" scaled="1"/>
              <a:tileRect/>
            </a:gradFill>
            <a:prstDash val="solid"/>
            <a:miter lim="800000"/>
          </a:ln>
          <a:effectLst>
            <a:outerShdw blurRad="190500" dist="25400" algn="ctr" rotWithShape="0">
              <a:schemeClr val="accent1">
                <a:alpha val="8000"/>
              </a:schemeClr>
            </a:outerShdw>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56" name="矩形 55">
            <a:extLst>
              <a:ext uri="{FF2B5EF4-FFF2-40B4-BE49-F238E27FC236}">
                <a16:creationId xmlns:a16="http://schemas.microsoft.com/office/drawing/2014/main" id="{4AC2AEAD-5504-5947-BA36-366E67D5A7D1}"/>
              </a:ext>
            </a:extLst>
          </p:cNvPr>
          <p:cNvSpPr/>
          <p:nvPr/>
        </p:nvSpPr>
        <p:spPr>
          <a:xfrm>
            <a:off x="1592385" y="2901845"/>
            <a:ext cx="3160706" cy="832680"/>
          </a:xfrm>
          <a:prstGeom prst="rect">
            <a:avLst/>
          </a:prstGeom>
          <a:solidFill>
            <a:schemeClr val="accent2">
              <a:alpha val="7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7" name="矩形 56">
            <a:extLst>
              <a:ext uri="{FF2B5EF4-FFF2-40B4-BE49-F238E27FC236}">
                <a16:creationId xmlns:a16="http://schemas.microsoft.com/office/drawing/2014/main" id="{7C14FEFA-3FA9-FF21-A0EC-C5BC22762BDB}"/>
              </a:ext>
            </a:extLst>
          </p:cNvPr>
          <p:cNvSpPr/>
          <p:nvPr/>
        </p:nvSpPr>
        <p:spPr>
          <a:xfrm>
            <a:off x="5067418" y="2901845"/>
            <a:ext cx="3160706" cy="832680"/>
          </a:xfrm>
          <a:prstGeom prst="rect">
            <a:avLst/>
          </a:prstGeom>
          <a:solidFill>
            <a:schemeClr val="accent2">
              <a:alpha val="7000"/>
            </a:schemeClr>
          </a:solidFill>
          <a:ln w="12700" cap="flat" cmpd="sng" algn="ctr">
            <a:no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58" name="矩形 57">
            <a:extLst>
              <a:ext uri="{FF2B5EF4-FFF2-40B4-BE49-F238E27FC236}">
                <a16:creationId xmlns:a16="http://schemas.microsoft.com/office/drawing/2014/main" id="{64959D66-F3F3-D977-9C4D-D3ED3F39250A}"/>
              </a:ext>
            </a:extLst>
          </p:cNvPr>
          <p:cNvSpPr/>
          <p:nvPr/>
        </p:nvSpPr>
        <p:spPr>
          <a:xfrm>
            <a:off x="8542344" y="2901845"/>
            <a:ext cx="3160706" cy="832680"/>
          </a:xfrm>
          <a:prstGeom prst="rect">
            <a:avLst/>
          </a:prstGeom>
          <a:solidFill>
            <a:schemeClr val="accent2">
              <a:alpha val="7000"/>
            </a:schemeClr>
          </a:solidFill>
          <a:ln w="12700" cap="flat" cmpd="sng" algn="ctr">
            <a:no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59" name="等腰三角形 58">
            <a:extLst>
              <a:ext uri="{FF2B5EF4-FFF2-40B4-BE49-F238E27FC236}">
                <a16:creationId xmlns:a16="http://schemas.microsoft.com/office/drawing/2014/main" id="{D59EDA26-FD78-12C7-586B-35D6B8EBC0B1}"/>
              </a:ext>
            </a:extLst>
          </p:cNvPr>
          <p:cNvSpPr/>
          <p:nvPr/>
        </p:nvSpPr>
        <p:spPr>
          <a:xfrm flipV="1">
            <a:off x="3065642" y="3828502"/>
            <a:ext cx="214192" cy="111065"/>
          </a:xfrm>
          <a:prstGeom prst="triangle">
            <a:avLst/>
          </a:prstGeom>
          <a:solidFill>
            <a:schemeClr val="accent1"/>
          </a:solidFill>
          <a:ln w="12700" cap="flat" cmpd="sng" algn="ctr">
            <a:noFill/>
            <a:prstDash val="solid"/>
            <a:miter lim="800000"/>
          </a:ln>
          <a:effectLst>
            <a:outerShdw blurRad="76200" sx="102000" sy="1020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60" name="等腰三角形 59">
            <a:extLst>
              <a:ext uri="{FF2B5EF4-FFF2-40B4-BE49-F238E27FC236}">
                <a16:creationId xmlns:a16="http://schemas.microsoft.com/office/drawing/2014/main" id="{3452B0F5-AC3C-96DF-2AB7-962C02284681}"/>
              </a:ext>
            </a:extLst>
          </p:cNvPr>
          <p:cNvSpPr/>
          <p:nvPr/>
        </p:nvSpPr>
        <p:spPr>
          <a:xfrm flipV="1">
            <a:off x="6540675" y="3854708"/>
            <a:ext cx="214192" cy="111065"/>
          </a:xfrm>
          <a:prstGeom prst="triangle">
            <a:avLst/>
          </a:prstGeom>
          <a:solidFill>
            <a:schemeClr val="accent1"/>
          </a:solidFill>
          <a:ln w="12700" cap="flat" cmpd="sng" algn="ctr">
            <a:noFill/>
            <a:prstDash val="solid"/>
            <a:miter lim="800000"/>
          </a:ln>
          <a:effectLst>
            <a:outerShdw blurRad="76200" sx="102000" sy="1020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61" name="等腰三角形 60">
            <a:extLst>
              <a:ext uri="{FF2B5EF4-FFF2-40B4-BE49-F238E27FC236}">
                <a16:creationId xmlns:a16="http://schemas.microsoft.com/office/drawing/2014/main" id="{43983FB1-228E-6A9D-5963-092096A90D04}"/>
              </a:ext>
            </a:extLst>
          </p:cNvPr>
          <p:cNvSpPr/>
          <p:nvPr/>
        </p:nvSpPr>
        <p:spPr>
          <a:xfrm flipV="1">
            <a:off x="10015601" y="3854708"/>
            <a:ext cx="214192" cy="111065"/>
          </a:xfrm>
          <a:prstGeom prst="triangle">
            <a:avLst/>
          </a:prstGeom>
          <a:solidFill>
            <a:schemeClr val="accent1"/>
          </a:solidFill>
          <a:ln w="12700" cap="flat" cmpd="sng" algn="ctr">
            <a:noFill/>
            <a:prstDash val="solid"/>
            <a:miter lim="800000"/>
          </a:ln>
          <a:effectLst>
            <a:outerShdw blurRad="76200" sx="102000" sy="1020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62" name="矩形 61">
            <a:extLst>
              <a:ext uri="{FF2B5EF4-FFF2-40B4-BE49-F238E27FC236}">
                <a16:creationId xmlns:a16="http://schemas.microsoft.com/office/drawing/2014/main" id="{459BCD59-3B30-BDB8-DAC9-16149B016808}"/>
              </a:ext>
            </a:extLst>
          </p:cNvPr>
          <p:cNvSpPr/>
          <p:nvPr/>
        </p:nvSpPr>
        <p:spPr>
          <a:xfrm>
            <a:off x="1592385" y="5466814"/>
            <a:ext cx="3160706" cy="832680"/>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3" name="矩形 62">
            <a:extLst>
              <a:ext uri="{FF2B5EF4-FFF2-40B4-BE49-F238E27FC236}">
                <a16:creationId xmlns:a16="http://schemas.microsoft.com/office/drawing/2014/main" id="{7720F624-449C-5BCF-EECD-DF9D9BFB46A4}"/>
              </a:ext>
            </a:extLst>
          </p:cNvPr>
          <p:cNvSpPr/>
          <p:nvPr/>
        </p:nvSpPr>
        <p:spPr>
          <a:xfrm>
            <a:off x="1778493" y="4033544"/>
            <a:ext cx="2788704" cy="1134251"/>
          </a:xfrm>
          <a:prstGeom prst="rect">
            <a:avLst/>
          </a:prstGeom>
          <a:gradFill flip="none" rotWithShape="1">
            <a:gsLst>
              <a:gs pos="25000">
                <a:schemeClr val="accent3"/>
              </a:gs>
              <a:gs pos="99083">
                <a:schemeClr val="bg1"/>
              </a:gs>
            </a:gsLst>
            <a:lin ang="5400000" scaled="1"/>
            <a:tileRect/>
          </a:gradFill>
          <a:ln w="3175" cap="flat" cmpd="sng" algn="ctr">
            <a:solidFill>
              <a:srgbClr val="0B4FA1"/>
            </a:solidFill>
            <a:prstDash val="solid"/>
            <a:miter lim="800000"/>
          </a:ln>
          <a:effectLst>
            <a:outerShdw blurRad="304800" sx="102000" sy="102000" algn="ctr" rotWithShape="0">
              <a:schemeClr val="accent1">
                <a:alpha val="16000"/>
              </a:schemeClr>
            </a:outerShdw>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64" name="等腰三角形 63">
            <a:extLst>
              <a:ext uri="{FF2B5EF4-FFF2-40B4-BE49-F238E27FC236}">
                <a16:creationId xmlns:a16="http://schemas.microsoft.com/office/drawing/2014/main" id="{3802D0B9-20A9-55E5-0B98-E787D98C6305}"/>
              </a:ext>
            </a:extLst>
          </p:cNvPr>
          <p:cNvSpPr/>
          <p:nvPr/>
        </p:nvSpPr>
        <p:spPr>
          <a:xfrm flipV="1">
            <a:off x="3065642" y="5261772"/>
            <a:ext cx="214192" cy="111065"/>
          </a:xfrm>
          <a:prstGeom prst="triangle">
            <a:avLst/>
          </a:prstGeom>
          <a:solidFill>
            <a:schemeClr val="accent1"/>
          </a:solidFill>
          <a:ln w="12700" cap="flat" cmpd="sng" algn="ctr">
            <a:noFill/>
            <a:prstDash val="solid"/>
            <a:miter lim="800000"/>
          </a:ln>
          <a:effectLst>
            <a:outerShdw blurRad="76200" sx="102000" sy="1020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65" name="文本框 64">
            <a:extLst>
              <a:ext uri="{FF2B5EF4-FFF2-40B4-BE49-F238E27FC236}">
                <a16:creationId xmlns:a16="http://schemas.microsoft.com/office/drawing/2014/main" id="{BFE24891-0057-15FE-6336-F130CDF367A4}"/>
              </a:ext>
            </a:extLst>
          </p:cNvPr>
          <p:cNvSpPr txBox="1"/>
          <p:nvPr/>
        </p:nvSpPr>
        <p:spPr>
          <a:xfrm>
            <a:off x="1762681" y="2939804"/>
            <a:ext cx="2891781" cy="705962"/>
          </a:xfrm>
          <a:prstGeom prst="rect">
            <a:avLst/>
          </a:prstGeom>
          <a:noFill/>
        </p:spPr>
        <p:txBody>
          <a:bodyPr wrap="square">
            <a:spAutoFit/>
          </a:bodyPr>
          <a:lstStyle/>
          <a:p>
            <a:pPr>
              <a:lnSpc>
                <a:spcPct val="130000"/>
              </a:lnSpc>
            </a:pPr>
            <a:r>
              <a:rPr lang="zh-CN" altLang="en-US" sz="1600" dirty="0">
                <a:solidFill>
                  <a:srgbClr val="060607"/>
                </a:solidFill>
                <a:latin typeface="微软雅黑" panose="020B0503020204020204" pitchFamily="34" charset="-122"/>
                <a:ea typeface="微软雅黑" panose="020B0503020204020204" pitchFamily="34" charset="-122"/>
              </a:rPr>
              <a:t>带季风区气候复杂，干旱的时空分布不均</a:t>
            </a:r>
            <a:endParaRPr lang="zh-CN" altLang="en-US" sz="1600" dirty="0">
              <a:solidFill>
                <a:prstClr val="black"/>
              </a:solidFill>
              <a:latin typeface="微软雅黑" panose="020B0503020204020204" pitchFamily="34" charset="-122"/>
              <a:ea typeface="微软雅黑" panose="020B0503020204020204" pitchFamily="34" charset="-122"/>
            </a:endParaRPr>
          </a:p>
        </p:txBody>
      </p:sp>
      <p:sp>
        <p:nvSpPr>
          <p:cNvPr id="66" name="文本框 65">
            <a:extLst>
              <a:ext uri="{FF2B5EF4-FFF2-40B4-BE49-F238E27FC236}">
                <a16:creationId xmlns:a16="http://schemas.microsoft.com/office/drawing/2014/main" id="{56EF7A17-F78E-CFCE-9C42-83AA064815CF}"/>
              </a:ext>
            </a:extLst>
          </p:cNvPr>
          <p:cNvSpPr txBox="1"/>
          <p:nvPr/>
        </p:nvSpPr>
        <p:spPr>
          <a:xfrm>
            <a:off x="5238662" y="2939804"/>
            <a:ext cx="2891781" cy="705962"/>
          </a:xfrm>
          <a:prstGeom prst="rect">
            <a:avLst/>
          </a:prstGeom>
          <a:noFill/>
        </p:spPr>
        <p:txBody>
          <a:bodyPr wrap="square">
            <a:spAutoFit/>
          </a:bodyPr>
          <a:lstStyle/>
          <a:p>
            <a:pPr>
              <a:lnSpc>
                <a:spcPct val="130000"/>
              </a:lnSpc>
            </a:pPr>
            <a:r>
              <a:rPr lang="zh-CN" altLang="en-US" sz="1600" dirty="0">
                <a:solidFill>
                  <a:srgbClr val="060607"/>
                </a:solidFill>
                <a:latin typeface="微软雅黑" panose="020B0503020204020204" pitchFamily="34" charset="-122"/>
                <a:ea typeface="微软雅黑" panose="020B0503020204020204" pitchFamily="34" charset="-122"/>
              </a:rPr>
              <a:t>岩溶区土壤层较薄，保水能力弱，植物更容易受到干旱胁迫</a:t>
            </a:r>
            <a:endParaRPr lang="zh-CN" altLang="en-US" sz="1600" dirty="0">
              <a:solidFill>
                <a:prstClr val="black"/>
              </a:solidFill>
              <a:latin typeface="微软雅黑" panose="020B0503020204020204" pitchFamily="34" charset="-122"/>
              <a:ea typeface="微软雅黑" panose="020B0503020204020204" pitchFamily="34" charset="-122"/>
            </a:endParaRPr>
          </a:p>
        </p:txBody>
      </p:sp>
      <p:sp>
        <p:nvSpPr>
          <p:cNvPr id="67" name="文本框 66">
            <a:extLst>
              <a:ext uri="{FF2B5EF4-FFF2-40B4-BE49-F238E27FC236}">
                <a16:creationId xmlns:a16="http://schemas.microsoft.com/office/drawing/2014/main" id="{314CA427-B0F6-5C83-FFE1-E2F2F78E15CD}"/>
              </a:ext>
            </a:extLst>
          </p:cNvPr>
          <p:cNvSpPr txBox="1"/>
          <p:nvPr/>
        </p:nvSpPr>
        <p:spPr>
          <a:xfrm>
            <a:off x="8717890" y="2939804"/>
            <a:ext cx="2891781" cy="705962"/>
          </a:xfrm>
          <a:prstGeom prst="rect">
            <a:avLst/>
          </a:prstGeom>
          <a:noFill/>
        </p:spPr>
        <p:txBody>
          <a:bodyPr wrap="square">
            <a:spAutoFit/>
          </a:bodyPr>
          <a:lstStyle/>
          <a:p>
            <a:pPr>
              <a:lnSpc>
                <a:spcPct val="130000"/>
              </a:lnSpc>
            </a:pPr>
            <a:r>
              <a:rPr lang="zh-CN" altLang="en-US" sz="1600" dirty="0">
                <a:solidFill>
                  <a:srgbClr val="060607"/>
                </a:solidFill>
                <a:latin typeface="微软雅黑" panose="020B0503020204020204" pitchFamily="34" charset="-122"/>
                <a:ea typeface="微软雅黑" panose="020B0503020204020204" pitchFamily="34" charset="-122"/>
              </a:rPr>
              <a:t>不同岩性区域的土壤水、地下水和降水的同位素组成差异</a:t>
            </a:r>
            <a:endParaRPr lang="zh-CN" altLang="en-US" sz="1600" dirty="0">
              <a:solidFill>
                <a:prstClr val="black"/>
              </a:solidFill>
              <a:latin typeface="微软雅黑" panose="020B0503020204020204" pitchFamily="34" charset="-122"/>
              <a:ea typeface="微软雅黑" panose="020B0503020204020204" pitchFamily="34" charset="-122"/>
            </a:endParaRPr>
          </a:p>
        </p:txBody>
      </p:sp>
      <p:sp>
        <p:nvSpPr>
          <p:cNvPr id="68" name="矩形 67">
            <a:extLst>
              <a:ext uri="{FF2B5EF4-FFF2-40B4-BE49-F238E27FC236}">
                <a16:creationId xmlns:a16="http://schemas.microsoft.com/office/drawing/2014/main" id="{C0898607-B318-3E2E-1246-3DE6C6BEE82C}"/>
              </a:ext>
            </a:extLst>
          </p:cNvPr>
          <p:cNvSpPr/>
          <p:nvPr/>
        </p:nvSpPr>
        <p:spPr>
          <a:xfrm>
            <a:off x="5253419" y="4033544"/>
            <a:ext cx="2788704" cy="1134251"/>
          </a:xfrm>
          <a:prstGeom prst="rect">
            <a:avLst/>
          </a:prstGeom>
          <a:gradFill flip="none" rotWithShape="1">
            <a:gsLst>
              <a:gs pos="25000">
                <a:schemeClr val="accent3"/>
              </a:gs>
              <a:gs pos="99083">
                <a:schemeClr val="bg1"/>
              </a:gs>
            </a:gsLst>
            <a:lin ang="5400000" scaled="1"/>
            <a:tileRect/>
          </a:gradFill>
          <a:ln w="3175" cap="flat" cmpd="sng" algn="ctr">
            <a:solidFill>
              <a:srgbClr val="0B4FA1"/>
            </a:solidFill>
            <a:prstDash val="solid"/>
            <a:miter lim="800000"/>
          </a:ln>
          <a:effectLst>
            <a:outerShdw blurRad="304800" sx="102000" sy="102000" algn="ctr" rotWithShape="0">
              <a:schemeClr val="accent1">
                <a:alpha val="16000"/>
              </a:schemeClr>
            </a:outerShdw>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69" name="矩形 68">
            <a:extLst>
              <a:ext uri="{FF2B5EF4-FFF2-40B4-BE49-F238E27FC236}">
                <a16:creationId xmlns:a16="http://schemas.microsoft.com/office/drawing/2014/main" id="{D92AC5AE-1008-76D1-98E6-9D052A98ED0C}"/>
              </a:ext>
            </a:extLst>
          </p:cNvPr>
          <p:cNvSpPr/>
          <p:nvPr/>
        </p:nvSpPr>
        <p:spPr>
          <a:xfrm>
            <a:off x="8728345" y="4033544"/>
            <a:ext cx="2788704" cy="1134251"/>
          </a:xfrm>
          <a:prstGeom prst="rect">
            <a:avLst/>
          </a:prstGeom>
          <a:gradFill flip="none" rotWithShape="1">
            <a:gsLst>
              <a:gs pos="25000">
                <a:schemeClr val="accent3"/>
              </a:gs>
              <a:gs pos="99083">
                <a:schemeClr val="bg1"/>
              </a:gs>
            </a:gsLst>
            <a:lin ang="5400000" scaled="1"/>
            <a:tileRect/>
          </a:gradFill>
          <a:ln w="3175" cap="flat" cmpd="sng" algn="ctr">
            <a:solidFill>
              <a:srgbClr val="0B4FA1"/>
            </a:solidFill>
            <a:prstDash val="solid"/>
            <a:miter lim="800000"/>
          </a:ln>
          <a:effectLst>
            <a:outerShdw blurRad="304800" sx="102000" sy="102000" algn="ctr" rotWithShape="0">
              <a:schemeClr val="accent1">
                <a:alpha val="16000"/>
              </a:schemeClr>
            </a:outerShdw>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70" name="矩形 69">
            <a:extLst>
              <a:ext uri="{FF2B5EF4-FFF2-40B4-BE49-F238E27FC236}">
                <a16:creationId xmlns:a16="http://schemas.microsoft.com/office/drawing/2014/main" id="{EFCB47EC-864B-AAD5-A472-00AA391549FE}"/>
              </a:ext>
            </a:extLst>
          </p:cNvPr>
          <p:cNvSpPr/>
          <p:nvPr/>
        </p:nvSpPr>
        <p:spPr>
          <a:xfrm>
            <a:off x="5067365" y="5466814"/>
            <a:ext cx="3160706" cy="832680"/>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1" name="矩形 70">
            <a:extLst>
              <a:ext uri="{FF2B5EF4-FFF2-40B4-BE49-F238E27FC236}">
                <a16:creationId xmlns:a16="http://schemas.microsoft.com/office/drawing/2014/main" id="{D499CDC0-6EAF-4CDE-EC69-384809F6400E}"/>
              </a:ext>
            </a:extLst>
          </p:cNvPr>
          <p:cNvSpPr/>
          <p:nvPr/>
        </p:nvSpPr>
        <p:spPr>
          <a:xfrm>
            <a:off x="8542344" y="5466814"/>
            <a:ext cx="3160706" cy="832680"/>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2" name="文本框 71">
            <a:extLst>
              <a:ext uri="{FF2B5EF4-FFF2-40B4-BE49-F238E27FC236}">
                <a16:creationId xmlns:a16="http://schemas.microsoft.com/office/drawing/2014/main" id="{328EC5CD-7D02-F580-116B-8C1346812E9D}"/>
              </a:ext>
            </a:extLst>
          </p:cNvPr>
          <p:cNvSpPr txBox="1"/>
          <p:nvPr/>
        </p:nvSpPr>
        <p:spPr>
          <a:xfrm>
            <a:off x="1887321" y="4046254"/>
            <a:ext cx="2586289" cy="1108830"/>
          </a:xfrm>
          <a:prstGeom prst="rect">
            <a:avLst/>
          </a:prstGeom>
          <a:noFill/>
        </p:spPr>
        <p:txBody>
          <a:bodyPr wrap="square">
            <a:spAutoFit/>
          </a:bodyPr>
          <a:lstStyle/>
          <a:p>
            <a:pPr marL="252000" indent="-252000">
              <a:lnSpc>
                <a:spcPct val="120000"/>
              </a:lnSpc>
              <a:buFont typeface="+mj-lt"/>
              <a:buAutoNum type="arabicPeriod"/>
            </a:pPr>
            <a:r>
              <a:rPr lang="zh-CN" altLang="en-US" sz="1400" dirty="0">
                <a:latin typeface="微软雅黑" panose="020B0503020204020204" pitchFamily="34" charset="-122"/>
                <a:ea typeface="微软雅黑" panose="020B0503020204020204" pitchFamily="34" charset="-122"/>
              </a:rPr>
              <a:t>构建综合干旱监测模型</a:t>
            </a:r>
          </a:p>
          <a:p>
            <a:pPr marL="252000" indent="-252000">
              <a:lnSpc>
                <a:spcPct val="120000"/>
              </a:lnSpc>
              <a:buFont typeface="+mj-lt"/>
              <a:buAutoNum type="arabicPeriod"/>
            </a:pPr>
            <a:r>
              <a:rPr lang="zh-CN" altLang="en-US" sz="1400" dirty="0">
                <a:latin typeface="微软雅黑" panose="020B0503020204020204" pitchFamily="34" charset="-122"/>
                <a:ea typeface="微软雅黑" panose="020B0503020204020204" pitchFamily="34" charset="-122"/>
              </a:rPr>
              <a:t>记录土壤水分含量，评估干旱发生的时间、强度和持续时间</a:t>
            </a:r>
          </a:p>
        </p:txBody>
      </p:sp>
      <p:sp>
        <p:nvSpPr>
          <p:cNvPr id="73" name="文本框 72">
            <a:extLst>
              <a:ext uri="{FF2B5EF4-FFF2-40B4-BE49-F238E27FC236}">
                <a16:creationId xmlns:a16="http://schemas.microsoft.com/office/drawing/2014/main" id="{71C87C36-C89F-C97A-ACCF-307579A4CD32}"/>
              </a:ext>
            </a:extLst>
          </p:cNvPr>
          <p:cNvSpPr txBox="1"/>
          <p:nvPr/>
        </p:nvSpPr>
        <p:spPr>
          <a:xfrm>
            <a:off x="5362487" y="4046254"/>
            <a:ext cx="2586289" cy="1108830"/>
          </a:xfrm>
          <a:prstGeom prst="rect">
            <a:avLst/>
          </a:prstGeom>
          <a:noFill/>
        </p:spPr>
        <p:txBody>
          <a:bodyPr wrap="square">
            <a:spAutoFit/>
          </a:bodyPr>
          <a:lstStyle/>
          <a:p>
            <a:pPr marL="252000" indent="-252000">
              <a:lnSpc>
                <a:spcPct val="120000"/>
              </a:lnSpc>
              <a:buFont typeface="+mj-lt"/>
              <a:buAutoNum type="arabicPeriod"/>
            </a:pPr>
            <a:r>
              <a:rPr lang="zh-CN" altLang="en-US" sz="1400" dirty="0">
                <a:latin typeface="微软雅黑" panose="020B0503020204020204" pitchFamily="34" charset="-122"/>
                <a:ea typeface="微软雅黑" panose="020B0503020204020204" pitchFamily="34" charset="-122"/>
              </a:rPr>
              <a:t>分析植物的水分来源和效率</a:t>
            </a:r>
            <a:endParaRPr lang="en-US" altLang="zh-CN" sz="1400" dirty="0">
              <a:latin typeface="微软雅黑" panose="020B0503020204020204" pitchFamily="34" charset="-122"/>
              <a:ea typeface="微软雅黑" panose="020B0503020204020204" pitchFamily="34" charset="-122"/>
            </a:endParaRPr>
          </a:p>
          <a:p>
            <a:pPr marL="252000" indent="-252000">
              <a:lnSpc>
                <a:spcPct val="120000"/>
              </a:lnSpc>
              <a:buFont typeface="+mj-lt"/>
              <a:buAutoNum type="arabicPeriod"/>
            </a:pPr>
            <a:r>
              <a:rPr lang="zh-CN" altLang="en-US" sz="1400" dirty="0">
                <a:latin typeface="微软雅黑" panose="020B0503020204020204" pitchFamily="34" charset="-122"/>
                <a:ea typeface="微软雅黑" panose="020B0503020204020204" pitchFamily="34" charset="-122"/>
              </a:rPr>
              <a:t>测量植物叶片厚度、比叶面积等功能性状，分析其在不同岩性区域的变异</a:t>
            </a:r>
          </a:p>
        </p:txBody>
      </p:sp>
      <p:sp>
        <p:nvSpPr>
          <p:cNvPr id="74" name="文本框 73">
            <a:extLst>
              <a:ext uri="{FF2B5EF4-FFF2-40B4-BE49-F238E27FC236}">
                <a16:creationId xmlns:a16="http://schemas.microsoft.com/office/drawing/2014/main" id="{C39EBB13-14FE-D424-94A3-54641B4E3265}"/>
              </a:ext>
            </a:extLst>
          </p:cNvPr>
          <p:cNvSpPr txBox="1"/>
          <p:nvPr/>
        </p:nvSpPr>
        <p:spPr>
          <a:xfrm>
            <a:off x="8839955" y="4046254"/>
            <a:ext cx="2586289" cy="1108830"/>
          </a:xfrm>
          <a:prstGeom prst="rect">
            <a:avLst/>
          </a:prstGeom>
          <a:noFill/>
        </p:spPr>
        <p:txBody>
          <a:bodyPr wrap="square">
            <a:spAutoFit/>
          </a:bodyPr>
          <a:lstStyle/>
          <a:p>
            <a:pPr marL="252000" indent="-252000">
              <a:lnSpc>
                <a:spcPct val="120000"/>
              </a:lnSpc>
              <a:buFont typeface="+mj-lt"/>
              <a:buAutoNum type="arabicPeriod"/>
            </a:pPr>
            <a:r>
              <a:rPr lang="zh-CN" altLang="en-US" sz="1400" dirty="0">
                <a:latin typeface="微软雅黑" panose="020B0503020204020204" pitchFamily="34" charset="-122"/>
                <a:ea typeface="微软雅黑" panose="020B0503020204020204" pitchFamily="34" charset="-122"/>
              </a:rPr>
              <a:t>分析不同岩性区域土壤结构裂隙发育程度地下水分布</a:t>
            </a:r>
            <a:endParaRPr lang="en-US" altLang="zh-CN" sz="1400" dirty="0">
              <a:latin typeface="微软雅黑" panose="020B0503020204020204" pitchFamily="34" charset="-122"/>
              <a:ea typeface="微软雅黑" panose="020B0503020204020204" pitchFamily="34" charset="-122"/>
            </a:endParaRPr>
          </a:p>
          <a:p>
            <a:pPr marL="252000" indent="-252000">
              <a:lnSpc>
                <a:spcPct val="120000"/>
              </a:lnSpc>
              <a:buFont typeface="+mj-lt"/>
              <a:buAutoNum type="arabicPeriod"/>
            </a:pPr>
            <a:r>
              <a:rPr lang="zh-CN" altLang="en-US" sz="1400" dirty="0">
                <a:latin typeface="微软雅黑" panose="020B0503020204020204" pitchFamily="34" charset="-122"/>
                <a:ea typeface="微软雅黑" panose="020B0503020204020204" pitchFamily="34" charset="-122"/>
              </a:rPr>
              <a:t>模拟不同岩性森林在干旱条件下水分循环和动态变化</a:t>
            </a:r>
          </a:p>
        </p:txBody>
      </p:sp>
      <p:sp>
        <p:nvSpPr>
          <p:cNvPr id="75" name="文本框 74">
            <a:extLst>
              <a:ext uri="{FF2B5EF4-FFF2-40B4-BE49-F238E27FC236}">
                <a16:creationId xmlns:a16="http://schemas.microsoft.com/office/drawing/2014/main" id="{1EE41AD5-F1C9-DA54-A175-E37395E49415}"/>
              </a:ext>
            </a:extLst>
          </p:cNvPr>
          <p:cNvSpPr txBox="1"/>
          <p:nvPr/>
        </p:nvSpPr>
        <p:spPr>
          <a:xfrm>
            <a:off x="1783184" y="5540428"/>
            <a:ext cx="2801686" cy="662874"/>
          </a:xfrm>
          <a:prstGeom prst="rect">
            <a:avLst/>
          </a:prstGeom>
          <a:noFill/>
        </p:spPr>
        <p:txBody>
          <a:bodyPr wrap="square">
            <a:spAutoFit/>
          </a:bodyPr>
          <a:lstStyle/>
          <a:p>
            <a:pPr>
              <a:lnSpc>
                <a:spcPct val="120000"/>
              </a:lnSpc>
            </a:pPr>
            <a:r>
              <a:rPr lang="zh-CN" altLang="en-US" sz="1600" dirty="0">
                <a:solidFill>
                  <a:prstClr val="white"/>
                </a:solidFill>
                <a:latin typeface="微软雅黑" panose="020B0503020204020204" pitchFamily="34" charset="-122"/>
                <a:ea typeface="微软雅黑" panose="020B0503020204020204" pitchFamily="34" charset="-122"/>
              </a:rPr>
              <a:t>构建综合干旱指数（</a:t>
            </a:r>
            <a:r>
              <a:rPr lang="en-US" altLang="zh-CN" sz="1600" dirty="0">
                <a:solidFill>
                  <a:prstClr val="white"/>
                </a:solidFill>
                <a:latin typeface="微软雅黑" panose="020B0503020204020204" pitchFamily="34" charset="-122"/>
                <a:ea typeface="微软雅黑" panose="020B0503020204020204" pitchFamily="34" charset="-122"/>
              </a:rPr>
              <a:t>CDI</a:t>
            </a:r>
            <a:r>
              <a:rPr lang="zh-CN" altLang="en-US" sz="1600" dirty="0">
                <a:solidFill>
                  <a:prstClr val="white"/>
                </a:solidFill>
                <a:latin typeface="微软雅黑" panose="020B0503020204020204" pitchFamily="34" charset="-122"/>
                <a:ea typeface="微软雅黑" panose="020B0503020204020204" pitchFamily="34" charset="-122"/>
              </a:rPr>
              <a:t>）以提高干旱监测的精度</a:t>
            </a:r>
          </a:p>
        </p:txBody>
      </p:sp>
      <p:sp>
        <p:nvSpPr>
          <p:cNvPr id="76" name="文本框 75">
            <a:extLst>
              <a:ext uri="{FF2B5EF4-FFF2-40B4-BE49-F238E27FC236}">
                <a16:creationId xmlns:a16="http://schemas.microsoft.com/office/drawing/2014/main" id="{0471995B-0ADD-228F-7FB6-8755CF317F35}"/>
              </a:ext>
            </a:extLst>
          </p:cNvPr>
          <p:cNvSpPr txBox="1"/>
          <p:nvPr/>
        </p:nvSpPr>
        <p:spPr>
          <a:xfrm>
            <a:off x="5227373" y="5540428"/>
            <a:ext cx="2978120" cy="662874"/>
          </a:xfrm>
          <a:prstGeom prst="rect">
            <a:avLst/>
          </a:prstGeom>
          <a:noFill/>
        </p:spPr>
        <p:txBody>
          <a:bodyPr wrap="square">
            <a:spAutoFit/>
          </a:bodyPr>
          <a:lstStyle/>
          <a:p>
            <a:pPr>
              <a:lnSpc>
                <a:spcPct val="120000"/>
              </a:lnSpc>
            </a:pPr>
            <a:r>
              <a:rPr lang="zh-CN" altLang="en-US" sz="1600" dirty="0">
                <a:solidFill>
                  <a:prstClr val="white"/>
                </a:solidFill>
                <a:latin typeface="微软雅黑" panose="020B0503020204020204" pitchFamily="34" charset="-122"/>
                <a:ea typeface="微软雅黑" panose="020B0503020204020204" pitchFamily="34" charset="-122"/>
              </a:rPr>
              <a:t>模拟不同岩性森林对干旱的响应机制，预测未来气候变化</a:t>
            </a:r>
          </a:p>
        </p:txBody>
      </p:sp>
      <p:sp>
        <p:nvSpPr>
          <p:cNvPr id="77" name="文本框 76">
            <a:extLst>
              <a:ext uri="{FF2B5EF4-FFF2-40B4-BE49-F238E27FC236}">
                <a16:creationId xmlns:a16="http://schemas.microsoft.com/office/drawing/2014/main" id="{55346BD5-E333-F829-FAEC-63EC306B2F91}"/>
              </a:ext>
            </a:extLst>
          </p:cNvPr>
          <p:cNvSpPr txBox="1"/>
          <p:nvPr/>
        </p:nvSpPr>
        <p:spPr>
          <a:xfrm>
            <a:off x="8739634" y="5540428"/>
            <a:ext cx="2801686" cy="662874"/>
          </a:xfrm>
          <a:prstGeom prst="rect">
            <a:avLst/>
          </a:prstGeom>
          <a:noFill/>
        </p:spPr>
        <p:txBody>
          <a:bodyPr wrap="square">
            <a:spAutoFit/>
          </a:bodyPr>
          <a:lstStyle/>
          <a:p>
            <a:pPr>
              <a:lnSpc>
                <a:spcPct val="120000"/>
              </a:lnSpc>
            </a:pPr>
            <a:r>
              <a:rPr lang="zh-CN" altLang="en-US" sz="1600" dirty="0">
                <a:solidFill>
                  <a:prstClr val="white"/>
                </a:solidFill>
                <a:latin typeface="微软雅黑" panose="020B0503020204020204" pitchFamily="34" charset="-122"/>
                <a:ea typeface="微软雅黑" panose="020B0503020204020204" pitchFamily="34" charset="-122"/>
              </a:rPr>
              <a:t>建立干旱指标与生态系统响应之间的关联模型</a:t>
            </a:r>
          </a:p>
        </p:txBody>
      </p:sp>
      <p:sp>
        <p:nvSpPr>
          <p:cNvPr id="2" name="矩形 1">
            <a:extLst>
              <a:ext uri="{FF2B5EF4-FFF2-40B4-BE49-F238E27FC236}">
                <a16:creationId xmlns:a16="http://schemas.microsoft.com/office/drawing/2014/main" id="{13425371-499A-AE38-76F2-404FE40DA489}"/>
              </a:ext>
            </a:extLst>
          </p:cNvPr>
          <p:cNvSpPr/>
          <p:nvPr/>
        </p:nvSpPr>
        <p:spPr>
          <a:xfrm>
            <a:off x="0" y="1066800"/>
            <a:ext cx="12192000" cy="5791200"/>
          </a:xfrm>
          <a:prstGeom prst="rect">
            <a:avLst/>
          </a:prstGeom>
          <a:solidFill>
            <a:srgbClr val="FFFFFF"/>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A4FED048-E72F-850D-1408-3C8B09700C9B}"/>
              </a:ext>
            </a:extLst>
          </p:cNvPr>
          <p:cNvSpPr/>
          <p:nvPr/>
        </p:nvSpPr>
        <p:spPr>
          <a:xfrm>
            <a:off x="431800" y="1219200"/>
            <a:ext cx="11328400" cy="533400"/>
          </a:xfrm>
          <a:prstGeom prst="rect">
            <a:avLst/>
          </a:prstGeom>
          <a:solidFill>
            <a:srgbClr val="0054A0"/>
          </a:solidFill>
          <a:ln w="1270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700" b="1">
                <a:solidFill>
                  <a:srgbClr val="FFFFFF"/>
                </a:solidFill>
                <a:latin typeface="微软雅黑" panose="020B0503020204020204" pitchFamily="34" charset="-122"/>
              </a:rPr>
              <a:t>多模型实验的主要成本来自部署、调度和结果对齐</a:t>
            </a:r>
          </a:p>
        </p:txBody>
      </p:sp>
      <p:sp>
        <p:nvSpPr>
          <p:cNvPr id="4" name="矩形 3">
            <a:extLst>
              <a:ext uri="{FF2B5EF4-FFF2-40B4-BE49-F238E27FC236}">
                <a16:creationId xmlns:a16="http://schemas.microsoft.com/office/drawing/2014/main" id="{F3978255-7093-8B97-75F9-17E033503DD3}"/>
              </a:ext>
            </a:extLst>
          </p:cNvPr>
          <p:cNvSpPr/>
          <p:nvPr/>
        </p:nvSpPr>
        <p:spPr>
          <a:xfrm>
            <a:off x="736600" y="2260600"/>
            <a:ext cx="3111500" cy="533400"/>
          </a:xfrm>
          <a:prstGeom prst="rect">
            <a:avLst/>
          </a:prstGeom>
          <a:solidFill>
            <a:srgbClr val="0054A0"/>
          </a:solidFill>
          <a:ln w="1270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b="1">
                <a:solidFill>
                  <a:srgbClr val="FFFFFF"/>
                </a:solidFill>
                <a:latin typeface="微软雅黑" panose="020B0503020204020204" pitchFamily="34" charset="-122"/>
              </a:rPr>
              <a:t>部署成本高</a:t>
            </a:r>
          </a:p>
        </p:txBody>
      </p:sp>
      <p:sp>
        <p:nvSpPr>
          <p:cNvPr id="5" name="矩形 4">
            <a:extLst>
              <a:ext uri="{FF2B5EF4-FFF2-40B4-BE49-F238E27FC236}">
                <a16:creationId xmlns:a16="http://schemas.microsoft.com/office/drawing/2014/main" id="{F6D45774-B3FA-FCDA-E72A-3B07ED4C6C6D}"/>
              </a:ext>
            </a:extLst>
          </p:cNvPr>
          <p:cNvSpPr/>
          <p:nvPr/>
        </p:nvSpPr>
        <p:spPr>
          <a:xfrm>
            <a:off x="736600" y="2870200"/>
            <a:ext cx="3111500" cy="16764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400" b="1">
                <a:solidFill>
                  <a:srgbClr val="052346"/>
                </a:solidFill>
                <a:latin typeface="微软雅黑" panose="020B0503020204020204" pitchFamily="34" charset="-122"/>
              </a:rPr>
              <a:t>模型环境、权重路径和运行脚本分散
不同仓库缺少统一入口</a:t>
            </a:r>
          </a:p>
        </p:txBody>
      </p:sp>
      <p:sp>
        <p:nvSpPr>
          <p:cNvPr id="7" name="矩形 6">
            <a:extLst>
              <a:ext uri="{FF2B5EF4-FFF2-40B4-BE49-F238E27FC236}">
                <a16:creationId xmlns:a16="http://schemas.microsoft.com/office/drawing/2014/main" id="{172D0F2B-95F3-C636-9DDD-3813962519CC}"/>
              </a:ext>
            </a:extLst>
          </p:cNvPr>
          <p:cNvSpPr/>
          <p:nvPr/>
        </p:nvSpPr>
        <p:spPr>
          <a:xfrm>
            <a:off x="4546600" y="2260600"/>
            <a:ext cx="3111500" cy="533400"/>
          </a:xfrm>
          <a:prstGeom prst="rect">
            <a:avLst/>
          </a:prstGeom>
          <a:solidFill>
            <a:srgbClr val="0054A0"/>
          </a:solidFill>
          <a:ln w="1270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b="1">
                <a:solidFill>
                  <a:srgbClr val="FFFFFF"/>
                </a:solidFill>
                <a:latin typeface="微软雅黑" panose="020B0503020204020204" pitchFamily="34" charset="-122"/>
              </a:rPr>
              <a:t>算力使用不便</a:t>
            </a:r>
          </a:p>
        </p:txBody>
      </p:sp>
      <p:sp>
        <p:nvSpPr>
          <p:cNvPr id="8" name="矩形 7">
            <a:extLst>
              <a:ext uri="{FF2B5EF4-FFF2-40B4-BE49-F238E27FC236}">
                <a16:creationId xmlns:a16="http://schemas.microsoft.com/office/drawing/2014/main" id="{55F152F1-5B68-FAD4-F389-2B7991D5EFFB}"/>
              </a:ext>
            </a:extLst>
          </p:cNvPr>
          <p:cNvSpPr/>
          <p:nvPr/>
        </p:nvSpPr>
        <p:spPr>
          <a:xfrm>
            <a:off x="4546600" y="2870200"/>
            <a:ext cx="3111500" cy="16764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400" b="1">
                <a:solidFill>
                  <a:srgbClr val="052346"/>
                </a:solidFill>
                <a:latin typeface="微软雅黑" panose="020B0503020204020204" pitchFamily="34" charset="-122"/>
              </a:rPr>
              <a:t>远端 </a:t>
            </a:r>
            <a:r>
              <a:rPr lang="en-US" altLang="zh-CN" sz="1400" b="1">
                <a:solidFill>
                  <a:srgbClr val="052346"/>
                </a:solidFill>
                <a:latin typeface="微软雅黑" panose="020B0503020204020204" pitchFamily="34" charset="-122"/>
              </a:rPr>
              <a:t>GPU </a:t>
            </a:r>
            <a:r>
              <a:rPr lang="zh-CN" altLang="en-US" sz="1400" b="1">
                <a:solidFill>
                  <a:srgbClr val="052346"/>
                </a:solidFill>
                <a:latin typeface="微软雅黑" panose="020B0503020204020204" pitchFamily="34" charset="-122"/>
              </a:rPr>
              <a:t>任务依赖手动命令
状态、日志、产物回传不集中</a:t>
            </a:r>
          </a:p>
        </p:txBody>
      </p:sp>
      <p:sp>
        <p:nvSpPr>
          <p:cNvPr id="9" name="矩形 8">
            <a:extLst>
              <a:ext uri="{FF2B5EF4-FFF2-40B4-BE49-F238E27FC236}">
                <a16:creationId xmlns:a16="http://schemas.microsoft.com/office/drawing/2014/main" id="{0781533C-D970-38EF-F854-B6E399DFA734}"/>
              </a:ext>
            </a:extLst>
          </p:cNvPr>
          <p:cNvSpPr/>
          <p:nvPr/>
        </p:nvSpPr>
        <p:spPr>
          <a:xfrm>
            <a:off x="8356600" y="2260600"/>
            <a:ext cx="3111500" cy="533400"/>
          </a:xfrm>
          <a:prstGeom prst="rect">
            <a:avLst/>
          </a:prstGeom>
          <a:solidFill>
            <a:srgbClr val="0054A0"/>
          </a:solidFill>
          <a:ln w="1270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b="1">
                <a:solidFill>
                  <a:srgbClr val="FFFFFF"/>
                </a:solidFill>
                <a:latin typeface="微软雅黑" panose="020B0503020204020204" pitchFamily="34" charset="-122"/>
              </a:rPr>
              <a:t>对比难复现</a:t>
            </a:r>
          </a:p>
        </p:txBody>
      </p:sp>
      <p:sp>
        <p:nvSpPr>
          <p:cNvPr id="10" name="矩形 9">
            <a:extLst>
              <a:ext uri="{FF2B5EF4-FFF2-40B4-BE49-F238E27FC236}">
                <a16:creationId xmlns:a16="http://schemas.microsoft.com/office/drawing/2014/main" id="{745604D0-F628-8EB7-1AC4-AF7031B8F322}"/>
              </a:ext>
            </a:extLst>
          </p:cNvPr>
          <p:cNvSpPr/>
          <p:nvPr/>
        </p:nvSpPr>
        <p:spPr>
          <a:xfrm>
            <a:off x="8356600" y="2870200"/>
            <a:ext cx="3111500" cy="16764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400" b="1">
                <a:solidFill>
                  <a:srgbClr val="052346"/>
                </a:solidFill>
                <a:latin typeface="微软雅黑" panose="020B0503020204020204" pitchFamily="34" charset="-122"/>
              </a:rPr>
              <a:t>输入输出格式差异明显
横向比较需要大量人工整理</a:t>
            </a:r>
          </a:p>
        </p:txBody>
      </p:sp>
      <p:sp>
        <p:nvSpPr>
          <p:cNvPr id="11" name="矩形 10">
            <a:extLst>
              <a:ext uri="{FF2B5EF4-FFF2-40B4-BE49-F238E27FC236}">
                <a16:creationId xmlns:a16="http://schemas.microsoft.com/office/drawing/2014/main" id="{F40EA441-A4B6-E895-1575-22096ED43F0E}"/>
              </a:ext>
            </a:extLst>
          </p:cNvPr>
          <p:cNvSpPr/>
          <p:nvPr/>
        </p:nvSpPr>
        <p:spPr>
          <a:xfrm>
            <a:off x="1397000" y="5461000"/>
            <a:ext cx="9398000" cy="5334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600" b="1">
                <a:solidFill>
                  <a:srgbClr val="052346"/>
                </a:solidFill>
                <a:latin typeface="微软雅黑" panose="020B0503020204020204" pitchFamily="34" charset="-122"/>
              </a:rPr>
              <a:t>平台要解决的不是单一模型效果，而是多模型实验流程的标准化。</a:t>
            </a:r>
          </a:p>
        </p:txBody>
      </p:sp>
    </p:spTree>
    <p:extLst>
      <p:ext uri="{BB962C8B-B14F-4D97-AF65-F5344CB8AC3E}">
        <p14:creationId xmlns:p14="http://schemas.microsoft.com/office/powerpoint/2010/main" val="3246291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200FB-E7F6-9EDF-7A42-552B3168F012}"/>
            </a:ext>
          </a:extLst>
        </p:cNvPr>
        <p:cNvGrpSpPr/>
        <p:nvPr/>
      </p:nvGrpSpPr>
      <p:grpSpPr>
        <a:xfrm>
          <a:off x="0" y="0"/>
          <a:ext cx="0" cy="0"/>
          <a:chOff x="0" y="0"/>
          <a:chExt cx="0" cy="0"/>
        </a:xfrm>
      </p:grpSpPr>
      <p:sp>
        <p:nvSpPr>
          <p:cNvPr id="90" name="文本框 89">
            <a:extLst>
              <a:ext uri="{FF2B5EF4-FFF2-40B4-BE49-F238E27FC236}">
                <a16:creationId xmlns:a16="http://schemas.microsoft.com/office/drawing/2014/main" id="{A16A27DE-0CC3-E2DF-043F-108E3E31018F}"/>
              </a:ext>
            </a:extLst>
          </p:cNvPr>
          <p:cNvSpPr txBox="1"/>
          <p:nvPr/>
        </p:nvSpPr>
        <p:spPr>
          <a:xfrm>
            <a:off x="115452" y="243436"/>
            <a:ext cx="772964" cy="52322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rPr>
              <a:t>1.1</a:t>
            </a:r>
            <a:endParaRPr lang="zh-CN" altLang="en-US" sz="2800" b="1" dirty="0">
              <a:solidFill>
                <a:schemeClr val="bg1"/>
              </a:solidFill>
              <a:latin typeface="微软雅黑" panose="020B0503020204020204" pitchFamily="34" charset="-122"/>
            </a:endParaRPr>
          </a:p>
        </p:txBody>
      </p:sp>
      <p:sp>
        <p:nvSpPr>
          <p:cNvPr id="92" name="文本框 91">
            <a:extLst>
              <a:ext uri="{FF2B5EF4-FFF2-40B4-BE49-F238E27FC236}">
                <a16:creationId xmlns:a16="http://schemas.microsoft.com/office/drawing/2014/main" id="{3FAA32E8-1BA4-370D-93AB-7CBC6F780926}"/>
              </a:ext>
            </a:extLst>
          </p:cNvPr>
          <p:cNvSpPr txBox="1"/>
          <p:nvPr/>
        </p:nvSpPr>
        <p:spPr>
          <a:xfrm>
            <a:off x="946461" y="269201"/>
            <a:ext cx="6440714" cy="523220"/>
          </a:xfrm>
          <a:prstGeom prst="rect">
            <a:avLst/>
          </a:prstGeom>
          <a:noFill/>
        </p:spPr>
        <p:txBody>
          <a:bodyPr wrap="square">
            <a:spAutoFit/>
          </a:bodyPr>
          <a:lstStyle/>
          <a:p>
            <a:r>
              <a:rPr lang="zh-CN" altLang="en-US" sz="2800" b="1" dirty="0">
                <a:solidFill>
                  <a:schemeClr val="accent1"/>
                </a:solidFill>
                <a:latin typeface="微软雅黑" panose="020B0503020204020204" pitchFamily="34" charset="-122"/>
              </a:rPr>
              <a:t>研究热点</a:t>
            </a:r>
          </a:p>
        </p:txBody>
      </p:sp>
      <p:sp>
        <p:nvSpPr>
          <p:cNvPr id="8" name="矩形: 圆角 7">
            <a:extLst>
              <a:ext uri="{FF2B5EF4-FFF2-40B4-BE49-F238E27FC236}">
                <a16:creationId xmlns:a16="http://schemas.microsoft.com/office/drawing/2014/main" id="{8B0C900E-EE19-3EC2-4408-C9195BC0D313}"/>
              </a:ext>
            </a:extLst>
          </p:cNvPr>
          <p:cNvSpPr/>
          <p:nvPr/>
        </p:nvSpPr>
        <p:spPr>
          <a:xfrm>
            <a:off x="460262" y="1154391"/>
            <a:ext cx="3217658" cy="2447925"/>
          </a:xfrm>
          <a:prstGeom prst="roundRect">
            <a:avLst>
              <a:gd name="adj" fmla="val 1200"/>
            </a:avLst>
          </a:prstGeom>
          <a:solidFill>
            <a:schemeClr val="bg1"/>
          </a:solidFill>
          <a:ln w="3175" cap="flat" cmpd="sng" algn="ctr">
            <a:solidFill>
              <a:schemeClr val="accent1"/>
            </a:solidFill>
            <a:prstDash val="solid"/>
            <a:miter lim="800000"/>
          </a:ln>
          <a:effectLst>
            <a:outerShdw blurRad="266700" dist="215900" dir="8100000" algn="tr" rotWithShape="0">
              <a:schemeClr val="accent2">
                <a:lumMod val="50000"/>
                <a:alpha val="8000"/>
              </a:schemeClr>
            </a:outerShdw>
          </a:effectLst>
        </p:spPr>
        <p:txBody>
          <a:bodyPr rtlCol="0" anchor="ctr"/>
          <a:lstStyle/>
          <a:p>
            <a:pPr algn="ctr"/>
            <a:endParaRPr lang="zh-CN" altLang="en-US" kern="0" dirty="0">
              <a:solidFill>
                <a:srgbClr val="0B4FA1"/>
              </a:solidFill>
              <a:latin typeface="Arial" panose="020B0604020202020204" pitchFamily="34" charset="0"/>
              <a:ea typeface="微软雅黑" panose="020B0503020204020204" pitchFamily="34" charset="-122"/>
            </a:endParaRPr>
          </a:p>
        </p:txBody>
      </p:sp>
      <p:sp>
        <p:nvSpPr>
          <p:cNvPr id="9" name="矩形: 圆角 8">
            <a:extLst>
              <a:ext uri="{FF2B5EF4-FFF2-40B4-BE49-F238E27FC236}">
                <a16:creationId xmlns:a16="http://schemas.microsoft.com/office/drawing/2014/main" id="{D9ACB5EF-E4B1-5042-609C-A27EC6DEFCAC}"/>
              </a:ext>
            </a:extLst>
          </p:cNvPr>
          <p:cNvSpPr/>
          <p:nvPr/>
        </p:nvSpPr>
        <p:spPr>
          <a:xfrm>
            <a:off x="460262" y="1154391"/>
            <a:ext cx="3217657" cy="529971"/>
          </a:xfrm>
          <a:prstGeom prst="roundRect">
            <a:avLst>
              <a:gd name="adj" fmla="val 7616"/>
            </a:avLst>
          </a:prstGeom>
          <a:gradFill>
            <a:gsLst>
              <a:gs pos="0">
                <a:schemeClr val="accent2">
                  <a:lumMod val="50000"/>
                </a:schemeClr>
              </a:gs>
              <a:gs pos="57000">
                <a:schemeClr val="accent1"/>
              </a:gs>
            </a:gsLst>
            <a:lin ang="10800000" scaled="1"/>
          </a:gradFill>
          <a:ln w="19050" cap="flat" cmpd="sng" algn="ctr">
            <a:noFill/>
            <a:prstDash val="solid"/>
            <a:miter lim="800000"/>
          </a:ln>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10" name="文本框 9">
            <a:extLst>
              <a:ext uri="{FF2B5EF4-FFF2-40B4-BE49-F238E27FC236}">
                <a16:creationId xmlns:a16="http://schemas.microsoft.com/office/drawing/2014/main" id="{552C00E2-4A63-7FD5-98E6-0E5CE0880690}"/>
              </a:ext>
            </a:extLst>
          </p:cNvPr>
          <p:cNvSpPr txBox="1"/>
          <p:nvPr/>
        </p:nvSpPr>
        <p:spPr>
          <a:xfrm>
            <a:off x="527206" y="1203933"/>
            <a:ext cx="3083768" cy="430887"/>
          </a:xfrm>
          <a:prstGeom prst="rect">
            <a:avLst/>
          </a:prstGeom>
          <a:noFill/>
        </p:spPr>
        <p:txBody>
          <a:bodyPr wrap="square">
            <a:spAutoFit/>
          </a:bodyPr>
          <a:lstStyle/>
          <a:p>
            <a:pPr algn="ctr"/>
            <a:r>
              <a:rPr lang="zh-CN" altLang="en-US" sz="2200" b="1" dirty="0">
                <a:solidFill>
                  <a:prstClr val="white"/>
                </a:solidFill>
                <a:effectLst>
                  <a:outerShdw blurRad="50800" dist="38100" dir="5400000" algn="t" rotWithShape="0">
                    <a:srgbClr val="0B4FA1">
                      <a:lumMod val="75000"/>
                      <a:alpha val="40000"/>
                    </a:srgbClr>
                  </a:outerShdw>
                </a:effectLst>
                <a:latin typeface="微软雅黑" panose="020B0503020204020204" pitchFamily="34" charset="-122"/>
                <a:ea typeface="微软雅黑" panose="020B0503020204020204" pitchFamily="34" charset="-122"/>
              </a:rPr>
              <a:t>研究热点</a:t>
            </a:r>
            <a:r>
              <a:rPr lang="en-US" altLang="zh-CN" sz="2200" b="1" dirty="0">
                <a:solidFill>
                  <a:prstClr val="white"/>
                </a:solidFill>
                <a:effectLst>
                  <a:outerShdw blurRad="50800" dist="38100" dir="5400000" algn="t" rotWithShape="0">
                    <a:srgbClr val="0B4FA1">
                      <a:lumMod val="75000"/>
                      <a:alpha val="40000"/>
                    </a:srgbClr>
                  </a:outerShdw>
                </a:effectLst>
                <a:latin typeface="微软雅黑" panose="020B0503020204020204" pitchFamily="34" charset="-122"/>
                <a:ea typeface="微软雅黑" panose="020B0503020204020204" pitchFamily="34" charset="-122"/>
              </a:rPr>
              <a:t>1</a:t>
            </a:r>
            <a:endParaRPr lang="zh-CN" altLang="en-US" sz="2200" b="1" dirty="0">
              <a:solidFill>
                <a:prstClr val="white"/>
              </a:solidFill>
              <a:effectLst>
                <a:outerShdw blurRad="50800" dist="38100" dir="5400000" algn="t" rotWithShape="0">
                  <a:srgbClr val="0B4FA1">
                    <a:lumMod val="75000"/>
                    <a:alpha val="40000"/>
                  </a:srgbClr>
                </a:outerShdw>
              </a:effectLst>
              <a:latin typeface="微软雅黑" panose="020B0503020204020204" pitchFamily="34" charset="-122"/>
              <a:ea typeface="微软雅黑" panose="020B0503020204020204" pitchFamily="34" charset="-122"/>
            </a:endParaRPr>
          </a:p>
        </p:txBody>
      </p:sp>
      <p:sp>
        <p:nvSpPr>
          <p:cNvPr id="11" name="矩形: 圆角 10">
            <a:extLst>
              <a:ext uri="{FF2B5EF4-FFF2-40B4-BE49-F238E27FC236}">
                <a16:creationId xmlns:a16="http://schemas.microsoft.com/office/drawing/2014/main" id="{211598F8-3FE7-27BD-63DE-74CC285E1FEB}"/>
              </a:ext>
            </a:extLst>
          </p:cNvPr>
          <p:cNvSpPr/>
          <p:nvPr/>
        </p:nvSpPr>
        <p:spPr>
          <a:xfrm>
            <a:off x="4487171" y="1154391"/>
            <a:ext cx="3217658" cy="2447925"/>
          </a:xfrm>
          <a:prstGeom prst="roundRect">
            <a:avLst>
              <a:gd name="adj" fmla="val 1200"/>
            </a:avLst>
          </a:prstGeom>
          <a:solidFill>
            <a:schemeClr val="bg1"/>
          </a:solidFill>
          <a:ln w="3175" cap="flat" cmpd="sng" algn="ctr">
            <a:solidFill>
              <a:schemeClr val="accent1"/>
            </a:solidFill>
            <a:prstDash val="solid"/>
            <a:miter lim="800000"/>
          </a:ln>
          <a:effectLst>
            <a:outerShdw blurRad="266700" dist="215900" dir="8100000" algn="tr" rotWithShape="0">
              <a:schemeClr val="accent2">
                <a:lumMod val="50000"/>
                <a:alpha val="8000"/>
              </a:schemeClr>
            </a:outerShdw>
          </a:effectLst>
        </p:spPr>
        <p:txBody>
          <a:bodyPr rtlCol="0" anchor="ctr"/>
          <a:lstStyle/>
          <a:p>
            <a:pPr algn="ctr"/>
            <a:endParaRPr lang="zh-CN" altLang="en-US" kern="0" dirty="0">
              <a:solidFill>
                <a:srgbClr val="0B4FA1"/>
              </a:solidFill>
              <a:latin typeface="Arial" panose="020B0604020202020204" pitchFamily="34" charset="0"/>
              <a:ea typeface="微软雅黑" panose="020B0503020204020204" pitchFamily="34" charset="-122"/>
            </a:endParaRPr>
          </a:p>
        </p:txBody>
      </p:sp>
      <p:sp>
        <p:nvSpPr>
          <p:cNvPr id="12" name="矩形: 圆角 11">
            <a:extLst>
              <a:ext uri="{FF2B5EF4-FFF2-40B4-BE49-F238E27FC236}">
                <a16:creationId xmlns:a16="http://schemas.microsoft.com/office/drawing/2014/main" id="{77631436-E87F-24A5-9B0B-27D2B1821549}"/>
              </a:ext>
            </a:extLst>
          </p:cNvPr>
          <p:cNvSpPr/>
          <p:nvPr/>
        </p:nvSpPr>
        <p:spPr>
          <a:xfrm>
            <a:off x="4487171" y="1154391"/>
            <a:ext cx="3217657" cy="529971"/>
          </a:xfrm>
          <a:prstGeom prst="roundRect">
            <a:avLst>
              <a:gd name="adj" fmla="val 7616"/>
            </a:avLst>
          </a:prstGeom>
          <a:gradFill>
            <a:gsLst>
              <a:gs pos="0">
                <a:schemeClr val="accent2">
                  <a:lumMod val="50000"/>
                </a:schemeClr>
              </a:gs>
              <a:gs pos="57000">
                <a:schemeClr val="accent1"/>
              </a:gs>
            </a:gsLst>
            <a:lin ang="10800000" scaled="1"/>
          </a:gradFill>
          <a:ln w="19050" cap="flat" cmpd="sng" algn="ctr">
            <a:noFill/>
            <a:prstDash val="solid"/>
            <a:miter lim="800000"/>
          </a:ln>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13" name="矩形: 圆角 12">
            <a:extLst>
              <a:ext uri="{FF2B5EF4-FFF2-40B4-BE49-F238E27FC236}">
                <a16:creationId xmlns:a16="http://schemas.microsoft.com/office/drawing/2014/main" id="{FAD95176-9A19-2F09-A416-0A126A53CC4C}"/>
              </a:ext>
            </a:extLst>
          </p:cNvPr>
          <p:cNvSpPr/>
          <p:nvPr/>
        </p:nvSpPr>
        <p:spPr>
          <a:xfrm>
            <a:off x="8514080" y="1154391"/>
            <a:ext cx="3217658" cy="2447925"/>
          </a:xfrm>
          <a:prstGeom prst="roundRect">
            <a:avLst>
              <a:gd name="adj" fmla="val 1200"/>
            </a:avLst>
          </a:prstGeom>
          <a:solidFill>
            <a:schemeClr val="bg1"/>
          </a:solidFill>
          <a:ln w="3175" cap="flat" cmpd="sng" algn="ctr">
            <a:solidFill>
              <a:schemeClr val="accent1"/>
            </a:solidFill>
            <a:prstDash val="solid"/>
            <a:miter lim="800000"/>
          </a:ln>
          <a:effectLst>
            <a:outerShdw blurRad="266700" dist="215900" dir="8100000" algn="tr" rotWithShape="0">
              <a:schemeClr val="accent2">
                <a:lumMod val="50000"/>
                <a:alpha val="8000"/>
              </a:schemeClr>
            </a:outerShdw>
          </a:effectLst>
        </p:spPr>
        <p:txBody>
          <a:bodyPr rtlCol="0" anchor="ctr"/>
          <a:lstStyle/>
          <a:p>
            <a:pPr algn="ctr"/>
            <a:endParaRPr lang="zh-CN" altLang="en-US" kern="0" dirty="0">
              <a:solidFill>
                <a:srgbClr val="0B4FA1"/>
              </a:solidFill>
              <a:latin typeface="Arial" panose="020B0604020202020204" pitchFamily="34" charset="0"/>
              <a:ea typeface="微软雅黑" panose="020B0503020204020204" pitchFamily="34" charset="-122"/>
            </a:endParaRPr>
          </a:p>
        </p:txBody>
      </p:sp>
      <p:sp>
        <p:nvSpPr>
          <p:cNvPr id="14" name="矩形: 圆角 13">
            <a:extLst>
              <a:ext uri="{FF2B5EF4-FFF2-40B4-BE49-F238E27FC236}">
                <a16:creationId xmlns:a16="http://schemas.microsoft.com/office/drawing/2014/main" id="{0463FAA0-A598-B9F6-2ABD-BEB9C89E0A03}"/>
              </a:ext>
            </a:extLst>
          </p:cNvPr>
          <p:cNvSpPr/>
          <p:nvPr/>
        </p:nvSpPr>
        <p:spPr>
          <a:xfrm>
            <a:off x="8514080" y="1154391"/>
            <a:ext cx="3217657" cy="529971"/>
          </a:xfrm>
          <a:prstGeom prst="roundRect">
            <a:avLst>
              <a:gd name="adj" fmla="val 7616"/>
            </a:avLst>
          </a:prstGeom>
          <a:gradFill>
            <a:gsLst>
              <a:gs pos="0">
                <a:schemeClr val="accent2">
                  <a:lumMod val="50000"/>
                </a:schemeClr>
              </a:gs>
              <a:gs pos="57000">
                <a:schemeClr val="accent1"/>
              </a:gs>
            </a:gsLst>
            <a:lin ang="10800000" scaled="1"/>
          </a:gradFill>
          <a:ln w="19050" cap="flat" cmpd="sng" algn="ctr">
            <a:noFill/>
            <a:prstDash val="solid"/>
            <a:miter lim="800000"/>
          </a:ln>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15" name="文本框 14">
            <a:extLst>
              <a:ext uri="{FF2B5EF4-FFF2-40B4-BE49-F238E27FC236}">
                <a16:creationId xmlns:a16="http://schemas.microsoft.com/office/drawing/2014/main" id="{9227201A-C56A-F54E-06F3-0F11A099B607}"/>
              </a:ext>
            </a:extLst>
          </p:cNvPr>
          <p:cNvSpPr txBox="1"/>
          <p:nvPr/>
        </p:nvSpPr>
        <p:spPr>
          <a:xfrm>
            <a:off x="4554115" y="1203933"/>
            <a:ext cx="3083768" cy="430887"/>
          </a:xfrm>
          <a:prstGeom prst="rect">
            <a:avLst/>
          </a:prstGeom>
          <a:noFill/>
        </p:spPr>
        <p:txBody>
          <a:bodyPr wrap="square">
            <a:spAutoFit/>
          </a:bodyPr>
          <a:lstStyle/>
          <a:p>
            <a:pPr algn="ctr"/>
            <a:r>
              <a:rPr lang="zh-CN" altLang="en-US" sz="2200" b="1" dirty="0">
                <a:solidFill>
                  <a:prstClr val="white"/>
                </a:solidFill>
                <a:effectLst>
                  <a:outerShdw blurRad="50800" dist="38100" dir="5400000" algn="t" rotWithShape="0">
                    <a:srgbClr val="0B4FA1">
                      <a:lumMod val="75000"/>
                      <a:alpha val="40000"/>
                    </a:srgbClr>
                  </a:outerShdw>
                </a:effectLst>
                <a:latin typeface="微软雅黑" panose="020B0503020204020204" pitchFamily="34" charset="-122"/>
                <a:ea typeface="微软雅黑" panose="020B0503020204020204" pitchFamily="34" charset="-122"/>
              </a:rPr>
              <a:t>研究热点</a:t>
            </a:r>
            <a:r>
              <a:rPr lang="en-US" altLang="zh-CN" sz="2200" b="1" dirty="0">
                <a:solidFill>
                  <a:prstClr val="white"/>
                </a:solidFill>
                <a:effectLst>
                  <a:outerShdw blurRad="50800" dist="38100" dir="5400000" algn="t" rotWithShape="0">
                    <a:srgbClr val="0B4FA1">
                      <a:lumMod val="75000"/>
                      <a:alpha val="40000"/>
                    </a:srgbClr>
                  </a:outerShdw>
                </a:effectLst>
                <a:latin typeface="微软雅黑" panose="020B0503020204020204" pitchFamily="34" charset="-122"/>
                <a:ea typeface="微软雅黑" panose="020B0503020204020204" pitchFamily="34" charset="-122"/>
              </a:rPr>
              <a:t>2</a:t>
            </a:r>
            <a:endParaRPr lang="zh-CN" altLang="en-US" sz="2200" b="1" dirty="0">
              <a:solidFill>
                <a:prstClr val="white"/>
              </a:solidFill>
              <a:effectLst>
                <a:outerShdw blurRad="50800" dist="38100" dir="5400000" algn="t" rotWithShape="0">
                  <a:srgbClr val="0B4FA1">
                    <a:lumMod val="75000"/>
                    <a:alpha val="40000"/>
                  </a:srgbClr>
                </a:outerShdw>
              </a:effectLst>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E5D8919B-D9F9-C50A-0EDB-F2884BEC914C}"/>
              </a:ext>
            </a:extLst>
          </p:cNvPr>
          <p:cNvSpPr txBox="1"/>
          <p:nvPr/>
        </p:nvSpPr>
        <p:spPr>
          <a:xfrm>
            <a:off x="8581026" y="1203933"/>
            <a:ext cx="3083768" cy="430887"/>
          </a:xfrm>
          <a:prstGeom prst="rect">
            <a:avLst/>
          </a:prstGeom>
          <a:noFill/>
        </p:spPr>
        <p:txBody>
          <a:bodyPr wrap="square">
            <a:spAutoFit/>
          </a:bodyPr>
          <a:lstStyle/>
          <a:p>
            <a:pPr algn="ctr"/>
            <a:r>
              <a:rPr lang="zh-CN" altLang="en-US" sz="2200" b="1" dirty="0">
                <a:solidFill>
                  <a:prstClr val="white"/>
                </a:solidFill>
                <a:effectLst>
                  <a:outerShdw blurRad="50800" dist="38100" dir="5400000" algn="t" rotWithShape="0">
                    <a:srgbClr val="0B4FA1">
                      <a:lumMod val="75000"/>
                      <a:alpha val="40000"/>
                    </a:srgbClr>
                  </a:outerShdw>
                </a:effectLst>
                <a:latin typeface="微软雅黑" panose="020B0503020204020204" pitchFamily="34" charset="-122"/>
                <a:ea typeface="微软雅黑" panose="020B0503020204020204" pitchFamily="34" charset="-122"/>
              </a:rPr>
              <a:t>研究热点</a:t>
            </a:r>
            <a:r>
              <a:rPr lang="en-US" altLang="zh-CN" sz="2200" b="1" dirty="0">
                <a:solidFill>
                  <a:prstClr val="white"/>
                </a:solidFill>
                <a:effectLst>
                  <a:outerShdw blurRad="50800" dist="38100" dir="5400000" algn="t" rotWithShape="0">
                    <a:srgbClr val="0B4FA1">
                      <a:lumMod val="75000"/>
                      <a:alpha val="40000"/>
                    </a:srgbClr>
                  </a:outerShdw>
                </a:effectLst>
                <a:latin typeface="微软雅黑" panose="020B0503020204020204" pitchFamily="34" charset="-122"/>
                <a:ea typeface="微软雅黑" panose="020B0503020204020204" pitchFamily="34" charset="-122"/>
              </a:rPr>
              <a:t>3</a:t>
            </a:r>
            <a:endParaRPr lang="zh-CN" altLang="en-US" sz="2200" b="1" dirty="0">
              <a:solidFill>
                <a:prstClr val="white"/>
              </a:solidFill>
              <a:effectLst>
                <a:outerShdw blurRad="50800" dist="38100" dir="5400000" algn="t" rotWithShape="0">
                  <a:srgbClr val="0B4FA1">
                    <a:lumMod val="75000"/>
                    <a:alpha val="40000"/>
                  </a:srgbClr>
                </a:outerShdw>
              </a:effectLst>
              <a:latin typeface="微软雅黑" panose="020B0503020204020204" pitchFamily="34" charset="-122"/>
              <a:ea typeface="微软雅黑" panose="020B0503020204020204" pitchFamily="34" charset="-122"/>
            </a:endParaRPr>
          </a:p>
        </p:txBody>
      </p:sp>
      <p:sp>
        <p:nvSpPr>
          <p:cNvPr id="17" name="矩形: 圆角 16">
            <a:extLst>
              <a:ext uri="{FF2B5EF4-FFF2-40B4-BE49-F238E27FC236}">
                <a16:creationId xmlns:a16="http://schemas.microsoft.com/office/drawing/2014/main" id="{A7670CBA-BE63-3B39-C359-020114604DAA}"/>
              </a:ext>
            </a:extLst>
          </p:cNvPr>
          <p:cNvSpPr/>
          <p:nvPr/>
        </p:nvSpPr>
        <p:spPr>
          <a:xfrm>
            <a:off x="460262" y="3713292"/>
            <a:ext cx="11287238" cy="2842500"/>
          </a:xfrm>
          <a:prstGeom prst="roundRect">
            <a:avLst>
              <a:gd name="adj" fmla="val 1200"/>
            </a:avLst>
          </a:prstGeom>
          <a:solidFill>
            <a:schemeClr val="bg1"/>
          </a:solidFill>
          <a:ln w="3175" cap="flat" cmpd="sng" algn="ctr">
            <a:solidFill>
              <a:schemeClr val="accent1"/>
            </a:solidFill>
            <a:prstDash val="solid"/>
            <a:miter lim="800000"/>
          </a:ln>
          <a:effectLst>
            <a:outerShdw blurRad="266700" dist="215900" dir="8100000" algn="tr" rotWithShape="0">
              <a:schemeClr val="accent2">
                <a:lumMod val="50000"/>
                <a:alpha val="8000"/>
              </a:schemeClr>
            </a:outerShdw>
          </a:effectLst>
        </p:spPr>
        <p:txBody>
          <a:bodyPr rtlCol="0" anchor="ctr"/>
          <a:lstStyle/>
          <a:p>
            <a:pPr algn="ctr"/>
            <a:endParaRPr lang="zh-CN" altLang="en-US" kern="0" dirty="0">
              <a:solidFill>
                <a:srgbClr val="0B4FA1"/>
              </a:solidFill>
              <a:latin typeface="Arial" panose="020B0604020202020204" pitchFamily="34" charset="0"/>
              <a:ea typeface="微软雅黑" panose="020B0503020204020204" pitchFamily="34" charset="-122"/>
            </a:endParaRPr>
          </a:p>
        </p:txBody>
      </p:sp>
      <p:sp>
        <p:nvSpPr>
          <p:cNvPr id="18" name="矩形: 圆角 17">
            <a:extLst>
              <a:ext uri="{FF2B5EF4-FFF2-40B4-BE49-F238E27FC236}">
                <a16:creationId xmlns:a16="http://schemas.microsoft.com/office/drawing/2014/main" id="{333FB637-12C7-851A-4E40-3894586DEDD0}"/>
              </a:ext>
            </a:extLst>
          </p:cNvPr>
          <p:cNvSpPr>
            <a:spLocks/>
          </p:cNvSpPr>
          <p:nvPr/>
        </p:nvSpPr>
        <p:spPr>
          <a:xfrm>
            <a:off x="802287" y="4066653"/>
            <a:ext cx="6893007" cy="958596"/>
          </a:xfrm>
          <a:prstGeom prst="roundRect">
            <a:avLst>
              <a:gd name="adj" fmla="val 796"/>
            </a:avLst>
          </a:prstGeom>
          <a:solidFill>
            <a:schemeClr val="bg1"/>
          </a:solidFill>
          <a:ln w="3175" cap="flat" cmpd="sng" algn="ctr">
            <a:solidFill>
              <a:schemeClr val="accent1"/>
            </a:solidFill>
            <a:prstDash val="solid"/>
            <a:miter lim="800000"/>
          </a:ln>
          <a:effectLst>
            <a:outerShdw blurRad="266700" dist="215900" dir="8100000" algn="tr" rotWithShape="0">
              <a:schemeClr val="accent2">
                <a:lumMod val="50000"/>
                <a:alpha val="8000"/>
              </a:schemeClr>
            </a:outerShdw>
          </a:effectLst>
        </p:spPr>
        <p:txBody>
          <a:bodyPr rtlCol="0" anchor="ctr"/>
          <a:lstStyle/>
          <a:p>
            <a:pPr algn="ctr"/>
            <a:endParaRPr lang="zh-CN" altLang="en-US" kern="0" dirty="0">
              <a:solidFill>
                <a:srgbClr val="0B4FA1"/>
              </a:solidFill>
              <a:latin typeface="Arial" panose="020B0604020202020204" pitchFamily="34" charset="0"/>
              <a:ea typeface="微软雅黑" panose="020B0503020204020204" pitchFamily="34" charset="-122"/>
            </a:endParaRPr>
          </a:p>
        </p:txBody>
      </p:sp>
      <p:sp>
        <p:nvSpPr>
          <p:cNvPr id="19" name="矩形: 圆角 18">
            <a:extLst>
              <a:ext uri="{FF2B5EF4-FFF2-40B4-BE49-F238E27FC236}">
                <a16:creationId xmlns:a16="http://schemas.microsoft.com/office/drawing/2014/main" id="{2B529CE1-9D44-9564-5A3E-A2503FC3A437}"/>
              </a:ext>
            </a:extLst>
          </p:cNvPr>
          <p:cNvSpPr>
            <a:spLocks/>
          </p:cNvSpPr>
          <p:nvPr/>
        </p:nvSpPr>
        <p:spPr>
          <a:xfrm>
            <a:off x="802287" y="5243836"/>
            <a:ext cx="6893007" cy="958596"/>
          </a:xfrm>
          <a:prstGeom prst="roundRect">
            <a:avLst>
              <a:gd name="adj" fmla="val 796"/>
            </a:avLst>
          </a:prstGeom>
          <a:solidFill>
            <a:schemeClr val="bg1"/>
          </a:solidFill>
          <a:ln w="3175" cap="flat" cmpd="sng" algn="ctr">
            <a:solidFill>
              <a:schemeClr val="accent1"/>
            </a:solidFill>
            <a:prstDash val="solid"/>
            <a:miter lim="800000"/>
          </a:ln>
          <a:effectLst>
            <a:outerShdw blurRad="266700" dist="215900" dir="8100000" algn="tr" rotWithShape="0">
              <a:schemeClr val="accent2">
                <a:lumMod val="50000"/>
                <a:alpha val="8000"/>
              </a:schemeClr>
            </a:outerShdw>
          </a:effectLst>
        </p:spPr>
        <p:txBody>
          <a:bodyPr rtlCol="0" anchor="ctr"/>
          <a:lstStyle/>
          <a:p>
            <a:pPr algn="ctr"/>
            <a:endParaRPr lang="zh-CN" altLang="en-US" kern="0" dirty="0">
              <a:solidFill>
                <a:srgbClr val="0B4FA1"/>
              </a:solidFill>
              <a:latin typeface="Arial" panose="020B0604020202020204" pitchFamily="34" charset="0"/>
              <a:ea typeface="微软雅黑" panose="020B0503020204020204" pitchFamily="34" charset="-122"/>
            </a:endParaRPr>
          </a:p>
        </p:txBody>
      </p:sp>
      <p:sp>
        <p:nvSpPr>
          <p:cNvPr id="20" name="文本框 19">
            <a:extLst>
              <a:ext uri="{FF2B5EF4-FFF2-40B4-BE49-F238E27FC236}">
                <a16:creationId xmlns:a16="http://schemas.microsoft.com/office/drawing/2014/main" id="{2F43FDAB-A6E6-7276-CC71-24F4AA4988B4}"/>
              </a:ext>
            </a:extLst>
          </p:cNvPr>
          <p:cNvSpPr txBox="1"/>
          <p:nvPr/>
        </p:nvSpPr>
        <p:spPr>
          <a:xfrm>
            <a:off x="627948" y="1803515"/>
            <a:ext cx="2973342" cy="400110"/>
          </a:xfrm>
          <a:prstGeom prst="rect">
            <a:avLst/>
          </a:prstGeom>
          <a:noFill/>
        </p:spPr>
        <p:txBody>
          <a:bodyPr wrap="square">
            <a:spAutoFit/>
          </a:bodyPr>
          <a:lstStyle/>
          <a:p>
            <a:pPr algn="ctr">
              <a:defRPr/>
            </a:pPr>
            <a:r>
              <a:rPr lang="zh-CN" altLang="en-US" sz="2000" dirty="0">
                <a:solidFill>
                  <a:schemeClr val="accent1"/>
                </a:solidFill>
                <a:effectLst>
                  <a:glow rad="38100">
                    <a:prstClr val="white"/>
                  </a:glow>
                </a:effectLst>
                <a:latin typeface="微软雅黑" panose="020B0503020204020204" pitchFamily="34" charset="-122"/>
                <a:ea typeface="微软雅黑" panose="020B0503020204020204" pitchFamily="34" charset="-122"/>
                <a:cs typeface="Arial" panose="020B0604020202020204" pitchFamily="34" charset="0"/>
              </a:rPr>
              <a:t>卤化物固态电解质</a:t>
            </a:r>
          </a:p>
        </p:txBody>
      </p:sp>
      <p:sp>
        <p:nvSpPr>
          <p:cNvPr id="21" name="矩形: 圆角 20">
            <a:extLst>
              <a:ext uri="{FF2B5EF4-FFF2-40B4-BE49-F238E27FC236}">
                <a16:creationId xmlns:a16="http://schemas.microsoft.com/office/drawing/2014/main" id="{B384B477-D2B9-BF7A-E04B-4EACE0417FB1}"/>
              </a:ext>
            </a:extLst>
          </p:cNvPr>
          <p:cNvSpPr>
            <a:spLocks/>
          </p:cNvSpPr>
          <p:nvPr/>
        </p:nvSpPr>
        <p:spPr>
          <a:xfrm>
            <a:off x="738130" y="2223309"/>
            <a:ext cx="2756910" cy="1180549"/>
          </a:xfrm>
          <a:prstGeom prst="roundRect">
            <a:avLst>
              <a:gd name="adj" fmla="val 796"/>
            </a:avLst>
          </a:prstGeom>
          <a:solidFill>
            <a:schemeClr val="accent1">
              <a:alpha val="4000"/>
            </a:schemeClr>
          </a:solidFill>
          <a:ln w="317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sp>
        <p:nvSpPr>
          <p:cNvPr id="22" name="文本框 21">
            <a:extLst>
              <a:ext uri="{FF2B5EF4-FFF2-40B4-BE49-F238E27FC236}">
                <a16:creationId xmlns:a16="http://schemas.microsoft.com/office/drawing/2014/main" id="{3F1D4C3B-8E5B-A3A0-8E48-958324C4814D}"/>
              </a:ext>
            </a:extLst>
          </p:cNvPr>
          <p:cNvSpPr txBox="1"/>
          <p:nvPr/>
        </p:nvSpPr>
        <p:spPr>
          <a:xfrm>
            <a:off x="4609329" y="1803515"/>
            <a:ext cx="2973342" cy="400110"/>
          </a:xfrm>
          <a:prstGeom prst="rect">
            <a:avLst/>
          </a:prstGeom>
          <a:noFill/>
        </p:spPr>
        <p:txBody>
          <a:bodyPr wrap="square">
            <a:spAutoFit/>
          </a:bodyPr>
          <a:lstStyle/>
          <a:p>
            <a:pPr algn="ctr">
              <a:defRPr/>
            </a:pPr>
            <a:r>
              <a:rPr lang="zh-CN" altLang="en-US" sz="2000" dirty="0">
                <a:solidFill>
                  <a:schemeClr val="accent1"/>
                </a:solidFill>
                <a:effectLst>
                  <a:glow rad="38100">
                    <a:prstClr val="white"/>
                  </a:glow>
                </a:effectLst>
                <a:latin typeface="微软雅黑" panose="020B0503020204020204" pitchFamily="34" charset="-122"/>
                <a:ea typeface="微软雅黑" panose="020B0503020204020204" pitchFamily="34" charset="-122"/>
                <a:cs typeface="Arial" panose="020B0604020202020204" pitchFamily="34" charset="0"/>
              </a:rPr>
              <a:t>氧化物固态电解质</a:t>
            </a:r>
          </a:p>
        </p:txBody>
      </p:sp>
      <p:sp>
        <p:nvSpPr>
          <p:cNvPr id="23" name="文本框 22">
            <a:extLst>
              <a:ext uri="{FF2B5EF4-FFF2-40B4-BE49-F238E27FC236}">
                <a16:creationId xmlns:a16="http://schemas.microsoft.com/office/drawing/2014/main" id="{9DB3345E-DFF8-A6B3-A12B-57328997F7D2}"/>
              </a:ext>
            </a:extLst>
          </p:cNvPr>
          <p:cNvSpPr txBox="1"/>
          <p:nvPr/>
        </p:nvSpPr>
        <p:spPr>
          <a:xfrm>
            <a:off x="8636237" y="1803515"/>
            <a:ext cx="2973342" cy="400110"/>
          </a:xfrm>
          <a:prstGeom prst="rect">
            <a:avLst/>
          </a:prstGeom>
          <a:noFill/>
        </p:spPr>
        <p:txBody>
          <a:bodyPr wrap="square">
            <a:spAutoFit/>
          </a:bodyPr>
          <a:lstStyle/>
          <a:p>
            <a:pPr algn="ctr">
              <a:defRPr/>
            </a:pPr>
            <a:r>
              <a:rPr lang="zh-CN" altLang="en-US" sz="2000" dirty="0">
                <a:solidFill>
                  <a:schemeClr val="accent1"/>
                </a:solidFill>
                <a:effectLst>
                  <a:glow rad="38100">
                    <a:prstClr val="white"/>
                  </a:glow>
                </a:effectLst>
                <a:latin typeface="微软雅黑" panose="020B0503020204020204" pitchFamily="34" charset="-122"/>
                <a:ea typeface="微软雅黑" panose="020B0503020204020204" pitchFamily="34" charset="-122"/>
                <a:cs typeface="Arial" panose="020B0604020202020204" pitchFamily="34" charset="0"/>
              </a:rPr>
              <a:t>石榴石结构固态电解质</a:t>
            </a:r>
          </a:p>
        </p:txBody>
      </p:sp>
      <p:sp>
        <p:nvSpPr>
          <p:cNvPr id="24" name="矩形: 圆角 23">
            <a:extLst>
              <a:ext uri="{FF2B5EF4-FFF2-40B4-BE49-F238E27FC236}">
                <a16:creationId xmlns:a16="http://schemas.microsoft.com/office/drawing/2014/main" id="{15C22C74-EF33-8FD5-B9B4-878E20373438}"/>
              </a:ext>
            </a:extLst>
          </p:cNvPr>
          <p:cNvSpPr>
            <a:spLocks/>
          </p:cNvSpPr>
          <p:nvPr/>
        </p:nvSpPr>
        <p:spPr>
          <a:xfrm>
            <a:off x="4717544" y="2223309"/>
            <a:ext cx="2756910" cy="1180549"/>
          </a:xfrm>
          <a:prstGeom prst="roundRect">
            <a:avLst>
              <a:gd name="adj" fmla="val 796"/>
            </a:avLst>
          </a:prstGeom>
          <a:solidFill>
            <a:schemeClr val="accent1">
              <a:alpha val="4000"/>
            </a:schemeClr>
          </a:solidFill>
          <a:ln w="3175" cap="flat" cmpd="sng" algn="ctr">
            <a:noFill/>
            <a:prstDash val="solid"/>
            <a:miter lim="800000"/>
          </a:ln>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25" name="矩形: 圆角 24">
            <a:extLst>
              <a:ext uri="{FF2B5EF4-FFF2-40B4-BE49-F238E27FC236}">
                <a16:creationId xmlns:a16="http://schemas.microsoft.com/office/drawing/2014/main" id="{AEE12B27-D291-C1F6-A97E-BA0019D313A5}"/>
              </a:ext>
            </a:extLst>
          </p:cNvPr>
          <p:cNvSpPr>
            <a:spLocks/>
          </p:cNvSpPr>
          <p:nvPr/>
        </p:nvSpPr>
        <p:spPr>
          <a:xfrm>
            <a:off x="8744453" y="2223309"/>
            <a:ext cx="2756910" cy="1180549"/>
          </a:xfrm>
          <a:prstGeom prst="roundRect">
            <a:avLst>
              <a:gd name="adj" fmla="val 796"/>
            </a:avLst>
          </a:prstGeom>
          <a:solidFill>
            <a:schemeClr val="accent1">
              <a:alpha val="4000"/>
            </a:schemeClr>
          </a:solidFill>
          <a:ln w="3175" cap="flat" cmpd="sng" algn="ctr">
            <a:noFill/>
            <a:prstDash val="solid"/>
            <a:miter lim="800000"/>
          </a:ln>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26" name="文本框 25">
            <a:extLst>
              <a:ext uri="{FF2B5EF4-FFF2-40B4-BE49-F238E27FC236}">
                <a16:creationId xmlns:a16="http://schemas.microsoft.com/office/drawing/2014/main" id="{9352D279-92FF-0EA9-0936-7331490A4A8E}"/>
              </a:ext>
            </a:extLst>
          </p:cNvPr>
          <p:cNvSpPr txBox="1"/>
          <p:nvPr/>
        </p:nvSpPr>
        <p:spPr>
          <a:xfrm>
            <a:off x="802286" y="2334285"/>
            <a:ext cx="2692753" cy="958596"/>
          </a:xfrm>
          <a:prstGeom prst="rect">
            <a:avLst/>
          </a:prstGeom>
          <a:noFill/>
        </p:spPr>
        <p:txBody>
          <a:bodyPr wrap="square">
            <a:spAutoFit/>
          </a:bodyPr>
          <a:lstStyle/>
          <a:p>
            <a:pPr algn="just">
              <a:lnSpc>
                <a:spcPct val="120000"/>
              </a:lnSpc>
            </a:pPr>
            <a:r>
              <a:rPr lang="zh-CN" altLang="en-US" sz="1600" dirty="0">
                <a:solidFill>
                  <a:prstClr val="black"/>
                </a:solidFill>
                <a:latin typeface="微软雅黑" panose="020B0503020204020204" pitchFamily="34" charset="-122"/>
                <a:ea typeface="微软雅黑" panose="020B0503020204020204" pitchFamily="34" charset="-122"/>
              </a:rPr>
              <a:t>可通过冷压方法获得较好的界面，实现固态锂电池的稳定运行。</a:t>
            </a:r>
          </a:p>
        </p:txBody>
      </p:sp>
      <p:sp>
        <p:nvSpPr>
          <p:cNvPr id="27" name="文本框 26">
            <a:extLst>
              <a:ext uri="{FF2B5EF4-FFF2-40B4-BE49-F238E27FC236}">
                <a16:creationId xmlns:a16="http://schemas.microsoft.com/office/drawing/2014/main" id="{C61240FC-062D-BF06-867F-4BC2ADFB0DC8}"/>
              </a:ext>
            </a:extLst>
          </p:cNvPr>
          <p:cNvSpPr txBox="1"/>
          <p:nvPr/>
        </p:nvSpPr>
        <p:spPr>
          <a:xfrm>
            <a:off x="4749622" y="2334285"/>
            <a:ext cx="2692753" cy="958596"/>
          </a:xfrm>
          <a:prstGeom prst="rect">
            <a:avLst/>
          </a:prstGeom>
          <a:noFill/>
        </p:spPr>
        <p:txBody>
          <a:bodyPr wrap="square">
            <a:spAutoFit/>
          </a:bodyPr>
          <a:lstStyle/>
          <a:p>
            <a:pPr algn="just">
              <a:lnSpc>
                <a:spcPct val="120000"/>
              </a:lnSpc>
            </a:pPr>
            <a:r>
              <a:rPr lang="zh-CN" altLang="en-US" sz="1600" dirty="0">
                <a:solidFill>
                  <a:prstClr val="black"/>
                </a:solidFill>
                <a:latin typeface="微软雅黑" panose="020B0503020204020204" pitchFamily="34" charset="-122"/>
                <a:ea typeface="微软雅黑" panose="020B0503020204020204" pitchFamily="34" charset="-122"/>
              </a:rPr>
              <a:t>质地较硬，通常情况下</a:t>
            </a:r>
            <a:r>
              <a:rPr lang="zh-CN" altLang="en-US" sz="1600" u="sng" dirty="0">
                <a:solidFill>
                  <a:schemeClr val="accent1"/>
                </a:solidFill>
                <a:latin typeface="微软雅黑" panose="020B0503020204020204" pitchFamily="34" charset="-122"/>
                <a:ea typeface="微软雅黑" panose="020B0503020204020204" pitchFamily="34" charset="-122"/>
              </a:rPr>
              <a:t>需要通过高温退火处理</a:t>
            </a:r>
            <a:r>
              <a:rPr lang="zh-CN" altLang="en-US" sz="1600" dirty="0">
                <a:solidFill>
                  <a:prstClr val="black"/>
                </a:solidFill>
                <a:latin typeface="微软雅黑" panose="020B0503020204020204" pitchFamily="34" charset="-122"/>
                <a:ea typeface="微软雅黑" panose="020B0503020204020204" pitchFamily="34" charset="-122"/>
              </a:rPr>
              <a:t>才能获得良好的界面。</a:t>
            </a:r>
          </a:p>
        </p:txBody>
      </p:sp>
      <p:sp>
        <p:nvSpPr>
          <p:cNvPr id="30" name="文本框 29">
            <a:extLst>
              <a:ext uri="{FF2B5EF4-FFF2-40B4-BE49-F238E27FC236}">
                <a16:creationId xmlns:a16="http://schemas.microsoft.com/office/drawing/2014/main" id="{B1993114-CAB3-DFDD-B328-DDFA6F661EDB}"/>
              </a:ext>
            </a:extLst>
          </p:cNvPr>
          <p:cNvSpPr txBox="1"/>
          <p:nvPr/>
        </p:nvSpPr>
        <p:spPr>
          <a:xfrm>
            <a:off x="8776531" y="2334285"/>
            <a:ext cx="2692753" cy="958596"/>
          </a:xfrm>
          <a:prstGeom prst="rect">
            <a:avLst/>
          </a:prstGeom>
          <a:noFill/>
        </p:spPr>
        <p:txBody>
          <a:bodyPr wrap="square">
            <a:spAutoFit/>
          </a:bodyPr>
          <a:lstStyle/>
          <a:p>
            <a:pPr algn="just">
              <a:lnSpc>
                <a:spcPct val="120000"/>
              </a:lnSpc>
            </a:pPr>
            <a:r>
              <a:rPr lang="zh-CN" altLang="en-US" sz="1600" dirty="0">
                <a:solidFill>
                  <a:prstClr val="black"/>
                </a:solidFill>
                <a:latin typeface="微软雅黑" panose="020B0503020204020204" pitchFamily="34" charset="-122"/>
                <a:ea typeface="微软雅黑" panose="020B0503020204020204" pitchFamily="34" charset="-122"/>
              </a:rPr>
              <a:t>易与空气中的二氧化碳和水分反应形成低离子导的</a:t>
            </a:r>
            <a:r>
              <a:rPr lang="en-US" altLang="zh-CN" sz="1600" dirty="0">
                <a:solidFill>
                  <a:prstClr val="black"/>
                </a:solidFill>
                <a:latin typeface="微软雅黑" panose="020B0503020204020204" pitchFamily="34" charset="-122"/>
                <a:ea typeface="微软雅黑" panose="020B0503020204020204" pitchFamily="34" charset="-122"/>
              </a:rPr>
              <a:t>Li2CO3</a:t>
            </a:r>
            <a:r>
              <a:rPr lang="zh-CN" altLang="en-US" sz="1600" dirty="0">
                <a:solidFill>
                  <a:prstClr val="black"/>
                </a:solidFill>
                <a:latin typeface="微软雅黑" panose="020B0503020204020204" pitchFamily="34" charset="-122"/>
                <a:ea typeface="微软雅黑" panose="020B0503020204020204" pitchFamily="34" charset="-122"/>
              </a:rPr>
              <a:t>。</a:t>
            </a:r>
          </a:p>
        </p:txBody>
      </p:sp>
      <p:sp>
        <p:nvSpPr>
          <p:cNvPr id="46" name="箭头: 右 45">
            <a:extLst>
              <a:ext uri="{FF2B5EF4-FFF2-40B4-BE49-F238E27FC236}">
                <a16:creationId xmlns:a16="http://schemas.microsoft.com/office/drawing/2014/main" id="{89952DB3-035E-D0A2-074C-9058E2275499}"/>
              </a:ext>
            </a:extLst>
          </p:cNvPr>
          <p:cNvSpPr/>
          <p:nvPr/>
        </p:nvSpPr>
        <p:spPr>
          <a:xfrm>
            <a:off x="3793106" y="2404072"/>
            <a:ext cx="626371" cy="409511"/>
          </a:xfrm>
          <a:prstGeom prst="rightArrow">
            <a:avLst/>
          </a:prstGeom>
          <a:gradFill flip="none" rotWithShape="1">
            <a:gsLst>
              <a:gs pos="0">
                <a:schemeClr val="accent1">
                  <a:alpha val="0"/>
                </a:schemeClr>
              </a:gs>
              <a:gs pos="100000">
                <a:schemeClr val="accent1"/>
              </a:gs>
            </a:gsLst>
            <a:lin ang="0" scaled="1"/>
            <a:tileRect/>
          </a:gradFill>
          <a:ln w="19050" cap="flat" cmpd="sng" algn="ctr">
            <a:noFill/>
            <a:prstDash val="solid"/>
            <a:miter lim="800000"/>
          </a:ln>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47" name="箭头: 右 46">
            <a:extLst>
              <a:ext uri="{FF2B5EF4-FFF2-40B4-BE49-F238E27FC236}">
                <a16:creationId xmlns:a16="http://schemas.microsoft.com/office/drawing/2014/main" id="{FCF61D94-9153-0197-6B2C-6931A8BECEB3}"/>
              </a:ext>
            </a:extLst>
          </p:cNvPr>
          <p:cNvSpPr/>
          <p:nvPr/>
        </p:nvSpPr>
        <p:spPr>
          <a:xfrm>
            <a:off x="7819096" y="2404072"/>
            <a:ext cx="626371" cy="409511"/>
          </a:xfrm>
          <a:prstGeom prst="rightArrow">
            <a:avLst/>
          </a:prstGeom>
          <a:gradFill flip="none" rotWithShape="1">
            <a:gsLst>
              <a:gs pos="0">
                <a:schemeClr val="accent1">
                  <a:alpha val="0"/>
                </a:schemeClr>
              </a:gs>
              <a:gs pos="100000">
                <a:schemeClr val="accent1"/>
              </a:gs>
            </a:gsLst>
            <a:lin ang="0" scaled="1"/>
            <a:tileRect/>
          </a:gradFill>
          <a:ln w="19050" cap="flat" cmpd="sng" algn="ctr">
            <a:noFill/>
            <a:prstDash val="solid"/>
            <a:miter lim="800000"/>
          </a:ln>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48" name="文本框 47">
            <a:extLst>
              <a:ext uri="{FF2B5EF4-FFF2-40B4-BE49-F238E27FC236}">
                <a16:creationId xmlns:a16="http://schemas.microsoft.com/office/drawing/2014/main" id="{52A8948B-F057-9650-9867-0D2F1AE401A0}"/>
              </a:ext>
            </a:extLst>
          </p:cNvPr>
          <p:cNvSpPr txBox="1"/>
          <p:nvPr/>
        </p:nvSpPr>
        <p:spPr>
          <a:xfrm>
            <a:off x="916310" y="4192008"/>
            <a:ext cx="1014089" cy="707886"/>
          </a:xfrm>
          <a:prstGeom prst="rect">
            <a:avLst/>
          </a:prstGeom>
          <a:noFill/>
        </p:spPr>
        <p:txBody>
          <a:bodyPr wrap="square">
            <a:spAutoFit/>
          </a:bodyPr>
          <a:lstStyle/>
          <a:p>
            <a:r>
              <a:rPr lang="zh-CN" altLang="en-US" sz="2000" b="1" dirty="0">
                <a:solidFill>
                  <a:schemeClr val="accent1"/>
                </a:solidFill>
                <a:effectLst>
                  <a:glow rad="38100">
                    <a:prstClr val="white"/>
                  </a:glow>
                </a:effectLst>
                <a:latin typeface="微软雅黑" panose="020B0503020204020204" pitchFamily="34" charset="-122"/>
                <a:ea typeface="微软雅黑" panose="020B0503020204020204" pitchFamily="34" charset="-122"/>
                <a:cs typeface="Arial" panose="020B0604020202020204" pitchFamily="34" charset="0"/>
              </a:rPr>
              <a:t>降低界面阻抗</a:t>
            </a:r>
          </a:p>
        </p:txBody>
      </p:sp>
      <p:cxnSp>
        <p:nvCxnSpPr>
          <p:cNvPr id="49" name="直接连接符 48">
            <a:extLst>
              <a:ext uri="{FF2B5EF4-FFF2-40B4-BE49-F238E27FC236}">
                <a16:creationId xmlns:a16="http://schemas.microsoft.com/office/drawing/2014/main" id="{26D852ED-4B73-6A71-CD2B-B19480EC8676}"/>
              </a:ext>
            </a:extLst>
          </p:cNvPr>
          <p:cNvCxnSpPr>
            <a:cxnSpLocks/>
          </p:cNvCxnSpPr>
          <p:nvPr/>
        </p:nvCxnSpPr>
        <p:spPr>
          <a:xfrm>
            <a:off x="1960878" y="4235458"/>
            <a:ext cx="0" cy="620985"/>
          </a:xfrm>
          <a:prstGeom prst="line">
            <a:avLst/>
          </a:prstGeom>
          <a:noFill/>
          <a:ln w="12700" cap="flat" cmpd="sng" algn="ctr">
            <a:solidFill>
              <a:schemeClr val="accent1"/>
            </a:solidFill>
            <a:prstDash val="dash"/>
            <a:miter lim="800000"/>
          </a:ln>
          <a:effectLst/>
        </p:spPr>
      </p:cxnSp>
      <p:sp>
        <p:nvSpPr>
          <p:cNvPr id="50" name="文本框 49">
            <a:extLst>
              <a:ext uri="{FF2B5EF4-FFF2-40B4-BE49-F238E27FC236}">
                <a16:creationId xmlns:a16="http://schemas.microsoft.com/office/drawing/2014/main" id="{BF6C2C5E-4047-2F75-11C7-8B426C12A05E}"/>
              </a:ext>
            </a:extLst>
          </p:cNvPr>
          <p:cNvSpPr txBox="1"/>
          <p:nvPr/>
        </p:nvSpPr>
        <p:spPr>
          <a:xfrm>
            <a:off x="2069090" y="4214386"/>
            <a:ext cx="5292288" cy="953851"/>
          </a:xfrm>
          <a:prstGeom prst="rect">
            <a:avLst/>
          </a:prstGeom>
          <a:noFill/>
        </p:spPr>
        <p:txBody>
          <a:bodyPr wrap="square">
            <a:spAutoFit/>
          </a:bodyPr>
          <a:lstStyle/>
          <a:p>
            <a:pPr algn="just">
              <a:lnSpc>
                <a:spcPct val="120000"/>
              </a:lnSpc>
            </a:pPr>
            <a:r>
              <a:rPr lang="zh-CN" altLang="en-US" sz="1600" dirty="0">
                <a:solidFill>
                  <a:prstClr val="black"/>
                </a:solidFill>
                <a:latin typeface="微软雅黑" panose="020B0503020204020204" pitchFamily="34" charset="-122"/>
                <a:ea typeface="微软雅黑" panose="020B0503020204020204" pitchFamily="34" charset="-122"/>
              </a:rPr>
              <a:t>通过引入</a:t>
            </a:r>
            <a:r>
              <a:rPr lang="en-US" altLang="zh-CN" sz="1600" dirty="0">
                <a:solidFill>
                  <a:prstClr val="black"/>
                </a:solidFill>
                <a:latin typeface="微软雅黑" panose="020B0503020204020204" pitchFamily="34" charset="-122"/>
                <a:ea typeface="微软雅黑" panose="020B0503020204020204" pitchFamily="34" charset="-122"/>
              </a:rPr>
              <a:t>Li2.3C0.7B0.3O3</a:t>
            </a:r>
            <a:r>
              <a:rPr lang="zh-CN" altLang="en-US" sz="1600" dirty="0">
                <a:solidFill>
                  <a:prstClr val="black"/>
                </a:solidFill>
                <a:latin typeface="微软雅黑" panose="020B0503020204020204" pitchFamily="34" charset="-122"/>
                <a:ea typeface="微软雅黑" panose="020B0503020204020204" pitchFamily="34" charset="-122"/>
              </a:rPr>
              <a:t>和</a:t>
            </a:r>
            <a:r>
              <a:rPr lang="en-US" altLang="zh-CN" sz="1600" dirty="0">
                <a:solidFill>
                  <a:prstClr val="black"/>
                </a:solidFill>
                <a:latin typeface="微软雅黑" panose="020B0503020204020204" pitchFamily="34" charset="-122"/>
                <a:ea typeface="微软雅黑" panose="020B0503020204020204" pitchFamily="34" charset="-122"/>
              </a:rPr>
              <a:t>Co3O4</a:t>
            </a:r>
            <a:r>
              <a:rPr lang="zh-CN" altLang="en-US" sz="1600" dirty="0">
                <a:solidFill>
                  <a:prstClr val="black"/>
                </a:solidFill>
                <a:latin typeface="微软雅黑" panose="020B0503020204020204" pitchFamily="34" charset="-122"/>
                <a:ea typeface="微软雅黑" panose="020B0503020204020204" pitchFamily="34" charset="-122"/>
              </a:rPr>
              <a:t>等将其转化成高离子导的</a:t>
            </a:r>
            <a:r>
              <a:rPr lang="en-US" altLang="zh-CN" sz="1600" dirty="0">
                <a:solidFill>
                  <a:prstClr val="black"/>
                </a:solidFill>
                <a:latin typeface="微软雅黑" panose="020B0503020204020204" pitchFamily="34" charset="-122"/>
                <a:ea typeface="微软雅黑" panose="020B0503020204020204" pitchFamily="34" charset="-122"/>
              </a:rPr>
              <a:t>Li2.3-xC0.7+xB0.3-xO3</a:t>
            </a:r>
            <a:r>
              <a:rPr lang="zh-CN" altLang="en-US" sz="1600" dirty="0">
                <a:solidFill>
                  <a:prstClr val="black"/>
                </a:solidFill>
                <a:latin typeface="微软雅黑" panose="020B0503020204020204" pitchFamily="34" charset="-122"/>
                <a:ea typeface="微软雅黑" panose="020B0503020204020204" pitchFamily="34" charset="-122"/>
              </a:rPr>
              <a:t>和</a:t>
            </a:r>
            <a:r>
              <a:rPr lang="en-US" altLang="zh-CN" sz="1600" dirty="0">
                <a:solidFill>
                  <a:prstClr val="black"/>
                </a:solidFill>
                <a:latin typeface="微软雅黑" panose="020B0503020204020204" pitchFamily="34" charset="-122"/>
                <a:ea typeface="微软雅黑" panose="020B0503020204020204" pitchFamily="34" charset="-122"/>
              </a:rPr>
              <a:t>LiCoO2</a:t>
            </a:r>
            <a:r>
              <a:rPr lang="zh-CN" altLang="en-US" sz="1600" dirty="0">
                <a:solidFill>
                  <a:prstClr val="black"/>
                </a:solidFill>
                <a:latin typeface="微软雅黑" panose="020B0503020204020204" pitchFamily="34" charset="-122"/>
                <a:ea typeface="微软雅黑" panose="020B0503020204020204" pitchFamily="34" charset="-122"/>
              </a:rPr>
              <a:t>等高离子导界面相</a:t>
            </a:r>
          </a:p>
        </p:txBody>
      </p:sp>
      <p:sp>
        <p:nvSpPr>
          <p:cNvPr id="51" name="文本框 50">
            <a:extLst>
              <a:ext uri="{FF2B5EF4-FFF2-40B4-BE49-F238E27FC236}">
                <a16:creationId xmlns:a16="http://schemas.microsoft.com/office/drawing/2014/main" id="{EDA8340F-D987-2C48-FFD5-8BC38977C380}"/>
              </a:ext>
            </a:extLst>
          </p:cNvPr>
          <p:cNvSpPr txBox="1"/>
          <p:nvPr/>
        </p:nvSpPr>
        <p:spPr>
          <a:xfrm>
            <a:off x="916310" y="5372075"/>
            <a:ext cx="1014089" cy="707886"/>
          </a:xfrm>
          <a:prstGeom prst="rect">
            <a:avLst/>
          </a:prstGeom>
          <a:noFill/>
        </p:spPr>
        <p:txBody>
          <a:bodyPr wrap="square">
            <a:spAutoFit/>
          </a:bodyPr>
          <a:lstStyle/>
          <a:p>
            <a:r>
              <a:rPr lang="zh-CN" altLang="en-US" sz="2000" b="1" dirty="0">
                <a:solidFill>
                  <a:schemeClr val="accent1"/>
                </a:solidFill>
                <a:effectLst>
                  <a:glow rad="38100">
                    <a:prstClr val="white"/>
                  </a:glow>
                </a:effectLst>
                <a:latin typeface="微软雅黑" panose="020B0503020204020204" pitchFamily="34" charset="-122"/>
                <a:ea typeface="微软雅黑" panose="020B0503020204020204" pitchFamily="34" charset="-122"/>
                <a:cs typeface="Arial" panose="020B0604020202020204" pitchFamily="34" charset="0"/>
              </a:rPr>
              <a:t>超快高温退火</a:t>
            </a:r>
          </a:p>
        </p:txBody>
      </p:sp>
      <p:cxnSp>
        <p:nvCxnSpPr>
          <p:cNvPr id="52" name="直接连接符 51">
            <a:extLst>
              <a:ext uri="{FF2B5EF4-FFF2-40B4-BE49-F238E27FC236}">
                <a16:creationId xmlns:a16="http://schemas.microsoft.com/office/drawing/2014/main" id="{30FB4EB4-3D9A-667B-C12F-4A1FB9AC5CFE}"/>
              </a:ext>
            </a:extLst>
          </p:cNvPr>
          <p:cNvCxnSpPr>
            <a:cxnSpLocks/>
          </p:cNvCxnSpPr>
          <p:nvPr/>
        </p:nvCxnSpPr>
        <p:spPr>
          <a:xfrm>
            <a:off x="1960878" y="5415525"/>
            <a:ext cx="0" cy="620985"/>
          </a:xfrm>
          <a:prstGeom prst="line">
            <a:avLst/>
          </a:prstGeom>
          <a:noFill/>
          <a:ln w="12700" cap="flat" cmpd="sng" algn="ctr">
            <a:solidFill>
              <a:schemeClr val="accent1"/>
            </a:solidFill>
            <a:prstDash val="dash"/>
            <a:miter lim="800000"/>
          </a:ln>
          <a:effectLst/>
        </p:spPr>
      </p:cxnSp>
      <p:sp>
        <p:nvSpPr>
          <p:cNvPr id="53" name="文本框 52">
            <a:extLst>
              <a:ext uri="{FF2B5EF4-FFF2-40B4-BE49-F238E27FC236}">
                <a16:creationId xmlns:a16="http://schemas.microsoft.com/office/drawing/2014/main" id="{5898660D-2A53-168C-E67A-584C7E110514}"/>
              </a:ext>
            </a:extLst>
          </p:cNvPr>
          <p:cNvSpPr txBox="1"/>
          <p:nvPr/>
        </p:nvSpPr>
        <p:spPr>
          <a:xfrm>
            <a:off x="2069090" y="5394453"/>
            <a:ext cx="5292288" cy="663130"/>
          </a:xfrm>
          <a:prstGeom prst="rect">
            <a:avLst/>
          </a:prstGeom>
          <a:noFill/>
        </p:spPr>
        <p:txBody>
          <a:bodyPr wrap="square">
            <a:spAutoFit/>
          </a:bodyPr>
          <a:lstStyle/>
          <a:p>
            <a:pPr algn="just">
              <a:lnSpc>
                <a:spcPct val="120000"/>
              </a:lnSpc>
            </a:pPr>
            <a:r>
              <a:rPr lang="zh-CN" altLang="en-US" sz="1600" dirty="0">
                <a:solidFill>
                  <a:prstClr val="black"/>
                </a:solidFill>
                <a:latin typeface="微软雅黑" panose="020B0503020204020204" pitchFamily="34" charset="-122"/>
                <a:ea typeface="微软雅黑" panose="020B0503020204020204" pitchFamily="34" charset="-122"/>
              </a:rPr>
              <a:t>通过引入</a:t>
            </a:r>
            <a:r>
              <a:rPr lang="zh-CN" altLang="en-US" sz="1600" dirty="0">
                <a:solidFill>
                  <a:srgbClr val="C00000"/>
                </a:solidFill>
                <a:latin typeface="微软雅黑" panose="020B0503020204020204" pitchFamily="34" charset="-122"/>
                <a:ea typeface="微软雅黑" panose="020B0503020204020204" pitchFamily="34" charset="-122"/>
              </a:rPr>
              <a:t>低熔点含锂化合物来焊接电极</a:t>
            </a:r>
            <a:r>
              <a:rPr lang="en-US" altLang="zh-CN" sz="1600" dirty="0">
                <a:solidFill>
                  <a:srgbClr val="C00000"/>
                </a:solidFill>
                <a:latin typeface="微软雅黑" panose="020B0503020204020204" pitchFamily="34" charset="-122"/>
                <a:ea typeface="微软雅黑" panose="020B0503020204020204" pitchFamily="34" charset="-122"/>
              </a:rPr>
              <a:t>-</a:t>
            </a:r>
            <a:r>
              <a:rPr lang="zh-CN" altLang="en-US" sz="1600" dirty="0">
                <a:solidFill>
                  <a:srgbClr val="C00000"/>
                </a:solidFill>
                <a:latin typeface="微软雅黑" panose="020B0503020204020204" pitchFamily="34" charset="-122"/>
                <a:ea typeface="微软雅黑" panose="020B0503020204020204" pitchFamily="34" charset="-122"/>
              </a:rPr>
              <a:t>电解质</a:t>
            </a:r>
            <a:r>
              <a:rPr lang="zh-CN" altLang="en-US" sz="1600" dirty="0">
                <a:solidFill>
                  <a:prstClr val="black"/>
                </a:solidFill>
                <a:latin typeface="微软雅黑" panose="020B0503020204020204" pitchFamily="34" charset="-122"/>
                <a:ea typeface="微软雅黑" panose="020B0503020204020204" pitchFamily="34" charset="-122"/>
              </a:rPr>
              <a:t>界面是另一有效策略，解决石榴石界面接触问题。</a:t>
            </a:r>
          </a:p>
        </p:txBody>
      </p:sp>
      <p:pic>
        <p:nvPicPr>
          <p:cNvPr id="54" name="Picture 4">
            <a:extLst>
              <a:ext uri="{FF2B5EF4-FFF2-40B4-BE49-F238E27FC236}">
                <a16:creationId xmlns:a16="http://schemas.microsoft.com/office/drawing/2014/main" id="{2898DB00-E73E-AD67-C694-E44157D21BF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5288" t="44509"/>
          <a:stretch/>
        </p:blipFill>
        <p:spPr bwMode="auto">
          <a:xfrm>
            <a:off x="8193058" y="3913510"/>
            <a:ext cx="3082632" cy="2491307"/>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a:extLst>
              <a:ext uri="{FF2B5EF4-FFF2-40B4-BE49-F238E27FC236}">
                <a16:creationId xmlns:a16="http://schemas.microsoft.com/office/drawing/2014/main" id="{BD0CFEEC-15E3-927E-D3FE-4E55724C408B}"/>
              </a:ext>
            </a:extLst>
          </p:cNvPr>
          <p:cNvSpPr/>
          <p:nvPr/>
        </p:nvSpPr>
        <p:spPr>
          <a:xfrm>
            <a:off x="0" y="0"/>
            <a:ext cx="12192000" cy="6858000"/>
          </a:xfrm>
          <a:prstGeom prst="rect">
            <a:avLst/>
          </a:prstGeom>
          <a:solidFill>
            <a:srgbClr val="FFFFFF"/>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201BD25D-924D-E0B5-AE96-337FDD8A464D}"/>
              </a:ext>
            </a:extLst>
          </p:cNvPr>
          <p:cNvSpPr/>
          <p:nvPr/>
        </p:nvSpPr>
        <p:spPr>
          <a:xfrm>
            <a:off x="0" y="0"/>
            <a:ext cx="12192000" cy="533400"/>
          </a:xfrm>
          <a:prstGeom prst="rect">
            <a:avLst/>
          </a:prstGeom>
          <a:solidFill>
            <a:srgbClr val="0054A0"/>
          </a:solidFill>
          <a:ln w="1270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33DAA2CD-37AE-9315-7F64-8EB1CB34CB9F}"/>
              </a:ext>
            </a:extLst>
          </p:cNvPr>
          <p:cNvSpPr/>
          <p:nvPr/>
        </p:nvSpPr>
        <p:spPr>
          <a:xfrm>
            <a:off x="0" y="6350000"/>
            <a:ext cx="12192000" cy="508000"/>
          </a:xfrm>
          <a:prstGeom prst="rect">
            <a:avLst/>
          </a:prstGeom>
          <a:solidFill>
            <a:srgbClr val="0054A0"/>
          </a:solidFill>
          <a:ln w="1270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64E02E24-FFC3-23F2-248D-1AFD5CD1EFD4}"/>
              </a:ext>
            </a:extLst>
          </p:cNvPr>
          <p:cNvSpPr/>
          <p:nvPr/>
        </p:nvSpPr>
        <p:spPr>
          <a:xfrm>
            <a:off x="2159000" y="1498600"/>
            <a:ext cx="1397000" cy="660400"/>
          </a:xfrm>
          <a:prstGeom prst="rect">
            <a:avLst/>
          </a:prstGeom>
          <a:solidFill>
            <a:srgbClr val="0054A0"/>
          </a:solidFill>
          <a:ln w="1270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altLang="zh-CN" sz="2200" b="1">
                <a:solidFill>
                  <a:srgbClr val="FFFFFF"/>
                </a:solidFill>
                <a:latin typeface="微软雅黑" panose="020B0503020204020204" pitchFamily="34" charset="-122"/>
              </a:rPr>
              <a:t>02</a:t>
            </a:r>
            <a:endParaRPr lang="zh-CN" altLang="en-US" sz="2200" b="1">
              <a:solidFill>
                <a:srgbClr val="FFFFFF"/>
              </a:solidFill>
              <a:latin typeface="微软雅黑" panose="020B0503020204020204" pitchFamily="34" charset="-122"/>
            </a:endParaRPr>
          </a:p>
        </p:txBody>
      </p:sp>
      <p:sp>
        <p:nvSpPr>
          <p:cNvPr id="6" name="文本框 5">
            <a:extLst>
              <a:ext uri="{FF2B5EF4-FFF2-40B4-BE49-F238E27FC236}">
                <a16:creationId xmlns:a16="http://schemas.microsoft.com/office/drawing/2014/main" id="{156B6B55-4865-DF88-9E6A-DDF2154B5440}"/>
              </a:ext>
            </a:extLst>
          </p:cNvPr>
          <p:cNvSpPr txBox="1"/>
          <p:nvPr/>
        </p:nvSpPr>
        <p:spPr>
          <a:xfrm>
            <a:off x="4000500" y="1460500"/>
            <a:ext cx="7112000" cy="471924"/>
          </a:xfrm>
          <a:prstGeom prst="rect">
            <a:avLst/>
          </a:prstGeom>
          <a:noFill/>
        </p:spPr>
        <p:txBody>
          <a:bodyPr vert="horz" lIns="25400" tIns="12700" rIns="25400" bIns="12700" rtlCol="0">
            <a:spAutoFit/>
          </a:bodyPr>
          <a:lstStyle/>
          <a:p>
            <a:r>
              <a:rPr lang="zh-CN" altLang="en-US" sz="2900" b="1">
                <a:solidFill>
                  <a:srgbClr val="00417D"/>
                </a:solidFill>
                <a:latin typeface="微软雅黑" panose="020B0503020204020204" pitchFamily="34" charset="-122"/>
              </a:rPr>
              <a:t>平台定位与研究目标</a:t>
            </a:r>
          </a:p>
        </p:txBody>
      </p:sp>
      <p:sp>
        <p:nvSpPr>
          <p:cNvPr id="7" name="文本框 6">
            <a:extLst>
              <a:ext uri="{FF2B5EF4-FFF2-40B4-BE49-F238E27FC236}">
                <a16:creationId xmlns:a16="http://schemas.microsoft.com/office/drawing/2014/main" id="{BB540680-8978-CAD0-04F8-654553F94615}"/>
              </a:ext>
            </a:extLst>
          </p:cNvPr>
          <p:cNvSpPr txBox="1"/>
          <p:nvPr/>
        </p:nvSpPr>
        <p:spPr>
          <a:xfrm>
            <a:off x="2159000" y="2603500"/>
            <a:ext cx="8763000" cy="302647"/>
          </a:xfrm>
          <a:prstGeom prst="rect">
            <a:avLst/>
          </a:prstGeom>
          <a:noFill/>
        </p:spPr>
        <p:txBody>
          <a:bodyPr vert="horz" lIns="25400" tIns="12700" rIns="25400" bIns="12700" rtlCol="0">
            <a:spAutoFit/>
          </a:bodyPr>
          <a:lstStyle/>
          <a:p>
            <a:pPr algn="ctr"/>
            <a:r>
              <a:rPr lang="zh-CN" altLang="en-US" b="1">
                <a:solidFill>
                  <a:srgbClr val="236CB4"/>
                </a:solidFill>
                <a:latin typeface="微软雅黑" panose="020B0503020204020204" pitchFamily="34" charset="-122"/>
              </a:rPr>
              <a:t>从实验辅助工具，扩展为模型能力的统一入口。</a:t>
            </a:r>
          </a:p>
        </p:txBody>
      </p:sp>
      <p:sp>
        <p:nvSpPr>
          <p:cNvPr id="28" name="矩形 27">
            <a:extLst>
              <a:ext uri="{FF2B5EF4-FFF2-40B4-BE49-F238E27FC236}">
                <a16:creationId xmlns:a16="http://schemas.microsoft.com/office/drawing/2014/main" id="{C4AC67B1-BE52-2F08-D889-FA6F150EB1E9}"/>
              </a:ext>
            </a:extLst>
          </p:cNvPr>
          <p:cNvSpPr/>
          <p:nvPr/>
        </p:nvSpPr>
        <p:spPr>
          <a:xfrm>
            <a:off x="3175000" y="3556000"/>
            <a:ext cx="5842000" cy="4572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600" b="1">
                <a:solidFill>
                  <a:srgbClr val="052346"/>
                </a:solidFill>
                <a:latin typeface="微软雅黑" panose="020B0503020204020204" pitchFamily="34" charset="-122"/>
              </a:rPr>
              <a:t>统一部署</a:t>
            </a:r>
          </a:p>
        </p:txBody>
      </p:sp>
      <p:sp>
        <p:nvSpPr>
          <p:cNvPr id="29" name="矩形 28">
            <a:extLst>
              <a:ext uri="{FF2B5EF4-FFF2-40B4-BE49-F238E27FC236}">
                <a16:creationId xmlns:a16="http://schemas.microsoft.com/office/drawing/2014/main" id="{BC24F7A3-F74A-B72B-66E4-0CA07E75A99F}"/>
              </a:ext>
            </a:extLst>
          </p:cNvPr>
          <p:cNvSpPr/>
          <p:nvPr/>
        </p:nvSpPr>
        <p:spPr>
          <a:xfrm>
            <a:off x="3175000" y="4191000"/>
            <a:ext cx="5842000" cy="457200"/>
          </a:xfrm>
          <a:prstGeom prst="rect">
            <a:avLst/>
          </a:prstGeom>
          <a:solidFill>
            <a:srgbClr val="FFFFFF"/>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600" b="1">
                <a:solidFill>
                  <a:srgbClr val="052346"/>
                </a:solidFill>
                <a:latin typeface="微软雅黑" panose="020B0503020204020204" pitchFamily="34" charset="-122"/>
              </a:rPr>
              <a:t>统一调度</a:t>
            </a:r>
          </a:p>
        </p:txBody>
      </p:sp>
      <p:sp>
        <p:nvSpPr>
          <p:cNvPr id="31" name="矩形 30">
            <a:extLst>
              <a:ext uri="{FF2B5EF4-FFF2-40B4-BE49-F238E27FC236}">
                <a16:creationId xmlns:a16="http://schemas.microsoft.com/office/drawing/2014/main" id="{B98E7B21-C806-D302-7289-7632B69759A3}"/>
              </a:ext>
            </a:extLst>
          </p:cNvPr>
          <p:cNvSpPr/>
          <p:nvPr/>
        </p:nvSpPr>
        <p:spPr>
          <a:xfrm>
            <a:off x="3175000" y="4826000"/>
            <a:ext cx="5842000" cy="4572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600" b="1">
                <a:solidFill>
                  <a:srgbClr val="052346"/>
                </a:solidFill>
                <a:latin typeface="微软雅黑" panose="020B0503020204020204" pitchFamily="34" charset="-122"/>
              </a:rPr>
              <a:t>统一对比</a:t>
            </a:r>
          </a:p>
        </p:txBody>
      </p:sp>
      <p:sp>
        <p:nvSpPr>
          <p:cNvPr id="32" name="矩形 31">
            <a:extLst>
              <a:ext uri="{FF2B5EF4-FFF2-40B4-BE49-F238E27FC236}">
                <a16:creationId xmlns:a16="http://schemas.microsoft.com/office/drawing/2014/main" id="{ABDC90A2-AA97-A022-B469-0F73A30C1A5E}"/>
              </a:ext>
            </a:extLst>
          </p:cNvPr>
          <p:cNvSpPr/>
          <p:nvPr/>
        </p:nvSpPr>
        <p:spPr>
          <a:xfrm>
            <a:off x="3175000" y="5461000"/>
            <a:ext cx="5842000" cy="457200"/>
          </a:xfrm>
          <a:prstGeom prst="rect">
            <a:avLst/>
          </a:prstGeom>
          <a:solidFill>
            <a:srgbClr val="FFFFFF"/>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600" b="1">
                <a:solidFill>
                  <a:srgbClr val="052346"/>
                </a:solidFill>
                <a:latin typeface="微软雅黑" panose="020B0503020204020204" pitchFamily="34" charset="-122"/>
              </a:rPr>
              <a:t>标准化输出</a:t>
            </a:r>
          </a:p>
        </p:txBody>
      </p:sp>
    </p:spTree>
    <p:extLst>
      <p:ext uri="{BB962C8B-B14F-4D97-AF65-F5344CB8AC3E}">
        <p14:creationId xmlns:p14="http://schemas.microsoft.com/office/powerpoint/2010/main" val="5502617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3DD42-58F1-BF23-F1D1-911D6ECA1AC9}"/>
            </a:ext>
          </a:extLst>
        </p:cNvPr>
        <p:cNvGrpSpPr/>
        <p:nvPr/>
      </p:nvGrpSpPr>
      <p:grpSpPr>
        <a:xfrm>
          <a:off x="0" y="0"/>
          <a:ext cx="0" cy="0"/>
          <a:chOff x="0" y="0"/>
          <a:chExt cx="0" cy="0"/>
        </a:xfrm>
      </p:grpSpPr>
      <p:sp>
        <p:nvSpPr>
          <p:cNvPr id="90" name="文本框 89">
            <a:extLst>
              <a:ext uri="{FF2B5EF4-FFF2-40B4-BE49-F238E27FC236}">
                <a16:creationId xmlns:a16="http://schemas.microsoft.com/office/drawing/2014/main" id="{25103B3E-9250-E6B9-EDDC-2ED6F90CF039}"/>
              </a:ext>
            </a:extLst>
          </p:cNvPr>
          <p:cNvSpPr txBox="1"/>
          <p:nvPr/>
        </p:nvSpPr>
        <p:spPr>
          <a:xfrm>
            <a:off x="115452" y="243436"/>
            <a:ext cx="772964" cy="369332"/>
          </a:xfrm>
          <a:prstGeom prst="rect">
            <a:avLst/>
          </a:prstGeom>
          <a:noFill/>
        </p:spPr>
        <p:txBody>
          <a:bodyPr wrap="square" rtlCol="0">
            <a:spAutoFit/>
          </a:bodyPr>
          <a:lstStyle/>
          <a:p>
            <a:pPr algn="ctr"/>
            <a:r>
              <a:rPr lang="en-US" altLang="zh-CN" b="1">
                <a:solidFill>
                  <a:srgbClr val="00417D"/>
                </a:solidFill>
                <a:latin typeface="微软雅黑" panose="020B0503020204020204" pitchFamily="34" charset="-122"/>
              </a:rPr>
              <a:t>2.1</a:t>
            </a:r>
            <a:endParaRPr lang="zh-CN" altLang="en-US" b="1" dirty="0">
              <a:solidFill>
                <a:srgbClr val="00417D"/>
              </a:solidFill>
              <a:latin typeface="微软雅黑" panose="020B0503020204020204" pitchFamily="34" charset="-122"/>
            </a:endParaRPr>
          </a:p>
        </p:txBody>
      </p:sp>
      <p:sp>
        <p:nvSpPr>
          <p:cNvPr id="92" name="文本框 91">
            <a:extLst>
              <a:ext uri="{FF2B5EF4-FFF2-40B4-BE49-F238E27FC236}">
                <a16:creationId xmlns:a16="http://schemas.microsoft.com/office/drawing/2014/main" id="{C27D3A61-0DEC-BA16-46CE-C27F01A6C4A8}"/>
              </a:ext>
            </a:extLst>
          </p:cNvPr>
          <p:cNvSpPr txBox="1"/>
          <p:nvPr/>
        </p:nvSpPr>
        <p:spPr>
          <a:xfrm>
            <a:off x="946461" y="269201"/>
            <a:ext cx="6440714" cy="477054"/>
          </a:xfrm>
          <a:prstGeom prst="rect">
            <a:avLst/>
          </a:prstGeom>
          <a:noFill/>
        </p:spPr>
        <p:txBody>
          <a:bodyPr wrap="square">
            <a:spAutoFit/>
          </a:bodyPr>
          <a:lstStyle/>
          <a:p>
            <a:r>
              <a:rPr lang="zh-CN" altLang="en-US" sz="2500" b="1">
                <a:solidFill>
                  <a:srgbClr val="00417D"/>
                </a:solidFill>
                <a:latin typeface="微软雅黑" panose="020B0503020204020204" pitchFamily="34" charset="-122"/>
              </a:rPr>
              <a:t>平台定位</a:t>
            </a:r>
            <a:endParaRPr lang="zh-CN" altLang="en-US" sz="2500" b="1" dirty="0">
              <a:solidFill>
                <a:srgbClr val="00417D"/>
              </a:solidFill>
              <a:latin typeface="微软雅黑" panose="020B0503020204020204" pitchFamily="34" charset="-122"/>
            </a:endParaRPr>
          </a:p>
        </p:txBody>
      </p:sp>
      <p:sp>
        <p:nvSpPr>
          <p:cNvPr id="6" name="矩形 5">
            <a:extLst>
              <a:ext uri="{FF2B5EF4-FFF2-40B4-BE49-F238E27FC236}">
                <a16:creationId xmlns:a16="http://schemas.microsoft.com/office/drawing/2014/main" id="{204B3276-1D6D-A659-B777-7A8B73B43410}"/>
              </a:ext>
            </a:extLst>
          </p:cNvPr>
          <p:cNvSpPr/>
          <p:nvPr/>
        </p:nvSpPr>
        <p:spPr>
          <a:xfrm>
            <a:off x="488951" y="1148185"/>
            <a:ext cx="11214099" cy="573683"/>
          </a:xfrm>
          <a:prstGeom prst="rect">
            <a:avLst/>
          </a:prstGeom>
          <a:solidFill>
            <a:schemeClr val="accent1"/>
          </a:solidFill>
          <a:ln w="317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3" name="文本框 12">
            <a:extLst>
              <a:ext uri="{FF2B5EF4-FFF2-40B4-BE49-F238E27FC236}">
                <a16:creationId xmlns:a16="http://schemas.microsoft.com/office/drawing/2014/main" id="{17E4BB18-6BF3-E577-1061-8ED13EE92896}"/>
              </a:ext>
            </a:extLst>
          </p:cNvPr>
          <p:cNvSpPr txBox="1"/>
          <p:nvPr/>
        </p:nvSpPr>
        <p:spPr>
          <a:xfrm>
            <a:off x="1848684" y="1204194"/>
            <a:ext cx="8494633" cy="461665"/>
          </a:xfrm>
          <a:prstGeom prst="rect">
            <a:avLst/>
          </a:prstGeom>
          <a:noFill/>
        </p:spPr>
        <p:txBody>
          <a:bodyPr wrap="none">
            <a:spAutoFit/>
          </a:bodyPr>
          <a:lstStyle/>
          <a:p>
            <a:pPr algn="ctr"/>
            <a:r>
              <a:rPr lang="zh-CN" altLang="en-US" sz="2400" b="1" dirty="0">
                <a:solidFill>
                  <a:schemeClr val="accent3"/>
                </a:solidFill>
                <a:latin typeface="微软雅黑" panose="020B0503020204020204" pitchFamily="34" charset="-122"/>
                <a:ea typeface="微软雅黑" panose="020B0503020204020204" pitchFamily="34" charset="-122"/>
              </a:rPr>
              <a:t>选择热带季风区中具有不同岩性的森林生态系统作为研究对象</a:t>
            </a:r>
          </a:p>
        </p:txBody>
      </p:sp>
      <p:grpSp>
        <p:nvGrpSpPr>
          <p:cNvPr id="16" name="组合 15">
            <a:extLst>
              <a:ext uri="{FF2B5EF4-FFF2-40B4-BE49-F238E27FC236}">
                <a16:creationId xmlns:a16="http://schemas.microsoft.com/office/drawing/2014/main" id="{78EB1953-AD90-70D1-101F-4F57C659A9D3}"/>
              </a:ext>
            </a:extLst>
          </p:cNvPr>
          <p:cNvGrpSpPr/>
          <p:nvPr/>
        </p:nvGrpSpPr>
        <p:grpSpPr>
          <a:xfrm>
            <a:off x="485774" y="1706080"/>
            <a:ext cx="11210925" cy="308759"/>
            <a:chOff x="490655" y="3938634"/>
            <a:chExt cx="5140454" cy="204788"/>
          </a:xfrm>
        </p:grpSpPr>
        <p:sp>
          <p:nvSpPr>
            <p:cNvPr id="17" name="任意多边形: 形状 16">
              <a:extLst>
                <a:ext uri="{FF2B5EF4-FFF2-40B4-BE49-F238E27FC236}">
                  <a16:creationId xmlns:a16="http://schemas.microsoft.com/office/drawing/2014/main" id="{1EB340B5-558D-4A4C-C06D-67931BC6006C}"/>
                </a:ext>
              </a:extLst>
            </p:cNvPr>
            <p:cNvSpPr/>
            <p:nvPr/>
          </p:nvSpPr>
          <p:spPr>
            <a:xfrm>
              <a:off x="490655" y="3943397"/>
              <a:ext cx="4600015" cy="200025"/>
            </a:xfrm>
            <a:custGeom>
              <a:avLst/>
              <a:gdLst>
                <a:gd name="connsiteX0" fmla="*/ 0 w 5229225"/>
                <a:gd name="connsiteY0" fmla="*/ 200025 h 200025"/>
                <a:gd name="connsiteX1" fmla="*/ 1047750 w 5229225"/>
                <a:gd name="connsiteY1" fmla="*/ 200025 h 200025"/>
                <a:gd name="connsiteX2" fmla="*/ 5229225 w 5229225"/>
                <a:gd name="connsiteY2" fmla="*/ 0 h 200025"/>
                <a:gd name="connsiteX3" fmla="*/ 642938 w 5229225"/>
                <a:gd name="connsiteY3" fmla="*/ 0 h 200025"/>
                <a:gd name="connsiteX4" fmla="*/ 0 w 5229225"/>
                <a:gd name="connsiteY4" fmla="*/ 200025 h 200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29225" h="200025">
                  <a:moveTo>
                    <a:pt x="0" y="200025"/>
                  </a:moveTo>
                  <a:lnTo>
                    <a:pt x="1047750" y="200025"/>
                  </a:lnTo>
                  <a:lnTo>
                    <a:pt x="5229225" y="0"/>
                  </a:lnTo>
                  <a:lnTo>
                    <a:pt x="642938" y="0"/>
                  </a:lnTo>
                  <a:lnTo>
                    <a:pt x="0" y="200025"/>
                  </a:lnTo>
                  <a:close/>
                </a:path>
              </a:pathLst>
            </a:custGeom>
            <a:gradFill>
              <a:gsLst>
                <a:gs pos="0">
                  <a:schemeClr val="accent1">
                    <a:alpha val="30000"/>
                  </a:schemeClr>
                </a:gs>
                <a:gs pos="100000">
                  <a:schemeClr val="accent1">
                    <a:alpha val="0"/>
                  </a:scheme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8" name="任意多边形: 形状 17">
              <a:extLst>
                <a:ext uri="{FF2B5EF4-FFF2-40B4-BE49-F238E27FC236}">
                  <a16:creationId xmlns:a16="http://schemas.microsoft.com/office/drawing/2014/main" id="{6063A832-FEA9-6E9B-BA1A-55F0A270B69D}"/>
                </a:ext>
              </a:extLst>
            </p:cNvPr>
            <p:cNvSpPr/>
            <p:nvPr/>
          </p:nvSpPr>
          <p:spPr>
            <a:xfrm>
              <a:off x="1068799" y="3943397"/>
              <a:ext cx="4009303" cy="195262"/>
            </a:xfrm>
            <a:custGeom>
              <a:avLst/>
              <a:gdLst>
                <a:gd name="connsiteX0" fmla="*/ 928688 w 4557713"/>
                <a:gd name="connsiteY0" fmla="*/ 195262 h 195262"/>
                <a:gd name="connsiteX1" fmla="*/ 1990725 w 4557713"/>
                <a:gd name="connsiteY1" fmla="*/ 195262 h 195262"/>
                <a:gd name="connsiteX2" fmla="*/ 4557713 w 4557713"/>
                <a:gd name="connsiteY2" fmla="*/ 0 h 195262"/>
                <a:gd name="connsiteX3" fmla="*/ 0 w 4557713"/>
                <a:gd name="connsiteY3" fmla="*/ 0 h 195262"/>
                <a:gd name="connsiteX4" fmla="*/ 928688 w 4557713"/>
                <a:gd name="connsiteY4" fmla="*/ 195262 h 1952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7713" h="195262">
                  <a:moveTo>
                    <a:pt x="928688" y="195262"/>
                  </a:moveTo>
                  <a:lnTo>
                    <a:pt x="1990725" y="195262"/>
                  </a:lnTo>
                  <a:lnTo>
                    <a:pt x="4557713" y="0"/>
                  </a:lnTo>
                  <a:lnTo>
                    <a:pt x="0" y="0"/>
                  </a:lnTo>
                  <a:lnTo>
                    <a:pt x="928688" y="195262"/>
                  </a:lnTo>
                  <a:close/>
                </a:path>
              </a:pathLst>
            </a:custGeom>
            <a:gradFill>
              <a:gsLst>
                <a:gs pos="0">
                  <a:schemeClr val="accent1">
                    <a:alpha val="30000"/>
                  </a:schemeClr>
                </a:gs>
                <a:gs pos="100000">
                  <a:schemeClr val="accent1">
                    <a:alpha val="0"/>
                  </a:scheme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9" name="任意多边形: 形状 18">
              <a:extLst>
                <a:ext uri="{FF2B5EF4-FFF2-40B4-BE49-F238E27FC236}">
                  <a16:creationId xmlns:a16="http://schemas.microsoft.com/office/drawing/2014/main" id="{3051218A-398A-D30B-0989-EADE8277FE7C}"/>
                </a:ext>
              </a:extLst>
            </p:cNvPr>
            <p:cNvSpPr/>
            <p:nvPr/>
          </p:nvSpPr>
          <p:spPr>
            <a:xfrm>
              <a:off x="1064610" y="3943397"/>
              <a:ext cx="4013492" cy="195262"/>
            </a:xfrm>
            <a:custGeom>
              <a:avLst/>
              <a:gdLst>
                <a:gd name="connsiteX0" fmla="*/ 2552700 w 4562475"/>
                <a:gd name="connsiteY0" fmla="*/ 195262 h 195262"/>
                <a:gd name="connsiteX1" fmla="*/ 3600450 w 4562475"/>
                <a:gd name="connsiteY1" fmla="*/ 195262 h 195262"/>
                <a:gd name="connsiteX2" fmla="*/ 4562475 w 4562475"/>
                <a:gd name="connsiteY2" fmla="*/ 0 h 195262"/>
                <a:gd name="connsiteX3" fmla="*/ 0 w 4562475"/>
                <a:gd name="connsiteY3" fmla="*/ 0 h 195262"/>
                <a:gd name="connsiteX4" fmla="*/ 2552700 w 4562475"/>
                <a:gd name="connsiteY4" fmla="*/ 195262 h 1952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2475" h="195262">
                  <a:moveTo>
                    <a:pt x="2552700" y="195262"/>
                  </a:moveTo>
                  <a:lnTo>
                    <a:pt x="3600450" y="195262"/>
                  </a:lnTo>
                  <a:lnTo>
                    <a:pt x="4562475" y="0"/>
                  </a:lnTo>
                  <a:lnTo>
                    <a:pt x="0" y="0"/>
                  </a:lnTo>
                  <a:lnTo>
                    <a:pt x="2552700" y="195262"/>
                  </a:lnTo>
                  <a:close/>
                </a:path>
              </a:pathLst>
            </a:custGeom>
            <a:gradFill>
              <a:gsLst>
                <a:gs pos="0">
                  <a:schemeClr val="accent1">
                    <a:alpha val="30000"/>
                  </a:schemeClr>
                </a:gs>
                <a:gs pos="100000">
                  <a:schemeClr val="accent1">
                    <a:alpha val="0"/>
                  </a:scheme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0" name="任意多边形: 形状 19">
              <a:extLst>
                <a:ext uri="{FF2B5EF4-FFF2-40B4-BE49-F238E27FC236}">
                  <a16:creationId xmlns:a16="http://schemas.microsoft.com/office/drawing/2014/main" id="{357FB65C-0A83-ABDE-A352-DD2F29CE1D1D}"/>
                </a:ext>
              </a:extLst>
            </p:cNvPr>
            <p:cNvSpPr/>
            <p:nvPr/>
          </p:nvSpPr>
          <p:spPr>
            <a:xfrm>
              <a:off x="1085557" y="3938634"/>
              <a:ext cx="4545552" cy="200025"/>
            </a:xfrm>
            <a:custGeom>
              <a:avLst/>
              <a:gdLst>
                <a:gd name="connsiteX0" fmla="*/ 5167313 w 5167313"/>
                <a:gd name="connsiteY0" fmla="*/ 200025 h 200025"/>
                <a:gd name="connsiteX1" fmla="*/ 4138613 w 5167313"/>
                <a:gd name="connsiteY1" fmla="*/ 200025 h 200025"/>
                <a:gd name="connsiteX2" fmla="*/ 0 w 5167313"/>
                <a:gd name="connsiteY2" fmla="*/ 0 h 200025"/>
                <a:gd name="connsiteX3" fmla="*/ 4538663 w 5167313"/>
                <a:gd name="connsiteY3" fmla="*/ 0 h 200025"/>
                <a:gd name="connsiteX4" fmla="*/ 5167313 w 5167313"/>
                <a:gd name="connsiteY4" fmla="*/ 200025 h 200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67313" h="200025">
                  <a:moveTo>
                    <a:pt x="5167313" y="200025"/>
                  </a:moveTo>
                  <a:lnTo>
                    <a:pt x="4138613" y="200025"/>
                  </a:lnTo>
                  <a:lnTo>
                    <a:pt x="0" y="0"/>
                  </a:lnTo>
                  <a:lnTo>
                    <a:pt x="4538663" y="0"/>
                  </a:lnTo>
                  <a:lnTo>
                    <a:pt x="5167313" y="200025"/>
                  </a:lnTo>
                  <a:close/>
                </a:path>
              </a:pathLst>
            </a:custGeom>
            <a:gradFill>
              <a:gsLst>
                <a:gs pos="0">
                  <a:schemeClr val="accent1">
                    <a:alpha val="30000"/>
                  </a:schemeClr>
                </a:gs>
                <a:gs pos="100000">
                  <a:schemeClr val="accent1">
                    <a:alpha val="0"/>
                  </a:scheme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21" name="组合 20">
            <a:extLst>
              <a:ext uri="{FF2B5EF4-FFF2-40B4-BE49-F238E27FC236}">
                <a16:creationId xmlns:a16="http://schemas.microsoft.com/office/drawing/2014/main" id="{A337F25B-75BB-78BD-8329-594463BC8D29}"/>
              </a:ext>
            </a:extLst>
          </p:cNvPr>
          <p:cNvGrpSpPr/>
          <p:nvPr/>
        </p:nvGrpSpPr>
        <p:grpSpPr>
          <a:xfrm>
            <a:off x="2219490" y="2028529"/>
            <a:ext cx="1906711" cy="400110"/>
            <a:chOff x="2033153" y="2026823"/>
            <a:chExt cx="1906711" cy="400110"/>
          </a:xfrm>
        </p:grpSpPr>
        <p:sp>
          <p:nvSpPr>
            <p:cNvPr id="22" name="矩形: 圆角 21">
              <a:extLst>
                <a:ext uri="{FF2B5EF4-FFF2-40B4-BE49-F238E27FC236}">
                  <a16:creationId xmlns:a16="http://schemas.microsoft.com/office/drawing/2014/main" id="{56F2A4A9-3F6C-758C-AEC2-E8A9455B3278}"/>
                </a:ext>
              </a:extLst>
            </p:cNvPr>
            <p:cNvSpPr/>
            <p:nvPr/>
          </p:nvSpPr>
          <p:spPr>
            <a:xfrm>
              <a:off x="2033153" y="2027933"/>
              <a:ext cx="1906711" cy="397891"/>
            </a:xfrm>
            <a:prstGeom prst="roundRect">
              <a:avLst>
                <a:gd name="adj" fmla="val 50000"/>
              </a:avLst>
            </a:prstGeom>
            <a:gradFill flip="none" rotWithShape="1">
              <a:gsLst>
                <a:gs pos="0">
                  <a:schemeClr val="accent1">
                    <a:alpha val="10000"/>
                  </a:schemeClr>
                </a:gs>
                <a:gs pos="30000">
                  <a:schemeClr val="accent1">
                    <a:alpha val="0"/>
                  </a:schemeClr>
                </a:gs>
                <a:gs pos="100000">
                  <a:schemeClr val="accent1">
                    <a:alpha val="10000"/>
                  </a:schemeClr>
                </a:gs>
                <a:gs pos="70000">
                  <a:schemeClr val="accent1">
                    <a:alpha val="0"/>
                  </a:schemeClr>
                </a:gs>
              </a:gsLst>
              <a:lin ang="2700000" scaled="1"/>
              <a:tileRect/>
            </a:gradFill>
            <a:ln w="3175" cap="flat" cmpd="sng" algn="ctr">
              <a:solidFill>
                <a:srgbClr val="0249A1">
                  <a:alpha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3" name="文本框 22">
              <a:extLst>
                <a:ext uri="{FF2B5EF4-FFF2-40B4-BE49-F238E27FC236}">
                  <a16:creationId xmlns:a16="http://schemas.microsoft.com/office/drawing/2014/main" id="{92C5F401-9FE6-D01C-68E1-0975F2BDFCF9}"/>
                </a:ext>
              </a:extLst>
            </p:cNvPr>
            <p:cNvSpPr txBox="1"/>
            <p:nvPr/>
          </p:nvSpPr>
          <p:spPr>
            <a:xfrm>
              <a:off x="2459548" y="2026823"/>
              <a:ext cx="1053920" cy="400110"/>
            </a:xfrm>
            <a:prstGeom prst="rect">
              <a:avLst/>
            </a:prstGeom>
            <a:noFill/>
          </p:spPr>
          <p:txBody>
            <a:bodyPr wrap="square">
              <a:spAutoFit/>
            </a:bodyPr>
            <a:lstStyle/>
            <a:p>
              <a:pPr marL="0" marR="0" lvl="0" indent="0" algn="dist" defTabSz="914400" eaLnBrk="1" fontAlgn="auto" latinLnBrk="0" hangingPunct="1">
                <a:lnSpc>
                  <a:spcPct val="100000"/>
                </a:lnSpc>
                <a:spcBef>
                  <a:spcPct val="0"/>
                </a:spcBef>
                <a:spcAft>
                  <a:spcPts val="0"/>
                </a:spcAft>
                <a:buClrTx/>
                <a:buSzTx/>
                <a:buFontTx/>
                <a:buNone/>
                <a:tabLst/>
                <a:defRPr/>
              </a:pPr>
              <a:r>
                <a:rPr kumimoji="0" lang="zh-CN" altLang="en-US" sz="2000" b="1" i="0" u="none" strike="noStrike" kern="0" cap="none" spc="15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sym typeface="+mn-ea"/>
                </a:rPr>
                <a:t>成果一</a:t>
              </a:r>
            </a:p>
          </p:txBody>
        </p:sp>
      </p:grpSp>
      <p:grpSp>
        <p:nvGrpSpPr>
          <p:cNvPr id="24" name="组合 23">
            <a:extLst>
              <a:ext uri="{FF2B5EF4-FFF2-40B4-BE49-F238E27FC236}">
                <a16:creationId xmlns:a16="http://schemas.microsoft.com/office/drawing/2014/main" id="{1E948EF5-ABCA-ABBC-67C4-B88F8DF67D24}"/>
              </a:ext>
            </a:extLst>
          </p:cNvPr>
          <p:cNvGrpSpPr/>
          <p:nvPr/>
        </p:nvGrpSpPr>
        <p:grpSpPr>
          <a:xfrm>
            <a:off x="5694416" y="2028529"/>
            <a:ext cx="1906711" cy="400110"/>
            <a:chOff x="2033153" y="2026823"/>
            <a:chExt cx="1906711" cy="400110"/>
          </a:xfrm>
        </p:grpSpPr>
        <p:sp>
          <p:nvSpPr>
            <p:cNvPr id="25" name="矩形: 圆角 24">
              <a:extLst>
                <a:ext uri="{FF2B5EF4-FFF2-40B4-BE49-F238E27FC236}">
                  <a16:creationId xmlns:a16="http://schemas.microsoft.com/office/drawing/2014/main" id="{ABB2AA48-84F2-78A0-636A-B843AF0BE02F}"/>
                </a:ext>
              </a:extLst>
            </p:cNvPr>
            <p:cNvSpPr/>
            <p:nvPr/>
          </p:nvSpPr>
          <p:spPr>
            <a:xfrm>
              <a:off x="2033153" y="2027933"/>
              <a:ext cx="1906711" cy="397891"/>
            </a:xfrm>
            <a:prstGeom prst="roundRect">
              <a:avLst>
                <a:gd name="adj" fmla="val 50000"/>
              </a:avLst>
            </a:prstGeom>
            <a:gradFill flip="none" rotWithShape="1">
              <a:gsLst>
                <a:gs pos="0">
                  <a:schemeClr val="accent1">
                    <a:alpha val="10000"/>
                  </a:schemeClr>
                </a:gs>
                <a:gs pos="30000">
                  <a:schemeClr val="accent1">
                    <a:alpha val="0"/>
                  </a:schemeClr>
                </a:gs>
                <a:gs pos="100000">
                  <a:schemeClr val="accent1">
                    <a:alpha val="10000"/>
                  </a:schemeClr>
                </a:gs>
                <a:gs pos="70000">
                  <a:schemeClr val="accent1">
                    <a:alpha val="0"/>
                  </a:schemeClr>
                </a:gs>
              </a:gsLst>
              <a:lin ang="2700000" scaled="1"/>
              <a:tileRect/>
            </a:gradFill>
            <a:ln w="3175" cap="flat" cmpd="sng" algn="ctr">
              <a:solidFill>
                <a:srgbClr val="0249A1">
                  <a:alpha val="50000"/>
                </a:srgbClr>
              </a:solid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26" name="文本框 25">
              <a:extLst>
                <a:ext uri="{FF2B5EF4-FFF2-40B4-BE49-F238E27FC236}">
                  <a16:creationId xmlns:a16="http://schemas.microsoft.com/office/drawing/2014/main" id="{B38D0028-98C4-6B15-9865-E694273DC8B7}"/>
                </a:ext>
              </a:extLst>
            </p:cNvPr>
            <p:cNvSpPr txBox="1"/>
            <p:nvPr/>
          </p:nvSpPr>
          <p:spPr>
            <a:xfrm>
              <a:off x="2459548" y="2026823"/>
              <a:ext cx="1053920" cy="400110"/>
            </a:xfrm>
            <a:prstGeom prst="rect">
              <a:avLst/>
            </a:prstGeom>
            <a:noFill/>
          </p:spPr>
          <p:txBody>
            <a:bodyPr wrap="square">
              <a:spAutoFit/>
            </a:bodyPr>
            <a:lstStyle/>
            <a:p>
              <a:pPr marL="0" marR="0" lvl="0" indent="0" algn="dist" defTabSz="914400" eaLnBrk="1" fontAlgn="auto" latinLnBrk="0" hangingPunct="1">
                <a:lnSpc>
                  <a:spcPct val="100000"/>
                </a:lnSpc>
                <a:spcBef>
                  <a:spcPct val="0"/>
                </a:spcBef>
                <a:spcAft>
                  <a:spcPts val="0"/>
                </a:spcAft>
                <a:buClrTx/>
                <a:buSzTx/>
                <a:buFontTx/>
                <a:buNone/>
                <a:tabLst/>
                <a:defRPr/>
              </a:pPr>
              <a:r>
                <a:rPr kumimoji="0" lang="zh-CN" altLang="en-US" sz="2000" b="1" i="0" u="none" strike="noStrike" kern="0" cap="none" spc="15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sym typeface="+mn-ea"/>
                </a:rPr>
                <a:t>成果二</a:t>
              </a:r>
            </a:p>
          </p:txBody>
        </p:sp>
      </p:grpSp>
      <p:grpSp>
        <p:nvGrpSpPr>
          <p:cNvPr id="35" name="组合 34">
            <a:extLst>
              <a:ext uri="{FF2B5EF4-FFF2-40B4-BE49-F238E27FC236}">
                <a16:creationId xmlns:a16="http://schemas.microsoft.com/office/drawing/2014/main" id="{2ABD8B06-C8C6-7EBA-AE9B-6C0A373452D9}"/>
              </a:ext>
            </a:extLst>
          </p:cNvPr>
          <p:cNvGrpSpPr/>
          <p:nvPr/>
        </p:nvGrpSpPr>
        <p:grpSpPr>
          <a:xfrm>
            <a:off x="9169342" y="2028529"/>
            <a:ext cx="1906711" cy="400110"/>
            <a:chOff x="2033153" y="2026823"/>
            <a:chExt cx="1906711" cy="400110"/>
          </a:xfrm>
        </p:grpSpPr>
        <p:sp>
          <p:nvSpPr>
            <p:cNvPr id="36" name="矩形: 圆角 35">
              <a:extLst>
                <a:ext uri="{FF2B5EF4-FFF2-40B4-BE49-F238E27FC236}">
                  <a16:creationId xmlns:a16="http://schemas.microsoft.com/office/drawing/2014/main" id="{6A045275-8036-6984-3C30-7A1B96368070}"/>
                </a:ext>
              </a:extLst>
            </p:cNvPr>
            <p:cNvSpPr/>
            <p:nvPr/>
          </p:nvSpPr>
          <p:spPr>
            <a:xfrm>
              <a:off x="2033153" y="2027933"/>
              <a:ext cx="1906711" cy="397891"/>
            </a:xfrm>
            <a:prstGeom prst="roundRect">
              <a:avLst>
                <a:gd name="adj" fmla="val 50000"/>
              </a:avLst>
            </a:prstGeom>
            <a:gradFill flip="none" rotWithShape="1">
              <a:gsLst>
                <a:gs pos="0">
                  <a:schemeClr val="accent1">
                    <a:alpha val="10000"/>
                  </a:schemeClr>
                </a:gs>
                <a:gs pos="30000">
                  <a:schemeClr val="accent1">
                    <a:alpha val="0"/>
                  </a:schemeClr>
                </a:gs>
                <a:gs pos="100000">
                  <a:schemeClr val="accent1">
                    <a:alpha val="10000"/>
                  </a:schemeClr>
                </a:gs>
                <a:gs pos="70000">
                  <a:schemeClr val="accent1">
                    <a:alpha val="0"/>
                  </a:schemeClr>
                </a:gs>
              </a:gsLst>
              <a:lin ang="2700000" scaled="1"/>
              <a:tileRect/>
            </a:gradFill>
            <a:ln w="3175" cap="flat" cmpd="sng" algn="ctr">
              <a:solidFill>
                <a:srgbClr val="0249A1">
                  <a:alpha val="50000"/>
                </a:srgbClr>
              </a:solid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37" name="文本框 36">
              <a:extLst>
                <a:ext uri="{FF2B5EF4-FFF2-40B4-BE49-F238E27FC236}">
                  <a16:creationId xmlns:a16="http://schemas.microsoft.com/office/drawing/2014/main" id="{C7722346-123C-7DEC-235E-D36422CD5622}"/>
                </a:ext>
              </a:extLst>
            </p:cNvPr>
            <p:cNvSpPr txBox="1"/>
            <p:nvPr/>
          </p:nvSpPr>
          <p:spPr>
            <a:xfrm>
              <a:off x="2459548" y="2026823"/>
              <a:ext cx="1053920" cy="400110"/>
            </a:xfrm>
            <a:prstGeom prst="rect">
              <a:avLst/>
            </a:prstGeom>
            <a:noFill/>
          </p:spPr>
          <p:txBody>
            <a:bodyPr wrap="square">
              <a:spAutoFit/>
            </a:bodyPr>
            <a:lstStyle/>
            <a:p>
              <a:pPr marL="0" marR="0" lvl="0" indent="0" algn="dist" defTabSz="914400" eaLnBrk="1" fontAlgn="auto" latinLnBrk="0" hangingPunct="1">
                <a:lnSpc>
                  <a:spcPct val="100000"/>
                </a:lnSpc>
                <a:spcBef>
                  <a:spcPct val="0"/>
                </a:spcBef>
                <a:spcAft>
                  <a:spcPts val="0"/>
                </a:spcAft>
                <a:buClrTx/>
                <a:buSzTx/>
                <a:buFontTx/>
                <a:buNone/>
                <a:tabLst/>
                <a:defRPr/>
              </a:pPr>
              <a:r>
                <a:rPr kumimoji="0" lang="zh-CN" altLang="en-US" sz="2000" b="1" i="0" u="none" strike="noStrike" kern="0" cap="none" spc="15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sym typeface="+mn-ea"/>
                </a:rPr>
                <a:t>成果三</a:t>
              </a:r>
            </a:p>
          </p:txBody>
        </p:sp>
      </p:grpSp>
      <p:sp>
        <p:nvSpPr>
          <p:cNvPr id="38" name="矩形: 圆角 37">
            <a:extLst>
              <a:ext uri="{FF2B5EF4-FFF2-40B4-BE49-F238E27FC236}">
                <a16:creationId xmlns:a16="http://schemas.microsoft.com/office/drawing/2014/main" id="{BA3777C8-6A7C-0AF8-37BB-17F0D6E24F82}"/>
              </a:ext>
            </a:extLst>
          </p:cNvPr>
          <p:cNvSpPr/>
          <p:nvPr/>
        </p:nvSpPr>
        <p:spPr>
          <a:xfrm flipH="1">
            <a:off x="475463" y="2909026"/>
            <a:ext cx="1262062" cy="825500"/>
          </a:xfrm>
          <a:prstGeom prst="roundRect">
            <a:avLst>
              <a:gd name="adj" fmla="val 0"/>
            </a:avLst>
          </a:prstGeom>
          <a:gradFill>
            <a:gsLst>
              <a:gs pos="100000">
                <a:schemeClr val="accent2">
                  <a:alpha val="10000"/>
                </a:schemeClr>
              </a:gs>
              <a:gs pos="0">
                <a:schemeClr val="accent2">
                  <a:alpha val="0"/>
                </a:schemeClr>
              </a:gs>
            </a:gsLst>
            <a:lin ang="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9" name="文本框 38">
            <a:extLst>
              <a:ext uri="{FF2B5EF4-FFF2-40B4-BE49-F238E27FC236}">
                <a16:creationId xmlns:a16="http://schemas.microsoft.com/office/drawing/2014/main" id="{7D23964C-1875-6C93-78D7-0165D5A1151B}"/>
              </a:ext>
            </a:extLst>
          </p:cNvPr>
          <p:cNvSpPr txBox="1"/>
          <p:nvPr/>
        </p:nvSpPr>
        <p:spPr>
          <a:xfrm>
            <a:off x="578503" y="3090944"/>
            <a:ext cx="910842" cy="461665"/>
          </a:xfrm>
          <a:prstGeom prst="rect">
            <a:avLst/>
          </a:prstGeom>
          <a:noFill/>
        </p:spPr>
        <p:txBody>
          <a:bodyPr wrap="square">
            <a:spAutoFit/>
          </a:bodyPr>
          <a:lstStyle/>
          <a:p>
            <a:pPr algn="ctr"/>
            <a:r>
              <a:rPr lang="zh-CN" altLang="en-US" sz="2400" b="1" dirty="0">
                <a:solidFill>
                  <a:schemeClr val="accent1"/>
                </a:solidFill>
                <a:latin typeface="微软雅黑" panose="020B0503020204020204" pitchFamily="34" charset="-122"/>
                <a:ea typeface="微软雅黑" panose="020B0503020204020204" pitchFamily="34" charset="-122"/>
                <a:cs typeface="+mn-ea"/>
              </a:rPr>
              <a:t>问 题</a:t>
            </a:r>
          </a:p>
        </p:txBody>
      </p:sp>
      <p:sp>
        <p:nvSpPr>
          <p:cNvPr id="40" name="矩形: 圆角 39">
            <a:extLst>
              <a:ext uri="{FF2B5EF4-FFF2-40B4-BE49-F238E27FC236}">
                <a16:creationId xmlns:a16="http://schemas.microsoft.com/office/drawing/2014/main" id="{4FE91C36-DE1D-7ECE-23BA-505ED9EC4BCD}"/>
              </a:ext>
            </a:extLst>
          </p:cNvPr>
          <p:cNvSpPr/>
          <p:nvPr/>
        </p:nvSpPr>
        <p:spPr>
          <a:xfrm flipH="1">
            <a:off x="475463" y="4187718"/>
            <a:ext cx="1262062" cy="825500"/>
          </a:xfrm>
          <a:prstGeom prst="roundRect">
            <a:avLst>
              <a:gd name="adj" fmla="val 0"/>
            </a:avLst>
          </a:prstGeom>
          <a:gradFill>
            <a:gsLst>
              <a:gs pos="100000">
                <a:schemeClr val="accent2">
                  <a:alpha val="10000"/>
                </a:schemeClr>
              </a:gs>
              <a:gs pos="0">
                <a:schemeClr val="accent2">
                  <a:alpha val="0"/>
                </a:schemeClr>
              </a:gs>
            </a:gsLst>
            <a:lin ang="0" scaled="1"/>
          </a:gradFill>
          <a:ln w="12700" cap="flat" cmpd="sng" algn="ctr">
            <a:no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41" name="文本框 40">
            <a:extLst>
              <a:ext uri="{FF2B5EF4-FFF2-40B4-BE49-F238E27FC236}">
                <a16:creationId xmlns:a16="http://schemas.microsoft.com/office/drawing/2014/main" id="{58F343BA-F168-2AE3-87BE-36512791E7F7}"/>
              </a:ext>
            </a:extLst>
          </p:cNvPr>
          <p:cNvSpPr txBox="1"/>
          <p:nvPr/>
        </p:nvSpPr>
        <p:spPr>
          <a:xfrm>
            <a:off x="578503" y="4369636"/>
            <a:ext cx="910842" cy="461665"/>
          </a:xfrm>
          <a:prstGeom prst="rect">
            <a:avLst/>
          </a:prstGeom>
          <a:noFill/>
        </p:spPr>
        <p:txBody>
          <a:bodyPr wrap="square">
            <a:spAutoFit/>
          </a:bodyPr>
          <a:lstStyle/>
          <a:p>
            <a:pPr algn="ctr"/>
            <a:r>
              <a:rPr lang="zh-CN" altLang="en-US" sz="2400" b="1" dirty="0">
                <a:solidFill>
                  <a:schemeClr val="accent1"/>
                </a:solidFill>
                <a:latin typeface="微软雅黑" panose="020B0503020204020204" pitchFamily="34" charset="-122"/>
                <a:ea typeface="微软雅黑" panose="020B0503020204020204" pitchFamily="34" charset="-122"/>
                <a:cs typeface="+mn-ea"/>
              </a:rPr>
              <a:t>思 路</a:t>
            </a:r>
          </a:p>
        </p:txBody>
      </p:sp>
      <p:sp>
        <p:nvSpPr>
          <p:cNvPr id="51" name="矩形: 圆角 50">
            <a:extLst>
              <a:ext uri="{FF2B5EF4-FFF2-40B4-BE49-F238E27FC236}">
                <a16:creationId xmlns:a16="http://schemas.microsoft.com/office/drawing/2014/main" id="{905CECEA-C436-4B9B-27CE-15031E7216DF}"/>
              </a:ext>
            </a:extLst>
          </p:cNvPr>
          <p:cNvSpPr/>
          <p:nvPr/>
        </p:nvSpPr>
        <p:spPr>
          <a:xfrm flipH="1">
            <a:off x="475463" y="5466411"/>
            <a:ext cx="1262062" cy="825500"/>
          </a:xfrm>
          <a:prstGeom prst="roundRect">
            <a:avLst>
              <a:gd name="adj" fmla="val 0"/>
            </a:avLst>
          </a:prstGeom>
          <a:gradFill>
            <a:gsLst>
              <a:gs pos="100000">
                <a:schemeClr val="accent2">
                  <a:alpha val="10000"/>
                </a:schemeClr>
              </a:gs>
              <a:gs pos="0">
                <a:schemeClr val="accent2">
                  <a:alpha val="0"/>
                </a:schemeClr>
              </a:gs>
            </a:gsLst>
            <a:lin ang="0" scaled="1"/>
          </a:gradFill>
          <a:ln w="12700" cap="flat" cmpd="sng" algn="ctr">
            <a:no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52" name="文本框 51">
            <a:extLst>
              <a:ext uri="{FF2B5EF4-FFF2-40B4-BE49-F238E27FC236}">
                <a16:creationId xmlns:a16="http://schemas.microsoft.com/office/drawing/2014/main" id="{9C855167-6E48-7646-F165-2DDF82402DFA}"/>
              </a:ext>
            </a:extLst>
          </p:cNvPr>
          <p:cNvSpPr txBox="1"/>
          <p:nvPr/>
        </p:nvSpPr>
        <p:spPr>
          <a:xfrm>
            <a:off x="578503" y="5648329"/>
            <a:ext cx="910842" cy="461665"/>
          </a:xfrm>
          <a:prstGeom prst="rect">
            <a:avLst/>
          </a:prstGeom>
          <a:noFill/>
        </p:spPr>
        <p:txBody>
          <a:bodyPr wrap="square">
            <a:spAutoFit/>
          </a:bodyPr>
          <a:lstStyle/>
          <a:p>
            <a:pPr algn="ctr"/>
            <a:r>
              <a:rPr lang="zh-CN" altLang="en-US" sz="2400" b="1" dirty="0">
                <a:solidFill>
                  <a:schemeClr val="accent1"/>
                </a:solidFill>
                <a:latin typeface="微软雅黑" panose="020B0503020204020204" pitchFamily="34" charset="-122"/>
                <a:ea typeface="微软雅黑" panose="020B0503020204020204" pitchFamily="34" charset="-122"/>
                <a:cs typeface="+mn-ea"/>
              </a:rPr>
              <a:t>技 术</a:t>
            </a:r>
          </a:p>
        </p:txBody>
      </p:sp>
      <p:sp>
        <p:nvSpPr>
          <p:cNvPr id="53" name="矩形 52">
            <a:extLst>
              <a:ext uri="{FF2B5EF4-FFF2-40B4-BE49-F238E27FC236}">
                <a16:creationId xmlns:a16="http://schemas.microsoft.com/office/drawing/2014/main" id="{4E0BF1BB-346F-55F9-9689-106CA5E9BC1C}"/>
              </a:ext>
            </a:extLst>
          </p:cNvPr>
          <p:cNvSpPr/>
          <p:nvPr/>
        </p:nvSpPr>
        <p:spPr>
          <a:xfrm>
            <a:off x="1592492" y="2612138"/>
            <a:ext cx="3160706" cy="3976661"/>
          </a:xfrm>
          <a:prstGeom prst="rect">
            <a:avLst/>
          </a:prstGeom>
          <a:solidFill>
            <a:sysClr val="window" lastClr="FFFFFF"/>
          </a:solidFill>
          <a:ln w="3175" cap="flat" cmpd="sng" algn="ctr">
            <a:gradFill flip="none" rotWithShape="1">
              <a:gsLst>
                <a:gs pos="0">
                  <a:schemeClr val="accent1">
                    <a:alpha val="50000"/>
                  </a:schemeClr>
                </a:gs>
                <a:gs pos="100000">
                  <a:schemeClr val="accent1">
                    <a:alpha val="0"/>
                  </a:schemeClr>
                </a:gs>
              </a:gsLst>
              <a:lin ang="5400000" scaled="1"/>
              <a:tileRect/>
            </a:gradFill>
            <a:prstDash val="solid"/>
            <a:miter lim="800000"/>
          </a:ln>
          <a:effectLst>
            <a:outerShdw blurRad="190500" dist="25400" algn="ctr" rotWithShape="0">
              <a:schemeClr val="accent1">
                <a:alpha val="8000"/>
              </a:scheme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4" name="矩形 53">
            <a:extLst>
              <a:ext uri="{FF2B5EF4-FFF2-40B4-BE49-F238E27FC236}">
                <a16:creationId xmlns:a16="http://schemas.microsoft.com/office/drawing/2014/main" id="{D16C79F1-6191-5EFA-B569-569A4A32FD81}"/>
              </a:ext>
            </a:extLst>
          </p:cNvPr>
          <p:cNvSpPr/>
          <p:nvPr/>
        </p:nvSpPr>
        <p:spPr>
          <a:xfrm>
            <a:off x="5067418" y="2612138"/>
            <a:ext cx="3160706" cy="3976661"/>
          </a:xfrm>
          <a:prstGeom prst="rect">
            <a:avLst/>
          </a:prstGeom>
          <a:solidFill>
            <a:sysClr val="window" lastClr="FFFFFF"/>
          </a:solidFill>
          <a:ln w="3175" cap="flat" cmpd="sng" algn="ctr">
            <a:gradFill flip="none" rotWithShape="1">
              <a:gsLst>
                <a:gs pos="0">
                  <a:schemeClr val="accent1">
                    <a:alpha val="50000"/>
                  </a:schemeClr>
                </a:gs>
                <a:gs pos="100000">
                  <a:schemeClr val="accent1">
                    <a:alpha val="0"/>
                  </a:schemeClr>
                </a:gs>
              </a:gsLst>
              <a:lin ang="5400000" scaled="1"/>
              <a:tileRect/>
            </a:gradFill>
            <a:prstDash val="solid"/>
            <a:miter lim="800000"/>
          </a:ln>
          <a:effectLst>
            <a:outerShdw blurRad="190500" dist="25400" algn="ctr" rotWithShape="0">
              <a:schemeClr val="accent1">
                <a:alpha val="8000"/>
              </a:schemeClr>
            </a:outerShdw>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55" name="矩形 54">
            <a:extLst>
              <a:ext uri="{FF2B5EF4-FFF2-40B4-BE49-F238E27FC236}">
                <a16:creationId xmlns:a16="http://schemas.microsoft.com/office/drawing/2014/main" id="{D12842D0-00DC-D431-3515-614FA2B126BE}"/>
              </a:ext>
            </a:extLst>
          </p:cNvPr>
          <p:cNvSpPr/>
          <p:nvPr/>
        </p:nvSpPr>
        <p:spPr>
          <a:xfrm>
            <a:off x="8542344" y="2612138"/>
            <a:ext cx="3160706" cy="3976661"/>
          </a:xfrm>
          <a:prstGeom prst="rect">
            <a:avLst/>
          </a:prstGeom>
          <a:solidFill>
            <a:sysClr val="window" lastClr="FFFFFF"/>
          </a:solidFill>
          <a:ln w="3175" cap="flat" cmpd="sng" algn="ctr">
            <a:gradFill flip="none" rotWithShape="1">
              <a:gsLst>
                <a:gs pos="0">
                  <a:schemeClr val="accent1">
                    <a:alpha val="50000"/>
                  </a:schemeClr>
                </a:gs>
                <a:gs pos="100000">
                  <a:schemeClr val="accent1">
                    <a:alpha val="0"/>
                  </a:schemeClr>
                </a:gs>
              </a:gsLst>
              <a:lin ang="5400000" scaled="1"/>
              <a:tileRect/>
            </a:gradFill>
            <a:prstDash val="solid"/>
            <a:miter lim="800000"/>
          </a:ln>
          <a:effectLst>
            <a:outerShdw blurRad="190500" dist="25400" algn="ctr" rotWithShape="0">
              <a:schemeClr val="accent1">
                <a:alpha val="8000"/>
              </a:schemeClr>
            </a:outerShdw>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56" name="矩形 55">
            <a:extLst>
              <a:ext uri="{FF2B5EF4-FFF2-40B4-BE49-F238E27FC236}">
                <a16:creationId xmlns:a16="http://schemas.microsoft.com/office/drawing/2014/main" id="{4AC2AEAD-5504-5947-BA36-366E67D5A7D1}"/>
              </a:ext>
            </a:extLst>
          </p:cNvPr>
          <p:cNvSpPr/>
          <p:nvPr/>
        </p:nvSpPr>
        <p:spPr>
          <a:xfrm>
            <a:off x="1592385" y="2901845"/>
            <a:ext cx="3160706" cy="832680"/>
          </a:xfrm>
          <a:prstGeom prst="rect">
            <a:avLst/>
          </a:prstGeom>
          <a:solidFill>
            <a:schemeClr val="accent2">
              <a:alpha val="7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7" name="矩形 56">
            <a:extLst>
              <a:ext uri="{FF2B5EF4-FFF2-40B4-BE49-F238E27FC236}">
                <a16:creationId xmlns:a16="http://schemas.microsoft.com/office/drawing/2014/main" id="{7C14FEFA-3FA9-FF21-A0EC-C5BC22762BDB}"/>
              </a:ext>
            </a:extLst>
          </p:cNvPr>
          <p:cNvSpPr/>
          <p:nvPr/>
        </p:nvSpPr>
        <p:spPr>
          <a:xfrm>
            <a:off x="5067418" y="2901845"/>
            <a:ext cx="3160706" cy="832680"/>
          </a:xfrm>
          <a:prstGeom prst="rect">
            <a:avLst/>
          </a:prstGeom>
          <a:solidFill>
            <a:schemeClr val="accent2">
              <a:alpha val="7000"/>
            </a:schemeClr>
          </a:solidFill>
          <a:ln w="12700" cap="flat" cmpd="sng" algn="ctr">
            <a:no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58" name="矩形 57">
            <a:extLst>
              <a:ext uri="{FF2B5EF4-FFF2-40B4-BE49-F238E27FC236}">
                <a16:creationId xmlns:a16="http://schemas.microsoft.com/office/drawing/2014/main" id="{64959D66-F3F3-D977-9C4D-D3ED3F39250A}"/>
              </a:ext>
            </a:extLst>
          </p:cNvPr>
          <p:cNvSpPr/>
          <p:nvPr/>
        </p:nvSpPr>
        <p:spPr>
          <a:xfrm>
            <a:off x="8542344" y="2901845"/>
            <a:ext cx="3160706" cy="832680"/>
          </a:xfrm>
          <a:prstGeom prst="rect">
            <a:avLst/>
          </a:prstGeom>
          <a:solidFill>
            <a:schemeClr val="accent2">
              <a:alpha val="7000"/>
            </a:schemeClr>
          </a:solidFill>
          <a:ln w="12700" cap="flat" cmpd="sng" algn="ctr">
            <a:no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59" name="等腰三角形 58">
            <a:extLst>
              <a:ext uri="{FF2B5EF4-FFF2-40B4-BE49-F238E27FC236}">
                <a16:creationId xmlns:a16="http://schemas.microsoft.com/office/drawing/2014/main" id="{D59EDA26-FD78-12C7-586B-35D6B8EBC0B1}"/>
              </a:ext>
            </a:extLst>
          </p:cNvPr>
          <p:cNvSpPr/>
          <p:nvPr/>
        </p:nvSpPr>
        <p:spPr>
          <a:xfrm flipV="1">
            <a:off x="3065642" y="3828502"/>
            <a:ext cx="214192" cy="111065"/>
          </a:xfrm>
          <a:prstGeom prst="triangle">
            <a:avLst/>
          </a:prstGeom>
          <a:solidFill>
            <a:schemeClr val="accent1"/>
          </a:solidFill>
          <a:ln w="12700" cap="flat" cmpd="sng" algn="ctr">
            <a:noFill/>
            <a:prstDash val="solid"/>
            <a:miter lim="800000"/>
          </a:ln>
          <a:effectLst>
            <a:outerShdw blurRad="76200" sx="102000" sy="1020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60" name="等腰三角形 59">
            <a:extLst>
              <a:ext uri="{FF2B5EF4-FFF2-40B4-BE49-F238E27FC236}">
                <a16:creationId xmlns:a16="http://schemas.microsoft.com/office/drawing/2014/main" id="{3452B0F5-AC3C-96DF-2AB7-962C02284681}"/>
              </a:ext>
            </a:extLst>
          </p:cNvPr>
          <p:cNvSpPr/>
          <p:nvPr/>
        </p:nvSpPr>
        <p:spPr>
          <a:xfrm flipV="1">
            <a:off x="6540675" y="3854708"/>
            <a:ext cx="214192" cy="111065"/>
          </a:xfrm>
          <a:prstGeom prst="triangle">
            <a:avLst/>
          </a:prstGeom>
          <a:solidFill>
            <a:schemeClr val="accent1"/>
          </a:solidFill>
          <a:ln w="12700" cap="flat" cmpd="sng" algn="ctr">
            <a:noFill/>
            <a:prstDash val="solid"/>
            <a:miter lim="800000"/>
          </a:ln>
          <a:effectLst>
            <a:outerShdw blurRad="76200" sx="102000" sy="1020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61" name="等腰三角形 60">
            <a:extLst>
              <a:ext uri="{FF2B5EF4-FFF2-40B4-BE49-F238E27FC236}">
                <a16:creationId xmlns:a16="http://schemas.microsoft.com/office/drawing/2014/main" id="{43983FB1-228E-6A9D-5963-092096A90D04}"/>
              </a:ext>
            </a:extLst>
          </p:cNvPr>
          <p:cNvSpPr/>
          <p:nvPr/>
        </p:nvSpPr>
        <p:spPr>
          <a:xfrm flipV="1">
            <a:off x="10015601" y="3854708"/>
            <a:ext cx="214192" cy="111065"/>
          </a:xfrm>
          <a:prstGeom prst="triangle">
            <a:avLst/>
          </a:prstGeom>
          <a:solidFill>
            <a:schemeClr val="accent1"/>
          </a:solidFill>
          <a:ln w="12700" cap="flat" cmpd="sng" algn="ctr">
            <a:noFill/>
            <a:prstDash val="solid"/>
            <a:miter lim="800000"/>
          </a:ln>
          <a:effectLst>
            <a:outerShdw blurRad="76200" sx="102000" sy="1020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62" name="矩形 61">
            <a:extLst>
              <a:ext uri="{FF2B5EF4-FFF2-40B4-BE49-F238E27FC236}">
                <a16:creationId xmlns:a16="http://schemas.microsoft.com/office/drawing/2014/main" id="{459BCD59-3B30-BDB8-DAC9-16149B016808}"/>
              </a:ext>
            </a:extLst>
          </p:cNvPr>
          <p:cNvSpPr/>
          <p:nvPr/>
        </p:nvSpPr>
        <p:spPr>
          <a:xfrm>
            <a:off x="1592385" y="5466814"/>
            <a:ext cx="3160706" cy="832680"/>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3" name="矩形 62">
            <a:extLst>
              <a:ext uri="{FF2B5EF4-FFF2-40B4-BE49-F238E27FC236}">
                <a16:creationId xmlns:a16="http://schemas.microsoft.com/office/drawing/2014/main" id="{7720F624-449C-5BCF-EECD-DF9D9BFB46A4}"/>
              </a:ext>
            </a:extLst>
          </p:cNvPr>
          <p:cNvSpPr/>
          <p:nvPr/>
        </p:nvSpPr>
        <p:spPr>
          <a:xfrm>
            <a:off x="1778493" y="4033544"/>
            <a:ext cx="2788704" cy="1134251"/>
          </a:xfrm>
          <a:prstGeom prst="rect">
            <a:avLst/>
          </a:prstGeom>
          <a:gradFill flip="none" rotWithShape="1">
            <a:gsLst>
              <a:gs pos="25000">
                <a:schemeClr val="accent3"/>
              </a:gs>
              <a:gs pos="99083">
                <a:schemeClr val="bg1"/>
              </a:gs>
            </a:gsLst>
            <a:lin ang="5400000" scaled="1"/>
            <a:tileRect/>
          </a:gradFill>
          <a:ln w="3175" cap="flat" cmpd="sng" algn="ctr">
            <a:solidFill>
              <a:srgbClr val="0B4FA1"/>
            </a:solidFill>
            <a:prstDash val="solid"/>
            <a:miter lim="800000"/>
          </a:ln>
          <a:effectLst>
            <a:outerShdw blurRad="304800" sx="102000" sy="102000" algn="ctr" rotWithShape="0">
              <a:schemeClr val="accent1">
                <a:alpha val="16000"/>
              </a:schemeClr>
            </a:outerShdw>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64" name="等腰三角形 63">
            <a:extLst>
              <a:ext uri="{FF2B5EF4-FFF2-40B4-BE49-F238E27FC236}">
                <a16:creationId xmlns:a16="http://schemas.microsoft.com/office/drawing/2014/main" id="{3802D0B9-20A9-55E5-0B98-E787D98C6305}"/>
              </a:ext>
            </a:extLst>
          </p:cNvPr>
          <p:cNvSpPr/>
          <p:nvPr/>
        </p:nvSpPr>
        <p:spPr>
          <a:xfrm flipV="1">
            <a:off x="3065642" y="5261772"/>
            <a:ext cx="214192" cy="111065"/>
          </a:xfrm>
          <a:prstGeom prst="triangle">
            <a:avLst/>
          </a:prstGeom>
          <a:solidFill>
            <a:schemeClr val="accent1"/>
          </a:solidFill>
          <a:ln w="12700" cap="flat" cmpd="sng" algn="ctr">
            <a:noFill/>
            <a:prstDash val="solid"/>
            <a:miter lim="800000"/>
          </a:ln>
          <a:effectLst>
            <a:outerShdw blurRad="76200" sx="102000" sy="1020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65" name="文本框 64">
            <a:extLst>
              <a:ext uri="{FF2B5EF4-FFF2-40B4-BE49-F238E27FC236}">
                <a16:creationId xmlns:a16="http://schemas.microsoft.com/office/drawing/2014/main" id="{BFE24891-0057-15FE-6336-F130CDF367A4}"/>
              </a:ext>
            </a:extLst>
          </p:cNvPr>
          <p:cNvSpPr txBox="1"/>
          <p:nvPr/>
        </p:nvSpPr>
        <p:spPr>
          <a:xfrm>
            <a:off x="1762681" y="2939804"/>
            <a:ext cx="2891781" cy="705962"/>
          </a:xfrm>
          <a:prstGeom prst="rect">
            <a:avLst/>
          </a:prstGeom>
          <a:noFill/>
        </p:spPr>
        <p:txBody>
          <a:bodyPr wrap="square">
            <a:spAutoFit/>
          </a:bodyPr>
          <a:lstStyle/>
          <a:p>
            <a:pPr>
              <a:lnSpc>
                <a:spcPct val="130000"/>
              </a:lnSpc>
            </a:pPr>
            <a:r>
              <a:rPr lang="zh-CN" altLang="en-US" sz="1600" dirty="0">
                <a:solidFill>
                  <a:srgbClr val="060607"/>
                </a:solidFill>
                <a:latin typeface="微软雅黑" panose="020B0503020204020204" pitchFamily="34" charset="-122"/>
                <a:ea typeface="微软雅黑" panose="020B0503020204020204" pitchFamily="34" charset="-122"/>
              </a:rPr>
              <a:t>带季风区气候复杂，干旱的时空分布不均</a:t>
            </a:r>
            <a:endParaRPr lang="zh-CN" altLang="en-US" sz="1600" dirty="0">
              <a:solidFill>
                <a:prstClr val="black"/>
              </a:solidFill>
              <a:latin typeface="微软雅黑" panose="020B0503020204020204" pitchFamily="34" charset="-122"/>
              <a:ea typeface="微软雅黑" panose="020B0503020204020204" pitchFamily="34" charset="-122"/>
            </a:endParaRPr>
          </a:p>
        </p:txBody>
      </p:sp>
      <p:sp>
        <p:nvSpPr>
          <p:cNvPr id="66" name="文本框 65">
            <a:extLst>
              <a:ext uri="{FF2B5EF4-FFF2-40B4-BE49-F238E27FC236}">
                <a16:creationId xmlns:a16="http://schemas.microsoft.com/office/drawing/2014/main" id="{56EF7A17-F78E-CFCE-9C42-83AA064815CF}"/>
              </a:ext>
            </a:extLst>
          </p:cNvPr>
          <p:cNvSpPr txBox="1"/>
          <p:nvPr/>
        </p:nvSpPr>
        <p:spPr>
          <a:xfrm>
            <a:off x="5238662" y="2939804"/>
            <a:ext cx="2891781" cy="705962"/>
          </a:xfrm>
          <a:prstGeom prst="rect">
            <a:avLst/>
          </a:prstGeom>
          <a:noFill/>
        </p:spPr>
        <p:txBody>
          <a:bodyPr wrap="square">
            <a:spAutoFit/>
          </a:bodyPr>
          <a:lstStyle/>
          <a:p>
            <a:pPr>
              <a:lnSpc>
                <a:spcPct val="130000"/>
              </a:lnSpc>
            </a:pPr>
            <a:r>
              <a:rPr lang="zh-CN" altLang="en-US" sz="1600" dirty="0">
                <a:solidFill>
                  <a:srgbClr val="060607"/>
                </a:solidFill>
                <a:latin typeface="微软雅黑" panose="020B0503020204020204" pitchFamily="34" charset="-122"/>
                <a:ea typeface="微软雅黑" panose="020B0503020204020204" pitchFamily="34" charset="-122"/>
              </a:rPr>
              <a:t>岩溶区土壤层较薄，保水能力弱，植物更容易受到干旱胁迫</a:t>
            </a:r>
            <a:endParaRPr lang="zh-CN" altLang="en-US" sz="1600" dirty="0">
              <a:solidFill>
                <a:prstClr val="black"/>
              </a:solidFill>
              <a:latin typeface="微软雅黑" panose="020B0503020204020204" pitchFamily="34" charset="-122"/>
              <a:ea typeface="微软雅黑" panose="020B0503020204020204" pitchFamily="34" charset="-122"/>
            </a:endParaRPr>
          </a:p>
        </p:txBody>
      </p:sp>
      <p:sp>
        <p:nvSpPr>
          <p:cNvPr id="67" name="文本框 66">
            <a:extLst>
              <a:ext uri="{FF2B5EF4-FFF2-40B4-BE49-F238E27FC236}">
                <a16:creationId xmlns:a16="http://schemas.microsoft.com/office/drawing/2014/main" id="{314CA427-B0F6-5C83-FFE1-E2F2F78E15CD}"/>
              </a:ext>
            </a:extLst>
          </p:cNvPr>
          <p:cNvSpPr txBox="1"/>
          <p:nvPr/>
        </p:nvSpPr>
        <p:spPr>
          <a:xfrm>
            <a:off x="8717890" y="2939804"/>
            <a:ext cx="2891781" cy="705962"/>
          </a:xfrm>
          <a:prstGeom prst="rect">
            <a:avLst/>
          </a:prstGeom>
          <a:noFill/>
        </p:spPr>
        <p:txBody>
          <a:bodyPr wrap="square">
            <a:spAutoFit/>
          </a:bodyPr>
          <a:lstStyle/>
          <a:p>
            <a:pPr>
              <a:lnSpc>
                <a:spcPct val="130000"/>
              </a:lnSpc>
            </a:pPr>
            <a:r>
              <a:rPr lang="zh-CN" altLang="en-US" sz="1600" dirty="0">
                <a:solidFill>
                  <a:srgbClr val="060607"/>
                </a:solidFill>
                <a:latin typeface="微软雅黑" panose="020B0503020204020204" pitchFamily="34" charset="-122"/>
                <a:ea typeface="微软雅黑" panose="020B0503020204020204" pitchFamily="34" charset="-122"/>
              </a:rPr>
              <a:t>不同岩性区域的土壤水、地下水和降水的同位素组成差异</a:t>
            </a:r>
            <a:endParaRPr lang="zh-CN" altLang="en-US" sz="1600" dirty="0">
              <a:solidFill>
                <a:prstClr val="black"/>
              </a:solidFill>
              <a:latin typeface="微软雅黑" panose="020B0503020204020204" pitchFamily="34" charset="-122"/>
              <a:ea typeface="微软雅黑" panose="020B0503020204020204" pitchFamily="34" charset="-122"/>
            </a:endParaRPr>
          </a:p>
        </p:txBody>
      </p:sp>
      <p:sp>
        <p:nvSpPr>
          <p:cNvPr id="68" name="矩形 67">
            <a:extLst>
              <a:ext uri="{FF2B5EF4-FFF2-40B4-BE49-F238E27FC236}">
                <a16:creationId xmlns:a16="http://schemas.microsoft.com/office/drawing/2014/main" id="{C0898607-B318-3E2E-1246-3DE6C6BEE82C}"/>
              </a:ext>
            </a:extLst>
          </p:cNvPr>
          <p:cNvSpPr/>
          <p:nvPr/>
        </p:nvSpPr>
        <p:spPr>
          <a:xfrm>
            <a:off x="5253419" y="4033544"/>
            <a:ext cx="2788704" cy="1134251"/>
          </a:xfrm>
          <a:prstGeom prst="rect">
            <a:avLst/>
          </a:prstGeom>
          <a:gradFill flip="none" rotWithShape="1">
            <a:gsLst>
              <a:gs pos="25000">
                <a:schemeClr val="accent3"/>
              </a:gs>
              <a:gs pos="99083">
                <a:schemeClr val="bg1"/>
              </a:gs>
            </a:gsLst>
            <a:lin ang="5400000" scaled="1"/>
            <a:tileRect/>
          </a:gradFill>
          <a:ln w="3175" cap="flat" cmpd="sng" algn="ctr">
            <a:solidFill>
              <a:srgbClr val="0B4FA1"/>
            </a:solidFill>
            <a:prstDash val="solid"/>
            <a:miter lim="800000"/>
          </a:ln>
          <a:effectLst>
            <a:outerShdw blurRad="304800" sx="102000" sy="102000" algn="ctr" rotWithShape="0">
              <a:schemeClr val="accent1">
                <a:alpha val="16000"/>
              </a:schemeClr>
            </a:outerShdw>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69" name="矩形 68">
            <a:extLst>
              <a:ext uri="{FF2B5EF4-FFF2-40B4-BE49-F238E27FC236}">
                <a16:creationId xmlns:a16="http://schemas.microsoft.com/office/drawing/2014/main" id="{D92AC5AE-1008-76D1-98E6-9D052A98ED0C}"/>
              </a:ext>
            </a:extLst>
          </p:cNvPr>
          <p:cNvSpPr/>
          <p:nvPr/>
        </p:nvSpPr>
        <p:spPr>
          <a:xfrm>
            <a:off x="8728345" y="4033544"/>
            <a:ext cx="2788704" cy="1134251"/>
          </a:xfrm>
          <a:prstGeom prst="rect">
            <a:avLst/>
          </a:prstGeom>
          <a:gradFill flip="none" rotWithShape="1">
            <a:gsLst>
              <a:gs pos="25000">
                <a:schemeClr val="accent3"/>
              </a:gs>
              <a:gs pos="99083">
                <a:schemeClr val="bg1"/>
              </a:gs>
            </a:gsLst>
            <a:lin ang="5400000" scaled="1"/>
            <a:tileRect/>
          </a:gradFill>
          <a:ln w="3175" cap="flat" cmpd="sng" algn="ctr">
            <a:solidFill>
              <a:srgbClr val="0B4FA1"/>
            </a:solidFill>
            <a:prstDash val="solid"/>
            <a:miter lim="800000"/>
          </a:ln>
          <a:effectLst>
            <a:outerShdw blurRad="304800" sx="102000" sy="102000" algn="ctr" rotWithShape="0">
              <a:schemeClr val="accent1">
                <a:alpha val="16000"/>
              </a:schemeClr>
            </a:outerShdw>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70" name="矩形 69">
            <a:extLst>
              <a:ext uri="{FF2B5EF4-FFF2-40B4-BE49-F238E27FC236}">
                <a16:creationId xmlns:a16="http://schemas.microsoft.com/office/drawing/2014/main" id="{EFCB47EC-864B-AAD5-A472-00AA391549FE}"/>
              </a:ext>
            </a:extLst>
          </p:cNvPr>
          <p:cNvSpPr/>
          <p:nvPr/>
        </p:nvSpPr>
        <p:spPr>
          <a:xfrm>
            <a:off x="5067365" y="5466814"/>
            <a:ext cx="3160706" cy="832680"/>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1" name="矩形 70">
            <a:extLst>
              <a:ext uri="{FF2B5EF4-FFF2-40B4-BE49-F238E27FC236}">
                <a16:creationId xmlns:a16="http://schemas.microsoft.com/office/drawing/2014/main" id="{D499CDC0-6EAF-4CDE-EC69-384809F6400E}"/>
              </a:ext>
            </a:extLst>
          </p:cNvPr>
          <p:cNvSpPr/>
          <p:nvPr/>
        </p:nvSpPr>
        <p:spPr>
          <a:xfrm>
            <a:off x="8542344" y="5466814"/>
            <a:ext cx="3160706" cy="832680"/>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2" name="文本框 71">
            <a:extLst>
              <a:ext uri="{FF2B5EF4-FFF2-40B4-BE49-F238E27FC236}">
                <a16:creationId xmlns:a16="http://schemas.microsoft.com/office/drawing/2014/main" id="{328EC5CD-7D02-F580-116B-8C1346812E9D}"/>
              </a:ext>
            </a:extLst>
          </p:cNvPr>
          <p:cNvSpPr txBox="1"/>
          <p:nvPr/>
        </p:nvSpPr>
        <p:spPr>
          <a:xfrm>
            <a:off x="1887321" y="4046254"/>
            <a:ext cx="2586289" cy="1108830"/>
          </a:xfrm>
          <a:prstGeom prst="rect">
            <a:avLst/>
          </a:prstGeom>
          <a:noFill/>
        </p:spPr>
        <p:txBody>
          <a:bodyPr wrap="square">
            <a:spAutoFit/>
          </a:bodyPr>
          <a:lstStyle/>
          <a:p>
            <a:pPr marL="252000" indent="-252000">
              <a:lnSpc>
                <a:spcPct val="120000"/>
              </a:lnSpc>
              <a:buFont typeface="+mj-lt"/>
              <a:buAutoNum type="arabicPeriod"/>
            </a:pPr>
            <a:r>
              <a:rPr lang="zh-CN" altLang="en-US" sz="1400" dirty="0">
                <a:latin typeface="微软雅黑" panose="020B0503020204020204" pitchFamily="34" charset="-122"/>
                <a:ea typeface="微软雅黑" panose="020B0503020204020204" pitchFamily="34" charset="-122"/>
              </a:rPr>
              <a:t>构建综合干旱监测模型</a:t>
            </a:r>
          </a:p>
          <a:p>
            <a:pPr marL="252000" indent="-252000">
              <a:lnSpc>
                <a:spcPct val="120000"/>
              </a:lnSpc>
              <a:buFont typeface="+mj-lt"/>
              <a:buAutoNum type="arabicPeriod"/>
            </a:pPr>
            <a:r>
              <a:rPr lang="zh-CN" altLang="en-US" sz="1400" dirty="0">
                <a:latin typeface="微软雅黑" panose="020B0503020204020204" pitchFamily="34" charset="-122"/>
                <a:ea typeface="微软雅黑" panose="020B0503020204020204" pitchFamily="34" charset="-122"/>
              </a:rPr>
              <a:t>记录土壤水分含量，评估干旱发生的时间、强度和持续时间</a:t>
            </a:r>
          </a:p>
        </p:txBody>
      </p:sp>
      <p:sp>
        <p:nvSpPr>
          <p:cNvPr id="73" name="文本框 72">
            <a:extLst>
              <a:ext uri="{FF2B5EF4-FFF2-40B4-BE49-F238E27FC236}">
                <a16:creationId xmlns:a16="http://schemas.microsoft.com/office/drawing/2014/main" id="{71C87C36-C89F-C97A-ACCF-307579A4CD32}"/>
              </a:ext>
            </a:extLst>
          </p:cNvPr>
          <p:cNvSpPr txBox="1"/>
          <p:nvPr/>
        </p:nvSpPr>
        <p:spPr>
          <a:xfrm>
            <a:off x="5362487" y="4046254"/>
            <a:ext cx="2586289" cy="1108830"/>
          </a:xfrm>
          <a:prstGeom prst="rect">
            <a:avLst/>
          </a:prstGeom>
          <a:noFill/>
        </p:spPr>
        <p:txBody>
          <a:bodyPr wrap="square">
            <a:spAutoFit/>
          </a:bodyPr>
          <a:lstStyle/>
          <a:p>
            <a:pPr marL="252000" indent="-252000">
              <a:lnSpc>
                <a:spcPct val="120000"/>
              </a:lnSpc>
              <a:buFont typeface="+mj-lt"/>
              <a:buAutoNum type="arabicPeriod"/>
            </a:pPr>
            <a:r>
              <a:rPr lang="zh-CN" altLang="en-US" sz="1400" dirty="0">
                <a:latin typeface="微软雅黑" panose="020B0503020204020204" pitchFamily="34" charset="-122"/>
                <a:ea typeface="微软雅黑" panose="020B0503020204020204" pitchFamily="34" charset="-122"/>
              </a:rPr>
              <a:t>分析植物的水分来源和效率</a:t>
            </a:r>
            <a:endParaRPr lang="en-US" altLang="zh-CN" sz="1400" dirty="0">
              <a:latin typeface="微软雅黑" panose="020B0503020204020204" pitchFamily="34" charset="-122"/>
              <a:ea typeface="微软雅黑" panose="020B0503020204020204" pitchFamily="34" charset="-122"/>
            </a:endParaRPr>
          </a:p>
          <a:p>
            <a:pPr marL="252000" indent="-252000">
              <a:lnSpc>
                <a:spcPct val="120000"/>
              </a:lnSpc>
              <a:buFont typeface="+mj-lt"/>
              <a:buAutoNum type="arabicPeriod"/>
            </a:pPr>
            <a:r>
              <a:rPr lang="zh-CN" altLang="en-US" sz="1400" dirty="0">
                <a:latin typeface="微软雅黑" panose="020B0503020204020204" pitchFamily="34" charset="-122"/>
                <a:ea typeface="微软雅黑" panose="020B0503020204020204" pitchFamily="34" charset="-122"/>
              </a:rPr>
              <a:t>测量植物叶片厚度、比叶面积等功能性状，分析其在不同岩性区域的变异</a:t>
            </a:r>
          </a:p>
        </p:txBody>
      </p:sp>
      <p:sp>
        <p:nvSpPr>
          <p:cNvPr id="74" name="文本框 73">
            <a:extLst>
              <a:ext uri="{FF2B5EF4-FFF2-40B4-BE49-F238E27FC236}">
                <a16:creationId xmlns:a16="http://schemas.microsoft.com/office/drawing/2014/main" id="{C39EBB13-14FE-D424-94A3-54641B4E3265}"/>
              </a:ext>
            </a:extLst>
          </p:cNvPr>
          <p:cNvSpPr txBox="1"/>
          <p:nvPr/>
        </p:nvSpPr>
        <p:spPr>
          <a:xfrm>
            <a:off x="8839955" y="4046254"/>
            <a:ext cx="2586289" cy="1108830"/>
          </a:xfrm>
          <a:prstGeom prst="rect">
            <a:avLst/>
          </a:prstGeom>
          <a:noFill/>
        </p:spPr>
        <p:txBody>
          <a:bodyPr wrap="square">
            <a:spAutoFit/>
          </a:bodyPr>
          <a:lstStyle/>
          <a:p>
            <a:pPr marL="252000" indent="-252000">
              <a:lnSpc>
                <a:spcPct val="120000"/>
              </a:lnSpc>
              <a:buFont typeface="+mj-lt"/>
              <a:buAutoNum type="arabicPeriod"/>
            </a:pPr>
            <a:r>
              <a:rPr lang="zh-CN" altLang="en-US" sz="1400" dirty="0">
                <a:latin typeface="微软雅黑" panose="020B0503020204020204" pitchFamily="34" charset="-122"/>
                <a:ea typeface="微软雅黑" panose="020B0503020204020204" pitchFamily="34" charset="-122"/>
              </a:rPr>
              <a:t>分析不同岩性区域土壤结构裂隙发育程度地下水分布</a:t>
            </a:r>
            <a:endParaRPr lang="en-US" altLang="zh-CN" sz="1400" dirty="0">
              <a:latin typeface="微软雅黑" panose="020B0503020204020204" pitchFamily="34" charset="-122"/>
              <a:ea typeface="微软雅黑" panose="020B0503020204020204" pitchFamily="34" charset="-122"/>
            </a:endParaRPr>
          </a:p>
          <a:p>
            <a:pPr marL="252000" indent="-252000">
              <a:lnSpc>
                <a:spcPct val="120000"/>
              </a:lnSpc>
              <a:buFont typeface="+mj-lt"/>
              <a:buAutoNum type="arabicPeriod"/>
            </a:pPr>
            <a:r>
              <a:rPr lang="zh-CN" altLang="en-US" sz="1400" dirty="0">
                <a:latin typeface="微软雅黑" panose="020B0503020204020204" pitchFamily="34" charset="-122"/>
                <a:ea typeface="微软雅黑" panose="020B0503020204020204" pitchFamily="34" charset="-122"/>
              </a:rPr>
              <a:t>模拟不同岩性森林在干旱条件下水分循环和动态变化</a:t>
            </a:r>
          </a:p>
        </p:txBody>
      </p:sp>
      <p:sp>
        <p:nvSpPr>
          <p:cNvPr id="75" name="文本框 74">
            <a:extLst>
              <a:ext uri="{FF2B5EF4-FFF2-40B4-BE49-F238E27FC236}">
                <a16:creationId xmlns:a16="http://schemas.microsoft.com/office/drawing/2014/main" id="{1EE41AD5-F1C9-DA54-A175-E37395E49415}"/>
              </a:ext>
            </a:extLst>
          </p:cNvPr>
          <p:cNvSpPr txBox="1"/>
          <p:nvPr/>
        </p:nvSpPr>
        <p:spPr>
          <a:xfrm>
            <a:off x="1783184" y="5540428"/>
            <a:ext cx="2801686" cy="662874"/>
          </a:xfrm>
          <a:prstGeom prst="rect">
            <a:avLst/>
          </a:prstGeom>
          <a:noFill/>
        </p:spPr>
        <p:txBody>
          <a:bodyPr wrap="square">
            <a:spAutoFit/>
          </a:bodyPr>
          <a:lstStyle/>
          <a:p>
            <a:pPr>
              <a:lnSpc>
                <a:spcPct val="120000"/>
              </a:lnSpc>
            </a:pPr>
            <a:r>
              <a:rPr lang="zh-CN" altLang="en-US" sz="1600" dirty="0">
                <a:solidFill>
                  <a:prstClr val="white"/>
                </a:solidFill>
                <a:latin typeface="微软雅黑" panose="020B0503020204020204" pitchFamily="34" charset="-122"/>
                <a:ea typeface="微软雅黑" panose="020B0503020204020204" pitchFamily="34" charset="-122"/>
              </a:rPr>
              <a:t>构建综合干旱指数（</a:t>
            </a:r>
            <a:r>
              <a:rPr lang="en-US" altLang="zh-CN" sz="1600" dirty="0">
                <a:solidFill>
                  <a:prstClr val="white"/>
                </a:solidFill>
                <a:latin typeface="微软雅黑" panose="020B0503020204020204" pitchFamily="34" charset="-122"/>
                <a:ea typeface="微软雅黑" panose="020B0503020204020204" pitchFamily="34" charset="-122"/>
              </a:rPr>
              <a:t>CDI</a:t>
            </a:r>
            <a:r>
              <a:rPr lang="zh-CN" altLang="en-US" sz="1600" dirty="0">
                <a:solidFill>
                  <a:prstClr val="white"/>
                </a:solidFill>
                <a:latin typeface="微软雅黑" panose="020B0503020204020204" pitchFamily="34" charset="-122"/>
                <a:ea typeface="微软雅黑" panose="020B0503020204020204" pitchFamily="34" charset="-122"/>
              </a:rPr>
              <a:t>）以提高干旱监测的精度</a:t>
            </a:r>
          </a:p>
        </p:txBody>
      </p:sp>
      <p:sp>
        <p:nvSpPr>
          <p:cNvPr id="76" name="文本框 75">
            <a:extLst>
              <a:ext uri="{FF2B5EF4-FFF2-40B4-BE49-F238E27FC236}">
                <a16:creationId xmlns:a16="http://schemas.microsoft.com/office/drawing/2014/main" id="{0471995B-0ADD-228F-7FB6-8755CF317F35}"/>
              </a:ext>
            </a:extLst>
          </p:cNvPr>
          <p:cNvSpPr txBox="1"/>
          <p:nvPr/>
        </p:nvSpPr>
        <p:spPr>
          <a:xfrm>
            <a:off x="5227373" y="5540428"/>
            <a:ext cx="2978120" cy="662874"/>
          </a:xfrm>
          <a:prstGeom prst="rect">
            <a:avLst/>
          </a:prstGeom>
          <a:noFill/>
        </p:spPr>
        <p:txBody>
          <a:bodyPr wrap="square">
            <a:spAutoFit/>
          </a:bodyPr>
          <a:lstStyle/>
          <a:p>
            <a:pPr>
              <a:lnSpc>
                <a:spcPct val="120000"/>
              </a:lnSpc>
            </a:pPr>
            <a:r>
              <a:rPr lang="zh-CN" altLang="en-US" sz="1600" dirty="0">
                <a:solidFill>
                  <a:prstClr val="white"/>
                </a:solidFill>
                <a:latin typeface="微软雅黑" panose="020B0503020204020204" pitchFamily="34" charset="-122"/>
                <a:ea typeface="微软雅黑" panose="020B0503020204020204" pitchFamily="34" charset="-122"/>
              </a:rPr>
              <a:t>模拟不同岩性森林对干旱的响应机制，预测未来气候变化</a:t>
            </a:r>
          </a:p>
        </p:txBody>
      </p:sp>
      <p:sp>
        <p:nvSpPr>
          <p:cNvPr id="77" name="文本框 76">
            <a:extLst>
              <a:ext uri="{FF2B5EF4-FFF2-40B4-BE49-F238E27FC236}">
                <a16:creationId xmlns:a16="http://schemas.microsoft.com/office/drawing/2014/main" id="{55346BD5-E333-F829-FAEC-63EC306B2F91}"/>
              </a:ext>
            </a:extLst>
          </p:cNvPr>
          <p:cNvSpPr txBox="1"/>
          <p:nvPr/>
        </p:nvSpPr>
        <p:spPr>
          <a:xfrm>
            <a:off x="8739634" y="5540428"/>
            <a:ext cx="2801686" cy="662874"/>
          </a:xfrm>
          <a:prstGeom prst="rect">
            <a:avLst/>
          </a:prstGeom>
          <a:noFill/>
        </p:spPr>
        <p:txBody>
          <a:bodyPr wrap="square">
            <a:spAutoFit/>
          </a:bodyPr>
          <a:lstStyle/>
          <a:p>
            <a:pPr>
              <a:lnSpc>
                <a:spcPct val="120000"/>
              </a:lnSpc>
            </a:pPr>
            <a:r>
              <a:rPr lang="zh-CN" altLang="en-US" sz="1600" dirty="0">
                <a:solidFill>
                  <a:prstClr val="white"/>
                </a:solidFill>
                <a:latin typeface="微软雅黑" panose="020B0503020204020204" pitchFamily="34" charset="-122"/>
                <a:ea typeface="微软雅黑" panose="020B0503020204020204" pitchFamily="34" charset="-122"/>
              </a:rPr>
              <a:t>建立干旱指标与生态系统响应之间的关联模型</a:t>
            </a:r>
          </a:p>
        </p:txBody>
      </p:sp>
      <p:sp>
        <p:nvSpPr>
          <p:cNvPr id="2" name="矩形 1">
            <a:extLst>
              <a:ext uri="{FF2B5EF4-FFF2-40B4-BE49-F238E27FC236}">
                <a16:creationId xmlns:a16="http://schemas.microsoft.com/office/drawing/2014/main" id="{8CF00616-978B-934F-A538-8C8D61F4D02F}"/>
              </a:ext>
            </a:extLst>
          </p:cNvPr>
          <p:cNvSpPr/>
          <p:nvPr/>
        </p:nvSpPr>
        <p:spPr>
          <a:xfrm>
            <a:off x="0" y="1066800"/>
            <a:ext cx="12192000" cy="5791200"/>
          </a:xfrm>
          <a:prstGeom prst="rect">
            <a:avLst/>
          </a:prstGeom>
          <a:solidFill>
            <a:srgbClr val="FFFFFF"/>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B2178EC8-52BE-FC15-6F17-284BE143D51B}"/>
              </a:ext>
            </a:extLst>
          </p:cNvPr>
          <p:cNvSpPr/>
          <p:nvPr/>
        </p:nvSpPr>
        <p:spPr>
          <a:xfrm>
            <a:off x="431800" y="1219200"/>
            <a:ext cx="11328400" cy="533400"/>
          </a:xfrm>
          <a:prstGeom prst="rect">
            <a:avLst/>
          </a:prstGeom>
          <a:solidFill>
            <a:srgbClr val="0054A0"/>
          </a:solidFill>
          <a:ln w="1270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700" b="1">
                <a:solidFill>
                  <a:srgbClr val="FFFFFF"/>
                </a:solidFill>
                <a:latin typeface="微软雅黑" panose="020B0503020204020204" pitchFamily="34" charset="-122"/>
              </a:rPr>
              <a:t>平台定位为前馈式 </a:t>
            </a:r>
            <a:r>
              <a:rPr lang="en-US" altLang="zh-CN" sz="1700" b="1">
                <a:solidFill>
                  <a:srgbClr val="FFFFFF"/>
                </a:solidFill>
                <a:latin typeface="微软雅黑" panose="020B0503020204020204" pitchFamily="34" charset="-122"/>
              </a:rPr>
              <a:t>3R </a:t>
            </a:r>
            <a:r>
              <a:rPr lang="zh-CN" altLang="en-US" sz="1700" b="1">
                <a:solidFill>
                  <a:srgbClr val="FFFFFF"/>
                </a:solidFill>
                <a:latin typeface="微软雅黑" panose="020B0503020204020204" pitchFamily="34" charset="-122"/>
              </a:rPr>
              <a:t>模型的实验、部署与输出基础设施</a:t>
            </a:r>
          </a:p>
        </p:txBody>
      </p:sp>
      <p:sp>
        <p:nvSpPr>
          <p:cNvPr id="4" name="矩形 3">
            <a:extLst>
              <a:ext uri="{FF2B5EF4-FFF2-40B4-BE49-F238E27FC236}">
                <a16:creationId xmlns:a16="http://schemas.microsoft.com/office/drawing/2014/main" id="{8ED61CA4-9A09-C3BA-694D-9D7800403CB8}"/>
              </a:ext>
            </a:extLst>
          </p:cNvPr>
          <p:cNvSpPr/>
          <p:nvPr/>
        </p:nvSpPr>
        <p:spPr>
          <a:xfrm>
            <a:off x="736600" y="2286000"/>
            <a:ext cx="3111500" cy="533400"/>
          </a:xfrm>
          <a:prstGeom prst="rect">
            <a:avLst/>
          </a:prstGeom>
          <a:solidFill>
            <a:srgbClr val="0054A0"/>
          </a:solidFill>
          <a:ln w="1270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b="1">
                <a:solidFill>
                  <a:srgbClr val="FFFFFF"/>
                </a:solidFill>
                <a:latin typeface="微软雅黑" panose="020B0503020204020204" pitchFamily="34" charset="-122"/>
              </a:rPr>
              <a:t>学习与实践</a:t>
            </a:r>
          </a:p>
        </p:txBody>
      </p:sp>
      <p:sp>
        <p:nvSpPr>
          <p:cNvPr id="5" name="矩形 4">
            <a:extLst>
              <a:ext uri="{FF2B5EF4-FFF2-40B4-BE49-F238E27FC236}">
                <a16:creationId xmlns:a16="http://schemas.microsoft.com/office/drawing/2014/main" id="{C5A15F26-0F1E-E71F-D082-C069940BFEC9}"/>
              </a:ext>
            </a:extLst>
          </p:cNvPr>
          <p:cNvSpPr/>
          <p:nvPr/>
        </p:nvSpPr>
        <p:spPr>
          <a:xfrm>
            <a:off x="736600" y="2895600"/>
            <a:ext cx="3111500" cy="16764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400" b="1">
                <a:solidFill>
                  <a:srgbClr val="052346"/>
                </a:solidFill>
                <a:latin typeface="微软雅黑" panose="020B0503020204020204" pitchFamily="34" charset="-122"/>
              </a:rPr>
              <a:t>降低新模型运行门槛
沉淀可复用配置与样例</a:t>
            </a:r>
          </a:p>
        </p:txBody>
      </p:sp>
      <p:sp>
        <p:nvSpPr>
          <p:cNvPr id="7" name="矩形 6">
            <a:extLst>
              <a:ext uri="{FF2B5EF4-FFF2-40B4-BE49-F238E27FC236}">
                <a16:creationId xmlns:a16="http://schemas.microsoft.com/office/drawing/2014/main" id="{1328ADC2-271C-EE94-B17E-BE880A4630DE}"/>
              </a:ext>
            </a:extLst>
          </p:cNvPr>
          <p:cNvSpPr/>
          <p:nvPr/>
        </p:nvSpPr>
        <p:spPr>
          <a:xfrm>
            <a:off x="4546600" y="2286000"/>
            <a:ext cx="3111500" cy="533400"/>
          </a:xfrm>
          <a:prstGeom prst="rect">
            <a:avLst/>
          </a:prstGeom>
          <a:solidFill>
            <a:srgbClr val="0054A0"/>
          </a:solidFill>
          <a:ln w="1270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b="1">
                <a:solidFill>
                  <a:srgbClr val="FFFFFF"/>
                </a:solidFill>
                <a:latin typeface="微软雅黑" panose="020B0503020204020204" pitchFamily="34" charset="-122"/>
              </a:rPr>
              <a:t>实验与研究</a:t>
            </a:r>
          </a:p>
        </p:txBody>
      </p:sp>
      <p:sp>
        <p:nvSpPr>
          <p:cNvPr id="8" name="矩形 7">
            <a:extLst>
              <a:ext uri="{FF2B5EF4-FFF2-40B4-BE49-F238E27FC236}">
                <a16:creationId xmlns:a16="http://schemas.microsoft.com/office/drawing/2014/main" id="{C0533C49-CFB0-3C62-2FEC-DF9B5BE3E65A}"/>
              </a:ext>
            </a:extLst>
          </p:cNvPr>
          <p:cNvSpPr/>
          <p:nvPr/>
        </p:nvSpPr>
        <p:spPr>
          <a:xfrm>
            <a:off x="4546600" y="2895600"/>
            <a:ext cx="3111500" cy="16764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400" b="1">
                <a:solidFill>
                  <a:srgbClr val="052346"/>
                </a:solidFill>
                <a:latin typeface="微软雅黑" panose="020B0503020204020204" pitchFamily="34" charset="-122"/>
              </a:rPr>
              <a:t>同一输入下运行多模型
记录日志、耗时和输出产物</a:t>
            </a:r>
          </a:p>
        </p:txBody>
      </p:sp>
      <p:sp>
        <p:nvSpPr>
          <p:cNvPr id="9" name="矩形 8">
            <a:extLst>
              <a:ext uri="{FF2B5EF4-FFF2-40B4-BE49-F238E27FC236}">
                <a16:creationId xmlns:a16="http://schemas.microsoft.com/office/drawing/2014/main" id="{7620F17F-F9E9-32A7-83EB-F4C81FBCCC38}"/>
              </a:ext>
            </a:extLst>
          </p:cNvPr>
          <p:cNvSpPr/>
          <p:nvPr/>
        </p:nvSpPr>
        <p:spPr>
          <a:xfrm>
            <a:off x="8356600" y="2286000"/>
            <a:ext cx="3111500" cy="533400"/>
          </a:xfrm>
          <a:prstGeom prst="rect">
            <a:avLst/>
          </a:prstGeom>
          <a:solidFill>
            <a:srgbClr val="0054A0"/>
          </a:solidFill>
          <a:ln w="1270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b="1">
                <a:solidFill>
                  <a:srgbClr val="FFFFFF"/>
                </a:solidFill>
                <a:latin typeface="微软雅黑" panose="020B0503020204020204" pitchFamily="34" charset="-122"/>
              </a:rPr>
              <a:t>应用与扩展</a:t>
            </a:r>
          </a:p>
        </p:txBody>
      </p:sp>
      <p:sp>
        <p:nvSpPr>
          <p:cNvPr id="10" name="矩形 9">
            <a:extLst>
              <a:ext uri="{FF2B5EF4-FFF2-40B4-BE49-F238E27FC236}">
                <a16:creationId xmlns:a16="http://schemas.microsoft.com/office/drawing/2014/main" id="{5EF88FBA-A3AD-F005-BD5E-B77D02A7A5D2}"/>
              </a:ext>
            </a:extLst>
          </p:cNvPr>
          <p:cNvSpPr/>
          <p:nvPr/>
        </p:nvSpPr>
        <p:spPr>
          <a:xfrm>
            <a:off x="8356600" y="2895600"/>
            <a:ext cx="3111500" cy="16764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400" b="1">
                <a:solidFill>
                  <a:srgbClr val="052346"/>
                </a:solidFill>
                <a:latin typeface="微软雅黑" panose="020B0503020204020204" pitchFamily="34" charset="-122"/>
              </a:rPr>
              <a:t>将稳定能力封装为接口
支撑后续应用调用</a:t>
            </a:r>
          </a:p>
        </p:txBody>
      </p:sp>
      <p:sp>
        <p:nvSpPr>
          <p:cNvPr id="11" name="矩形 10">
            <a:extLst>
              <a:ext uri="{FF2B5EF4-FFF2-40B4-BE49-F238E27FC236}">
                <a16:creationId xmlns:a16="http://schemas.microsoft.com/office/drawing/2014/main" id="{474EEB33-0D9C-2696-FE88-8F7E129AF90D}"/>
              </a:ext>
            </a:extLst>
          </p:cNvPr>
          <p:cNvSpPr/>
          <p:nvPr/>
        </p:nvSpPr>
        <p:spPr>
          <a:xfrm>
            <a:off x="1397000" y="5461000"/>
            <a:ext cx="9398000" cy="5334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600" b="1">
                <a:solidFill>
                  <a:srgbClr val="052346"/>
                </a:solidFill>
                <a:latin typeface="微软雅黑" panose="020B0503020204020204" pitchFamily="34" charset="-122"/>
              </a:rPr>
              <a:t>定位边界：平台支撑模型实验和部署，不替代模型本身的算法贡献。</a:t>
            </a:r>
          </a:p>
        </p:txBody>
      </p:sp>
    </p:spTree>
    <p:extLst>
      <p:ext uri="{BB962C8B-B14F-4D97-AF65-F5344CB8AC3E}">
        <p14:creationId xmlns:p14="http://schemas.microsoft.com/office/powerpoint/2010/main" val="3083816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C7F92-9293-B59D-2DE6-2DB6188AD385}"/>
            </a:ext>
          </a:extLst>
        </p:cNvPr>
        <p:cNvGrpSpPr/>
        <p:nvPr/>
      </p:nvGrpSpPr>
      <p:grpSpPr>
        <a:xfrm>
          <a:off x="0" y="0"/>
          <a:ext cx="0" cy="0"/>
          <a:chOff x="0" y="0"/>
          <a:chExt cx="0" cy="0"/>
        </a:xfrm>
      </p:grpSpPr>
      <p:sp>
        <p:nvSpPr>
          <p:cNvPr id="90" name="文本框 89">
            <a:extLst>
              <a:ext uri="{FF2B5EF4-FFF2-40B4-BE49-F238E27FC236}">
                <a16:creationId xmlns:a16="http://schemas.microsoft.com/office/drawing/2014/main" id="{D974B1A9-EA78-9DDD-0C77-372F5B9CAD76}"/>
              </a:ext>
            </a:extLst>
          </p:cNvPr>
          <p:cNvSpPr txBox="1"/>
          <p:nvPr/>
        </p:nvSpPr>
        <p:spPr>
          <a:xfrm>
            <a:off x="115452" y="243436"/>
            <a:ext cx="772964" cy="369332"/>
          </a:xfrm>
          <a:prstGeom prst="rect">
            <a:avLst/>
          </a:prstGeom>
          <a:noFill/>
        </p:spPr>
        <p:txBody>
          <a:bodyPr wrap="square" rtlCol="0">
            <a:spAutoFit/>
          </a:bodyPr>
          <a:lstStyle/>
          <a:p>
            <a:pPr algn="ctr"/>
            <a:r>
              <a:rPr lang="en-US" altLang="zh-CN" b="1">
                <a:solidFill>
                  <a:srgbClr val="00417D"/>
                </a:solidFill>
                <a:latin typeface="微软雅黑" panose="020B0503020204020204" pitchFamily="34" charset="-122"/>
              </a:rPr>
              <a:t>2.2</a:t>
            </a:r>
            <a:endParaRPr lang="zh-CN" altLang="en-US" b="1" dirty="0">
              <a:solidFill>
                <a:srgbClr val="00417D"/>
              </a:solidFill>
              <a:latin typeface="微软雅黑" panose="020B0503020204020204" pitchFamily="34" charset="-122"/>
            </a:endParaRPr>
          </a:p>
        </p:txBody>
      </p:sp>
      <p:sp>
        <p:nvSpPr>
          <p:cNvPr id="92" name="文本框 91">
            <a:extLst>
              <a:ext uri="{FF2B5EF4-FFF2-40B4-BE49-F238E27FC236}">
                <a16:creationId xmlns:a16="http://schemas.microsoft.com/office/drawing/2014/main" id="{0F0E9114-BD5E-4531-B04D-1539D4EDDF89}"/>
              </a:ext>
            </a:extLst>
          </p:cNvPr>
          <p:cNvSpPr txBox="1"/>
          <p:nvPr/>
        </p:nvSpPr>
        <p:spPr>
          <a:xfrm>
            <a:off x="946461" y="269201"/>
            <a:ext cx="6440714" cy="477054"/>
          </a:xfrm>
          <a:prstGeom prst="rect">
            <a:avLst/>
          </a:prstGeom>
          <a:noFill/>
        </p:spPr>
        <p:txBody>
          <a:bodyPr wrap="square">
            <a:spAutoFit/>
          </a:bodyPr>
          <a:lstStyle/>
          <a:p>
            <a:r>
              <a:rPr lang="zh-CN" altLang="en-US" sz="2500" b="1">
                <a:solidFill>
                  <a:srgbClr val="00417D"/>
                </a:solidFill>
                <a:latin typeface="微软雅黑" panose="020B0503020204020204" pitchFamily="34" charset="-122"/>
              </a:rPr>
              <a:t>研究目标</a:t>
            </a:r>
            <a:endParaRPr lang="zh-CN" altLang="en-US" sz="2500" b="1" dirty="0">
              <a:solidFill>
                <a:srgbClr val="00417D"/>
              </a:solidFill>
              <a:latin typeface="微软雅黑" panose="020B0503020204020204" pitchFamily="34" charset="-122"/>
            </a:endParaRPr>
          </a:p>
        </p:txBody>
      </p:sp>
      <p:sp>
        <p:nvSpPr>
          <p:cNvPr id="20" name="矩形 19">
            <a:extLst>
              <a:ext uri="{FF2B5EF4-FFF2-40B4-BE49-F238E27FC236}">
                <a16:creationId xmlns:a16="http://schemas.microsoft.com/office/drawing/2014/main" id="{0EEF0EFC-D9C9-A29D-1C2A-1FE96C668B77}"/>
              </a:ext>
            </a:extLst>
          </p:cNvPr>
          <p:cNvSpPr/>
          <p:nvPr/>
        </p:nvSpPr>
        <p:spPr>
          <a:xfrm>
            <a:off x="472442" y="1316990"/>
            <a:ext cx="11071860" cy="461665"/>
          </a:xfrm>
          <a:prstGeom prst="rect">
            <a:avLst/>
          </a:prstGeom>
          <a:noFill/>
          <a:ln w="15875" cap="flat" cmpd="sng" algn="ctr">
            <a:solidFill>
              <a:schemeClr val="accent1"/>
            </a:solidFill>
            <a:prstDash val="solid"/>
            <a:miter lim="800000"/>
          </a:ln>
          <a:effectLst/>
          <a:extLst>
            <a:ext uri="{909E8E84-426E-40DD-AFC4-6F175D3DCCD1}">
              <a14:hiddenFill xmlns:a14="http://schemas.microsoft.com/office/drawing/2010/main">
                <a:solidFill>
                  <a:srgbClr val="0070C0"/>
                </a:solidFill>
              </a14:hiddenFill>
            </a:ext>
          </a:ex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21" name="任意多边形: 形状 20">
            <a:extLst>
              <a:ext uri="{FF2B5EF4-FFF2-40B4-BE49-F238E27FC236}">
                <a16:creationId xmlns:a16="http://schemas.microsoft.com/office/drawing/2014/main" id="{A28C3A2E-B382-7FDA-FE64-54C0532F6FAF}"/>
              </a:ext>
            </a:extLst>
          </p:cNvPr>
          <p:cNvSpPr/>
          <p:nvPr/>
        </p:nvSpPr>
        <p:spPr>
          <a:xfrm>
            <a:off x="472442" y="1316989"/>
            <a:ext cx="1819275" cy="461665"/>
          </a:xfrm>
          <a:custGeom>
            <a:avLst/>
            <a:gdLst>
              <a:gd name="connsiteX0" fmla="*/ 0 w 1819275"/>
              <a:gd name="connsiteY0" fmla="*/ 0 h 461665"/>
              <a:gd name="connsiteX1" fmla="*/ 1819275 w 1819275"/>
              <a:gd name="connsiteY1" fmla="*/ 0 h 461665"/>
              <a:gd name="connsiteX2" fmla="*/ 1637905 w 1819275"/>
              <a:gd name="connsiteY2" fmla="*/ 461665 h 461665"/>
              <a:gd name="connsiteX3" fmla="*/ 0 w 1819275"/>
              <a:gd name="connsiteY3" fmla="*/ 461665 h 461665"/>
            </a:gdLst>
            <a:ahLst/>
            <a:cxnLst>
              <a:cxn ang="0">
                <a:pos x="connsiteX0" y="connsiteY0"/>
              </a:cxn>
              <a:cxn ang="0">
                <a:pos x="connsiteX1" y="connsiteY1"/>
              </a:cxn>
              <a:cxn ang="0">
                <a:pos x="connsiteX2" y="connsiteY2"/>
              </a:cxn>
              <a:cxn ang="0">
                <a:pos x="connsiteX3" y="connsiteY3"/>
              </a:cxn>
            </a:cxnLst>
            <a:rect l="l" t="t" r="r" b="b"/>
            <a:pathLst>
              <a:path w="1819275" h="461665">
                <a:moveTo>
                  <a:pt x="0" y="0"/>
                </a:moveTo>
                <a:lnTo>
                  <a:pt x="1819275" y="0"/>
                </a:lnTo>
                <a:lnTo>
                  <a:pt x="1637905" y="461665"/>
                </a:lnTo>
                <a:lnTo>
                  <a:pt x="0" y="461665"/>
                </a:lnTo>
                <a:close/>
              </a:path>
            </a:pathLst>
          </a:custGeom>
          <a:solidFill>
            <a:schemeClr val="accent1"/>
          </a:solidFill>
          <a:ln w="15875"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solidFill>
                  <a:srgbClr val="0070C0"/>
                </a:solidFill>
              </a:ln>
              <a:solidFill>
                <a:srgbClr val="0070C0"/>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22" name="文本框 21">
            <a:extLst>
              <a:ext uri="{FF2B5EF4-FFF2-40B4-BE49-F238E27FC236}">
                <a16:creationId xmlns:a16="http://schemas.microsoft.com/office/drawing/2014/main" id="{337D067A-1454-74F9-EE67-216E997D92D2}"/>
              </a:ext>
            </a:extLst>
          </p:cNvPr>
          <p:cNvSpPr txBox="1"/>
          <p:nvPr/>
        </p:nvSpPr>
        <p:spPr>
          <a:xfrm>
            <a:off x="592457" y="1349492"/>
            <a:ext cx="1525905" cy="400110"/>
          </a:xfrm>
          <a:prstGeom prst="rect">
            <a:avLst/>
          </a:prstGeom>
          <a:noFill/>
        </p:spPr>
        <p:txBody>
          <a:bodyPr wrap="square">
            <a:spAutoFit/>
          </a:bodyPr>
          <a:lstStyle/>
          <a:p>
            <a:r>
              <a:rPr lang="zh-CN" altLang="en-US" sz="2000" b="1" dirty="0">
                <a:solidFill>
                  <a:prstClr val="white"/>
                </a:solidFill>
                <a:latin typeface="微软雅黑" panose="020B0503020204020204" pitchFamily="34" charset="-122"/>
                <a:ea typeface="微软雅黑" panose="020B0503020204020204" pitchFamily="34" charset="-122"/>
                <a:cs typeface="+mn-ea"/>
                <a:sym typeface="汉仪旗黑-55简" panose="00020600040101010101" pitchFamily="18" charset="-122"/>
              </a:rPr>
              <a:t>研究方案一</a:t>
            </a:r>
          </a:p>
        </p:txBody>
      </p:sp>
      <p:sp>
        <p:nvSpPr>
          <p:cNvPr id="23" name="文本框 22">
            <a:extLst>
              <a:ext uri="{FF2B5EF4-FFF2-40B4-BE49-F238E27FC236}">
                <a16:creationId xmlns:a16="http://schemas.microsoft.com/office/drawing/2014/main" id="{AD203EE6-611B-3471-E8A9-83F06E0BFB83}"/>
              </a:ext>
            </a:extLst>
          </p:cNvPr>
          <p:cNvSpPr txBox="1"/>
          <p:nvPr/>
        </p:nvSpPr>
        <p:spPr>
          <a:xfrm>
            <a:off x="2424114" y="1363155"/>
            <a:ext cx="8906827" cy="400110"/>
          </a:xfrm>
          <a:prstGeom prst="rect">
            <a:avLst/>
          </a:prstGeom>
          <a:noFill/>
        </p:spPr>
        <p:txBody>
          <a:bodyPr wrap="square">
            <a:spAutoFit/>
          </a:bodyPr>
          <a:lstStyle>
            <a:defPPr>
              <a:defRPr lang="zh-CN"/>
            </a:defPPr>
            <a:lvl1pPr>
              <a:defRPr sz="2000" b="1">
                <a:solidFill>
                  <a:prstClr val="black"/>
                </a:solidFill>
                <a:latin typeface="汉仪旗黑-55简" panose="00020600040101010101" pitchFamily="18" charset="-122"/>
                <a:ea typeface="汉仪旗黑-55简" panose="00020600040101010101" pitchFamily="18" charset="-122"/>
                <a:cs typeface="+mn-ea"/>
              </a:defRPr>
            </a:lvl1pPr>
          </a:lstStyle>
          <a:p>
            <a:r>
              <a:rPr lang="zh-CN" altLang="en-US" dirty="0">
                <a:latin typeface="微软雅黑" panose="020B0503020204020204" pitchFamily="34" charset="-122"/>
                <a:ea typeface="微软雅黑" panose="020B0503020204020204" pitchFamily="34" charset="-122"/>
                <a:sym typeface="汉仪旗黑-55简" panose="00020600040101010101" pitchFamily="18" charset="-122"/>
              </a:rPr>
              <a:t>单击此处输入你的正文，文字是您思想的提炼为了最终演示发布的良好效果。</a:t>
            </a:r>
          </a:p>
        </p:txBody>
      </p:sp>
      <p:sp>
        <p:nvSpPr>
          <p:cNvPr id="24" name="矩形 23">
            <a:extLst>
              <a:ext uri="{FF2B5EF4-FFF2-40B4-BE49-F238E27FC236}">
                <a16:creationId xmlns:a16="http://schemas.microsoft.com/office/drawing/2014/main" id="{FA0BCD13-EC50-2935-7349-AC89CE19BBBA}"/>
              </a:ext>
            </a:extLst>
          </p:cNvPr>
          <p:cNvSpPr/>
          <p:nvPr/>
        </p:nvSpPr>
        <p:spPr>
          <a:xfrm>
            <a:off x="472442" y="1966302"/>
            <a:ext cx="11071860" cy="3589948"/>
          </a:xfrm>
          <a:prstGeom prst="rect">
            <a:avLst/>
          </a:prstGeom>
          <a:gradFill flip="none" rotWithShape="1">
            <a:gsLst>
              <a:gs pos="25000">
                <a:schemeClr val="accent3"/>
              </a:gs>
              <a:gs pos="99083">
                <a:schemeClr val="bg1"/>
              </a:gs>
            </a:gsLst>
            <a:lin ang="5400000" scaled="1"/>
            <a:tileRect/>
          </a:gradFill>
          <a:ln w="3175" cap="flat" cmpd="sng" algn="ctr">
            <a:solidFill>
              <a:schemeClr val="accent1"/>
            </a:solidFill>
            <a:prstDash val="solid"/>
            <a:miter lim="800000"/>
          </a:ln>
          <a:effectLst>
            <a:outerShdw blurRad="304800" sx="102000" sy="102000" algn="ctr" rotWithShape="0">
              <a:schemeClr val="accent1">
                <a:alpha val="16000"/>
              </a:schemeClr>
            </a:outerShdw>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sym typeface="汉仪旗黑-55简" panose="00020600040101010101" pitchFamily="18" charset="-122"/>
            </a:endParaRPr>
          </a:p>
        </p:txBody>
      </p:sp>
      <p:pic>
        <p:nvPicPr>
          <p:cNvPr id="25" name="图片 24" descr="电脑前的男人&#10;&#10;低可信度描述已自动生成">
            <a:extLst>
              <a:ext uri="{FF2B5EF4-FFF2-40B4-BE49-F238E27FC236}">
                <a16:creationId xmlns:a16="http://schemas.microsoft.com/office/drawing/2014/main" id="{382D45C4-8F20-01E3-E855-49FBC9E3CE9F}"/>
              </a:ext>
            </a:extLst>
          </p:cNvPr>
          <p:cNvPicPr>
            <a:picLocks noChangeAspect="1"/>
          </p:cNvPicPr>
          <p:nvPr/>
        </p:nvPicPr>
        <p:blipFill>
          <a:blip r:embed="rId3" cstate="screen"/>
          <a:srcRect/>
          <a:stretch>
            <a:fillRect/>
          </a:stretch>
        </p:blipFill>
        <p:spPr>
          <a:xfrm>
            <a:off x="721149" y="2176357"/>
            <a:ext cx="2483556" cy="1397000"/>
          </a:xfrm>
          <a:prstGeom prst="rect">
            <a:avLst/>
          </a:prstGeom>
        </p:spPr>
      </p:pic>
      <p:pic>
        <p:nvPicPr>
          <p:cNvPr id="26" name="图片 25" descr="图片包含 人, 穿着, 服装, 领带&#10;&#10;描述已自动生成">
            <a:extLst>
              <a:ext uri="{FF2B5EF4-FFF2-40B4-BE49-F238E27FC236}">
                <a16:creationId xmlns:a16="http://schemas.microsoft.com/office/drawing/2014/main" id="{2A1E1D73-65C4-110D-4023-E7156BA8CD8D}"/>
              </a:ext>
            </a:extLst>
          </p:cNvPr>
          <p:cNvPicPr>
            <a:picLocks noChangeAspect="1"/>
          </p:cNvPicPr>
          <p:nvPr/>
        </p:nvPicPr>
        <p:blipFill>
          <a:blip r:embed="rId4" cstate="screen"/>
          <a:srcRect/>
          <a:stretch>
            <a:fillRect/>
          </a:stretch>
        </p:blipFill>
        <p:spPr>
          <a:xfrm>
            <a:off x="3408662" y="2176357"/>
            <a:ext cx="2483556" cy="1397000"/>
          </a:xfrm>
          <a:prstGeom prst="rect">
            <a:avLst/>
          </a:prstGeom>
        </p:spPr>
      </p:pic>
      <p:pic>
        <p:nvPicPr>
          <p:cNvPr id="27" name="图片 26" descr="穿白色衣服的人&#10;&#10;描述已自动生成">
            <a:extLst>
              <a:ext uri="{FF2B5EF4-FFF2-40B4-BE49-F238E27FC236}">
                <a16:creationId xmlns:a16="http://schemas.microsoft.com/office/drawing/2014/main" id="{3E290501-96C1-3293-E73D-C53C53F43446}"/>
              </a:ext>
            </a:extLst>
          </p:cNvPr>
          <p:cNvPicPr>
            <a:picLocks noChangeAspect="1"/>
          </p:cNvPicPr>
          <p:nvPr/>
        </p:nvPicPr>
        <p:blipFill rotWithShape="1">
          <a:blip r:embed="rId5" cstate="screen"/>
          <a:srcRect/>
          <a:stretch>
            <a:fillRect/>
          </a:stretch>
        </p:blipFill>
        <p:spPr>
          <a:xfrm>
            <a:off x="6096175" y="2176357"/>
            <a:ext cx="2483556" cy="1397000"/>
          </a:xfrm>
          <a:prstGeom prst="rect">
            <a:avLst/>
          </a:prstGeom>
        </p:spPr>
      </p:pic>
      <p:pic>
        <p:nvPicPr>
          <p:cNvPr id="28" name="图片 27" descr="图片包含 人, 室内, 男人, 穿着&#10;&#10;描述已自动生成">
            <a:extLst>
              <a:ext uri="{FF2B5EF4-FFF2-40B4-BE49-F238E27FC236}">
                <a16:creationId xmlns:a16="http://schemas.microsoft.com/office/drawing/2014/main" id="{4288273B-0602-9783-F511-C21332917718}"/>
              </a:ext>
            </a:extLst>
          </p:cNvPr>
          <p:cNvPicPr>
            <a:picLocks noChangeAspect="1"/>
          </p:cNvPicPr>
          <p:nvPr/>
        </p:nvPicPr>
        <p:blipFill>
          <a:blip r:embed="rId6" cstate="screen"/>
          <a:srcRect/>
          <a:stretch>
            <a:fillRect/>
          </a:stretch>
        </p:blipFill>
        <p:spPr>
          <a:xfrm>
            <a:off x="8783689" y="2176357"/>
            <a:ext cx="2483556" cy="1397000"/>
          </a:xfrm>
          <a:prstGeom prst="rect">
            <a:avLst/>
          </a:prstGeom>
        </p:spPr>
      </p:pic>
      <p:grpSp>
        <p:nvGrpSpPr>
          <p:cNvPr id="29" name="组合 28">
            <a:extLst>
              <a:ext uri="{FF2B5EF4-FFF2-40B4-BE49-F238E27FC236}">
                <a16:creationId xmlns:a16="http://schemas.microsoft.com/office/drawing/2014/main" id="{0F14BE7B-E19D-B038-D377-9F71859D3C29}"/>
              </a:ext>
            </a:extLst>
          </p:cNvPr>
          <p:cNvGrpSpPr/>
          <p:nvPr/>
        </p:nvGrpSpPr>
        <p:grpSpPr>
          <a:xfrm>
            <a:off x="720485" y="3197225"/>
            <a:ext cx="2478626" cy="1530253"/>
            <a:chOff x="824406" y="2800350"/>
            <a:chExt cx="2478626" cy="1530253"/>
          </a:xfrm>
        </p:grpSpPr>
        <p:sp>
          <p:nvSpPr>
            <p:cNvPr id="30" name="矩形: 圆角 29">
              <a:extLst>
                <a:ext uri="{FF2B5EF4-FFF2-40B4-BE49-F238E27FC236}">
                  <a16:creationId xmlns:a16="http://schemas.microsoft.com/office/drawing/2014/main" id="{4E1280F1-EEFC-F22B-3DB3-C43D4639055D}"/>
                </a:ext>
              </a:extLst>
            </p:cNvPr>
            <p:cNvSpPr/>
            <p:nvPr/>
          </p:nvSpPr>
          <p:spPr>
            <a:xfrm>
              <a:off x="824406" y="2800350"/>
              <a:ext cx="2473032" cy="1530253"/>
            </a:xfrm>
            <a:prstGeom prst="roundRect">
              <a:avLst>
                <a:gd name="adj" fmla="val 0"/>
              </a:avLst>
            </a:prstGeom>
            <a:noFill/>
            <a:ln w="15875" cap="flat" cmpd="sng" algn="ctr">
              <a:gradFill flip="none" rotWithShape="1">
                <a:gsLst>
                  <a:gs pos="0">
                    <a:schemeClr val="accent1"/>
                  </a:gs>
                  <a:gs pos="100000">
                    <a:schemeClr val="accent1">
                      <a:alpha val="0"/>
                    </a:schemeClr>
                  </a:gs>
                </a:gsLst>
                <a:lin ang="16200000" scaled="1"/>
                <a:tileRect/>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31" name="矩形 30">
              <a:extLst>
                <a:ext uri="{FF2B5EF4-FFF2-40B4-BE49-F238E27FC236}">
                  <a16:creationId xmlns:a16="http://schemas.microsoft.com/office/drawing/2014/main" id="{04A07656-AA7B-C3CF-1A80-D3A92F83E225}"/>
                </a:ext>
              </a:extLst>
            </p:cNvPr>
            <p:cNvSpPr/>
            <p:nvPr/>
          </p:nvSpPr>
          <p:spPr>
            <a:xfrm>
              <a:off x="1219164" y="3331234"/>
              <a:ext cx="1683516" cy="264184"/>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添加关键词</a:t>
              </a:r>
            </a:p>
          </p:txBody>
        </p:sp>
        <p:sp>
          <p:nvSpPr>
            <p:cNvPr id="32" name="文本框 31">
              <a:extLst>
                <a:ext uri="{FF2B5EF4-FFF2-40B4-BE49-F238E27FC236}">
                  <a16:creationId xmlns:a16="http://schemas.microsoft.com/office/drawing/2014/main" id="{55E929DF-61EA-6CF0-A307-6EE1C26929A3}"/>
                </a:ext>
              </a:extLst>
            </p:cNvPr>
            <p:cNvSpPr txBox="1"/>
            <p:nvPr/>
          </p:nvSpPr>
          <p:spPr>
            <a:xfrm>
              <a:off x="897424" y="3634664"/>
              <a:ext cx="2405608" cy="634469"/>
            </a:xfrm>
            <a:prstGeom prst="rect">
              <a:avLst/>
            </a:prstGeom>
            <a:noFill/>
          </p:spPr>
          <p:txBody>
            <a:bodyPr wrap="square">
              <a:spAutoFit/>
            </a:bodyPr>
            <a:lstStyle/>
            <a:p>
              <a:pPr marL="0" marR="0" lvl="0" indent="0" algn="ctr"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单击此处输入你的正文</a:t>
              </a:r>
              <a:endParaRPr kumimoji="0" lang="en-US" altLang="zh-CN"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a:p>
              <a:pPr marL="0" marR="0" lvl="0" indent="0" algn="ctr"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文字是您思想的提炼</a:t>
              </a:r>
            </a:p>
          </p:txBody>
        </p:sp>
      </p:grpSp>
      <p:grpSp>
        <p:nvGrpSpPr>
          <p:cNvPr id="33" name="组合 32">
            <a:extLst>
              <a:ext uri="{FF2B5EF4-FFF2-40B4-BE49-F238E27FC236}">
                <a16:creationId xmlns:a16="http://schemas.microsoft.com/office/drawing/2014/main" id="{92971DE1-D33B-1D83-B4B5-A55EE6AEE7EC}"/>
              </a:ext>
            </a:extLst>
          </p:cNvPr>
          <p:cNvGrpSpPr/>
          <p:nvPr/>
        </p:nvGrpSpPr>
        <p:grpSpPr>
          <a:xfrm>
            <a:off x="3402404" y="3197225"/>
            <a:ext cx="2478626" cy="1530253"/>
            <a:chOff x="824406" y="2800350"/>
            <a:chExt cx="2478626" cy="1530253"/>
          </a:xfrm>
        </p:grpSpPr>
        <p:sp>
          <p:nvSpPr>
            <p:cNvPr id="34" name="矩形: 圆角 33">
              <a:extLst>
                <a:ext uri="{FF2B5EF4-FFF2-40B4-BE49-F238E27FC236}">
                  <a16:creationId xmlns:a16="http://schemas.microsoft.com/office/drawing/2014/main" id="{3A2FED03-6FAE-E548-AFBC-4C526E7D92BC}"/>
                </a:ext>
              </a:extLst>
            </p:cNvPr>
            <p:cNvSpPr/>
            <p:nvPr/>
          </p:nvSpPr>
          <p:spPr>
            <a:xfrm>
              <a:off x="824406" y="2800350"/>
              <a:ext cx="2473032" cy="1530253"/>
            </a:xfrm>
            <a:prstGeom prst="roundRect">
              <a:avLst>
                <a:gd name="adj" fmla="val 0"/>
              </a:avLst>
            </a:prstGeom>
            <a:noFill/>
            <a:ln w="15875" cap="flat" cmpd="sng" algn="ctr">
              <a:gradFill flip="none" rotWithShape="1">
                <a:gsLst>
                  <a:gs pos="0">
                    <a:schemeClr val="accent1"/>
                  </a:gs>
                  <a:gs pos="100000">
                    <a:schemeClr val="accent1">
                      <a:alpha val="0"/>
                    </a:schemeClr>
                  </a:gs>
                </a:gsLst>
                <a:lin ang="16200000" scaled="1"/>
                <a:tileRect/>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35" name="矩形 34">
              <a:extLst>
                <a:ext uri="{FF2B5EF4-FFF2-40B4-BE49-F238E27FC236}">
                  <a16:creationId xmlns:a16="http://schemas.microsoft.com/office/drawing/2014/main" id="{6029FF79-2B53-E037-1B73-14F6F8EA3F2A}"/>
                </a:ext>
              </a:extLst>
            </p:cNvPr>
            <p:cNvSpPr/>
            <p:nvPr/>
          </p:nvSpPr>
          <p:spPr>
            <a:xfrm>
              <a:off x="1219164" y="3331234"/>
              <a:ext cx="1683516" cy="264184"/>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添加关键词</a:t>
              </a:r>
            </a:p>
          </p:txBody>
        </p:sp>
        <p:sp>
          <p:nvSpPr>
            <p:cNvPr id="36" name="文本框 35">
              <a:extLst>
                <a:ext uri="{FF2B5EF4-FFF2-40B4-BE49-F238E27FC236}">
                  <a16:creationId xmlns:a16="http://schemas.microsoft.com/office/drawing/2014/main" id="{C11ECEF7-B290-A1B3-9A4B-98853A61806C}"/>
                </a:ext>
              </a:extLst>
            </p:cNvPr>
            <p:cNvSpPr txBox="1"/>
            <p:nvPr/>
          </p:nvSpPr>
          <p:spPr>
            <a:xfrm>
              <a:off x="897424" y="3634664"/>
              <a:ext cx="2405608" cy="634469"/>
            </a:xfrm>
            <a:prstGeom prst="rect">
              <a:avLst/>
            </a:prstGeom>
            <a:noFill/>
          </p:spPr>
          <p:txBody>
            <a:bodyPr wrap="square">
              <a:spAutoFit/>
            </a:bodyPr>
            <a:lstStyle/>
            <a:p>
              <a:pPr marL="0" marR="0" lvl="0" indent="0" algn="ctr"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单击此处输入你的正文</a:t>
              </a:r>
              <a:endParaRPr kumimoji="0" lang="en-US" altLang="zh-CN"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a:p>
              <a:pPr marL="0" marR="0" lvl="0" indent="0" algn="ctr"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文字是您思想的提炼</a:t>
              </a:r>
            </a:p>
          </p:txBody>
        </p:sp>
      </p:grpSp>
      <p:grpSp>
        <p:nvGrpSpPr>
          <p:cNvPr id="37" name="组合 36">
            <a:extLst>
              <a:ext uri="{FF2B5EF4-FFF2-40B4-BE49-F238E27FC236}">
                <a16:creationId xmlns:a16="http://schemas.microsoft.com/office/drawing/2014/main" id="{AB89AEF3-2EB4-ACDF-CA72-DD7A2A2CE732}"/>
              </a:ext>
            </a:extLst>
          </p:cNvPr>
          <p:cNvGrpSpPr/>
          <p:nvPr/>
        </p:nvGrpSpPr>
        <p:grpSpPr>
          <a:xfrm>
            <a:off x="6097869" y="3197225"/>
            <a:ext cx="2478626" cy="1530253"/>
            <a:chOff x="824406" y="2800350"/>
            <a:chExt cx="2478626" cy="1530253"/>
          </a:xfrm>
        </p:grpSpPr>
        <p:sp>
          <p:nvSpPr>
            <p:cNvPr id="38" name="矩形: 圆角 37">
              <a:extLst>
                <a:ext uri="{FF2B5EF4-FFF2-40B4-BE49-F238E27FC236}">
                  <a16:creationId xmlns:a16="http://schemas.microsoft.com/office/drawing/2014/main" id="{79D7AF8E-4AF6-FE37-30A6-E14D65991A28}"/>
                </a:ext>
              </a:extLst>
            </p:cNvPr>
            <p:cNvSpPr/>
            <p:nvPr/>
          </p:nvSpPr>
          <p:spPr>
            <a:xfrm>
              <a:off x="824406" y="2800350"/>
              <a:ext cx="2473032" cy="1530253"/>
            </a:xfrm>
            <a:prstGeom prst="roundRect">
              <a:avLst>
                <a:gd name="adj" fmla="val 0"/>
              </a:avLst>
            </a:prstGeom>
            <a:noFill/>
            <a:ln w="15875" cap="flat" cmpd="sng" algn="ctr">
              <a:gradFill flip="none" rotWithShape="1">
                <a:gsLst>
                  <a:gs pos="0">
                    <a:schemeClr val="accent1"/>
                  </a:gs>
                  <a:gs pos="100000">
                    <a:schemeClr val="accent1">
                      <a:alpha val="0"/>
                    </a:schemeClr>
                  </a:gs>
                </a:gsLst>
                <a:lin ang="16200000" scaled="1"/>
                <a:tileRect/>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39" name="矩形 38">
              <a:extLst>
                <a:ext uri="{FF2B5EF4-FFF2-40B4-BE49-F238E27FC236}">
                  <a16:creationId xmlns:a16="http://schemas.microsoft.com/office/drawing/2014/main" id="{D61D2B28-8B1A-058D-C8EB-BD8B632426C2}"/>
                </a:ext>
              </a:extLst>
            </p:cNvPr>
            <p:cNvSpPr/>
            <p:nvPr/>
          </p:nvSpPr>
          <p:spPr>
            <a:xfrm>
              <a:off x="1219164" y="3331234"/>
              <a:ext cx="1683516" cy="264184"/>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添加关键词</a:t>
              </a:r>
            </a:p>
          </p:txBody>
        </p:sp>
        <p:sp>
          <p:nvSpPr>
            <p:cNvPr id="40" name="文本框 39">
              <a:extLst>
                <a:ext uri="{FF2B5EF4-FFF2-40B4-BE49-F238E27FC236}">
                  <a16:creationId xmlns:a16="http://schemas.microsoft.com/office/drawing/2014/main" id="{A32058E9-66AE-E5B0-B015-D4BC84A275D0}"/>
                </a:ext>
              </a:extLst>
            </p:cNvPr>
            <p:cNvSpPr txBox="1"/>
            <p:nvPr/>
          </p:nvSpPr>
          <p:spPr>
            <a:xfrm>
              <a:off x="897424" y="3634664"/>
              <a:ext cx="2405608" cy="634469"/>
            </a:xfrm>
            <a:prstGeom prst="rect">
              <a:avLst/>
            </a:prstGeom>
            <a:noFill/>
          </p:spPr>
          <p:txBody>
            <a:bodyPr wrap="square">
              <a:spAutoFit/>
            </a:bodyPr>
            <a:lstStyle/>
            <a:p>
              <a:pPr marL="0" marR="0" lvl="0" indent="0" algn="ctr"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单击此处输入你的正文</a:t>
              </a:r>
              <a:endParaRPr kumimoji="0" lang="en-US" altLang="zh-CN"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a:p>
              <a:pPr marL="0" marR="0" lvl="0" indent="0" algn="ctr"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文字是您思想的提炼</a:t>
              </a:r>
            </a:p>
          </p:txBody>
        </p:sp>
      </p:grpSp>
      <p:grpSp>
        <p:nvGrpSpPr>
          <p:cNvPr id="41" name="组合 40">
            <a:extLst>
              <a:ext uri="{FF2B5EF4-FFF2-40B4-BE49-F238E27FC236}">
                <a16:creationId xmlns:a16="http://schemas.microsoft.com/office/drawing/2014/main" id="{2BA83B85-9452-5F01-01CA-8575652A8DFD}"/>
              </a:ext>
            </a:extLst>
          </p:cNvPr>
          <p:cNvGrpSpPr/>
          <p:nvPr/>
        </p:nvGrpSpPr>
        <p:grpSpPr>
          <a:xfrm>
            <a:off x="8793334" y="3197225"/>
            <a:ext cx="2478626" cy="1530253"/>
            <a:chOff x="824406" y="2800350"/>
            <a:chExt cx="2478626" cy="1530253"/>
          </a:xfrm>
        </p:grpSpPr>
        <p:sp>
          <p:nvSpPr>
            <p:cNvPr id="42" name="矩形: 圆角 41">
              <a:extLst>
                <a:ext uri="{FF2B5EF4-FFF2-40B4-BE49-F238E27FC236}">
                  <a16:creationId xmlns:a16="http://schemas.microsoft.com/office/drawing/2014/main" id="{0D0001F5-3946-8279-4966-FCEDFF60435F}"/>
                </a:ext>
              </a:extLst>
            </p:cNvPr>
            <p:cNvSpPr/>
            <p:nvPr/>
          </p:nvSpPr>
          <p:spPr>
            <a:xfrm>
              <a:off x="824406" y="2800350"/>
              <a:ext cx="2473032" cy="1530253"/>
            </a:xfrm>
            <a:prstGeom prst="roundRect">
              <a:avLst>
                <a:gd name="adj" fmla="val 0"/>
              </a:avLst>
            </a:prstGeom>
            <a:noFill/>
            <a:ln w="15875" cap="flat" cmpd="sng" algn="ctr">
              <a:gradFill flip="none" rotWithShape="1">
                <a:gsLst>
                  <a:gs pos="0">
                    <a:schemeClr val="accent1"/>
                  </a:gs>
                  <a:gs pos="100000">
                    <a:schemeClr val="accent1">
                      <a:alpha val="0"/>
                    </a:schemeClr>
                  </a:gs>
                </a:gsLst>
                <a:lin ang="16200000" scaled="1"/>
                <a:tileRect/>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43" name="矩形 42">
              <a:extLst>
                <a:ext uri="{FF2B5EF4-FFF2-40B4-BE49-F238E27FC236}">
                  <a16:creationId xmlns:a16="http://schemas.microsoft.com/office/drawing/2014/main" id="{03EC2048-50C4-A6C4-9CE3-A2D5F099077E}"/>
                </a:ext>
              </a:extLst>
            </p:cNvPr>
            <p:cNvSpPr/>
            <p:nvPr/>
          </p:nvSpPr>
          <p:spPr>
            <a:xfrm>
              <a:off x="1219164" y="3331234"/>
              <a:ext cx="1683516" cy="264184"/>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添加关键词</a:t>
              </a:r>
            </a:p>
          </p:txBody>
        </p:sp>
        <p:sp>
          <p:nvSpPr>
            <p:cNvPr id="44" name="文本框 43">
              <a:extLst>
                <a:ext uri="{FF2B5EF4-FFF2-40B4-BE49-F238E27FC236}">
                  <a16:creationId xmlns:a16="http://schemas.microsoft.com/office/drawing/2014/main" id="{93E7F931-93CB-70CD-65F4-E8E34DE09B6C}"/>
                </a:ext>
              </a:extLst>
            </p:cNvPr>
            <p:cNvSpPr txBox="1"/>
            <p:nvPr/>
          </p:nvSpPr>
          <p:spPr>
            <a:xfrm>
              <a:off x="897424" y="3634664"/>
              <a:ext cx="2405608" cy="634469"/>
            </a:xfrm>
            <a:prstGeom prst="rect">
              <a:avLst/>
            </a:prstGeom>
            <a:noFill/>
          </p:spPr>
          <p:txBody>
            <a:bodyPr wrap="square">
              <a:spAutoFit/>
            </a:bodyPr>
            <a:lstStyle/>
            <a:p>
              <a:pPr marL="0" marR="0" lvl="0" indent="0" algn="ctr"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单击此处输入你的正文</a:t>
              </a:r>
              <a:endParaRPr kumimoji="0" lang="en-US" altLang="zh-CN"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a:p>
              <a:pPr marL="0" marR="0" lvl="0" indent="0" algn="ctr"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文字是您思想的提炼</a:t>
              </a:r>
            </a:p>
          </p:txBody>
        </p:sp>
      </p:grpSp>
      <p:sp>
        <p:nvSpPr>
          <p:cNvPr id="46" name="矩形 45">
            <a:extLst>
              <a:ext uri="{FF2B5EF4-FFF2-40B4-BE49-F238E27FC236}">
                <a16:creationId xmlns:a16="http://schemas.microsoft.com/office/drawing/2014/main" id="{B81F3778-B70F-03FE-C55C-AE85E4BBAF61}"/>
              </a:ext>
            </a:extLst>
          </p:cNvPr>
          <p:cNvSpPr/>
          <p:nvPr/>
        </p:nvSpPr>
        <p:spPr>
          <a:xfrm>
            <a:off x="720485" y="4826607"/>
            <a:ext cx="10537595" cy="536466"/>
          </a:xfrm>
          <a:prstGeom prst="rect">
            <a:avLst/>
          </a:prstGeom>
          <a:solidFill>
            <a:schemeClr val="accent1"/>
          </a:solidFill>
          <a:ln w="34925" cap="flat" cmpd="sng" algn="ctr">
            <a:noFill/>
            <a:prstDash val="solid"/>
            <a:miter lim="800000"/>
          </a:ln>
          <a:effectLst>
            <a:outerShdw blurRad="152400" dist="38100" dir="2700000" algn="tl" rotWithShape="0">
              <a:schemeClr val="accent2">
                <a:alpha val="22000"/>
              </a:scheme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93" name="矩形 92">
            <a:extLst>
              <a:ext uri="{FF2B5EF4-FFF2-40B4-BE49-F238E27FC236}">
                <a16:creationId xmlns:a16="http://schemas.microsoft.com/office/drawing/2014/main" id="{ABD29489-DF21-605B-5BE8-DC980759E7DC}"/>
              </a:ext>
            </a:extLst>
          </p:cNvPr>
          <p:cNvSpPr/>
          <p:nvPr/>
        </p:nvSpPr>
        <p:spPr>
          <a:xfrm>
            <a:off x="472441" y="5705525"/>
            <a:ext cx="11071859" cy="731661"/>
          </a:xfrm>
          <a:prstGeom prst="rect">
            <a:avLst/>
          </a:prstGeom>
          <a:solidFill>
            <a:sysClr val="window" lastClr="FFFFFF">
              <a:alpha val="94000"/>
            </a:sysClr>
          </a:solidFill>
          <a:ln w="12700" cap="flat" cmpd="sng" algn="ctr">
            <a:gradFill>
              <a:gsLst>
                <a:gs pos="0">
                  <a:sysClr val="window" lastClr="FFFFFF">
                    <a:lumMod val="95000"/>
                  </a:sysClr>
                </a:gs>
                <a:gs pos="100000">
                  <a:sysClr val="window" lastClr="FFFFFF">
                    <a:lumMod val="85000"/>
                  </a:sysClr>
                </a:gs>
              </a:gsLst>
              <a:lin ang="5400000" scaled="1"/>
            </a:gradFill>
            <a:prstDash val="solid"/>
            <a:miter lim="800000"/>
          </a:ln>
          <a:effectLst>
            <a:outerShdw blurRad="152400" dist="114300" dir="2700000" algn="tl" rotWithShape="0">
              <a:prstClr val="black">
                <a:alpha val="6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grpSp>
        <p:nvGrpSpPr>
          <p:cNvPr id="94" name="组合 93">
            <a:extLst>
              <a:ext uri="{FF2B5EF4-FFF2-40B4-BE49-F238E27FC236}">
                <a16:creationId xmlns:a16="http://schemas.microsoft.com/office/drawing/2014/main" id="{8C98561D-2F59-0FB9-2783-4ADF11E0D919}"/>
              </a:ext>
            </a:extLst>
          </p:cNvPr>
          <p:cNvGrpSpPr/>
          <p:nvPr/>
        </p:nvGrpSpPr>
        <p:grpSpPr>
          <a:xfrm>
            <a:off x="749089" y="5856902"/>
            <a:ext cx="2018452" cy="428906"/>
            <a:chOff x="1115772" y="5583852"/>
            <a:chExt cx="2018452" cy="428906"/>
          </a:xfrm>
        </p:grpSpPr>
        <p:sp>
          <p:nvSpPr>
            <p:cNvPr id="95" name="矩形: 圆角 94">
              <a:extLst>
                <a:ext uri="{FF2B5EF4-FFF2-40B4-BE49-F238E27FC236}">
                  <a16:creationId xmlns:a16="http://schemas.microsoft.com/office/drawing/2014/main" id="{7958552B-91EF-58E7-1936-D3EEA5C610C5}"/>
                </a:ext>
              </a:extLst>
            </p:cNvPr>
            <p:cNvSpPr/>
            <p:nvPr/>
          </p:nvSpPr>
          <p:spPr>
            <a:xfrm>
              <a:off x="1115772" y="5583852"/>
              <a:ext cx="2018452" cy="428906"/>
            </a:xfrm>
            <a:prstGeom prst="roundRect">
              <a:avLst>
                <a:gd name="adj" fmla="val 50000"/>
              </a:avLst>
            </a:prstGeom>
            <a:solidFill>
              <a:schemeClr val="accent3">
                <a:alpha val="8000"/>
              </a:schemeClr>
            </a:solidFill>
            <a:ln w="12700" cap="flat" cmpd="sng" algn="ctr">
              <a:solidFill>
                <a:schemeClr val="accent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96" name="矩形 95">
              <a:extLst>
                <a:ext uri="{FF2B5EF4-FFF2-40B4-BE49-F238E27FC236}">
                  <a16:creationId xmlns:a16="http://schemas.microsoft.com/office/drawing/2014/main" id="{6A49FE15-5D7E-5D58-6DBB-1E56937A8044}"/>
                </a:ext>
              </a:extLst>
            </p:cNvPr>
            <p:cNvSpPr/>
            <p:nvPr/>
          </p:nvSpPr>
          <p:spPr>
            <a:xfrm>
              <a:off x="1303697" y="5672986"/>
              <a:ext cx="1683516" cy="264184"/>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添加关键词</a:t>
              </a:r>
            </a:p>
          </p:txBody>
        </p:sp>
      </p:grpSp>
      <p:grpSp>
        <p:nvGrpSpPr>
          <p:cNvPr id="97" name="组合 96">
            <a:extLst>
              <a:ext uri="{FF2B5EF4-FFF2-40B4-BE49-F238E27FC236}">
                <a16:creationId xmlns:a16="http://schemas.microsoft.com/office/drawing/2014/main" id="{EE38CE60-C10E-5EBF-4151-518D8BAEA44D}"/>
              </a:ext>
            </a:extLst>
          </p:cNvPr>
          <p:cNvGrpSpPr/>
          <p:nvPr/>
        </p:nvGrpSpPr>
        <p:grpSpPr>
          <a:xfrm>
            <a:off x="2874328" y="5856902"/>
            <a:ext cx="2018452" cy="428906"/>
            <a:chOff x="1115772" y="5583852"/>
            <a:chExt cx="2018452" cy="428906"/>
          </a:xfrm>
        </p:grpSpPr>
        <p:sp>
          <p:nvSpPr>
            <p:cNvPr id="98" name="矩形: 圆角 97">
              <a:extLst>
                <a:ext uri="{FF2B5EF4-FFF2-40B4-BE49-F238E27FC236}">
                  <a16:creationId xmlns:a16="http://schemas.microsoft.com/office/drawing/2014/main" id="{F41082BD-FC93-ECB5-13F3-CF171D48B178}"/>
                </a:ext>
              </a:extLst>
            </p:cNvPr>
            <p:cNvSpPr/>
            <p:nvPr/>
          </p:nvSpPr>
          <p:spPr>
            <a:xfrm>
              <a:off x="1115772" y="5583852"/>
              <a:ext cx="2018452" cy="428906"/>
            </a:xfrm>
            <a:prstGeom prst="roundRect">
              <a:avLst>
                <a:gd name="adj" fmla="val 50000"/>
              </a:avLst>
            </a:prstGeom>
            <a:solidFill>
              <a:schemeClr val="accent3">
                <a:alpha val="8000"/>
              </a:schemeClr>
            </a:solidFill>
            <a:ln w="12700" cap="flat" cmpd="sng" algn="ctr">
              <a:solidFill>
                <a:schemeClr val="accent1"/>
              </a:solidFill>
              <a:prstDash val="solid"/>
              <a:miter lim="800000"/>
            </a:ln>
            <a:effectLst/>
          </p:spPr>
          <p:txBody>
            <a:bodyPr rtlCol="0" anchor="ctr"/>
            <a:lstStyle/>
            <a:p>
              <a:pPr algn="ctr"/>
              <a:endParaRPr lang="zh-CN" altLang="en-US" kern="0" dirty="0">
                <a:solidFill>
                  <a:srgbClr val="0070C0"/>
                </a:solidFill>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99" name="矩形 98">
              <a:extLst>
                <a:ext uri="{FF2B5EF4-FFF2-40B4-BE49-F238E27FC236}">
                  <a16:creationId xmlns:a16="http://schemas.microsoft.com/office/drawing/2014/main" id="{5433A26D-5B4A-8886-E07E-73260B3CAF90}"/>
                </a:ext>
              </a:extLst>
            </p:cNvPr>
            <p:cNvSpPr/>
            <p:nvPr/>
          </p:nvSpPr>
          <p:spPr>
            <a:xfrm>
              <a:off x="1303697" y="5672986"/>
              <a:ext cx="1683516" cy="264184"/>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添加关键词</a:t>
              </a:r>
            </a:p>
          </p:txBody>
        </p:sp>
      </p:grpSp>
      <p:grpSp>
        <p:nvGrpSpPr>
          <p:cNvPr id="100" name="组合 99">
            <a:extLst>
              <a:ext uri="{FF2B5EF4-FFF2-40B4-BE49-F238E27FC236}">
                <a16:creationId xmlns:a16="http://schemas.microsoft.com/office/drawing/2014/main" id="{8290007A-59BD-BBB1-8412-1CC89F007981}"/>
              </a:ext>
            </a:extLst>
          </p:cNvPr>
          <p:cNvGrpSpPr/>
          <p:nvPr/>
        </p:nvGrpSpPr>
        <p:grpSpPr>
          <a:xfrm>
            <a:off x="4999567" y="5856902"/>
            <a:ext cx="2018452" cy="428906"/>
            <a:chOff x="1115772" y="5583852"/>
            <a:chExt cx="2018452" cy="428906"/>
          </a:xfrm>
        </p:grpSpPr>
        <p:sp>
          <p:nvSpPr>
            <p:cNvPr id="101" name="矩形: 圆角 100">
              <a:extLst>
                <a:ext uri="{FF2B5EF4-FFF2-40B4-BE49-F238E27FC236}">
                  <a16:creationId xmlns:a16="http://schemas.microsoft.com/office/drawing/2014/main" id="{B4F82BBA-0FFF-43A3-5CDB-473B31902DBC}"/>
                </a:ext>
              </a:extLst>
            </p:cNvPr>
            <p:cNvSpPr/>
            <p:nvPr/>
          </p:nvSpPr>
          <p:spPr>
            <a:xfrm>
              <a:off x="1115772" y="5583852"/>
              <a:ext cx="2018452" cy="428906"/>
            </a:xfrm>
            <a:prstGeom prst="roundRect">
              <a:avLst>
                <a:gd name="adj" fmla="val 50000"/>
              </a:avLst>
            </a:prstGeom>
            <a:solidFill>
              <a:schemeClr val="accent3">
                <a:alpha val="8000"/>
              </a:schemeClr>
            </a:solidFill>
            <a:ln w="12700" cap="flat" cmpd="sng" algn="ctr">
              <a:solidFill>
                <a:schemeClr val="accent1"/>
              </a:solidFill>
              <a:prstDash val="solid"/>
              <a:miter lim="800000"/>
            </a:ln>
            <a:effectLst/>
          </p:spPr>
          <p:txBody>
            <a:bodyPr rtlCol="0" anchor="ctr"/>
            <a:lstStyle/>
            <a:p>
              <a:pPr algn="ctr"/>
              <a:endParaRPr lang="zh-CN" altLang="en-US" kern="0" dirty="0">
                <a:solidFill>
                  <a:srgbClr val="0070C0"/>
                </a:solidFill>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102" name="矩形 101">
              <a:extLst>
                <a:ext uri="{FF2B5EF4-FFF2-40B4-BE49-F238E27FC236}">
                  <a16:creationId xmlns:a16="http://schemas.microsoft.com/office/drawing/2014/main" id="{4B880483-AE3E-181A-C12C-4064B8FC0A2A}"/>
                </a:ext>
              </a:extLst>
            </p:cNvPr>
            <p:cNvSpPr/>
            <p:nvPr/>
          </p:nvSpPr>
          <p:spPr>
            <a:xfrm>
              <a:off x="1303697" y="5672986"/>
              <a:ext cx="1683516" cy="264184"/>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添加关键词</a:t>
              </a:r>
            </a:p>
          </p:txBody>
        </p:sp>
      </p:grpSp>
      <p:grpSp>
        <p:nvGrpSpPr>
          <p:cNvPr id="103" name="组合 102">
            <a:extLst>
              <a:ext uri="{FF2B5EF4-FFF2-40B4-BE49-F238E27FC236}">
                <a16:creationId xmlns:a16="http://schemas.microsoft.com/office/drawing/2014/main" id="{BA2F6111-7FBD-AB7F-484D-EE8827EBFA97}"/>
              </a:ext>
            </a:extLst>
          </p:cNvPr>
          <p:cNvGrpSpPr/>
          <p:nvPr/>
        </p:nvGrpSpPr>
        <p:grpSpPr>
          <a:xfrm>
            <a:off x="7124806" y="5856902"/>
            <a:ext cx="2018452" cy="428906"/>
            <a:chOff x="1115772" y="5583852"/>
            <a:chExt cx="2018452" cy="428906"/>
          </a:xfrm>
        </p:grpSpPr>
        <p:sp>
          <p:nvSpPr>
            <p:cNvPr id="104" name="矩形: 圆角 103">
              <a:extLst>
                <a:ext uri="{FF2B5EF4-FFF2-40B4-BE49-F238E27FC236}">
                  <a16:creationId xmlns:a16="http://schemas.microsoft.com/office/drawing/2014/main" id="{065EFFCA-BA49-251A-E756-26CDAEDC3C52}"/>
                </a:ext>
              </a:extLst>
            </p:cNvPr>
            <p:cNvSpPr/>
            <p:nvPr/>
          </p:nvSpPr>
          <p:spPr>
            <a:xfrm>
              <a:off x="1115772" y="5583852"/>
              <a:ext cx="2018452" cy="428906"/>
            </a:xfrm>
            <a:prstGeom prst="roundRect">
              <a:avLst>
                <a:gd name="adj" fmla="val 50000"/>
              </a:avLst>
            </a:prstGeom>
            <a:solidFill>
              <a:schemeClr val="accent3">
                <a:alpha val="8000"/>
              </a:schemeClr>
            </a:solidFill>
            <a:ln w="12700" cap="flat" cmpd="sng" algn="ctr">
              <a:solidFill>
                <a:schemeClr val="accent1"/>
              </a:solidFill>
              <a:prstDash val="solid"/>
              <a:miter lim="800000"/>
            </a:ln>
            <a:effectLst/>
          </p:spPr>
          <p:txBody>
            <a:bodyPr rtlCol="0" anchor="ctr"/>
            <a:lstStyle/>
            <a:p>
              <a:pPr algn="ctr"/>
              <a:endParaRPr lang="zh-CN" altLang="en-US" kern="0" dirty="0">
                <a:solidFill>
                  <a:srgbClr val="0070C0"/>
                </a:solidFill>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105" name="矩形 104">
              <a:extLst>
                <a:ext uri="{FF2B5EF4-FFF2-40B4-BE49-F238E27FC236}">
                  <a16:creationId xmlns:a16="http://schemas.microsoft.com/office/drawing/2014/main" id="{7F6387E9-B5D5-D645-5B9B-374F158B5954}"/>
                </a:ext>
              </a:extLst>
            </p:cNvPr>
            <p:cNvSpPr/>
            <p:nvPr/>
          </p:nvSpPr>
          <p:spPr>
            <a:xfrm>
              <a:off x="1303697" y="5672986"/>
              <a:ext cx="1683516" cy="264184"/>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添加关键词</a:t>
              </a:r>
            </a:p>
          </p:txBody>
        </p:sp>
      </p:grpSp>
      <p:grpSp>
        <p:nvGrpSpPr>
          <p:cNvPr id="106" name="组合 105">
            <a:extLst>
              <a:ext uri="{FF2B5EF4-FFF2-40B4-BE49-F238E27FC236}">
                <a16:creationId xmlns:a16="http://schemas.microsoft.com/office/drawing/2014/main" id="{A475E780-8FD7-4898-90BB-67EC32A68A84}"/>
              </a:ext>
            </a:extLst>
          </p:cNvPr>
          <p:cNvGrpSpPr/>
          <p:nvPr/>
        </p:nvGrpSpPr>
        <p:grpSpPr>
          <a:xfrm>
            <a:off x="9250046" y="5856902"/>
            <a:ext cx="2018452" cy="428906"/>
            <a:chOff x="1115772" y="5583852"/>
            <a:chExt cx="2018452" cy="428906"/>
          </a:xfrm>
        </p:grpSpPr>
        <p:sp>
          <p:nvSpPr>
            <p:cNvPr id="107" name="矩形: 圆角 106">
              <a:extLst>
                <a:ext uri="{FF2B5EF4-FFF2-40B4-BE49-F238E27FC236}">
                  <a16:creationId xmlns:a16="http://schemas.microsoft.com/office/drawing/2014/main" id="{CE9F11D4-7FC1-8F47-70FE-B2C407AF155A}"/>
                </a:ext>
              </a:extLst>
            </p:cNvPr>
            <p:cNvSpPr/>
            <p:nvPr/>
          </p:nvSpPr>
          <p:spPr>
            <a:xfrm>
              <a:off x="1115772" y="5583852"/>
              <a:ext cx="2018452" cy="428906"/>
            </a:xfrm>
            <a:prstGeom prst="roundRect">
              <a:avLst>
                <a:gd name="adj" fmla="val 50000"/>
              </a:avLst>
            </a:prstGeom>
            <a:solidFill>
              <a:schemeClr val="accent3">
                <a:alpha val="8000"/>
              </a:schemeClr>
            </a:solidFill>
            <a:ln w="12700" cap="flat" cmpd="sng" algn="ctr">
              <a:solidFill>
                <a:schemeClr val="accent1"/>
              </a:solidFill>
              <a:prstDash val="solid"/>
              <a:miter lim="800000"/>
            </a:ln>
            <a:effectLst/>
          </p:spPr>
          <p:txBody>
            <a:bodyPr rtlCol="0" anchor="ctr"/>
            <a:lstStyle/>
            <a:p>
              <a:pPr algn="ctr"/>
              <a:endParaRPr lang="zh-CN" altLang="en-US" kern="0" dirty="0">
                <a:solidFill>
                  <a:srgbClr val="0070C0"/>
                </a:solidFill>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108" name="矩形 107">
              <a:extLst>
                <a:ext uri="{FF2B5EF4-FFF2-40B4-BE49-F238E27FC236}">
                  <a16:creationId xmlns:a16="http://schemas.microsoft.com/office/drawing/2014/main" id="{51AF8AC4-E4F8-50E9-8B09-B2C11094F0DE}"/>
                </a:ext>
              </a:extLst>
            </p:cNvPr>
            <p:cNvSpPr/>
            <p:nvPr/>
          </p:nvSpPr>
          <p:spPr>
            <a:xfrm>
              <a:off x="1303697" y="5672986"/>
              <a:ext cx="1683516" cy="264184"/>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添加关键词</a:t>
              </a:r>
            </a:p>
          </p:txBody>
        </p:sp>
      </p:grpSp>
      <p:sp>
        <p:nvSpPr>
          <p:cNvPr id="109" name="文本框 108">
            <a:extLst>
              <a:ext uri="{FF2B5EF4-FFF2-40B4-BE49-F238E27FC236}">
                <a16:creationId xmlns:a16="http://schemas.microsoft.com/office/drawing/2014/main" id="{63107852-D247-AB26-F1EE-939D860E703E}"/>
              </a:ext>
            </a:extLst>
          </p:cNvPr>
          <p:cNvSpPr txBox="1"/>
          <p:nvPr/>
        </p:nvSpPr>
        <p:spPr>
          <a:xfrm>
            <a:off x="1554956" y="4894785"/>
            <a:ext cx="8906827" cy="400110"/>
          </a:xfrm>
          <a:prstGeom prst="rect">
            <a:avLst/>
          </a:prstGeom>
          <a:noFill/>
        </p:spPr>
        <p:txBody>
          <a:bodyPr wrap="square">
            <a:spAutoFit/>
          </a:bodyPr>
          <a:lstStyle>
            <a:defPPr>
              <a:defRPr lang="zh-CN"/>
            </a:defPPr>
            <a:lvl1pPr>
              <a:defRPr sz="2000" b="1">
                <a:solidFill>
                  <a:prstClr val="black"/>
                </a:solidFill>
                <a:latin typeface="汉仪旗黑-55简" panose="00020600040101010101" pitchFamily="18" charset="-122"/>
                <a:ea typeface="汉仪旗黑-55简" panose="00020600040101010101" pitchFamily="18" charset="-122"/>
                <a:cs typeface="+mn-ea"/>
              </a:defRPr>
            </a:lvl1pPr>
          </a:lstStyle>
          <a:p>
            <a:r>
              <a:rPr lang="zh-CN" altLang="en-US" dirty="0">
                <a:solidFill>
                  <a:schemeClr val="bg1"/>
                </a:solidFill>
                <a:latin typeface="微软雅黑" panose="020B0503020204020204" pitchFamily="34" charset="-122"/>
                <a:ea typeface="微软雅黑" panose="020B0503020204020204" pitchFamily="34" charset="-122"/>
                <a:sym typeface="汉仪旗黑-55简" panose="00020600040101010101" pitchFamily="18" charset="-122"/>
              </a:rPr>
              <a:t>单击此处输入你的正文，文字是您思想的提炼为了最终演示发布的良好效果。</a:t>
            </a:r>
          </a:p>
        </p:txBody>
      </p:sp>
      <p:sp>
        <p:nvSpPr>
          <p:cNvPr id="2" name="矩形 1">
            <a:extLst>
              <a:ext uri="{FF2B5EF4-FFF2-40B4-BE49-F238E27FC236}">
                <a16:creationId xmlns:a16="http://schemas.microsoft.com/office/drawing/2014/main" id="{5BFA47BB-34FC-609A-92B1-BA0AE1FC7520}"/>
              </a:ext>
            </a:extLst>
          </p:cNvPr>
          <p:cNvSpPr/>
          <p:nvPr/>
        </p:nvSpPr>
        <p:spPr>
          <a:xfrm>
            <a:off x="0" y="1066800"/>
            <a:ext cx="12192000" cy="5791200"/>
          </a:xfrm>
          <a:prstGeom prst="rect">
            <a:avLst/>
          </a:prstGeom>
          <a:solidFill>
            <a:srgbClr val="FFFFFF"/>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8755EDE9-6452-4D00-E57B-A6F4DB3EBA9A}"/>
              </a:ext>
            </a:extLst>
          </p:cNvPr>
          <p:cNvSpPr/>
          <p:nvPr/>
        </p:nvSpPr>
        <p:spPr>
          <a:xfrm>
            <a:off x="431800" y="1219200"/>
            <a:ext cx="11328400" cy="533400"/>
          </a:xfrm>
          <a:prstGeom prst="rect">
            <a:avLst/>
          </a:prstGeom>
          <a:solidFill>
            <a:srgbClr val="0054A0"/>
          </a:solidFill>
          <a:ln w="1270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700" b="1">
                <a:solidFill>
                  <a:srgbClr val="FFFFFF"/>
                </a:solidFill>
                <a:latin typeface="微软雅黑" panose="020B0503020204020204" pitchFamily="34" charset="-122"/>
              </a:rPr>
              <a:t>围绕多模型实验流程，形成可运行、可扩展、可复核的平台原型</a:t>
            </a:r>
          </a:p>
        </p:txBody>
      </p:sp>
      <p:sp>
        <p:nvSpPr>
          <p:cNvPr id="4" name="矩形 3">
            <a:extLst>
              <a:ext uri="{FF2B5EF4-FFF2-40B4-BE49-F238E27FC236}">
                <a16:creationId xmlns:a16="http://schemas.microsoft.com/office/drawing/2014/main" id="{A668D7AA-700B-B173-D06D-6B49A559886D}"/>
              </a:ext>
            </a:extLst>
          </p:cNvPr>
          <p:cNvSpPr/>
          <p:nvPr/>
        </p:nvSpPr>
        <p:spPr>
          <a:xfrm>
            <a:off x="889000" y="2032000"/>
            <a:ext cx="1651000" cy="457200"/>
          </a:xfrm>
          <a:prstGeom prst="rect">
            <a:avLst/>
          </a:prstGeom>
          <a:solidFill>
            <a:srgbClr val="0054A0"/>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400" b="1">
                <a:solidFill>
                  <a:srgbClr val="FFFFFF"/>
                </a:solidFill>
                <a:latin typeface="微软雅黑" panose="020B0503020204020204" pitchFamily="34" charset="-122"/>
              </a:rPr>
              <a:t>目标</a:t>
            </a:r>
          </a:p>
        </p:txBody>
      </p:sp>
      <p:sp>
        <p:nvSpPr>
          <p:cNvPr id="5" name="矩形 4">
            <a:extLst>
              <a:ext uri="{FF2B5EF4-FFF2-40B4-BE49-F238E27FC236}">
                <a16:creationId xmlns:a16="http://schemas.microsoft.com/office/drawing/2014/main" id="{45468565-D6B0-2260-E73B-ED1024DD71C9}"/>
              </a:ext>
            </a:extLst>
          </p:cNvPr>
          <p:cNvSpPr/>
          <p:nvPr/>
        </p:nvSpPr>
        <p:spPr>
          <a:xfrm>
            <a:off x="2540000" y="2032000"/>
            <a:ext cx="6159500" cy="457200"/>
          </a:xfrm>
          <a:prstGeom prst="rect">
            <a:avLst/>
          </a:prstGeom>
          <a:solidFill>
            <a:srgbClr val="0054A0"/>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400" b="1">
                <a:solidFill>
                  <a:srgbClr val="FFFFFF"/>
                </a:solidFill>
                <a:latin typeface="微软雅黑" panose="020B0503020204020204" pitchFamily="34" charset="-122"/>
              </a:rPr>
              <a:t>内容</a:t>
            </a:r>
          </a:p>
        </p:txBody>
      </p:sp>
      <p:sp>
        <p:nvSpPr>
          <p:cNvPr id="6" name="矩形 5">
            <a:extLst>
              <a:ext uri="{FF2B5EF4-FFF2-40B4-BE49-F238E27FC236}">
                <a16:creationId xmlns:a16="http://schemas.microsoft.com/office/drawing/2014/main" id="{91166E17-6E9D-C763-C2D2-5CEEBD6CAD9E}"/>
              </a:ext>
            </a:extLst>
          </p:cNvPr>
          <p:cNvSpPr/>
          <p:nvPr/>
        </p:nvSpPr>
        <p:spPr>
          <a:xfrm>
            <a:off x="8699500" y="2032000"/>
            <a:ext cx="3175000" cy="457200"/>
          </a:xfrm>
          <a:prstGeom prst="rect">
            <a:avLst/>
          </a:prstGeom>
          <a:solidFill>
            <a:srgbClr val="0054A0"/>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400" b="1">
                <a:solidFill>
                  <a:srgbClr val="FFFFFF"/>
                </a:solidFill>
                <a:latin typeface="微软雅黑" panose="020B0503020204020204" pitchFamily="34" charset="-122"/>
              </a:rPr>
              <a:t>验收方式</a:t>
            </a:r>
          </a:p>
        </p:txBody>
      </p:sp>
      <p:sp>
        <p:nvSpPr>
          <p:cNvPr id="7" name="矩形 6">
            <a:extLst>
              <a:ext uri="{FF2B5EF4-FFF2-40B4-BE49-F238E27FC236}">
                <a16:creationId xmlns:a16="http://schemas.microsoft.com/office/drawing/2014/main" id="{0489B647-0252-96F0-AB31-1DCD6122C7D2}"/>
              </a:ext>
            </a:extLst>
          </p:cNvPr>
          <p:cNvSpPr/>
          <p:nvPr/>
        </p:nvSpPr>
        <p:spPr>
          <a:xfrm>
            <a:off x="889000" y="2489200"/>
            <a:ext cx="1651000" cy="4572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模型接入</a:t>
            </a:r>
          </a:p>
        </p:txBody>
      </p:sp>
      <p:sp>
        <p:nvSpPr>
          <p:cNvPr id="8" name="矩形 7">
            <a:extLst>
              <a:ext uri="{FF2B5EF4-FFF2-40B4-BE49-F238E27FC236}">
                <a16:creationId xmlns:a16="http://schemas.microsoft.com/office/drawing/2014/main" id="{898F4355-7860-289F-D90B-67F238C810E6}"/>
              </a:ext>
            </a:extLst>
          </p:cNvPr>
          <p:cNvSpPr/>
          <p:nvPr/>
        </p:nvSpPr>
        <p:spPr>
          <a:xfrm>
            <a:off x="2540000" y="2489200"/>
            <a:ext cx="6159500" cy="4572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统一描述模型环境、命令和输出目录</a:t>
            </a:r>
          </a:p>
        </p:txBody>
      </p:sp>
      <p:sp>
        <p:nvSpPr>
          <p:cNvPr id="9" name="矩形 8">
            <a:extLst>
              <a:ext uri="{FF2B5EF4-FFF2-40B4-BE49-F238E27FC236}">
                <a16:creationId xmlns:a16="http://schemas.microsoft.com/office/drawing/2014/main" id="{83670536-4A93-795A-F2ED-276C65271DC2}"/>
              </a:ext>
            </a:extLst>
          </p:cNvPr>
          <p:cNvSpPr/>
          <p:nvPr/>
        </p:nvSpPr>
        <p:spPr>
          <a:xfrm>
            <a:off x="8699500" y="2489200"/>
            <a:ext cx="3175000" cy="4572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完成代表模型执行器</a:t>
            </a:r>
          </a:p>
        </p:txBody>
      </p:sp>
      <p:sp>
        <p:nvSpPr>
          <p:cNvPr id="10" name="矩形 9">
            <a:extLst>
              <a:ext uri="{FF2B5EF4-FFF2-40B4-BE49-F238E27FC236}">
                <a16:creationId xmlns:a16="http://schemas.microsoft.com/office/drawing/2014/main" id="{050590B0-B72E-3CCF-6559-3D9F08088DB8}"/>
              </a:ext>
            </a:extLst>
          </p:cNvPr>
          <p:cNvSpPr/>
          <p:nvPr/>
        </p:nvSpPr>
        <p:spPr>
          <a:xfrm>
            <a:off x="889000" y="2946400"/>
            <a:ext cx="1651000" cy="457200"/>
          </a:xfrm>
          <a:prstGeom prst="rect">
            <a:avLst/>
          </a:prstGeom>
          <a:solidFill>
            <a:srgbClr val="FFFFFF"/>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任务调度</a:t>
            </a:r>
          </a:p>
        </p:txBody>
      </p:sp>
      <p:sp>
        <p:nvSpPr>
          <p:cNvPr id="11" name="矩形 10">
            <a:extLst>
              <a:ext uri="{FF2B5EF4-FFF2-40B4-BE49-F238E27FC236}">
                <a16:creationId xmlns:a16="http://schemas.microsoft.com/office/drawing/2014/main" id="{FCCCF3DF-B0CD-BC71-EFCA-54BA3E23D99D}"/>
              </a:ext>
            </a:extLst>
          </p:cNvPr>
          <p:cNvSpPr/>
          <p:nvPr/>
        </p:nvSpPr>
        <p:spPr>
          <a:xfrm>
            <a:off x="2540000" y="2946400"/>
            <a:ext cx="6159500" cy="457200"/>
          </a:xfrm>
          <a:prstGeom prst="rect">
            <a:avLst/>
          </a:prstGeom>
          <a:solidFill>
            <a:srgbClr val="FFFFFF"/>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支持本地提交、远端运行、日志监听和回传</a:t>
            </a:r>
          </a:p>
        </p:txBody>
      </p:sp>
      <p:sp>
        <p:nvSpPr>
          <p:cNvPr id="12" name="矩形 11">
            <a:extLst>
              <a:ext uri="{FF2B5EF4-FFF2-40B4-BE49-F238E27FC236}">
                <a16:creationId xmlns:a16="http://schemas.microsoft.com/office/drawing/2014/main" id="{74D1EC58-84BB-76A7-BBF7-56E211304D99}"/>
              </a:ext>
            </a:extLst>
          </p:cNvPr>
          <p:cNvSpPr/>
          <p:nvPr/>
        </p:nvSpPr>
        <p:spPr>
          <a:xfrm>
            <a:off x="8699500" y="2946400"/>
            <a:ext cx="3175000" cy="457200"/>
          </a:xfrm>
          <a:prstGeom prst="rect">
            <a:avLst/>
          </a:prstGeom>
          <a:solidFill>
            <a:srgbClr val="FFFFFF"/>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端到端任务可追踪</a:t>
            </a:r>
          </a:p>
        </p:txBody>
      </p:sp>
      <p:sp>
        <p:nvSpPr>
          <p:cNvPr id="13" name="矩形 12">
            <a:extLst>
              <a:ext uri="{FF2B5EF4-FFF2-40B4-BE49-F238E27FC236}">
                <a16:creationId xmlns:a16="http://schemas.microsoft.com/office/drawing/2014/main" id="{A047D48C-A6E7-B4BC-90C1-18C4D2CDCC01}"/>
              </a:ext>
            </a:extLst>
          </p:cNvPr>
          <p:cNvSpPr/>
          <p:nvPr/>
        </p:nvSpPr>
        <p:spPr>
          <a:xfrm>
            <a:off x="889000" y="3403600"/>
            <a:ext cx="1651000" cy="4572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结果管理</a:t>
            </a:r>
          </a:p>
        </p:txBody>
      </p:sp>
      <p:sp>
        <p:nvSpPr>
          <p:cNvPr id="14" name="矩形 13">
            <a:extLst>
              <a:ext uri="{FF2B5EF4-FFF2-40B4-BE49-F238E27FC236}">
                <a16:creationId xmlns:a16="http://schemas.microsoft.com/office/drawing/2014/main" id="{27D194AF-3FB8-2E88-D976-BFAAA141C93C}"/>
              </a:ext>
            </a:extLst>
          </p:cNvPr>
          <p:cNvSpPr/>
          <p:nvPr/>
        </p:nvSpPr>
        <p:spPr>
          <a:xfrm>
            <a:off x="2540000" y="3403600"/>
            <a:ext cx="6159500" cy="4572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归集点图、</a:t>
            </a:r>
            <a:r>
              <a:rPr lang="en-US" altLang="zh-CN" sz="1300" b="1">
                <a:solidFill>
                  <a:srgbClr val="052346"/>
                </a:solidFill>
                <a:latin typeface="微软雅黑" panose="020B0503020204020204" pitchFamily="34" charset="-122"/>
              </a:rPr>
              <a:t>mask</a:t>
            </a:r>
            <a:r>
              <a:rPr lang="zh-CN" altLang="en-US" sz="1300" b="1">
                <a:solidFill>
                  <a:srgbClr val="052346"/>
                </a:solidFill>
                <a:latin typeface="微软雅黑" panose="020B0503020204020204" pitchFamily="34" charset="-122"/>
              </a:rPr>
              <a:t>、日志和元数据</a:t>
            </a:r>
          </a:p>
        </p:txBody>
      </p:sp>
      <p:sp>
        <p:nvSpPr>
          <p:cNvPr id="15" name="矩形 14">
            <a:extLst>
              <a:ext uri="{FF2B5EF4-FFF2-40B4-BE49-F238E27FC236}">
                <a16:creationId xmlns:a16="http://schemas.microsoft.com/office/drawing/2014/main" id="{3FADB067-AAC0-AA19-869A-CF037A9303E1}"/>
              </a:ext>
            </a:extLst>
          </p:cNvPr>
          <p:cNvSpPr/>
          <p:nvPr/>
        </p:nvSpPr>
        <p:spPr>
          <a:xfrm>
            <a:off x="8699500" y="3403600"/>
            <a:ext cx="3175000" cy="4572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同一输入可横向查看</a:t>
            </a:r>
          </a:p>
        </p:txBody>
      </p:sp>
      <p:sp>
        <p:nvSpPr>
          <p:cNvPr id="16" name="矩形 15">
            <a:extLst>
              <a:ext uri="{FF2B5EF4-FFF2-40B4-BE49-F238E27FC236}">
                <a16:creationId xmlns:a16="http://schemas.microsoft.com/office/drawing/2014/main" id="{78A07482-E20D-E46E-A397-E29B3E5C5F6F}"/>
              </a:ext>
            </a:extLst>
          </p:cNvPr>
          <p:cNvSpPr/>
          <p:nvPr/>
        </p:nvSpPr>
        <p:spPr>
          <a:xfrm>
            <a:off x="889000" y="3860800"/>
            <a:ext cx="1651000" cy="457200"/>
          </a:xfrm>
          <a:prstGeom prst="rect">
            <a:avLst/>
          </a:prstGeom>
          <a:solidFill>
            <a:srgbClr val="FFFFFF"/>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能力输出</a:t>
            </a:r>
          </a:p>
        </p:txBody>
      </p:sp>
      <p:sp>
        <p:nvSpPr>
          <p:cNvPr id="17" name="矩形 16">
            <a:extLst>
              <a:ext uri="{FF2B5EF4-FFF2-40B4-BE49-F238E27FC236}">
                <a16:creationId xmlns:a16="http://schemas.microsoft.com/office/drawing/2014/main" id="{F55DD21F-08B5-8BD8-7DA0-12CD627F7790}"/>
              </a:ext>
            </a:extLst>
          </p:cNvPr>
          <p:cNvSpPr/>
          <p:nvPr/>
        </p:nvSpPr>
        <p:spPr>
          <a:xfrm>
            <a:off x="2540000" y="3860800"/>
            <a:ext cx="6159500" cy="457200"/>
          </a:xfrm>
          <a:prstGeom prst="rect">
            <a:avLst/>
          </a:prstGeom>
          <a:solidFill>
            <a:srgbClr val="FFFFFF"/>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预留统一导出和 </a:t>
            </a:r>
            <a:r>
              <a:rPr lang="en-US" altLang="zh-CN" sz="1300" b="1">
                <a:solidFill>
                  <a:srgbClr val="052346"/>
                </a:solidFill>
                <a:latin typeface="微软雅黑" panose="020B0503020204020204" pitchFamily="34" charset="-122"/>
              </a:rPr>
              <a:t>API </a:t>
            </a:r>
            <a:r>
              <a:rPr lang="zh-CN" altLang="en-US" sz="1300" b="1">
                <a:solidFill>
                  <a:srgbClr val="052346"/>
                </a:solidFill>
                <a:latin typeface="微软雅黑" panose="020B0503020204020204" pitchFamily="34" charset="-122"/>
              </a:rPr>
              <a:t>封装路径</a:t>
            </a:r>
          </a:p>
        </p:txBody>
      </p:sp>
      <p:sp>
        <p:nvSpPr>
          <p:cNvPr id="18" name="矩形 17">
            <a:extLst>
              <a:ext uri="{FF2B5EF4-FFF2-40B4-BE49-F238E27FC236}">
                <a16:creationId xmlns:a16="http://schemas.microsoft.com/office/drawing/2014/main" id="{938D9695-A879-2D3A-F00B-C65603BB1DBF}"/>
              </a:ext>
            </a:extLst>
          </p:cNvPr>
          <p:cNvSpPr/>
          <p:nvPr/>
        </p:nvSpPr>
        <p:spPr>
          <a:xfrm>
            <a:off x="8699500" y="3860800"/>
            <a:ext cx="3175000" cy="457200"/>
          </a:xfrm>
          <a:prstGeom prst="rect">
            <a:avLst/>
          </a:prstGeom>
          <a:solidFill>
            <a:srgbClr val="FFFFFF"/>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形成接口设计文档</a:t>
            </a:r>
          </a:p>
        </p:txBody>
      </p:sp>
      <p:sp>
        <p:nvSpPr>
          <p:cNvPr id="19" name="矩形 18">
            <a:extLst>
              <a:ext uri="{FF2B5EF4-FFF2-40B4-BE49-F238E27FC236}">
                <a16:creationId xmlns:a16="http://schemas.microsoft.com/office/drawing/2014/main" id="{7CA6ED69-CC93-3B2A-30E7-9EB7E48F48BE}"/>
              </a:ext>
            </a:extLst>
          </p:cNvPr>
          <p:cNvSpPr/>
          <p:nvPr/>
        </p:nvSpPr>
        <p:spPr>
          <a:xfrm>
            <a:off x="1651000" y="5461000"/>
            <a:ext cx="8890000" cy="4826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600" b="1">
                <a:solidFill>
                  <a:srgbClr val="052346"/>
                </a:solidFill>
                <a:latin typeface="微软雅黑" panose="020B0503020204020204" pitchFamily="34" charset="-122"/>
              </a:rPr>
              <a:t>研究目标强调流程闭环：接入、运行、归集、对比和输出。</a:t>
            </a:r>
          </a:p>
        </p:txBody>
      </p:sp>
    </p:spTree>
    <p:extLst>
      <p:ext uri="{BB962C8B-B14F-4D97-AF65-F5344CB8AC3E}">
        <p14:creationId xmlns:p14="http://schemas.microsoft.com/office/powerpoint/2010/main" val="36592876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3DD42-58F1-BF23-F1D1-911D6ECA1AC9}"/>
            </a:ext>
          </a:extLst>
        </p:cNvPr>
        <p:cNvGrpSpPr/>
        <p:nvPr/>
      </p:nvGrpSpPr>
      <p:grpSpPr>
        <a:xfrm>
          <a:off x="0" y="0"/>
          <a:ext cx="0" cy="0"/>
          <a:chOff x="0" y="0"/>
          <a:chExt cx="0" cy="0"/>
        </a:xfrm>
      </p:grpSpPr>
      <p:sp>
        <p:nvSpPr>
          <p:cNvPr id="90" name="文本框 89">
            <a:extLst>
              <a:ext uri="{FF2B5EF4-FFF2-40B4-BE49-F238E27FC236}">
                <a16:creationId xmlns:a16="http://schemas.microsoft.com/office/drawing/2014/main" id="{25103B3E-9250-E6B9-EDDC-2ED6F90CF039}"/>
              </a:ext>
            </a:extLst>
          </p:cNvPr>
          <p:cNvSpPr txBox="1"/>
          <p:nvPr/>
        </p:nvSpPr>
        <p:spPr>
          <a:xfrm>
            <a:off x="115452" y="243436"/>
            <a:ext cx="772964" cy="369332"/>
          </a:xfrm>
          <a:prstGeom prst="rect">
            <a:avLst/>
          </a:prstGeom>
          <a:noFill/>
        </p:spPr>
        <p:txBody>
          <a:bodyPr wrap="square" rtlCol="0">
            <a:spAutoFit/>
          </a:bodyPr>
          <a:lstStyle/>
          <a:p>
            <a:pPr algn="ctr"/>
            <a:r>
              <a:rPr lang="en-US" altLang="zh-CN" b="1">
                <a:solidFill>
                  <a:srgbClr val="00417D"/>
                </a:solidFill>
                <a:latin typeface="微软雅黑" panose="020B0503020204020204" pitchFamily="34" charset="-122"/>
              </a:rPr>
              <a:t>2.3</a:t>
            </a:r>
            <a:endParaRPr lang="zh-CN" altLang="en-US" b="1" dirty="0">
              <a:solidFill>
                <a:srgbClr val="00417D"/>
              </a:solidFill>
              <a:latin typeface="微软雅黑" panose="020B0503020204020204" pitchFamily="34" charset="-122"/>
            </a:endParaRPr>
          </a:p>
        </p:txBody>
      </p:sp>
      <p:sp>
        <p:nvSpPr>
          <p:cNvPr id="92" name="文本框 91">
            <a:extLst>
              <a:ext uri="{FF2B5EF4-FFF2-40B4-BE49-F238E27FC236}">
                <a16:creationId xmlns:a16="http://schemas.microsoft.com/office/drawing/2014/main" id="{C27D3A61-0DEC-BA16-46CE-C27F01A6C4A8}"/>
              </a:ext>
            </a:extLst>
          </p:cNvPr>
          <p:cNvSpPr txBox="1"/>
          <p:nvPr/>
        </p:nvSpPr>
        <p:spPr>
          <a:xfrm>
            <a:off x="946461" y="269201"/>
            <a:ext cx="6440714" cy="477054"/>
          </a:xfrm>
          <a:prstGeom prst="rect">
            <a:avLst/>
          </a:prstGeom>
          <a:noFill/>
        </p:spPr>
        <p:txBody>
          <a:bodyPr wrap="square">
            <a:spAutoFit/>
          </a:bodyPr>
          <a:lstStyle/>
          <a:p>
            <a:r>
              <a:rPr lang="zh-CN" altLang="en-US" sz="2500" b="1">
                <a:solidFill>
                  <a:srgbClr val="00417D"/>
                </a:solidFill>
                <a:latin typeface="微软雅黑" panose="020B0503020204020204" pitchFamily="34" charset="-122"/>
              </a:rPr>
              <a:t>核心功能设计</a:t>
            </a:r>
            <a:endParaRPr lang="zh-CN" altLang="en-US" sz="2500" b="1" dirty="0">
              <a:solidFill>
                <a:srgbClr val="00417D"/>
              </a:solidFill>
              <a:latin typeface="微软雅黑" panose="020B0503020204020204" pitchFamily="34" charset="-122"/>
            </a:endParaRPr>
          </a:p>
        </p:txBody>
      </p:sp>
      <p:sp>
        <p:nvSpPr>
          <p:cNvPr id="6" name="矩形 5">
            <a:extLst>
              <a:ext uri="{FF2B5EF4-FFF2-40B4-BE49-F238E27FC236}">
                <a16:creationId xmlns:a16="http://schemas.microsoft.com/office/drawing/2014/main" id="{204B3276-1D6D-A659-B777-7A8B73B43410}"/>
              </a:ext>
            </a:extLst>
          </p:cNvPr>
          <p:cNvSpPr/>
          <p:nvPr/>
        </p:nvSpPr>
        <p:spPr>
          <a:xfrm>
            <a:off x="488951" y="1148185"/>
            <a:ext cx="11214099" cy="573683"/>
          </a:xfrm>
          <a:prstGeom prst="rect">
            <a:avLst/>
          </a:prstGeom>
          <a:solidFill>
            <a:schemeClr val="accent1"/>
          </a:solidFill>
          <a:ln w="317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3" name="文本框 12">
            <a:extLst>
              <a:ext uri="{FF2B5EF4-FFF2-40B4-BE49-F238E27FC236}">
                <a16:creationId xmlns:a16="http://schemas.microsoft.com/office/drawing/2014/main" id="{17E4BB18-6BF3-E577-1061-8ED13EE92896}"/>
              </a:ext>
            </a:extLst>
          </p:cNvPr>
          <p:cNvSpPr txBox="1"/>
          <p:nvPr/>
        </p:nvSpPr>
        <p:spPr>
          <a:xfrm>
            <a:off x="1848684" y="1204194"/>
            <a:ext cx="8494633" cy="461665"/>
          </a:xfrm>
          <a:prstGeom prst="rect">
            <a:avLst/>
          </a:prstGeom>
          <a:noFill/>
        </p:spPr>
        <p:txBody>
          <a:bodyPr wrap="none">
            <a:spAutoFit/>
          </a:bodyPr>
          <a:lstStyle/>
          <a:p>
            <a:pPr algn="ctr"/>
            <a:r>
              <a:rPr lang="zh-CN" altLang="en-US" sz="2400" b="1" dirty="0">
                <a:solidFill>
                  <a:schemeClr val="accent3"/>
                </a:solidFill>
                <a:latin typeface="微软雅黑" panose="020B0503020204020204" pitchFamily="34" charset="-122"/>
                <a:ea typeface="微软雅黑" panose="020B0503020204020204" pitchFamily="34" charset="-122"/>
              </a:rPr>
              <a:t>选择热带季风区中具有不同岩性的森林生态系统作为研究对象</a:t>
            </a:r>
          </a:p>
        </p:txBody>
      </p:sp>
      <p:grpSp>
        <p:nvGrpSpPr>
          <p:cNvPr id="16" name="组合 15">
            <a:extLst>
              <a:ext uri="{FF2B5EF4-FFF2-40B4-BE49-F238E27FC236}">
                <a16:creationId xmlns:a16="http://schemas.microsoft.com/office/drawing/2014/main" id="{78EB1953-AD90-70D1-101F-4F57C659A9D3}"/>
              </a:ext>
            </a:extLst>
          </p:cNvPr>
          <p:cNvGrpSpPr/>
          <p:nvPr/>
        </p:nvGrpSpPr>
        <p:grpSpPr>
          <a:xfrm>
            <a:off x="485774" y="1706080"/>
            <a:ext cx="11210925" cy="308759"/>
            <a:chOff x="490655" y="3938634"/>
            <a:chExt cx="5140454" cy="204788"/>
          </a:xfrm>
        </p:grpSpPr>
        <p:sp>
          <p:nvSpPr>
            <p:cNvPr id="17" name="任意多边形: 形状 16">
              <a:extLst>
                <a:ext uri="{FF2B5EF4-FFF2-40B4-BE49-F238E27FC236}">
                  <a16:creationId xmlns:a16="http://schemas.microsoft.com/office/drawing/2014/main" id="{1EB340B5-558D-4A4C-C06D-67931BC6006C}"/>
                </a:ext>
              </a:extLst>
            </p:cNvPr>
            <p:cNvSpPr/>
            <p:nvPr/>
          </p:nvSpPr>
          <p:spPr>
            <a:xfrm>
              <a:off x="490655" y="3943397"/>
              <a:ext cx="4600015" cy="200025"/>
            </a:xfrm>
            <a:custGeom>
              <a:avLst/>
              <a:gdLst>
                <a:gd name="connsiteX0" fmla="*/ 0 w 5229225"/>
                <a:gd name="connsiteY0" fmla="*/ 200025 h 200025"/>
                <a:gd name="connsiteX1" fmla="*/ 1047750 w 5229225"/>
                <a:gd name="connsiteY1" fmla="*/ 200025 h 200025"/>
                <a:gd name="connsiteX2" fmla="*/ 5229225 w 5229225"/>
                <a:gd name="connsiteY2" fmla="*/ 0 h 200025"/>
                <a:gd name="connsiteX3" fmla="*/ 642938 w 5229225"/>
                <a:gd name="connsiteY3" fmla="*/ 0 h 200025"/>
                <a:gd name="connsiteX4" fmla="*/ 0 w 5229225"/>
                <a:gd name="connsiteY4" fmla="*/ 200025 h 200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29225" h="200025">
                  <a:moveTo>
                    <a:pt x="0" y="200025"/>
                  </a:moveTo>
                  <a:lnTo>
                    <a:pt x="1047750" y="200025"/>
                  </a:lnTo>
                  <a:lnTo>
                    <a:pt x="5229225" y="0"/>
                  </a:lnTo>
                  <a:lnTo>
                    <a:pt x="642938" y="0"/>
                  </a:lnTo>
                  <a:lnTo>
                    <a:pt x="0" y="200025"/>
                  </a:lnTo>
                  <a:close/>
                </a:path>
              </a:pathLst>
            </a:custGeom>
            <a:gradFill>
              <a:gsLst>
                <a:gs pos="0">
                  <a:schemeClr val="accent1">
                    <a:alpha val="30000"/>
                  </a:schemeClr>
                </a:gs>
                <a:gs pos="100000">
                  <a:schemeClr val="accent1">
                    <a:alpha val="0"/>
                  </a:scheme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8" name="任意多边形: 形状 17">
              <a:extLst>
                <a:ext uri="{FF2B5EF4-FFF2-40B4-BE49-F238E27FC236}">
                  <a16:creationId xmlns:a16="http://schemas.microsoft.com/office/drawing/2014/main" id="{6063A832-FEA9-6E9B-BA1A-55F0A270B69D}"/>
                </a:ext>
              </a:extLst>
            </p:cNvPr>
            <p:cNvSpPr/>
            <p:nvPr/>
          </p:nvSpPr>
          <p:spPr>
            <a:xfrm>
              <a:off x="1068799" y="3943397"/>
              <a:ext cx="4009303" cy="195262"/>
            </a:xfrm>
            <a:custGeom>
              <a:avLst/>
              <a:gdLst>
                <a:gd name="connsiteX0" fmla="*/ 928688 w 4557713"/>
                <a:gd name="connsiteY0" fmla="*/ 195262 h 195262"/>
                <a:gd name="connsiteX1" fmla="*/ 1990725 w 4557713"/>
                <a:gd name="connsiteY1" fmla="*/ 195262 h 195262"/>
                <a:gd name="connsiteX2" fmla="*/ 4557713 w 4557713"/>
                <a:gd name="connsiteY2" fmla="*/ 0 h 195262"/>
                <a:gd name="connsiteX3" fmla="*/ 0 w 4557713"/>
                <a:gd name="connsiteY3" fmla="*/ 0 h 195262"/>
                <a:gd name="connsiteX4" fmla="*/ 928688 w 4557713"/>
                <a:gd name="connsiteY4" fmla="*/ 195262 h 1952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7713" h="195262">
                  <a:moveTo>
                    <a:pt x="928688" y="195262"/>
                  </a:moveTo>
                  <a:lnTo>
                    <a:pt x="1990725" y="195262"/>
                  </a:lnTo>
                  <a:lnTo>
                    <a:pt x="4557713" y="0"/>
                  </a:lnTo>
                  <a:lnTo>
                    <a:pt x="0" y="0"/>
                  </a:lnTo>
                  <a:lnTo>
                    <a:pt x="928688" y="195262"/>
                  </a:lnTo>
                  <a:close/>
                </a:path>
              </a:pathLst>
            </a:custGeom>
            <a:gradFill>
              <a:gsLst>
                <a:gs pos="0">
                  <a:schemeClr val="accent1">
                    <a:alpha val="30000"/>
                  </a:schemeClr>
                </a:gs>
                <a:gs pos="100000">
                  <a:schemeClr val="accent1">
                    <a:alpha val="0"/>
                  </a:scheme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9" name="任意多边形: 形状 18">
              <a:extLst>
                <a:ext uri="{FF2B5EF4-FFF2-40B4-BE49-F238E27FC236}">
                  <a16:creationId xmlns:a16="http://schemas.microsoft.com/office/drawing/2014/main" id="{3051218A-398A-D30B-0989-EADE8277FE7C}"/>
                </a:ext>
              </a:extLst>
            </p:cNvPr>
            <p:cNvSpPr/>
            <p:nvPr/>
          </p:nvSpPr>
          <p:spPr>
            <a:xfrm>
              <a:off x="1064610" y="3943397"/>
              <a:ext cx="4013492" cy="195262"/>
            </a:xfrm>
            <a:custGeom>
              <a:avLst/>
              <a:gdLst>
                <a:gd name="connsiteX0" fmla="*/ 2552700 w 4562475"/>
                <a:gd name="connsiteY0" fmla="*/ 195262 h 195262"/>
                <a:gd name="connsiteX1" fmla="*/ 3600450 w 4562475"/>
                <a:gd name="connsiteY1" fmla="*/ 195262 h 195262"/>
                <a:gd name="connsiteX2" fmla="*/ 4562475 w 4562475"/>
                <a:gd name="connsiteY2" fmla="*/ 0 h 195262"/>
                <a:gd name="connsiteX3" fmla="*/ 0 w 4562475"/>
                <a:gd name="connsiteY3" fmla="*/ 0 h 195262"/>
                <a:gd name="connsiteX4" fmla="*/ 2552700 w 4562475"/>
                <a:gd name="connsiteY4" fmla="*/ 195262 h 1952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2475" h="195262">
                  <a:moveTo>
                    <a:pt x="2552700" y="195262"/>
                  </a:moveTo>
                  <a:lnTo>
                    <a:pt x="3600450" y="195262"/>
                  </a:lnTo>
                  <a:lnTo>
                    <a:pt x="4562475" y="0"/>
                  </a:lnTo>
                  <a:lnTo>
                    <a:pt x="0" y="0"/>
                  </a:lnTo>
                  <a:lnTo>
                    <a:pt x="2552700" y="195262"/>
                  </a:lnTo>
                  <a:close/>
                </a:path>
              </a:pathLst>
            </a:custGeom>
            <a:gradFill>
              <a:gsLst>
                <a:gs pos="0">
                  <a:schemeClr val="accent1">
                    <a:alpha val="30000"/>
                  </a:schemeClr>
                </a:gs>
                <a:gs pos="100000">
                  <a:schemeClr val="accent1">
                    <a:alpha val="0"/>
                  </a:scheme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0" name="任意多边形: 形状 19">
              <a:extLst>
                <a:ext uri="{FF2B5EF4-FFF2-40B4-BE49-F238E27FC236}">
                  <a16:creationId xmlns:a16="http://schemas.microsoft.com/office/drawing/2014/main" id="{357FB65C-0A83-ABDE-A352-DD2F29CE1D1D}"/>
                </a:ext>
              </a:extLst>
            </p:cNvPr>
            <p:cNvSpPr/>
            <p:nvPr/>
          </p:nvSpPr>
          <p:spPr>
            <a:xfrm>
              <a:off x="1085557" y="3938634"/>
              <a:ext cx="4545552" cy="200025"/>
            </a:xfrm>
            <a:custGeom>
              <a:avLst/>
              <a:gdLst>
                <a:gd name="connsiteX0" fmla="*/ 5167313 w 5167313"/>
                <a:gd name="connsiteY0" fmla="*/ 200025 h 200025"/>
                <a:gd name="connsiteX1" fmla="*/ 4138613 w 5167313"/>
                <a:gd name="connsiteY1" fmla="*/ 200025 h 200025"/>
                <a:gd name="connsiteX2" fmla="*/ 0 w 5167313"/>
                <a:gd name="connsiteY2" fmla="*/ 0 h 200025"/>
                <a:gd name="connsiteX3" fmla="*/ 4538663 w 5167313"/>
                <a:gd name="connsiteY3" fmla="*/ 0 h 200025"/>
                <a:gd name="connsiteX4" fmla="*/ 5167313 w 5167313"/>
                <a:gd name="connsiteY4" fmla="*/ 200025 h 200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67313" h="200025">
                  <a:moveTo>
                    <a:pt x="5167313" y="200025"/>
                  </a:moveTo>
                  <a:lnTo>
                    <a:pt x="4138613" y="200025"/>
                  </a:lnTo>
                  <a:lnTo>
                    <a:pt x="0" y="0"/>
                  </a:lnTo>
                  <a:lnTo>
                    <a:pt x="4538663" y="0"/>
                  </a:lnTo>
                  <a:lnTo>
                    <a:pt x="5167313" y="200025"/>
                  </a:lnTo>
                  <a:close/>
                </a:path>
              </a:pathLst>
            </a:custGeom>
            <a:gradFill>
              <a:gsLst>
                <a:gs pos="0">
                  <a:schemeClr val="accent1">
                    <a:alpha val="30000"/>
                  </a:schemeClr>
                </a:gs>
                <a:gs pos="100000">
                  <a:schemeClr val="accent1">
                    <a:alpha val="0"/>
                  </a:scheme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21" name="组合 20">
            <a:extLst>
              <a:ext uri="{FF2B5EF4-FFF2-40B4-BE49-F238E27FC236}">
                <a16:creationId xmlns:a16="http://schemas.microsoft.com/office/drawing/2014/main" id="{A337F25B-75BB-78BD-8329-594463BC8D29}"/>
              </a:ext>
            </a:extLst>
          </p:cNvPr>
          <p:cNvGrpSpPr/>
          <p:nvPr/>
        </p:nvGrpSpPr>
        <p:grpSpPr>
          <a:xfrm>
            <a:off x="2219490" y="2028529"/>
            <a:ext cx="1906711" cy="400110"/>
            <a:chOff x="2033153" y="2026823"/>
            <a:chExt cx="1906711" cy="400110"/>
          </a:xfrm>
        </p:grpSpPr>
        <p:sp>
          <p:nvSpPr>
            <p:cNvPr id="22" name="矩形: 圆角 21">
              <a:extLst>
                <a:ext uri="{FF2B5EF4-FFF2-40B4-BE49-F238E27FC236}">
                  <a16:creationId xmlns:a16="http://schemas.microsoft.com/office/drawing/2014/main" id="{56F2A4A9-3F6C-758C-AEC2-E8A9455B3278}"/>
                </a:ext>
              </a:extLst>
            </p:cNvPr>
            <p:cNvSpPr/>
            <p:nvPr/>
          </p:nvSpPr>
          <p:spPr>
            <a:xfrm>
              <a:off x="2033153" y="2027933"/>
              <a:ext cx="1906711" cy="397891"/>
            </a:xfrm>
            <a:prstGeom prst="roundRect">
              <a:avLst>
                <a:gd name="adj" fmla="val 50000"/>
              </a:avLst>
            </a:prstGeom>
            <a:gradFill flip="none" rotWithShape="1">
              <a:gsLst>
                <a:gs pos="0">
                  <a:schemeClr val="accent1">
                    <a:alpha val="10000"/>
                  </a:schemeClr>
                </a:gs>
                <a:gs pos="30000">
                  <a:schemeClr val="accent1">
                    <a:alpha val="0"/>
                  </a:schemeClr>
                </a:gs>
                <a:gs pos="100000">
                  <a:schemeClr val="accent1">
                    <a:alpha val="10000"/>
                  </a:schemeClr>
                </a:gs>
                <a:gs pos="70000">
                  <a:schemeClr val="accent1">
                    <a:alpha val="0"/>
                  </a:schemeClr>
                </a:gs>
              </a:gsLst>
              <a:lin ang="2700000" scaled="1"/>
              <a:tileRect/>
            </a:gradFill>
            <a:ln w="3175" cap="flat" cmpd="sng" algn="ctr">
              <a:solidFill>
                <a:srgbClr val="0249A1">
                  <a:alpha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3" name="文本框 22">
              <a:extLst>
                <a:ext uri="{FF2B5EF4-FFF2-40B4-BE49-F238E27FC236}">
                  <a16:creationId xmlns:a16="http://schemas.microsoft.com/office/drawing/2014/main" id="{92C5F401-9FE6-D01C-68E1-0975F2BDFCF9}"/>
                </a:ext>
              </a:extLst>
            </p:cNvPr>
            <p:cNvSpPr txBox="1"/>
            <p:nvPr/>
          </p:nvSpPr>
          <p:spPr>
            <a:xfrm>
              <a:off x="2459548" y="2026823"/>
              <a:ext cx="1053920" cy="400110"/>
            </a:xfrm>
            <a:prstGeom prst="rect">
              <a:avLst/>
            </a:prstGeom>
            <a:noFill/>
          </p:spPr>
          <p:txBody>
            <a:bodyPr wrap="square">
              <a:spAutoFit/>
            </a:bodyPr>
            <a:lstStyle/>
            <a:p>
              <a:pPr marL="0" marR="0" lvl="0" indent="0" algn="dist" defTabSz="914400" eaLnBrk="1" fontAlgn="auto" latinLnBrk="0" hangingPunct="1">
                <a:lnSpc>
                  <a:spcPct val="100000"/>
                </a:lnSpc>
                <a:spcBef>
                  <a:spcPct val="0"/>
                </a:spcBef>
                <a:spcAft>
                  <a:spcPts val="0"/>
                </a:spcAft>
                <a:buClrTx/>
                <a:buSzTx/>
                <a:buFontTx/>
                <a:buNone/>
                <a:tabLst/>
                <a:defRPr/>
              </a:pPr>
              <a:r>
                <a:rPr kumimoji="0" lang="zh-CN" altLang="en-US" sz="2000" b="1" i="0" u="none" strike="noStrike" kern="0" cap="none" spc="15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sym typeface="+mn-ea"/>
                </a:rPr>
                <a:t>成果一</a:t>
              </a:r>
            </a:p>
          </p:txBody>
        </p:sp>
      </p:grpSp>
      <p:grpSp>
        <p:nvGrpSpPr>
          <p:cNvPr id="24" name="组合 23">
            <a:extLst>
              <a:ext uri="{FF2B5EF4-FFF2-40B4-BE49-F238E27FC236}">
                <a16:creationId xmlns:a16="http://schemas.microsoft.com/office/drawing/2014/main" id="{1E948EF5-ABCA-ABBC-67C4-B88F8DF67D24}"/>
              </a:ext>
            </a:extLst>
          </p:cNvPr>
          <p:cNvGrpSpPr/>
          <p:nvPr/>
        </p:nvGrpSpPr>
        <p:grpSpPr>
          <a:xfrm>
            <a:off x="5694416" y="2028529"/>
            <a:ext cx="1906711" cy="400110"/>
            <a:chOff x="2033153" y="2026823"/>
            <a:chExt cx="1906711" cy="400110"/>
          </a:xfrm>
        </p:grpSpPr>
        <p:sp>
          <p:nvSpPr>
            <p:cNvPr id="25" name="矩形: 圆角 24">
              <a:extLst>
                <a:ext uri="{FF2B5EF4-FFF2-40B4-BE49-F238E27FC236}">
                  <a16:creationId xmlns:a16="http://schemas.microsoft.com/office/drawing/2014/main" id="{ABB2AA48-84F2-78A0-636A-B843AF0BE02F}"/>
                </a:ext>
              </a:extLst>
            </p:cNvPr>
            <p:cNvSpPr/>
            <p:nvPr/>
          </p:nvSpPr>
          <p:spPr>
            <a:xfrm>
              <a:off x="2033153" y="2027933"/>
              <a:ext cx="1906711" cy="397891"/>
            </a:xfrm>
            <a:prstGeom prst="roundRect">
              <a:avLst>
                <a:gd name="adj" fmla="val 50000"/>
              </a:avLst>
            </a:prstGeom>
            <a:gradFill flip="none" rotWithShape="1">
              <a:gsLst>
                <a:gs pos="0">
                  <a:schemeClr val="accent1">
                    <a:alpha val="10000"/>
                  </a:schemeClr>
                </a:gs>
                <a:gs pos="30000">
                  <a:schemeClr val="accent1">
                    <a:alpha val="0"/>
                  </a:schemeClr>
                </a:gs>
                <a:gs pos="100000">
                  <a:schemeClr val="accent1">
                    <a:alpha val="10000"/>
                  </a:schemeClr>
                </a:gs>
                <a:gs pos="70000">
                  <a:schemeClr val="accent1">
                    <a:alpha val="0"/>
                  </a:schemeClr>
                </a:gs>
              </a:gsLst>
              <a:lin ang="2700000" scaled="1"/>
              <a:tileRect/>
            </a:gradFill>
            <a:ln w="3175" cap="flat" cmpd="sng" algn="ctr">
              <a:solidFill>
                <a:srgbClr val="0249A1">
                  <a:alpha val="50000"/>
                </a:srgbClr>
              </a:solid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26" name="文本框 25">
              <a:extLst>
                <a:ext uri="{FF2B5EF4-FFF2-40B4-BE49-F238E27FC236}">
                  <a16:creationId xmlns:a16="http://schemas.microsoft.com/office/drawing/2014/main" id="{B38D0028-98C4-6B15-9865-E694273DC8B7}"/>
                </a:ext>
              </a:extLst>
            </p:cNvPr>
            <p:cNvSpPr txBox="1"/>
            <p:nvPr/>
          </p:nvSpPr>
          <p:spPr>
            <a:xfrm>
              <a:off x="2459548" y="2026823"/>
              <a:ext cx="1053920" cy="400110"/>
            </a:xfrm>
            <a:prstGeom prst="rect">
              <a:avLst/>
            </a:prstGeom>
            <a:noFill/>
          </p:spPr>
          <p:txBody>
            <a:bodyPr wrap="square">
              <a:spAutoFit/>
            </a:bodyPr>
            <a:lstStyle/>
            <a:p>
              <a:pPr marL="0" marR="0" lvl="0" indent="0" algn="dist" defTabSz="914400" eaLnBrk="1" fontAlgn="auto" latinLnBrk="0" hangingPunct="1">
                <a:lnSpc>
                  <a:spcPct val="100000"/>
                </a:lnSpc>
                <a:spcBef>
                  <a:spcPct val="0"/>
                </a:spcBef>
                <a:spcAft>
                  <a:spcPts val="0"/>
                </a:spcAft>
                <a:buClrTx/>
                <a:buSzTx/>
                <a:buFontTx/>
                <a:buNone/>
                <a:tabLst/>
                <a:defRPr/>
              </a:pPr>
              <a:r>
                <a:rPr kumimoji="0" lang="zh-CN" altLang="en-US" sz="2000" b="1" i="0" u="none" strike="noStrike" kern="0" cap="none" spc="15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sym typeface="+mn-ea"/>
                </a:rPr>
                <a:t>成果二</a:t>
              </a:r>
            </a:p>
          </p:txBody>
        </p:sp>
      </p:grpSp>
      <p:grpSp>
        <p:nvGrpSpPr>
          <p:cNvPr id="35" name="组合 34">
            <a:extLst>
              <a:ext uri="{FF2B5EF4-FFF2-40B4-BE49-F238E27FC236}">
                <a16:creationId xmlns:a16="http://schemas.microsoft.com/office/drawing/2014/main" id="{2ABD8B06-C8C6-7EBA-AE9B-6C0A373452D9}"/>
              </a:ext>
            </a:extLst>
          </p:cNvPr>
          <p:cNvGrpSpPr/>
          <p:nvPr/>
        </p:nvGrpSpPr>
        <p:grpSpPr>
          <a:xfrm>
            <a:off x="9169342" y="2028529"/>
            <a:ext cx="1906711" cy="400110"/>
            <a:chOff x="2033153" y="2026823"/>
            <a:chExt cx="1906711" cy="400110"/>
          </a:xfrm>
        </p:grpSpPr>
        <p:sp>
          <p:nvSpPr>
            <p:cNvPr id="36" name="矩形: 圆角 35">
              <a:extLst>
                <a:ext uri="{FF2B5EF4-FFF2-40B4-BE49-F238E27FC236}">
                  <a16:creationId xmlns:a16="http://schemas.microsoft.com/office/drawing/2014/main" id="{6A045275-8036-6984-3C30-7A1B96368070}"/>
                </a:ext>
              </a:extLst>
            </p:cNvPr>
            <p:cNvSpPr/>
            <p:nvPr/>
          </p:nvSpPr>
          <p:spPr>
            <a:xfrm>
              <a:off x="2033153" y="2027933"/>
              <a:ext cx="1906711" cy="397891"/>
            </a:xfrm>
            <a:prstGeom prst="roundRect">
              <a:avLst>
                <a:gd name="adj" fmla="val 50000"/>
              </a:avLst>
            </a:prstGeom>
            <a:gradFill flip="none" rotWithShape="1">
              <a:gsLst>
                <a:gs pos="0">
                  <a:schemeClr val="accent1">
                    <a:alpha val="10000"/>
                  </a:schemeClr>
                </a:gs>
                <a:gs pos="30000">
                  <a:schemeClr val="accent1">
                    <a:alpha val="0"/>
                  </a:schemeClr>
                </a:gs>
                <a:gs pos="100000">
                  <a:schemeClr val="accent1">
                    <a:alpha val="10000"/>
                  </a:schemeClr>
                </a:gs>
                <a:gs pos="70000">
                  <a:schemeClr val="accent1">
                    <a:alpha val="0"/>
                  </a:schemeClr>
                </a:gs>
              </a:gsLst>
              <a:lin ang="2700000" scaled="1"/>
              <a:tileRect/>
            </a:gradFill>
            <a:ln w="3175" cap="flat" cmpd="sng" algn="ctr">
              <a:solidFill>
                <a:srgbClr val="0249A1">
                  <a:alpha val="50000"/>
                </a:srgbClr>
              </a:solid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37" name="文本框 36">
              <a:extLst>
                <a:ext uri="{FF2B5EF4-FFF2-40B4-BE49-F238E27FC236}">
                  <a16:creationId xmlns:a16="http://schemas.microsoft.com/office/drawing/2014/main" id="{C7722346-123C-7DEC-235E-D36422CD5622}"/>
                </a:ext>
              </a:extLst>
            </p:cNvPr>
            <p:cNvSpPr txBox="1"/>
            <p:nvPr/>
          </p:nvSpPr>
          <p:spPr>
            <a:xfrm>
              <a:off x="2459548" y="2026823"/>
              <a:ext cx="1053920" cy="400110"/>
            </a:xfrm>
            <a:prstGeom prst="rect">
              <a:avLst/>
            </a:prstGeom>
            <a:noFill/>
          </p:spPr>
          <p:txBody>
            <a:bodyPr wrap="square">
              <a:spAutoFit/>
            </a:bodyPr>
            <a:lstStyle/>
            <a:p>
              <a:pPr marL="0" marR="0" lvl="0" indent="0" algn="dist" defTabSz="914400" eaLnBrk="1" fontAlgn="auto" latinLnBrk="0" hangingPunct="1">
                <a:lnSpc>
                  <a:spcPct val="100000"/>
                </a:lnSpc>
                <a:spcBef>
                  <a:spcPct val="0"/>
                </a:spcBef>
                <a:spcAft>
                  <a:spcPts val="0"/>
                </a:spcAft>
                <a:buClrTx/>
                <a:buSzTx/>
                <a:buFontTx/>
                <a:buNone/>
                <a:tabLst/>
                <a:defRPr/>
              </a:pPr>
              <a:r>
                <a:rPr kumimoji="0" lang="zh-CN" altLang="en-US" sz="2000" b="1" i="0" u="none" strike="noStrike" kern="0" cap="none" spc="15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sym typeface="+mn-ea"/>
                </a:rPr>
                <a:t>成果三</a:t>
              </a:r>
            </a:p>
          </p:txBody>
        </p:sp>
      </p:grpSp>
      <p:sp>
        <p:nvSpPr>
          <p:cNvPr id="38" name="矩形: 圆角 37">
            <a:extLst>
              <a:ext uri="{FF2B5EF4-FFF2-40B4-BE49-F238E27FC236}">
                <a16:creationId xmlns:a16="http://schemas.microsoft.com/office/drawing/2014/main" id="{BA3777C8-6A7C-0AF8-37BB-17F0D6E24F82}"/>
              </a:ext>
            </a:extLst>
          </p:cNvPr>
          <p:cNvSpPr/>
          <p:nvPr/>
        </p:nvSpPr>
        <p:spPr>
          <a:xfrm flipH="1">
            <a:off x="475463" y="2909026"/>
            <a:ext cx="1262062" cy="825500"/>
          </a:xfrm>
          <a:prstGeom prst="roundRect">
            <a:avLst>
              <a:gd name="adj" fmla="val 0"/>
            </a:avLst>
          </a:prstGeom>
          <a:gradFill>
            <a:gsLst>
              <a:gs pos="100000">
                <a:schemeClr val="accent2">
                  <a:alpha val="10000"/>
                </a:schemeClr>
              </a:gs>
              <a:gs pos="0">
                <a:schemeClr val="accent2">
                  <a:alpha val="0"/>
                </a:schemeClr>
              </a:gs>
            </a:gsLst>
            <a:lin ang="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9" name="文本框 38">
            <a:extLst>
              <a:ext uri="{FF2B5EF4-FFF2-40B4-BE49-F238E27FC236}">
                <a16:creationId xmlns:a16="http://schemas.microsoft.com/office/drawing/2014/main" id="{7D23964C-1875-6C93-78D7-0165D5A1151B}"/>
              </a:ext>
            </a:extLst>
          </p:cNvPr>
          <p:cNvSpPr txBox="1"/>
          <p:nvPr/>
        </p:nvSpPr>
        <p:spPr>
          <a:xfrm>
            <a:off x="578503" y="3090944"/>
            <a:ext cx="910842" cy="461665"/>
          </a:xfrm>
          <a:prstGeom prst="rect">
            <a:avLst/>
          </a:prstGeom>
          <a:noFill/>
        </p:spPr>
        <p:txBody>
          <a:bodyPr wrap="square">
            <a:spAutoFit/>
          </a:bodyPr>
          <a:lstStyle/>
          <a:p>
            <a:pPr algn="ctr"/>
            <a:r>
              <a:rPr lang="zh-CN" altLang="en-US" sz="2400" b="1" dirty="0">
                <a:solidFill>
                  <a:schemeClr val="accent1"/>
                </a:solidFill>
                <a:latin typeface="微软雅黑" panose="020B0503020204020204" pitchFamily="34" charset="-122"/>
                <a:ea typeface="微软雅黑" panose="020B0503020204020204" pitchFamily="34" charset="-122"/>
                <a:cs typeface="+mn-ea"/>
              </a:rPr>
              <a:t>问 题</a:t>
            </a:r>
          </a:p>
        </p:txBody>
      </p:sp>
      <p:sp>
        <p:nvSpPr>
          <p:cNvPr id="40" name="矩形: 圆角 39">
            <a:extLst>
              <a:ext uri="{FF2B5EF4-FFF2-40B4-BE49-F238E27FC236}">
                <a16:creationId xmlns:a16="http://schemas.microsoft.com/office/drawing/2014/main" id="{4FE91C36-DE1D-7ECE-23BA-505ED9EC4BCD}"/>
              </a:ext>
            </a:extLst>
          </p:cNvPr>
          <p:cNvSpPr/>
          <p:nvPr/>
        </p:nvSpPr>
        <p:spPr>
          <a:xfrm flipH="1">
            <a:off x="475463" y="4187718"/>
            <a:ext cx="1262062" cy="825500"/>
          </a:xfrm>
          <a:prstGeom prst="roundRect">
            <a:avLst>
              <a:gd name="adj" fmla="val 0"/>
            </a:avLst>
          </a:prstGeom>
          <a:gradFill>
            <a:gsLst>
              <a:gs pos="100000">
                <a:schemeClr val="accent2">
                  <a:alpha val="10000"/>
                </a:schemeClr>
              </a:gs>
              <a:gs pos="0">
                <a:schemeClr val="accent2">
                  <a:alpha val="0"/>
                </a:schemeClr>
              </a:gs>
            </a:gsLst>
            <a:lin ang="0" scaled="1"/>
          </a:gradFill>
          <a:ln w="12700" cap="flat" cmpd="sng" algn="ctr">
            <a:no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41" name="文本框 40">
            <a:extLst>
              <a:ext uri="{FF2B5EF4-FFF2-40B4-BE49-F238E27FC236}">
                <a16:creationId xmlns:a16="http://schemas.microsoft.com/office/drawing/2014/main" id="{58F343BA-F168-2AE3-87BE-36512791E7F7}"/>
              </a:ext>
            </a:extLst>
          </p:cNvPr>
          <p:cNvSpPr txBox="1"/>
          <p:nvPr/>
        </p:nvSpPr>
        <p:spPr>
          <a:xfrm>
            <a:off x="578503" y="4369636"/>
            <a:ext cx="910842" cy="461665"/>
          </a:xfrm>
          <a:prstGeom prst="rect">
            <a:avLst/>
          </a:prstGeom>
          <a:noFill/>
        </p:spPr>
        <p:txBody>
          <a:bodyPr wrap="square">
            <a:spAutoFit/>
          </a:bodyPr>
          <a:lstStyle/>
          <a:p>
            <a:pPr algn="ctr"/>
            <a:r>
              <a:rPr lang="zh-CN" altLang="en-US" sz="2400" b="1" dirty="0">
                <a:solidFill>
                  <a:schemeClr val="accent1"/>
                </a:solidFill>
                <a:latin typeface="微软雅黑" panose="020B0503020204020204" pitchFamily="34" charset="-122"/>
                <a:ea typeface="微软雅黑" panose="020B0503020204020204" pitchFamily="34" charset="-122"/>
                <a:cs typeface="+mn-ea"/>
              </a:rPr>
              <a:t>思 路</a:t>
            </a:r>
          </a:p>
        </p:txBody>
      </p:sp>
      <p:sp>
        <p:nvSpPr>
          <p:cNvPr id="51" name="矩形: 圆角 50">
            <a:extLst>
              <a:ext uri="{FF2B5EF4-FFF2-40B4-BE49-F238E27FC236}">
                <a16:creationId xmlns:a16="http://schemas.microsoft.com/office/drawing/2014/main" id="{905CECEA-C436-4B9B-27CE-15031E7216DF}"/>
              </a:ext>
            </a:extLst>
          </p:cNvPr>
          <p:cNvSpPr/>
          <p:nvPr/>
        </p:nvSpPr>
        <p:spPr>
          <a:xfrm flipH="1">
            <a:off x="475463" y="5466411"/>
            <a:ext cx="1262062" cy="825500"/>
          </a:xfrm>
          <a:prstGeom prst="roundRect">
            <a:avLst>
              <a:gd name="adj" fmla="val 0"/>
            </a:avLst>
          </a:prstGeom>
          <a:gradFill>
            <a:gsLst>
              <a:gs pos="100000">
                <a:schemeClr val="accent2">
                  <a:alpha val="10000"/>
                </a:schemeClr>
              </a:gs>
              <a:gs pos="0">
                <a:schemeClr val="accent2">
                  <a:alpha val="0"/>
                </a:schemeClr>
              </a:gs>
            </a:gsLst>
            <a:lin ang="0" scaled="1"/>
          </a:gradFill>
          <a:ln w="12700" cap="flat" cmpd="sng" algn="ctr">
            <a:no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52" name="文本框 51">
            <a:extLst>
              <a:ext uri="{FF2B5EF4-FFF2-40B4-BE49-F238E27FC236}">
                <a16:creationId xmlns:a16="http://schemas.microsoft.com/office/drawing/2014/main" id="{9C855167-6E48-7646-F165-2DDF82402DFA}"/>
              </a:ext>
            </a:extLst>
          </p:cNvPr>
          <p:cNvSpPr txBox="1"/>
          <p:nvPr/>
        </p:nvSpPr>
        <p:spPr>
          <a:xfrm>
            <a:off x="578503" y="5648329"/>
            <a:ext cx="910842" cy="461665"/>
          </a:xfrm>
          <a:prstGeom prst="rect">
            <a:avLst/>
          </a:prstGeom>
          <a:noFill/>
        </p:spPr>
        <p:txBody>
          <a:bodyPr wrap="square">
            <a:spAutoFit/>
          </a:bodyPr>
          <a:lstStyle/>
          <a:p>
            <a:pPr algn="ctr"/>
            <a:r>
              <a:rPr lang="zh-CN" altLang="en-US" sz="2400" b="1" dirty="0">
                <a:solidFill>
                  <a:schemeClr val="accent1"/>
                </a:solidFill>
                <a:latin typeface="微软雅黑" panose="020B0503020204020204" pitchFamily="34" charset="-122"/>
                <a:ea typeface="微软雅黑" panose="020B0503020204020204" pitchFamily="34" charset="-122"/>
                <a:cs typeface="+mn-ea"/>
              </a:rPr>
              <a:t>技 术</a:t>
            </a:r>
          </a:p>
        </p:txBody>
      </p:sp>
      <p:sp>
        <p:nvSpPr>
          <p:cNvPr id="53" name="矩形 52">
            <a:extLst>
              <a:ext uri="{FF2B5EF4-FFF2-40B4-BE49-F238E27FC236}">
                <a16:creationId xmlns:a16="http://schemas.microsoft.com/office/drawing/2014/main" id="{4E0BF1BB-346F-55F9-9689-106CA5E9BC1C}"/>
              </a:ext>
            </a:extLst>
          </p:cNvPr>
          <p:cNvSpPr/>
          <p:nvPr/>
        </p:nvSpPr>
        <p:spPr>
          <a:xfrm>
            <a:off x="1592492" y="2612138"/>
            <a:ext cx="3160706" cy="3976661"/>
          </a:xfrm>
          <a:prstGeom prst="rect">
            <a:avLst/>
          </a:prstGeom>
          <a:solidFill>
            <a:sysClr val="window" lastClr="FFFFFF"/>
          </a:solidFill>
          <a:ln w="3175" cap="flat" cmpd="sng" algn="ctr">
            <a:gradFill flip="none" rotWithShape="1">
              <a:gsLst>
                <a:gs pos="0">
                  <a:schemeClr val="accent1">
                    <a:alpha val="50000"/>
                  </a:schemeClr>
                </a:gs>
                <a:gs pos="100000">
                  <a:schemeClr val="accent1">
                    <a:alpha val="0"/>
                  </a:schemeClr>
                </a:gs>
              </a:gsLst>
              <a:lin ang="5400000" scaled="1"/>
              <a:tileRect/>
            </a:gradFill>
            <a:prstDash val="solid"/>
            <a:miter lim="800000"/>
          </a:ln>
          <a:effectLst>
            <a:outerShdw blurRad="190500" dist="25400" algn="ctr" rotWithShape="0">
              <a:schemeClr val="accent1">
                <a:alpha val="8000"/>
              </a:scheme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4" name="矩形 53">
            <a:extLst>
              <a:ext uri="{FF2B5EF4-FFF2-40B4-BE49-F238E27FC236}">
                <a16:creationId xmlns:a16="http://schemas.microsoft.com/office/drawing/2014/main" id="{D16C79F1-6191-5EFA-B569-569A4A32FD81}"/>
              </a:ext>
            </a:extLst>
          </p:cNvPr>
          <p:cNvSpPr/>
          <p:nvPr/>
        </p:nvSpPr>
        <p:spPr>
          <a:xfrm>
            <a:off x="5067418" y="2612138"/>
            <a:ext cx="3160706" cy="3976661"/>
          </a:xfrm>
          <a:prstGeom prst="rect">
            <a:avLst/>
          </a:prstGeom>
          <a:solidFill>
            <a:sysClr val="window" lastClr="FFFFFF"/>
          </a:solidFill>
          <a:ln w="3175" cap="flat" cmpd="sng" algn="ctr">
            <a:gradFill flip="none" rotWithShape="1">
              <a:gsLst>
                <a:gs pos="0">
                  <a:schemeClr val="accent1">
                    <a:alpha val="50000"/>
                  </a:schemeClr>
                </a:gs>
                <a:gs pos="100000">
                  <a:schemeClr val="accent1">
                    <a:alpha val="0"/>
                  </a:schemeClr>
                </a:gs>
              </a:gsLst>
              <a:lin ang="5400000" scaled="1"/>
              <a:tileRect/>
            </a:gradFill>
            <a:prstDash val="solid"/>
            <a:miter lim="800000"/>
          </a:ln>
          <a:effectLst>
            <a:outerShdw blurRad="190500" dist="25400" algn="ctr" rotWithShape="0">
              <a:schemeClr val="accent1">
                <a:alpha val="8000"/>
              </a:schemeClr>
            </a:outerShdw>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55" name="矩形 54">
            <a:extLst>
              <a:ext uri="{FF2B5EF4-FFF2-40B4-BE49-F238E27FC236}">
                <a16:creationId xmlns:a16="http://schemas.microsoft.com/office/drawing/2014/main" id="{D12842D0-00DC-D431-3515-614FA2B126BE}"/>
              </a:ext>
            </a:extLst>
          </p:cNvPr>
          <p:cNvSpPr/>
          <p:nvPr/>
        </p:nvSpPr>
        <p:spPr>
          <a:xfrm>
            <a:off x="8542344" y="2612138"/>
            <a:ext cx="3160706" cy="3976661"/>
          </a:xfrm>
          <a:prstGeom prst="rect">
            <a:avLst/>
          </a:prstGeom>
          <a:solidFill>
            <a:sysClr val="window" lastClr="FFFFFF"/>
          </a:solidFill>
          <a:ln w="3175" cap="flat" cmpd="sng" algn="ctr">
            <a:gradFill flip="none" rotWithShape="1">
              <a:gsLst>
                <a:gs pos="0">
                  <a:schemeClr val="accent1">
                    <a:alpha val="50000"/>
                  </a:schemeClr>
                </a:gs>
                <a:gs pos="100000">
                  <a:schemeClr val="accent1">
                    <a:alpha val="0"/>
                  </a:schemeClr>
                </a:gs>
              </a:gsLst>
              <a:lin ang="5400000" scaled="1"/>
              <a:tileRect/>
            </a:gradFill>
            <a:prstDash val="solid"/>
            <a:miter lim="800000"/>
          </a:ln>
          <a:effectLst>
            <a:outerShdw blurRad="190500" dist="25400" algn="ctr" rotWithShape="0">
              <a:schemeClr val="accent1">
                <a:alpha val="8000"/>
              </a:schemeClr>
            </a:outerShdw>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56" name="矩形 55">
            <a:extLst>
              <a:ext uri="{FF2B5EF4-FFF2-40B4-BE49-F238E27FC236}">
                <a16:creationId xmlns:a16="http://schemas.microsoft.com/office/drawing/2014/main" id="{4AC2AEAD-5504-5947-BA36-366E67D5A7D1}"/>
              </a:ext>
            </a:extLst>
          </p:cNvPr>
          <p:cNvSpPr/>
          <p:nvPr/>
        </p:nvSpPr>
        <p:spPr>
          <a:xfrm>
            <a:off x="1592385" y="2901845"/>
            <a:ext cx="3160706" cy="832680"/>
          </a:xfrm>
          <a:prstGeom prst="rect">
            <a:avLst/>
          </a:prstGeom>
          <a:solidFill>
            <a:schemeClr val="accent2">
              <a:alpha val="7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7" name="矩形 56">
            <a:extLst>
              <a:ext uri="{FF2B5EF4-FFF2-40B4-BE49-F238E27FC236}">
                <a16:creationId xmlns:a16="http://schemas.microsoft.com/office/drawing/2014/main" id="{7C14FEFA-3FA9-FF21-A0EC-C5BC22762BDB}"/>
              </a:ext>
            </a:extLst>
          </p:cNvPr>
          <p:cNvSpPr/>
          <p:nvPr/>
        </p:nvSpPr>
        <p:spPr>
          <a:xfrm>
            <a:off x="5067418" y="2901845"/>
            <a:ext cx="3160706" cy="832680"/>
          </a:xfrm>
          <a:prstGeom prst="rect">
            <a:avLst/>
          </a:prstGeom>
          <a:solidFill>
            <a:schemeClr val="accent2">
              <a:alpha val="7000"/>
            </a:schemeClr>
          </a:solidFill>
          <a:ln w="12700" cap="flat" cmpd="sng" algn="ctr">
            <a:no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58" name="矩形 57">
            <a:extLst>
              <a:ext uri="{FF2B5EF4-FFF2-40B4-BE49-F238E27FC236}">
                <a16:creationId xmlns:a16="http://schemas.microsoft.com/office/drawing/2014/main" id="{64959D66-F3F3-D977-9C4D-D3ED3F39250A}"/>
              </a:ext>
            </a:extLst>
          </p:cNvPr>
          <p:cNvSpPr/>
          <p:nvPr/>
        </p:nvSpPr>
        <p:spPr>
          <a:xfrm>
            <a:off x="8542344" y="2901845"/>
            <a:ext cx="3160706" cy="832680"/>
          </a:xfrm>
          <a:prstGeom prst="rect">
            <a:avLst/>
          </a:prstGeom>
          <a:solidFill>
            <a:schemeClr val="accent2">
              <a:alpha val="7000"/>
            </a:schemeClr>
          </a:solidFill>
          <a:ln w="12700" cap="flat" cmpd="sng" algn="ctr">
            <a:no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59" name="等腰三角形 58">
            <a:extLst>
              <a:ext uri="{FF2B5EF4-FFF2-40B4-BE49-F238E27FC236}">
                <a16:creationId xmlns:a16="http://schemas.microsoft.com/office/drawing/2014/main" id="{D59EDA26-FD78-12C7-586B-35D6B8EBC0B1}"/>
              </a:ext>
            </a:extLst>
          </p:cNvPr>
          <p:cNvSpPr/>
          <p:nvPr/>
        </p:nvSpPr>
        <p:spPr>
          <a:xfrm flipV="1">
            <a:off x="3065642" y="3828502"/>
            <a:ext cx="214192" cy="111065"/>
          </a:xfrm>
          <a:prstGeom prst="triangle">
            <a:avLst/>
          </a:prstGeom>
          <a:solidFill>
            <a:schemeClr val="accent1"/>
          </a:solidFill>
          <a:ln w="12700" cap="flat" cmpd="sng" algn="ctr">
            <a:noFill/>
            <a:prstDash val="solid"/>
            <a:miter lim="800000"/>
          </a:ln>
          <a:effectLst>
            <a:outerShdw blurRad="76200" sx="102000" sy="1020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60" name="等腰三角形 59">
            <a:extLst>
              <a:ext uri="{FF2B5EF4-FFF2-40B4-BE49-F238E27FC236}">
                <a16:creationId xmlns:a16="http://schemas.microsoft.com/office/drawing/2014/main" id="{3452B0F5-AC3C-96DF-2AB7-962C02284681}"/>
              </a:ext>
            </a:extLst>
          </p:cNvPr>
          <p:cNvSpPr/>
          <p:nvPr/>
        </p:nvSpPr>
        <p:spPr>
          <a:xfrm flipV="1">
            <a:off x="6540675" y="3854708"/>
            <a:ext cx="214192" cy="111065"/>
          </a:xfrm>
          <a:prstGeom prst="triangle">
            <a:avLst/>
          </a:prstGeom>
          <a:solidFill>
            <a:schemeClr val="accent1"/>
          </a:solidFill>
          <a:ln w="12700" cap="flat" cmpd="sng" algn="ctr">
            <a:noFill/>
            <a:prstDash val="solid"/>
            <a:miter lim="800000"/>
          </a:ln>
          <a:effectLst>
            <a:outerShdw blurRad="76200" sx="102000" sy="1020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61" name="等腰三角形 60">
            <a:extLst>
              <a:ext uri="{FF2B5EF4-FFF2-40B4-BE49-F238E27FC236}">
                <a16:creationId xmlns:a16="http://schemas.microsoft.com/office/drawing/2014/main" id="{43983FB1-228E-6A9D-5963-092096A90D04}"/>
              </a:ext>
            </a:extLst>
          </p:cNvPr>
          <p:cNvSpPr/>
          <p:nvPr/>
        </p:nvSpPr>
        <p:spPr>
          <a:xfrm flipV="1">
            <a:off x="10015601" y="3854708"/>
            <a:ext cx="214192" cy="111065"/>
          </a:xfrm>
          <a:prstGeom prst="triangle">
            <a:avLst/>
          </a:prstGeom>
          <a:solidFill>
            <a:schemeClr val="accent1"/>
          </a:solidFill>
          <a:ln w="12700" cap="flat" cmpd="sng" algn="ctr">
            <a:noFill/>
            <a:prstDash val="solid"/>
            <a:miter lim="800000"/>
          </a:ln>
          <a:effectLst>
            <a:outerShdw blurRad="76200" sx="102000" sy="1020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62" name="矩形 61">
            <a:extLst>
              <a:ext uri="{FF2B5EF4-FFF2-40B4-BE49-F238E27FC236}">
                <a16:creationId xmlns:a16="http://schemas.microsoft.com/office/drawing/2014/main" id="{459BCD59-3B30-BDB8-DAC9-16149B016808}"/>
              </a:ext>
            </a:extLst>
          </p:cNvPr>
          <p:cNvSpPr/>
          <p:nvPr/>
        </p:nvSpPr>
        <p:spPr>
          <a:xfrm>
            <a:off x="1592385" y="5466814"/>
            <a:ext cx="3160706" cy="832680"/>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3" name="矩形 62">
            <a:extLst>
              <a:ext uri="{FF2B5EF4-FFF2-40B4-BE49-F238E27FC236}">
                <a16:creationId xmlns:a16="http://schemas.microsoft.com/office/drawing/2014/main" id="{7720F624-449C-5BCF-EECD-DF9D9BFB46A4}"/>
              </a:ext>
            </a:extLst>
          </p:cNvPr>
          <p:cNvSpPr/>
          <p:nvPr/>
        </p:nvSpPr>
        <p:spPr>
          <a:xfrm>
            <a:off x="1778493" y="4033544"/>
            <a:ext cx="2788704" cy="1134251"/>
          </a:xfrm>
          <a:prstGeom prst="rect">
            <a:avLst/>
          </a:prstGeom>
          <a:gradFill flip="none" rotWithShape="1">
            <a:gsLst>
              <a:gs pos="25000">
                <a:schemeClr val="accent3"/>
              </a:gs>
              <a:gs pos="99083">
                <a:schemeClr val="bg1"/>
              </a:gs>
            </a:gsLst>
            <a:lin ang="5400000" scaled="1"/>
            <a:tileRect/>
          </a:gradFill>
          <a:ln w="3175" cap="flat" cmpd="sng" algn="ctr">
            <a:solidFill>
              <a:srgbClr val="0B4FA1"/>
            </a:solidFill>
            <a:prstDash val="solid"/>
            <a:miter lim="800000"/>
          </a:ln>
          <a:effectLst>
            <a:outerShdw blurRad="304800" sx="102000" sy="102000" algn="ctr" rotWithShape="0">
              <a:schemeClr val="accent1">
                <a:alpha val="16000"/>
              </a:schemeClr>
            </a:outerShdw>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64" name="等腰三角形 63">
            <a:extLst>
              <a:ext uri="{FF2B5EF4-FFF2-40B4-BE49-F238E27FC236}">
                <a16:creationId xmlns:a16="http://schemas.microsoft.com/office/drawing/2014/main" id="{3802D0B9-20A9-55E5-0B98-E787D98C6305}"/>
              </a:ext>
            </a:extLst>
          </p:cNvPr>
          <p:cNvSpPr/>
          <p:nvPr/>
        </p:nvSpPr>
        <p:spPr>
          <a:xfrm flipV="1">
            <a:off x="3065642" y="5261772"/>
            <a:ext cx="214192" cy="111065"/>
          </a:xfrm>
          <a:prstGeom prst="triangle">
            <a:avLst/>
          </a:prstGeom>
          <a:solidFill>
            <a:schemeClr val="accent1"/>
          </a:solidFill>
          <a:ln w="12700" cap="flat" cmpd="sng" algn="ctr">
            <a:noFill/>
            <a:prstDash val="solid"/>
            <a:miter lim="800000"/>
          </a:ln>
          <a:effectLst>
            <a:outerShdw blurRad="76200" sx="102000" sy="1020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65" name="文本框 64">
            <a:extLst>
              <a:ext uri="{FF2B5EF4-FFF2-40B4-BE49-F238E27FC236}">
                <a16:creationId xmlns:a16="http://schemas.microsoft.com/office/drawing/2014/main" id="{BFE24891-0057-15FE-6336-F130CDF367A4}"/>
              </a:ext>
            </a:extLst>
          </p:cNvPr>
          <p:cNvSpPr txBox="1"/>
          <p:nvPr/>
        </p:nvSpPr>
        <p:spPr>
          <a:xfrm>
            <a:off x="1762681" y="2939804"/>
            <a:ext cx="2891781" cy="705962"/>
          </a:xfrm>
          <a:prstGeom prst="rect">
            <a:avLst/>
          </a:prstGeom>
          <a:noFill/>
        </p:spPr>
        <p:txBody>
          <a:bodyPr wrap="square">
            <a:spAutoFit/>
          </a:bodyPr>
          <a:lstStyle/>
          <a:p>
            <a:pPr>
              <a:lnSpc>
                <a:spcPct val="130000"/>
              </a:lnSpc>
            </a:pPr>
            <a:r>
              <a:rPr lang="zh-CN" altLang="en-US" sz="1600" dirty="0">
                <a:solidFill>
                  <a:srgbClr val="060607"/>
                </a:solidFill>
                <a:latin typeface="微软雅黑" panose="020B0503020204020204" pitchFamily="34" charset="-122"/>
                <a:ea typeface="微软雅黑" panose="020B0503020204020204" pitchFamily="34" charset="-122"/>
              </a:rPr>
              <a:t>带季风区气候复杂，干旱的时空分布不均</a:t>
            </a:r>
            <a:endParaRPr lang="zh-CN" altLang="en-US" sz="1600" dirty="0">
              <a:solidFill>
                <a:prstClr val="black"/>
              </a:solidFill>
              <a:latin typeface="微软雅黑" panose="020B0503020204020204" pitchFamily="34" charset="-122"/>
              <a:ea typeface="微软雅黑" panose="020B0503020204020204" pitchFamily="34" charset="-122"/>
            </a:endParaRPr>
          </a:p>
        </p:txBody>
      </p:sp>
      <p:sp>
        <p:nvSpPr>
          <p:cNvPr id="66" name="文本框 65">
            <a:extLst>
              <a:ext uri="{FF2B5EF4-FFF2-40B4-BE49-F238E27FC236}">
                <a16:creationId xmlns:a16="http://schemas.microsoft.com/office/drawing/2014/main" id="{56EF7A17-F78E-CFCE-9C42-83AA064815CF}"/>
              </a:ext>
            </a:extLst>
          </p:cNvPr>
          <p:cNvSpPr txBox="1"/>
          <p:nvPr/>
        </p:nvSpPr>
        <p:spPr>
          <a:xfrm>
            <a:off x="5238662" y="2939804"/>
            <a:ext cx="2891781" cy="705962"/>
          </a:xfrm>
          <a:prstGeom prst="rect">
            <a:avLst/>
          </a:prstGeom>
          <a:noFill/>
        </p:spPr>
        <p:txBody>
          <a:bodyPr wrap="square">
            <a:spAutoFit/>
          </a:bodyPr>
          <a:lstStyle/>
          <a:p>
            <a:pPr>
              <a:lnSpc>
                <a:spcPct val="130000"/>
              </a:lnSpc>
            </a:pPr>
            <a:r>
              <a:rPr lang="zh-CN" altLang="en-US" sz="1600" dirty="0">
                <a:solidFill>
                  <a:srgbClr val="060607"/>
                </a:solidFill>
                <a:latin typeface="微软雅黑" panose="020B0503020204020204" pitchFamily="34" charset="-122"/>
                <a:ea typeface="微软雅黑" panose="020B0503020204020204" pitchFamily="34" charset="-122"/>
              </a:rPr>
              <a:t>岩溶区土壤层较薄，保水能力弱，植物更容易受到干旱胁迫</a:t>
            </a:r>
            <a:endParaRPr lang="zh-CN" altLang="en-US" sz="1600" dirty="0">
              <a:solidFill>
                <a:prstClr val="black"/>
              </a:solidFill>
              <a:latin typeface="微软雅黑" panose="020B0503020204020204" pitchFamily="34" charset="-122"/>
              <a:ea typeface="微软雅黑" panose="020B0503020204020204" pitchFamily="34" charset="-122"/>
            </a:endParaRPr>
          </a:p>
        </p:txBody>
      </p:sp>
      <p:sp>
        <p:nvSpPr>
          <p:cNvPr id="67" name="文本框 66">
            <a:extLst>
              <a:ext uri="{FF2B5EF4-FFF2-40B4-BE49-F238E27FC236}">
                <a16:creationId xmlns:a16="http://schemas.microsoft.com/office/drawing/2014/main" id="{314CA427-B0F6-5C83-FFE1-E2F2F78E15CD}"/>
              </a:ext>
            </a:extLst>
          </p:cNvPr>
          <p:cNvSpPr txBox="1"/>
          <p:nvPr/>
        </p:nvSpPr>
        <p:spPr>
          <a:xfrm>
            <a:off x="8717890" y="2939804"/>
            <a:ext cx="2891781" cy="705962"/>
          </a:xfrm>
          <a:prstGeom prst="rect">
            <a:avLst/>
          </a:prstGeom>
          <a:noFill/>
        </p:spPr>
        <p:txBody>
          <a:bodyPr wrap="square">
            <a:spAutoFit/>
          </a:bodyPr>
          <a:lstStyle/>
          <a:p>
            <a:pPr>
              <a:lnSpc>
                <a:spcPct val="130000"/>
              </a:lnSpc>
            </a:pPr>
            <a:r>
              <a:rPr lang="zh-CN" altLang="en-US" sz="1600" dirty="0">
                <a:solidFill>
                  <a:srgbClr val="060607"/>
                </a:solidFill>
                <a:latin typeface="微软雅黑" panose="020B0503020204020204" pitchFamily="34" charset="-122"/>
                <a:ea typeface="微软雅黑" panose="020B0503020204020204" pitchFamily="34" charset="-122"/>
              </a:rPr>
              <a:t>不同岩性区域的土壤水、地下水和降水的同位素组成差异</a:t>
            </a:r>
            <a:endParaRPr lang="zh-CN" altLang="en-US" sz="1600" dirty="0">
              <a:solidFill>
                <a:prstClr val="black"/>
              </a:solidFill>
              <a:latin typeface="微软雅黑" panose="020B0503020204020204" pitchFamily="34" charset="-122"/>
              <a:ea typeface="微软雅黑" panose="020B0503020204020204" pitchFamily="34" charset="-122"/>
            </a:endParaRPr>
          </a:p>
        </p:txBody>
      </p:sp>
      <p:sp>
        <p:nvSpPr>
          <p:cNvPr id="68" name="矩形 67">
            <a:extLst>
              <a:ext uri="{FF2B5EF4-FFF2-40B4-BE49-F238E27FC236}">
                <a16:creationId xmlns:a16="http://schemas.microsoft.com/office/drawing/2014/main" id="{C0898607-B318-3E2E-1246-3DE6C6BEE82C}"/>
              </a:ext>
            </a:extLst>
          </p:cNvPr>
          <p:cNvSpPr/>
          <p:nvPr/>
        </p:nvSpPr>
        <p:spPr>
          <a:xfrm>
            <a:off x="5253419" y="4033544"/>
            <a:ext cx="2788704" cy="1134251"/>
          </a:xfrm>
          <a:prstGeom prst="rect">
            <a:avLst/>
          </a:prstGeom>
          <a:gradFill flip="none" rotWithShape="1">
            <a:gsLst>
              <a:gs pos="25000">
                <a:schemeClr val="accent3"/>
              </a:gs>
              <a:gs pos="99083">
                <a:schemeClr val="bg1"/>
              </a:gs>
            </a:gsLst>
            <a:lin ang="5400000" scaled="1"/>
            <a:tileRect/>
          </a:gradFill>
          <a:ln w="3175" cap="flat" cmpd="sng" algn="ctr">
            <a:solidFill>
              <a:srgbClr val="0B4FA1"/>
            </a:solidFill>
            <a:prstDash val="solid"/>
            <a:miter lim="800000"/>
          </a:ln>
          <a:effectLst>
            <a:outerShdw blurRad="304800" sx="102000" sy="102000" algn="ctr" rotWithShape="0">
              <a:schemeClr val="accent1">
                <a:alpha val="16000"/>
              </a:schemeClr>
            </a:outerShdw>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69" name="矩形 68">
            <a:extLst>
              <a:ext uri="{FF2B5EF4-FFF2-40B4-BE49-F238E27FC236}">
                <a16:creationId xmlns:a16="http://schemas.microsoft.com/office/drawing/2014/main" id="{D92AC5AE-1008-76D1-98E6-9D052A98ED0C}"/>
              </a:ext>
            </a:extLst>
          </p:cNvPr>
          <p:cNvSpPr/>
          <p:nvPr/>
        </p:nvSpPr>
        <p:spPr>
          <a:xfrm>
            <a:off x="8728345" y="4033544"/>
            <a:ext cx="2788704" cy="1134251"/>
          </a:xfrm>
          <a:prstGeom prst="rect">
            <a:avLst/>
          </a:prstGeom>
          <a:gradFill flip="none" rotWithShape="1">
            <a:gsLst>
              <a:gs pos="25000">
                <a:schemeClr val="accent3"/>
              </a:gs>
              <a:gs pos="99083">
                <a:schemeClr val="bg1"/>
              </a:gs>
            </a:gsLst>
            <a:lin ang="5400000" scaled="1"/>
            <a:tileRect/>
          </a:gradFill>
          <a:ln w="3175" cap="flat" cmpd="sng" algn="ctr">
            <a:solidFill>
              <a:srgbClr val="0B4FA1"/>
            </a:solidFill>
            <a:prstDash val="solid"/>
            <a:miter lim="800000"/>
          </a:ln>
          <a:effectLst>
            <a:outerShdw blurRad="304800" sx="102000" sy="102000" algn="ctr" rotWithShape="0">
              <a:schemeClr val="accent1">
                <a:alpha val="16000"/>
              </a:schemeClr>
            </a:outerShdw>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70" name="矩形 69">
            <a:extLst>
              <a:ext uri="{FF2B5EF4-FFF2-40B4-BE49-F238E27FC236}">
                <a16:creationId xmlns:a16="http://schemas.microsoft.com/office/drawing/2014/main" id="{EFCB47EC-864B-AAD5-A472-00AA391549FE}"/>
              </a:ext>
            </a:extLst>
          </p:cNvPr>
          <p:cNvSpPr/>
          <p:nvPr/>
        </p:nvSpPr>
        <p:spPr>
          <a:xfrm>
            <a:off x="5067365" y="5466814"/>
            <a:ext cx="3160706" cy="832680"/>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1" name="矩形 70">
            <a:extLst>
              <a:ext uri="{FF2B5EF4-FFF2-40B4-BE49-F238E27FC236}">
                <a16:creationId xmlns:a16="http://schemas.microsoft.com/office/drawing/2014/main" id="{D499CDC0-6EAF-4CDE-EC69-384809F6400E}"/>
              </a:ext>
            </a:extLst>
          </p:cNvPr>
          <p:cNvSpPr/>
          <p:nvPr/>
        </p:nvSpPr>
        <p:spPr>
          <a:xfrm>
            <a:off x="8542344" y="5466814"/>
            <a:ext cx="3160706" cy="832680"/>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2" name="文本框 71">
            <a:extLst>
              <a:ext uri="{FF2B5EF4-FFF2-40B4-BE49-F238E27FC236}">
                <a16:creationId xmlns:a16="http://schemas.microsoft.com/office/drawing/2014/main" id="{328EC5CD-7D02-F580-116B-8C1346812E9D}"/>
              </a:ext>
            </a:extLst>
          </p:cNvPr>
          <p:cNvSpPr txBox="1"/>
          <p:nvPr/>
        </p:nvSpPr>
        <p:spPr>
          <a:xfrm>
            <a:off x="1887321" y="4046254"/>
            <a:ext cx="2586289" cy="1108830"/>
          </a:xfrm>
          <a:prstGeom prst="rect">
            <a:avLst/>
          </a:prstGeom>
          <a:noFill/>
        </p:spPr>
        <p:txBody>
          <a:bodyPr wrap="square">
            <a:spAutoFit/>
          </a:bodyPr>
          <a:lstStyle/>
          <a:p>
            <a:pPr marL="252000" indent="-252000">
              <a:lnSpc>
                <a:spcPct val="120000"/>
              </a:lnSpc>
              <a:buFont typeface="+mj-lt"/>
              <a:buAutoNum type="arabicPeriod"/>
            </a:pPr>
            <a:r>
              <a:rPr lang="zh-CN" altLang="en-US" sz="1400" dirty="0">
                <a:latin typeface="微软雅黑" panose="020B0503020204020204" pitchFamily="34" charset="-122"/>
                <a:ea typeface="微软雅黑" panose="020B0503020204020204" pitchFamily="34" charset="-122"/>
              </a:rPr>
              <a:t>构建综合干旱监测模型</a:t>
            </a:r>
          </a:p>
          <a:p>
            <a:pPr marL="252000" indent="-252000">
              <a:lnSpc>
                <a:spcPct val="120000"/>
              </a:lnSpc>
              <a:buFont typeface="+mj-lt"/>
              <a:buAutoNum type="arabicPeriod"/>
            </a:pPr>
            <a:r>
              <a:rPr lang="zh-CN" altLang="en-US" sz="1400" dirty="0">
                <a:latin typeface="微软雅黑" panose="020B0503020204020204" pitchFamily="34" charset="-122"/>
                <a:ea typeface="微软雅黑" panose="020B0503020204020204" pitchFamily="34" charset="-122"/>
              </a:rPr>
              <a:t>记录土壤水分含量，评估干旱发生的时间、强度和持续时间</a:t>
            </a:r>
          </a:p>
        </p:txBody>
      </p:sp>
      <p:sp>
        <p:nvSpPr>
          <p:cNvPr id="73" name="文本框 72">
            <a:extLst>
              <a:ext uri="{FF2B5EF4-FFF2-40B4-BE49-F238E27FC236}">
                <a16:creationId xmlns:a16="http://schemas.microsoft.com/office/drawing/2014/main" id="{71C87C36-C89F-C97A-ACCF-307579A4CD32}"/>
              </a:ext>
            </a:extLst>
          </p:cNvPr>
          <p:cNvSpPr txBox="1"/>
          <p:nvPr/>
        </p:nvSpPr>
        <p:spPr>
          <a:xfrm>
            <a:off x="5362487" y="4046254"/>
            <a:ext cx="2586289" cy="1108830"/>
          </a:xfrm>
          <a:prstGeom prst="rect">
            <a:avLst/>
          </a:prstGeom>
          <a:noFill/>
        </p:spPr>
        <p:txBody>
          <a:bodyPr wrap="square">
            <a:spAutoFit/>
          </a:bodyPr>
          <a:lstStyle/>
          <a:p>
            <a:pPr marL="252000" indent="-252000">
              <a:lnSpc>
                <a:spcPct val="120000"/>
              </a:lnSpc>
              <a:buFont typeface="+mj-lt"/>
              <a:buAutoNum type="arabicPeriod"/>
            </a:pPr>
            <a:r>
              <a:rPr lang="zh-CN" altLang="en-US" sz="1400" dirty="0">
                <a:latin typeface="微软雅黑" panose="020B0503020204020204" pitchFamily="34" charset="-122"/>
                <a:ea typeface="微软雅黑" panose="020B0503020204020204" pitchFamily="34" charset="-122"/>
              </a:rPr>
              <a:t>分析植物的水分来源和效率</a:t>
            </a:r>
            <a:endParaRPr lang="en-US" altLang="zh-CN" sz="1400" dirty="0">
              <a:latin typeface="微软雅黑" panose="020B0503020204020204" pitchFamily="34" charset="-122"/>
              <a:ea typeface="微软雅黑" panose="020B0503020204020204" pitchFamily="34" charset="-122"/>
            </a:endParaRPr>
          </a:p>
          <a:p>
            <a:pPr marL="252000" indent="-252000">
              <a:lnSpc>
                <a:spcPct val="120000"/>
              </a:lnSpc>
              <a:buFont typeface="+mj-lt"/>
              <a:buAutoNum type="arabicPeriod"/>
            </a:pPr>
            <a:r>
              <a:rPr lang="zh-CN" altLang="en-US" sz="1400" dirty="0">
                <a:latin typeface="微软雅黑" panose="020B0503020204020204" pitchFamily="34" charset="-122"/>
                <a:ea typeface="微软雅黑" panose="020B0503020204020204" pitchFamily="34" charset="-122"/>
              </a:rPr>
              <a:t>测量植物叶片厚度、比叶面积等功能性状，分析其在不同岩性区域的变异</a:t>
            </a:r>
          </a:p>
        </p:txBody>
      </p:sp>
      <p:sp>
        <p:nvSpPr>
          <p:cNvPr id="74" name="文本框 73">
            <a:extLst>
              <a:ext uri="{FF2B5EF4-FFF2-40B4-BE49-F238E27FC236}">
                <a16:creationId xmlns:a16="http://schemas.microsoft.com/office/drawing/2014/main" id="{C39EBB13-14FE-D424-94A3-54641B4E3265}"/>
              </a:ext>
            </a:extLst>
          </p:cNvPr>
          <p:cNvSpPr txBox="1"/>
          <p:nvPr/>
        </p:nvSpPr>
        <p:spPr>
          <a:xfrm>
            <a:off x="8839955" y="4046254"/>
            <a:ext cx="2586289" cy="1108830"/>
          </a:xfrm>
          <a:prstGeom prst="rect">
            <a:avLst/>
          </a:prstGeom>
          <a:noFill/>
        </p:spPr>
        <p:txBody>
          <a:bodyPr wrap="square">
            <a:spAutoFit/>
          </a:bodyPr>
          <a:lstStyle/>
          <a:p>
            <a:pPr marL="252000" indent="-252000">
              <a:lnSpc>
                <a:spcPct val="120000"/>
              </a:lnSpc>
              <a:buFont typeface="+mj-lt"/>
              <a:buAutoNum type="arabicPeriod"/>
            </a:pPr>
            <a:r>
              <a:rPr lang="zh-CN" altLang="en-US" sz="1400" dirty="0">
                <a:latin typeface="微软雅黑" panose="020B0503020204020204" pitchFamily="34" charset="-122"/>
                <a:ea typeface="微软雅黑" panose="020B0503020204020204" pitchFamily="34" charset="-122"/>
              </a:rPr>
              <a:t>分析不同岩性区域土壤结构裂隙发育程度地下水分布</a:t>
            </a:r>
            <a:endParaRPr lang="en-US" altLang="zh-CN" sz="1400" dirty="0">
              <a:latin typeface="微软雅黑" panose="020B0503020204020204" pitchFamily="34" charset="-122"/>
              <a:ea typeface="微软雅黑" panose="020B0503020204020204" pitchFamily="34" charset="-122"/>
            </a:endParaRPr>
          </a:p>
          <a:p>
            <a:pPr marL="252000" indent="-252000">
              <a:lnSpc>
                <a:spcPct val="120000"/>
              </a:lnSpc>
              <a:buFont typeface="+mj-lt"/>
              <a:buAutoNum type="arabicPeriod"/>
            </a:pPr>
            <a:r>
              <a:rPr lang="zh-CN" altLang="en-US" sz="1400" dirty="0">
                <a:latin typeface="微软雅黑" panose="020B0503020204020204" pitchFamily="34" charset="-122"/>
                <a:ea typeface="微软雅黑" panose="020B0503020204020204" pitchFamily="34" charset="-122"/>
              </a:rPr>
              <a:t>模拟不同岩性森林在干旱条件下水分循环和动态变化</a:t>
            </a:r>
          </a:p>
        </p:txBody>
      </p:sp>
      <p:sp>
        <p:nvSpPr>
          <p:cNvPr id="75" name="文本框 74">
            <a:extLst>
              <a:ext uri="{FF2B5EF4-FFF2-40B4-BE49-F238E27FC236}">
                <a16:creationId xmlns:a16="http://schemas.microsoft.com/office/drawing/2014/main" id="{1EE41AD5-F1C9-DA54-A175-E37395E49415}"/>
              </a:ext>
            </a:extLst>
          </p:cNvPr>
          <p:cNvSpPr txBox="1"/>
          <p:nvPr/>
        </p:nvSpPr>
        <p:spPr>
          <a:xfrm>
            <a:off x="1783184" y="5540428"/>
            <a:ext cx="2801686" cy="662874"/>
          </a:xfrm>
          <a:prstGeom prst="rect">
            <a:avLst/>
          </a:prstGeom>
          <a:noFill/>
        </p:spPr>
        <p:txBody>
          <a:bodyPr wrap="square">
            <a:spAutoFit/>
          </a:bodyPr>
          <a:lstStyle/>
          <a:p>
            <a:pPr>
              <a:lnSpc>
                <a:spcPct val="120000"/>
              </a:lnSpc>
            </a:pPr>
            <a:r>
              <a:rPr lang="zh-CN" altLang="en-US" sz="1600" dirty="0">
                <a:solidFill>
                  <a:prstClr val="white"/>
                </a:solidFill>
                <a:latin typeface="微软雅黑" panose="020B0503020204020204" pitchFamily="34" charset="-122"/>
                <a:ea typeface="微软雅黑" panose="020B0503020204020204" pitchFamily="34" charset="-122"/>
              </a:rPr>
              <a:t>构建综合干旱指数（</a:t>
            </a:r>
            <a:r>
              <a:rPr lang="en-US" altLang="zh-CN" sz="1600" dirty="0">
                <a:solidFill>
                  <a:prstClr val="white"/>
                </a:solidFill>
                <a:latin typeface="微软雅黑" panose="020B0503020204020204" pitchFamily="34" charset="-122"/>
                <a:ea typeface="微软雅黑" panose="020B0503020204020204" pitchFamily="34" charset="-122"/>
              </a:rPr>
              <a:t>CDI</a:t>
            </a:r>
            <a:r>
              <a:rPr lang="zh-CN" altLang="en-US" sz="1600" dirty="0">
                <a:solidFill>
                  <a:prstClr val="white"/>
                </a:solidFill>
                <a:latin typeface="微软雅黑" panose="020B0503020204020204" pitchFamily="34" charset="-122"/>
                <a:ea typeface="微软雅黑" panose="020B0503020204020204" pitchFamily="34" charset="-122"/>
              </a:rPr>
              <a:t>）以提高干旱监测的精度</a:t>
            </a:r>
          </a:p>
        </p:txBody>
      </p:sp>
      <p:sp>
        <p:nvSpPr>
          <p:cNvPr id="76" name="文本框 75">
            <a:extLst>
              <a:ext uri="{FF2B5EF4-FFF2-40B4-BE49-F238E27FC236}">
                <a16:creationId xmlns:a16="http://schemas.microsoft.com/office/drawing/2014/main" id="{0471995B-0ADD-228F-7FB6-8755CF317F35}"/>
              </a:ext>
            </a:extLst>
          </p:cNvPr>
          <p:cNvSpPr txBox="1"/>
          <p:nvPr/>
        </p:nvSpPr>
        <p:spPr>
          <a:xfrm>
            <a:off x="5227373" y="5540428"/>
            <a:ext cx="2978120" cy="662874"/>
          </a:xfrm>
          <a:prstGeom prst="rect">
            <a:avLst/>
          </a:prstGeom>
          <a:noFill/>
        </p:spPr>
        <p:txBody>
          <a:bodyPr wrap="square">
            <a:spAutoFit/>
          </a:bodyPr>
          <a:lstStyle/>
          <a:p>
            <a:pPr>
              <a:lnSpc>
                <a:spcPct val="120000"/>
              </a:lnSpc>
            </a:pPr>
            <a:r>
              <a:rPr lang="zh-CN" altLang="en-US" sz="1600" dirty="0">
                <a:solidFill>
                  <a:prstClr val="white"/>
                </a:solidFill>
                <a:latin typeface="微软雅黑" panose="020B0503020204020204" pitchFamily="34" charset="-122"/>
                <a:ea typeface="微软雅黑" panose="020B0503020204020204" pitchFamily="34" charset="-122"/>
              </a:rPr>
              <a:t>模拟不同岩性森林对干旱的响应机制，预测未来气候变化</a:t>
            </a:r>
          </a:p>
        </p:txBody>
      </p:sp>
      <p:sp>
        <p:nvSpPr>
          <p:cNvPr id="77" name="文本框 76">
            <a:extLst>
              <a:ext uri="{FF2B5EF4-FFF2-40B4-BE49-F238E27FC236}">
                <a16:creationId xmlns:a16="http://schemas.microsoft.com/office/drawing/2014/main" id="{55346BD5-E333-F829-FAEC-63EC306B2F91}"/>
              </a:ext>
            </a:extLst>
          </p:cNvPr>
          <p:cNvSpPr txBox="1"/>
          <p:nvPr/>
        </p:nvSpPr>
        <p:spPr>
          <a:xfrm>
            <a:off x="8739634" y="5540428"/>
            <a:ext cx="2801686" cy="662874"/>
          </a:xfrm>
          <a:prstGeom prst="rect">
            <a:avLst/>
          </a:prstGeom>
          <a:noFill/>
        </p:spPr>
        <p:txBody>
          <a:bodyPr wrap="square">
            <a:spAutoFit/>
          </a:bodyPr>
          <a:lstStyle/>
          <a:p>
            <a:pPr>
              <a:lnSpc>
                <a:spcPct val="120000"/>
              </a:lnSpc>
            </a:pPr>
            <a:r>
              <a:rPr lang="zh-CN" altLang="en-US" sz="1600" dirty="0">
                <a:solidFill>
                  <a:prstClr val="white"/>
                </a:solidFill>
                <a:latin typeface="微软雅黑" panose="020B0503020204020204" pitchFamily="34" charset="-122"/>
                <a:ea typeface="微软雅黑" panose="020B0503020204020204" pitchFamily="34" charset="-122"/>
              </a:rPr>
              <a:t>建立干旱指标与生态系统响应之间的关联模型</a:t>
            </a:r>
          </a:p>
        </p:txBody>
      </p:sp>
      <p:sp>
        <p:nvSpPr>
          <p:cNvPr id="2" name="矩形 1">
            <a:extLst>
              <a:ext uri="{FF2B5EF4-FFF2-40B4-BE49-F238E27FC236}">
                <a16:creationId xmlns:a16="http://schemas.microsoft.com/office/drawing/2014/main" id="{BDC4D200-1384-7472-E438-2B0CD669F2FF}"/>
              </a:ext>
            </a:extLst>
          </p:cNvPr>
          <p:cNvSpPr/>
          <p:nvPr/>
        </p:nvSpPr>
        <p:spPr>
          <a:xfrm>
            <a:off x="0" y="1066800"/>
            <a:ext cx="12192000" cy="5791200"/>
          </a:xfrm>
          <a:prstGeom prst="rect">
            <a:avLst/>
          </a:prstGeom>
          <a:solidFill>
            <a:srgbClr val="FFFFFF"/>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F7E60CCD-55F3-1FB9-8CFD-DDBD7543720B}"/>
              </a:ext>
            </a:extLst>
          </p:cNvPr>
          <p:cNvSpPr/>
          <p:nvPr/>
        </p:nvSpPr>
        <p:spPr>
          <a:xfrm>
            <a:off x="431800" y="1219200"/>
            <a:ext cx="11328400" cy="533400"/>
          </a:xfrm>
          <a:prstGeom prst="rect">
            <a:avLst/>
          </a:prstGeom>
          <a:solidFill>
            <a:srgbClr val="0054A0"/>
          </a:solidFill>
          <a:ln w="1270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700" b="1">
                <a:solidFill>
                  <a:srgbClr val="FFFFFF"/>
                </a:solidFill>
                <a:latin typeface="微软雅黑" panose="020B0503020204020204" pitchFamily="34" charset="-122"/>
              </a:rPr>
              <a:t>平台围绕样本、模型、任务和结果四类对象组织功能</a:t>
            </a:r>
          </a:p>
        </p:txBody>
      </p:sp>
      <p:sp>
        <p:nvSpPr>
          <p:cNvPr id="4" name="矩形 3">
            <a:extLst>
              <a:ext uri="{FF2B5EF4-FFF2-40B4-BE49-F238E27FC236}">
                <a16:creationId xmlns:a16="http://schemas.microsoft.com/office/drawing/2014/main" id="{6C1A4DB9-B0D6-6177-A4EF-8941A0F17802}"/>
              </a:ext>
            </a:extLst>
          </p:cNvPr>
          <p:cNvSpPr/>
          <p:nvPr/>
        </p:nvSpPr>
        <p:spPr>
          <a:xfrm>
            <a:off x="698500" y="2349500"/>
            <a:ext cx="1600200" cy="6858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500" b="1">
                <a:solidFill>
                  <a:srgbClr val="052346"/>
                </a:solidFill>
                <a:latin typeface="微软雅黑" panose="020B0503020204020204" pitchFamily="34" charset="-122"/>
              </a:rPr>
              <a:t>样本管理</a:t>
            </a:r>
          </a:p>
        </p:txBody>
      </p:sp>
      <p:cxnSp>
        <p:nvCxnSpPr>
          <p:cNvPr id="5" name="直接连接符 4">
            <a:extLst>
              <a:ext uri="{FF2B5EF4-FFF2-40B4-BE49-F238E27FC236}">
                <a16:creationId xmlns:a16="http://schemas.microsoft.com/office/drawing/2014/main" id="{254C23E0-4F53-2FCE-7075-0CB10F9E70AE}"/>
              </a:ext>
            </a:extLst>
          </p:cNvPr>
          <p:cNvCxnSpPr/>
          <p:nvPr/>
        </p:nvCxnSpPr>
        <p:spPr>
          <a:xfrm>
            <a:off x="2349500" y="2692400"/>
            <a:ext cx="406400" cy="0"/>
          </a:xfrm>
          <a:prstGeom prst="line">
            <a:avLst/>
          </a:prstGeom>
          <a:ln w="25400">
            <a:solidFill>
              <a:srgbClr val="236CB4"/>
            </a:solidFill>
            <a:tailEnd type="arrow"/>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810F72ED-A100-3EFA-2BA9-2A2BD952E753}"/>
              </a:ext>
            </a:extLst>
          </p:cNvPr>
          <p:cNvSpPr/>
          <p:nvPr/>
        </p:nvSpPr>
        <p:spPr>
          <a:xfrm>
            <a:off x="2908300" y="2349500"/>
            <a:ext cx="1600200" cy="685800"/>
          </a:xfrm>
          <a:prstGeom prst="rect">
            <a:avLst/>
          </a:prstGeom>
          <a:solidFill>
            <a:srgbClr val="FFFFFF"/>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500" b="1">
                <a:solidFill>
                  <a:srgbClr val="052346"/>
                </a:solidFill>
                <a:latin typeface="微软雅黑" panose="020B0503020204020204" pitchFamily="34" charset="-122"/>
              </a:rPr>
              <a:t>模型注册</a:t>
            </a:r>
          </a:p>
        </p:txBody>
      </p:sp>
      <p:cxnSp>
        <p:nvCxnSpPr>
          <p:cNvPr id="8" name="直接连接符 7">
            <a:extLst>
              <a:ext uri="{FF2B5EF4-FFF2-40B4-BE49-F238E27FC236}">
                <a16:creationId xmlns:a16="http://schemas.microsoft.com/office/drawing/2014/main" id="{B419EF2B-5952-8DA5-C987-A7D21C7A8C9F}"/>
              </a:ext>
            </a:extLst>
          </p:cNvPr>
          <p:cNvCxnSpPr/>
          <p:nvPr/>
        </p:nvCxnSpPr>
        <p:spPr>
          <a:xfrm>
            <a:off x="4559300" y="2692400"/>
            <a:ext cx="406400" cy="0"/>
          </a:xfrm>
          <a:prstGeom prst="line">
            <a:avLst/>
          </a:prstGeom>
          <a:ln w="25400">
            <a:solidFill>
              <a:srgbClr val="236CB4"/>
            </a:solidFill>
            <a:tailEnd type="arrow"/>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id="{2C1794DA-FFE7-5D2C-0FED-4EF3180A5404}"/>
              </a:ext>
            </a:extLst>
          </p:cNvPr>
          <p:cNvSpPr/>
          <p:nvPr/>
        </p:nvSpPr>
        <p:spPr>
          <a:xfrm>
            <a:off x="5118100" y="2349500"/>
            <a:ext cx="1600200" cy="6858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500" b="1">
                <a:solidFill>
                  <a:srgbClr val="052346"/>
                </a:solidFill>
                <a:latin typeface="微软雅黑" panose="020B0503020204020204" pitchFamily="34" charset="-122"/>
              </a:rPr>
              <a:t>任务工作台</a:t>
            </a:r>
          </a:p>
        </p:txBody>
      </p:sp>
      <p:cxnSp>
        <p:nvCxnSpPr>
          <p:cNvPr id="10" name="直接连接符 9">
            <a:extLst>
              <a:ext uri="{FF2B5EF4-FFF2-40B4-BE49-F238E27FC236}">
                <a16:creationId xmlns:a16="http://schemas.microsoft.com/office/drawing/2014/main" id="{EF69C708-CC88-B104-D647-3ABE69C34347}"/>
              </a:ext>
            </a:extLst>
          </p:cNvPr>
          <p:cNvCxnSpPr/>
          <p:nvPr/>
        </p:nvCxnSpPr>
        <p:spPr>
          <a:xfrm>
            <a:off x="6769100" y="2692400"/>
            <a:ext cx="406400" cy="0"/>
          </a:xfrm>
          <a:prstGeom prst="line">
            <a:avLst/>
          </a:prstGeom>
          <a:ln w="25400">
            <a:solidFill>
              <a:srgbClr val="236CB4"/>
            </a:solidFill>
            <a:tailEnd type="arrow"/>
          </a:ln>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D56E5B0F-69B9-D83A-AF22-B065AC2AF6C9}"/>
              </a:ext>
            </a:extLst>
          </p:cNvPr>
          <p:cNvSpPr/>
          <p:nvPr/>
        </p:nvSpPr>
        <p:spPr>
          <a:xfrm>
            <a:off x="7327900" y="2349500"/>
            <a:ext cx="1600200" cy="685800"/>
          </a:xfrm>
          <a:prstGeom prst="rect">
            <a:avLst/>
          </a:prstGeom>
          <a:solidFill>
            <a:srgbClr val="FFFFFF"/>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500" b="1">
                <a:solidFill>
                  <a:srgbClr val="052346"/>
                </a:solidFill>
                <a:latin typeface="微软雅黑" panose="020B0503020204020204" pitchFamily="34" charset="-122"/>
              </a:rPr>
              <a:t>日志与状态</a:t>
            </a:r>
          </a:p>
        </p:txBody>
      </p:sp>
      <p:cxnSp>
        <p:nvCxnSpPr>
          <p:cNvPr id="12" name="直接连接符 11">
            <a:extLst>
              <a:ext uri="{FF2B5EF4-FFF2-40B4-BE49-F238E27FC236}">
                <a16:creationId xmlns:a16="http://schemas.microsoft.com/office/drawing/2014/main" id="{CD13ADB9-2BE8-1F1A-28FB-FD2392AF713E}"/>
              </a:ext>
            </a:extLst>
          </p:cNvPr>
          <p:cNvCxnSpPr/>
          <p:nvPr/>
        </p:nvCxnSpPr>
        <p:spPr>
          <a:xfrm>
            <a:off x="8978900" y="2692400"/>
            <a:ext cx="406400" cy="0"/>
          </a:xfrm>
          <a:prstGeom prst="line">
            <a:avLst/>
          </a:prstGeom>
          <a:ln w="25400">
            <a:solidFill>
              <a:srgbClr val="236CB4"/>
            </a:solidFill>
            <a:tailEnd type="arrow"/>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40720FF2-669B-5FC4-2C0B-9C9AFC477FC8}"/>
              </a:ext>
            </a:extLst>
          </p:cNvPr>
          <p:cNvSpPr/>
          <p:nvPr/>
        </p:nvSpPr>
        <p:spPr>
          <a:xfrm>
            <a:off x="9537700" y="2349500"/>
            <a:ext cx="1600200" cy="6858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500" b="1">
                <a:solidFill>
                  <a:srgbClr val="052346"/>
                </a:solidFill>
                <a:latin typeface="微软雅黑" panose="020B0503020204020204" pitchFamily="34" charset="-122"/>
              </a:rPr>
              <a:t>结果归集</a:t>
            </a:r>
          </a:p>
        </p:txBody>
      </p:sp>
      <p:sp>
        <p:nvSpPr>
          <p:cNvPr id="15" name="矩形 14">
            <a:extLst>
              <a:ext uri="{FF2B5EF4-FFF2-40B4-BE49-F238E27FC236}">
                <a16:creationId xmlns:a16="http://schemas.microsoft.com/office/drawing/2014/main" id="{A963B7F1-BD82-3F88-5BF6-88D5A0516F18}"/>
              </a:ext>
            </a:extLst>
          </p:cNvPr>
          <p:cNvSpPr/>
          <p:nvPr/>
        </p:nvSpPr>
        <p:spPr>
          <a:xfrm>
            <a:off x="736600" y="3873500"/>
            <a:ext cx="3111500" cy="533400"/>
          </a:xfrm>
          <a:prstGeom prst="rect">
            <a:avLst/>
          </a:prstGeom>
          <a:solidFill>
            <a:srgbClr val="0054A0"/>
          </a:solidFill>
          <a:ln w="1270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b="1">
                <a:solidFill>
                  <a:srgbClr val="FFFFFF"/>
                </a:solidFill>
                <a:latin typeface="微软雅黑" panose="020B0503020204020204" pitchFamily="34" charset="-122"/>
              </a:rPr>
              <a:t>命令中心</a:t>
            </a:r>
          </a:p>
        </p:txBody>
      </p:sp>
      <p:sp>
        <p:nvSpPr>
          <p:cNvPr id="27" name="矩形 26">
            <a:extLst>
              <a:ext uri="{FF2B5EF4-FFF2-40B4-BE49-F238E27FC236}">
                <a16:creationId xmlns:a16="http://schemas.microsoft.com/office/drawing/2014/main" id="{E6E7CAB2-94B7-AE25-66F2-EF8D89DD5D3A}"/>
              </a:ext>
            </a:extLst>
          </p:cNvPr>
          <p:cNvSpPr/>
          <p:nvPr/>
        </p:nvSpPr>
        <p:spPr>
          <a:xfrm>
            <a:off x="736600" y="4483100"/>
            <a:ext cx="3111500" cy="16764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400" b="1">
                <a:solidFill>
                  <a:srgbClr val="052346"/>
                </a:solidFill>
                <a:latin typeface="微软雅黑" panose="020B0503020204020204" pitchFamily="34" charset="-122"/>
              </a:rPr>
              <a:t>选择模型、输入与参数
提交任务并查看状态</a:t>
            </a:r>
          </a:p>
        </p:txBody>
      </p:sp>
      <p:sp>
        <p:nvSpPr>
          <p:cNvPr id="28" name="矩形 27">
            <a:extLst>
              <a:ext uri="{FF2B5EF4-FFF2-40B4-BE49-F238E27FC236}">
                <a16:creationId xmlns:a16="http://schemas.microsoft.com/office/drawing/2014/main" id="{684BE4A0-7857-DEE0-9F53-E1BFFCC865EE}"/>
              </a:ext>
            </a:extLst>
          </p:cNvPr>
          <p:cNvSpPr/>
          <p:nvPr/>
        </p:nvSpPr>
        <p:spPr>
          <a:xfrm>
            <a:off x="4546600" y="3873500"/>
            <a:ext cx="3111500" cy="533400"/>
          </a:xfrm>
          <a:prstGeom prst="rect">
            <a:avLst/>
          </a:prstGeom>
          <a:solidFill>
            <a:srgbClr val="0054A0"/>
          </a:solidFill>
          <a:ln w="1270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b="1">
                <a:solidFill>
                  <a:srgbClr val="FFFFFF"/>
                </a:solidFill>
                <a:latin typeface="微软雅黑" panose="020B0503020204020204" pitchFamily="34" charset="-122"/>
              </a:rPr>
              <a:t>样本矩阵</a:t>
            </a:r>
          </a:p>
        </p:txBody>
      </p:sp>
      <p:sp>
        <p:nvSpPr>
          <p:cNvPr id="29" name="矩形 28">
            <a:extLst>
              <a:ext uri="{FF2B5EF4-FFF2-40B4-BE49-F238E27FC236}">
                <a16:creationId xmlns:a16="http://schemas.microsoft.com/office/drawing/2014/main" id="{364D80C7-1C95-29D0-3D75-59F50294621A}"/>
              </a:ext>
            </a:extLst>
          </p:cNvPr>
          <p:cNvSpPr/>
          <p:nvPr/>
        </p:nvSpPr>
        <p:spPr>
          <a:xfrm>
            <a:off x="4546600" y="4483100"/>
            <a:ext cx="3111500" cy="16764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400" b="1">
                <a:solidFill>
                  <a:srgbClr val="052346"/>
                </a:solidFill>
                <a:latin typeface="微软雅黑" panose="020B0503020204020204" pitchFamily="34" charset="-122"/>
              </a:rPr>
              <a:t>同一输入组织多模型结果
支持对比和记录复用</a:t>
            </a:r>
          </a:p>
        </p:txBody>
      </p:sp>
      <p:sp>
        <p:nvSpPr>
          <p:cNvPr id="30" name="矩形 29">
            <a:extLst>
              <a:ext uri="{FF2B5EF4-FFF2-40B4-BE49-F238E27FC236}">
                <a16:creationId xmlns:a16="http://schemas.microsoft.com/office/drawing/2014/main" id="{5DD3E2C0-774C-5E0B-6023-561815CF9382}"/>
              </a:ext>
            </a:extLst>
          </p:cNvPr>
          <p:cNvSpPr/>
          <p:nvPr/>
        </p:nvSpPr>
        <p:spPr>
          <a:xfrm>
            <a:off x="8356600" y="3873500"/>
            <a:ext cx="3111500" cy="533400"/>
          </a:xfrm>
          <a:prstGeom prst="rect">
            <a:avLst/>
          </a:prstGeom>
          <a:solidFill>
            <a:srgbClr val="0054A0"/>
          </a:solidFill>
          <a:ln w="1270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b="1">
                <a:solidFill>
                  <a:srgbClr val="FFFFFF"/>
                </a:solidFill>
                <a:latin typeface="微软雅黑" panose="020B0503020204020204" pitchFamily="34" charset="-122"/>
              </a:rPr>
              <a:t>模型路线图</a:t>
            </a:r>
          </a:p>
        </p:txBody>
      </p:sp>
      <p:sp>
        <p:nvSpPr>
          <p:cNvPr id="31" name="矩形 30">
            <a:extLst>
              <a:ext uri="{FF2B5EF4-FFF2-40B4-BE49-F238E27FC236}">
                <a16:creationId xmlns:a16="http://schemas.microsoft.com/office/drawing/2014/main" id="{C421F715-7959-48B3-0B2C-264A2B2E6A8B}"/>
              </a:ext>
            </a:extLst>
          </p:cNvPr>
          <p:cNvSpPr/>
          <p:nvPr/>
        </p:nvSpPr>
        <p:spPr>
          <a:xfrm>
            <a:off x="8356600" y="4483100"/>
            <a:ext cx="3111500" cy="16764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400" b="1">
                <a:solidFill>
                  <a:srgbClr val="052346"/>
                </a:solidFill>
                <a:latin typeface="微软雅黑" panose="020B0503020204020204" pitchFamily="34" charset="-122"/>
              </a:rPr>
              <a:t>维护模型接入状态
区分已验证与待补充模型</a:t>
            </a:r>
          </a:p>
        </p:txBody>
      </p:sp>
    </p:spTree>
    <p:extLst>
      <p:ext uri="{BB962C8B-B14F-4D97-AF65-F5344CB8AC3E}">
        <p14:creationId xmlns:p14="http://schemas.microsoft.com/office/powerpoint/2010/main" val="2429754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1EAE4-6472-D17B-AE46-895E1F389AA5}"/>
            </a:ext>
          </a:extLst>
        </p:cNvPr>
        <p:cNvGrpSpPr/>
        <p:nvPr/>
      </p:nvGrpSpPr>
      <p:grpSpPr>
        <a:xfrm>
          <a:off x="0" y="0"/>
          <a:ext cx="0" cy="0"/>
          <a:chOff x="0" y="0"/>
          <a:chExt cx="0" cy="0"/>
        </a:xfrm>
      </p:grpSpPr>
      <p:sp>
        <p:nvSpPr>
          <p:cNvPr id="4" name="矩形: 圆角 3">
            <a:extLst>
              <a:ext uri="{FF2B5EF4-FFF2-40B4-BE49-F238E27FC236}">
                <a16:creationId xmlns:a16="http://schemas.microsoft.com/office/drawing/2014/main" id="{98145D44-1CE2-DFB8-865A-6C18EB914DE0}"/>
              </a:ext>
            </a:extLst>
          </p:cNvPr>
          <p:cNvSpPr/>
          <p:nvPr/>
        </p:nvSpPr>
        <p:spPr>
          <a:xfrm>
            <a:off x="4746003" y="2313832"/>
            <a:ext cx="7003084" cy="4165603"/>
          </a:xfrm>
          <a:prstGeom prst="roundRect">
            <a:avLst>
              <a:gd name="adj" fmla="val 1384"/>
            </a:avLst>
          </a:prstGeom>
          <a:gradFill flip="none" rotWithShape="1">
            <a:gsLst>
              <a:gs pos="25000">
                <a:schemeClr val="accent3"/>
              </a:gs>
              <a:gs pos="99083">
                <a:schemeClr val="bg1"/>
              </a:gs>
            </a:gsLst>
            <a:lin ang="5400000" scaled="1"/>
            <a:tileRect/>
          </a:gradFill>
          <a:ln w="3175" cap="flat" cmpd="sng" algn="ctr">
            <a:solidFill>
              <a:srgbClr val="0B4FA1"/>
            </a:solidFill>
            <a:prstDash val="solid"/>
            <a:miter lim="800000"/>
          </a:ln>
          <a:effectLst>
            <a:outerShdw blurRad="304800" sx="102000" sy="102000" algn="ctr" rotWithShape="0">
              <a:schemeClr val="accent1">
                <a:alpha val="16000"/>
              </a:schemeClr>
            </a:outerShdw>
          </a:effectLst>
        </p:spPr>
        <p:txBody>
          <a:bodyPr rtlCol="0" anchor="ctr"/>
          <a:lstStyle/>
          <a:p>
            <a:pPr algn="ctr"/>
            <a:r>
              <a:rPr lang="en-US" altLang="zh-CN" kern="0" dirty="0">
                <a:solidFill>
                  <a:prstClr val="white"/>
                </a:solidFill>
                <a:latin typeface="微软雅黑" panose="020B0503020204020204" pitchFamily="34" charset="-122"/>
                <a:ea typeface="微软雅黑" panose="020B0503020204020204" pitchFamily="34" charset="-122"/>
              </a:rPr>
              <a:t>0.25</a:t>
            </a:r>
          </a:p>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7" name="矩形 6">
            <a:extLst>
              <a:ext uri="{FF2B5EF4-FFF2-40B4-BE49-F238E27FC236}">
                <a16:creationId xmlns:a16="http://schemas.microsoft.com/office/drawing/2014/main" id="{764D790B-92A7-989F-28B9-C977FE3CDBF9}"/>
              </a:ext>
            </a:extLst>
          </p:cNvPr>
          <p:cNvSpPr>
            <a:spLocks/>
          </p:cNvSpPr>
          <p:nvPr/>
        </p:nvSpPr>
        <p:spPr>
          <a:xfrm rot="16200000">
            <a:off x="505249" y="2412682"/>
            <a:ext cx="4165602" cy="3967903"/>
          </a:xfrm>
          <a:prstGeom prst="rect">
            <a:avLst/>
          </a:prstGeom>
          <a:gradFill flip="none" rotWithShape="1">
            <a:gsLst>
              <a:gs pos="25000">
                <a:schemeClr val="accent3"/>
              </a:gs>
              <a:gs pos="99083">
                <a:schemeClr val="bg1"/>
              </a:gs>
            </a:gsLst>
            <a:lin ang="5400000" scaled="1"/>
            <a:tileRect/>
          </a:gradFill>
          <a:ln w="3175" cap="flat" cmpd="sng" algn="ctr">
            <a:solidFill>
              <a:srgbClr val="0B4FA1"/>
            </a:solidFill>
            <a:prstDash val="solid"/>
            <a:miter lim="800000"/>
          </a:ln>
          <a:effectLst>
            <a:outerShdw blurRad="304800" sx="102000" sy="102000" algn="ctr" rotWithShape="0">
              <a:schemeClr val="accent1">
                <a:alpha val="16000"/>
              </a:schemeClr>
            </a:outerShdw>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90" name="文本框 89">
            <a:extLst>
              <a:ext uri="{FF2B5EF4-FFF2-40B4-BE49-F238E27FC236}">
                <a16:creationId xmlns:a16="http://schemas.microsoft.com/office/drawing/2014/main" id="{9497BA88-AC6C-71C4-5B6A-1C8C808E98EA}"/>
              </a:ext>
            </a:extLst>
          </p:cNvPr>
          <p:cNvSpPr txBox="1"/>
          <p:nvPr/>
        </p:nvSpPr>
        <p:spPr>
          <a:xfrm>
            <a:off x="115452" y="243436"/>
            <a:ext cx="772964" cy="369332"/>
          </a:xfrm>
          <a:prstGeom prst="rect">
            <a:avLst/>
          </a:prstGeom>
          <a:noFill/>
        </p:spPr>
        <p:txBody>
          <a:bodyPr wrap="square" rtlCol="0">
            <a:spAutoFit/>
          </a:bodyPr>
          <a:lstStyle/>
          <a:p>
            <a:pPr algn="ctr"/>
            <a:r>
              <a:rPr lang="en-US" altLang="zh-CN" b="1">
                <a:solidFill>
                  <a:srgbClr val="00417D"/>
                </a:solidFill>
                <a:latin typeface="微软雅黑" panose="020B0503020204020204" pitchFamily="34" charset="-122"/>
              </a:rPr>
              <a:t>3.1</a:t>
            </a:r>
            <a:endParaRPr lang="zh-CN" altLang="en-US" b="1" dirty="0">
              <a:solidFill>
                <a:srgbClr val="00417D"/>
              </a:solidFill>
              <a:latin typeface="微软雅黑" panose="020B0503020204020204" pitchFamily="34" charset="-122"/>
            </a:endParaRPr>
          </a:p>
        </p:txBody>
      </p:sp>
      <p:sp>
        <p:nvSpPr>
          <p:cNvPr id="92" name="文本框 91">
            <a:extLst>
              <a:ext uri="{FF2B5EF4-FFF2-40B4-BE49-F238E27FC236}">
                <a16:creationId xmlns:a16="http://schemas.microsoft.com/office/drawing/2014/main" id="{E0FF6C81-BA6D-113C-44C5-5D2EA3A76F7A}"/>
              </a:ext>
            </a:extLst>
          </p:cNvPr>
          <p:cNvSpPr txBox="1"/>
          <p:nvPr/>
        </p:nvSpPr>
        <p:spPr>
          <a:xfrm>
            <a:off x="946461" y="269201"/>
            <a:ext cx="6440714" cy="477054"/>
          </a:xfrm>
          <a:prstGeom prst="rect">
            <a:avLst/>
          </a:prstGeom>
          <a:noFill/>
        </p:spPr>
        <p:txBody>
          <a:bodyPr wrap="square">
            <a:spAutoFit/>
          </a:bodyPr>
          <a:lstStyle/>
          <a:p>
            <a:r>
              <a:rPr lang="zh-CN" altLang="en-US" sz="2500" b="1">
                <a:solidFill>
                  <a:srgbClr val="00417D"/>
                </a:solidFill>
                <a:latin typeface="微软雅黑" panose="020B0503020204020204" pitchFamily="34" charset="-122"/>
              </a:rPr>
              <a:t>技术架构</a:t>
            </a:r>
            <a:endParaRPr lang="zh-CN" altLang="en-US" sz="2500" b="1" dirty="0">
              <a:solidFill>
                <a:srgbClr val="00417D"/>
              </a:solidFill>
              <a:latin typeface="微软雅黑" panose="020B0503020204020204" pitchFamily="34" charset="-122"/>
            </a:endParaRPr>
          </a:p>
        </p:txBody>
      </p:sp>
      <p:sp>
        <p:nvSpPr>
          <p:cNvPr id="2" name="矩形: 圆角 1">
            <a:extLst>
              <a:ext uri="{FF2B5EF4-FFF2-40B4-BE49-F238E27FC236}">
                <a16:creationId xmlns:a16="http://schemas.microsoft.com/office/drawing/2014/main" id="{0EFE5007-6376-64C6-7AF9-D235A04A80FC}"/>
              </a:ext>
            </a:extLst>
          </p:cNvPr>
          <p:cNvSpPr/>
          <p:nvPr/>
        </p:nvSpPr>
        <p:spPr>
          <a:xfrm>
            <a:off x="442912" y="1147650"/>
            <a:ext cx="11306175" cy="1011350"/>
          </a:xfrm>
          <a:prstGeom prst="roundRect">
            <a:avLst>
              <a:gd name="adj" fmla="val 4650"/>
            </a:avLst>
          </a:prstGeom>
          <a:solidFill>
            <a:schemeClr val="bg1"/>
          </a:solidFill>
          <a:ln w="3175" cap="flat" cmpd="sng" algn="ctr">
            <a:solidFill>
              <a:schemeClr val="accent1"/>
            </a:solidFill>
            <a:prstDash val="solid"/>
            <a:miter lim="800000"/>
          </a:ln>
          <a:effectLst>
            <a:outerShdw blurRad="266700" dist="215900" dir="8100000" algn="tr" rotWithShape="0">
              <a:schemeClr val="accent1">
                <a:alpha val="8000"/>
              </a:schemeClr>
            </a:outerShdw>
          </a:effectLst>
        </p:spPr>
        <p:txBody>
          <a:bodyPr rtlCol="0" anchor="ctr"/>
          <a:lstStyle/>
          <a:p>
            <a:pPr algn="ctr"/>
            <a:r>
              <a:rPr lang="en-US" altLang="zh-CN" kern="0" dirty="0">
                <a:solidFill>
                  <a:prstClr val="white"/>
                </a:solidFill>
                <a:latin typeface="微软雅黑" panose="020B0503020204020204" pitchFamily="34" charset="-122"/>
                <a:ea typeface="微软雅黑" panose="020B0503020204020204" pitchFamily="34" charset="-122"/>
              </a:rPr>
              <a:t>0.25</a:t>
            </a:r>
          </a:p>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A69212DD-8DB6-7A68-A050-12670D321F9C}"/>
              </a:ext>
            </a:extLst>
          </p:cNvPr>
          <p:cNvSpPr txBox="1"/>
          <p:nvPr/>
        </p:nvSpPr>
        <p:spPr>
          <a:xfrm>
            <a:off x="442913" y="1214744"/>
            <a:ext cx="11306176" cy="876843"/>
          </a:xfrm>
          <a:prstGeom prst="rect">
            <a:avLst/>
          </a:prstGeom>
          <a:noFill/>
        </p:spPr>
        <p:txBody>
          <a:bodyPr wrap="square">
            <a:spAutoFit/>
          </a:bodyPr>
          <a:lstStyle/>
          <a:p>
            <a:pPr marL="342900" indent="-342900">
              <a:lnSpc>
                <a:spcPct val="120000"/>
              </a:lnSpc>
              <a:buFont typeface="Wingdings" panose="05000000000000000000" pitchFamily="2" charset="2"/>
              <a:buChar char="Ø"/>
            </a:pPr>
            <a:r>
              <a:rPr lang="zh-CN" altLang="en-US" sz="2200" b="1" dirty="0">
                <a:latin typeface="微软雅黑" panose="020B0503020204020204" pitchFamily="34" charset="-122"/>
                <a:ea typeface="微软雅黑" panose="020B0503020204020204" pitchFamily="34" charset="-122"/>
              </a:rPr>
              <a:t>高光谱</a:t>
            </a:r>
            <a:r>
              <a:rPr lang="en-US" altLang="zh-CN" sz="2200" b="1" dirty="0">
                <a:latin typeface="微软雅黑" panose="020B0503020204020204" pitchFamily="34" charset="-122"/>
                <a:ea typeface="微软雅黑" panose="020B0503020204020204" pitchFamily="34" charset="-122"/>
              </a:rPr>
              <a:t>3D</a:t>
            </a:r>
            <a:r>
              <a:rPr lang="zh-CN" altLang="en-US" sz="2200" b="1" dirty="0">
                <a:latin typeface="微软雅黑" panose="020B0503020204020204" pitchFamily="34" charset="-122"/>
                <a:ea typeface="微软雅黑" panose="020B0503020204020204" pitchFamily="34" charset="-122"/>
              </a:rPr>
              <a:t>图像解混是指：从混合像元中分解与提取各个地物光谱并求得其对应比例，即将混合像元分解成不同的端元组合，并求得端元在该像元中所占的比例</a:t>
            </a:r>
          </a:p>
        </p:txBody>
      </p:sp>
      <p:pic>
        <p:nvPicPr>
          <p:cNvPr id="5" name="图片 4" descr="图示&#10;&#10;描述已自动生成">
            <a:extLst>
              <a:ext uri="{FF2B5EF4-FFF2-40B4-BE49-F238E27FC236}">
                <a16:creationId xmlns:a16="http://schemas.microsoft.com/office/drawing/2014/main" id="{DA2705C0-9165-E0C9-64D5-799D1F598D1C}"/>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874329" y="2998391"/>
            <a:ext cx="3483429" cy="2519772"/>
          </a:xfrm>
          <a:prstGeom prst="roundRect">
            <a:avLst>
              <a:gd name="adj" fmla="val 308"/>
            </a:avLst>
          </a:prstGeom>
          <a:ln w="1270">
            <a:solidFill>
              <a:srgbClr val="0B4FA1"/>
            </a:solidFill>
          </a:ln>
        </p:spPr>
      </p:pic>
      <p:sp>
        <p:nvSpPr>
          <p:cNvPr id="8" name="直角三角形 7">
            <a:extLst>
              <a:ext uri="{FF2B5EF4-FFF2-40B4-BE49-F238E27FC236}">
                <a16:creationId xmlns:a16="http://schemas.microsoft.com/office/drawing/2014/main" id="{ED38C6BF-2DCA-C070-AEFD-0BD580B86469}"/>
              </a:ext>
            </a:extLst>
          </p:cNvPr>
          <p:cNvSpPr/>
          <p:nvPr/>
        </p:nvSpPr>
        <p:spPr>
          <a:xfrm rot="16200000" flipH="1">
            <a:off x="476962" y="2784297"/>
            <a:ext cx="80272" cy="173997"/>
          </a:xfrm>
          <a:prstGeom prst="rtTriangle">
            <a:avLst/>
          </a:prstGeom>
          <a:solidFill>
            <a:schemeClr val="accent1">
              <a:lumMod val="50000"/>
            </a:scheme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sp>
        <p:nvSpPr>
          <p:cNvPr id="9" name="矩形: 单圆角 8">
            <a:extLst>
              <a:ext uri="{FF2B5EF4-FFF2-40B4-BE49-F238E27FC236}">
                <a16:creationId xmlns:a16="http://schemas.microsoft.com/office/drawing/2014/main" id="{9B0A6EE0-945D-AE85-72E0-0F5B34E4059E}"/>
              </a:ext>
            </a:extLst>
          </p:cNvPr>
          <p:cNvSpPr>
            <a:spLocks/>
          </p:cNvSpPr>
          <p:nvPr/>
        </p:nvSpPr>
        <p:spPr>
          <a:xfrm>
            <a:off x="430097" y="2442753"/>
            <a:ext cx="1901623" cy="393169"/>
          </a:xfrm>
          <a:prstGeom prst="round1Rect">
            <a:avLst>
              <a:gd name="adj" fmla="val 50000"/>
            </a:avLst>
          </a:prstGeom>
          <a:solidFill>
            <a:schemeClr val="accent1"/>
          </a:solidFill>
          <a:ln w="19050" cap="flat" cmpd="sng" algn="ctr">
            <a:noFill/>
            <a:prstDash val="solid"/>
            <a:miter lim="800000"/>
          </a:ln>
          <a:effectLst>
            <a:outerShdw blurRad="139700" dist="38100" dir="2700000" sx="103000" sy="103000" algn="tl" rotWithShape="0">
              <a:prstClr val="black">
                <a:alpha val="15000"/>
              </a:prstClr>
            </a:outerShdw>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mn-cs"/>
            </a:endParaRPr>
          </a:p>
        </p:txBody>
      </p:sp>
      <p:sp>
        <p:nvSpPr>
          <p:cNvPr id="10" name="文本框 9">
            <a:extLst>
              <a:ext uri="{FF2B5EF4-FFF2-40B4-BE49-F238E27FC236}">
                <a16:creationId xmlns:a16="http://schemas.microsoft.com/office/drawing/2014/main" id="{ED9511C6-438C-1701-441C-35072BBF4CCC}"/>
              </a:ext>
            </a:extLst>
          </p:cNvPr>
          <p:cNvSpPr txBox="1"/>
          <p:nvPr/>
        </p:nvSpPr>
        <p:spPr>
          <a:xfrm>
            <a:off x="604097" y="2450060"/>
            <a:ext cx="1727624" cy="400110"/>
          </a:xfrm>
          <a:prstGeom prst="rect">
            <a:avLst/>
          </a:prstGeom>
          <a:noFill/>
        </p:spPr>
        <p:txBody>
          <a:bodyPr wrap="square">
            <a:spAutoFit/>
          </a:bodyPr>
          <a:lstStyle/>
          <a:p>
            <a:pPr algn="ctr"/>
            <a:r>
              <a:rPr lang="zh-CN" altLang="en-US" sz="2000" b="1" dirty="0">
                <a:solidFill>
                  <a:prstClr val="white"/>
                </a:solidFill>
                <a:effectLst>
                  <a:outerShdw blurRad="50800" dist="38100" dir="5400000" algn="t" rotWithShape="0">
                    <a:srgbClr val="0B4FA1">
                      <a:lumMod val="50000"/>
                      <a:alpha val="40000"/>
                    </a:srgbClr>
                  </a:outerShdw>
                </a:effectLst>
                <a:latin typeface="微软雅黑" panose="020B0503020204020204" pitchFamily="34" charset="-122"/>
                <a:ea typeface="微软雅黑" panose="020B0503020204020204" pitchFamily="34" charset="-122"/>
              </a:rPr>
              <a:t>光谱遥感</a:t>
            </a:r>
          </a:p>
        </p:txBody>
      </p:sp>
      <p:sp>
        <p:nvSpPr>
          <p:cNvPr id="11" name="矩形 10">
            <a:extLst>
              <a:ext uri="{FF2B5EF4-FFF2-40B4-BE49-F238E27FC236}">
                <a16:creationId xmlns:a16="http://schemas.microsoft.com/office/drawing/2014/main" id="{860931B6-05B6-AB1E-185C-281A9ADCFC1C}"/>
              </a:ext>
            </a:extLst>
          </p:cNvPr>
          <p:cNvSpPr/>
          <p:nvPr/>
        </p:nvSpPr>
        <p:spPr>
          <a:xfrm>
            <a:off x="874329" y="5160261"/>
            <a:ext cx="3483429" cy="357902"/>
          </a:xfrm>
          <a:prstGeom prst="rect">
            <a:avLst/>
          </a:prstGeom>
          <a:solidFill>
            <a:schemeClr val="accent1"/>
          </a:solidFill>
          <a:ln w="127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sp>
        <p:nvSpPr>
          <p:cNvPr id="12" name="文本框 11">
            <a:extLst>
              <a:ext uri="{FF2B5EF4-FFF2-40B4-BE49-F238E27FC236}">
                <a16:creationId xmlns:a16="http://schemas.microsoft.com/office/drawing/2014/main" id="{54A1F4A3-36E3-3BA7-11D8-BEDB95D60543}"/>
              </a:ext>
            </a:extLst>
          </p:cNvPr>
          <p:cNvSpPr txBox="1"/>
          <p:nvPr/>
        </p:nvSpPr>
        <p:spPr>
          <a:xfrm>
            <a:off x="981619" y="5148831"/>
            <a:ext cx="3304650" cy="369332"/>
          </a:xfrm>
          <a:prstGeom prst="rect">
            <a:avLst/>
          </a:prstGeom>
          <a:noFill/>
        </p:spPr>
        <p:txBody>
          <a:bodyPr wrap="square">
            <a:spAutoFit/>
          </a:bodyPr>
          <a:lstStyle/>
          <a:p>
            <a:pPr algn="ctr"/>
            <a:r>
              <a:rPr lang="zh-CN" altLang="en-US" dirty="0">
                <a:solidFill>
                  <a:prstClr val="white"/>
                </a:solidFill>
                <a:effectLst>
                  <a:outerShdw blurRad="50800" dist="38100" dir="5400000" algn="t" rotWithShape="0">
                    <a:srgbClr val="0B4FA1">
                      <a:lumMod val="50000"/>
                      <a:alpha val="40000"/>
                    </a:srgbClr>
                  </a:outerShdw>
                </a:effectLst>
                <a:latin typeface="微软雅黑" panose="020B0503020204020204" pitchFamily="34" charset="-122"/>
                <a:ea typeface="微软雅黑" panose="020B0503020204020204" pitchFamily="34" charset="-122"/>
              </a:rPr>
              <a:t>高光谱遥感原理图</a:t>
            </a:r>
          </a:p>
        </p:txBody>
      </p:sp>
      <p:sp>
        <p:nvSpPr>
          <p:cNvPr id="13" name="文本框 12">
            <a:extLst>
              <a:ext uri="{FF2B5EF4-FFF2-40B4-BE49-F238E27FC236}">
                <a16:creationId xmlns:a16="http://schemas.microsoft.com/office/drawing/2014/main" id="{25681A15-0FBC-A2D1-3C74-D9A34D4502B1}"/>
              </a:ext>
            </a:extLst>
          </p:cNvPr>
          <p:cNvSpPr txBox="1"/>
          <p:nvPr/>
        </p:nvSpPr>
        <p:spPr>
          <a:xfrm>
            <a:off x="798219" y="5648770"/>
            <a:ext cx="3579661" cy="663130"/>
          </a:xfrm>
          <a:prstGeom prst="rect">
            <a:avLst/>
          </a:prstGeom>
          <a:noFill/>
        </p:spPr>
        <p:txBody>
          <a:bodyPr wrap="square">
            <a:spAutoFit/>
          </a:bodyPr>
          <a:lstStyle/>
          <a:p>
            <a:pPr marL="285750" indent="-285750">
              <a:lnSpc>
                <a:spcPct val="120000"/>
              </a:lnSpc>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作为遥感技术发展过程中的重大创新，为观测地物提供了有效手段</a:t>
            </a:r>
            <a:endParaRPr lang="en-US" altLang="zh-CN" sz="1600" dirty="0">
              <a:latin typeface="微软雅黑" panose="020B0503020204020204" pitchFamily="34" charset="-122"/>
              <a:ea typeface="微软雅黑" panose="020B0503020204020204" pitchFamily="34" charset="-122"/>
            </a:endParaRPr>
          </a:p>
        </p:txBody>
      </p:sp>
      <p:pic>
        <p:nvPicPr>
          <p:cNvPr id="14" name="图片 13">
            <a:extLst>
              <a:ext uri="{FF2B5EF4-FFF2-40B4-BE49-F238E27FC236}">
                <a16:creationId xmlns:a16="http://schemas.microsoft.com/office/drawing/2014/main" id="{6C596D9B-5A71-3788-7C34-954C184236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036365" y="2987699"/>
            <a:ext cx="4143203" cy="2068760"/>
          </a:xfrm>
          <a:prstGeom prst="roundRect">
            <a:avLst>
              <a:gd name="adj" fmla="val 528"/>
            </a:avLst>
          </a:prstGeom>
          <a:ln w="3175">
            <a:solidFill>
              <a:srgbClr val="0B4FA1"/>
            </a:solidFill>
          </a:ln>
        </p:spPr>
      </p:pic>
      <p:sp>
        <p:nvSpPr>
          <p:cNvPr id="15" name="文本框 14">
            <a:extLst>
              <a:ext uri="{FF2B5EF4-FFF2-40B4-BE49-F238E27FC236}">
                <a16:creationId xmlns:a16="http://schemas.microsoft.com/office/drawing/2014/main" id="{736F137E-901A-56AD-DA2E-84C5E59D10C7}"/>
              </a:ext>
            </a:extLst>
          </p:cNvPr>
          <p:cNvSpPr txBox="1"/>
          <p:nvPr/>
        </p:nvSpPr>
        <p:spPr>
          <a:xfrm>
            <a:off x="4833314" y="2435812"/>
            <a:ext cx="5985012" cy="400110"/>
          </a:xfrm>
          <a:prstGeom prst="rect">
            <a:avLst/>
          </a:prstGeom>
          <a:noFill/>
        </p:spPr>
        <p:txBody>
          <a:bodyPr wrap="square">
            <a:spAutoFit/>
          </a:bodyPr>
          <a:lstStyle/>
          <a:p>
            <a:pPr marL="285750" indent="-285750">
              <a:buFont typeface="Wingdings" panose="05000000000000000000" pitchFamily="2" charset="2"/>
              <a:buChar char="Ø"/>
            </a:pPr>
            <a:r>
              <a:rPr lang="zh-CN" altLang="en-US" sz="2000" b="1" dirty="0">
                <a:solidFill>
                  <a:schemeClr val="accent1"/>
                </a:solidFill>
                <a:latin typeface="微软雅黑" panose="020B0503020204020204" pitchFamily="34" charset="-122"/>
                <a:ea typeface="微软雅黑" panose="020B0503020204020204" pitchFamily="34" charset="-122"/>
              </a:rPr>
              <a:t>基于协同稀疏和</a:t>
            </a:r>
            <a:r>
              <a:rPr lang="en-US" altLang="zh-CN" sz="2000" b="1" dirty="0">
                <a:solidFill>
                  <a:schemeClr val="accent1"/>
                </a:solidFill>
                <a:latin typeface="微软雅黑" panose="020B0503020204020204" pitchFamily="34" charset="-122"/>
                <a:ea typeface="微软雅黑" panose="020B0503020204020204" pitchFamily="34" charset="-122"/>
              </a:rPr>
              <a:t>TV</a:t>
            </a:r>
            <a:r>
              <a:rPr lang="zh-CN" altLang="en-US" sz="2000" b="1" dirty="0">
                <a:solidFill>
                  <a:schemeClr val="accent1"/>
                </a:solidFill>
                <a:latin typeface="微软雅黑" panose="020B0503020204020204" pitchFamily="34" charset="-122"/>
                <a:ea typeface="微软雅黑" panose="020B0503020204020204" pitchFamily="34" charset="-122"/>
              </a:rPr>
              <a:t>正则项的高光谱线性解混方法</a:t>
            </a:r>
          </a:p>
        </p:txBody>
      </p:sp>
      <p:sp>
        <p:nvSpPr>
          <p:cNvPr id="24" name="矩形: 圆角 23">
            <a:extLst>
              <a:ext uri="{FF2B5EF4-FFF2-40B4-BE49-F238E27FC236}">
                <a16:creationId xmlns:a16="http://schemas.microsoft.com/office/drawing/2014/main" id="{F5028CAC-A28C-E5AD-C14F-6C29AB51DE39}"/>
              </a:ext>
            </a:extLst>
          </p:cNvPr>
          <p:cNvSpPr/>
          <p:nvPr/>
        </p:nvSpPr>
        <p:spPr>
          <a:xfrm>
            <a:off x="9338003" y="3307602"/>
            <a:ext cx="2154921" cy="365838"/>
          </a:xfrm>
          <a:prstGeom prst="roundRect">
            <a:avLst>
              <a:gd name="adj" fmla="val 50000"/>
            </a:avLst>
          </a:prstGeom>
          <a:solidFill>
            <a:schemeClr val="accent1"/>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sp>
        <p:nvSpPr>
          <p:cNvPr id="25" name="文本框 24">
            <a:extLst>
              <a:ext uri="{FF2B5EF4-FFF2-40B4-BE49-F238E27FC236}">
                <a16:creationId xmlns:a16="http://schemas.microsoft.com/office/drawing/2014/main" id="{6128CFAB-D96C-E8F4-0909-534167721054}"/>
              </a:ext>
            </a:extLst>
          </p:cNvPr>
          <p:cNvSpPr txBox="1"/>
          <p:nvPr/>
        </p:nvSpPr>
        <p:spPr>
          <a:xfrm>
            <a:off x="9635143" y="3316627"/>
            <a:ext cx="1591771" cy="347788"/>
          </a:xfrm>
          <a:prstGeom prst="rect">
            <a:avLst/>
          </a:prstGeom>
          <a:noFill/>
          <a:effectLst/>
        </p:spPr>
        <p:txBody>
          <a:bodyPr wrap="square" lIns="100584" tIns="50292" rIns="100584" bIns="50292">
            <a:spAutoFit/>
          </a:bodyPr>
          <a:lstStyle>
            <a:defPPr>
              <a:defRPr lang="zh-CN"/>
            </a:defPPr>
            <a:lvl1pPr>
              <a:defRPr sz="2800" b="1">
                <a:solidFill>
                  <a:srgbClr val="771395"/>
                </a:solidFill>
                <a:latin typeface="微软雅黑" panose="020B0503020204020204" pitchFamily="34" charset="-122"/>
                <a:ea typeface="微软雅黑" panose="020B0503020204020204" pitchFamily="34"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prstClr val="white"/>
                </a:solidFill>
                <a:effectLst>
                  <a:outerShdw blurRad="50800" dist="38100" dir="5400000" algn="t" rotWithShape="0">
                    <a:srgbClr val="0B4FA1">
                      <a:lumMod val="50000"/>
                      <a:alpha val="40000"/>
                    </a:srgbClr>
                  </a:outerShdw>
                </a:effectLst>
                <a:uLnTx/>
                <a:uFillTx/>
              </a:rPr>
              <a:t>提高解混精度</a:t>
            </a:r>
          </a:p>
        </p:txBody>
      </p:sp>
      <p:sp>
        <p:nvSpPr>
          <p:cNvPr id="22" name="矩形: 圆角 21">
            <a:extLst>
              <a:ext uri="{FF2B5EF4-FFF2-40B4-BE49-F238E27FC236}">
                <a16:creationId xmlns:a16="http://schemas.microsoft.com/office/drawing/2014/main" id="{6550DE41-9230-4853-79B9-C7A3C5FE9ACC}"/>
              </a:ext>
            </a:extLst>
          </p:cNvPr>
          <p:cNvSpPr/>
          <p:nvPr/>
        </p:nvSpPr>
        <p:spPr>
          <a:xfrm>
            <a:off x="9338003" y="4370718"/>
            <a:ext cx="2154921" cy="365838"/>
          </a:xfrm>
          <a:prstGeom prst="roundRect">
            <a:avLst>
              <a:gd name="adj" fmla="val 50000"/>
            </a:avLst>
          </a:prstGeom>
          <a:solidFill>
            <a:schemeClr val="accent1"/>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sp>
        <p:nvSpPr>
          <p:cNvPr id="23" name="文本框 22">
            <a:extLst>
              <a:ext uri="{FF2B5EF4-FFF2-40B4-BE49-F238E27FC236}">
                <a16:creationId xmlns:a16="http://schemas.microsoft.com/office/drawing/2014/main" id="{2F659CBF-CB65-7C4D-1D77-669674C82130}"/>
              </a:ext>
            </a:extLst>
          </p:cNvPr>
          <p:cNvSpPr txBox="1"/>
          <p:nvPr/>
        </p:nvSpPr>
        <p:spPr>
          <a:xfrm>
            <a:off x="9485511" y="4349552"/>
            <a:ext cx="1891034" cy="376642"/>
          </a:xfrm>
          <a:prstGeom prst="rect">
            <a:avLst/>
          </a:prstGeom>
          <a:noFill/>
          <a:effectLst/>
        </p:spPr>
        <p:txBody>
          <a:bodyPr wrap="square" lIns="100584" tIns="50292" rIns="100584" bIns="50292">
            <a:spAutoFit/>
          </a:bodyPr>
          <a:lstStyle>
            <a:defPPr>
              <a:defRPr lang="zh-CN"/>
            </a:defPPr>
            <a:lvl1pPr>
              <a:defRPr sz="2800" b="1">
                <a:solidFill>
                  <a:srgbClr val="771395"/>
                </a:solidFill>
                <a:latin typeface="微软雅黑" panose="020B0503020204020204" pitchFamily="34" charset="-122"/>
                <a:ea typeface="微软雅黑" panose="020B0503020204020204" pitchFamily="34" charset="-122"/>
              </a:defRPr>
            </a:lvl1p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prstClr val="white"/>
                </a:solidFill>
                <a:effectLst>
                  <a:outerShdw blurRad="50800" dist="38100" dir="5400000" algn="t" rotWithShape="0">
                    <a:srgbClr val="0B4FA1">
                      <a:lumMod val="50000"/>
                      <a:alpha val="40000"/>
                    </a:srgbClr>
                  </a:outerShdw>
                </a:effectLst>
                <a:uLnTx/>
                <a:uFillTx/>
              </a:rPr>
              <a:t>全局施加协同稀疏</a:t>
            </a:r>
          </a:p>
        </p:txBody>
      </p:sp>
      <p:sp>
        <p:nvSpPr>
          <p:cNvPr id="20" name="矩形: 圆角 19">
            <a:extLst>
              <a:ext uri="{FF2B5EF4-FFF2-40B4-BE49-F238E27FC236}">
                <a16:creationId xmlns:a16="http://schemas.microsoft.com/office/drawing/2014/main" id="{723E9D72-C5F8-06C9-15F2-74E589D85E7E}"/>
              </a:ext>
            </a:extLst>
          </p:cNvPr>
          <p:cNvSpPr/>
          <p:nvPr/>
        </p:nvSpPr>
        <p:spPr>
          <a:xfrm>
            <a:off x="9338003" y="3839160"/>
            <a:ext cx="2154921" cy="365838"/>
          </a:xfrm>
          <a:prstGeom prst="roundRect">
            <a:avLst>
              <a:gd name="adj" fmla="val 50000"/>
            </a:avLst>
          </a:prstGeom>
          <a:solidFill>
            <a:schemeClr val="accent1"/>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sp>
        <p:nvSpPr>
          <p:cNvPr id="21" name="文本框 20">
            <a:extLst>
              <a:ext uri="{FF2B5EF4-FFF2-40B4-BE49-F238E27FC236}">
                <a16:creationId xmlns:a16="http://schemas.microsoft.com/office/drawing/2014/main" id="{6B8DBD49-F9A7-8D97-6F18-E2FFCCD7FEE6}"/>
              </a:ext>
            </a:extLst>
          </p:cNvPr>
          <p:cNvSpPr txBox="1"/>
          <p:nvPr/>
        </p:nvSpPr>
        <p:spPr>
          <a:xfrm>
            <a:off x="9601890" y="3817994"/>
            <a:ext cx="1625024" cy="376642"/>
          </a:xfrm>
          <a:prstGeom prst="rect">
            <a:avLst/>
          </a:prstGeom>
          <a:noFill/>
          <a:effectLst/>
        </p:spPr>
        <p:txBody>
          <a:bodyPr wrap="square" lIns="100584" tIns="50292" rIns="100584" bIns="50292">
            <a:spAutoFit/>
          </a:bodyPr>
          <a:lstStyle>
            <a:defPPr>
              <a:defRPr lang="zh-CN"/>
            </a:defPPr>
            <a:lvl1pPr>
              <a:defRPr sz="2800" b="1">
                <a:solidFill>
                  <a:srgbClr val="771395"/>
                </a:solidFill>
                <a:latin typeface="微软雅黑" panose="020B0503020204020204" pitchFamily="34" charset="-122"/>
                <a:ea typeface="微软雅黑" panose="020B0503020204020204" pitchFamily="34" charset="-122"/>
              </a:defRPr>
            </a:lvl1p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prstClr val="white"/>
                </a:solidFill>
                <a:effectLst>
                  <a:outerShdw blurRad="50800" dist="38100" dir="5400000" algn="t" rotWithShape="0">
                    <a:srgbClr val="0B4FA1">
                      <a:lumMod val="50000"/>
                      <a:alpha val="40000"/>
                    </a:srgbClr>
                  </a:outerShdw>
                </a:effectLst>
                <a:uLnTx/>
                <a:uFillTx/>
              </a:rPr>
              <a:t>利用行稀疏特性</a:t>
            </a:r>
          </a:p>
        </p:txBody>
      </p:sp>
      <p:sp>
        <p:nvSpPr>
          <p:cNvPr id="26" name="矩形: 圆角 25">
            <a:extLst>
              <a:ext uri="{FF2B5EF4-FFF2-40B4-BE49-F238E27FC236}">
                <a16:creationId xmlns:a16="http://schemas.microsoft.com/office/drawing/2014/main" id="{70D4581F-27FC-6A87-2D66-C555633C72B4}"/>
              </a:ext>
            </a:extLst>
          </p:cNvPr>
          <p:cNvSpPr/>
          <p:nvPr/>
        </p:nvSpPr>
        <p:spPr>
          <a:xfrm>
            <a:off x="5046108" y="5222180"/>
            <a:ext cx="6541793" cy="1089720"/>
          </a:xfrm>
          <a:prstGeom prst="roundRect">
            <a:avLst>
              <a:gd name="adj" fmla="val 5371"/>
            </a:avLst>
          </a:prstGeom>
          <a:solidFill>
            <a:schemeClr val="accent1">
              <a:alpha val="5000"/>
            </a:schemeClr>
          </a:solidFill>
          <a:ln w="6350" cap="flat" cmpd="sng" algn="ctr">
            <a:solidFill>
              <a:sysClr val="window" lastClr="FFFFFF">
                <a:lumMod val="8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sp>
        <p:nvSpPr>
          <p:cNvPr id="27" name="文本框 26">
            <a:extLst>
              <a:ext uri="{FF2B5EF4-FFF2-40B4-BE49-F238E27FC236}">
                <a16:creationId xmlns:a16="http://schemas.microsoft.com/office/drawing/2014/main" id="{8DB874B4-1FB4-366F-AD92-6F09CF27FF12}"/>
              </a:ext>
            </a:extLst>
          </p:cNvPr>
          <p:cNvSpPr txBox="1"/>
          <p:nvPr/>
        </p:nvSpPr>
        <p:spPr>
          <a:xfrm>
            <a:off x="5161530" y="5365712"/>
            <a:ext cx="1795861" cy="802656"/>
          </a:xfrm>
          <a:prstGeom prst="rect">
            <a:avLst/>
          </a:prstGeom>
          <a:noFill/>
        </p:spPr>
        <p:txBody>
          <a:bodyPr wrap="square">
            <a:spAutoFit/>
          </a:bodyPr>
          <a:lstStyle/>
          <a:p>
            <a:pPr algn="ctr">
              <a:lnSpc>
                <a:spcPct val="120000"/>
              </a:lnSpc>
            </a:pPr>
            <a:r>
              <a:rPr lang="zh-CN" altLang="en-US" sz="2000" b="1" dirty="0">
                <a:latin typeface="微软雅黑" panose="020B0503020204020204" pitchFamily="34" charset="-122"/>
                <a:ea typeface="微软雅黑" panose="020B0503020204020204" pitchFamily="34" charset="-122"/>
              </a:rPr>
              <a:t>稀疏性高光谱解混模型</a:t>
            </a:r>
          </a:p>
        </p:txBody>
      </p:sp>
      <p:cxnSp>
        <p:nvCxnSpPr>
          <p:cNvPr id="28" name="直接连接符 27">
            <a:extLst>
              <a:ext uri="{FF2B5EF4-FFF2-40B4-BE49-F238E27FC236}">
                <a16:creationId xmlns:a16="http://schemas.microsoft.com/office/drawing/2014/main" id="{6F870A4D-5763-68BC-39A4-5D18DC40E6CF}"/>
              </a:ext>
            </a:extLst>
          </p:cNvPr>
          <p:cNvCxnSpPr>
            <a:cxnSpLocks/>
          </p:cNvCxnSpPr>
          <p:nvPr/>
        </p:nvCxnSpPr>
        <p:spPr>
          <a:xfrm>
            <a:off x="7107966" y="5319515"/>
            <a:ext cx="0" cy="895050"/>
          </a:xfrm>
          <a:prstGeom prst="line">
            <a:avLst/>
          </a:prstGeom>
          <a:noFill/>
          <a:ln w="2540" cap="flat" cmpd="sng" algn="ctr">
            <a:solidFill>
              <a:sysClr val="window" lastClr="FFFFFF">
                <a:lumMod val="85000"/>
              </a:sysClr>
            </a:solidFill>
            <a:prstDash val="solid"/>
            <a:miter lim="800000"/>
          </a:ln>
          <a:effectLst/>
        </p:spPr>
      </p:cxnSp>
      <p:sp>
        <p:nvSpPr>
          <p:cNvPr id="29" name="文本框 28">
            <a:extLst>
              <a:ext uri="{FF2B5EF4-FFF2-40B4-BE49-F238E27FC236}">
                <a16:creationId xmlns:a16="http://schemas.microsoft.com/office/drawing/2014/main" id="{88B218F7-C27A-A7C8-FE1D-51DE65D30E78}"/>
              </a:ext>
            </a:extLst>
          </p:cNvPr>
          <p:cNvSpPr txBox="1"/>
          <p:nvPr/>
        </p:nvSpPr>
        <p:spPr>
          <a:xfrm>
            <a:off x="7148103" y="5419455"/>
            <a:ext cx="4344822" cy="663130"/>
          </a:xfrm>
          <a:prstGeom prst="rect">
            <a:avLst/>
          </a:prstGeom>
          <a:noFill/>
        </p:spPr>
        <p:txBody>
          <a:bodyPr wrap="square">
            <a:spAutoFit/>
          </a:bodyPr>
          <a:lstStyle/>
          <a:p>
            <a:pPr marL="285750" indent="-285750">
              <a:lnSpc>
                <a:spcPct val="120000"/>
              </a:lnSpc>
              <a:buFont typeface="Wingdings" panose="05000000000000000000" pitchFamily="2" charset="2"/>
              <a:buChar char="Ø"/>
            </a:pPr>
            <a:r>
              <a:rPr lang="zh-CN" altLang="en-US" sz="1600" dirty="0">
                <a:latin typeface="微软雅黑" panose="020B0503020204020204" pitchFamily="34" charset="-122"/>
              </a:rPr>
              <a:t>基于非负矩阵分解的稀疏性高光谱解混方法</a:t>
            </a:r>
            <a:endParaRPr lang="en-US" altLang="zh-CN" sz="1600" dirty="0">
              <a:latin typeface="微软雅黑" panose="020B0503020204020204" pitchFamily="34" charset="-122"/>
            </a:endParaRPr>
          </a:p>
          <a:p>
            <a:pPr marL="285750" indent="-285750">
              <a:lnSpc>
                <a:spcPct val="120000"/>
              </a:lnSpc>
              <a:buFont typeface="Wingdings" panose="05000000000000000000" pitchFamily="2" charset="2"/>
              <a:buChar char="Ø"/>
            </a:pPr>
            <a:r>
              <a:rPr lang="zh-CN" altLang="en-US" sz="1600" dirty="0">
                <a:latin typeface="微软雅黑" panose="020B0503020204020204" pitchFamily="34" charset="-122"/>
              </a:rPr>
              <a:t>基于光谱库的稀疏性高光谱解混方法</a:t>
            </a:r>
          </a:p>
        </p:txBody>
      </p:sp>
      <p:sp>
        <p:nvSpPr>
          <p:cNvPr id="6" name="矩形 5">
            <a:extLst>
              <a:ext uri="{FF2B5EF4-FFF2-40B4-BE49-F238E27FC236}">
                <a16:creationId xmlns:a16="http://schemas.microsoft.com/office/drawing/2014/main" id="{126D5CAB-1505-4A7F-2F1A-23A5A8A96081}"/>
              </a:ext>
            </a:extLst>
          </p:cNvPr>
          <p:cNvSpPr/>
          <p:nvPr/>
        </p:nvSpPr>
        <p:spPr>
          <a:xfrm>
            <a:off x="0" y="1066800"/>
            <a:ext cx="12192000" cy="5791200"/>
          </a:xfrm>
          <a:prstGeom prst="rect">
            <a:avLst/>
          </a:prstGeom>
          <a:solidFill>
            <a:srgbClr val="FFFFFF"/>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B5D57B9A-3F1D-7D0D-3F1B-4E6F45E9170C}"/>
              </a:ext>
            </a:extLst>
          </p:cNvPr>
          <p:cNvSpPr/>
          <p:nvPr/>
        </p:nvSpPr>
        <p:spPr>
          <a:xfrm>
            <a:off x="431800" y="1219200"/>
            <a:ext cx="11328400" cy="533400"/>
          </a:xfrm>
          <a:prstGeom prst="rect">
            <a:avLst/>
          </a:prstGeom>
          <a:solidFill>
            <a:srgbClr val="0054A0"/>
          </a:solidFill>
          <a:ln w="1270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700" b="1">
                <a:solidFill>
                  <a:srgbClr val="FFFFFF"/>
                </a:solidFill>
                <a:latin typeface="微软雅黑" panose="020B0503020204020204" pitchFamily="34" charset="-122"/>
              </a:rPr>
              <a:t>桌面前端、本地后端、远端调度和执行器分层解耦</a:t>
            </a:r>
          </a:p>
        </p:txBody>
      </p:sp>
      <p:sp>
        <p:nvSpPr>
          <p:cNvPr id="17" name="矩形 16">
            <a:extLst>
              <a:ext uri="{FF2B5EF4-FFF2-40B4-BE49-F238E27FC236}">
                <a16:creationId xmlns:a16="http://schemas.microsoft.com/office/drawing/2014/main" id="{E67184DE-8265-7BCD-A32B-CE1978367B31}"/>
              </a:ext>
            </a:extLst>
          </p:cNvPr>
          <p:cNvSpPr/>
          <p:nvPr/>
        </p:nvSpPr>
        <p:spPr>
          <a:xfrm>
            <a:off x="1651000" y="1905000"/>
            <a:ext cx="2159000" cy="584200"/>
          </a:xfrm>
          <a:prstGeom prst="rect">
            <a:avLst/>
          </a:prstGeom>
          <a:solidFill>
            <a:srgbClr val="0054A0"/>
          </a:solidFill>
          <a:ln w="1270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700" b="1">
                <a:solidFill>
                  <a:srgbClr val="FFFFFF"/>
                </a:solidFill>
                <a:latin typeface="微软雅黑" panose="020B0503020204020204" pitchFamily="34" charset="-122"/>
              </a:rPr>
              <a:t>桌面前端</a:t>
            </a:r>
          </a:p>
        </p:txBody>
      </p:sp>
      <p:sp>
        <p:nvSpPr>
          <p:cNvPr id="18" name="矩形 17">
            <a:extLst>
              <a:ext uri="{FF2B5EF4-FFF2-40B4-BE49-F238E27FC236}">
                <a16:creationId xmlns:a16="http://schemas.microsoft.com/office/drawing/2014/main" id="{A7B2C8C3-A598-5FAB-3E76-72BD79327973}"/>
              </a:ext>
            </a:extLst>
          </p:cNvPr>
          <p:cNvSpPr/>
          <p:nvPr/>
        </p:nvSpPr>
        <p:spPr>
          <a:xfrm>
            <a:off x="4064000" y="1905000"/>
            <a:ext cx="6350000" cy="5842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r>
              <a:rPr lang="en-US" altLang="zh-CN" sz="1400" b="1">
                <a:solidFill>
                  <a:srgbClr val="052346"/>
                </a:solidFill>
                <a:latin typeface="微软雅黑" panose="020B0503020204020204" pitchFamily="34" charset="-122"/>
              </a:rPr>
              <a:t>Tauri 2 + React
</a:t>
            </a:r>
            <a:r>
              <a:rPr lang="zh-CN" altLang="en-US" sz="1400" b="1">
                <a:solidFill>
                  <a:srgbClr val="052346"/>
                </a:solidFill>
                <a:latin typeface="微软雅黑" panose="020B0503020204020204" pitchFamily="34" charset="-122"/>
              </a:rPr>
              <a:t>任务配置、结果查看、交互入口</a:t>
            </a:r>
          </a:p>
        </p:txBody>
      </p:sp>
      <p:cxnSp>
        <p:nvCxnSpPr>
          <p:cNvPr id="19" name="直接连接符 18">
            <a:extLst>
              <a:ext uri="{FF2B5EF4-FFF2-40B4-BE49-F238E27FC236}">
                <a16:creationId xmlns:a16="http://schemas.microsoft.com/office/drawing/2014/main" id="{96D3C94A-46AE-7D45-DB2A-914173138B4D}"/>
              </a:ext>
            </a:extLst>
          </p:cNvPr>
          <p:cNvCxnSpPr/>
          <p:nvPr/>
        </p:nvCxnSpPr>
        <p:spPr>
          <a:xfrm>
            <a:off x="7239000" y="2514600"/>
            <a:ext cx="0" cy="279400"/>
          </a:xfrm>
          <a:prstGeom prst="line">
            <a:avLst/>
          </a:prstGeom>
          <a:ln w="25400">
            <a:solidFill>
              <a:srgbClr val="236CB4"/>
            </a:solidFill>
            <a:tailEnd type="arrow"/>
          </a:ln>
        </p:spPr>
        <p:style>
          <a:lnRef idx="1">
            <a:schemeClr val="accent1"/>
          </a:lnRef>
          <a:fillRef idx="0">
            <a:schemeClr val="accent1"/>
          </a:fillRef>
          <a:effectRef idx="0">
            <a:schemeClr val="accent1"/>
          </a:effectRef>
          <a:fontRef idx="minor">
            <a:schemeClr val="tx1"/>
          </a:fontRef>
        </p:style>
      </p:cxnSp>
      <p:sp>
        <p:nvSpPr>
          <p:cNvPr id="30" name="矩形 29">
            <a:extLst>
              <a:ext uri="{FF2B5EF4-FFF2-40B4-BE49-F238E27FC236}">
                <a16:creationId xmlns:a16="http://schemas.microsoft.com/office/drawing/2014/main" id="{8461703F-E814-6806-F32D-D424966EB55D}"/>
              </a:ext>
            </a:extLst>
          </p:cNvPr>
          <p:cNvSpPr/>
          <p:nvPr/>
        </p:nvSpPr>
        <p:spPr>
          <a:xfrm>
            <a:off x="1651000" y="2857500"/>
            <a:ext cx="2159000" cy="584200"/>
          </a:xfrm>
          <a:prstGeom prst="rect">
            <a:avLst/>
          </a:prstGeom>
          <a:solidFill>
            <a:srgbClr val="236CB4"/>
          </a:solidFill>
          <a:ln w="1270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700" b="1">
                <a:solidFill>
                  <a:srgbClr val="FFFFFF"/>
                </a:solidFill>
                <a:latin typeface="微软雅黑" panose="020B0503020204020204" pitchFamily="34" charset="-122"/>
              </a:rPr>
              <a:t>本地后端</a:t>
            </a:r>
          </a:p>
        </p:txBody>
      </p:sp>
      <p:sp>
        <p:nvSpPr>
          <p:cNvPr id="31" name="矩形 30">
            <a:extLst>
              <a:ext uri="{FF2B5EF4-FFF2-40B4-BE49-F238E27FC236}">
                <a16:creationId xmlns:a16="http://schemas.microsoft.com/office/drawing/2014/main" id="{E05E36DA-9A36-F190-133B-85277D592D58}"/>
              </a:ext>
            </a:extLst>
          </p:cNvPr>
          <p:cNvSpPr/>
          <p:nvPr/>
        </p:nvSpPr>
        <p:spPr>
          <a:xfrm>
            <a:off x="4064000" y="2857500"/>
            <a:ext cx="6350000" cy="584200"/>
          </a:xfrm>
          <a:prstGeom prst="rect">
            <a:avLst/>
          </a:prstGeom>
          <a:solidFill>
            <a:srgbClr val="FFFFFF"/>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r>
              <a:rPr lang="en-US" altLang="zh-CN" sz="1400" b="1">
                <a:solidFill>
                  <a:srgbClr val="052346"/>
                </a:solidFill>
                <a:latin typeface="微软雅黑" panose="020B0503020204020204" pitchFamily="34" charset="-122"/>
              </a:rPr>
              <a:t>FastAPI
</a:t>
            </a:r>
            <a:r>
              <a:rPr lang="zh-CN" altLang="en-US" sz="1400" b="1">
                <a:solidFill>
                  <a:srgbClr val="052346"/>
                </a:solidFill>
                <a:latin typeface="微软雅黑" panose="020B0503020204020204" pitchFamily="34" charset="-122"/>
              </a:rPr>
              <a:t>模型注册、任务队列、合同校验</a:t>
            </a:r>
          </a:p>
        </p:txBody>
      </p:sp>
      <p:cxnSp>
        <p:nvCxnSpPr>
          <p:cNvPr id="32" name="直接连接符 31">
            <a:extLst>
              <a:ext uri="{FF2B5EF4-FFF2-40B4-BE49-F238E27FC236}">
                <a16:creationId xmlns:a16="http://schemas.microsoft.com/office/drawing/2014/main" id="{77789B41-5A2B-095F-76AA-53CE8DF57A7D}"/>
              </a:ext>
            </a:extLst>
          </p:cNvPr>
          <p:cNvCxnSpPr/>
          <p:nvPr/>
        </p:nvCxnSpPr>
        <p:spPr>
          <a:xfrm>
            <a:off x="7239000" y="3467100"/>
            <a:ext cx="0" cy="279400"/>
          </a:xfrm>
          <a:prstGeom prst="line">
            <a:avLst/>
          </a:prstGeom>
          <a:ln w="25400">
            <a:solidFill>
              <a:srgbClr val="236CB4"/>
            </a:solidFill>
            <a:tailEnd type="arrow"/>
          </a:ln>
        </p:spPr>
        <p:style>
          <a:lnRef idx="1">
            <a:schemeClr val="accent1"/>
          </a:lnRef>
          <a:fillRef idx="0">
            <a:schemeClr val="accent1"/>
          </a:fillRef>
          <a:effectRef idx="0">
            <a:schemeClr val="accent1"/>
          </a:effectRef>
          <a:fontRef idx="minor">
            <a:schemeClr val="tx1"/>
          </a:fontRef>
        </p:style>
      </p:cxnSp>
      <p:sp>
        <p:nvSpPr>
          <p:cNvPr id="33" name="矩形 32">
            <a:extLst>
              <a:ext uri="{FF2B5EF4-FFF2-40B4-BE49-F238E27FC236}">
                <a16:creationId xmlns:a16="http://schemas.microsoft.com/office/drawing/2014/main" id="{8855DE5B-494C-1177-B3EF-6013ADB799FA}"/>
              </a:ext>
            </a:extLst>
          </p:cNvPr>
          <p:cNvSpPr/>
          <p:nvPr/>
        </p:nvSpPr>
        <p:spPr>
          <a:xfrm>
            <a:off x="1651000" y="3810000"/>
            <a:ext cx="2159000" cy="584200"/>
          </a:xfrm>
          <a:prstGeom prst="rect">
            <a:avLst/>
          </a:prstGeom>
          <a:solidFill>
            <a:srgbClr val="0054A0"/>
          </a:solidFill>
          <a:ln w="1270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700" b="1">
                <a:solidFill>
                  <a:srgbClr val="FFFFFF"/>
                </a:solidFill>
                <a:latin typeface="微软雅黑" panose="020B0503020204020204" pitchFamily="34" charset="-122"/>
              </a:rPr>
              <a:t>远端调度</a:t>
            </a:r>
          </a:p>
        </p:txBody>
      </p:sp>
      <p:sp>
        <p:nvSpPr>
          <p:cNvPr id="34" name="矩形 33">
            <a:extLst>
              <a:ext uri="{FF2B5EF4-FFF2-40B4-BE49-F238E27FC236}">
                <a16:creationId xmlns:a16="http://schemas.microsoft.com/office/drawing/2014/main" id="{C2E6132B-BB65-DAD2-E5E5-AB08C2777D6D}"/>
              </a:ext>
            </a:extLst>
          </p:cNvPr>
          <p:cNvSpPr/>
          <p:nvPr/>
        </p:nvSpPr>
        <p:spPr>
          <a:xfrm>
            <a:off x="4064000" y="3810000"/>
            <a:ext cx="6350000" cy="5842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r>
              <a:rPr lang="en-US" altLang="zh-CN" sz="1400" b="1">
                <a:solidFill>
                  <a:srgbClr val="052346"/>
                </a:solidFill>
                <a:latin typeface="微软雅黑" panose="020B0503020204020204" pitchFamily="34" charset="-122"/>
              </a:rPr>
              <a:t>SSH / SCP
</a:t>
            </a:r>
            <a:r>
              <a:rPr lang="zh-CN" altLang="en-US" sz="1400" b="1">
                <a:solidFill>
                  <a:srgbClr val="052346"/>
                </a:solidFill>
                <a:latin typeface="微软雅黑" panose="020B0503020204020204" pitchFamily="34" charset="-122"/>
              </a:rPr>
              <a:t>上传输入、启动任务、同步产物</a:t>
            </a:r>
          </a:p>
        </p:txBody>
      </p:sp>
      <p:cxnSp>
        <p:nvCxnSpPr>
          <p:cNvPr id="35" name="直接连接符 34">
            <a:extLst>
              <a:ext uri="{FF2B5EF4-FFF2-40B4-BE49-F238E27FC236}">
                <a16:creationId xmlns:a16="http://schemas.microsoft.com/office/drawing/2014/main" id="{F50DEA61-F793-50D9-52FF-CAF585DE76C3}"/>
              </a:ext>
            </a:extLst>
          </p:cNvPr>
          <p:cNvCxnSpPr/>
          <p:nvPr/>
        </p:nvCxnSpPr>
        <p:spPr>
          <a:xfrm>
            <a:off x="7239000" y="4419600"/>
            <a:ext cx="0" cy="279400"/>
          </a:xfrm>
          <a:prstGeom prst="line">
            <a:avLst/>
          </a:prstGeom>
          <a:ln w="25400">
            <a:solidFill>
              <a:srgbClr val="236CB4"/>
            </a:solidFill>
            <a:tailEnd type="arrow"/>
          </a:ln>
        </p:spPr>
        <p:style>
          <a:lnRef idx="1">
            <a:schemeClr val="accent1"/>
          </a:lnRef>
          <a:fillRef idx="0">
            <a:schemeClr val="accent1"/>
          </a:fillRef>
          <a:effectRef idx="0">
            <a:schemeClr val="accent1"/>
          </a:effectRef>
          <a:fontRef idx="minor">
            <a:schemeClr val="tx1"/>
          </a:fontRef>
        </p:style>
      </p:cxnSp>
      <p:sp>
        <p:nvSpPr>
          <p:cNvPr id="36" name="矩形 35">
            <a:extLst>
              <a:ext uri="{FF2B5EF4-FFF2-40B4-BE49-F238E27FC236}">
                <a16:creationId xmlns:a16="http://schemas.microsoft.com/office/drawing/2014/main" id="{0718B0D7-D21B-8A4E-9E38-79CEE6B132F4}"/>
              </a:ext>
            </a:extLst>
          </p:cNvPr>
          <p:cNvSpPr/>
          <p:nvPr/>
        </p:nvSpPr>
        <p:spPr>
          <a:xfrm>
            <a:off x="1651000" y="4762500"/>
            <a:ext cx="2159000" cy="584200"/>
          </a:xfrm>
          <a:prstGeom prst="rect">
            <a:avLst/>
          </a:prstGeom>
          <a:solidFill>
            <a:srgbClr val="236CB4"/>
          </a:solidFill>
          <a:ln w="1270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700" b="1">
                <a:solidFill>
                  <a:srgbClr val="FFFFFF"/>
                </a:solidFill>
                <a:latin typeface="微软雅黑" panose="020B0503020204020204" pitchFamily="34" charset="-122"/>
              </a:rPr>
              <a:t>模型执行器</a:t>
            </a:r>
          </a:p>
        </p:txBody>
      </p:sp>
      <p:sp>
        <p:nvSpPr>
          <p:cNvPr id="37" name="矩形 36">
            <a:extLst>
              <a:ext uri="{FF2B5EF4-FFF2-40B4-BE49-F238E27FC236}">
                <a16:creationId xmlns:a16="http://schemas.microsoft.com/office/drawing/2014/main" id="{06E682FB-C5A3-443F-8F1E-95800D1D0E4E}"/>
              </a:ext>
            </a:extLst>
          </p:cNvPr>
          <p:cNvSpPr/>
          <p:nvPr/>
        </p:nvSpPr>
        <p:spPr>
          <a:xfrm>
            <a:off x="4064000" y="4762500"/>
            <a:ext cx="6350000" cy="584200"/>
          </a:xfrm>
          <a:prstGeom prst="rect">
            <a:avLst/>
          </a:prstGeom>
          <a:solidFill>
            <a:srgbClr val="FFFFFF"/>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r>
              <a:rPr lang="zh-CN" altLang="en-US" sz="1400" b="1">
                <a:solidFill>
                  <a:srgbClr val="052346"/>
                </a:solidFill>
                <a:latin typeface="微软雅黑" panose="020B0503020204020204" pitchFamily="34" charset="-122"/>
              </a:rPr>
              <a:t>封装各模型命令
适配输出目录与元数据</a:t>
            </a:r>
          </a:p>
        </p:txBody>
      </p:sp>
      <p:sp>
        <p:nvSpPr>
          <p:cNvPr id="38" name="矩形 37">
            <a:extLst>
              <a:ext uri="{FF2B5EF4-FFF2-40B4-BE49-F238E27FC236}">
                <a16:creationId xmlns:a16="http://schemas.microsoft.com/office/drawing/2014/main" id="{F7F3F567-C6AA-2175-F4C0-EDA4A93A1003}"/>
              </a:ext>
            </a:extLst>
          </p:cNvPr>
          <p:cNvSpPr/>
          <p:nvPr/>
        </p:nvSpPr>
        <p:spPr>
          <a:xfrm>
            <a:off x="1651000" y="5778500"/>
            <a:ext cx="8763000" cy="4826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600" b="1">
                <a:solidFill>
                  <a:srgbClr val="052346"/>
                </a:solidFill>
                <a:latin typeface="微软雅黑" panose="020B0503020204020204" pitchFamily="34" charset="-122"/>
              </a:rPr>
              <a:t>执行器封装模型差异，平台层保持统一提交、跟踪、归集和导出。</a:t>
            </a:r>
          </a:p>
        </p:txBody>
      </p:sp>
    </p:spTree>
    <p:extLst>
      <p:ext uri="{BB962C8B-B14F-4D97-AF65-F5344CB8AC3E}">
        <p14:creationId xmlns:p14="http://schemas.microsoft.com/office/powerpoint/2010/main" val="34200543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6C448-FC36-35AA-A309-8666383D1A8B}"/>
            </a:ext>
          </a:extLst>
        </p:cNvPr>
        <p:cNvGrpSpPr/>
        <p:nvPr/>
      </p:nvGrpSpPr>
      <p:grpSpPr>
        <a:xfrm>
          <a:off x="0" y="0"/>
          <a:ext cx="0" cy="0"/>
          <a:chOff x="0" y="0"/>
          <a:chExt cx="0" cy="0"/>
        </a:xfrm>
      </p:grpSpPr>
      <p:sp>
        <p:nvSpPr>
          <p:cNvPr id="90" name="文本框 89">
            <a:extLst>
              <a:ext uri="{FF2B5EF4-FFF2-40B4-BE49-F238E27FC236}">
                <a16:creationId xmlns:a16="http://schemas.microsoft.com/office/drawing/2014/main" id="{85A692C8-69B7-DF42-1D83-830EA65885C9}"/>
              </a:ext>
            </a:extLst>
          </p:cNvPr>
          <p:cNvSpPr txBox="1"/>
          <p:nvPr/>
        </p:nvSpPr>
        <p:spPr>
          <a:xfrm>
            <a:off x="115452" y="243436"/>
            <a:ext cx="772964" cy="369332"/>
          </a:xfrm>
          <a:prstGeom prst="rect">
            <a:avLst/>
          </a:prstGeom>
          <a:noFill/>
        </p:spPr>
        <p:txBody>
          <a:bodyPr wrap="square" rtlCol="0">
            <a:spAutoFit/>
          </a:bodyPr>
          <a:lstStyle/>
          <a:p>
            <a:pPr algn="ctr"/>
            <a:r>
              <a:rPr lang="en-US" altLang="zh-CN" b="1">
                <a:solidFill>
                  <a:srgbClr val="00417D"/>
                </a:solidFill>
                <a:latin typeface="微软雅黑" panose="020B0503020204020204" pitchFamily="34" charset="-122"/>
              </a:rPr>
              <a:t>3.2</a:t>
            </a:r>
            <a:endParaRPr lang="zh-CN" altLang="en-US" b="1" dirty="0">
              <a:solidFill>
                <a:srgbClr val="00417D"/>
              </a:solidFill>
              <a:latin typeface="微软雅黑" panose="020B0503020204020204" pitchFamily="34" charset="-122"/>
            </a:endParaRPr>
          </a:p>
        </p:txBody>
      </p:sp>
      <p:sp>
        <p:nvSpPr>
          <p:cNvPr id="92" name="文本框 91">
            <a:extLst>
              <a:ext uri="{FF2B5EF4-FFF2-40B4-BE49-F238E27FC236}">
                <a16:creationId xmlns:a16="http://schemas.microsoft.com/office/drawing/2014/main" id="{756D7332-671D-7D0A-7FA8-FCC77F89DBCA}"/>
              </a:ext>
            </a:extLst>
          </p:cNvPr>
          <p:cNvSpPr txBox="1"/>
          <p:nvPr/>
        </p:nvSpPr>
        <p:spPr>
          <a:xfrm>
            <a:off x="946461" y="269201"/>
            <a:ext cx="6440714" cy="477054"/>
          </a:xfrm>
          <a:prstGeom prst="rect">
            <a:avLst/>
          </a:prstGeom>
          <a:noFill/>
        </p:spPr>
        <p:txBody>
          <a:bodyPr wrap="square">
            <a:spAutoFit/>
          </a:bodyPr>
          <a:lstStyle/>
          <a:p>
            <a:r>
              <a:rPr lang="zh-CN" altLang="en-US" sz="2500" b="1">
                <a:solidFill>
                  <a:srgbClr val="00417D"/>
                </a:solidFill>
                <a:latin typeface="微软雅黑" panose="020B0503020204020204" pitchFamily="34" charset="-122"/>
              </a:rPr>
              <a:t>统一执行合同</a:t>
            </a:r>
            <a:endParaRPr lang="zh-CN" altLang="en-US" sz="2500" b="1" dirty="0">
              <a:solidFill>
                <a:srgbClr val="00417D"/>
              </a:solidFill>
              <a:latin typeface="微软雅黑" panose="020B0503020204020204" pitchFamily="34" charset="-122"/>
            </a:endParaRPr>
          </a:p>
        </p:txBody>
      </p:sp>
      <p:sp>
        <p:nvSpPr>
          <p:cNvPr id="2" name="矩形: 圆角 1">
            <a:extLst>
              <a:ext uri="{FF2B5EF4-FFF2-40B4-BE49-F238E27FC236}">
                <a16:creationId xmlns:a16="http://schemas.microsoft.com/office/drawing/2014/main" id="{D7A6ADFC-2041-7B88-8530-65151F96F530}"/>
              </a:ext>
            </a:extLst>
          </p:cNvPr>
          <p:cNvSpPr/>
          <p:nvPr/>
        </p:nvSpPr>
        <p:spPr>
          <a:xfrm>
            <a:off x="479426" y="1159628"/>
            <a:ext cx="11217274" cy="714367"/>
          </a:xfrm>
          <a:prstGeom prst="roundRect">
            <a:avLst>
              <a:gd name="adj" fmla="val 3293"/>
            </a:avLst>
          </a:prstGeom>
          <a:solidFill>
            <a:schemeClr val="bg1"/>
          </a:solidFill>
          <a:ln w="3175" cap="flat" cmpd="sng" algn="ctr">
            <a:solidFill>
              <a:schemeClr val="accent1"/>
            </a:solidFill>
            <a:prstDash val="solid"/>
            <a:miter lim="800000"/>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3" name="文本框 2">
            <a:extLst>
              <a:ext uri="{FF2B5EF4-FFF2-40B4-BE49-F238E27FC236}">
                <a16:creationId xmlns:a16="http://schemas.microsoft.com/office/drawing/2014/main" id="{F36C15BD-FC46-FE14-9215-A260C123F22B}"/>
              </a:ext>
            </a:extLst>
          </p:cNvPr>
          <p:cNvSpPr txBox="1"/>
          <p:nvPr/>
        </p:nvSpPr>
        <p:spPr>
          <a:xfrm>
            <a:off x="833648" y="1250488"/>
            <a:ext cx="10508830" cy="532646"/>
          </a:xfrm>
          <a:prstGeom prst="rect">
            <a:avLst/>
          </a:prstGeom>
          <a:noFill/>
        </p:spPr>
        <p:txBody>
          <a:bodyPr wrap="none">
            <a:noAutofit/>
          </a:bodyPr>
          <a:lstStyle/>
          <a:p>
            <a:pPr algn="just">
              <a:lnSpc>
                <a:spcPct val="130000"/>
              </a:lnSpc>
            </a:pPr>
            <a:r>
              <a:rPr lang="zh-CN" altLang="en-US" sz="2400" b="1" dirty="0">
                <a:solidFill>
                  <a:schemeClr val="accent1"/>
                </a:solidFill>
                <a:latin typeface="微软雅黑" panose="020B0503020204020204" pitchFamily="34" charset="-122"/>
                <a:ea typeface="微软雅黑" panose="020B0503020204020204" pitchFamily="34" charset="-122"/>
              </a:rPr>
              <a:t>多铁材料与磁电调控对于未来信息技术和电子器件的发展具有重要的推动作用</a:t>
            </a:r>
          </a:p>
        </p:txBody>
      </p:sp>
      <p:sp>
        <p:nvSpPr>
          <p:cNvPr id="4" name="幻云PPT-演示军团1">
            <a:extLst>
              <a:ext uri="{FF2B5EF4-FFF2-40B4-BE49-F238E27FC236}">
                <a16:creationId xmlns:a16="http://schemas.microsoft.com/office/drawing/2014/main" id="{DC74C6B0-04D3-7711-BE51-FC72DFFC2447}"/>
              </a:ext>
            </a:extLst>
          </p:cNvPr>
          <p:cNvSpPr/>
          <p:nvPr>
            <p:custDataLst>
              <p:tags r:id="rId1"/>
            </p:custDataLst>
          </p:nvPr>
        </p:nvSpPr>
        <p:spPr>
          <a:xfrm>
            <a:off x="6183311" y="2406157"/>
            <a:ext cx="5511947" cy="4046855"/>
          </a:xfrm>
          <a:prstGeom prst="roundRect">
            <a:avLst>
              <a:gd name="adj" fmla="val 812"/>
            </a:avLst>
          </a:prstGeom>
          <a:solidFill>
            <a:srgbClr val="FFFFFF"/>
          </a:solidFill>
          <a:ln w="3175" cap="flat" cmpd="sng" algn="ctr">
            <a:solidFill>
              <a:schemeClr val="accent1"/>
            </a:solidFill>
            <a:prstDash val="solid"/>
            <a:miter lim="800000"/>
          </a:ln>
          <a:effectLst/>
        </p:spPr>
        <p:txBody>
          <a:bodyPr rtlCol="0" anchor="ctr"/>
          <a:lstStyle/>
          <a:p>
            <a:pPr algn="ctr"/>
            <a:endParaRPr lang="en-US" kern="0" dirty="0">
              <a:solidFill>
                <a:srgbClr val="E5EDF4"/>
              </a:solidFill>
              <a:latin typeface="微软雅黑" panose="020B0503020204020204" pitchFamily="34" charset="-122"/>
            </a:endParaRPr>
          </a:p>
        </p:txBody>
      </p:sp>
      <p:sp>
        <p:nvSpPr>
          <p:cNvPr id="5" name="幻云PPT-演示军团19">
            <a:extLst>
              <a:ext uri="{FF2B5EF4-FFF2-40B4-BE49-F238E27FC236}">
                <a16:creationId xmlns:a16="http://schemas.microsoft.com/office/drawing/2014/main" id="{E8D00879-6D88-082B-87D9-96FE84AF5284}"/>
              </a:ext>
            </a:extLst>
          </p:cNvPr>
          <p:cNvSpPr/>
          <p:nvPr>
            <p:custDataLst>
              <p:tags r:id="rId2"/>
            </p:custDataLst>
          </p:nvPr>
        </p:nvSpPr>
        <p:spPr>
          <a:xfrm>
            <a:off x="6183312" y="1964855"/>
            <a:ext cx="5527819" cy="578212"/>
          </a:xfrm>
          <a:prstGeom prst="roundRect">
            <a:avLst>
              <a:gd name="adj" fmla="val 5827"/>
            </a:avLst>
          </a:prstGeom>
          <a:solidFill>
            <a:schemeClr val="accent1"/>
          </a:solidFill>
          <a:ln w="3175" cap="flat" cmpd="sng" algn="ctr">
            <a:noFill/>
            <a:prstDash val="solid"/>
            <a:miter lim="800000"/>
          </a:ln>
          <a:effectLst/>
        </p:spPr>
        <p:txBody>
          <a:bodyPr lIns="76535" tIns="38268" rIns="76535" bIns="38268" rtlCol="0" anchor="ctr"/>
          <a:lstStyle/>
          <a:p>
            <a:pPr algn="ctr"/>
            <a:r>
              <a:rPr lang="zh-CN" altLang="en-US" sz="2400" b="1" kern="0" dirty="0">
                <a:solidFill>
                  <a:srgbClr val="FFFFFF"/>
                </a:solidFill>
                <a:latin typeface="微软雅黑" panose="020B0503020204020204" pitchFamily="34" charset="-122"/>
                <a:ea typeface="微软雅黑" panose="020B0503020204020204" pitchFamily="34" charset="-122"/>
                <a:cs typeface="OPPOSans B" panose="00020600040101010101" pitchFamily="18" charset="-122"/>
              </a:rPr>
              <a:t>研发数据研究</a:t>
            </a:r>
            <a:endParaRPr lang="en-US" altLang="zh-CN" sz="2400" b="1" kern="0" dirty="0">
              <a:solidFill>
                <a:srgbClr val="FFFFFF"/>
              </a:solidFill>
              <a:latin typeface="微软雅黑" panose="020B0503020204020204" pitchFamily="34" charset="-122"/>
              <a:ea typeface="微软雅黑" panose="020B0503020204020204" pitchFamily="34" charset="-122"/>
              <a:cs typeface="OPPOSans B" panose="00020600040101010101" pitchFamily="18" charset="-122"/>
            </a:endParaRPr>
          </a:p>
        </p:txBody>
      </p:sp>
      <p:graphicFrame>
        <p:nvGraphicFramePr>
          <p:cNvPr id="8" name="幻云PPT-演示军团30">
            <a:extLst>
              <a:ext uri="{FF2B5EF4-FFF2-40B4-BE49-F238E27FC236}">
                <a16:creationId xmlns:a16="http://schemas.microsoft.com/office/drawing/2014/main" id="{C8695655-0342-72DF-8869-FE6EB9D41F8F}"/>
              </a:ext>
            </a:extLst>
          </p:cNvPr>
          <p:cNvGraphicFramePr/>
          <p:nvPr>
            <p:extLst>
              <p:ext uri="{D42A27DB-BD31-4B8C-83A1-F6EECF244321}">
                <p14:modId xmlns:p14="http://schemas.microsoft.com/office/powerpoint/2010/main" val="3483799321"/>
              </p:ext>
            </p:extLst>
          </p:nvPr>
        </p:nvGraphicFramePr>
        <p:xfrm>
          <a:off x="6394475" y="2691144"/>
          <a:ext cx="5086667" cy="1848046"/>
        </p:xfrm>
        <a:graphic>
          <a:graphicData uri="http://schemas.openxmlformats.org/drawingml/2006/chart">
            <c:chart xmlns:c="http://schemas.openxmlformats.org/drawingml/2006/chart" xmlns:r="http://schemas.openxmlformats.org/officeDocument/2006/relationships" r:id="rId11"/>
          </a:graphicData>
        </a:graphic>
      </p:graphicFrame>
      <p:pic>
        <p:nvPicPr>
          <p:cNvPr id="9" name="图片 8">
            <a:extLst>
              <a:ext uri="{FF2B5EF4-FFF2-40B4-BE49-F238E27FC236}">
                <a16:creationId xmlns:a16="http://schemas.microsoft.com/office/drawing/2014/main" id="{9C09736C-2B1C-DEE0-17DE-056AC4FBE54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394475" y="4676010"/>
            <a:ext cx="2444725" cy="1626954"/>
          </a:xfrm>
          <a:prstGeom prst="roundRect">
            <a:avLst>
              <a:gd name="adj" fmla="val 1084"/>
            </a:avLst>
          </a:prstGeom>
          <a:solidFill>
            <a:schemeClr val="accent3">
              <a:alpha val="30000"/>
            </a:schemeClr>
          </a:solidFill>
          <a:ln w="9525" cap="flat" cmpd="sng" algn="ctr">
            <a:solidFill>
              <a:schemeClr val="accent1"/>
            </a:solidFill>
            <a:prstDash val="lgDash"/>
            <a:miter lim="800000"/>
          </a:ln>
          <a:effectLst/>
        </p:spPr>
      </p:pic>
      <p:pic>
        <p:nvPicPr>
          <p:cNvPr id="10" name="图片 9">
            <a:extLst>
              <a:ext uri="{FF2B5EF4-FFF2-40B4-BE49-F238E27FC236}">
                <a16:creationId xmlns:a16="http://schemas.microsoft.com/office/drawing/2014/main" id="{1EA3641E-B840-F652-BFE8-6E52CE981B66}"/>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036417" y="4675670"/>
            <a:ext cx="2444724" cy="1627634"/>
          </a:xfrm>
          <a:prstGeom prst="roundRect">
            <a:avLst>
              <a:gd name="adj" fmla="val 1084"/>
            </a:avLst>
          </a:prstGeom>
          <a:solidFill>
            <a:schemeClr val="accent3">
              <a:alpha val="30000"/>
            </a:schemeClr>
          </a:solidFill>
          <a:ln w="9525" cap="flat" cmpd="sng" algn="ctr">
            <a:solidFill>
              <a:schemeClr val="accent1"/>
            </a:solidFill>
            <a:prstDash val="lgDash"/>
            <a:miter lim="800000"/>
          </a:ln>
          <a:effectLst/>
        </p:spPr>
      </p:pic>
      <p:sp>
        <p:nvSpPr>
          <p:cNvPr id="11" name="幻云PPT-演示军团1">
            <a:extLst>
              <a:ext uri="{FF2B5EF4-FFF2-40B4-BE49-F238E27FC236}">
                <a16:creationId xmlns:a16="http://schemas.microsoft.com/office/drawing/2014/main" id="{7CFF70C4-586B-70DD-ECB9-5382CAE9B58C}"/>
              </a:ext>
            </a:extLst>
          </p:cNvPr>
          <p:cNvSpPr/>
          <p:nvPr>
            <p:custDataLst>
              <p:tags r:id="rId3"/>
            </p:custDataLst>
          </p:nvPr>
        </p:nvSpPr>
        <p:spPr>
          <a:xfrm>
            <a:off x="492809" y="2000799"/>
            <a:ext cx="5493285" cy="2062731"/>
          </a:xfrm>
          <a:prstGeom prst="roundRect">
            <a:avLst>
              <a:gd name="adj" fmla="val 617"/>
            </a:avLst>
          </a:prstGeom>
          <a:solidFill>
            <a:srgbClr val="FFFFFF"/>
          </a:solidFill>
          <a:ln w="3175" cap="flat" cmpd="sng" algn="ctr">
            <a:solidFill>
              <a:schemeClr val="accent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E5EDF4"/>
              </a:solidFill>
              <a:effectLst/>
              <a:uLnTx/>
              <a:uFillTx/>
              <a:latin typeface="微软雅黑" panose="020B0503020204020204" pitchFamily="34" charset="-122"/>
              <a:ea typeface="+mn-ea"/>
              <a:cs typeface="+mn-cs"/>
            </a:endParaRPr>
          </a:p>
        </p:txBody>
      </p:sp>
      <p:sp>
        <p:nvSpPr>
          <p:cNvPr id="12" name="幻云PPT-演示军团19">
            <a:extLst>
              <a:ext uri="{FF2B5EF4-FFF2-40B4-BE49-F238E27FC236}">
                <a16:creationId xmlns:a16="http://schemas.microsoft.com/office/drawing/2014/main" id="{FA1B6605-A767-5DCD-85F8-936E73DFA664}"/>
              </a:ext>
            </a:extLst>
          </p:cNvPr>
          <p:cNvSpPr/>
          <p:nvPr>
            <p:custDataLst>
              <p:tags r:id="rId4"/>
            </p:custDataLst>
          </p:nvPr>
        </p:nvSpPr>
        <p:spPr>
          <a:xfrm>
            <a:off x="492810" y="1979405"/>
            <a:ext cx="5493284" cy="453490"/>
          </a:xfrm>
          <a:prstGeom prst="roundRect">
            <a:avLst>
              <a:gd name="adj" fmla="val 3727"/>
            </a:avLst>
          </a:prstGeom>
          <a:solidFill>
            <a:schemeClr val="accent1"/>
          </a:solidFill>
          <a:ln w="3175" cap="flat" cmpd="sng" algn="ctr">
            <a:noFill/>
            <a:prstDash val="solid"/>
            <a:miter lim="800000"/>
          </a:ln>
          <a:effectLst/>
        </p:spPr>
        <p:txBody>
          <a:bodyPr lIns="76535" tIns="38268" rIns="76535" bIns="38268"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OPPOSans B" panose="00020600040101010101" pitchFamily="18" charset="-122"/>
              </a:rPr>
              <a:t>研究难题</a:t>
            </a:r>
            <a:endParaRPr kumimoji="0" lang="en-US" altLang="zh-CN" sz="2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OPPOSans B" panose="00020600040101010101" pitchFamily="18" charset="-122"/>
            </a:endParaRPr>
          </a:p>
        </p:txBody>
      </p:sp>
      <p:sp>
        <p:nvSpPr>
          <p:cNvPr id="13" name="幻云PPT-演示军团1">
            <a:extLst>
              <a:ext uri="{FF2B5EF4-FFF2-40B4-BE49-F238E27FC236}">
                <a16:creationId xmlns:a16="http://schemas.microsoft.com/office/drawing/2014/main" id="{DE03F39A-773D-E1A6-3B18-BB6342F826F6}"/>
              </a:ext>
            </a:extLst>
          </p:cNvPr>
          <p:cNvSpPr/>
          <p:nvPr>
            <p:custDataLst>
              <p:tags r:id="rId5"/>
            </p:custDataLst>
          </p:nvPr>
        </p:nvSpPr>
        <p:spPr>
          <a:xfrm>
            <a:off x="492809" y="4388399"/>
            <a:ext cx="5493285" cy="2062731"/>
          </a:xfrm>
          <a:prstGeom prst="roundRect">
            <a:avLst>
              <a:gd name="adj" fmla="val 617"/>
            </a:avLst>
          </a:prstGeom>
          <a:solidFill>
            <a:srgbClr val="FFFFFF"/>
          </a:solidFill>
          <a:ln w="3175" cap="flat" cmpd="sng" algn="ctr">
            <a:solidFill>
              <a:schemeClr val="accent1"/>
            </a:solidFill>
            <a:prstDash val="solid"/>
            <a:miter lim="800000"/>
          </a:ln>
          <a:effectLst/>
        </p:spPr>
        <p:txBody>
          <a:bodyPr rtlCol="0" anchor="ctr"/>
          <a:lstStyle/>
          <a:p>
            <a:pPr algn="ctr"/>
            <a:endParaRPr lang="en-US" kern="0" dirty="0">
              <a:solidFill>
                <a:srgbClr val="E5EDF4"/>
              </a:solidFill>
              <a:latin typeface="微软雅黑" panose="020B0503020204020204" pitchFamily="34" charset="-122"/>
            </a:endParaRPr>
          </a:p>
        </p:txBody>
      </p:sp>
      <p:sp>
        <p:nvSpPr>
          <p:cNvPr id="14" name="幻云PPT-演示军团19">
            <a:extLst>
              <a:ext uri="{FF2B5EF4-FFF2-40B4-BE49-F238E27FC236}">
                <a16:creationId xmlns:a16="http://schemas.microsoft.com/office/drawing/2014/main" id="{FC9ABA25-F49A-5E87-1639-F3F10118BDBB}"/>
              </a:ext>
            </a:extLst>
          </p:cNvPr>
          <p:cNvSpPr/>
          <p:nvPr>
            <p:custDataLst>
              <p:tags r:id="rId6"/>
            </p:custDataLst>
          </p:nvPr>
        </p:nvSpPr>
        <p:spPr>
          <a:xfrm>
            <a:off x="492810" y="4367005"/>
            <a:ext cx="5493284" cy="453490"/>
          </a:xfrm>
          <a:prstGeom prst="roundRect">
            <a:avLst>
              <a:gd name="adj" fmla="val 3727"/>
            </a:avLst>
          </a:prstGeom>
          <a:solidFill>
            <a:schemeClr val="accent1"/>
          </a:solidFill>
          <a:ln w="3175" cap="flat" cmpd="sng" algn="ctr">
            <a:noFill/>
            <a:prstDash val="solid"/>
            <a:miter lim="800000"/>
          </a:ln>
          <a:effectLst/>
        </p:spPr>
        <p:txBody>
          <a:bodyPr lIns="76535" tIns="38268" rIns="76535" bIns="38268" rtlCol="0" anchor="ctr"/>
          <a:lstStyle/>
          <a:p>
            <a:pPr algn="ctr"/>
            <a:r>
              <a:rPr lang="zh-CN" altLang="en-US" sz="2400" b="1" kern="0" dirty="0">
                <a:solidFill>
                  <a:srgbClr val="FFFFFF"/>
                </a:solidFill>
                <a:latin typeface="微软雅黑" panose="020B0503020204020204" pitchFamily="34" charset="-122"/>
                <a:ea typeface="微软雅黑" panose="020B0503020204020204" pitchFamily="34" charset="-122"/>
                <a:cs typeface="OPPOSans B" panose="00020600040101010101" pitchFamily="18" charset="-122"/>
              </a:rPr>
              <a:t>解决方法</a:t>
            </a:r>
            <a:endParaRPr lang="en-US" altLang="zh-CN" sz="2400" b="1" kern="0" dirty="0">
              <a:solidFill>
                <a:srgbClr val="FFFFFF"/>
              </a:solidFill>
              <a:latin typeface="微软雅黑" panose="020B0503020204020204" pitchFamily="34" charset="-122"/>
              <a:ea typeface="微软雅黑" panose="020B0503020204020204" pitchFamily="34" charset="-122"/>
              <a:cs typeface="OPPOSans B" panose="00020600040101010101" pitchFamily="18" charset="-122"/>
            </a:endParaRPr>
          </a:p>
        </p:txBody>
      </p:sp>
      <p:sp>
        <p:nvSpPr>
          <p:cNvPr id="15" name="幻云PPT-演示军团14">
            <a:extLst>
              <a:ext uri="{FF2B5EF4-FFF2-40B4-BE49-F238E27FC236}">
                <a16:creationId xmlns:a16="http://schemas.microsoft.com/office/drawing/2014/main" id="{040B9002-B667-5EE7-8CE0-771063B5BDFC}"/>
              </a:ext>
            </a:extLst>
          </p:cNvPr>
          <p:cNvSpPr/>
          <p:nvPr/>
        </p:nvSpPr>
        <p:spPr>
          <a:xfrm>
            <a:off x="658812" y="2640114"/>
            <a:ext cx="5113338" cy="1240786"/>
          </a:xfrm>
          <a:prstGeom prst="roundRect">
            <a:avLst>
              <a:gd name="adj" fmla="val 3651"/>
            </a:avLst>
          </a:prstGeom>
          <a:solidFill>
            <a:schemeClr val="accent3">
              <a:alpha val="30000"/>
            </a:schemeClr>
          </a:solidFill>
          <a:ln w="9525" cap="flat" cmpd="sng" algn="ctr">
            <a:solidFill>
              <a:schemeClr val="accent1"/>
            </a:solidFill>
            <a:prstDash val="lgDash"/>
            <a:miter lim="800000"/>
          </a:ln>
          <a:effectLst/>
        </p:spPr>
        <p:txBody>
          <a:bodyPr rtlCol="0" anchor="ctr"/>
          <a:lstStyle/>
          <a:p>
            <a:pPr marL="0" marR="0" lvl="0" indent="0" algn="just" defTabSz="4572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endParaRPr>
          </a:p>
        </p:txBody>
      </p:sp>
      <p:sp>
        <p:nvSpPr>
          <p:cNvPr id="16" name="幻云PPT-演示军团7">
            <a:extLst>
              <a:ext uri="{FF2B5EF4-FFF2-40B4-BE49-F238E27FC236}">
                <a16:creationId xmlns:a16="http://schemas.microsoft.com/office/drawing/2014/main" id="{D3826F87-801A-6A84-6749-4511D4D96150}"/>
              </a:ext>
            </a:extLst>
          </p:cNvPr>
          <p:cNvSpPr txBox="1"/>
          <p:nvPr>
            <p:custDataLst>
              <p:tags r:id="rId7"/>
            </p:custDataLst>
          </p:nvPr>
        </p:nvSpPr>
        <p:spPr>
          <a:xfrm>
            <a:off x="848280" y="2737569"/>
            <a:ext cx="4799485" cy="1045613"/>
          </a:xfrm>
          <a:prstGeom prst="rect">
            <a:avLst/>
          </a:prstGeom>
          <a:noFill/>
          <a:effectLst/>
        </p:spPr>
        <p:txBody>
          <a:bodyPr wrap="square" lIns="70363" tIns="35182" rIns="70363" bIns="35182" rtlCol="0">
            <a:spAutoFit/>
          </a:bodyPr>
          <a:lstStyle/>
          <a:p>
            <a:pPr>
              <a:lnSpc>
                <a:spcPct val="120000"/>
              </a:lnSpc>
            </a:pPr>
            <a:r>
              <a:rPr lang="zh-CN" altLang="en-US" dirty="0">
                <a:solidFill>
                  <a:schemeClr val="accent1"/>
                </a:solidFill>
                <a:latin typeface="微软雅黑" panose="020B0503020204020204" pitchFamily="34" charset="-122"/>
                <a:ea typeface="微软雅黑" panose="020B0503020204020204" pitchFamily="34" charset="-122"/>
                <a:cs typeface="OPPOSans R" panose="00020600040101010101" pitchFamily="18" charset="-122"/>
              </a:rPr>
              <a:t>界面效应</a:t>
            </a:r>
            <a:r>
              <a:rPr lang="zh-CN" altLang="en-US" dirty="0">
                <a:solidFill>
                  <a:srgbClr val="000000"/>
                </a:solidFill>
                <a:latin typeface="微软雅黑" panose="020B0503020204020204" pitchFamily="34" charset="-122"/>
                <a:ea typeface="微软雅黑" panose="020B0503020204020204" pitchFamily="34" charset="-122"/>
                <a:cs typeface="OPPOSans R" panose="00020600040101010101" pitchFamily="18" charset="-122"/>
              </a:rPr>
              <a:t>：在纳米尺度薄膜中，界面效应在一定程度上限制了传统铁电材料在高速微型化铁电元器件中的应用</a:t>
            </a:r>
            <a:endParaRPr lang="en-US" dirty="0">
              <a:solidFill>
                <a:srgbClr val="000000"/>
              </a:solidFill>
              <a:latin typeface="微软雅黑" panose="020B0503020204020204" pitchFamily="34" charset="-122"/>
              <a:ea typeface="微软雅黑" panose="020B0503020204020204" pitchFamily="34" charset="-122"/>
              <a:cs typeface="OPPOSans R" panose="00020600040101010101" pitchFamily="18" charset="-122"/>
            </a:endParaRPr>
          </a:p>
        </p:txBody>
      </p:sp>
      <p:sp>
        <p:nvSpPr>
          <p:cNvPr id="17" name="幻云PPT-演示军团14">
            <a:extLst>
              <a:ext uri="{FF2B5EF4-FFF2-40B4-BE49-F238E27FC236}">
                <a16:creationId xmlns:a16="http://schemas.microsoft.com/office/drawing/2014/main" id="{B35ACE92-173B-D8DC-892C-AE6C0EB22421}"/>
              </a:ext>
            </a:extLst>
          </p:cNvPr>
          <p:cNvSpPr/>
          <p:nvPr/>
        </p:nvSpPr>
        <p:spPr>
          <a:xfrm>
            <a:off x="658812" y="5015559"/>
            <a:ext cx="5113338" cy="1240786"/>
          </a:xfrm>
          <a:prstGeom prst="roundRect">
            <a:avLst>
              <a:gd name="adj" fmla="val 3651"/>
            </a:avLst>
          </a:prstGeom>
          <a:solidFill>
            <a:schemeClr val="accent3">
              <a:alpha val="30000"/>
            </a:schemeClr>
          </a:solidFill>
          <a:ln w="9525" cap="flat" cmpd="sng" algn="ctr">
            <a:solidFill>
              <a:schemeClr val="accent1"/>
            </a:solidFill>
            <a:prstDash val="lgDash"/>
            <a:miter lim="800000"/>
          </a:ln>
          <a:effectLst/>
        </p:spPr>
        <p:txBody>
          <a:bodyPr rtlCol="0" anchor="ctr"/>
          <a:lstStyle/>
          <a:p>
            <a:pPr algn="just" defTabSz="457200"/>
            <a:endParaRPr lang="en-US" sz="1200" kern="0" dirty="0">
              <a:solidFill>
                <a:prstClr val="white"/>
              </a:solidFill>
              <a:latin typeface="Arial" panose="020B0604020202020204" pitchFamily="34" charset="0"/>
              <a:ea typeface="微软雅黑" panose="020B0503020204020204" pitchFamily="34" charset="-122"/>
            </a:endParaRPr>
          </a:p>
        </p:txBody>
      </p:sp>
      <p:sp>
        <p:nvSpPr>
          <p:cNvPr id="18" name="幻云PPT-演示军团7">
            <a:extLst>
              <a:ext uri="{FF2B5EF4-FFF2-40B4-BE49-F238E27FC236}">
                <a16:creationId xmlns:a16="http://schemas.microsoft.com/office/drawing/2014/main" id="{4E9E99BE-FA2A-1B93-278B-582988BCEB65}"/>
              </a:ext>
            </a:extLst>
          </p:cNvPr>
          <p:cNvSpPr txBox="1"/>
          <p:nvPr>
            <p:custDataLst>
              <p:tags r:id="rId8"/>
            </p:custDataLst>
          </p:nvPr>
        </p:nvSpPr>
        <p:spPr>
          <a:xfrm>
            <a:off x="848280" y="5113014"/>
            <a:ext cx="4799485" cy="1045613"/>
          </a:xfrm>
          <a:prstGeom prst="rect">
            <a:avLst/>
          </a:prstGeom>
          <a:noFill/>
          <a:effectLst/>
        </p:spPr>
        <p:txBody>
          <a:bodyPr wrap="square" lIns="70363" tIns="35182" rIns="70363" bIns="35182" rtlCol="0">
            <a:spAutoFit/>
          </a:bodyPr>
          <a:lstStyle/>
          <a:p>
            <a:pPr>
              <a:lnSpc>
                <a:spcPct val="120000"/>
              </a:lnSpc>
            </a:pPr>
            <a:r>
              <a:rPr lang="zh-CN" altLang="en-US" dirty="0">
                <a:solidFill>
                  <a:schemeClr val="accent1"/>
                </a:solidFill>
                <a:latin typeface="微软雅黑" panose="020B0503020204020204" pitchFamily="34" charset="-122"/>
                <a:ea typeface="微软雅黑" panose="020B0503020204020204" pitchFamily="34" charset="-122"/>
                <a:cs typeface="OPPOSans R" panose="00020600040101010101" pitchFamily="18" charset="-122"/>
              </a:rPr>
              <a:t>电场调控氧离子栅极：</a:t>
            </a:r>
            <a:r>
              <a:rPr lang="zh-CN" altLang="en-US" dirty="0">
                <a:solidFill>
                  <a:srgbClr val="000000"/>
                </a:solidFill>
                <a:latin typeface="微软雅黑" panose="020B0503020204020204" pitchFamily="34" charset="-122"/>
                <a:ea typeface="微软雅黑" panose="020B0503020204020204" pitchFamily="34" charset="-122"/>
                <a:cs typeface="OPPOSans R" panose="00020600040101010101" pitchFamily="18" charset="-122"/>
              </a:rPr>
              <a:t>通过电场调控氧离子栅极与磁性金属界面处的磁相互作用，在室温下实现快速的磁电耦合效应和阻变存储</a:t>
            </a:r>
            <a:endParaRPr lang="en-US" dirty="0">
              <a:solidFill>
                <a:srgbClr val="000000"/>
              </a:solidFill>
              <a:latin typeface="微软雅黑" panose="020B0503020204020204" pitchFamily="34" charset="-122"/>
              <a:ea typeface="微软雅黑" panose="020B0503020204020204" pitchFamily="34" charset="-122"/>
              <a:cs typeface="OPPOSans R" panose="00020600040101010101" pitchFamily="18" charset="-122"/>
            </a:endParaRPr>
          </a:p>
        </p:txBody>
      </p:sp>
      <p:sp>
        <p:nvSpPr>
          <p:cNvPr id="6" name="矩形 5">
            <a:extLst>
              <a:ext uri="{FF2B5EF4-FFF2-40B4-BE49-F238E27FC236}">
                <a16:creationId xmlns:a16="http://schemas.microsoft.com/office/drawing/2014/main" id="{2F13FE5D-E9E9-3B11-24C1-4D3191E802D5}"/>
              </a:ext>
            </a:extLst>
          </p:cNvPr>
          <p:cNvSpPr/>
          <p:nvPr/>
        </p:nvSpPr>
        <p:spPr>
          <a:xfrm>
            <a:off x="0" y="1066800"/>
            <a:ext cx="12192000" cy="5791200"/>
          </a:xfrm>
          <a:prstGeom prst="rect">
            <a:avLst/>
          </a:prstGeom>
          <a:solidFill>
            <a:srgbClr val="FFFFFF"/>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38BB7708-331B-9BB3-3FEE-7B221C6593E4}"/>
              </a:ext>
            </a:extLst>
          </p:cNvPr>
          <p:cNvSpPr/>
          <p:nvPr/>
        </p:nvSpPr>
        <p:spPr>
          <a:xfrm>
            <a:off x="431800" y="1219200"/>
            <a:ext cx="11328400" cy="533400"/>
          </a:xfrm>
          <a:prstGeom prst="rect">
            <a:avLst/>
          </a:prstGeom>
          <a:solidFill>
            <a:srgbClr val="0054A0"/>
          </a:solidFill>
          <a:ln w="1270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700" b="1">
                <a:solidFill>
                  <a:srgbClr val="FFFFFF"/>
                </a:solidFill>
                <a:latin typeface="微软雅黑" panose="020B0503020204020204" pitchFamily="34" charset="-122"/>
              </a:rPr>
              <a:t>三类状态文件把模型脚本纳入统一任务流程</a:t>
            </a:r>
          </a:p>
        </p:txBody>
      </p:sp>
      <p:sp>
        <p:nvSpPr>
          <p:cNvPr id="19" name="矩形 18">
            <a:extLst>
              <a:ext uri="{FF2B5EF4-FFF2-40B4-BE49-F238E27FC236}">
                <a16:creationId xmlns:a16="http://schemas.microsoft.com/office/drawing/2014/main" id="{581634AF-AE95-595B-1E1D-8E056D230301}"/>
              </a:ext>
            </a:extLst>
          </p:cNvPr>
          <p:cNvSpPr/>
          <p:nvPr/>
        </p:nvSpPr>
        <p:spPr>
          <a:xfrm>
            <a:off x="952500" y="2032000"/>
            <a:ext cx="2095500" cy="457200"/>
          </a:xfrm>
          <a:prstGeom prst="rect">
            <a:avLst/>
          </a:prstGeom>
          <a:solidFill>
            <a:srgbClr val="0054A0"/>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400" b="1">
                <a:solidFill>
                  <a:srgbClr val="FFFFFF"/>
                </a:solidFill>
                <a:latin typeface="微软雅黑" panose="020B0503020204020204" pitchFamily="34" charset="-122"/>
              </a:rPr>
              <a:t>文件</a:t>
            </a:r>
          </a:p>
        </p:txBody>
      </p:sp>
      <p:sp>
        <p:nvSpPr>
          <p:cNvPr id="20" name="矩形 19">
            <a:extLst>
              <a:ext uri="{FF2B5EF4-FFF2-40B4-BE49-F238E27FC236}">
                <a16:creationId xmlns:a16="http://schemas.microsoft.com/office/drawing/2014/main" id="{26E969BB-87E6-189B-A1DE-8E41F154E70C}"/>
              </a:ext>
            </a:extLst>
          </p:cNvPr>
          <p:cNvSpPr/>
          <p:nvPr/>
        </p:nvSpPr>
        <p:spPr>
          <a:xfrm>
            <a:off x="3048000" y="2032000"/>
            <a:ext cx="4381500" cy="457200"/>
          </a:xfrm>
          <a:prstGeom prst="rect">
            <a:avLst/>
          </a:prstGeom>
          <a:solidFill>
            <a:srgbClr val="0054A0"/>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400" b="1">
                <a:solidFill>
                  <a:srgbClr val="FFFFFF"/>
                </a:solidFill>
                <a:latin typeface="微软雅黑" panose="020B0503020204020204" pitchFamily="34" charset="-122"/>
              </a:rPr>
              <a:t>作用</a:t>
            </a:r>
          </a:p>
        </p:txBody>
      </p:sp>
      <p:sp>
        <p:nvSpPr>
          <p:cNvPr id="21" name="矩形 20">
            <a:extLst>
              <a:ext uri="{FF2B5EF4-FFF2-40B4-BE49-F238E27FC236}">
                <a16:creationId xmlns:a16="http://schemas.microsoft.com/office/drawing/2014/main" id="{5BDD6351-8580-DA78-E7CC-FD6CFC254836}"/>
              </a:ext>
            </a:extLst>
          </p:cNvPr>
          <p:cNvSpPr/>
          <p:nvPr/>
        </p:nvSpPr>
        <p:spPr>
          <a:xfrm>
            <a:off x="7429500" y="2032000"/>
            <a:ext cx="4381500" cy="457200"/>
          </a:xfrm>
          <a:prstGeom prst="rect">
            <a:avLst/>
          </a:prstGeom>
          <a:solidFill>
            <a:srgbClr val="0054A0"/>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400" b="1">
                <a:solidFill>
                  <a:srgbClr val="FFFFFF"/>
                </a:solidFill>
                <a:latin typeface="微软雅黑" panose="020B0503020204020204" pitchFamily="34" charset="-122"/>
              </a:rPr>
              <a:t>平台使用方式</a:t>
            </a:r>
          </a:p>
        </p:txBody>
      </p:sp>
      <p:sp>
        <p:nvSpPr>
          <p:cNvPr id="22" name="矩形 21">
            <a:extLst>
              <a:ext uri="{FF2B5EF4-FFF2-40B4-BE49-F238E27FC236}">
                <a16:creationId xmlns:a16="http://schemas.microsoft.com/office/drawing/2014/main" id="{626E6D6F-34FA-371A-782F-5B8819A37F64}"/>
              </a:ext>
            </a:extLst>
          </p:cNvPr>
          <p:cNvSpPr/>
          <p:nvPr/>
        </p:nvSpPr>
        <p:spPr>
          <a:xfrm>
            <a:off x="952500" y="2489200"/>
            <a:ext cx="2095500" cy="4572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altLang="zh-CN" sz="1300" b="1">
                <a:solidFill>
                  <a:srgbClr val="052346"/>
                </a:solidFill>
                <a:latin typeface="微软雅黑" panose="020B0503020204020204" pitchFamily="34" charset="-122"/>
              </a:rPr>
              <a:t>job.json</a:t>
            </a:r>
            <a:endParaRPr lang="zh-CN" altLang="en-US" sz="1300" b="1">
              <a:solidFill>
                <a:srgbClr val="052346"/>
              </a:solidFill>
              <a:latin typeface="微软雅黑" panose="020B0503020204020204" pitchFamily="34" charset="-122"/>
            </a:endParaRPr>
          </a:p>
        </p:txBody>
      </p:sp>
      <p:sp>
        <p:nvSpPr>
          <p:cNvPr id="23" name="矩形 22">
            <a:extLst>
              <a:ext uri="{FF2B5EF4-FFF2-40B4-BE49-F238E27FC236}">
                <a16:creationId xmlns:a16="http://schemas.microsoft.com/office/drawing/2014/main" id="{D072D5E3-23E6-EB33-0633-4F3D874250DD}"/>
              </a:ext>
            </a:extLst>
          </p:cNvPr>
          <p:cNvSpPr/>
          <p:nvPr/>
        </p:nvSpPr>
        <p:spPr>
          <a:xfrm>
            <a:off x="3048000" y="2489200"/>
            <a:ext cx="4381500" cy="4572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记录模型、输入、参数和输出目录</a:t>
            </a:r>
          </a:p>
        </p:txBody>
      </p:sp>
      <p:sp>
        <p:nvSpPr>
          <p:cNvPr id="24" name="矩形 23">
            <a:extLst>
              <a:ext uri="{FF2B5EF4-FFF2-40B4-BE49-F238E27FC236}">
                <a16:creationId xmlns:a16="http://schemas.microsoft.com/office/drawing/2014/main" id="{F91B8BF1-6F4D-BE90-417A-9F375BFBB18F}"/>
              </a:ext>
            </a:extLst>
          </p:cNvPr>
          <p:cNvSpPr/>
          <p:nvPr/>
        </p:nvSpPr>
        <p:spPr>
          <a:xfrm>
            <a:off x="7429500" y="2489200"/>
            <a:ext cx="4381500" cy="4572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任务提交与复现依据</a:t>
            </a:r>
          </a:p>
        </p:txBody>
      </p:sp>
      <p:sp>
        <p:nvSpPr>
          <p:cNvPr id="25" name="矩形 24">
            <a:extLst>
              <a:ext uri="{FF2B5EF4-FFF2-40B4-BE49-F238E27FC236}">
                <a16:creationId xmlns:a16="http://schemas.microsoft.com/office/drawing/2014/main" id="{27369C27-BCC7-6C09-2F21-C4CF865CF5C3}"/>
              </a:ext>
            </a:extLst>
          </p:cNvPr>
          <p:cNvSpPr/>
          <p:nvPr/>
        </p:nvSpPr>
        <p:spPr>
          <a:xfrm>
            <a:off x="952500" y="2946400"/>
            <a:ext cx="2095500" cy="457200"/>
          </a:xfrm>
          <a:prstGeom prst="rect">
            <a:avLst/>
          </a:prstGeom>
          <a:solidFill>
            <a:srgbClr val="FFFFFF"/>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altLang="zh-CN" sz="1300" b="1">
                <a:solidFill>
                  <a:srgbClr val="052346"/>
                </a:solidFill>
                <a:latin typeface="微软雅黑" panose="020B0503020204020204" pitchFamily="34" charset="-122"/>
              </a:rPr>
              <a:t>status.json</a:t>
            </a:r>
            <a:endParaRPr lang="zh-CN" altLang="en-US" sz="1300" b="1">
              <a:solidFill>
                <a:srgbClr val="052346"/>
              </a:solidFill>
              <a:latin typeface="微软雅黑" panose="020B0503020204020204" pitchFamily="34" charset="-122"/>
            </a:endParaRPr>
          </a:p>
        </p:txBody>
      </p:sp>
      <p:sp>
        <p:nvSpPr>
          <p:cNvPr id="26" name="矩形 25">
            <a:extLst>
              <a:ext uri="{FF2B5EF4-FFF2-40B4-BE49-F238E27FC236}">
                <a16:creationId xmlns:a16="http://schemas.microsoft.com/office/drawing/2014/main" id="{1BFB2A25-B6A9-624A-3A90-0A5B25CF39A5}"/>
              </a:ext>
            </a:extLst>
          </p:cNvPr>
          <p:cNvSpPr/>
          <p:nvPr/>
        </p:nvSpPr>
        <p:spPr>
          <a:xfrm>
            <a:off x="3048000" y="2946400"/>
            <a:ext cx="4381500" cy="457200"/>
          </a:xfrm>
          <a:prstGeom prst="rect">
            <a:avLst/>
          </a:prstGeom>
          <a:solidFill>
            <a:srgbClr val="FFFFFF"/>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记录运行状态、进度、错误信息</a:t>
            </a:r>
          </a:p>
        </p:txBody>
      </p:sp>
      <p:sp>
        <p:nvSpPr>
          <p:cNvPr id="27" name="矩形 26">
            <a:extLst>
              <a:ext uri="{FF2B5EF4-FFF2-40B4-BE49-F238E27FC236}">
                <a16:creationId xmlns:a16="http://schemas.microsoft.com/office/drawing/2014/main" id="{A2C032EF-E647-B063-C3D4-29C8542D9346}"/>
              </a:ext>
            </a:extLst>
          </p:cNvPr>
          <p:cNvSpPr/>
          <p:nvPr/>
        </p:nvSpPr>
        <p:spPr>
          <a:xfrm>
            <a:off x="7429500" y="2946400"/>
            <a:ext cx="4381500" cy="457200"/>
          </a:xfrm>
          <a:prstGeom prst="rect">
            <a:avLst/>
          </a:prstGeom>
          <a:solidFill>
            <a:srgbClr val="FFFFFF"/>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状态刷新与失败诊断</a:t>
            </a:r>
          </a:p>
        </p:txBody>
      </p:sp>
      <p:sp>
        <p:nvSpPr>
          <p:cNvPr id="28" name="矩形 27">
            <a:extLst>
              <a:ext uri="{FF2B5EF4-FFF2-40B4-BE49-F238E27FC236}">
                <a16:creationId xmlns:a16="http://schemas.microsoft.com/office/drawing/2014/main" id="{E6423DEB-C12D-58ED-641F-4A896CD7A5FF}"/>
              </a:ext>
            </a:extLst>
          </p:cNvPr>
          <p:cNvSpPr/>
          <p:nvPr/>
        </p:nvSpPr>
        <p:spPr>
          <a:xfrm>
            <a:off x="952500" y="3403600"/>
            <a:ext cx="2095500" cy="4572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altLang="zh-CN" sz="1300" b="1">
                <a:solidFill>
                  <a:srgbClr val="052346"/>
                </a:solidFill>
                <a:latin typeface="微软雅黑" panose="020B0503020204020204" pitchFamily="34" charset="-122"/>
              </a:rPr>
              <a:t>scene_meta.json</a:t>
            </a:r>
            <a:endParaRPr lang="zh-CN" altLang="en-US" sz="1300" b="1">
              <a:solidFill>
                <a:srgbClr val="052346"/>
              </a:solidFill>
              <a:latin typeface="微软雅黑" panose="020B0503020204020204" pitchFamily="34" charset="-122"/>
            </a:endParaRPr>
          </a:p>
        </p:txBody>
      </p:sp>
      <p:sp>
        <p:nvSpPr>
          <p:cNvPr id="29" name="矩形 28">
            <a:extLst>
              <a:ext uri="{FF2B5EF4-FFF2-40B4-BE49-F238E27FC236}">
                <a16:creationId xmlns:a16="http://schemas.microsoft.com/office/drawing/2014/main" id="{4222DDE4-86DA-72AE-9ECF-5F7571DE1826}"/>
              </a:ext>
            </a:extLst>
          </p:cNvPr>
          <p:cNvSpPr/>
          <p:nvPr/>
        </p:nvSpPr>
        <p:spPr>
          <a:xfrm>
            <a:off x="3048000" y="3403600"/>
            <a:ext cx="4381500" cy="4572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记录结果产物、相机与场景信息</a:t>
            </a:r>
          </a:p>
        </p:txBody>
      </p:sp>
      <p:sp>
        <p:nvSpPr>
          <p:cNvPr id="30" name="矩形 29">
            <a:extLst>
              <a:ext uri="{FF2B5EF4-FFF2-40B4-BE49-F238E27FC236}">
                <a16:creationId xmlns:a16="http://schemas.microsoft.com/office/drawing/2014/main" id="{FAA09C90-3976-CBED-2E63-0D4BC7093A4C}"/>
              </a:ext>
            </a:extLst>
          </p:cNvPr>
          <p:cNvSpPr/>
          <p:nvPr/>
        </p:nvSpPr>
        <p:spPr>
          <a:xfrm>
            <a:off x="7429500" y="3403600"/>
            <a:ext cx="4381500" cy="4572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结果展示与对比入口</a:t>
            </a:r>
          </a:p>
        </p:txBody>
      </p:sp>
      <p:sp>
        <p:nvSpPr>
          <p:cNvPr id="31" name="矩形 30">
            <a:extLst>
              <a:ext uri="{FF2B5EF4-FFF2-40B4-BE49-F238E27FC236}">
                <a16:creationId xmlns:a16="http://schemas.microsoft.com/office/drawing/2014/main" id="{FDA822E0-012B-49EA-66BE-4DF3608F702A}"/>
              </a:ext>
            </a:extLst>
          </p:cNvPr>
          <p:cNvSpPr/>
          <p:nvPr/>
        </p:nvSpPr>
        <p:spPr>
          <a:xfrm>
            <a:off x="698500" y="4445000"/>
            <a:ext cx="1600200" cy="6858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500" b="1">
                <a:solidFill>
                  <a:srgbClr val="052346"/>
                </a:solidFill>
                <a:latin typeface="微软雅黑" panose="020B0503020204020204" pitchFamily="34" charset="-122"/>
              </a:rPr>
              <a:t>提交</a:t>
            </a:r>
          </a:p>
        </p:txBody>
      </p:sp>
      <p:cxnSp>
        <p:nvCxnSpPr>
          <p:cNvPr id="32" name="直接连接符 31">
            <a:extLst>
              <a:ext uri="{FF2B5EF4-FFF2-40B4-BE49-F238E27FC236}">
                <a16:creationId xmlns:a16="http://schemas.microsoft.com/office/drawing/2014/main" id="{81C1BEFB-715A-E1AF-C5FE-D399C9593B90}"/>
              </a:ext>
            </a:extLst>
          </p:cNvPr>
          <p:cNvCxnSpPr/>
          <p:nvPr/>
        </p:nvCxnSpPr>
        <p:spPr>
          <a:xfrm>
            <a:off x="2349500" y="4787900"/>
            <a:ext cx="406400" cy="0"/>
          </a:xfrm>
          <a:prstGeom prst="line">
            <a:avLst/>
          </a:prstGeom>
          <a:ln w="25400">
            <a:solidFill>
              <a:srgbClr val="236CB4"/>
            </a:solidFill>
            <a:tailEnd type="arrow"/>
          </a:ln>
        </p:spPr>
        <p:style>
          <a:lnRef idx="1">
            <a:schemeClr val="accent1"/>
          </a:lnRef>
          <a:fillRef idx="0">
            <a:schemeClr val="accent1"/>
          </a:fillRef>
          <a:effectRef idx="0">
            <a:schemeClr val="accent1"/>
          </a:effectRef>
          <a:fontRef idx="minor">
            <a:schemeClr val="tx1"/>
          </a:fontRef>
        </p:style>
      </p:cxnSp>
      <p:sp>
        <p:nvSpPr>
          <p:cNvPr id="33" name="矩形 32">
            <a:extLst>
              <a:ext uri="{FF2B5EF4-FFF2-40B4-BE49-F238E27FC236}">
                <a16:creationId xmlns:a16="http://schemas.microsoft.com/office/drawing/2014/main" id="{EEEB7128-916E-DF35-798F-E6DE825F56AF}"/>
              </a:ext>
            </a:extLst>
          </p:cNvPr>
          <p:cNvSpPr/>
          <p:nvPr/>
        </p:nvSpPr>
        <p:spPr>
          <a:xfrm>
            <a:off x="2908300" y="4445000"/>
            <a:ext cx="1600200" cy="685800"/>
          </a:xfrm>
          <a:prstGeom prst="rect">
            <a:avLst/>
          </a:prstGeom>
          <a:solidFill>
            <a:srgbClr val="FFFFFF"/>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500" b="1">
                <a:solidFill>
                  <a:srgbClr val="052346"/>
                </a:solidFill>
                <a:latin typeface="微软雅黑" panose="020B0503020204020204" pitchFamily="34" charset="-122"/>
              </a:rPr>
              <a:t>验证</a:t>
            </a:r>
          </a:p>
        </p:txBody>
      </p:sp>
      <p:cxnSp>
        <p:nvCxnSpPr>
          <p:cNvPr id="34" name="直接连接符 33">
            <a:extLst>
              <a:ext uri="{FF2B5EF4-FFF2-40B4-BE49-F238E27FC236}">
                <a16:creationId xmlns:a16="http://schemas.microsoft.com/office/drawing/2014/main" id="{2A13A062-9FAA-7F39-5072-718F628C8D19}"/>
              </a:ext>
            </a:extLst>
          </p:cNvPr>
          <p:cNvCxnSpPr/>
          <p:nvPr/>
        </p:nvCxnSpPr>
        <p:spPr>
          <a:xfrm>
            <a:off x="4559300" y="4787900"/>
            <a:ext cx="406400" cy="0"/>
          </a:xfrm>
          <a:prstGeom prst="line">
            <a:avLst/>
          </a:prstGeom>
          <a:ln w="25400">
            <a:solidFill>
              <a:srgbClr val="236CB4"/>
            </a:solidFill>
            <a:tailEnd type="arrow"/>
          </a:ln>
        </p:spPr>
        <p:style>
          <a:lnRef idx="1">
            <a:schemeClr val="accent1"/>
          </a:lnRef>
          <a:fillRef idx="0">
            <a:schemeClr val="accent1"/>
          </a:fillRef>
          <a:effectRef idx="0">
            <a:schemeClr val="accent1"/>
          </a:effectRef>
          <a:fontRef idx="minor">
            <a:schemeClr val="tx1"/>
          </a:fontRef>
        </p:style>
      </p:cxnSp>
      <p:sp>
        <p:nvSpPr>
          <p:cNvPr id="35" name="矩形 34">
            <a:extLst>
              <a:ext uri="{FF2B5EF4-FFF2-40B4-BE49-F238E27FC236}">
                <a16:creationId xmlns:a16="http://schemas.microsoft.com/office/drawing/2014/main" id="{19197FFA-E9BC-FEBA-C7A0-8117BA3EDC5C}"/>
              </a:ext>
            </a:extLst>
          </p:cNvPr>
          <p:cNvSpPr/>
          <p:nvPr/>
        </p:nvSpPr>
        <p:spPr>
          <a:xfrm>
            <a:off x="5118100" y="4445000"/>
            <a:ext cx="1600200" cy="6858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500" b="1">
                <a:solidFill>
                  <a:srgbClr val="052346"/>
                </a:solidFill>
                <a:latin typeface="微软雅黑" panose="020B0503020204020204" pitchFamily="34" charset="-122"/>
              </a:rPr>
              <a:t>执行</a:t>
            </a:r>
          </a:p>
        </p:txBody>
      </p:sp>
      <p:cxnSp>
        <p:nvCxnSpPr>
          <p:cNvPr id="36" name="直接连接符 35">
            <a:extLst>
              <a:ext uri="{FF2B5EF4-FFF2-40B4-BE49-F238E27FC236}">
                <a16:creationId xmlns:a16="http://schemas.microsoft.com/office/drawing/2014/main" id="{4AF64ECA-62FB-9A05-6B2B-4A8F8FB18AB7}"/>
              </a:ext>
            </a:extLst>
          </p:cNvPr>
          <p:cNvCxnSpPr/>
          <p:nvPr/>
        </p:nvCxnSpPr>
        <p:spPr>
          <a:xfrm>
            <a:off x="6769100" y="4787900"/>
            <a:ext cx="406400" cy="0"/>
          </a:xfrm>
          <a:prstGeom prst="line">
            <a:avLst/>
          </a:prstGeom>
          <a:ln w="25400">
            <a:solidFill>
              <a:srgbClr val="236CB4"/>
            </a:solidFill>
            <a:tailEnd type="arrow"/>
          </a:ln>
        </p:spPr>
        <p:style>
          <a:lnRef idx="1">
            <a:schemeClr val="accent1"/>
          </a:lnRef>
          <a:fillRef idx="0">
            <a:schemeClr val="accent1"/>
          </a:fillRef>
          <a:effectRef idx="0">
            <a:schemeClr val="accent1"/>
          </a:effectRef>
          <a:fontRef idx="minor">
            <a:schemeClr val="tx1"/>
          </a:fontRef>
        </p:style>
      </p:cxnSp>
      <p:sp>
        <p:nvSpPr>
          <p:cNvPr id="37" name="矩形 36">
            <a:extLst>
              <a:ext uri="{FF2B5EF4-FFF2-40B4-BE49-F238E27FC236}">
                <a16:creationId xmlns:a16="http://schemas.microsoft.com/office/drawing/2014/main" id="{78FC5087-8229-F0FD-91CB-A9B476C94E79}"/>
              </a:ext>
            </a:extLst>
          </p:cNvPr>
          <p:cNvSpPr/>
          <p:nvPr/>
        </p:nvSpPr>
        <p:spPr>
          <a:xfrm>
            <a:off x="7327900" y="4445000"/>
            <a:ext cx="1600200" cy="685800"/>
          </a:xfrm>
          <a:prstGeom prst="rect">
            <a:avLst/>
          </a:prstGeom>
          <a:solidFill>
            <a:srgbClr val="FFFFFF"/>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500" b="1">
                <a:solidFill>
                  <a:srgbClr val="052346"/>
                </a:solidFill>
                <a:latin typeface="微软雅黑" panose="020B0503020204020204" pitchFamily="34" charset="-122"/>
              </a:rPr>
              <a:t>回传</a:t>
            </a:r>
          </a:p>
        </p:txBody>
      </p:sp>
      <p:cxnSp>
        <p:nvCxnSpPr>
          <p:cNvPr id="38" name="直接连接符 37">
            <a:extLst>
              <a:ext uri="{FF2B5EF4-FFF2-40B4-BE49-F238E27FC236}">
                <a16:creationId xmlns:a16="http://schemas.microsoft.com/office/drawing/2014/main" id="{F833E307-3EA6-DE42-266C-5DD4495F2038}"/>
              </a:ext>
            </a:extLst>
          </p:cNvPr>
          <p:cNvCxnSpPr/>
          <p:nvPr/>
        </p:nvCxnSpPr>
        <p:spPr>
          <a:xfrm>
            <a:off x="8978900" y="4787900"/>
            <a:ext cx="406400" cy="0"/>
          </a:xfrm>
          <a:prstGeom prst="line">
            <a:avLst/>
          </a:prstGeom>
          <a:ln w="25400">
            <a:solidFill>
              <a:srgbClr val="236CB4"/>
            </a:solidFill>
            <a:tailEnd type="arrow"/>
          </a:ln>
        </p:spPr>
        <p:style>
          <a:lnRef idx="1">
            <a:schemeClr val="accent1"/>
          </a:lnRef>
          <a:fillRef idx="0">
            <a:schemeClr val="accent1"/>
          </a:fillRef>
          <a:effectRef idx="0">
            <a:schemeClr val="accent1"/>
          </a:effectRef>
          <a:fontRef idx="minor">
            <a:schemeClr val="tx1"/>
          </a:fontRef>
        </p:style>
      </p:cxnSp>
      <p:sp>
        <p:nvSpPr>
          <p:cNvPr id="39" name="矩形 38">
            <a:extLst>
              <a:ext uri="{FF2B5EF4-FFF2-40B4-BE49-F238E27FC236}">
                <a16:creationId xmlns:a16="http://schemas.microsoft.com/office/drawing/2014/main" id="{5D26302A-7617-562A-B7ED-86603562E0F5}"/>
              </a:ext>
            </a:extLst>
          </p:cNvPr>
          <p:cNvSpPr/>
          <p:nvPr/>
        </p:nvSpPr>
        <p:spPr>
          <a:xfrm>
            <a:off x="9537700" y="4445000"/>
            <a:ext cx="1600200" cy="6858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500" b="1">
                <a:solidFill>
                  <a:srgbClr val="052346"/>
                </a:solidFill>
                <a:latin typeface="微软雅黑" panose="020B0503020204020204" pitchFamily="34" charset="-122"/>
              </a:rPr>
              <a:t>解析</a:t>
            </a:r>
          </a:p>
        </p:txBody>
      </p:sp>
      <p:sp>
        <p:nvSpPr>
          <p:cNvPr id="40" name="矩形 39">
            <a:extLst>
              <a:ext uri="{FF2B5EF4-FFF2-40B4-BE49-F238E27FC236}">
                <a16:creationId xmlns:a16="http://schemas.microsoft.com/office/drawing/2014/main" id="{83DAA064-6BF3-F929-C559-5C5CD4B3E22C}"/>
              </a:ext>
            </a:extLst>
          </p:cNvPr>
          <p:cNvSpPr/>
          <p:nvPr/>
        </p:nvSpPr>
        <p:spPr>
          <a:xfrm>
            <a:off x="1524000" y="5651500"/>
            <a:ext cx="9144000" cy="4826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600" b="1">
                <a:solidFill>
                  <a:srgbClr val="052346"/>
                </a:solidFill>
                <a:latin typeface="微软雅黑" panose="020B0503020204020204" pitchFamily="34" charset="-122"/>
              </a:rPr>
              <a:t>统一合同使新模型接入从“改平台代码”转为“实现执行器接口”。</a:t>
            </a:r>
          </a:p>
        </p:txBody>
      </p:sp>
    </p:spTree>
    <p:extLst>
      <p:ext uri="{BB962C8B-B14F-4D97-AF65-F5344CB8AC3E}">
        <p14:creationId xmlns:p14="http://schemas.microsoft.com/office/powerpoint/2010/main" val="10003376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3DD42-58F1-BF23-F1D1-911D6ECA1AC9}"/>
            </a:ext>
          </a:extLst>
        </p:cNvPr>
        <p:cNvGrpSpPr/>
        <p:nvPr/>
      </p:nvGrpSpPr>
      <p:grpSpPr>
        <a:xfrm>
          <a:off x="0" y="0"/>
          <a:ext cx="0" cy="0"/>
          <a:chOff x="0" y="0"/>
          <a:chExt cx="0" cy="0"/>
        </a:xfrm>
      </p:grpSpPr>
      <p:sp>
        <p:nvSpPr>
          <p:cNvPr id="90" name="文本框 89">
            <a:extLst>
              <a:ext uri="{FF2B5EF4-FFF2-40B4-BE49-F238E27FC236}">
                <a16:creationId xmlns:a16="http://schemas.microsoft.com/office/drawing/2014/main" id="{25103B3E-9250-E6B9-EDDC-2ED6F90CF039}"/>
              </a:ext>
            </a:extLst>
          </p:cNvPr>
          <p:cNvSpPr txBox="1"/>
          <p:nvPr/>
        </p:nvSpPr>
        <p:spPr>
          <a:xfrm>
            <a:off x="115452" y="243436"/>
            <a:ext cx="772964" cy="369332"/>
          </a:xfrm>
          <a:prstGeom prst="rect">
            <a:avLst/>
          </a:prstGeom>
          <a:noFill/>
        </p:spPr>
        <p:txBody>
          <a:bodyPr wrap="square" rtlCol="0">
            <a:spAutoFit/>
          </a:bodyPr>
          <a:lstStyle/>
          <a:p>
            <a:pPr algn="ctr"/>
            <a:r>
              <a:rPr lang="en-US" altLang="zh-CN" b="1">
                <a:solidFill>
                  <a:srgbClr val="00417D"/>
                </a:solidFill>
                <a:latin typeface="微软雅黑" panose="020B0503020204020204" pitchFamily="34" charset="-122"/>
              </a:rPr>
              <a:t>3.3</a:t>
            </a:r>
            <a:endParaRPr lang="zh-CN" altLang="en-US" b="1" dirty="0">
              <a:solidFill>
                <a:srgbClr val="00417D"/>
              </a:solidFill>
              <a:latin typeface="微软雅黑" panose="020B0503020204020204" pitchFamily="34" charset="-122"/>
            </a:endParaRPr>
          </a:p>
        </p:txBody>
      </p:sp>
      <p:sp>
        <p:nvSpPr>
          <p:cNvPr id="92" name="文本框 91">
            <a:extLst>
              <a:ext uri="{FF2B5EF4-FFF2-40B4-BE49-F238E27FC236}">
                <a16:creationId xmlns:a16="http://schemas.microsoft.com/office/drawing/2014/main" id="{C27D3A61-0DEC-BA16-46CE-C27F01A6C4A8}"/>
              </a:ext>
            </a:extLst>
          </p:cNvPr>
          <p:cNvSpPr txBox="1"/>
          <p:nvPr/>
        </p:nvSpPr>
        <p:spPr>
          <a:xfrm>
            <a:off x="946461" y="269201"/>
            <a:ext cx="6440714" cy="477054"/>
          </a:xfrm>
          <a:prstGeom prst="rect">
            <a:avLst/>
          </a:prstGeom>
          <a:noFill/>
        </p:spPr>
        <p:txBody>
          <a:bodyPr wrap="square">
            <a:spAutoFit/>
          </a:bodyPr>
          <a:lstStyle/>
          <a:p>
            <a:r>
              <a:rPr lang="zh-CN" altLang="en-US" sz="2500" b="1">
                <a:solidFill>
                  <a:srgbClr val="00417D"/>
                </a:solidFill>
                <a:latin typeface="微软雅黑" panose="020B0503020204020204" pitchFamily="34" charset="-122"/>
              </a:rPr>
              <a:t>实际运行流程</a:t>
            </a:r>
            <a:endParaRPr lang="zh-CN" altLang="en-US" sz="2500" b="1" dirty="0">
              <a:solidFill>
                <a:srgbClr val="00417D"/>
              </a:solidFill>
              <a:latin typeface="微软雅黑" panose="020B0503020204020204" pitchFamily="34" charset="-122"/>
            </a:endParaRPr>
          </a:p>
        </p:txBody>
      </p:sp>
      <p:sp>
        <p:nvSpPr>
          <p:cNvPr id="6" name="矩形 5">
            <a:extLst>
              <a:ext uri="{FF2B5EF4-FFF2-40B4-BE49-F238E27FC236}">
                <a16:creationId xmlns:a16="http://schemas.microsoft.com/office/drawing/2014/main" id="{204B3276-1D6D-A659-B777-7A8B73B43410}"/>
              </a:ext>
            </a:extLst>
          </p:cNvPr>
          <p:cNvSpPr/>
          <p:nvPr/>
        </p:nvSpPr>
        <p:spPr>
          <a:xfrm>
            <a:off x="488951" y="1148185"/>
            <a:ext cx="11214099" cy="573683"/>
          </a:xfrm>
          <a:prstGeom prst="rect">
            <a:avLst/>
          </a:prstGeom>
          <a:solidFill>
            <a:schemeClr val="accent1"/>
          </a:solidFill>
          <a:ln w="317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3" name="文本框 12">
            <a:extLst>
              <a:ext uri="{FF2B5EF4-FFF2-40B4-BE49-F238E27FC236}">
                <a16:creationId xmlns:a16="http://schemas.microsoft.com/office/drawing/2014/main" id="{17E4BB18-6BF3-E577-1061-8ED13EE92896}"/>
              </a:ext>
            </a:extLst>
          </p:cNvPr>
          <p:cNvSpPr txBox="1"/>
          <p:nvPr/>
        </p:nvSpPr>
        <p:spPr>
          <a:xfrm>
            <a:off x="1848684" y="1204194"/>
            <a:ext cx="8494633" cy="461665"/>
          </a:xfrm>
          <a:prstGeom prst="rect">
            <a:avLst/>
          </a:prstGeom>
          <a:noFill/>
        </p:spPr>
        <p:txBody>
          <a:bodyPr wrap="none">
            <a:spAutoFit/>
          </a:bodyPr>
          <a:lstStyle/>
          <a:p>
            <a:pPr algn="ctr"/>
            <a:r>
              <a:rPr lang="zh-CN" altLang="en-US" sz="2400" b="1" dirty="0">
                <a:solidFill>
                  <a:schemeClr val="accent3"/>
                </a:solidFill>
                <a:latin typeface="微软雅黑" panose="020B0503020204020204" pitchFamily="34" charset="-122"/>
                <a:ea typeface="微软雅黑" panose="020B0503020204020204" pitchFamily="34" charset="-122"/>
              </a:rPr>
              <a:t>选择热带季风区中具有不同岩性的森林生态系统作为研究对象</a:t>
            </a:r>
          </a:p>
        </p:txBody>
      </p:sp>
      <p:grpSp>
        <p:nvGrpSpPr>
          <p:cNvPr id="16" name="组合 15">
            <a:extLst>
              <a:ext uri="{FF2B5EF4-FFF2-40B4-BE49-F238E27FC236}">
                <a16:creationId xmlns:a16="http://schemas.microsoft.com/office/drawing/2014/main" id="{78EB1953-AD90-70D1-101F-4F57C659A9D3}"/>
              </a:ext>
            </a:extLst>
          </p:cNvPr>
          <p:cNvGrpSpPr/>
          <p:nvPr/>
        </p:nvGrpSpPr>
        <p:grpSpPr>
          <a:xfrm>
            <a:off x="485774" y="1706080"/>
            <a:ext cx="11210925" cy="308759"/>
            <a:chOff x="490655" y="3938634"/>
            <a:chExt cx="5140454" cy="204788"/>
          </a:xfrm>
        </p:grpSpPr>
        <p:sp>
          <p:nvSpPr>
            <p:cNvPr id="17" name="任意多边形: 形状 16">
              <a:extLst>
                <a:ext uri="{FF2B5EF4-FFF2-40B4-BE49-F238E27FC236}">
                  <a16:creationId xmlns:a16="http://schemas.microsoft.com/office/drawing/2014/main" id="{1EB340B5-558D-4A4C-C06D-67931BC6006C}"/>
                </a:ext>
              </a:extLst>
            </p:cNvPr>
            <p:cNvSpPr/>
            <p:nvPr/>
          </p:nvSpPr>
          <p:spPr>
            <a:xfrm>
              <a:off x="490655" y="3943397"/>
              <a:ext cx="4600015" cy="200025"/>
            </a:xfrm>
            <a:custGeom>
              <a:avLst/>
              <a:gdLst>
                <a:gd name="connsiteX0" fmla="*/ 0 w 5229225"/>
                <a:gd name="connsiteY0" fmla="*/ 200025 h 200025"/>
                <a:gd name="connsiteX1" fmla="*/ 1047750 w 5229225"/>
                <a:gd name="connsiteY1" fmla="*/ 200025 h 200025"/>
                <a:gd name="connsiteX2" fmla="*/ 5229225 w 5229225"/>
                <a:gd name="connsiteY2" fmla="*/ 0 h 200025"/>
                <a:gd name="connsiteX3" fmla="*/ 642938 w 5229225"/>
                <a:gd name="connsiteY3" fmla="*/ 0 h 200025"/>
                <a:gd name="connsiteX4" fmla="*/ 0 w 5229225"/>
                <a:gd name="connsiteY4" fmla="*/ 200025 h 200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29225" h="200025">
                  <a:moveTo>
                    <a:pt x="0" y="200025"/>
                  </a:moveTo>
                  <a:lnTo>
                    <a:pt x="1047750" y="200025"/>
                  </a:lnTo>
                  <a:lnTo>
                    <a:pt x="5229225" y="0"/>
                  </a:lnTo>
                  <a:lnTo>
                    <a:pt x="642938" y="0"/>
                  </a:lnTo>
                  <a:lnTo>
                    <a:pt x="0" y="200025"/>
                  </a:lnTo>
                  <a:close/>
                </a:path>
              </a:pathLst>
            </a:custGeom>
            <a:gradFill>
              <a:gsLst>
                <a:gs pos="0">
                  <a:schemeClr val="accent1">
                    <a:alpha val="30000"/>
                  </a:schemeClr>
                </a:gs>
                <a:gs pos="100000">
                  <a:schemeClr val="accent1">
                    <a:alpha val="0"/>
                  </a:scheme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8" name="任意多边形: 形状 17">
              <a:extLst>
                <a:ext uri="{FF2B5EF4-FFF2-40B4-BE49-F238E27FC236}">
                  <a16:creationId xmlns:a16="http://schemas.microsoft.com/office/drawing/2014/main" id="{6063A832-FEA9-6E9B-BA1A-55F0A270B69D}"/>
                </a:ext>
              </a:extLst>
            </p:cNvPr>
            <p:cNvSpPr/>
            <p:nvPr/>
          </p:nvSpPr>
          <p:spPr>
            <a:xfrm>
              <a:off x="1068799" y="3943397"/>
              <a:ext cx="4009303" cy="195262"/>
            </a:xfrm>
            <a:custGeom>
              <a:avLst/>
              <a:gdLst>
                <a:gd name="connsiteX0" fmla="*/ 928688 w 4557713"/>
                <a:gd name="connsiteY0" fmla="*/ 195262 h 195262"/>
                <a:gd name="connsiteX1" fmla="*/ 1990725 w 4557713"/>
                <a:gd name="connsiteY1" fmla="*/ 195262 h 195262"/>
                <a:gd name="connsiteX2" fmla="*/ 4557713 w 4557713"/>
                <a:gd name="connsiteY2" fmla="*/ 0 h 195262"/>
                <a:gd name="connsiteX3" fmla="*/ 0 w 4557713"/>
                <a:gd name="connsiteY3" fmla="*/ 0 h 195262"/>
                <a:gd name="connsiteX4" fmla="*/ 928688 w 4557713"/>
                <a:gd name="connsiteY4" fmla="*/ 195262 h 1952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7713" h="195262">
                  <a:moveTo>
                    <a:pt x="928688" y="195262"/>
                  </a:moveTo>
                  <a:lnTo>
                    <a:pt x="1990725" y="195262"/>
                  </a:lnTo>
                  <a:lnTo>
                    <a:pt x="4557713" y="0"/>
                  </a:lnTo>
                  <a:lnTo>
                    <a:pt x="0" y="0"/>
                  </a:lnTo>
                  <a:lnTo>
                    <a:pt x="928688" y="195262"/>
                  </a:lnTo>
                  <a:close/>
                </a:path>
              </a:pathLst>
            </a:custGeom>
            <a:gradFill>
              <a:gsLst>
                <a:gs pos="0">
                  <a:schemeClr val="accent1">
                    <a:alpha val="30000"/>
                  </a:schemeClr>
                </a:gs>
                <a:gs pos="100000">
                  <a:schemeClr val="accent1">
                    <a:alpha val="0"/>
                  </a:scheme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9" name="任意多边形: 形状 18">
              <a:extLst>
                <a:ext uri="{FF2B5EF4-FFF2-40B4-BE49-F238E27FC236}">
                  <a16:creationId xmlns:a16="http://schemas.microsoft.com/office/drawing/2014/main" id="{3051218A-398A-D30B-0989-EADE8277FE7C}"/>
                </a:ext>
              </a:extLst>
            </p:cNvPr>
            <p:cNvSpPr/>
            <p:nvPr/>
          </p:nvSpPr>
          <p:spPr>
            <a:xfrm>
              <a:off x="1064610" y="3943397"/>
              <a:ext cx="4013492" cy="195262"/>
            </a:xfrm>
            <a:custGeom>
              <a:avLst/>
              <a:gdLst>
                <a:gd name="connsiteX0" fmla="*/ 2552700 w 4562475"/>
                <a:gd name="connsiteY0" fmla="*/ 195262 h 195262"/>
                <a:gd name="connsiteX1" fmla="*/ 3600450 w 4562475"/>
                <a:gd name="connsiteY1" fmla="*/ 195262 h 195262"/>
                <a:gd name="connsiteX2" fmla="*/ 4562475 w 4562475"/>
                <a:gd name="connsiteY2" fmla="*/ 0 h 195262"/>
                <a:gd name="connsiteX3" fmla="*/ 0 w 4562475"/>
                <a:gd name="connsiteY3" fmla="*/ 0 h 195262"/>
                <a:gd name="connsiteX4" fmla="*/ 2552700 w 4562475"/>
                <a:gd name="connsiteY4" fmla="*/ 195262 h 1952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2475" h="195262">
                  <a:moveTo>
                    <a:pt x="2552700" y="195262"/>
                  </a:moveTo>
                  <a:lnTo>
                    <a:pt x="3600450" y="195262"/>
                  </a:lnTo>
                  <a:lnTo>
                    <a:pt x="4562475" y="0"/>
                  </a:lnTo>
                  <a:lnTo>
                    <a:pt x="0" y="0"/>
                  </a:lnTo>
                  <a:lnTo>
                    <a:pt x="2552700" y="195262"/>
                  </a:lnTo>
                  <a:close/>
                </a:path>
              </a:pathLst>
            </a:custGeom>
            <a:gradFill>
              <a:gsLst>
                <a:gs pos="0">
                  <a:schemeClr val="accent1">
                    <a:alpha val="30000"/>
                  </a:schemeClr>
                </a:gs>
                <a:gs pos="100000">
                  <a:schemeClr val="accent1">
                    <a:alpha val="0"/>
                  </a:scheme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0" name="任意多边形: 形状 19">
              <a:extLst>
                <a:ext uri="{FF2B5EF4-FFF2-40B4-BE49-F238E27FC236}">
                  <a16:creationId xmlns:a16="http://schemas.microsoft.com/office/drawing/2014/main" id="{357FB65C-0A83-ABDE-A352-DD2F29CE1D1D}"/>
                </a:ext>
              </a:extLst>
            </p:cNvPr>
            <p:cNvSpPr/>
            <p:nvPr/>
          </p:nvSpPr>
          <p:spPr>
            <a:xfrm>
              <a:off x="1085557" y="3938634"/>
              <a:ext cx="4545552" cy="200025"/>
            </a:xfrm>
            <a:custGeom>
              <a:avLst/>
              <a:gdLst>
                <a:gd name="connsiteX0" fmla="*/ 5167313 w 5167313"/>
                <a:gd name="connsiteY0" fmla="*/ 200025 h 200025"/>
                <a:gd name="connsiteX1" fmla="*/ 4138613 w 5167313"/>
                <a:gd name="connsiteY1" fmla="*/ 200025 h 200025"/>
                <a:gd name="connsiteX2" fmla="*/ 0 w 5167313"/>
                <a:gd name="connsiteY2" fmla="*/ 0 h 200025"/>
                <a:gd name="connsiteX3" fmla="*/ 4538663 w 5167313"/>
                <a:gd name="connsiteY3" fmla="*/ 0 h 200025"/>
                <a:gd name="connsiteX4" fmla="*/ 5167313 w 5167313"/>
                <a:gd name="connsiteY4" fmla="*/ 200025 h 200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67313" h="200025">
                  <a:moveTo>
                    <a:pt x="5167313" y="200025"/>
                  </a:moveTo>
                  <a:lnTo>
                    <a:pt x="4138613" y="200025"/>
                  </a:lnTo>
                  <a:lnTo>
                    <a:pt x="0" y="0"/>
                  </a:lnTo>
                  <a:lnTo>
                    <a:pt x="4538663" y="0"/>
                  </a:lnTo>
                  <a:lnTo>
                    <a:pt x="5167313" y="200025"/>
                  </a:lnTo>
                  <a:close/>
                </a:path>
              </a:pathLst>
            </a:custGeom>
            <a:gradFill>
              <a:gsLst>
                <a:gs pos="0">
                  <a:schemeClr val="accent1">
                    <a:alpha val="30000"/>
                  </a:schemeClr>
                </a:gs>
                <a:gs pos="100000">
                  <a:schemeClr val="accent1">
                    <a:alpha val="0"/>
                  </a:scheme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21" name="组合 20">
            <a:extLst>
              <a:ext uri="{FF2B5EF4-FFF2-40B4-BE49-F238E27FC236}">
                <a16:creationId xmlns:a16="http://schemas.microsoft.com/office/drawing/2014/main" id="{A337F25B-75BB-78BD-8329-594463BC8D29}"/>
              </a:ext>
            </a:extLst>
          </p:cNvPr>
          <p:cNvGrpSpPr/>
          <p:nvPr/>
        </p:nvGrpSpPr>
        <p:grpSpPr>
          <a:xfrm>
            <a:off x="2219490" y="2028529"/>
            <a:ext cx="1906711" cy="400110"/>
            <a:chOff x="2033153" y="2026823"/>
            <a:chExt cx="1906711" cy="400110"/>
          </a:xfrm>
        </p:grpSpPr>
        <p:sp>
          <p:nvSpPr>
            <p:cNvPr id="22" name="矩形: 圆角 21">
              <a:extLst>
                <a:ext uri="{FF2B5EF4-FFF2-40B4-BE49-F238E27FC236}">
                  <a16:creationId xmlns:a16="http://schemas.microsoft.com/office/drawing/2014/main" id="{56F2A4A9-3F6C-758C-AEC2-E8A9455B3278}"/>
                </a:ext>
              </a:extLst>
            </p:cNvPr>
            <p:cNvSpPr/>
            <p:nvPr/>
          </p:nvSpPr>
          <p:spPr>
            <a:xfrm>
              <a:off x="2033153" y="2027933"/>
              <a:ext cx="1906711" cy="397891"/>
            </a:xfrm>
            <a:prstGeom prst="roundRect">
              <a:avLst>
                <a:gd name="adj" fmla="val 50000"/>
              </a:avLst>
            </a:prstGeom>
            <a:gradFill flip="none" rotWithShape="1">
              <a:gsLst>
                <a:gs pos="0">
                  <a:schemeClr val="accent1">
                    <a:alpha val="10000"/>
                  </a:schemeClr>
                </a:gs>
                <a:gs pos="30000">
                  <a:schemeClr val="accent1">
                    <a:alpha val="0"/>
                  </a:schemeClr>
                </a:gs>
                <a:gs pos="100000">
                  <a:schemeClr val="accent1">
                    <a:alpha val="10000"/>
                  </a:schemeClr>
                </a:gs>
                <a:gs pos="70000">
                  <a:schemeClr val="accent1">
                    <a:alpha val="0"/>
                  </a:schemeClr>
                </a:gs>
              </a:gsLst>
              <a:lin ang="2700000" scaled="1"/>
              <a:tileRect/>
            </a:gradFill>
            <a:ln w="3175" cap="flat" cmpd="sng" algn="ctr">
              <a:solidFill>
                <a:srgbClr val="0249A1">
                  <a:alpha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3" name="文本框 22">
              <a:extLst>
                <a:ext uri="{FF2B5EF4-FFF2-40B4-BE49-F238E27FC236}">
                  <a16:creationId xmlns:a16="http://schemas.microsoft.com/office/drawing/2014/main" id="{92C5F401-9FE6-D01C-68E1-0975F2BDFCF9}"/>
                </a:ext>
              </a:extLst>
            </p:cNvPr>
            <p:cNvSpPr txBox="1"/>
            <p:nvPr/>
          </p:nvSpPr>
          <p:spPr>
            <a:xfrm>
              <a:off x="2459548" y="2026823"/>
              <a:ext cx="1053920" cy="400110"/>
            </a:xfrm>
            <a:prstGeom prst="rect">
              <a:avLst/>
            </a:prstGeom>
            <a:noFill/>
          </p:spPr>
          <p:txBody>
            <a:bodyPr wrap="square">
              <a:spAutoFit/>
            </a:bodyPr>
            <a:lstStyle/>
            <a:p>
              <a:pPr marL="0" marR="0" lvl="0" indent="0" algn="dist" defTabSz="914400" eaLnBrk="1" fontAlgn="auto" latinLnBrk="0" hangingPunct="1">
                <a:lnSpc>
                  <a:spcPct val="100000"/>
                </a:lnSpc>
                <a:spcBef>
                  <a:spcPct val="0"/>
                </a:spcBef>
                <a:spcAft>
                  <a:spcPts val="0"/>
                </a:spcAft>
                <a:buClrTx/>
                <a:buSzTx/>
                <a:buFontTx/>
                <a:buNone/>
                <a:tabLst/>
                <a:defRPr/>
              </a:pPr>
              <a:r>
                <a:rPr kumimoji="0" lang="zh-CN" altLang="en-US" sz="2000" b="1" i="0" u="none" strike="noStrike" kern="0" cap="none" spc="15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sym typeface="+mn-ea"/>
                </a:rPr>
                <a:t>成果一</a:t>
              </a:r>
            </a:p>
          </p:txBody>
        </p:sp>
      </p:grpSp>
      <p:grpSp>
        <p:nvGrpSpPr>
          <p:cNvPr id="24" name="组合 23">
            <a:extLst>
              <a:ext uri="{FF2B5EF4-FFF2-40B4-BE49-F238E27FC236}">
                <a16:creationId xmlns:a16="http://schemas.microsoft.com/office/drawing/2014/main" id="{1E948EF5-ABCA-ABBC-67C4-B88F8DF67D24}"/>
              </a:ext>
            </a:extLst>
          </p:cNvPr>
          <p:cNvGrpSpPr/>
          <p:nvPr/>
        </p:nvGrpSpPr>
        <p:grpSpPr>
          <a:xfrm>
            <a:off x="5694416" y="2028529"/>
            <a:ext cx="1906711" cy="400110"/>
            <a:chOff x="2033153" y="2026823"/>
            <a:chExt cx="1906711" cy="400110"/>
          </a:xfrm>
        </p:grpSpPr>
        <p:sp>
          <p:nvSpPr>
            <p:cNvPr id="25" name="矩形: 圆角 24">
              <a:extLst>
                <a:ext uri="{FF2B5EF4-FFF2-40B4-BE49-F238E27FC236}">
                  <a16:creationId xmlns:a16="http://schemas.microsoft.com/office/drawing/2014/main" id="{ABB2AA48-84F2-78A0-636A-B843AF0BE02F}"/>
                </a:ext>
              </a:extLst>
            </p:cNvPr>
            <p:cNvSpPr/>
            <p:nvPr/>
          </p:nvSpPr>
          <p:spPr>
            <a:xfrm>
              <a:off x="2033153" y="2027933"/>
              <a:ext cx="1906711" cy="397891"/>
            </a:xfrm>
            <a:prstGeom prst="roundRect">
              <a:avLst>
                <a:gd name="adj" fmla="val 50000"/>
              </a:avLst>
            </a:prstGeom>
            <a:gradFill flip="none" rotWithShape="1">
              <a:gsLst>
                <a:gs pos="0">
                  <a:schemeClr val="accent1">
                    <a:alpha val="10000"/>
                  </a:schemeClr>
                </a:gs>
                <a:gs pos="30000">
                  <a:schemeClr val="accent1">
                    <a:alpha val="0"/>
                  </a:schemeClr>
                </a:gs>
                <a:gs pos="100000">
                  <a:schemeClr val="accent1">
                    <a:alpha val="10000"/>
                  </a:schemeClr>
                </a:gs>
                <a:gs pos="70000">
                  <a:schemeClr val="accent1">
                    <a:alpha val="0"/>
                  </a:schemeClr>
                </a:gs>
              </a:gsLst>
              <a:lin ang="2700000" scaled="1"/>
              <a:tileRect/>
            </a:gradFill>
            <a:ln w="3175" cap="flat" cmpd="sng" algn="ctr">
              <a:solidFill>
                <a:srgbClr val="0249A1">
                  <a:alpha val="50000"/>
                </a:srgbClr>
              </a:solid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26" name="文本框 25">
              <a:extLst>
                <a:ext uri="{FF2B5EF4-FFF2-40B4-BE49-F238E27FC236}">
                  <a16:creationId xmlns:a16="http://schemas.microsoft.com/office/drawing/2014/main" id="{B38D0028-98C4-6B15-9865-E694273DC8B7}"/>
                </a:ext>
              </a:extLst>
            </p:cNvPr>
            <p:cNvSpPr txBox="1"/>
            <p:nvPr/>
          </p:nvSpPr>
          <p:spPr>
            <a:xfrm>
              <a:off x="2459548" y="2026823"/>
              <a:ext cx="1053920" cy="400110"/>
            </a:xfrm>
            <a:prstGeom prst="rect">
              <a:avLst/>
            </a:prstGeom>
            <a:noFill/>
          </p:spPr>
          <p:txBody>
            <a:bodyPr wrap="square">
              <a:spAutoFit/>
            </a:bodyPr>
            <a:lstStyle/>
            <a:p>
              <a:pPr marL="0" marR="0" lvl="0" indent="0" algn="dist" defTabSz="914400" eaLnBrk="1" fontAlgn="auto" latinLnBrk="0" hangingPunct="1">
                <a:lnSpc>
                  <a:spcPct val="100000"/>
                </a:lnSpc>
                <a:spcBef>
                  <a:spcPct val="0"/>
                </a:spcBef>
                <a:spcAft>
                  <a:spcPts val="0"/>
                </a:spcAft>
                <a:buClrTx/>
                <a:buSzTx/>
                <a:buFontTx/>
                <a:buNone/>
                <a:tabLst/>
                <a:defRPr/>
              </a:pPr>
              <a:r>
                <a:rPr kumimoji="0" lang="zh-CN" altLang="en-US" sz="2000" b="1" i="0" u="none" strike="noStrike" kern="0" cap="none" spc="15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sym typeface="+mn-ea"/>
                </a:rPr>
                <a:t>成果二</a:t>
              </a:r>
            </a:p>
          </p:txBody>
        </p:sp>
      </p:grpSp>
      <p:grpSp>
        <p:nvGrpSpPr>
          <p:cNvPr id="35" name="组合 34">
            <a:extLst>
              <a:ext uri="{FF2B5EF4-FFF2-40B4-BE49-F238E27FC236}">
                <a16:creationId xmlns:a16="http://schemas.microsoft.com/office/drawing/2014/main" id="{2ABD8B06-C8C6-7EBA-AE9B-6C0A373452D9}"/>
              </a:ext>
            </a:extLst>
          </p:cNvPr>
          <p:cNvGrpSpPr/>
          <p:nvPr/>
        </p:nvGrpSpPr>
        <p:grpSpPr>
          <a:xfrm>
            <a:off x="9169342" y="2028529"/>
            <a:ext cx="1906711" cy="400110"/>
            <a:chOff x="2033153" y="2026823"/>
            <a:chExt cx="1906711" cy="400110"/>
          </a:xfrm>
        </p:grpSpPr>
        <p:sp>
          <p:nvSpPr>
            <p:cNvPr id="36" name="矩形: 圆角 35">
              <a:extLst>
                <a:ext uri="{FF2B5EF4-FFF2-40B4-BE49-F238E27FC236}">
                  <a16:creationId xmlns:a16="http://schemas.microsoft.com/office/drawing/2014/main" id="{6A045275-8036-6984-3C30-7A1B96368070}"/>
                </a:ext>
              </a:extLst>
            </p:cNvPr>
            <p:cNvSpPr/>
            <p:nvPr/>
          </p:nvSpPr>
          <p:spPr>
            <a:xfrm>
              <a:off x="2033153" y="2027933"/>
              <a:ext cx="1906711" cy="397891"/>
            </a:xfrm>
            <a:prstGeom prst="roundRect">
              <a:avLst>
                <a:gd name="adj" fmla="val 50000"/>
              </a:avLst>
            </a:prstGeom>
            <a:gradFill flip="none" rotWithShape="1">
              <a:gsLst>
                <a:gs pos="0">
                  <a:schemeClr val="accent1">
                    <a:alpha val="10000"/>
                  </a:schemeClr>
                </a:gs>
                <a:gs pos="30000">
                  <a:schemeClr val="accent1">
                    <a:alpha val="0"/>
                  </a:schemeClr>
                </a:gs>
                <a:gs pos="100000">
                  <a:schemeClr val="accent1">
                    <a:alpha val="10000"/>
                  </a:schemeClr>
                </a:gs>
                <a:gs pos="70000">
                  <a:schemeClr val="accent1">
                    <a:alpha val="0"/>
                  </a:schemeClr>
                </a:gs>
              </a:gsLst>
              <a:lin ang="2700000" scaled="1"/>
              <a:tileRect/>
            </a:gradFill>
            <a:ln w="3175" cap="flat" cmpd="sng" algn="ctr">
              <a:solidFill>
                <a:srgbClr val="0249A1">
                  <a:alpha val="50000"/>
                </a:srgbClr>
              </a:solid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37" name="文本框 36">
              <a:extLst>
                <a:ext uri="{FF2B5EF4-FFF2-40B4-BE49-F238E27FC236}">
                  <a16:creationId xmlns:a16="http://schemas.microsoft.com/office/drawing/2014/main" id="{C7722346-123C-7DEC-235E-D36422CD5622}"/>
                </a:ext>
              </a:extLst>
            </p:cNvPr>
            <p:cNvSpPr txBox="1"/>
            <p:nvPr/>
          </p:nvSpPr>
          <p:spPr>
            <a:xfrm>
              <a:off x="2459548" y="2026823"/>
              <a:ext cx="1053920" cy="400110"/>
            </a:xfrm>
            <a:prstGeom prst="rect">
              <a:avLst/>
            </a:prstGeom>
            <a:noFill/>
          </p:spPr>
          <p:txBody>
            <a:bodyPr wrap="square">
              <a:spAutoFit/>
            </a:bodyPr>
            <a:lstStyle/>
            <a:p>
              <a:pPr marL="0" marR="0" lvl="0" indent="0" algn="dist" defTabSz="914400" eaLnBrk="1" fontAlgn="auto" latinLnBrk="0" hangingPunct="1">
                <a:lnSpc>
                  <a:spcPct val="100000"/>
                </a:lnSpc>
                <a:spcBef>
                  <a:spcPct val="0"/>
                </a:spcBef>
                <a:spcAft>
                  <a:spcPts val="0"/>
                </a:spcAft>
                <a:buClrTx/>
                <a:buSzTx/>
                <a:buFontTx/>
                <a:buNone/>
                <a:tabLst/>
                <a:defRPr/>
              </a:pPr>
              <a:r>
                <a:rPr kumimoji="0" lang="zh-CN" altLang="en-US" sz="2000" b="1" i="0" u="none" strike="noStrike" kern="0" cap="none" spc="15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sym typeface="+mn-ea"/>
                </a:rPr>
                <a:t>成果三</a:t>
              </a:r>
            </a:p>
          </p:txBody>
        </p:sp>
      </p:grpSp>
      <p:sp>
        <p:nvSpPr>
          <p:cNvPr id="38" name="矩形: 圆角 37">
            <a:extLst>
              <a:ext uri="{FF2B5EF4-FFF2-40B4-BE49-F238E27FC236}">
                <a16:creationId xmlns:a16="http://schemas.microsoft.com/office/drawing/2014/main" id="{BA3777C8-6A7C-0AF8-37BB-17F0D6E24F82}"/>
              </a:ext>
            </a:extLst>
          </p:cNvPr>
          <p:cNvSpPr/>
          <p:nvPr/>
        </p:nvSpPr>
        <p:spPr>
          <a:xfrm flipH="1">
            <a:off x="475463" y="2909026"/>
            <a:ext cx="1262062" cy="825500"/>
          </a:xfrm>
          <a:prstGeom prst="roundRect">
            <a:avLst>
              <a:gd name="adj" fmla="val 0"/>
            </a:avLst>
          </a:prstGeom>
          <a:gradFill>
            <a:gsLst>
              <a:gs pos="100000">
                <a:schemeClr val="accent2">
                  <a:alpha val="10000"/>
                </a:schemeClr>
              </a:gs>
              <a:gs pos="0">
                <a:schemeClr val="accent2">
                  <a:alpha val="0"/>
                </a:schemeClr>
              </a:gs>
            </a:gsLst>
            <a:lin ang="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9" name="文本框 38">
            <a:extLst>
              <a:ext uri="{FF2B5EF4-FFF2-40B4-BE49-F238E27FC236}">
                <a16:creationId xmlns:a16="http://schemas.microsoft.com/office/drawing/2014/main" id="{7D23964C-1875-6C93-78D7-0165D5A1151B}"/>
              </a:ext>
            </a:extLst>
          </p:cNvPr>
          <p:cNvSpPr txBox="1"/>
          <p:nvPr/>
        </p:nvSpPr>
        <p:spPr>
          <a:xfrm>
            <a:off x="578503" y="3090944"/>
            <a:ext cx="910842" cy="461665"/>
          </a:xfrm>
          <a:prstGeom prst="rect">
            <a:avLst/>
          </a:prstGeom>
          <a:noFill/>
        </p:spPr>
        <p:txBody>
          <a:bodyPr wrap="square">
            <a:spAutoFit/>
          </a:bodyPr>
          <a:lstStyle/>
          <a:p>
            <a:pPr algn="ctr"/>
            <a:r>
              <a:rPr lang="zh-CN" altLang="en-US" sz="2400" b="1" dirty="0">
                <a:solidFill>
                  <a:schemeClr val="accent1"/>
                </a:solidFill>
                <a:latin typeface="微软雅黑" panose="020B0503020204020204" pitchFamily="34" charset="-122"/>
                <a:ea typeface="微软雅黑" panose="020B0503020204020204" pitchFamily="34" charset="-122"/>
                <a:cs typeface="+mn-ea"/>
              </a:rPr>
              <a:t>问 题</a:t>
            </a:r>
          </a:p>
        </p:txBody>
      </p:sp>
      <p:sp>
        <p:nvSpPr>
          <p:cNvPr id="40" name="矩形: 圆角 39">
            <a:extLst>
              <a:ext uri="{FF2B5EF4-FFF2-40B4-BE49-F238E27FC236}">
                <a16:creationId xmlns:a16="http://schemas.microsoft.com/office/drawing/2014/main" id="{4FE91C36-DE1D-7ECE-23BA-505ED9EC4BCD}"/>
              </a:ext>
            </a:extLst>
          </p:cNvPr>
          <p:cNvSpPr/>
          <p:nvPr/>
        </p:nvSpPr>
        <p:spPr>
          <a:xfrm flipH="1">
            <a:off x="475463" y="4187718"/>
            <a:ext cx="1262062" cy="825500"/>
          </a:xfrm>
          <a:prstGeom prst="roundRect">
            <a:avLst>
              <a:gd name="adj" fmla="val 0"/>
            </a:avLst>
          </a:prstGeom>
          <a:gradFill>
            <a:gsLst>
              <a:gs pos="100000">
                <a:schemeClr val="accent2">
                  <a:alpha val="10000"/>
                </a:schemeClr>
              </a:gs>
              <a:gs pos="0">
                <a:schemeClr val="accent2">
                  <a:alpha val="0"/>
                </a:schemeClr>
              </a:gs>
            </a:gsLst>
            <a:lin ang="0" scaled="1"/>
          </a:gradFill>
          <a:ln w="12700" cap="flat" cmpd="sng" algn="ctr">
            <a:no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41" name="文本框 40">
            <a:extLst>
              <a:ext uri="{FF2B5EF4-FFF2-40B4-BE49-F238E27FC236}">
                <a16:creationId xmlns:a16="http://schemas.microsoft.com/office/drawing/2014/main" id="{58F343BA-F168-2AE3-87BE-36512791E7F7}"/>
              </a:ext>
            </a:extLst>
          </p:cNvPr>
          <p:cNvSpPr txBox="1"/>
          <p:nvPr/>
        </p:nvSpPr>
        <p:spPr>
          <a:xfrm>
            <a:off x="578503" y="4369636"/>
            <a:ext cx="910842" cy="461665"/>
          </a:xfrm>
          <a:prstGeom prst="rect">
            <a:avLst/>
          </a:prstGeom>
          <a:noFill/>
        </p:spPr>
        <p:txBody>
          <a:bodyPr wrap="square">
            <a:spAutoFit/>
          </a:bodyPr>
          <a:lstStyle/>
          <a:p>
            <a:pPr algn="ctr"/>
            <a:r>
              <a:rPr lang="zh-CN" altLang="en-US" sz="2400" b="1" dirty="0">
                <a:solidFill>
                  <a:schemeClr val="accent1"/>
                </a:solidFill>
                <a:latin typeface="微软雅黑" panose="020B0503020204020204" pitchFamily="34" charset="-122"/>
                <a:ea typeface="微软雅黑" panose="020B0503020204020204" pitchFamily="34" charset="-122"/>
                <a:cs typeface="+mn-ea"/>
              </a:rPr>
              <a:t>思 路</a:t>
            </a:r>
          </a:p>
        </p:txBody>
      </p:sp>
      <p:sp>
        <p:nvSpPr>
          <p:cNvPr id="51" name="矩形: 圆角 50">
            <a:extLst>
              <a:ext uri="{FF2B5EF4-FFF2-40B4-BE49-F238E27FC236}">
                <a16:creationId xmlns:a16="http://schemas.microsoft.com/office/drawing/2014/main" id="{905CECEA-C436-4B9B-27CE-15031E7216DF}"/>
              </a:ext>
            </a:extLst>
          </p:cNvPr>
          <p:cNvSpPr/>
          <p:nvPr/>
        </p:nvSpPr>
        <p:spPr>
          <a:xfrm flipH="1">
            <a:off x="475463" y="5466411"/>
            <a:ext cx="1262062" cy="825500"/>
          </a:xfrm>
          <a:prstGeom prst="roundRect">
            <a:avLst>
              <a:gd name="adj" fmla="val 0"/>
            </a:avLst>
          </a:prstGeom>
          <a:gradFill>
            <a:gsLst>
              <a:gs pos="100000">
                <a:schemeClr val="accent2">
                  <a:alpha val="10000"/>
                </a:schemeClr>
              </a:gs>
              <a:gs pos="0">
                <a:schemeClr val="accent2">
                  <a:alpha val="0"/>
                </a:schemeClr>
              </a:gs>
            </a:gsLst>
            <a:lin ang="0" scaled="1"/>
          </a:gradFill>
          <a:ln w="12700" cap="flat" cmpd="sng" algn="ctr">
            <a:no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52" name="文本框 51">
            <a:extLst>
              <a:ext uri="{FF2B5EF4-FFF2-40B4-BE49-F238E27FC236}">
                <a16:creationId xmlns:a16="http://schemas.microsoft.com/office/drawing/2014/main" id="{9C855167-6E48-7646-F165-2DDF82402DFA}"/>
              </a:ext>
            </a:extLst>
          </p:cNvPr>
          <p:cNvSpPr txBox="1"/>
          <p:nvPr/>
        </p:nvSpPr>
        <p:spPr>
          <a:xfrm>
            <a:off x="578503" y="5648329"/>
            <a:ext cx="910842" cy="461665"/>
          </a:xfrm>
          <a:prstGeom prst="rect">
            <a:avLst/>
          </a:prstGeom>
          <a:noFill/>
        </p:spPr>
        <p:txBody>
          <a:bodyPr wrap="square">
            <a:spAutoFit/>
          </a:bodyPr>
          <a:lstStyle/>
          <a:p>
            <a:pPr algn="ctr"/>
            <a:r>
              <a:rPr lang="zh-CN" altLang="en-US" sz="2400" b="1" dirty="0">
                <a:solidFill>
                  <a:schemeClr val="accent1"/>
                </a:solidFill>
                <a:latin typeface="微软雅黑" panose="020B0503020204020204" pitchFamily="34" charset="-122"/>
                <a:ea typeface="微软雅黑" panose="020B0503020204020204" pitchFamily="34" charset="-122"/>
                <a:cs typeface="+mn-ea"/>
              </a:rPr>
              <a:t>技 术</a:t>
            </a:r>
          </a:p>
        </p:txBody>
      </p:sp>
      <p:sp>
        <p:nvSpPr>
          <p:cNvPr id="53" name="矩形 52">
            <a:extLst>
              <a:ext uri="{FF2B5EF4-FFF2-40B4-BE49-F238E27FC236}">
                <a16:creationId xmlns:a16="http://schemas.microsoft.com/office/drawing/2014/main" id="{4E0BF1BB-346F-55F9-9689-106CA5E9BC1C}"/>
              </a:ext>
            </a:extLst>
          </p:cNvPr>
          <p:cNvSpPr/>
          <p:nvPr/>
        </p:nvSpPr>
        <p:spPr>
          <a:xfrm>
            <a:off x="1592492" y="2612138"/>
            <a:ext cx="3160706" cy="3976661"/>
          </a:xfrm>
          <a:prstGeom prst="rect">
            <a:avLst/>
          </a:prstGeom>
          <a:solidFill>
            <a:sysClr val="window" lastClr="FFFFFF"/>
          </a:solidFill>
          <a:ln w="3175" cap="flat" cmpd="sng" algn="ctr">
            <a:gradFill flip="none" rotWithShape="1">
              <a:gsLst>
                <a:gs pos="0">
                  <a:schemeClr val="accent1">
                    <a:alpha val="50000"/>
                  </a:schemeClr>
                </a:gs>
                <a:gs pos="100000">
                  <a:schemeClr val="accent1">
                    <a:alpha val="0"/>
                  </a:schemeClr>
                </a:gs>
              </a:gsLst>
              <a:lin ang="5400000" scaled="1"/>
              <a:tileRect/>
            </a:gradFill>
            <a:prstDash val="solid"/>
            <a:miter lim="800000"/>
          </a:ln>
          <a:effectLst>
            <a:outerShdw blurRad="190500" dist="25400" algn="ctr" rotWithShape="0">
              <a:schemeClr val="accent1">
                <a:alpha val="8000"/>
              </a:scheme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4" name="矩形 53">
            <a:extLst>
              <a:ext uri="{FF2B5EF4-FFF2-40B4-BE49-F238E27FC236}">
                <a16:creationId xmlns:a16="http://schemas.microsoft.com/office/drawing/2014/main" id="{D16C79F1-6191-5EFA-B569-569A4A32FD81}"/>
              </a:ext>
            </a:extLst>
          </p:cNvPr>
          <p:cNvSpPr/>
          <p:nvPr/>
        </p:nvSpPr>
        <p:spPr>
          <a:xfrm>
            <a:off x="5067418" y="2612138"/>
            <a:ext cx="3160706" cy="3976661"/>
          </a:xfrm>
          <a:prstGeom prst="rect">
            <a:avLst/>
          </a:prstGeom>
          <a:solidFill>
            <a:sysClr val="window" lastClr="FFFFFF"/>
          </a:solidFill>
          <a:ln w="3175" cap="flat" cmpd="sng" algn="ctr">
            <a:gradFill flip="none" rotWithShape="1">
              <a:gsLst>
                <a:gs pos="0">
                  <a:schemeClr val="accent1">
                    <a:alpha val="50000"/>
                  </a:schemeClr>
                </a:gs>
                <a:gs pos="100000">
                  <a:schemeClr val="accent1">
                    <a:alpha val="0"/>
                  </a:schemeClr>
                </a:gs>
              </a:gsLst>
              <a:lin ang="5400000" scaled="1"/>
              <a:tileRect/>
            </a:gradFill>
            <a:prstDash val="solid"/>
            <a:miter lim="800000"/>
          </a:ln>
          <a:effectLst>
            <a:outerShdw blurRad="190500" dist="25400" algn="ctr" rotWithShape="0">
              <a:schemeClr val="accent1">
                <a:alpha val="8000"/>
              </a:schemeClr>
            </a:outerShdw>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55" name="矩形 54">
            <a:extLst>
              <a:ext uri="{FF2B5EF4-FFF2-40B4-BE49-F238E27FC236}">
                <a16:creationId xmlns:a16="http://schemas.microsoft.com/office/drawing/2014/main" id="{D12842D0-00DC-D431-3515-614FA2B126BE}"/>
              </a:ext>
            </a:extLst>
          </p:cNvPr>
          <p:cNvSpPr/>
          <p:nvPr/>
        </p:nvSpPr>
        <p:spPr>
          <a:xfrm>
            <a:off x="8542344" y="2612138"/>
            <a:ext cx="3160706" cy="3976661"/>
          </a:xfrm>
          <a:prstGeom prst="rect">
            <a:avLst/>
          </a:prstGeom>
          <a:solidFill>
            <a:sysClr val="window" lastClr="FFFFFF"/>
          </a:solidFill>
          <a:ln w="3175" cap="flat" cmpd="sng" algn="ctr">
            <a:gradFill flip="none" rotWithShape="1">
              <a:gsLst>
                <a:gs pos="0">
                  <a:schemeClr val="accent1">
                    <a:alpha val="50000"/>
                  </a:schemeClr>
                </a:gs>
                <a:gs pos="100000">
                  <a:schemeClr val="accent1">
                    <a:alpha val="0"/>
                  </a:schemeClr>
                </a:gs>
              </a:gsLst>
              <a:lin ang="5400000" scaled="1"/>
              <a:tileRect/>
            </a:gradFill>
            <a:prstDash val="solid"/>
            <a:miter lim="800000"/>
          </a:ln>
          <a:effectLst>
            <a:outerShdw blurRad="190500" dist="25400" algn="ctr" rotWithShape="0">
              <a:schemeClr val="accent1">
                <a:alpha val="8000"/>
              </a:schemeClr>
            </a:outerShdw>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56" name="矩形 55">
            <a:extLst>
              <a:ext uri="{FF2B5EF4-FFF2-40B4-BE49-F238E27FC236}">
                <a16:creationId xmlns:a16="http://schemas.microsoft.com/office/drawing/2014/main" id="{4AC2AEAD-5504-5947-BA36-366E67D5A7D1}"/>
              </a:ext>
            </a:extLst>
          </p:cNvPr>
          <p:cNvSpPr/>
          <p:nvPr/>
        </p:nvSpPr>
        <p:spPr>
          <a:xfrm>
            <a:off x="1592385" y="2901845"/>
            <a:ext cx="3160706" cy="832680"/>
          </a:xfrm>
          <a:prstGeom prst="rect">
            <a:avLst/>
          </a:prstGeom>
          <a:solidFill>
            <a:schemeClr val="accent2">
              <a:alpha val="7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7" name="矩形 56">
            <a:extLst>
              <a:ext uri="{FF2B5EF4-FFF2-40B4-BE49-F238E27FC236}">
                <a16:creationId xmlns:a16="http://schemas.microsoft.com/office/drawing/2014/main" id="{7C14FEFA-3FA9-FF21-A0EC-C5BC22762BDB}"/>
              </a:ext>
            </a:extLst>
          </p:cNvPr>
          <p:cNvSpPr/>
          <p:nvPr/>
        </p:nvSpPr>
        <p:spPr>
          <a:xfrm>
            <a:off x="5067418" y="2901845"/>
            <a:ext cx="3160706" cy="832680"/>
          </a:xfrm>
          <a:prstGeom prst="rect">
            <a:avLst/>
          </a:prstGeom>
          <a:solidFill>
            <a:schemeClr val="accent2">
              <a:alpha val="7000"/>
            </a:schemeClr>
          </a:solidFill>
          <a:ln w="12700" cap="flat" cmpd="sng" algn="ctr">
            <a:no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58" name="矩形 57">
            <a:extLst>
              <a:ext uri="{FF2B5EF4-FFF2-40B4-BE49-F238E27FC236}">
                <a16:creationId xmlns:a16="http://schemas.microsoft.com/office/drawing/2014/main" id="{64959D66-F3F3-D977-9C4D-D3ED3F39250A}"/>
              </a:ext>
            </a:extLst>
          </p:cNvPr>
          <p:cNvSpPr/>
          <p:nvPr/>
        </p:nvSpPr>
        <p:spPr>
          <a:xfrm>
            <a:off x="8542344" y="2901845"/>
            <a:ext cx="3160706" cy="832680"/>
          </a:xfrm>
          <a:prstGeom prst="rect">
            <a:avLst/>
          </a:prstGeom>
          <a:solidFill>
            <a:schemeClr val="accent2">
              <a:alpha val="7000"/>
            </a:schemeClr>
          </a:solidFill>
          <a:ln w="12700" cap="flat" cmpd="sng" algn="ctr">
            <a:no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59" name="等腰三角形 58">
            <a:extLst>
              <a:ext uri="{FF2B5EF4-FFF2-40B4-BE49-F238E27FC236}">
                <a16:creationId xmlns:a16="http://schemas.microsoft.com/office/drawing/2014/main" id="{D59EDA26-FD78-12C7-586B-35D6B8EBC0B1}"/>
              </a:ext>
            </a:extLst>
          </p:cNvPr>
          <p:cNvSpPr/>
          <p:nvPr/>
        </p:nvSpPr>
        <p:spPr>
          <a:xfrm flipV="1">
            <a:off x="3065642" y="3828502"/>
            <a:ext cx="214192" cy="111065"/>
          </a:xfrm>
          <a:prstGeom prst="triangle">
            <a:avLst/>
          </a:prstGeom>
          <a:solidFill>
            <a:schemeClr val="accent1"/>
          </a:solidFill>
          <a:ln w="12700" cap="flat" cmpd="sng" algn="ctr">
            <a:noFill/>
            <a:prstDash val="solid"/>
            <a:miter lim="800000"/>
          </a:ln>
          <a:effectLst>
            <a:outerShdw blurRad="76200" sx="102000" sy="1020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60" name="等腰三角形 59">
            <a:extLst>
              <a:ext uri="{FF2B5EF4-FFF2-40B4-BE49-F238E27FC236}">
                <a16:creationId xmlns:a16="http://schemas.microsoft.com/office/drawing/2014/main" id="{3452B0F5-AC3C-96DF-2AB7-962C02284681}"/>
              </a:ext>
            </a:extLst>
          </p:cNvPr>
          <p:cNvSpPr/>
          <p:nvPr/>
        </p:nvSpPr>
        <p:spPr>
          <a:xfrm flipV="1">
            <a:off x="6540675" y="3854708"/>
            <a:ext cx="214192" cy="111065"/>
          </a:xfrm>
          <a:prstGeom prst="triangle">
            <a:avLst/>
          </a:prstGeom>
          <a:solidFill>
            <a:schemeClr val="accent1"/>
          </a:solidFill>
          <a:ln w="12700" cap="flat" cmpd="sng" algn="ctr">
            <a:noFill/>
            <a:prstDash val="solid"/>
            <a:miter lim="800000"/>
          </a:ln>
          <a:effectLst>
            <a:outerShdw blurRad="76200" sx="102000" sy="1020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61" name="等腰三角形 60">
            <a:extLst>
              <a:ext uri="{FF2B5EF4-FFF2-40B4-BE49-F238E27FC236}">
                <a16:creationId xmlns:a16="http://schemas.microsoft.com/office/drawing/2014/main" id="{43983FB1-228E-6A9D-5963-092096A90D04}"/>
              </a:ext>
            </a:extLst>
          </p:cNvPr>
          <p:cNvSpPr/>
          <p:nvPr/>
        </p:nvSpPr>
        <p:spPr>
          <a:xfrm flipV="1">
            <a:off x="10015601" y="3854708"/>
            <a:ext cx="214192" cy="111065"/>
          </a:xfrm>
          <a:prstGeom prst="triangle">
            <a:avLst/>
          </a:prstGeom>
          <a:solidFill>
            <a:schemeClr val="accent1"/>
          </a:solidFill>
          <a:ln w="12700" cap="flat" cmpd="sng" algn="ctr">
            <a:noFill/>
            <a:prstDash val="solid"/>
            <a:miter lim="800000"/>
          </a:ln>
          <a:effectLst>
            <a:outerShdw blurRad="76200" sx="102000" sy="1020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62" name="矩形 61">
            <a:extLst>
              <a:ext uri="{FF2B5EF4-FFF2-40B4-BE49-F238E27FC236}">
                <a16:creationId xmlns:a16="http://schemas.microsoft.com/office/drawing/2014/main" id="{459BCD59-3B30-BDB8-DAC9-16149B016808}"/>
              </a:ext>
            </a:extLst>
          </p:cNvPr>
          <p:cNvSpPr/>
          <p:nvPr/>
        </p:nvSpPr>
        <p:spPr>
          <a:xfrm>
            <a:off x="1592385" y="5466814"/>
            <a:ext cx="3160706" cy="832680"/>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3" name="矩形 62">
            <a:extLst>
              <a:ext uri="{FF2B5EF4-FFF2-40B4-BE49-F238E27FC236}">
                <a16:creationId xmlns:a16="http://schemas.microsoft.com/office/drawing/2014/main" id="{7720F624-449C-5BCF-EECD-DF9D9BFB46A4}"/>
              </a:ext>
            </a:extLst>
          </p:cNvPr>
          <p:cNvSpPr/>
          <p:nvPr/>
        </p:nvSpPr>
        <p:spPr>
          <a:xfrm>
            <a:off x="1778493" y="4033544"/>
            <a:ext cx="2788704" cy="1134251"/>
          </a:xfrm>
          <a:prstGeom prst="rect">
            <a:avLst/>
          </a:prstGeom>
          <a:gradFill flip="none" rotWithShape="1">
            <a:gsLst>
              <a:gs pos="25000">
                <a:schemeClr val="accent3"/>
              </a:gs>
              <a:gs pos="99083">
                <a:schemeClr val="bg1"/>
              </a:gs>
            </a:gsLst>
            <a:lin ang="5400000" scaled="1"/>
            <a:tileRect/>
          </a:gradFill>
          <a:ln w="3175" cap="flat" cmpd="sng" algn="ctr">
            <a:solidFill>
              <a:srgbClr val="0B4FA1"/>
            </a:solidFill>
            <a:prstDash val="solid"/>
            <a:miter lim="800000"/>
          </a:ln>
          <a:effectLst>
            <a:outerShdw blurRad="304800" sx="102000" sy="102000" algn="ctr" rotWithShape="0">
              <a:schemeClr val="accent1">
                <a:alpha val="16000"/>
              </a:schemeClr>
            </a:outerShdw>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64" name="等腰三角形 63">
            <a:extLst>
              <a:ext uri="{FF2B5EF4-FFF2-40B4-BE49-F238E27FC236}">
                <a16:creationId xmlns:a16="http://schemas.microsoft.com/office/drawing/2014/main" id="{3802D0B9-20A9-55E5-0B98-E787D98C6305}"/>
              </a:ext>
            </a:extLst>
          </p:cNvPr>
          <p:cNvSpPr/>
          <p:nvPr/>
        </p:nvSpPr>
        <p:spPr>
          <a:xfrm flipV="1">
            <a:off x="3065642" y="5261772"/>
            <a:ext cx="214192" cy="111065"/>
          </a:xfrm>
          <a:prstGeom prst="triangle">
            <a:avLst/>
          </a:prstGeom>
          <a:solidFill>
            <a:schemeClr val="accent1"/>
          </a:solidFill>
          <a:ln w="12700" cap="flat" cmpd="sng" algn="ctr">
            <a:noFill/>
            <a:prstDash val="solid"/>
            <a:miter lim="800000"/>
          </a:ln>
          <a:effectLst>
            <a:outerShdw blurRad="76200" sx="102000" sy="1020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65" name="文本框 64">
            <a:extLst>
              <a:ext uri="{FF2B5EF4-FFF2-40B4-BE49-F238E27FC236}">
                <a16:creationId xmlns:a16="http://schemas.microsoft.com/office/drawing/2014/main" id="{BFE24891-0057-15FE-6336-F130CDF367A4}"/>
              </a:ext>
            </a:extLst>
          </p:cNvPr>
          <p:cNvSpPr txBox="1"/>
          <p:nvPr/>
        </p:nvSpPr>
        <p:spPr>
          <a:xfrm>
            <a:off x="1762681" y="2939804"/>
            <a:ext cx="2891781" cy="705962"/>
          </a:xfrm>
          <a:prstGeom prst="rect">
            <a:avLst/>
          </a:prstGeom>
          <a:noFill/>
        </p:spPr>
        <p:txBody>
          <a:bodyPr wrap="square">
            <a:spAutoFit/>
          </a:bodyPr>
          <a:lstStyle/>
          <a:p>
            <a:pPr>
              <a:lnSpc>
                <a:spcPct val="130000"/>
              </a:lnSpc>
            </a:pPr>
            <a:r>
              <a:rPr lang="zh-CN" altLang="en-US" sz="1600" dirty="0">
                <a:solidFill>
                  <a:srgbClr val="060607"/>
                </a:solidFill>
                <a:latin typeface="微软雅黑" panose="020B0503020204020204" pitchFamily="34" charset="-122"/>
                <a:ea typeface="微软雅黑" panose="020B0503020204020204" pitchFamily="34" charset="-122"/>
              </a:rPr>
              <a:t>带季风区气候复杂，干旱的时空分布不均</a:t>
            </a:r>
            <a:endParaRPr lang="zh-CN" altLang="en-US" sz="1600" dirty="0">
              <a:solidFill>
                <a:prstClr val="black"/>
              </a:solidFill>
              <a:latin typeface="微软雅黑" panose="020B0503020204020204" pitchFamily="34" charset="-122"/>
              <a:ea typeface="微软雅黑" panose="020B0503020204020204" pitchFamily="34" charset="-122"/>
            </a:endParaRPr>
          </a:p>
        </p:txBody>
      </p:sp>
      <p:sp>
        <p:nvSpPr>
          <p:cNvPr id="66" name="文本框 65">
            <a:extLst>
              <a:ext uri="{FF2B5EF4-FFF2-40B4-BE49-F238E27FC236}">
                <a16:creationId xmlns:a16="http://schemas.microsoft.com/office/drawing/2014/main" id="{56EF7A17-F78E-CFCE-9C42-83AA064815CF}"/>
              </a:ext>
            </a:extLst>
          </p:cNvPr>
          <p:cNvSpPr txBox="1"/>
          <p:nvPr/>
        </p:nvSpPr>
        <p:spPr>
          <a:xfrm>
            <a:off x="5238662" y="2939804"/>
            <a:ext cx="2891781" cy="705962"/>
          </a:xfrm>
          <a:prstGeom prst="rect">
            <a:avLst/>
          </a:prstGeom>
          <a:noFill/>
        </p:spPr>
        <p:txBody>
          <a:bodyPr wrap="square">
            <a:spAutoFit/>
          </a:bodyPr>
          <a:lstStyle/>
          <a:p>
            <a:pPr>
              <a:lnSpc>
                <a:spcPct val="130000"/>
              </a:lnSpc>
            </a:pPr>
            <a:r>
              <a:rPr lang="zh-CN" altLang="en-US" sz="1600" dirty="0">
                <a:solidFill>
                  <a:srgbClr val="060607"/>
                </a:solidFill>
                <a:latin typeface="微软雅黑" panose="020B0503020204020204" pitchFamily="34" charset="-122"/>
                <a:ea typeface="微软雅黑" panose="020B0503020204020204" pitchFamily="34" charset="-122"/>
              </a:rPr>
              <a:t>岩溶区土壤层较薄，保水能力弱，植物更容易受到干旱胁迫</a:t>
            </a:r>
            <a:endParaRPr lang="zh-CN" altLang="en-US" sz="1600" dirty="0">
              <a:solidFill>
                <a:prstClr val="black"/>
              </a:solidFill>
              <a:latin typeface="微软雅黑" panose="020B0503020204020204" pitchFamily="34" charset="-122"/>
              <a:ea typeface="微软雅黑" panose="020B0503020204020204" pitchFamily="34" charset="-122"/>
            </a:endParaRPr>
          </a:p>
        </p:txBody>
      </p:sp>
      <p:sp>
        <p:nvSpPr>
          <p:cNvPr id="67" name="文本框 66">
            <a:extLst>
              <a:ext uri="{FF2B5EF4-FFF2-40B4-BE49-F238E27FC236}">
                <a16:creationId xmlns:a16="http://schemas.microsoft.com/office/drawing/2014/main" id="{314CA427-B0F6-5C83-FFE1-E2F2F78E15CD}"/>
              </a:ext>
            </a:extLst>
          </p:cNvPr>
          <p:cNvSpPr txBox="1"/>
          <p:nvPr/>
        </p:nvSpPr>
        <p:spPr>
          <a:xfrm>
            <a:off x="8717890" y="2939804"/>
            <a:ext cx="2891781" cy="705962"/>
          </a:xfrm>
          <a:prstGeom prst="rect">
            <a:avLst/>
          </a:prstGeom>
          <a:noFill/>
        </p:spPr>
        <p:txBody>
          <a:bodyPr wrap="square">
            <a:spAutoFit/>
          </a:bodyPr>
          <a:lstStyle/>
          <a:p>
            <a:pPr>
              <a:lnSpc>
                <a:spcPct val="130000"/>
              </a:lnSpc>
            </a:pPr>
            <a:r>
              <a:rPr lang="zh-CN" altLang="en-US" sz="1600" dirty="0">
                <a:solidFill>
                  <a:srgbClr val="060607"/>
                </a:solidFill>
                <a:latin typeface="微软雅黑" panose="020B0503020204020204" pitchFamily="34" charset="-122"/>
                <a:ea typeface="微软雅黑" panose="020B0503020204020204" pitchFamily="34" charset="-122"/>
              </a:rPr>
              <a:t>不同岩性区域的土壤水、地下水和降水的同位素组成差异</a:t>
            </a:r>
            <a:endParaRPr lang="zh-CN" altLang="en-US" sz="1600" dirty="0">
              <a:solidFill>
                <a:prstClr val="black"/>
              </a:solidFill>
              <a:latin typeface="微软雅黑" panose="020B0503020204020204" pitchFamily="34" charset="-122"/>
              <a:ea typeface="微软雅黑" panose="020B0503020204020204" pitchFamily="34" charset="-122"/>
            </a:endParaRPr>
          </a:p>
        </p:txBody>
      </p:sp>
      <p:sp>
        <p:nvSpPr>
          <p:cNvPr id="68" name="矩形 67">
            <a:extLst>
              <a:ext uri="{FF2B5EF4-FFF2-40B4-BE49-F238E27FC236}">
                <a16:creationId xmlns:a16="http://schemas.microsoft.com/office/drawing/2014/main" id="{C0898607-B318-3E2E-1246-3DE6C6BEE82C}"/>
              </a:ext>
            </a:extLst>
          </p:cNvPr>
          <p:cNvSpPr/>
          <p:nvPr/>
        </p:nvSpPr>
        <p:spPr>
          <a:xfrm>
            <a:off x="5253419" y="4033544"/>
            <a:ext cx="2788704" cy="1134251"/>
          </a:xfrm>
          <a:prstGeom prst="rect">
            <a:avLst/>
          </a:prstGeom>
          <a:gradFill flip="none" rotWithShape="1">
            <a:gsLst>
              <a:gs pos="25000">
                <a:schemeClr val="accent3"/>
              </a:gs>
              <a:gs pos="99083">
                <a:schemeClr val="bg1"/>
              </a:gs>
            </a:gsLst>
            <a:lin ang="5400000" scaled="1"/>
            <a:tileRect/>
          </a:gradFill>
          <a:ln w="3175" cap="flat" cmpd="sng" algn="ctr">
            <a:solidFill>
              <a:srgbClr val="0B4FA1"/>
            </a:solidFill>
            <a:prstDash val="solid"/>
            <a:miter lim="800000"/>
          </a:ln>
          <a:effectLst>
            <a:outerShdw blurRad="304800" sx="102000" sy="102000" algn="ctr" rotWithShape="0">
              <a:schemeClr val="accent1">
                <a:alpha val="16000"/>
              </a:schemeClr>
            </a:outerShdw>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69" name="矩形 68">
            <a:extLst>
              <a:ext uri="{FF2B5EF4-FFF2-40B4-BE49-F238E27FC236}">
                <a16:creationId xmlns:a16="http://schemas.microsoft.com/office/drawing/2014/main" id="{D92AC5AE-1008-76D1-98E6-9D052A98ED0C}"/>
              </a:ext>
            </a:extLst>
          </p:cNvPr>
          <p:cNvSpPr/>
          <p:nvPr/>
        </p:nvSpPr>
        <p:spPr>
          <a:xfrm>
            <a:off x="8728345" y="4033544"/>
            <a:ext cx="2788704" cy="1134251"/>
          </a:xfrm>
          <a:prstGeom prst="rect">
            <a:avLst/>
          </a:prstGeom>
          <a:gradFill flip="none" rotWithShape="1">
            <a:gsLst>
              <a:gs pos="25000">
                <a:schemeClr val="accent3"/>
              </a:gs>
              <a:gs pos="99083">
                <a:schemeClr val="bg1"/>
              </a:gs>
            </a:gsLst>
            <a:lin ang="5400000" scaled="1"/>
            <a:tileRect/>
          </a:gradFill>
          <a:ln w="3175" cap="flat" cmpd="sng" algn="ctr">
            <a:solidFill>
              <a:srgbClr val="0B4FA1"/>
            </a:solidFill>
            <a:prstDash val="solid"/>
            <a:miter lim="800000"/>
          </a:ln>
          <a:effectLst>
            <a:outerShdw blurRad="304800" sx="102000" sy="102000" algn="ctr" rotWithShape="0">
              <a:schemeClr val="accent1">
                <a:alpha val="16000"/>
              </a:schemeClr>
            </a:outerShdw>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70" name="矩形 69">
            <a:extLst>
              <a:ext uri="{FF2B5EF4-FFF2-40B4-BE49-F238E27FC236}">
                <a16:creationId xmlns:a16="http://schemas.microsoft.com/office/drawing/2014/main" id="{EFCB47EC-864B-AAD5-A472-00AA391549FE}"/>
              </a:ext>
            </a:extLst>
          </p:cNvPr>
          <p:cNvSpPr/>
          <p:nvPr/>
        </p:nvSpPr>
        <p:spPr>
          <a:xfrm>
            <a:off x="5067365" y="5466814"/>
            <a:ext cx="3160706" cy="832680"/>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1" name="矩形 70">
            <a:extLst>
              <a:ext uri="{FF2B5EF4-FFF2-40B4-BE49-F238E27FC236}">
                <a16:creationId xmlns:a16="http://schemas.microsoft.com/office/drawing/2014/main" id="{D499CDC0-6EAF-4CDE-EC69-384809F6400E}"/>
              </a:ext>
            </a:extLst>
          </p:cNvPr>
          <p:cNvSpPr/>
          <p:nvPr/>
        </p:nvSpPr>
        <p:spPr>
          <a:xfrm>
            <a:off x="8542344" y="5466814"/>
            <a:ext cx="3160706" cy="832680"/>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2" name="文本框 71">
            <a:extLst>
              <a:ext uri="{FF2B5EF4-FFF2-40B4-BE49-F238E27FC236}">
                <a16:creationId xmlns:a16="http://schemas.microsoft.com/office/drawing/2014/main" id="{328EC5CD-7D02-F580-116B-8C1346812E9D}"/>
              </a:ext>
            </a:extLst>
          </p:cNvPr>
          <p:cNvSpPr txBox="1"/>
          <p:nvPr/>
        </p:nvSpPr>
        <p:spPr>
          <a:xfrm>
            <a:off x="1887321" y="4046254"/>
            <a:ext cx="2586289" cy="1108830"/>
          </a:xfrm>
          <a:prstGeom prst="rect">
            <a:avLst/>
          </a:prstGeom>
          <a:noFill/>
        </p:spPr>
        <p:txBody>
          <a:bodyPr wrap="square">
            <a:spAutoFit/>
          </a:bodyPr>
          <a:lstStyle/>
          <a:p>
            <a:pPr marL="252000" indent="-252000">
              <a:lnSpc>
                <a:spcPct val="120000"/>
              </a:lnSpc>
              <a:buFont typeface="+mj-lt"/>
              <a:buAutoNum type="arabicPeriod"/>
            </a:pPr>
            <a:r>
              <a:rPr lang="zh-CN" altLang="en-US" sz="1400" dirty="0">
                <a:latin typeface="微软雅黑" panose="020B0503020204020204" pitchFamily="34" charset="-122"/>
                <a:ea typeface="微软雅黑" panose="020B0503020204020204" pitchFamily="34" charset="-122"/>
              </a:rPr>
              <a:t>构建综合干旱监测模型</a:t>
            </a:r>
          </a:p>
          <a:p>
            <a:pPr marL="252000" indent="-252000">
              <a:lnSpc>
                <a:spcPct val="120000"/>
              </a:lnSpc>
              <a:buFont typeface="+mj-lt"/>
              <a:buAutoNum type="arabicPeriod"/>
            </a:pPr>
            <a:r>
              <a:rPr lang="zh-CN" altLang="en-US" sz="1400" dirty="0">
                <a:latin typeface="微软雅黑" panose="020B0503020204020204" pitchFamily="34" charset="-122"/>
                <a:ea typeface="微软雅黑" panose="020B0503020204020204" pitchFamily="34" charset="-122"/>
              </a:rPr>
              <a:t>记录土壤水分含量，评估干旱发生的时间、强度和持续时间</a:t>
            </a:r>
          </a:p>
        </p:txBody>
      </p:sp>
      <p:sp>
        <p:nvSpPr>
          <p:cNvPr id="73" name="文本框 72">
            <a:extLst>
              <a:ext uri="{FF2B5EF4-FFF2-40B4-BE49-F238E27FC236}">
                <a16:creationId xmlns:a16="http://schemas.microsoft.com/office/drawing/2014/main" id="{71C87C36-C89F-C97A-ACCF-307579A4CD32}"/>
              </a:ext>
            </a:extLst>
          </p:cNvPr>
          <p:cNvSpPr txBox="1"/>
          <p:nvPr/>
        </p:nvSpPr>
        <p:spPr>
          <a:xfrm>
            <a:off x="5362487" y="4046254"/>
            <a:ext cx="2586289" cy="1108830"/>
          </a:xfrm>
          <a:prstGeom prst="rect">
            <a:avLst/>
          </a:prstGeom>
          <a:noFill/>
        </p:spPr>
        <p:txBody>
          <a:bodyPr wrap="square">
            <a:spAutoFit/>
          </a:bodyPr>
          <a:lstStyle/>
          <a:p>
            <a:pPr marL="252000" indent="-252000">
              <a:lnSpc>
                <a:spcPct val="120000"/>
              </a:lnSpc>
              <a:buFont typeface="+mj-lt"/>
              <a:buAutoNum type="arabicPeriod"/>
            </a:pPr>
            <a:r>
              <a:rPr lang="zh-CN" altLang="en-US" sz="1400" dirty="0">
                <a:latin typeface="微软雅黑" panose="020B0503020204020204" pitchFamily="34" charset="-122"/>
                <a:ea typeface="微软雅黑" panose="020B0503020204020204" pitchFamily="34" charset="-122"/>
              </a:rPr>
              <a:t>分析植物的水分来源和效率</a:t>
            </a:r>
            <a:endParaRPr lang="en-US" altLang="zh-CN" sz="1400" dirty="0">
              <a:latin typeface="微软雅黑" panose="020B0503020204020204" pitchFamily="34" charset="-122"/>
              <a:ea typeface="微软雅黑" panose="020B0503020204020204" pitchFamily="34" charset="-122"/>
            </a:endParaRPr>
          </a:p>
          <a:p>
            <a:pPr marL="252000" indent="-252000">
              <a:lnSpc>
                <a:spcPct val="120000"/>
              </a:lnSpc>
              <a:buFont typeface="+mj-lt"/>
              <a:buAutoNum type="arabicPeriod"/>
            </a:pPr>
            <a:r>
              <a:rPr lang="zh-CN" altLang="en-US" sz="1400" dirty="0">
                <a:latin typeface="微软雅黑" panose="020B0503020204020204" pitchFamily="34" charset="-122"/>
                <a:ea typeface="微软雅黑" panose="020B0503020204020204" pitchFamily="34" charset="-122"/>
              </a:rPr>
              <a:t>测量植物叶片厚度、比叶面积等功能性状，分析其在不同岩性区域的变异</a:t>
            </a:r>
          </a:p>
        </p:txBody>
      </p:sp>
      <p:sp>
        <p:nvSpPr>
          <p:cNvPr id="74" name="文本框 73">
            <a:extLst>
              <a:ext uri="{FF2B5EF4-FFF2-40B4-BE49-F238E27FC236}">
                <a16:creationId xmlns:a16="http://schemas.microsoft.com/office/drawing/2014/main" id="{C39EBB13-14FE-D424-94A3-54641B4E3265}"/>
              </a:ext>
            </a:extLst>
          </p:cNvPr>
          <p:cNvSpPr txBox="1"/>
          <p:nvPr/>
        </p:nvSpPr>
        <p:spPr>
          <a:xfrm>
            <a:off x="8839955" y="4046254"/>
            <a:ext cx="2586289" cy="1108830"/>
          </a:xfrm>
          <a:prstGeom prst="rect">
            <a:avLst/>
          </a:prstGeom>
          <a:noFill/>
        </p:spPr>
        <p:txBody>
          <a:bodyPr wrap="square">
            <a:spAutoFit/>
          </a:bodyPr>
          <a:lstStyle/>
          <a:p>
            <a:pPr marL="252000" indent="-252000">
              <a:lnSpc>
                <a:spcPct val="120000"/>
              </a:lnSpc>
              <a:buFont typeface="+mj-lt"/>
              <a:buAutoNum type="arabicPeriod"/>
            </a:pPr>
            <a:r>
              <a:rPr lang="zh-CN" altLang="en-US" sz="1400" dirty="0">
                <a:latin typeface="微软雅黑" panose="020B0503020204020204" pitchFamily="34" charset="-122"/>
                <a:ea typeface="微软雅黑" panose="020B0503020204020204" pitchFamily="34" charset="-122"/>
              </a:rPr>
              <a:t>分析不同岩性区域土壤结构裂隙发育程度地下水分布</a:t>
            </a:r>
            <a:endParaRPr lang="en-US" altLang="zh-CN" sz="1400" dirty="0">
              <a:latin typeface="微软雅黑" panose="020B0503020204020204" pitchFamily="34" charset="-122"/>
              <a:ea typeface="微软雅黑" panose="020B0503020204020204" pitchFamily="34" charset="-122"/>
            </a:endParaRPr>
          </a:p>
          <a:p>
            <a:pPr marL="252000" indent="-252000">
              <a:lnSpc>
                <a:spcPct val="120000"/>
              </a:lnSpc>
              <a:buFont typeface="+mj-lt"/>
              <a:buAutoNum type="arabicPeriod"/>
            </a:pPr>
            <a:r>
              <a:rPr lang="zh-CN" altLang="en-US" sz="1400" dirty="0">
                <a:latin typeface="微软雅黑" panose="020B0503020204020204" pitchFamily="34" charset="-122"/>
                <a:ea typeface="微软雅黑" panose="020B0503020204020204" pitchFamily="34" charset="-122"/>
              </a:rPr>
              <a:t>模拟不同岩性森林在干旱条件下水分循环和动态变化</a:t>
            </a:r>
          </a:p>
        </p:txBody>
      </p:sp>
      <p:sp>
        <p:nvSpPr>
          <p:cNvPr id="75" name="文本框 74">
            <a:extLst>
              <a:ext uri="{FF2B5EF4-FFF2-40B4-BE49-F238E27FC236}">
                <a16:creationId xmlns:a16="http://schemas.microsoft.com/office/drawing/2014/main" id="{1EE41AD5-F1C9-DA54-A175-E37395E49415}"/>
              </a:ext>
            </a:extLst>
          </p:cNvPr>
          <p:cNvSpPr txBox="1"/>
          <p:nvPr/>
        </p:nvSpPr>
        <p:spPr>
          <a:xfrm>
            <a:off x="1783184" y="5540428"/>
            <a:ext cx="2801686" cy="662874"/>
          </a:xfrm>
          <a:prstGeom prst="rect">
            <a:avLst/>
          </a:prstGeom>
          <a:noFill/>
        </p:spPr>
        <p:txBody>
          <a:bodyPr wrap="square">
            <a:spAutoFit/>
          </a:bodyPr>
          <a:lstStyle/>
          <a:p>
            <a:pPr>
              <a:lnSpc>
                <a:spcPct val="120000"/>
              </a:lnSpc>
            </a:pPr>
            <a:r>
              <a:rPr lang="zh-CN" altLang="en-US" sz="1600" dirty="0">
                <a:solidFill>
                  <a:prstClr val="white"/>
                </a:solidFill>
                <a:latin typeface="微软雅黑" panose="020B0503020204020204" pitchFamily="34" charset="-122"/>
                <a:ea typeface="微软雅黑" panose="020B0503020204020204" pitchFamily="34" charset="-122"/>
              </a:rPr>
              <a:t>构建综合干旱指数（</a:t>
            </a:r>
            <a:r>
              <a:rPr lang="en-US" altLang="zh-CN" sz="1600" dirty="0">
                <a:solidFill>
                  <a:prstClr val="white"/>
                </a:solidFill>
                <a:latin typeface="微软雅黑" panose="020B0503020204020204" pitchFamily="34" charset="-122"/>
                <a:ea typeface="微软雅黑" panose="020B0503020204020204" pitchFamily="34" charset="-122"/>
              </a:rPr>
              <a:t>CDI</a:t>
            </a:r>
            <a:r>
              <a:rPr lang="zh-CN" altLang="en-US" sz="1600" dirty="0">
                <a:solidFill>
                  <a:prstClr val="white"/>
                </a:solidFill>
                <a:latin typeface="微软雅黑" panose="020B0503020204020204" pitchFamily="34" charset="-122"/>
                <a:ea typeface="微软雅黑" panose="020B0503020204020204" pitchFamily="34" charset="-122"/>
              </a:rPr>
              <a:t>）以提高干旱监测的精度</a:t>
            </a:r>
          </a:p>
        </p:txBody>
      </p:sp>
      <p:sp>
        <p:nvSpPr>
          <p:cNvPr id="76" name="文本框 75">
            <a:extLst>
              <a:ext uri="{FF2B5EF4-FFF2-40B4-BE49-F238E27FC236}">
                <a16:creationId xmlns:a16="http://schemas.microsoft.com/office/drawing/2014/main" id="{0471995B-0ADD-228F-7FB6-8755CF317F35}"/>
              </a:ext>
            </a:extLst>
          </p:cNvPr>
          <p:cNvSpPr txBox="1"/>
          <p:nvPr/>
        </p:nvSpPr>
        <p:spPr>
          <a:xfrm>
            <a:off x="5227373" y="5540428"/>
            <a:ext cx="2978120" cy="662874"/>
          </a:xfrm>
          <a:prstGeom prst="rect">
            <a:avLst/>
          </a:prstGeom>
          <a:noFill/>
        </p:spPr>
        <p:txBody>
          <a:bodyPr wrap="square">
            <a:spAutoFit/>
          </a:bodyPr>
          <a:lstStyle/>
          <a:p>
            <a:pPr>
              <a:lnSpc>
                <a:spcPct val="120000"/>
              </a:lnSpc>
            </a:pPr>
            <a:r>
              <a:rPr lang="zh-CN" altLang="en-US" sz="1600" dirty="0">
                <a:solidFill>
                  <a:prstClr val="white"/>
                </a:solidFill>
                <a:latin typeface="微软雅黑" panose="020B0503020204020204" pitchFamily="34" charset="-122"/>
                <a:ea typeface="微软雅黑" panose="020B0503020204020204" pitchFamily="34" charset="-122"/>
              </a:rPr>
              <a:t>模拟不同岩性森林对干旱的响应机制，预测未来气候变化</a:t>
            </a:r>
          </a:p>
        </p:txBody>
      </p:sp>
      <p:sp>
        <p:nvSpPr>
          <p:cNvPr id="77" name="文本框 76">
            <a:extLst>
              <a:ext uri="{FF2B5EF4-FFF2-40B4-BE49-F238E27FC236}">
                <a16:creationId xmlns:a16="http://schemas.microsoft.com/office/drawing/2014/main" id="{55346BD5-E333-F829-FAEC-63EC306B2F91}"/>
              </a:ext>
            </a:extLst>
          </p:cNvPr>
          <p:cNvSpPr txBox="1"/>
          <p:nvPr/>
        </p:nvSpPr>
        <p:spPr>
          <a:xfrm>
            <a:off x="8739634" y="5540428"/>
            <a:ext cx="2801686" cy="662874"/>
          </a:xfrm>
          <a:prstGeom prst="rect">
            <a:avLst/>
          </a:prstGeom>
          <a:noFill/>
        </p:spPr>
        <p:txBody>
          <a:bodyPr wrap="square">
            <a:spAutoFit/>
          </a:bodyPr>
          <a:lstStyle/>
          <a:p>
            <a:pPr>
              <a:lnSpc>
                <a:spcPct val="120000"/>
              </a:lnSpc>
            </a:pPr>
            <a:r>
              <a:rPr lang="zh-CN" altLang="en-US" sz="1600" dirty="0">
                <a:solidFill>
                  <a:prstClr val="white"/>
                </a:solidFill>
                <a:latin typeface="微软雅黑" panose="020B0503020204020204" pitchFamily="34" charset="-122"/>
                <a:ea typeface="微软雅黑" panose="020B0503020204020204" pitchFamily="34" charset="-122"/>
              </a:rPr>
              <a:t>建立干旱指标与生态系统响应之间的关联模型</a:t>
            </a:r>
          </a:p>
        </p:txBody>
      </p:sp>
      <p:sp>
        <p:nvSpPr>
          <p:cNvPr id="2" name="矩形 1">
            <a:extLst>
              <a:ext uri="{FF2B5EF4-FFF2-40B4-BE49-F238E27FC236}">
                <a16:creationId xmlns:a16="http://schemas.microsoft.com/office/drawing/2014/main" id="{9B5648E5-7775-7F9D-B9CB-004B9F9052BC}"/>
              </a:ext>
            </a:extLst>
          </p:cNvPr>
          <p:cNvSpPr/>
          <p:nvPr/>
        </p:nvSpPr>
        <p:spPr>
          <a:xfrm>
            <a:off x="0" y="1066800"/>
            <a:ext cx="12192000" cy="5791200"/>
          </a:xfrm>
          <a:prstGeom prst="rect">
            <a:avLst/>
          </a:prstGeom>
          <a:solidFill>
            <a:srgbClr val="FFFFFF"/>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74400BBE-69AB-C7DF-E85A-491D91B0F869}"/>
              </a:ext>
            </a:extLst>
          </p:cNvPr>
          <p:cNvSpPr/>
          <p:nvPr/>
        </p:nvSpPr>
        <p:spPr>
          <a:xfrm>
            <a:off x="431800" y="1219200"/>
            <a:ext cx="11328400" cy="533400"/>
          </a:xfrm>
          <a:prstGeom prst="rect">
            <a:avLst/>
          </a:prstGeom>
          <a:solidFill>
            <a:srgbClr val="0054A0"/>
          </a:solidFill>
          <a:ln w="1270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700" b="1">
                <a:solidFill>
                  <a:srgbClr val="FFFFFF"/>
                </a:solidFill>
                <a:latin typeface="微软雅黑" panose="020B0503020204020204" pitchFamily="34" charset="-122"/>
              </a:rPr>
              <a:t>一次任务覆盖输入准备、远端执行、日志监听和结果回传</a:t>
            </a:r>
          </a:p>
        </p:txBody>
      </p:sp>
      <p:sp>
        <p:nvSpPr>
          <p:cNvPr id="4" name="矩形 3">
            <a:extLst>
              <a:ext uri="{FF2B5EF4-FFF2-40B4-BE49-F238E27FC236}">
                <a16:creationId xmlns:a16="http://schemas.microsoft.com/office/drawing/2014/main" id="{55A81009-2FC9-ED1F-2440-4F985661858D}"/>
              </a:ext>
            </a:extLst>
          </p:cNvPr>
          <p:cNvSpPr/>
          <p:nvPr/>
        </p:nvSpPr>
        <p:spPr>
          <a:xfrm>
            <a:off x="698500" y="2222500"/>
            <a:ext cx="1600200" cy="6858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500" b="1">
                <a:solidFill>
                  <a:srgbClr val="052346"/>
                </a:solidFill>
                <a:latin typeface="微软雅黑" panose="020B0503020204020204" pitchFamily="34" charset="-122"/>
              </a:rPr>
              <a:t>导入样本</a:t>
            </a:r>
          </a:p>
        </p:txBody>
      </p:sp>
      <p:cxnSp>
        <p:nvCxnSpPr>
          <p:cNvPr id="5" name="直接连接符 4">
            <a:extLst>
              <a:ext uri="{FF2B5EF4-FFF2-40B4-BE49-F238E27FC236}">
                <a16:creationId xmlns:a16="http://schemas.microsoft.com/office/drawing/2014/main" id="{94D94E9C-BBC6-0E9B-410E-B497A603E370}"/>
              </a:ext>
            </a:extLst>
          </p:cNvPr>
          <p:cNvCxnSpPr/>
          <p:nvPr/>
        </p:nvCxnSpPr>
        <p:spPr>
          <a:xfrm>
            <a:off x="2349500" y="2565400"/>
            <a:ext cx="406400" cy="0"/>
          </a:xfrm>
          <a:prstGeom prst="line">
            <a:avLst/>
          </a:prstGeom>
          <a:ln w="25400">
            <a:solidFill>
              <a:srgbClr val="236CB4"/>
            </a:solidFill>
            <a:tailEnd type="arrow"/>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03908918-9D7E-7327-6C6F-01CE64054150}"/>
              </a:ext>
            </a:extLst>
          </p:cNvPr>
          <p:cNvSpPr/>
          <p:nvPr/>
        </p:nvSpPr>
        <p:spPr>
          <a:xfrm>
            <a:off x="2908300" y="2222500"/>
            <a:ext cx="1600200" cy="685800"/>
          </a:xfrm>
          <a:prstGeom prst="rect">
            <a:avLst/>
          </a:prstGeom>
          <a:solidFill>
            <a:srgbClr val="FFFFFF"/>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500" b="1">
                <a:solidFill>
                  <a:srgbClr val="052346"/>
                </a:solidFill>
                <a:latin typeface="微软雅黑" panose="020B0503020204020204" pitchFamily="34" charset="-122"/>
              </a:rPr>
              <a:t>选择模型</a:t>
            </a:r>
          </a:p>
        </p:txBody>
      </p:sp>
      <p:cxnSp>
        <p:nvCxnSpPr>
          <p:cNvPr id="8" name="直接连接符 7">
            <a:extLst>
              <a:ext uri="{FF2B5EF4-FFF2-40B4-BE49-F238E27FC236}">
                <a16:creationId xmlns:a16="http://schemas.microsoft.com/office/drawing/2014/main" id="{708E3476-3DA4-1F50-2727-327642F157F3}"/>
              </a:ext>
            </a:extLst>
          </p:cNvPr>
          <p:cNvCxnSpPr/>
          <p:nvPr/>
        </p:nvCxnSpPr>
        <p:spPr>
          <a:xfrm>
            <a:off x="4559300" y="2565400"/>
            <a:ext cx="406400" cy="0"/>
          </a:xfrm>
          <a:prstGeom prst="line">
            <a:avLst/>
          </a:prstGeom>
          <a:ln w="25400">
            <a:solidFill>
              <a:srgbClr val="236CB4"/>
            </a:solidFill>
            <a:tailEnd type="arrow"/>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id="{79E408A4-8ADB-53BB-3D4F-A6A3882D8407}"/>
              </a:ext>
            </a:extLst>
          </p:cNvPr>
          <p:cNvSpPr/>
          <p:nvPr/>
        </p:nvSpPr>
        <p:spPr>
          <a:xfrm>
            <a:off x="5118100" y="2222500"/>
            <a:ext cx="1600200" cy="6858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500" b="1">
                <a:solidFill>
                  <a:srgbClr val="052346"/>
                </a:solidFill>
                <a:latin typeface="微软雅黑" panose="020B0503020204020204" pitchFamily="34" charset="-122"/>
              </a:rPr>
              <a:t>提交任务</a:t>
            </a:r>
          </a:p>
        </p:txBody>
      </p:sp>
      <p:cxnSp>
        <p:nvCxnSpPr>
          <p:cNvPr id="10" name="直接连接符 9">
            <a:extLst>
              <a:ext uri="{FF2B5EF4-FFF2-40B4-BE49-F238E27FC236}">
                <a16:creationId xmlns:a16="http://schemas.microsoft.com/office/drawing/2014/main" id="{73F25E92-7223-535D-02F3-272C572B0CCB}"/>
              </a:ext>
            </a:extLst>
          </p:cNvPr>
          <p:cNvCxnSpPr/>
          <p:nvPr/>
        </p:nvCxnSpPr>
        <p:spPr>
          <a:xfrm>
            <a:off x="6769100" y="2565400"/>
            <a:ext cx="406400" cy="0"/>
          </a:xfrm>
          <a:prstGeom prst="line">
            <a:avLst/>
          </a:prstGeom>
          <a:ln w="25400">
            <a:solidFill>
              <a:srgbClr val="236CB4"/>
            </a:solidFill>
            <a:tailEnd type="arrow"/>
          </a:ln>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870255D5-F35A-E119-2E01-F97EDF43C912}"/>
              </a:ext>
            </a:extLst>
          </p:cNvPr>
          <p:cNvSpPr/>
          <p:nvPr/>
        </p:nvSpPr>
        <p:spPr>
          <a:xfrm>
            <a:off x="7327900" y="2222500"/>
            <a:ext cx="1600200" cy="685800"/>
          </a:xfrm>
          <a:prstGeom prst="rect">
            <a:avLst/>
          </a:prstGeom>
          <a:solidFill>
            <a:srgbClr val="FFFFFF"/>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500" b="1">
                <a:solidFill>
                  <a:srgbClr val="052346"/>
                </a:solidFill>
                <a:latin typeface="微软雅黑" panose="020B0503020204020204" pitchFamily="34" charset="-122"/>
              </a:rPr>
              <a:t>监听日志</a:t>
            </a:r>
          </a:p>
        </p:txBody>
      </p:sp>
      <p:cxnSp>
        <p:nvCxnSpPr>
          <p:cNvPr id="12" name="直接连接符 11">
            <a:extLst>
              <a:ext uri="{FF2B5EF4-FFF2-40B4-BE49-F238E27FC236}">
                <a16:creationId xmlns:a16="http://schemas.microsoft.com/office/drawing/2014/main" id="{97742D44-EFCA-3146-3789-6D3C28E47BE5}"/>
              </a:ext>
            </a:extLst>
          </p:cNvPr>
          <p:cNvCxnSpPr/>
          <p:nvPr/>
        </p:nvCxnSpPr>
        <p:spPr>
          <a:xfrm>
            <a:off x="8978900" y="2565400"/>
            <a:ext cx="406400" cy="0"/>
          </a:xfrm>
          <a:prstGeom prst="line">
            <a:avLst/>
          </a:prstGeom>
          <a:ln w="25400">
            <a:solidFill>
              <a:srgbClr val="236CB4"/>
            </a:solidFill>
            <a:tailEnd type="arrow"/>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FCAE2C47-E9E9-C86C-FF22-3B803A4DB002}"/>
              </a:ext>
            </a:extLst>
          </p:cNvPr>
          <p:cNvSpPr/>
          <p:nvPr/>
        </p:nvSpPr>
        <p:spPr>
          <a:xfrm>
            <a:off x="9537700" y="2222500"/>
            <a:ext cx="1600200" cy="6858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500" b="1">
                <a:solidFill>
                  <a:srgbClr val="052346"/>
                </a:solidFill>
                <a:latin typeface="微软雅黑" panose="020B0503020204020204" pitchFamily="34" charset="-122"/>
              </a:rPr>
              <a:t>同步结果</a:t>
            </a:r>
          </a:p>
        </p:txBody>
      </p:sp>
      <p:sp>
        <p:nvSpPr>
          <p:cNvPr id="15" name="矩形 14">
            <a:extLst>
              <a:ext uri="{FF2B5EF4-FFF2-40B4-BE49-F238E27FC236}">
                <a16:creationId xmlns:a16="http://schemas.microsoft.com/office/drawing/2014/main" id="{63497DE5-DB13-94B1-DF09-DCB3964591D2}"/>
              </a:ext>
            </a:extLst>
          </p:cNvPr>
          <p:cNvSpPr/>
          <p:nvPr/>
        </p:nvSpPr>
        <p:spPr>
          <a:xfrm>
            <a:off x="889000" y="3619500"/>
            <a:ext cx="4953000" cy="14732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r>
              <a:rPr lang="zh-CN" altLang="en-US" sz="1500" b="1">
                <a:solidFill>
                  <a:srgbClr val="052346"/>
                </a:solidFill>
                <a:latin typeface="微软雅黑" panose="020B0503020204020204" pitchFamily="34" charset="-122"/>
              </a:rPr>
              <a:t>本地侧
</a:t>
            </a:r>
            <a:r>
              <a:rPr lang="en-US" altLang="zh-CN" sz="1500" b="1">
                <a:solidFill>
                  <a:srgbClr val="052346"/>
                </a:solidFill>
                <a:latin typeface="微软雅黑" panose="020B0503020204020204" pitchFamily="34" charset="-122"/>
              </a:rPr>
              <a:t>- </a:t>
            </a:r>
            <a:r>
              <a:rPr lang="zh-CN" altLang="en-US" sz="1500" b="1">
                <a:solidFill>
                  <a:srgbClr val="052346"/>
                </a:solidFill>
                <a:latin typeface="微软雅黑" panose="020B0503020204020204" pitchFamily="34" charset="-122"/>
              </a:rPr>
              <a:t>组织图像序列、单图或图像对
</a:t>
            </a:r>
            <a:r>
              <a:rPr lang="en-US" altLang="zh-CN" sz="1500" b="1">
                <a:solidFill>
                  <a:srgbClr val="052346"/>
                </a:solidFill>
                <a:latin typeface="微软雅黑" panose="020B0503020204020204" pitchFamily="34" charset="-122"/>
              </a:rPr>
              <a:t>- </a:t>
            </a:r>
            <a:r>
              <a:rPr lang="zh-CN" altLang="en-US" sz="1500" b="1">
                <a:solidFill>
                  <a:srgbClr val="052346"/>
                </a:solidFill>
                <a:latin typeface="微软雅黑" panose="020B0503020204020204" pitchFamily="34" charset="-122"/>
              </a:rPr>
              <a:t>生成任务合同
</a:t>
            </a:r>
            <a:r>
              <a:rPr lang="en-US" altLang="zh-CN" sz="1500" b="1">
                <a:solidFill>
                  <a:srgbClr val="052346"/>
                </a:solidFill>
                <a:latin typeface="微软雅黑" panose="020B0503020204020204" pitchFamily="34" charset="-122"/>
              </a:rPr>
              <a:t>- </a:t>
            </a:r>
            <a:r>
              <a:rPr lang="zh-CN" altLang="en-US" sz="1500" b="1">
                <a:solidFill>
                  <a:srgbClr val="052346"/>
                </a:solidFill>
                <a:latin typeface="微软雅黑" panose="020B0503020204020204" pitchFamily="34" charset="-122"/>
              </a:rPr>
              <a:t>展示状态、日志和产物索引</a:t>
            </a:r>
          </a:p>
        </p:txBody>
      </p:sp>
      <p:sp>
        <p:nvSpPr>
          <p:cNvPr id="27" name="矩形 26">
            <a:extLst>
              <a:ext uri="{FF2B5EF4-FFF2-40B4-BE49-F238E27FC236}">
                <a16:creationId xmlns:a16="http://schemas.microsoft.com/office/drawing/2014/main" id="{17573E77-1047-0178-72BB-69776A0D6976}"/>
              </a:ext>
            </a:extLst>
          </p:cNvPr>
          <p:cNvSpPr/>
          <p:nvPr/>
        </p:nvSpPr>
        <p:spPr>
          <a:xfrm>
            <a:off x="6350000" y="3619500"/>
            <a:ext cx="4953000" cy="1473200"/>
          </a:xfrm>
          <a:prstGeom prst="rect">
            <a:avLst/>
          </a:prstGeom>
          <a:solidFill>
            <a:srgbClr val="FFFFFF"/>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r>
              <a:rPr lang="zh-CN" altLang="en-US" sz="1500" b="1">
                <a:solidFill>
                  <a:srgbClr val="052346"/>
                </a:solidFill>
                <a:latin typeface="微软雅黑" panose="020B0503020204020204" pitchFamily="34" charset="-122"/>
              </a:rPr>
              <a:t>远端侧
</a:t>
            </a:r>
            <a:r>
              <a:rPr lang="en-US" altLang="zh-CN" sz="1500" b="1">
                <a:solidFill>
                  <a:srgbClr val="052346"/>
                </a:solidFill>
                <a:latin typeface="微软雅黑" panose="020B0503020204020204" pitchFamily="34" charset="-122"/>
              </a:rPr>
              <a:t>- </a:t>
            </a:r>
            <a:r>
              <a:rPr lang="zh-CN" altLang="en-US" sz="1500" b="1">
                <a:solidFill>
                  <a:srgbClr val="052346"/>
                </a:solidFill>
                <a:latin typeface="微软雅黑" panose="020B0503020204020204" pitchFamily="34" charset="-122"/>
              </a:rPr>
              <a:t>接收输入和配置
</a:t>
            </a:r>
            <a:r>
              <a:rPr lang="en-US" altLang="zh-CN" sz="1500" b="1">
                <a:solidFill>
                  <a:srgbClr val="052346"/>
                </a:solidFill>
                <a:latin typeface="微软雅黑" panose="020B0503020204020204" pitchFamily="34" charset="-122"/>
              </a:rPr>
              <a:t>- </a:t>
            </a:r>
            <a:r>
              <a:rPr lang="zh-CN" altLang="en-US" sz="1500" b="1">
                <a:solidFill>
                  <a:srgbClr val="052346"/>
                </a:solidFill>
                <a:latin typeface="微软雅黑" panose="020B0503020204020204" pitchFamily="34" charset="-122"/>
              </a:rPr>
              <a:t>执行模型推理脚本
</a:t>
            </a:r>
            <a:r>
              <a:rPr lang="en-US" altLang="zh-CN" sz="1500" b="1">
                <a:solidFill>
                  <a:srgbClr val="052346"/>
                </a:solidFill>
                <a:latin typeface="微软雅黑" panose="020B0503020204020204" pitchFamily="34" charset="-122"/>
              </a:rPr>
              <a:t>- </a:t>
            </a:r>
            <a:r>
              <a:rPr lang="zh-CN" altLang="en-US" sz="1500" b="1">
                <a:solidFill>
                  <a:srgbClr val="052346"/>
                </a:solidFill>
                <a:latin typeface="微软雅黑" panose="020B0503020204020204" pitchFamily="34" charset="-122"/>
              </a:rPr>
              <a:t>输出点图、</a:t>
            </a:r>
            <a:r>
              <a:rPr lang="en-US" altLang="zh-CN" sz="1500" b="1">
                <a:solidFill>
                  <a:srgbClr val="052346"/>
                </a:solidFill>
                <a:latin typeface="微软雅黑" panose="020B0503020204020204" pitchFamily="34" charset="-122"/>
              </a:rPr>
              <a:t>mask</a:t>
            </a:r>
            <a:r>
              <a:rPr lang="zh-CN" altLang="en-US" sz="1500" b="1">
                <a:solidFill>
                  <a:srgbClr val="052346"/>
                </a:solidFill>
                <a:latin typeface="微软雅黑" panose="020B0503020204020204" pitchFamily="34" charset="-122"/>
              </a:rPr>
              <a:t>、日志和元数据</a:t>
            </a:r>
          </a:p>
        </p:txBody>
      </p:sp>
      <p:sp>
        <p:nvSpPr>
          <p:cNvPr id="28" name="矩形 27">
            <a:extLst>
              <a:ext uri="{FF2B5EF4-FFF2-40B4-BE49-F238E27FC236}">
                <a16:creationId xmlns:a16="http://schemas.microsoft.com/office/drawing/2014/main" id="{7C01F9E5-CE06-C8BC-76C1-04388AA45298}"/>
              </a:ext>
            </a:extLst>
          </p:cNvPr>
          <p:cNvSpPr/>
          <p:nvPr/>
        </p:nvSpPr>
        <p:spPr>
          <a:xfrm>
            <a:off x="1651000" y="5651500"/>
            <a:ext cx="8890000" cy="4826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600" b="1">
                <a:solidFill>
                  <a:srgbClr val="052346"/>
                </a:solidFill>
                <a:latin typeface="微软雅黑" panose="020B0503020204020204" pitchFamily="34" charset="-122"/>
              </a:rPr>
              <a:t>流程目标：减少手动命令，保留可复核的运行记录。</a:t>
            </a:r>
          </a:p>
        </p:txBody>
      </p:sp>
    </p:spTree>
    <p:extLst>
      <p:ext uri="{BB962C8B-B14F-4D97-AF65-F5344CB8AC3E}">
        <p14:creationId xmlns:p14="http://schemas.microsoft.com/office/powerpoint/2010/main" val="9284467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6C448-FC36-35AA-A309-8666383D1A8B}"/>
            </a:ext>
          </a:extLst>
        </p:cNvPr>
        <p:cNvGrpSpPr/>
        <p:nvPr/>
      </p:nvGrpSpPr>
      <p:grpSpPr>
        <a:xfrm>
          <a:off x="0" y="0"/>
          <a:ext cx="0" cy="0"/>
          <a:chOff x="0" y="0"/>
          <a:chExt cx="0" cy="0"/>
        </a:xfrm>
      </p:grpSpPr>
      <p:sp>
        <p:nvSpPr>
          <p:cNvPr id="90" name="文本框 89">
            <a:extLst>
              <a:ext uri="{FF2B5EF4-FFF2-40B4-BE49-F238E27FC236}">
                <a16:creationId xmlns:a16="http://schemas.microsoft.com/office/drawing/2014/main" id="{85A692C8-69B7-DF42-1D83-830EA65885C9}"/>
              </a:ext>
            </a:extLst>
          </p:cNvPr>
          <p:cNvSpPr txBox="1"/>
          <p:nvPr/>
        </p:nvSpPr>
        <p:spPr>
          <a:xfrm>
            <a:off x="115452" y="243436"/>
            <a:ext cx="772964" cy="369332"/>
          </a:xfrm>
          <a:prstGeom prst="rect">
            <a:avLst/>
          </a:prstGeom>
          <a:noFill/>
        </p:spPr>
        <p:txBody>
          <a:bodyPr wrap="square" rtlCol="0">
            <a:spAutoFit/>
          </a:bodyPr>
          <a:lstStyle/>
          <a:p>
            <a:pPr algn="ctr"/>
            <a:r>
              <a:rPr lang="en-US" altLang="zh-CN" b="1">
                <a:solidFill>
                  <a:srgbClr val="00417D"/>
                </a:solidFill>
                <a:latin typeface="微软雅黑" panose="020B0503020204020204" pitchFamily="34" charset="-122"/>
              </a:rPr>
              <a:t>3.4</a:t>
            </a:r>
            <a:endParaRPr lang="zh-CN" altLang="en-US" b="1" dirty="0">
              <a:solidFill>
                <a:srgbClr val="00417D"/>
              </a:solidFill>
              <a:latin typeface="微软雅黑" panose="020B0503020204020204" pitchFamily="34" charset="-122"/>
            </a:endParaRPr>
          </a:p>
        </p:txBody>
      </p:sp>
      <p:sp>
        <p:nvSpPr>
          <p:cNvPr id="92" name="文本框 91">
            <a:extLst>
              <a:ext uri="{FF2B5EF4-FFF2-40B4-BE49-F238E27FC236}">
                <a16:creationId xmlns:a16="http://schemas.microsoft.com/office/drawing/2014/main" id="{756D7332-671D-7D0A-7FA8-FCC77F89DBCA}"/>
              </a:ext>
            </a:extLst>
          </p:cNvPr>
          <p:cNvSpPr txBox="1"/>
          <p:nvPr/>
        </p:nvSpPr>
        <p:spPr>
          <a:xfrm>
            <a:off x="946461" y="269201"/>
            <a:ext cx="6440714" cy="477054"/>
          </a:xfrm>
          <a:prstGeom prst="rect">
            <a:avLst/>
          </a:prstGeom>
          <a:noFill/>
        </p:spPr>
        <p:txBody>
          <a:bodyPr wrap="square">
            <a:spAutoFit/>
          </a:bodyPr>
          <a:lstStyle/>
          <a:p>
            <a:r>
              <a:rPr lang="zh-CN" altLang="en-US" sz="2500" b="1">
                <a:solidFill>
                  <a:srgbClr val="00417D"/>
                </a:solidFill>
                <a:latin typeface="微软雅黑" panose="020B0503020204020204" pitchFamily="34" charset="-122"/>
              </a:rPr>
              <a:t>模型接入计划</a:t>
            </a:r>
            <a:endParaRPr lang="zh-CN" altLang="en-US" sz="2500" b="1" dirty="0">
              <a:solidFill>
                <a:srgbClr val="00417D"/>
              </a:solidFill>
              <a:latin typeface="微软雅黑" panose="020B0503020204020204" pitchFamily="34" charset="-122"/>
            </a:endParaRPr>
          </a:p>
        </p:txBody>
      </p:sp>
      <p:sp>
        <p:nvSpPr>
          <p:cNvPr id="2" name="矩形: 圆角 1">
            <a:extLst>
              <a:ext uri="{FF2B5EF4-FFF2-40B4-BE49-F238E27FC236}">
                <a16:creationId xmlns:a16="http://schemas.microsoft.com/office/drawing/2014/main" id="{D7A6ADFC-2041-7B88-8530-65151F96F530}"/>
              </a:ext>
            </a:extLst>
          </p:cNvPr>
          <p:cNvSpPr/>
          <p:nvPr/>
        </p:nvSpPr>
        <p:spPr>
          <a:xfrm>
            <a:off x="479426" y="1159628"/>
            <a:ext cx="11217274" cy="714367"/>
          </a:xfrm>
          <a:prstGeom prst="roundRect">
            <a:avLst>
              <a:gd name="adj" fmla="val 3293"/>
            </a:avLst>
          </a:prstGeom>
          <a:solidFill>
            <a:schemeClr val="bg1"/>
          </a:solidFill>
          <a:ln w="3175" cap="flat" cmpd="sng" algn="ctr">
            <a:solidFill>
              <a:schemeClr val="accent1"/>
            </a:solidFill>
            <a:prstDash val="solid"/>
            <a:miter lim="800000"/>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3" name="文本框 2">
            <a:extLst>
              <a:ext uri="{FF2B5EF4-FFF2-40B4-BE49-F238E27FC236}">
                <a16:creationId xmlns:a16="http://schemas.microsoft.com/office/drawing/2014/main" id="{F36C15BD-FC46-FE14-9215-A260C123F22B}"/>
              </a:ext>
            </a:extLst>
          </p:cNvPr>
          <p:cNvSpPr txBox="1"/>
          <p:nvPr/>
        </p:nvSpPr>
        <p:spPr>
          <a:xfrm>
            <a:off x="833648" y="1250488"/>
            <a:ext cx="10508830" cy="532646"/>
          </a:xfrm>
          <a:prstGeom prst="rect">
            <a:avLst/>
          </a:prstGeom>
          <a:noFill/>
        </p:spPr>
        <p:txBody>
          <a:bodyPr wrap="none">
            <a:noAutofit/>
          </a:bodyPr>
          <a:lstStyle/>
          <a:p>
            <a:pPr algn="just">
              <a:lnSpc>
                <a:spcPct val="130000"/>
              </a:lnSpc>
            </a:pPr>
            <a:r>
              <a:rPr lang="zh-CN" altLang="en-US" sz="2400" b="1" dirty="0">
                <a:solidFill>
                  <a:schemeClr val="accent1"/>
                </a:solidFill>
                <a:latin typeface="微软雅黑" panose="020B0503020204020204" pitchFamily="34" charset="-122"/>
                <a:ea typeface="微软雅黑" panose="020B0503020204020204" pitchFamily="34" charset="-122"/>
              </a:rPr>
              <a:t>多铁材料与磁电调控对于未来信息技术和电子器件的发展具有重要的推动作用</a:t>
            </a:r>
          </a:p>
        </p:txBody>
      </p:sp>
      <p:sp>
        <p:nvSpPr>
          <p:cNvPr id="4" name="幻云PPT-演示军团1">
            <a:extLst>
              <a:ext uri="{FF2B5EF4-FFF2-40B4-BE49-F238E27FC236}">
                <a16:creationId xmlns:a16="http://schemas.microsoft.com/office/drawing/2014/main" id="{DC74C6B0-04D3-7711-BE51-FC72DFFC2447}"/>
              </a:ext>
            </a:extLst>
          </p:cNvPr>
          <p:cNvSpPr/>
          <p:nvPr>
            <p:custDataLst>
              <p:tags r:id="rId1"/>
            </p:custDataLst>
          </p:nvPr>
        </p:nvSpPr>
        <p:spPr>
          <a:xfrm>
            <a:off x="6183311" y="2406157"/>
            <a:ext cx="5511947" cy="4046855"/>
          </a:xfrm>
          <a:prstGeom prst="roundRect">
            <a:avLst>
              <a:gd name="adj" fmla="val 812"/>
            </a:avLst>
          </a:prstGeom>
          <a:solidFill>
            <a:srgbClr val="FFFFFF"/>
          </a:solidFill>
          <a:ln w="3175" cap="flat" cmpd="sng" algn="ctr">
            <a:solidFill>
              <a:schemeClr val="accent1"/>
            </a:solidFill>
            <a:prstDash val="solid"/>
            <a:miter lim="800000"/>
          </a:ln>
          <a:effectLst/>
        </p:spPr>
        <p:txBody>
          <a:bodyPr rtlCol="0" anchor="ctr"/>
          <a:lstStyle/>
          <a:p>
            <a:pPr algn="ctr"/>
            <a:endParaRPr lang="en-US" kern="0" dirty="0">
              <a:solidFill>
                <a:srgbClr val="E5EDF4"/>
              </a:solidFill>
              <a:latin typeface="微软雅黑" panose="020B0503020204020204" pitchFamily="34" charset="-122"/>
            </a:endParaRPr>
          </a:p>
        </p:txBody>
      </p:sp>
      <p:sp>
        <p:nvSpPr>
          <p:cNvPr id="5" name="幻云PPT-演示军团19">
            <a:extLst>
              <a:ext uri="{FF2B5EF4-FFF2-40B4-BE49-F238E27FC236}">
                <a16:creationId xmlns:a16="http://schemas.microsoft.com/office/drawing/2014/main" id="{E8D00879-6D88-082B-87D9-96FE84AF5284}"/>
              </a:ext>
            </a:extLst>
          </p:cNvPr>
          <p:cNvSpPr/>
          <p:nvPr>
            <p:custDataLst>
              <p:tags r:id="rId2"/>
            </p:custDataLst>
          </p:nvPr>
        </p:nvSpPr>
        <p:spPr>
          <a:xfrm>
            <a:off x="6183312" y="1964855"/>
            <a:ext cx="5527819" cy="578212"/>
          </a:xfrm>
          <a:prstGeom prst="roundRect">
            <a:avLst>
              <a:gd name="adj" fmla="val 5827"/>
            </a:avLst>
          </a:prstGeom>
          <a:solidFill>
            <a:schemeClr val="accent1"/>
          </a:solidFill>
          <a:ln w="3175" cap="flat" cmpd="sng" algn="ctr">
            <a:noFill/>
            <a:prstDash val="solid"/>
            <a:miter lim="800000"/>
          </a:ln>
          <a:effectLst/>
        </p:spPr>
        <p:txBody>
          <a:bodyPr lIns="76535" tIns="38268" rIns="76535" bIns="38268" rtlCol="0" anchor="ctr"/>
          <a:lstStyle/>
          <a:p>
            <a:pPr algn="ctr"/>
            <a:r>
              <a:rPr lang="zh-CN" altLang="en-US" sz="2400" b="1" kern="0" dirty="0">
                <a:solidFill>
                  <a:srgbClr val="FFFFFF"/>
                </a:solidFill>
                <a:latin typeface="微软雅黑" panose="020B0503020204020204" pitchFamily="34" charset="-122"/>
                <a:ea typeface="微软雅黑" panose="020B0503020204020204" pitchFamily="34" charset="-122"/>
                <a:cs typeface="OPPOSans B" panose="00020600040101010101" pitchFamily="18" charset="-122"/>
              </a:rPr>
              <a:t>研发数据研究</a:t>
            </a:r>
            <a:endParaRPr lang="en-US" altLang="zh-CN" sz="2400" b="1" kern="0" dirty="0">
              <a:solidFill>
                <a:srgbClr val="FFFFFF"/>
              </a:solidFill>
              <a:latin typeface="微软雅黑" panose="020B0503020204020204" pitchFamily="34" charset="-122"/>
              <a:ea typeface="微软雅黑" panose="020B0503020204020204" pitchFamily="34" charset="-122"/>
              <a:cs typeface="OPPOSans B" panose="00020600040101010101" pitchFamily="18" charset="-122"/>
            </a:endParaRPr>
          </a:p>
        </p:txBody>
      </p:sp>
      <p:graphicFrame>
        <p:nvGraphicFramePr>
          <p:cNvPr id="8" name="幻云PPT-演示军团30">
            <a:extLst>
              <a:ext uri="{FF2B5EF4-FFF2-40B4-BE49-F238E27FC236}">
                <a16:creationId xmlns:a16="http://schemas.microsoft.com/office/drawing/2014/main" id="{C8695655-0342-72DF-8869-FE6EB9D41F8F}"/>
              </a:ext>
            </a:extLst>
          </p:cNvPr>
          <p:cNvGraphicFramePr/>
          <p:nvPr>
            <p:extLst>
              <p:ext uri="{D42A27DB-BD31-4B8C-83A1-F6EECF244321}">
                <p14:modId xmlns:p14="http://schemas.microsoft.com/office/powerpoint/2010/main" val="3483799321"/>
              </p:ext>
            </p:extLst>
          </p:nvPr>
        </p:nvGraphicFramePr>
        <p:xfrm>
          <a:off x="6394475" y="2691144"/>
          <a:ext cx="5086667" cy="1848046"/>
        </p:xfrm>
        <a:graphic>
          <a:graphicData uri="http://schemas.openxmlformats.org/drawingml/2006/chart">
            <c:chart xmlns:c="http://schemas.openxmlformats.org/drawingml/2006/chart" xmlns:r="http://schemas.openxmlformats.org/officeDocument/2006/relationships" r:id="rId11"/>
          </a:graphicData>
        </a:graphic>
      </p:graphicFrame>
      <p:pic>
        <p:nvPicPr>
          <p:cNvPr id="9" name="图片 8">
            <a:extLst>
              <a:ext uri="{FF2B5EF4-FFF2-40B4-BE49-F238E27FC236}">
                <a16:creationId xmlns:a16="http://schemas.microsoft.com/office/drawing/2014/main" id="{9C09736C-2B1C-DEE0-17DE-056AC4FBE54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394475" y="4676010"/>
            <a:ext cx="2444725" cy="1626954"/>
          </a:xfrm>
          <a:prstGeom prst="roundRect">
            <a:avLst>
              <a:gd name="adj" fmla="val 1084"/>
            </a:avLst>
          </a:prstGeom>
          <a:solidFill>
            <a:schemeClr val="accent3">
              <a:alpha val="30000"/>
            </a:schemeClr>
          </a:solidFill>
          <a:ln w="9525" cap="flat" cmpd="sng" algn="ctr">
            <a:solidFill>
              <a:schemeClr val="accent1"/>
            </a:solidFill>
            <a:prstDash val="lgDash"/>
            <a:miter lim="800000"/>
          </a:ln>
          <a:effectLst/>
        </p:spPr>
      </p:pic>
      <p:pic>
        <p:nvPicPr>
          <p:cNvPr id="10" name="图片 9">
            <a:extLst>
              <a:ext uri="{FF2B5EF4-FFF2-40B4-BE49-F238E27FC236}">
                <a16:creationId xmlns:a16="http://schemas.microsoft.com/office/drawing/2014/main" id="{1EA3641E-B840-F652-BFE8-6E52CE981B66}"/>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036417" y="4675670"/>
            <a:ext cx="2444724" cy="1627634"/>
          </a:xfrm>
          <a:prstGeom prst="roundRect">
            <a:avLst>
              <a:gd name="adj" fmla="val 1084"/>
            </a:avLst>
          </a:prstGeom>
          <a:solidFill>
            <a:schemeClr val="accent3">
              <a:alpha val="30000"/>
            </a:schemeClr>
          </a:solidFill>
          <a:ln w="9525" cap="flat" cmpd="sng" algn="ctr">
            <a:solidFill>
              <a:schemeClr val="accent1"/>
            </a:solidFill>
            <a:prstDash val="lgDash"/>
            <a:miter lim="800000"/>
          </a:ln>
          <a:effectLst/>
        </p:spPr>
      </p:pic>
      <p:sp>
        <p:nvSpPr>
          <p:cNvPr id="11" name="幻云PPT-演示军团1">
            <a:extLst>
              <a:ext uri="{FF2B5EF4-FFF2-40B4-BE49-F238E27FC236}">
                <a16:creationId xmlns:a16="http://schemas.microsoft.com/office/drawing/2014/main" id="{7CFF70C4-586B-70DD-ECB9-5382CAE9B58C}"/>
              </a:ext>
            </a:extLst>
          </p:cNvPr>
          <p:cNvSpPr/>
          <p:nvPr>
            <p:custDataLst>
              <p:tags r:id="rId3"/>
            </p:custDataLst>
          </p:nvPr>
        </p:nvSpPr>
        <p:spPr>
          <a:xfrm>
            <a:off x="492809" y="2000799"/>
            <a:ext cx="5493285" cy="2062731"/>
          </a:xfrm>
          <a:prstGeom prst="roundRect">
            <a:avLst>
              <a:gd name="adj" fmla="val 617"/>
            </a:avLst>
          </a:prstGeom>
          <a:solidFill>
            <a:srgbClr val="FFFFFF"/>
          </a:solidFill>
          <a:ln w="3175" cap="flat" cmpd="sng" algn="ctr">
            <a:solidFill>
              <a:schemeClr val="accent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E5EDF4"/>
              </a:solidFill>
              <a:effectLst/>
              <a:uLnTx/>
              <a:uFillTx/>
              <a:latin typeface="微软雅黑" panose="020B0503020204020204" pitchFamily="34" charset="-122"/>
              <a:ea typeface="+mn-ea"/>
              <a:cs typeface="+mn-cs"/>
            </a:endParaRPr>
          </a:p>
        </p:txBody>
      </p:sp>
      <p:sp>
        <p:nvSpPr>
          <p:cNvPr id="12" name="幻云PPT-演示军团19">
            <a:extLst>
              <a:ext uri="{FF2B5EF4-FFF2-40B4-BE49-F238E27FC236}">
                <a16:creationId xmlns:a16="http://schemas.microsoft.com/office/drawing/2014/main" id="{FA1B6605-A767-5DCD-85F8-936E73DFA664}"/>
              </a:ext>
            </a:extLst>
          </p:cNvPr>
          <p:cNvSpPr/>
          <p:nvPr>
            <p:custDataLst>
              <p:tags r:id="rId4"/>
            </p:custDataLst>
          </p:nvPr>
        </p:nvSpPr>
        <p:spPr>
          <a:xfrm>
            <a:off x="492810" y="1979405"/>
            <a:ext cx="5493284" cy="453490"/>
          </a:xfrm>
          <a:prstGeom prst="roundRect">
            <a:avLst>
              <a:gd name="adj" fmla="val 3727"/>
            </a:avLst>
          </a:prstGeom>
          <a:solidFill>
            <a:schemeClr val="accent1"/>
          </a:solidFill>
          <a:ln w="3175" cap="flat" cmpd="sng" algn="ctr">
            <a:noFill/>
            <a:prstDash val="solid"/>
            <a:miter lim="800000"/>
          </a:ln>
          <a:effectLst/>
        </p:spPr>
        <p:txBody>
          <a:bodyPr lIns="76535" tIns="38268" rIns="76535" bIns="38268"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OPPOSans B" panose="00020600040101010101" pitchFamily="18" charset="-122"/>
              </a:rPr>
              <a:t>研究难题</a:t>
            </a:r>
            <a:endParaRPr kumimoji="0" lang="en-US" altLang="zh-CN" sz="2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OPPOSans B" panose="00020600040101010101" pitchFamily="18" charset="-122"/>
            </a:endParaRPr>
          </a:p>
        </p:txBody>
      </p:sp>
      <p:sp>
        <p:nvSpPr>
          <p:cNvPr id="13" name="幻云PPT-演示军团1">
            <a:extLst>
              <a:ext uri="{FF2B5EF4-FFF2-40B4-BE49-F238E27FC236}">
                <a16:creationId xmlns:a16="http://schemas.microsoft.com/office/drawing/2014/main" id="{DE03F39A-773D-E1A6-3B18-BB6342F826F6}"/>
              </a:ext>
            </a:extLst>
          </p:cNvPr>
          <p:cNvSpPr/>
          <p:nvPr>
            <p:custDataLst>
              <p:tags r:id="rId5"/>
            </p:custDataLst>
          </p:nvPr>
        </p:nvSpPr>
        <p:spPr>
          <a:xfrm>
            <a:off x="492809" y="4388399"/>
            <a:ext cx="5493285" cy="2062731"/>
          </a:xfrm>
          <a:prstGeom prst="roundRect">
            <a:avLst>
              <a:gd name="adj" fmla="val 617"/>
            </a:avLst>
          </a:prstGeom>
          <a:solidFill>
            <a:srgbClr val="FFFFFF"/>
          </a:solidFill>
          <a:ln w="3175" cap="flat" cmpd="sng" algn="ctr">
            <a:solidFill>
              <a:schemeClr val="accent1"/>
            </a:solidFill>
            <a:prstDash val="solid"/>
            <a:miter lim="800000"/>
          </a:ln>
          <a:effectLst/>
        </p:spPr>
        <p:txBody>
          <a:bodyPr rtlCol="0" anchor="ctr"/>
          <a:lstStyle/>
          <a:p>
            <a:pPr algn="ctr"/>
            <a:endParaRPr lang="en-US" kern="0" dirty="0">
              <a:solidFill>
                <a:srgbClr val="E5EDF4"/>
              </a:solidFill>
              <a:latin typeface="微软雅黑" panose="020B0503020204020204" pitchFamily="34" charset="-122"/>
            </a:endParaRPr>
          </a:p>
        </p:txBody>
      </p:sp>
      <p:sp>
        <p:nvSpPr>
          <p:cNvPr id="14" name="幻云PPT-演示军团19">
            <a:extLst>
              <a:ext uri="{FF2B5EF4-FFF2-40B4-BE49-F238E27FC236}">
                <a16:creationId xmlns:a16="http://schemas.microsoft.com/office/drawing/2014/main" id="{FC9ABA25-F49A-5E87-1639-F3F10118BDBB}"/>
              </a:ext>
            </a:extLst>
          </p:cNvPr>
          <p:cNvSpPr/>
          <p:nvPr>
            <p:custDataLst>
              <p:tags r:id="rId6"/>
            </p:custDataLst>
          </p:nvPr>
        </p:nvSpPr>
        <p:spPr>
          <a:xfrm>
            <a:off x="492810" y="4367005"/>
            <a:ext cx="5493284" cy="453490"/>
          </a:xfrm>
          <a:prstGeom prst="roundRect">
            <a:avLst>
              <a:gd name="adj" fmla="val 3727"/>
            </a:avLst>
          </a:prstGeom>
          <a:solidFill>
            <a:schemeClr val="accent1"/>
          </a:solidFill>
          <a:ln w="3175" cap="flat" cmpd="sng" algn="ctr">
            <a:noFill/>
            <a:prstDash val="solid"/>
            <a:miter lim="800000"/>
          </a:ln>
          <a:effectLst/>
        </p:spPr>
        <p:txBody>
          <a:bodyPr lIns="76535" tIns="38268" rIns="76535" bIns="38268" rtlCol="0" anchor="ctr"/>
          <a:lstStyle/>
          <a:p>
            <a:pPr algn="ctr"/>
            <a:r>
              <a:rPr lang="zh-CN" altLang="en-US" sz="2400" b="1" kern="0" dirty="0">
                <a:solidFill>
                  <a:srgbClr val="FFFFFF"/>
                </a:solidFill>
                <a:latin typeface="微软雅黑" panose="020B0503020204020204" pitchFamily="34" charset="-122"/>
                <a:ea typeface="微软雅黑" panose="020B0503020204020204" pitchFamily="34" charset="-122"/>
                <a:cs typeface="OPPOSans B" panose="00020600040101010101" pitchFamily="18" charset="-122"/>
              </a:rPr>
              <a:t>解决方法</a:t>
            </a:r>
            <a:endParaRPr lang="en-US" altLang="zh-CN" sz="2400" b="1" kern="0" dirty="0">
              <a:solidFill>
                <a:srgbClr val="FFFFFF"/>
              </a:solidFill>
              <a:latin typeface="微软雅黑" panose="020B0503020204020204" pitchFamily="34" charset="-122"/>
              <a:ea typeface="微软雅黑" panose="020B0503020204020204" pitchFamily="34" charset="-122"/>
              <a:cs typeface="OPPOSans B" panose="00020600040101010101" pitchFamily="18" charset="-122"/>
            </a:endParaRPr>
          </a:p>
        </p:txBody>
      </p:sp>
      <p:sp>
        <p:nvSpPr>
          <p:cNvPr id="15" name="幻云PPT-演示军团14">
            <a:extLst>
              <a:ext uri="{FF2B5EF4-FFF2-40B4-BE49-F238E27FC236}">
                <a16:creationId xmlns:a16="http://schemas.microsoft.com/office/drawing/2014/main" id="{040B9002-B667-5EE7-8CE0-771063B5BDFC}"/>
              </a:ext>
            </a:extLst>
          </p:cNvPr>
          <p:cNvSpPr/>
          <p:nvPr/>
        </p:nvSpPr>
        <p:spPr>
          <a:xfrm>
            <a:off x="658812" y="2640114"/>
            <a:ext cx="5113338" cy="1240786"/>
          </a:xfrm>
          <a:prstGeom prst="roundRect">
            <a:avLst>
              <a:gd name="adj" fmla="val 3651"/>
            </a:avLst>
          </a:prstGeom>
          <a:solidFill>
            <a:schemeClr val="accent3">
              <a:alpha val="30000"/>
            </a:schemeClr>
          </a:solidFill>
          <a:ln w="9525" cap="flat" cmpd="sng" algn="ctr">
            <a:solidFill>
              <a:schemeClr val="accent1"/>
            </a:solidFill>
            <a:prstDash val="lgDash"/>
            <a:miter lim="800000"/>
          </a:ln>
          <a:effectLst/>
        </p:spPr>
        <p:txBody>
          <a:bodyPr rtlCol="0" anchor="ctr"/>
          <a:lstStyle/>
          <a:p>
            <a:pPr marL="0" marR="0" lvl="0" indent="0" algn="just" defTabSz="4572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endParaRPr>
          </a:p>
        </p:txBody>
      </p:sp>
      <p:sp>
        <p:nvSpPr>
          <p:cNvPr id="16" name="幻云PPT-演示军团7">
            <a:extLst>
              <a:ext uri="{FF2B5EF4-FFF2-40B4-BE49-F238E27FC236}">
                <a16:creationId xmlns:a16="http://schemas.microsoft.com/office/drawing/2014/main" id="{D3826F87-801A-6A84-6749-4511D4D96150}"/>
              </a:ext>
            </a:extLst>
          </p:cNvPr>
          <p:cNvSpPr txBox="1"/>
          <p:nvPr>
            <p:custDataLst>
              <p:tags r:id="rId7"/>
            </p:custDataLst>
          </p:nvPr>
        </p:nvSpPr>
        <p:spPr>
          <a:xfrm>
            <a:off x="848280" y="2737569"/>
            <a:ext cx="4799485" cy="1045613"/>
          </a:xfrm>
          <a:prstGeom prst="rect">
            <a:avLst/>
          </a:prstGeom>
          <a:noFill/>
          <a:effectLst/>
        </p:spPr>
        <p:txBody>
          <a:bodyPr wrap="square" lIns="70363" tIns="35182" rIns="70363" bIns="35182" rtlCol="0">
            <a:spAutoFit/>
          </a:bodyPr>
          <a:lstStyle/>
          <a:p>
            <a:pPr>
              <a:lnSpc>
                <a:spcPct val="120000"/>
              </a:lnSpc>
            </a:pPr>
            <a:r>
              <a:rPr lang="zh-CN" altLang="en-US" dirty="0">
                <a:solidFill>
                  <a:schemeClr val="accent1"/>
                </a:solidFill>
                <a:latin typeface="微软雅黑" panose="020B0503020204020204" pitchFamily="34" charset="-122"/>
                <a:ea typeface="微软雅黑" panose="020B0503020204020204" pitchFamily="34" charset="-122"/>
                <a:cs typeface="OPPOSans R" panose="00020600040101010101" pitchFamily="18" charset="-122"/>
              </a:rPr>
              <a:t>界面效应</a:t>
            </a:r>
            <a:r>
              <a:rPr lang="zh-CN" altLang="en-US" dirty="0">
                <a:solidFill>
                  <a:srgbClr val="000000"/>
                </a:solidFill>
                <a:latin typeface="微软雅黑" panose="020B0503020204020204" pitchFamily="34" charset="-122"/>
                <a:ea typeface="微软雅黑" panose="020B0503020204020204" pitchFamily="34" charset="-122"/>
                <a:cs typeface="OPPOSans R" panose="00020600040101010101" pitchFamily="18" charset="-122"/>
              </a:rPr>
              <a:t>：在纳米尺度薄膜中，界面效应在一定程度上限制了传统铁电材料在高速微型化铁电元器件中的应用</a:t>
            </a:r>
            <a:endParaRPr lang="en-US" dirty="0">
              <a:solidFill>
                <a:srgbClr val="000000"/>
              </a:solidFill>
              <a:latin typeface="微软雅黑" panose="020B0503020204020204" pitchFamily="34" charset="-122"/>
              <a:ea typeface="微软雅黑" panose="020B0503020204020204" pitchFamily="34" charset="-122"/>
              <a:cs typeface="OPPOSans R" panose="00020600040101010101" pitchFamily="18" charset="-122"/>
            </a:endParaRPr>
          </a:p>
        </p:txBody>
      </p:sp>
      <p:sp>
        <p:nvSpPr>
          <p:cNvPr id="17" name="幻云PPT-演示军团14">
            <a:extLst>
              <a:ext uri="{FF2B5EF4-FFF2-40B4-BE49-F238E27FC236}">
                <a16:creationId xmlns:a16="http://schemas.microsoft.com/office/drawing/2014/main" id="{B35ACE92-173B-D8DC-892C-AE6C0EB22421}"/>
              </a:ext>
            </a:extLst>
          </p:cNvPr>
          <p:cNvSpPr/>
          <p:nvPr/>
        </p:nvSpPr>
        <p:spPr>
          <a:xfrm>
            <a:off x="658812" y="5015559"/>
            <a:ext cx="5113338" cy="1240786"/>
          </a:xfrm>
          <a:prstGeom prst="roundRect">
            <a:avLst>
              <a:gd name="adj" fmla="val 3651"/>
            </a:avLst>
          </a:prstGeom>
          <a:solidFill>
            <a:schemeClr val="accent3">
              <a:alpha val="30000"/>
            </a:schemeClr>
          </a:solidFill>
          <a:ln w="9525" cap="flat" cmpd="sng" algn="ctr">
            <a:solidFill>
              <a:schemeClr val="accent1"/>
            </a:solidFill>
            <a:prstDash val="lgDash"/>
            <a:miter lim="800000"/>
          </a:ln>
          <a:effectLst/>
        </p:spPr>
        <p:txBody>
          <a:bodyPr rtlCol="0" anchor="ctr"/>
          <a:lstStyle/>
          <a:p>
            <a:pPr algn="just" defTabSz="457200"/>
            <a:endParaRPr lang="en-US" sz="1200" kern="0" dirty="0">
              <a:solidFill>
                <a:prstClr val="white"/>
              </a:solidFill>
              <a:latin typeface="Arial" panose="020B0604020202020204" pitchFamily="34" charset="0"/>
              <a:ea typeface="微软雅黑" panose="020B0503020204020204" pitchFamily="34" charset="-122"/>
            </a:endParaRPr>
          </a:p>
        </p:txBody>
      </p:sp>
      <p:sp>
        <p:nvSpPr>
          <p:cNvPr id="18" name="幻云PPT-演示军团7">
            <a:extLst>
              <a:ext uri="{FF2B5EF4-FFF2-40B4-BE49-F238E27FC236}">
                <a16:creationId xmlns:a16="http://schemas.microsoft.com/office/drawing/2014/main" id="{4E9E99BE-FA2A-1B93-278B-582988BCEB65}"/>
              </a:ext>
            </a:extLst>
          </p:cNvPr>
          <p:cNvSpPr txBox="1"/>
          <p:nvPr>
            <p:custDataLst>
              <p:tags r:id="rId8"/>
            </p:custDataLst>
          </p:nvPr>
        </p:nvSpPr>
        <p:spPr>
          <a:xfrm>
            <a:off x="848280" y="5113014"/>
            <a:ext cx="4799485" cy="1045613"/>
          </a:xfrm>
          <a:prstGeom prst="rect">
            <a:avLst/>
          </a:prstGeom>
          <a:noFill/>
          <a:effectLst/>
        </p:spPr>
        <p:txBody>
          <a:bodyPr wrap="square" lIns="70363" tIns="35182" rIns="70363" bIns="35182" rtlCol="0">
            <a:spAutoFit/>
          </a:bodyPr>
          <a:lstStyle/>
          <a:p>
            <a:pPr>
              <a:lnSpc>
                <a:spcPct val="120000"/>
              </a:lnSpc>
            </a:pPr>
            <a:r>
              <a:rPr lang="zh-CN" altLang="en-US" dirty="0">
                <a:solidFill>
                  <a:schemeClr val="accent1"/>
                </a:solidFill>
                <a:latin typeface="微软雅黑" panose="020B0503020204020204" pitchFamily="34" charset="-122"/>
                <a:ea typeface="微软雅黑" panose="020B0503020204020204" pitchFamily="34" charset="-122"/>
                <a:cs typeface="OPPOSans R" panose="00020600040101010101" pitchFamily="18" charset="-122"/>
              </a:rPr>
              <a:t>电场调控氧离子栅极：</a:t>
            </a:r>
            <a:r>
              <a:rPr lang="zh-CN" altLang="en-US" dirty="0">
                <a:solidFill>
                  <a:srgbClr val="000000"/>
                </a:solidFill>
                <a:latin typeface="微软雅黑" panose="020B0503020204020204" pitchFamily="34" charset="-122"/>
                <a:ea typeface="微软雅黑" panose="020B0503020204020204" pitchFamily="34" charset="-122"/>
                <a:cs typeface="OPPOSans R" panose="00020600040101010101" pitchFamily="18" charset="-122"/>
              </a:rPr>
              <a:t>通过电场调控氧离子栅极与磁性金属界面处的磁相互作用，在室温下实现快速的磁电耦合效应和阻变存储</a:t>
            </a:r>
            <a:endParaRPr lang="en-US" dirty="0">
              <a:solidFill>
                <a:srgbClr val="000000"/>
              </a:solidFill>
              <a:latin typeface="微软雅黑" panose="020B0503020204020204" pitchFamily="34" charset="-122"/>
              <a:ea typeface="微软雅黑" panose="020B0503020204020204" pitchFamily="34" charset="-122"/>
              <a:cs typeface="OPPOSans R" panose="00020600040101010101" pitchFamily="18" charset="-122"/>
            </a:endParaRPr>
          </a:p>
        </p:txBody>
      </p:sp>
      <p:sp>
        <p:nvSpPr>
          <p:cNvPr id="6" name="矩形 5">
            <a:extLst>
              <a:ext uri="{FF2B5EF4-FFF2-40B4-BE49-F238E27FC236}">
                <a16:creationId xmlns:a16="http://schemas.microsoft.com/office/drawing/2014/main" id="{643CFC51-4D79-EF23-016E-A673E37AA717}"/>
              </a:ext>
            </a:extLst>
          </p:cNvPr>
          <p:cNvSpPr/>
          <p:nvPr/>
        </p:nvSpPr>
        <p:spPr>
          <a:xfrm>
            <a:off x="0" y="1066800"/>
            <a:ext cx="12192000" cy="5791200"/>
          </a:xfrm>
          <a:prstGeom prst="rect">
            <a:avLst/>
          </a:prstGeom>
          <a:solidFill>
            <a:srgbClr val="FFFFFF"/>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7AADB1B5-ED24-51E3-371C-BB991E9B701F}"/>
              </a:ext>
            </a:extLst>
          </p:cNvPr>
          <p:cNvSpPr/>
          <p:nvPr/>
        </p:nvSpPr>
        <p:spPr>
          <a:xfrm>
            <a:off x="431800" y="1219200"/>
            <a:ext cx="11328400" cy="533400"/>
          </a:xfrm>
          <a:prstGeom prst="rect">
            <a:avLst/>
          </a:prstGeom>
          <a:solidFill>
            <a:srgbClr val="0054A0"/>
          </a:solidFill>
          <a:ln w="1270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700" b="1">
                <a:solidFill>
                  <a:srgbClr val="FFFFFF"/>
                </a:solidFill>
                <a:latin typeface="微软雅黑" panose="020B0503020204020204" pitchFamily="34" charset="-122"/>
              </a:rPr>
              <a:t>平台优先覆盖代表性 </a:t>
            </a:r>
            <a:r>
              <a:rPr lang="en-US" altLang="zh-CN" sz="1700" b="1">
                <a:solidFill>
                  <a:srgbClr val="FFFFFF"/>
                </a:solidFill>
                <a:latin typeface="微软雅黑" panose="020B0503020204020204" pitchFamily="34" charset="-122"/>
              </a:rPr>
              <a:t>3R </a:t>
            </a:r>
            <a:r>
              <a:rPr lang="zh-CN" altLang="en-US" sz="1700" b="1">
                <a:solidFill>
                  <a:srgbClr val="FFFFFF"/>
                </a:solidFill>
                <a:latin typeface="微软雅黑" panose="020B0503020204020204" pitchFamily="34" charset="-122"/>
              </a:rPr>
              <a:t>模型，形成可比较的模型池</a:t>
            </a:r>
          </a:p>
        </p:txBody>
      </p:sp>
      <p:sp>
        <p:nvSpPr>
          <p:cNvPr id="19" name="矩形 18">
            <a:extLst>
              <a:ext uri="{FF2B5EF4-FFF2-40B4-BE49-F238E27FC236}">
                <a16:creationId xmlns:a16="http://schemas.microsoft.com/office/drawing/2014/main" id="{47AB05EC-E92D-2258-AC55-94C501336B4E}"/>
              </a:ext>
            </a:extLst>
          </p:cNvPr>
          <p:cNvSpPr/>
          <p:nvPr/>
        </p:nvSpPr>
        <p:spPr>
          <a:xfrm>
            <a:off x="1016000" y="1905000"/>
            <a:ext cx="2349500" cy="457200"/>
          </a:xfrm>
          <a:prstGeom prst="rect">
            <a:avLst/>
          </a:prstGeom>
          <a:solidFill>
            <a:srgbClr val="0054A0"/>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400" b="1">
                <a:solidFill>
                  <a:srgbClr val="FFFFFF"/>
                </a:solidFill>
                <a:latin typeface="微软雅黑" panose="020B0503020204020204" pitchFamily="34" charset="-122"/>
              </a:rPr>
              <a:t>模型类型</a:t>
            </a:r>
          </a:p>
        </p:txBody>
      </p:sp>
      <p:sp>
        <p:nvSpPr>
          <p:cNvPr id="20" name="矩形 19">
            <a:extLst>
              <a:ext uri="{FF2B5EF4-FFF2-40B4-BE49-F238E27FC236}">
                <a16:creationId xmlns:a16="http://schemas.microsoft.com/office/drawing/2014/main" id="{9707FCE9-FB59-4B04-1DD6-E4186D053BA0}"/>
              </a:ext>
            </a:extLst>
          </p:cNvPr>
          <p:cNvSpPr/>
          <p:nvPr/>
        </p:nvSpPr>
        <p:spPr>
          <a:xfrm>
            <a:off x="3365500" y="1905000"/>
            <a:ext cx="3556000" cy="457200"/>
          </a:xfrm>
          <a:prstGeom prst="rect">
            <a:avLst/>
          </a:prstGeom>
          <a:solidFill>
            <a:srgbClr val="0054A0"/>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400" b="1">
                <a:solidFill>
                  <a:srgbClr val="FFFFFF"/>
                </a:solidFill>
                <a:latin typeface="微软雅黑" panose="020B0503020204020204" pitchFamily="34" charset="-122"/>
              </a:rPr>
              <a:t>代表模型</a:t>
            </a:r>
          </a:p>
        </p:txBody>
      </p:sp>
      <p:sp>
        <p:nvSpPr>
          <p:cNvPr id="21" name="矩形 20">
            <a:extLst>
              <a:ext uri="{FF2B5EF4-FFF2-40B4-BE49-F238E27FC236}">
                <a16:creationId xmlns:a16="http://schemas.microsoft.com/office/drawing/2014/main" id="{A9A49747-35DC-D8C8-9E3D-E6F79A999A70}"/>
              </a:ext>
            </a:extLst>
          </p:cNvPr>
          <p:cNvSpPr/>
          <p:nvPr/>
        </p:nvSpPr>
        <p:spPr>
          <a:xfrm>
            <a:off x="6921500" y="1905000"/>
            <a:ext cx="4953000" cy="457200"/>
          </a:xfrm>
          <a:prstGeom prst="rect">
            <a:avLst/>
          </a:prstGeom>
          <a:solidFill>
            <a:srgbClr val="0054A0"/>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400" b="1">
                <a:solidFill>
                  <a:srgbClr val="FFFFFF"/>
                </a:solidFill>
                <a:latin typeface="微软雅黑" panose="020B0503020204020204" pitchFamily="34" charset="-122"/>
              </a:rPr>
              <a:t>接入价值</a:t>
            </a:r>
          </a:p>
        </p:txBody>
      </p:sp>
      <p:sp>
        <p:nvSpPr>
          <p:cNvPr id="22" name="矩形 21">
            <a:extLst>
              <a:ext uri="{FF2B5EF4-FFF2-40B4-BE49-F238E27FC236}">
                <a16:creationId xmlns:a16="http://schemas.microsoft.com/office/drawing/2014/main" id="{B4181493-FF73-91AC-6AC4-FAEE7522FE50}"/>
              </a:ext>
            </a:extLst>
          </p:cNvPr>
          <p:cNvSpPr/>
          <p:nvPr/>
        </p:nvSpPr>
        <p:spPr>
          <a:xfrm>
            <a:off x="1016000" y="2362200"/>
            <a:ext cx="2349500" cy="4572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图像对重建</a:t>
            </a:r>
          </a:p>
        </p:txBody>
      </p:sp>
      <p:sp>
        <p:nvSpPr>
          <p:cNvPr id="23" name="矩形 22">
            <a:extLst>
              <a:ext uri="{FF2B5EF4-FFF2-40B4-BE49-F238E27FC236}">
                <a16:creationId xmlns:a16="http://schemas.microsoft.com/office/drawing/2014/main" id="{6635771E-3F91-484F-3150-98ED64DD94DD}"/>
              </a:ext>
            </a:extLst>
          </p:cNvPr>
          <p:cNvSpPr/>
          <p:nvPr/>
        </p:nvSpPr>
        <p:spPr>
          <a:xfrm>
            <a:off x="3365500" y="2362200"/>
            <a:ext cx="3556000" cy="4572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altLang="zh-CN" sz="1300" b="1">
                <a:solidFill>
                  <a:srgbClr val="052346"/>
                </a:solidFill>
                <a:latin typeface="微软雅黑" panose="020B0503020204020204" pitchFamily="34" charset="-122"/>
              </a:rPr>
              <a:t>DUSt3R / MASt3R</a:t>
            </a:r>
            <a:endParaRPr lang="zh-CN" altLang="en-US" sz="1300" b="1">
              <a:solidFill>
                <a:srgbClr val="052346"/>
              </a:solidFill>
              <a:latin typeface="微软雅黑" panose="020B0503020204020204" pitchFamily="34" charset="-122"/>
            </a:endParaRPr>
          </a:p>
        </p:txBody>
      </p:sp>
      <p:sp>
        <p:nvSpPr>
          <p:cNvPr id="24" name="矩形 23">
            <a:extLst>
              <a:ext uri="{FF2B5EF4-FFF2-40B4-BE49-F238E27FC236}">
                <a16:creationId xmlns:a16="http://schemas.microsoft.com/office/drawing/2014/main" id="{ECEEE64D-56B0-1678-6BB5-13E6BBBA5800}"/>
              </a:ext>
            </a:extLst>
          </p:cNvPr>
          <p:cNvSpPr/>
          <p:nvPr/>
        </p:nvSpPr>
        <p:spPr>
          <a:xfrm>
            <a:off x="6921500" y="2362200"/>
            <a:ext cx="4953000" cy="4572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提供基础重建能力</a:t>
            </a:r>
          </a:p>
        </p:txBody>
      </p:sp>
      <p:sp>
        <p:nvSpPr>
          <p:cNvPr id="25" name="矩形 24">
            <a:extLst>
              <a:ext uri="{FF2B5EF4-FFF2-40B4-BE49-F238E27FC236}">
                <a16:creationId xmlns:a16="http://schemas.microsoft.com/office/drawing/2014/main" id="{0A75CBBF-4AD5-7996-1097-ABA605408FF7}"/>
              </a:ext>
            </a:extLst>
          </p:cNvPr>
          <p:cNvSpPr/>
          <p:nvPr/>
        </p:nvSpPr>
        <p:spPr>
          <a:xfrm>
            <a:off x="1016000" y="2819400"/>
            <a:ext cx="2349500" cy="457200"/>
          </a:xfrm>
          <a:prstGeom prst="rect">
            <a:avLst/>
          </a:prstGeom>
          <a:solidFill>
            <a:srgbClr val="FFFFFF"/>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多视图与流式</a:t>
            </a:r>
          </a:p>
        </p:txBody>
      </p:sp>
      <p:sp>
        <p:nvSpPr>
          <p:cNvPr id="26" name="矩形 25">
            <a:extLst>
              <a:ext uri="{FF2B5EF4-FFF2-40B4-BE49-F238E27FC236}">
                <a16:creationId xmlns:a16="http://schemas.microsoft.com/office/drawing/2014/main" id="{A8B5CD83-A3B8-496A-3477-A64C6F8D2D55}"/>
              </a:ext>
            </a:extLst>
          </p:cNvPr>
          <p:cNvSpPr/>
          <p:nvPr/>
        </p:nvSpPr>
        <p:spPr>
          <a:xfrm>
            <a:off x="3365500" y="2819400"/>
            <a:ext cx="3556000" cy="457200"/>
          </a:xfrm>
          <a:prstGeom prst="rect">
            <a:avLst/>
          </a:prstGeom>
          <a:solidFill>
            <a:srgbClr val="FFFFFF"/>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altLang="zh-CN" sz="1300" b="1">
                <a:solidFill>
                  <a:srgbClr val="052346"/>
                </a:solidFill>
                <a:latin typeface="微软雅黑" panose="020B0503020204020204" pitchFamily="34" charset="-122"/>
              </a:rPr>
              <a:t>Fast3R / Spann3R</a:t>
            </a:r>
            <a:endParaRPr lang="zh-CN" altLang="en-US" sz="1300" b="1">
              <a:solidFill>
                <a:srgbClr val="052346"/>
              </a:solidFill>
              <a:latin typeface="微软雅黑" panose="020B0503020204020204" pitchFamily="34" charset="-122"/>
            </a:endParaRPr>
          </a:p>
        </p:txBody>
      </p:sp>
      <p:sp>
        <p:nvSpPr>
          <p:cNvPr id="27" name="矩形 26">
            <a:extLst>
              <a:ext uri="{FF2B5EF4-FFF2-40B4-BE49-F238E27FC236}">
                <a16:creationId xmlns:a16="http://schemas.microsoft.com/office/drawing/2014/main" id="{AF8BA92A-D0BF-E1B4-C489-5DBBF47A1897}"/>
              </a:ext>
            </a:extLst>
          </p:cNvPr>
          <p:cNvSpPr/>
          <p:nvPr/>
        </p:nvSpPr>
        <p:spPr>
          <a:xfrm>
            <a:off x="6921500" y="2819400"/>
            <a:ext cx="4953000" cy="457200"/>
          </a:xfrm>
          <a:prstGeom prst="rect">
            <a:avLst/>
          </a:prstGeom>
          <a:solidFill>
            <a:srgbClr val="FFFFFF"/>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覆盖多图和长序列输入</a:t>
            </a:r>
          </a:p>
        </p:txBody>
      </p:sp>
      <p:sp>
        <p:nvSpPr>
          <p:cNvPr id="28" name="矩形 27">
            <a:extLst>
              <a:ext uri="{FF2B5EF4-FFF2-40B4-BE49-F238E27FC236}">
                <a16:creationId xmlns:a16="http://schemas.microsoft.com/office/drawing/2014/main" id="{2E57FBBC-B7FA-BF4C-6005-A25D52A39FD6}"/>
              </a:ext>
            </a:extLst>
          </p:cNvPr>
          <p:cNvSpPr/>
          <p:nvPr/>
        </p:nvSpPr>
        <p:spPr>
          <a:xfrm>
            <a:off x="1016000" y="3276600"/>
            <a:ext cx="2349500" cy="4572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动态场景</a:t>
            </a:r>
          </a:p>
        </p:txBody>
      </p:sp>
      <p:sp>
        <p:nvSpPr>
          <p:cNvPr id="29" name="矩形 28">
            <a:extLst>
              <a:ext uri="{FF2B5EF4-FFF2-40B4-BE49-F238E27FC236}">
                <a16:creationId xmlns:a16="http://schemas.microsoft.com/office/drawing/2014/main" id="{75B47927-1184-BE65-BC85-79EF76868103}"/>
              </a:ext>
            </a:extLst>
          </p:cNvPr>
          <p:cNvSpPr/>
          <p:nvPr/>
        </p:nvSpPr>
        <p:spPr>
          <a:xfrm>
            <a:off x="3365500" y="3276600"/>
            <a:ext cx="3556000" cy="4572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altLang="zh-CN" sz="1300" b="1">
                <a:solidFill>
                  <a:srgbClr val="052346"/>
                </a:solidFill>
                <a:latin typeface="微软雅黑" panose="020B0503020204020204" pitchFamily="34" charset="-122"/>
              </a:rPr>
              <a:t>MonST3R / CUT3R</a:t>
            </a:r>
            <a:endParaRPr lang="zh-CN" altLang="en-US" sz="1300" b="1">
              <a:solidFill>
                <a:srgbClr val="052346"/>
              </a:solidFill>
              <a:latin typeface="微软雅黑" panose="020B0503020204020204" pitchFamily="34" charset="-122"/>
            </a:endParaRPr>
          </a:p>
        </p:txBody>
      </p:sp>
      <p:sp>
        <p:nvSpPr>
          <p:cNvPr id="30" name="矩形 29">
            <a:extLst>
              <a:ext uri="{FF2B5EF4-FFF2-40B4-BE49-F238E27FC236}">
                <a16:creationId xmlns:a16="http://schemas.microsoft.com/office/drawing/2014/main" id="{3B00A2D6-F6E3-15E1-FE72-75A4C7B180FE}"/>
              </a:ext>
            </a:extLst>
          </p:cNvPr>
          <p:cNvSpPr/>
          <p:nvPr/>
        </p:nvSpPr>
        <p:spPr>
          <a:xfrm>
            <a:off x="6921500" y="3276600"/>
            <a:ext cx="4953000" cy="4572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补充动态与视频场景</a:t>
            </a:r>
          </a:p>
        </p:txBody>
      </p:sp>
      <p:sp>
        <p:nvSpPr>
          <p:cNvPr id="31" name="矩形 30">
            <a:extLst>
              <a:ext uri="{FF2B5EF4-FFF2-40B4-BE49-F238E27FC236}">
                <a16:creationId xmlns:a16="http://schemas.microsoft.com/office/drawing/2014/main" id="{727EEEFB-8116-E224-DC33-B403F7B15927}"/>
              </a:ext>
            </a:extLst>
          </p:cNvPr>
          <p:cNvSpPr/>
          <p:nvPr/>
        </p:nvSpPr>
        <p:spPr>
          <a:xfrm>
            <a:off x="1016000" y="3733800"/>
            <a:ext cx="2349500" cy="457200"/>
          </a:xfrm>
          <a:prstGeom prst="rect">
            <a:avLst/>
          </a:prstGeom>
          <a:solidFill>
            <a:srgbClr val="FFFFFF"/>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候选扩展</a:t>
            </a:r>
          </a:p>
        </p:txBody>
      </p:sp>
      <p:sp>
        <p:nvSpPr>
          <p:cNvPr id="32" name="矩形 31">
            <a:extLst>
              <a:ext uri="{FF2B5EF4-FFF2-40B4-BE49-F238E27FC236}">
                <a16:creationId xmlns:a16="http://schemas.microsoft.com/office/drawing/2014/main" id="{786A983E-1594-2ADD-CB1F-8CA7915288FC}"/>
              </a:ext>
            </a:extLst>
          </p:cNvPr>
          <p:cNvSpPr/>
          <p:nvPr/>
        </p:nvSpPr>
        <p:spPr>
          <a:xfrm>
            <a:off x="3365500" y="3733800"/>
            <a:ext cx="3556000" cy="457200"/>
          </a:xfrm>
          <a:prstGeom prst="rect">
            <a:avLst/>
          </a:prstGeom>
          <a:solidFill>
            <a:srgbClr val="FFFFFF"/>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altLang="zh-CN" sz="1300" b="1">
                <a:solidFill>
                  <a:srgbClr val="052346"/>
                </a:solidFill>
                <a:latin typeface="微软雅黑" panose="020B0503020204020204" pitchFamily="34" charset="-122"/>
              </a:rPr>
              <a:t>Align3R </a:t>
            </a:r>
            <a:r>
              <a:rPr lang="zh-CN" altLang="en-US" sz="1300" b="1">
                <a:solidFill>
                  <a:srgbClr val="052346"/>
                </a:solidFill>
                <a:latin typeface="微软雅黑" panose="020B0503020204020204" pitchFamily="34" charset="-122"/>
              </a:rPr>
              <a:t>等</a:t>
            </a:r>
          </a:p>
        </p:txBody>
      </p:sp>
      <p:sp>
        <p:nvSpPr>
          <p:cNvPr id="33" name="矩形 32">
            <a:extLst>
              <a:ext uri="{FF2B5EF4-FFF2-40B4-BE49-F238E27FC236}">
                <a16:creationId xmlns:a16="http://schemas.microsoft.com/office/drawing/2014/main" id="{4EBAB5A9-5AF0-37F9-E0E7-ADB57E213916}"/>
              </a:ext>
            </a:extLst>
          </p:cNvPr>
          <p:cNvSpPr/>
          <p:nvPr/>
        </p:nvSpPr>
        <p:spPr>
          <a:xfrm>
            <a:off x="6921500" y="3733800"/>
            <a:ext cx="4953000" cy="457200"/>
          </a:xfrm>
          <a:prstGeom prst="rect">
            <a:avLst/>
          </a:prstGeom>
          <a:solidFill>
            <a:srgbClr val="FFFFFF"/>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后续根据权重和环境补充</a:t>
            </a:r>
          </a:p>
        </p:txBody>
      </p:sp>
      <p:sp>
        <p:nvSpPr>
          <p:cNvPr id="34" name="矩形 33">
            <a:extLst>
              <a:ext uri="{FF2B5EF4-FFF2-40B4-BE49-F238E27FC236}">
                <a16:creationId xmlns:a16="http://schemas.microsoft.com/office/drawing/2014/main" id="{7522EBEC-6686-F2B0-7C86-5D275475C6E1}"/>
              </a:ext>
            </a:extLst>
          </p:cNvPr>
          <p:cNvSpPr/>
          <p:nvPr/>
        </p:nvSpPr>
        <p:spPr>
          <a:xfrm>
            <a:off x="1397000" y="5334000"/>
            <a:ext cx="9398000" cy="5334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600" b="1">
                <a:solidFill>
                  <a:srgbClr val="052346"/>
                </a:solidFill>
                <a:latin typeface="微软雅黑" panose="020B0503020204020204" pitchFamily="34" charset="-122"/>
              </a:rPr>
              <a:t>接入重点不是简单堆模型，而是在统一条件下组织输入、输出和对比记录。</a:t>
            </a:r>
          </a:p>
        </p:txBody>
      </p:sp>
    </p:spTree>
    <p:extLst>
      <p:ext uri="{BB962C8B-B14F-4D97-AF65-F5344CB8AC3E}">
        <p14:creationId xmlns:p14="http://schemas.microsoft.com/office/powerpoint/2010/main" val="34598911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3DD42-58F1-BF23-F1D1-911D6ECA1AC9}"/>
            </a:ext>
          </a:extLst>
        </p:cNvPr>
        <p:cNvGrpSpPr/>
        <p:nvPr/>
      </p:nvGrpSpPr>
      <p:grpSpPr>
        <a:xfrm>
          <a:off x="0" y="0"/>
          <a:ext cx="0" cy="0"/>
          <a:chOff x="0" y="0"/>
          <a:chExt cx="0" cy="0"/>
        </a:xfrm>
      </p:grpSpPr>
      <p:sp>
        <p:nvSpPr>
          <p:cNvPr id="90" name="文本框 89">
            <a:extLst>
              <a:ext uri="{FF2B5EF4-FFF2-40B4-BE49-F238E27FC236}">
                <a16:creationId xmlns:a16="http://schemas.microsoft.com/office/drawing/2014/main" id="{25103B3E-9250-E6B9-EDDC-2ED6F90CF039}"/>
              </a:ext>
            </a:extLst>
          </p:cNvPr>
          <p:cNvSpPr txBox="1"/>
          <p:nvPr/>
        </p:nvSpPr>
        <p:spPr>
          <a:xfrm>
            <a:off x="115452" y="243436"/>
            <a:ext cx="772964" cy="369332"/>
          </a:xfrm>
          <a:prstGeom prst="rect">
            <a:avLst/>
          </a:prstGeom>
          <a:noFill/>
        </p:spPr>
        <p:txBody>
          <a:bodyPr wrap="square" rtlCol="0">
            <a:spAutoFit/>
          </a:bodyPr>
          <a:lstStyle/>
          <a:p>
            <a:pPr algn="ctr"/>
            <a:r>
              <a:rPr lang="en-US" altLang="zh-CN" b="1">
                <a:solidFill>
                  <a:srgbClr val="00417D"/>
                </a:solidFill>
                <a:latin typeface="微软雅黑" panose="020B0503020204020204" pitchFamily="34" charset="-122"/>
              </a:rPr>
              <a:t>4.1</a:t>
            </a:r>
            <a:endParaRPr lang="zh-CN" altLang="en-US" b="1" dirty="0">
              <a:solidFill>
                <a:srgbClr val="00417D"/>
              </a:solidFill>
              <a:latin typeface="微软雅黑" panose="020B0503020204020204" pitchFamily="34" charset="-122"/>
            </a:endParaRPr>
          </a:p>
        </p:txBody>
      </p:sp>
      <p:sp>
        <p:nvSpPr>
          <p:cNvPr id="92" name="文本框 91">
            <a:extLst>
              <a:ext uri="{FF2B5EF4-FFF2-40B4-BE49-F238E27FC236}">
                <a16:creationId xmlns:a16="http://schemas.microsoft.com/office/drawing/2014/main" id="{C27D3A61-0DEC-BA16-46CE-C27F01A6C4A8}"/>
              </a:ext>
            </a:extLst>
          </p:cNvPr>
          <p:cNvSpPr txBox="1"/>
          <p:nvPr/>
        </p:nvSpPr>
        <p:spPr>
          <a:xfrm>
            <a:off x="946461" y="269201"/>
            <a:ext cx="6440714" cy="477054"/>
          </a:xfrm>
          <a:prstGeom prst="rect">
            <a:avLst/>
          </a:prstGeom>
          <a:noFill/>
        </p:spPr>
        <p:txBody>
          <a:bodyPr wrap="square">
            <a:spAutoFit/>
          </a:bodyPr>
          <a:lstStyle/>
          <a:p>
            <a:r>
              <a:rPr lang="zh-CN" altLang="en-US" sz="2500" b="1">
                <a:solidFill>
                  <a:srgbClr val="00417D"/>
                </a:solidFill>
                <a:latin typeface="微软雅黑" panose="020B0503020204020204" pitchFamily="34" charset="-122"/>
              </a:rPr>
              <a:t>验证方案</a:t>
            </a:r>
            <a:endParaRPr lang="zh-CN" altLang="en-US" sz="2500" b="1" dirty="0">
              <a:solidFill>
                <a:srgbClr val="00417D"/>
              </a:solidFill>
              <a:latin typeface="微软雅黑" panose="020B0503020204020204" pitchFamily="34" charset="-122"/>
            </a:endParaRPr>
          </a:p>
        </p:txBody>
      </p:sp>
      <p:sp>
        <p:nvSpPr>
          <p:cNvPr id="6" name="矩形 5">
            <a:extLst>
              <a:ext uri="{FF2B5EF4-FFF2-40B4-BE49-F238E27FC236}">
                <a16:creationId xmlns:a16="http://schemas.microsoft.com/office/drawing/2014/main" id="{204B3276-1D6D-A659-B777-7A8B73B43410}"/>
              </a:ext>
            </a:extLst>
          </p:cNvPr>
          <p:cNvSpPr/>
          <p:nvPr/>
        </p:nvSpPr>
        <p:spPr>
          <a:xfrm>
            <a:off x="488951" y="1148185"/>
            <a:ext cx="11214099" cy="573683"/>
          </a:xfrm>
          <a:prstGeom prst="rect">
            <a:avLst/>
          </a:prstGeom>
          <a:solidFill>
            <a:schemeClr val="accent1"/>
          </a:solidFill>
          <a:ln w="317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3" name="文本框 12">
            <a:extLst>
              <a:ext uri="{FF2B5EF4-FFF2-40B4-BE49-F238E27FC236}">
                <a16:creationId xmlns:a16="http://schemas.microsoft.com/office/drawing/2014/main" id="{17E4BB18-6BF3-E577-1061-8ED13EE92896}"/>
              </a:ext>
            </a:extLst>
          </p:cNvPr>
          <p:cNvSpPr txBox="1"/>
          <p:nvPr/>
        </p:nvSpPr>
        <p:spPr>
          <a:xfrm>
            <a:off x="1848684" y="1204194"/>
            <a:ext cx="8494633" cy="461665"/>
          </a:xfrm>
          <a:prstGeom prst="rect">
            <a:avLst/>
          </a:prstGeom>
          <a:noFill/>
        </p:spPr>
        <p:txBody>
          <a:bodyPr wrap="none">
            <a:spAutoFit/>
          </a:bodyPr>
          <a:lstStyle/>
          <a:p>
            <a:pPr algn="ctr"/>
            <a:r>
              <a:rPr lang="zh-CN" altLang="en-US" sz="2400" b="1" dirty="0">
                <a:solidFill>
                  <a:schemeClr val="accent3"/>
                </a:solidFill>
                <a:latin typeface="微软雅黑" panose="020B0503020204020204" pitchFamily="34" charset="-122"/>
                <a:ea typeface="微软雅黑" panose="020B0503020204020204" pitchFamily="34" charset="-122"/>
              </a:rPr>
              <a:t>选择热带季风区中具有不同岩性的森林生态系统作为研究对象</a:t>
            </a:r>
          </a:p>
        </p:txBody>
      </p:sp>
      <p:grpSp>
        <p:nvGrpSpPr>
          <p:cNvPr id="16" name="组合 15">
            <a:extLst>
              <a:ext uri="{FF2B5EF4-FFF2-40B4-BE49-F238E27FC236}">
                <a16:creationId xmlns:a16="http://schemas.microsoft.com/office/drawing/2014/main" id="{78EB1953-AD90-70D1-101F-4F57C659A9D3}"/>
              </a:ext>
            </a:extLst>
          </p:cNvPr>
          <p:cNvGrpSpPr/>
          <p:nvPr/>
        </p:nvGrpSpPr>
        <p:grpSpPr>
          <a:xfrm>
            <a:off x="485774" y="1706080"/>
            <a:ext cx="11210925" cy="308759"/>
            <a:chOff x="490655" y="3938634"/>
            <a:chExt cx="5140454" cy="204788"/>
          </a:xfrm>
        </p:grpSpPr>
        <p:sp>
          <p:nvSpPr>
            <p:cNvPr id="17" name="任意多边形: 形状 16">
              <a:extLst>
                <a:ext uri="{FF2B5EF4-FFF2-40B4-BE49-F238E27FC236}">
                  <a16:creationId xmlns:a16="http://schemas.microsoft.com/office/drawing/2014/main" id="{1EB340B5-558D-4A4C-C06D-67931BC6006C}"/>
                </a:ext>
              </a:extLst>
            </p:cNvPr>
            <p:cNvSpPr/>
            <p:nvPr/>
          </p:nvSpPr>
          <p:spPr>
            <a:xfrm>
              <a:off x="490655" y="3943397"/>
              <a:ext cx="4600015" cy="200025"/>
            </a:xfrm>
            <a:custGeom>
              <a:avLst/>
              <a:gdLst>
                <a:gd name="connsiteX0" fmla="*/ 0 w 5229225"/>
                <a:gd name="connsiteY0" fmla="*/ 200025 h 200025"/>
                <a:gd name="connsiteX1" fmla="*/ 1047750 w 5229225"/>
                <a:gd name="connsiteY1" fmla="*/ 200025 h 200025"/>
                <a:gd name="connsiteX2" fmla="*/ 5229225 w 5229225"/>
                <a:gd name="connsiteY2" fmla="*/ 0 h 200025"/>
                <a:gd name="connsiteX3" fmla="*/ 642938 w 5229225"/>
                <a:gd name="connsiteY3" fmla="*/ 0 h 200025"/>
                <a:gd name="connsiteX4" fmla="*/ 0 w 5229225"/>
                <a:gd name="connsiteY4" fmla="*/ 200025 h 200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29225" h="200025">
                  <a:moveTo>
                    <a:pt x="0" y="200025"/>
                  </a:moveTo>
                  <a:lnTo>
                    <a:pt x="1047750" y="200025"/>
                  </a:lnTo>
                  <a:lnTo>
                    <a:pt x="5229225" y="0"/>
                  </a:lnTo>
                  <a:lnTo>
                    <a:pt x="642938" y="0"/>
                  </a:lnTo>
                  <a:lnTo>
                    <a:pt x="0" y="200025"/>
                  </a:lnTo>
                  <a:close/>
                </a:path>
              </a:pathLst>
            </a:custGeom>
            <a:gradFill>
              <a:gsLst>
                <a:gs pos="0">
                  <a:schemeClr val="accent1">
                    <a:alpha val="30000"/>
                  </a:schemeClr>
                </a:gs>
                <a:gs pos="100000">
                  <a:schemeClr val="accent1">
                    <a:alpha val="0"/>
                  </a:scheme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8" name="任意多边形: 形状 17">
              <a:extLst>
                <a:ext uri="{FF2B5EF4-FFF2-40B4-BE49-F238E27FC236}">
                  <a16:creationId xmlns:a16="http://schemas.microsoft.com/office/drawing/2014/main" id="{6063A832-FEA9-6E9B-BA1A-55F0A270B69D}"/>
                </a:ext>
              </a:extLst>
            </p:cNvPr>
            <p:cNvSpPr/>
            <p:nvPr/>
          </p:nvSpPr>
          <p:spPr>
            <a:xfrm>
              <a:off x="1068799" y="3943397"/>
              <a:ext cx="4009303" cy="195262"/>
            </a:xfrm>
            <a:custGeom>
              <a:avLst/>
              <a:gdLst>
                <a:gd name="connsiteX0" fmla="*/ 928688 w 4557713"/>
                <a:gd name="connsiteY0" fmla="*/ 195262 h 195262"/>
                <a:gd name="connsiteX1" fmla="*/ 1990725 w 4557713"/>
                <a:gd name="connsiteY1" fmla="*/ 195262 h 195262"/>
                <a:gd name="connsiteX2" fmla="*/ 4557713 w 4557713"/>
                <a:gd name="connsiteY2" fmla="*/ 0 h 195262"/>
                <a:gd name="connsiteX3" fmla="*/ 0 w 4557713"/>
                <a:gd name="connsiteY3" fmla="*/ 0 h 195262"/>
                <a:gd name="connsiteX4" fmla="*/ 928688 w 4557713"/>
                <a:gd name="connsiteY4" fmla="*/ 195262 h 1952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7713" h="195262">
                  <a:moveTo>
                    <a:pt x="928688" y="195262"/>
                  </a:moveTo>
                  <a:lnTo>
                    <a:pt x="1990725" y="195262"/>
                  </a:lnTo>
                  <a:lnTo>
                    <a:pt x="4557713" y="0"/>
                  </a:lnTo>
                  <a:lnTo>
                    <a:pt x="0" y="0"/>
                  </a:lnTo>
                  <a:lnTo>
                    <a:pt x="928688" y="195262"/>
                  </a:lnTo>
                  <a:close/>
                </a:path>
              </a:pathLst>
            </a:custGeom>
            <a:gradFill>
              <a:gsLst>
                <a:gs pos="0">
                  <a:schemeClr val="accent1">
                    <a:alpha val="30000"/>
                  </a:schemeClr>
                </a:gs>
                <a:gs pos="100000">
                  <a:schemeClr val="accent1">
                    <a:alpha val="0"/>
                  </a:scheme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9" name="任意多边形: 形状 18">
              <a:extLst>
                <a:ext uri="{FF2B5EF4-FFF2-40B4-BE49-F238E27FC236}">
                  <a16:creationId xmlns:a16="http://schemas.microsoft.com/office/drawing/2014/main" id="{3051218A-398A-D30B-0989-EADE8277FE7C}"/>
                </a:ext>
              </a:extLst>
            </p:cNvPr>
            <p:cNvSpPr/>
            <p:nvPr/>
          </p:nvSpPr>
          <p:spPr>
            <a:xfrm>
              <a:off x="1064610" y="3943397"/>
              <a:ext cx="4013492" cy="195262"/>
            </a:xfrm>
            <a:custGeom>
              <a:avLst/>
              <a:gdLst>
                <a:gd name="connsiteX0" fmla="*/ 2552700 w 4562475"/>
                <a:gd name="connsiteY0" fmla="*/ 195262 h 195262"/>
                <a:gd name="connsiteX1" fmla="*/ 3600450 w 4562475"/>
                <a:gd name="connsiteY1" fmla="*/ 195262 h 195262"/>
                <a:gd name="connsiteX2" fmla="*/ 4562475 w 4562475"/>
                <a:gd name="connsiteY2" fmla="*/ 0 h 195262"/>
                <a:gd name="connsiteX3" fmla="*/ 0 w 4562475"/>
                <a:gd name="connsiteY3" fmla="*/ 0 h 195262"/>
                <a:gd name="connsiteX4" fmla="*/ 2552700 w 4562475"/>
                <a:gd name="connsiteY4" fmla="*/ 195262 h 1952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2475" h="195262">
                  <a:moveTo>
                    <a:pt x="2552700" y="195262"/>
                  </a:moveTo>
                  <a:lnTo>
                    <a:pt x="3600450" y="195262"/>
                  </a:lnTo>
                  <a:lnTo>
                    <a:pt x="4562475" y="0"/>
                  </a:lnTo>
                  <a:lnTo>
                    <a:pt x="0" y="0"/>
                  </a:lnTo>
                  <a:lnTo>
                    <a:pt x="2552700" y="195262"/>
                  </a:lnTo>
                  <a:close/>
                </a:path>
              </a:pathLst>
            </a:custGeom>
            <a:gradFill>
              <a:gsLst>
                <a:gs pos="0">
                  <a:schemeClr val="accent1">
                    <a:alpha val="30000"/>
                  </a:schemeClr>
                </a:gs>
                <a:gs pos="100000">
                  <a:schemeClr val="accent1">
                    <a:alpha val="0"/>
                  </a:scheme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0" name="任意多边形: 形状 19">
              <a:extLst>
                <a:ext uri="{FF2B5EF4-FFF2-40B4-BE49-F238E27FC236}">
                  <a16:creationId xmlns:a16="http://schemas.microsoft.com/office/drawing/2014/main" id="{357FB65C-0A83-ABDE-A352-DD2F29CE1D1D}"/>
                </a:ext>
              </a:extLst>
            </p:cNvPr>
            <p:cNvSpPr/>
            <p:nvPr/>
          </p:nvSpPr>
          <p:spPr>
            <a:xfrm>
              <a:off x="1085557" y="3938634"/>
              <a:ext cx="4545552" cy="200025"/>
            </a:xfrm>
            <a:custGeom>
              <a:avLst/>
              <a:gdLst>
                <a:gd name="connsiteX0" fmla="*/ 5167313 w 5167313"/>
                <a:gd name="connsiteY0" fmla="*/ 200025 h 200025"/>
                <a:gd name="connsiteX1" fmla="*/ 4138613 w 5167313"/>
                <a:gd name="connsiteY1" fmla="*/ 200025 h 200025"/>
                <a:gd name="connsiteX2" fmla="*/ 0 w 5167313"/>
                <a:gd name="connsiteY2" fmla="*/ 0 h 200025"/>
                <a:gd name="connsiteX3" fmla="*/ 4538663 w 5167313"/>
                <a:gd name="connsiteY3" fmla="*/ 0 h 200025"/>
                <a:gd name="connsiteX4" fmla="*/ 5167313 w 5167313"/>
                <a:gd name="connsiteY4" fmla="*/ 200025 h 200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67313" h="200025">
                  <a:moveTo>
                    <a:pt x="5167313" y="200025"/>
                  </a:moveTo>
                  <a:lnTo>
                    <a:pt x="4138613" y="200025"/>
                  </a:lnTo>
                  <a:lnTo>
                    <a:pt x="0" y="0"/>
                  </a:lnTo>
                  <a:lnTo>
                    <a:pt x="4538663" y="0"/>
                  </a:lnTo>
                  <a:lnTo>
                    <a:pt x="5167313" y="200025"/>
                  </a:lnTo>
                  <a:close/>
                </a:path>
              </a:pathLst>
            </a:custGeom>
            <a:gradFill>
              <a:gsLst>
                <a:gs pos="0">
                  <a:schemeClr val="accent1">
                    <a:alpha val="30000"/>
                  </a:schemeClr>
                </a:gs>
                <a:gs pos="100000">
                  <a:schemeClr val="accent1">
                    <a:alpha val="0"/>
                  </a:scheme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21" name="组合 20">
            <a:extLst>
              <a:ext uri="{FF2B5EF4-FFF2-40B4-BE49-F238E27FC236}">
                <a16:creationId xmlns:a16="http://schemas.microsoft.com/office/drawing/2014/main" id="{A337F25B-75BB-78BD-8329-594463BC8D29}"/>
              </a:ext>
            </a:extLst>
          </p:cNvPr>
          <p:cNvGrpSpPr/>
          <p:nvPr/>
        </p:nvGrpSpPr>
        <p:grpSpPr>
          <a:xfrm>
            <a:off x="2219490" y="2028529"/>
            <a:ext cx="1906711" cy="400110"/>
            <a:chOff x="2033153" y="2026823"/>
            <a:chExt cx="1906711" cy="400110"/>
          </a:xfrm>
        </p:grpSpPr>
        <p:sp>
          <p:nvSpPr>
            <p:cNvPr id="22" name="矩形: 圆角 21">
              <a:extLst>
                <a:ext uri="{FF2B5EF4-FFF2-40B4-BE49-F238E27FC236}">
                  <a16:creationId xmlns:a16="http://schemas.microsoft.com/office/drawing/2014/main" id="{56F2A4A9-3F6C-758C-AEC2-E8A9455B3278}"/>
                </a:ext>
              </a:extLst>
            </p:cNvPr>
            <p:cNvSpPr/>
            <p:nvPr/>
          </p:nvSpPr>
          <p:spPr>
            <a:xfrm>
              <a:off x="2033153" y="2027933"/>
              <a:ext cx="1906711" cy="397891"/>
            </a:xfrm>
            <a:prstGeom prst="roundRect">
              <a:avLst>
                <a:gd name="adj" fmla="val 50000"/>
              </a:avLst>
            </a:prstGeom>
            <a:gradFill flip="none" rotWithShape="1">
              <a:gsLst>
                <a:gs pos="0">
                  <a:schemeClr val="accent1">
                    <a:alpha val="10000"/>
                  </a:schemeClr>
                </a:gs>
                <a:gs pos="30000">
                  <a:schemeClr val="accent1">
                    <a:alpha val="0"/>
                  </a:schemeClr>
                </a:gs>
                <a:gs pos="100000">
                  <a:schemeClr val="accent1">
                    <a:alpha val="10000"/>
                  </a:schemeClr>
                </a:gs>
                <a:gs pos="70000">
                  <a:schemeClr val="accent1">
                    <a:alpha val="0"/>
                  </a:schemeClr>
                </a:gs>
              </a:gsLst>
              <a:lin ang="2700000" scaled="1"/>
              <a:tileRect/>
            </a:gradFill>
            <a:ln w="3175" cap="flat" cmpd="sng" algn="ctr">
              <a:solidFill>
                <a:srgbClr val="0249A1">
                  <a:alpha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3" name="文本框 22">
              <a:extLst>
                <a:ext uri="{FF2B5EF4-FFF2-40B4-BE49-F238E27FC236}">
                  <a16:creationId xmlns:a16="http://schemas.microsoft.com/office/drawing/2014/main" id="{92C5F401-9FE6-D01C-68E1-0975F2BDFCF9}"/>
                </a:ext>
              </a:extLst>
            </p:cNvPr>
            <p:cNvSpPr txBox="1"/>
            <p:nvPr/>
          </p:nvSpPr>
          <p:spPr>
            <a:xfrm>
              <a:off x="2459548" y="2026823"/>
              <a:ext cx="1053920" cy="400110"/>
            </a:xfrm>
            <a:prstGeom prst="rect">
              <a:avLst/>
            </a:prstGeom>
            <a:noFill/>
          </p:spPr>
          <p:txBody>
            <a:bodyPr wrap="square">
              <a:spAutoFit/>
            </a:bodyPr>
            <a:lstStyle/>
            <a:p>
              <a:pPr marL="0" marR="0" lvl="0" indent="0" algn="dist" defTabSz="914400" eaLnBrk="1" fontAlgn="auto" latinLnBrk="0" hangingPunct="1">
                <a:lnSpc>
                  <a:spcPct val="100000"/>
                </a:lnSpc>
                <a:spcBef>
                  <a:spcPct val="0"/>
                </a:spcBef>
                <a:spcAft>
                  <a:spcPts val="0"/>
                </a:spcAft>
                <a:buClrTx/>
                <a:buSzTx/>
                <a:buFontTx/>
                <a:buNone/>
                <a:tabLst/>
                <a:defRPr/>
              </a:pPr>
              <a:r>
                <a:rPr kumimoji="0" lang="zh-CN" altLang="en-US" sz="2000" b="1" i="0" u="none" strike="noStrike" kern="0" cap="none" spc="15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sym typeface="+mn-ea"/>
                </a:rPr>
                <a:t>成果一</a:t>
              </a:r>
            </a:p>
          </p:txBody>
        </p:sp>
      </p:grpSp>
      <p:grpSp>
        <p:nvGrpSpPr>
          <p:cNvPr id="24" name="组合 23">
            <a:extLst>
              <a:ext uri="{FF2B5EF4-FFF2-40B4-BE49-F238E27FC236}">
                <a16:creationId xmlns:a16="http://schemas.microsoft.com/office/drawing/2014/main" id="{1E948EF5-ABCA-ABBC-67C4-B88F8DF67D24}"/>
              </a:ext>
            </a:extLst>
          </p:cNvPr>
          <p:cNvGrpSpPr/>
          <p:nvPr/>
        </p:nvGrpSpPr>
        <p:grpSpPr>
          <a:xfrm>
            <a:off x="5694416" y="2028529"/>
            <a:ext cx="1906711" cy="400110"/>
            <a:chOff x="2033153" y="2026823"/>
            <a:chExt cx="1906711" cy="400110"/>
          </a:xfrm>
        </p:grpSpPr>
        <p:sp>
          <p:nvSpPr>
            <p:cNvPr id="25" name="矩形: 圆角 24">
              <a:extLst>
                <a:ext uri="{FF2B5EF4-FFF2-40B4-BE49-F238E27FC236}">
                  <a16:creationId xmlns:a16="http://schemas.microsoft.com/office/drawing/2014/main" id="{ABB2AA48-84F2-78A0-636A-B843AF0BE02F}"/>
                </a:ext>
              </a:extLst>
            </p:cNvPr>
            <p:cNvSpPr/>
            <p:nvPr/>
          </p:nvSpPr>
          <p:spPr>
            <a:xfrm>
              <a:off x="2033153" y="2027933"/>
              <a:ext cx="1906711" cy="397891"/>
            </a:xfrm>
            <a:prstGeom prst="roundRect">
              <a:avLst>
                <a:gd name="adj" fmla="val 50000"/>
              </a:avLst>
            </a:prstGeom>
            <a:gradFill flip="none" rotWithShape="1">
              <a:gsLst>
                <a:gs pos="0">
                  <a:schemeClr val="accent1">
                    <a:alpha val="10000"/>
                  </a:schemeClr>
                </a:gs>
                <a:gs pos="30000">
                  <a:schemeClr val="accent1">
                    <a:alpha val="0"/>
                  </a:schemeClr>
                </a:gs>
                <a:gs pos="100000">
                  <a:schemeClr val="accent1">
                    <a:alpha val="10000"/>
                  </a:schemeClr>
                </a:gs>
                <a:gs pos="70000">
                  <a:schemeClr val="accent1">
                    <a:alpha val="0"/>
                  </a:schemeClr>
                </a:gs>
              </a:gsLst>
              <a:lin ang="2700000" scaled="1"/>
              <a:tileRect/>
            </a:gradFill>
            <a:ln w="3175" cap="flat" cmpd="sng" algn="ctr">
              <a:solidFill>
                <a:srgbClr val="0249A1">
                  <a:alpha val="50000"/>
                </a:srgbClr>
              </a:solid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26" name="文本框 25">
              <a:extLst>
                <a:ext uri="{FF2B5EF4-FFF2-40B4-BE49-F238E27FC236}">
                  <a16:creationId xmlns:a16="http://schemas.microsoft.com/office/drawing/2014/main" id="{B38D0028-98C4-6B15-9865-E694273DC8B7}"/>
                </a:ext>
              </a:extLst>
            </p:cNvPr>
            <p:cNvSpPr txBox="1"/>
            <p:nvPr/>
          </p:nvSpPr>
          <p:spPr>
            <a:xfrm>
              <a:off x="2459548" y="2026823"/>
              <a:ext cx="1053920" cy="400110"/>
            </a:xfrm>
            <a:prstGeom prst="rect">
              <a:avLst/>
            </a:prstGeom>
            <a:noFill/>
          </p:spPr>
          <p:txBody>
            <a:bodyPr wrap="square">
              <a:spAutoFit/>
            </a:bodyPr>
            <a:lstStyle/>
            <a:p>
              <a:pPr marL="0" marR="0" lvl="0" indent="0" algn="dist" defTabSz="914400" eaLnBrk="1" fontAlgn="auto" latinLnBrk="0" hangingPunct="1">
                <a:lnSpc>
                  <a:spcPct val="100000"/>
                </a:lnSpc>
                <a:spcBef>
                  <a:spcPct val="0"/>
                </a:spcBef>
                <a:spcAft>
                  <a:spcPts val="0"/>
                </a:spcAft>
                <a:buClrTx/>
                <a:buSzTx/>
                <a:buFontTx/>
                <a:buNone/>
                <a:tabLst/>
                <a:defRPr/>
              </a:pPr>
              <a:r>
                <a:rPr kumimoji="0" lang="zh-CN" altLang="en-US" sz="2000" b="1" i="0" u="none" strike="noStrike" kern="0" cap="none" spc="15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sym typeface="+mn-ea"/>
                </a:rPr>
                <a:t>成果二</a:t>
              </a:r>
            </a:p>
          </p:txBody>
        </p:sp>
      </p:grpSp>
      <p:grpSp>
        <p:nvGrpSpPr>
          <p:cNvPr id="35" name="组合 34">
            <a:extLst>
              <a:ext uri="{FF2B5EF4-FFF2-40B4-BE49-F238E27FC236}">
                <a16:creationId xmlns:a16="http://schemas.microsoft.com/office/drawing/2014/main" id="{2ABD8B06-C8C6-7EBA-AE9B-6C0A373452D9}"/>
              </a:ext>
            </a:extLst>
          </p:cNvPr>
          <p:cNvGrpSpPr/>
          <p:nvPr/>
        </p:nvGrpSpPr>
        <p:grpSpPr>
          <a:xfrm>
            <a:off x="9169342" y="2028529"/>
            <a:ext cx="1906711" cy="400110"/>
            <a:chOff x="2033153" y="2026823"/>
            <a:chExt cx="1906711" cy="400110"/>
          </a:xfrm>
        </p:grpSpPr>
        <p:sp>
          <p:nvSpPr>
            <p:cNvPr id="36" name="矩形: 圆角 35">
              <a:extLst>
                <a:ext uri="{FF2B5EF4-FFF2-40B4-BE49-F238E27FC236}">
                  <a16:creationId xmlns:a16="http://schemas.microsoft.com/office/drawing/2014/main" id="{6A045275-8036-6984-3C30-7A1B96368070}"/>
                </a:ext>
              </a:extLst>
            </p:cNvPr>
            <p:cNvSpPr/>
            <p:nvPr/>
          </p:nvSpPr>
          <p:spPr>
            <a:xfrm>
              <a:off x="2033153" y="2027933"/>
              <a:ext cx="1906711" cy="397891"/>
            </a:xfrm>
            <a:prstGeom prst="roundRect">
              <a:avLst>
                <a:gd name="adj" fmla="val 50000"/>
              </a:avLst>
            </a:prstGeom>
            <a:gradFill flip="none" rotWithShape="1">
              <a:gsLst>
                <a:gs pos="0">
                  <a:schemeClr val="accent1">
                    <a:alpha val="10000"/>
                  </a:schemeClr>
                </a:gs>
                <a:gs pos="30000">
                  <a:schemeClr val="accent1">
                    <a:alpha val="0"/>
                  </a:schemeClr>
                </a:gs>
                <a:gs pos="100000">
                  <a:schemeClr val="accent1">
                    <a:alpha val="10000"/>
                  </a:schemeClr>
                </a:gs>
                <a:gs pos="70000">
                  <a:schemeClr val="accent1">
                    <a:alpha val="0"/>
                  </a:schemeClr>
                </a:gs>
              </a:gsLst>
              <a:lin ang="2700000" scaled="1"/>
              <a:tileRect/>
            </a:gradFill>
            <a:ln w="3175" cap="flat" cmpd="sng" algn="ctr">
              <a:solidFill>
                <a:srgbClr val="0249A1">
                  <a:alpha val="50000"/>
                </a:srgbClr>
              </a:solid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37" name="文本框 36">
              <a:extLst>
                <a:ext uri="{FF2B5EF4-FFF2-40B4-BE49-F238E27FC236}">
                  <a16:creationId xmlns:a16="http://schemas.microsoft.com/office/drawing/2014/main" id="{C7722346-123C-7DEC-235E-D36422CD5622}"/>
                </a:ext>
              </a:extLst>
            </p:cNvPr>
            <p:cNvSpPr txBox="1"/>
            <p:nvPr/>
          </p:nvSpPr>
          <p:spPr>
            <a:xfrm>
              <a:off x="2459548" y="2026823"/>
              <a:ext cx="1053920" cy="400110"/>
            </a:xfrm>
            <a:prstGeom prst="rect">
              <a:avLst/>
            </a:prstGeom>
            <a:noFill/>
          </p:spPr>
          <p:txBody>
            <a:bodyPr wrap="square">
              <a:spAutoFit/>
            </a:bodyPr>
            <a:lstStyle/>
            <a:p>
              <a:pPr marL="0" marR="0" lvl="0" indent="0" algn="dist" defTabSz="914400" eaLnBrk="1" fontAlgn="auto" latinLnBrk="0" hangingPunct="1">
                <a:lnSpc>
                  <a:spcPct val="100000"/>
                </a:lnSpc>
                <a:spcBef>
                  <a:spcPct val="0"/>
                </a:spcBef>
                <a:spcAft>
                  <a:spcPts val="0"/>
                </a:spcAft>
                <a:buClrTx/>
                <a:buSzTx/>
                <a:buFontTx/>
                <a:buNone/>
                <a:tabLst/>
                <a:defRPr/>
              </a:pPr>
              <a:r>
                <a:rPr kumimoji="0" lang="zh-CN" altLang="en-US" sz="2000" b="1" i="0" u="none" strike="noStrike" kern="0" cap="none" spc="15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sym typeface="+mn-ea"/>
                </a:rPr>
                <a:t>成果三</a:t>
              </a:r>
            </a:p>
          </p:txBody>
        </p:sp>
      </p:grpSp>
      <p:sp>
        <p:nvSpPr>
          <p:cNvPr id="38" name="矩形: 圆角 37">
            <a:extLst>
              <a:ext uri="{FF2B5EF4-FFF2-40B4-BE49-F238E27FC236}">
                <a16:creationId xmlns:a16="http://schemas.microsoft.com/office/drawing/2014/main" id="{BA3777C8-6A7C-0AF8-37BB-17F0D6E24F82}"/>
              </a:ext>
            </a:extLst>
          </p:cNvPr>
          <p:cNvSpPr/>
          <p:nvPr/>
        </p:nvSpPr>
        <p:spPr>
          <a:xfrm flipH="1">
            <a:off x="475463" y="2909026"/>
            <a:ext cx="1262062" cy="825500"/>
          </a:xfrm>
          <a:prstGeom prst="roundRect">
            <a:avLst>
              <a:gd name="adj" fmla="val 0"/>
            </a:avLst>
          </a:prstGeom>
          <a:gradFill>
            <a:gsLst>
              <a:gs pos="100000">
                <a:schemeClr val="accent2">
                  <a:alpha val="10000"/>
                </a:schemeClr>
              </a:gs>
              <a:gs pos="0">
                <a:schemeClr val="accent2">
                  <a:alpha val="0"/>
                </a:schemeClr>
              </a:gs>
            </a:gsLst>
            <a:lin ang="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9" name="文本框 38">
            <a:extLst>
              <a:ext uri="{FF2B5EF4-FFF2-40B4-BE49-F238E27FC236}">
                <a16:creationId xmlns:a16="http://schemas.microsoft.com/office/drawing/2014/main" id="{7D23964C-1875-6C93-78D7-0165D5A1151B}"/>
              </a:ext>
            </a:extLst>
          </p:cNvPr>
          <p:cNvSpPr txBox="1"/>
          <p:nvPr/>
        </p:nvSpPr>
        <p:spPr>
          <a:xfrm>
            <a:off x="578503" y="3090944"/>
            <a:ext cx="910842" cy="461665"/>
          </a:xfrm>
          <a:prstGeom prst="rect">
            <a:avLst/>
          </a:prstGeom>
          <a:noFill/>
        </p:spPr>
        <p:txBody>
          <a:bodyPr wrap="square">
            <a:spAutoFit/>
          </a:bodyPr>
          <a:lstStyle/>
          <a:p>
            <a:pPr algn="ctr"/>
            <a:r>
              <a:rPr lang="zh-CN" altLang="en-US" sz="2400" b="1" dirty="0">
                <a:solidFill>
                  <a:schemeClr val="accent1"/>
                </a:solidFill>
                <a:latin typeface="微软雅黑" panose="020B0503020204020204" pitchFamily="34" charset="-122"/>
                <a:ea typeface="微软雅黑" panose="020B0503020204020204" pitchFamily="34" charset="-122"/>
                <a:cs typeface="+mn-ea"/>
              </a:rPr>
              <a:t>问 题</a:t>
            </a:r>
          </a:p>
        </p:txBody>
      </p:sp>
      <p:sp>
        <p:nvSpPr>
          <p:cNvPr id="40" name="矩形: 圆角 39">
            <a:extLst>
              <a:ext uri="{FF2B5EF4-FFF2-40B4-BE49-F238E27FC236}">
                <a16:creationId xmlns:a16="http://schemas.microsoft.com/office/drawing/2014/main" id="{4FE91C36-DE1D-7ECE-23BA-505ED9EC4BCD}"/>
              </a:ext>
            </a:extLst>
          </p:cNvPr>
          <p:cNvSpPr/>
          <p:nvPr/>
        </p:nvSpPr>
        <p:spPr>
          <a:xfrm flipH="1">
            <a:off x="475463" y="4187718"/>
            <a:ext cx="1262062" cy="825500"/>
          </a:xfrm>
          <a:prstGeom prst="roundRect">
            <a:avLst>
              <a:gd name="adj" fmla="val 0"/>
            </a:avLst>
          </a:prstGeom>
          <a:gradFill>
            <a:gsLst>
              <a:gs pos="100000">
                <a:schemeClr val="accent2">
                  <a:alpha val="10000"/>
                </a:schemeClr>
              </a:gs>
              <a:gs pos="0">
                <a:schemeClr val="accent2">
                  <a:alpha val="0"/>
                </a:schemeClr>
              </a:gs>
            </a:gsLst>
            <a:lin ang="0" scaled="1"/>
          </a:gradFill>
          <a:ln w="12700" cap="flat" cmpd="sng" algn="ctr">
            <a:no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41" name="文本框 40">
            <a:extLst>
              <a:ext uri="{FF2B5EF4-FFF2-40B4-BE49-F238E27FC236}">
                <a16:creationId xmlns:a16="http://schemas.microsoft.com/office/drawing/2014/main" id="{58F343BA-F168-2AE3-87BE-36512791E7F7}"/>
              </a:ext>
            </a:extLst>
          </p:cNvPr>
          <p:cNvSpPr txBox="1"/>
          <p:nvPr/>
        </p:nvSpPr>
        <p:spPr>
          <a:xfrm>
            <a:off x="578503" y="4369636"/>
            <a:ext cx="910842" cy="461665"/>
          </a:xfrm>
          <a:prstGeom prst="rect">
            <a:avLst/>
          </a:prstGeom>
          <a:noFill/>
        </p:spPr>
        <p:txBody>
          <a:bodyPr wrap="square">
            <a:spAutoFit/>
          </a:bodyPr>
          <a:lstStyle/>
          <a:p>
            <a:pPr algn="ctr"/>
            <a:r>
              <a:rPr lang="zh-CN" altLang="en-US" sz="2400" b="1" dirty="0">
                <a:solidFill>
                  <a:schemeClr val="accent1"/>
                </a:solidFill>
                <a:latin typeface="微软雅黑" panose="020B0503020204020204" pitchFamily="34" charset="-122"/>
                <a:ea typeface="微软雅黑" panose="020B0503020204020204" pitchFamily="34" charset="-122"/>
                <a:cs typeface="+mn-ea"/>
              </a:rPr>
              <a:t>思 路</a:t>
            </a:r>
          </a:p>
        </p:txBody>
      </p:sp>
      <p:sp>
        <p:nvSpPr>
          <p:cNvPr id="51" name="矩形: 圆角 50">
            <a:extLst>
              <a:ext uri="{FF2B5EF4-FFF2-40B4-BE49-F238E27FC236}">
                <a16:creationId xmlns:a16="http://schemas.microsoft.com/office/drawing/2014/main" id="{905CECEA-C436-4B9B-27CE-15031E7216DF}"/>
              </a:ext>
            </a:extLst>
          </p:cNvPr>
          <p:cNvSpPr/>
          <p:nvPr/>
        </p:nvSpPr>
        <p:spPr>
          <a:xfrm flipH="1">
            <a:off x="475463" y="5466411"/>
            <a:ext cx="1262062" cy="825500"/>
          </a:xfrm>
          <a:prstGeom prst="roundRect">
            <a:avLst>
              <a:gd name="adj" fmla="val 0"/>
            </a:avLst>
          </a:prstGeom>
          <a:gradFill>
            <a:gsLst>
              <a:gs pos="100000">
                <a:schemeClr val="accent2">
                  <a:alpha val="10000"/>
                </a:schemeClr>
              </a:gs>
              <a:gs pos="0">
                <a:schemeClr val="accent2">
                  <a:alpha val="0"/>
                </a:schemeClr>
              </a:gs>
            </a:gsLst>
            <a:lin ang="0" scaled="1"/>
          </a:gradFill>
          <a:ln w="12700" cap="flat" cmpd="sng" algn="ctr">
            <a:no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52" name="文本框 51">
            <a:extLst>
              <a:ext uri="{FF2B5EF4-FFF2-40B4-BE49-F238E27FC236}">
                <a16:creationId xmlns:a16="http://schemas.microsoft.com/office/drawing/2014/main" id="{9C855167-6E48-7646-F165-2DDF82402DFA}"/>
              </a:ext>
            </a:extLst>
          </p:cNvPr>
          <p:cNvSpPr txBox="1"/>
          <p:nvPr/>
        </p:nvSpPr>
        <p:spPr>
          <a:xfrm>
            <a:off x="578503" y="5648329"/>
            <a:ext cx="910842" cy="461665"/>
          </a:xfrm>
          <a:prstGeom prst="rect">
            <a:avLst/>
          </a:prstGeom>
          <a:noFill/>
        </p:spPr>
        <p:txBody>
          <a:bodyPr wrap="square">
            <a:spAutoFit/>
          </a:bodyPr>
          <a:lstStyle/>
          <a:p>
            <a:pPr algn="ctr"/>
            <a:r>
              <a:rPr lang="zh-CN" altLang="en-US" sz="2400" b="1" dirty="0">
                <a:solidFill>
                  <a:schemeClr val="accent1"/>
                </a:solidFill>
                <a:latin typeface="微软雅黑" panose="020B0503020204020204" pitchFamily="34" charset="-122"/>
                <a:ea typeface="微软雅黑" panose="020B0503020204020204" pitchFamily="34" charset="-122"/>
                <a:cs typeface="+mn-ea"/>
              </a:rPr>
              <a:t>技 术</a:t>
            </a:r>
          </a:p>
        </p:txBody>
      </p:sp>
      <p:sp>
        <p:nvSpPr>
          <p:cNvPr id="53" name="矩形 52">
            <a:extLst>
              <a:ext uri="{FF2B5EF4-FFF2-40B4-BE49-F238E27FC236}">
                <a16:creationId xmlns:a16="http://schemas.microsoft.com/office/drawing/2014/main" id="{4E0BF1BB-346F-55F9-9689-106CA5E9BC1C}"/>
              </a:ext>
            </a:extLst>
          </p:cNvPr>
          <p:cNvSpPr/>
          <p:nvPr/>
        </p:nvSpPr>
        <p:spPr>
          <a:xfrm>
            <a:off x="1592492" y="2612138"/>
            <a:ext cx="3160706" cy="3976661"/>
          </a:xfrm>
          <a:prstGeom prst="rect">
            <a:avLst/>
          </a:prstGeom>
          <a:solidFill>
            <a:sysClr val="window" lastClr="FFFFFF"/>
          </a:solidFill>
          <a:ln w="3175" cap="flat" cmpd="sng" algn="ctr">
            <a:gradFill flip="none" rotWithShape="1">
              <a:gsLst>
                <a:gs pos="0">
                  <a:schemeClr val="accent1">
                    <a:alpha val="50000"/>
                  </a:schemeClr>
                </a:gs>
                <a:gs pos="100000">
                  <a:schemeClr val="accent1">
                    <a:alpha val="0"/>
                  </a:schemeClr>
                </a:gs>
              </a:gsLst>
              <a:lin ang="5400000" scaled="1"/>
              <a:tileRect/>
            </a:gradFill>
            <a:prstDash val="solid"/>
            <a:miter lim="800000"/>
          </a:ln>
          <a:effectLst>
            <a:outerShdw blurRad="190500" dist="25400" algn="ctr" rotWithShape="0">
              <a:schemeClr val="accent1">
                <a:alpha val="8000"/>
              </a:scheme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4" name="矩形 53">
            <a:extLst>
              <a:ext uri="{FF2B5EF4-FFF2-40B4-BE49-F238E27FC236}">
                <a16:creationId xmlns:a16="http://schemas.microsoft.com/office/drawing/2014/main" id="{D16C79F1-6191-5EFA-B569-569A4A32FD81}"/>
              </a:ext>
            </a:extLst>
          </p:cNvPr>
          <p:cNvSpPr/>
          <p:nvPr/>
        </p:nvSpPr>
        <p:spPr>
          <a:xfrm>
            <a:off x="5067418" y="2612138"/>
            <a:ext cx="3160706" cy="3976661"/>
          </a:xfrm>
          <a:prstGeom prst="rect">
            <a:avLst/>
          </a:prstGeom>
          <a:solidFill>
            <a:sysClr val="window" lastClr="FFFFFF"/>
          </a:solidFill>
          <a:ln w="3175" cap="flat" cmpd="sng" algn="ctr">
            <a:gradFill flip="none" rotWithShape="1">
              <a:gsLst>
                <a:gs pos="0">
                  <a:schemeClr val="accent1">
                    <a:alpha val="50000"/>
                  </a:schemeClr>
                </a:gs>
                <a:gs pos="100000">
                  <a:schemeClr val="accent1">
                    <a:alpha val="0"/>
                  </a:schemeClr>
                </a:gs>
              </a:gsLst>
              <a:lin ang="5400000" scaled="1"/>
              <a:tileRect/>
            </a:gradFill>
            <a:prstDash val="solid"/>
            <a:miter lim="800000"/>
          </a:ln>
          <a:effectLst>
            <a:outerShdw blurRad="190500" dist="25400" algn="ctr" rotWithShape="0">
              <a:schemeClr val="accent1">
                <a:alpha val="8000"/>
              </a:schemeClr>
            </a:outerShdw>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55" name="矩形 54">
            <a:extLst>
              <a:ext uri="{FF2B5EF4-FFF2-40B4-BE49-F238E27FC236}">
                <a16:creationId xmlns:a16="http://schemas.microsoft.com/office/drawing/2014/main" id="{D12842D0-00DC-D431-3515-614FA2B126BE}"/>
              </a:ext>
            </a:extLst>
          </p:cNvPr>
          <p:cNvSpPr/>
          <p:nvPr/>
        </p:nvSpPr>
        <p:spPr>
          <a:xfrm>
            <a:off x="8542344" y="2612138"/>
            <a:ext cx="3160706" cy="3976661"/>
          </a:xfrm>
          <a:prstGeom prst="rect">
            <a:avLst/>
          </a:prstGeom>
          <a:solidFill>
            <a:sysClr val="window" lastClr="FFFFFF"/>
          </a:solidFill>
          <a:ln w="3175" cap="flat" cmpd="sng" algn="ctr">
            <a:gradFill flip="none" rotWithShape="1">
              <a:gsLst>
                <a:gs pos="0">
                  <a:schemeClr val="accent1">
                    <a:alpha val="50000"/>
                  </a:schemeClr>
                </a:gs>
                <a:gs pos="100000">
                  <a:schemeClr val="accent1">
                    <a:alpha val="0"/>
                  </a:schemeClr>
                </a:gs>
              </a:gsLst>
              <a:lin ang="5400000" scaled="1"/>
              <a:tileRect/>
            </a:gradFill>
            <a:prstDash val="solid"/>
            <a:miter lim="800000"/>
          </a:ln>
          <a:effectLst>
            <a:outerShdw blurRad="190500" dist="25400" algn="ctr" rotWithShape="0">
              <a:schemeClr val="accent1">
                <a:alpha val="8000"/>
              </a:schemeClr>
            </a:outerShdw>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56" name="矩形 55">
            <a:extLst>
              <a:ext uri="{FF2B5EF4-FFF2-40B4-BE49-F238E27FC236}">
                <a16:creationId xmlns:a16="http://schemas.microsoft.com/office/drawing/2014/main" id="{4AC2AEAD-5504-5947-BA36-366E67D5A7D1}"/>
              </a:ext>
            </a:extLst>
          </p:cNvPr>
          <p:cNvSpPr/>
          <p:nvPr/>
        </p:nvSpPr>
        <p:spPr>
          <a:xfrm>
            <a:off x="1592385" y="2901845"/>
            <a:ext cx="3160706" cy="832680"/>
          </a:xfrm>
          <a:prstGeom prst="rect">
            <a:avLst/>
          </a:prstGeom>
          <a:solidFill>
            <a:schemeClr val="accent2">
              <a:alpha val="7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7" name="矩形 56">
            <a:extLst>
              <a:ext uri="{FF2B5EF4-FFF2-40B4-BE49-F238E27FC236}">
                <a16:creationId xmlns:a16="http://schemas.microsoft.com/office/drawing/2014/main" id="{7C14FEFA-3FA9-FF21-A0EC-C5BC22762BDB}"/>
              </a:ext>
            </a:extLst>
          </p:cNvPr>
          <p:cNvSpPr/>
          <p:nvPr/>
        </p:nvSpPr>
        <p:spPr>
          <a:xfrm>
            <a:off x="5067418" y="2901845"/>
            <a:ext cx="3160706" cy="832680"/>
          </a:xfrm>
          <a:prstGeom prst="rect">
            <a:avLst/>
          </a:prstGeom>
          <a:solidFill>
            <a:schemeClr val="accent2">
              <a:alpha val="7000"/>
            </a:schemeClr>
          </a:solidFill>
          <a:ln w="12700" cap="flat" cmpd="sng" algn="ctr">
            <a:no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58" name="矩形 57">
            <a:extLst>
              <a:ext uri="{FF2B5EF4-FFF2-40B4-BE49-F238E27FC236}">
                <a16:creationId xmlns:a16="http://schemas.microsoft.com/office/drawing/2014/main" id="{64959D66-F3F3-D977-9C4D-D3ED3F39250A}"/>
              </a:ext>
            </a:extLst>
          </p:cNvPr>
          <p:cNvSpPr/>
          <p:nvPr/>
        </p:nvSpPr>
        <p:spPr>
          <a:xfrm>
            <a:off x="8542344" y="2901845"/>
            <a:ext cx="3160706" cy="832680"/>
          </a:xfrm>
          <a:prstGeom prst="rect">
            <a:avLst/>
          </a:prstGeom>
          <a:solidFill>
            <a:schemeClr val="accent2">
              <a:alpha val="7000"/>
            </a:schemeClr>
          </a:solidFill>
          <a:ln w="12700" cap="flat" cmpd="sng" algn="ctr">
            <a:no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59" name="等腰三角形 58">
            <a:extLst>
              <a:ext uri="{FF2B5EF4-FFF2-40B4-BE49-F238E27FC236}">
                <a16:creationId xmlns:a16="http://schemas.microsoft.com/office/drawing/2014/main" id="{D59EDA26-FD78-12C7-586B-35D6B8EBC0B1}"/>
              </a:ext>
            </a:extLst>
          </p:cNvPr>
          <p:cNvSpPr/>
          <p:nvPr/>
        </p:nvSpPr>
        <p:spPr>
          <a:xfrm flipV="1">
            <a:off x="3065642" y="3828502"/>
            <a:ext cx="214192" cy="111065"/>
          </a:xfrm>
          <a:prstGeom prst="triangle">
            <a:avLst/>
          </a:prstGeom>
          <a:solidFill>
            <a:schemeClr val="accent1"/>
          </a:solidFill>
          <a:ln w="12700" cap="flat" cmpd="sng" algn="ctr">
            <a:noFill/>
            <a:prstDash val="solid"/>
            <a:miter lim="800000"/>
          </a:ln>
          <a:effectLst>
            <a:outerShdw blurRad="76200" sx="102000" sy="1020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60" name="等腰三角形 59">
            <a:extLst>
              <a:ext uri="{FF2B5EF4-FFF2-40B4-BE49-F238E27FC236}">
                <a16:creationId xmlns:a16="http://schemas.microsoft.com/office/drawing/2014/main" id="{3452B0F5-AC3C-96DF-2AB7-962C02284681}"/>
              </a:ext>
            </a:extLst>
          </p:cNvPr>
          <p:cNvSpPr/>
          <p:nvPr/>
        </p:nvSpPr>
        <p:spPr>
          <a:xfrm flipV="1">
            <a:off x="6540675" y="3854708"/>
            <a:ext cx="214192" cy="111065"/>
          </a:xfrm>
          <a:prstGeom prst="triangle">
            <a:avLst/>
          </a:prstGeom>
          <a:solidFill>
            <a:schemeClr val="accent1"/>
          </a:solidFill>
          <a:ln w="12700" cap="flat" cmpd="sng" algn="ctr">
            <a:noFill/>
            <a:prstDash val="solid"/>
            <a:miter lim="800000"/>
          </a:ln>
          <a:effectLst>
            <a:outerShdw blurRad="76200" sx="102000" sy="1020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61" name="等腰三角形 60">
            <a:extLst>
              <a:ext uri="{FF2B5EF4-FFF2-40B4-BE49-F238E27FC236}">
                <a16:creationId xmlns:a16="http://schemas.microsoft.com/office/drawing/2014/main" id="{43983FB1-228E-6A9D-5963-092096A90D04}"/>
              </a:ext>
            </a:extLst>
          </p:cNvPr>
          <p:cNvSpPr/>
          <p:nvPr/>
        </p:nvSpPr>
        <p:spPr>
          <a:xfrm flipV="1">
            <a:off x="10015601" y="3854708"/>
            <a:ext cx="214192" cy="111065"/>
          </a:xfrm>
          <a:prstGeom prst="triangle">
            <a:avLst/>
          </a:prstGeom>
          <a:solidFill>
            <a:schemeClr val="accent1"/>
          </a:solidFill>
          <a:ln w="12700" cap="flat" cmpd="sng" algn="ctr">
            <a:noFill/>
            <a:prstDash val="solid"/>
            <a:miter lim="800000"/>
          </a:ln>
          <a:effectLst>
            <a:outerShdw blurRad="76200" sx="102000" sy="1020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62" name="矩形 61">
            <a:extLst>
              <a:ext uri="{FF2B5EF4-FFF2-40B4-BE49-F238E27FC236}">
                <a16:creationId xmlns:a16="http://schemas.microsoft.com/office/drawing/2014/main" id="{459BCD59-3B30-BDB8-DAC9-16149B016808}"/>
              </a:ext>
            </a:extLst>
          </p:cNvPr>
          <p:cNvSpPr/>
          <p:nvPr/>
        </p:nvSpPr>
        <p:spPr>
          <a:xfrm>
            <a:off x="1592385" y="5466814"/>
            <a:ext cx="3160706" cy="832680"/>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3" name="矩形 62">
            <a:extLst>
              <a:ext uri="{FF2B5EF4-FFF2-40B4-BE49-F238E27FC236}">
                <a16:creationId xmlns:a16="http://schemas.microsoft.com/office/drawing/2014/main" id="{7720F624-449C-5BCF-EECD-DF9D9BFB46A4}"/>
              </a:ext>
            </a:extLst>
          </p:cNvPr>
          <p:cNvSpPr/>
          <p:nvPr/>
        </p:nvSpPr>
        <p:spPr>
          <a:xfrm>
            <a:off x="1778493" y="4033544"/>
            <a:ext cx="2788704" cy="1134251"/>
          </a:xfrm>
          <a:prstGeom prst="rect">
            <a:avLst/>
          </a:prstGeom>
          <a:gradFill flip="none" rotWithShape="1">
            <a:gsLst>
              <a:gs pos="25000">
                <a:schemeClr val="accent3"/>
              </a:gs>
              <a:gs pos="99083">
                <a:schemeClr val="bg1"/>
              </a:gs>
            </a:gsLst>
            <a:lin ang="5400000" scaled="1"/>
            <a:tileRect/>
          </a:gradFill>
          <a:ln w="3175" cap="flat" cmpd="sng" algn="ctr">
            <a:solidFill>
              <a:srgbClr val="0B4FA1"/>
            </a:solidFill>
            <a:prstDash val="solid"/>
            <a:miter lim="800000"/>
          </a:ln>
          <a:effectLst>
            <a:outerShdw blurRad="304800" sx="102000" sy="102000" algn="ctr" rotWithShape="0">
              <a:schemeClr val="accent1">
                <a:alpha val="16000"/>
              </a:schemeClr>
            </a:outerShdw>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64" name="等腰三角形 63">
            <a:extLst>
              <a:ext uri="{FF2B5EF4-FFF2-40B4-BE49-F238E27FC236}">
                <a16:creationId xmlns:a16="http://schemas.microsoft.com/office/drawing/2014/main" id="{3802D0B9-20A9-55E5-0B98-E787D98C6305}"/>
              </a:ext>
            </a:extLst>
          </p:cNvPr>
          <p:cNvSpPr/>
          <p:nvPr/>
        </p:nvSpPr>
        <p:spPr>
          <a:xfrm flipV="1">
            <a:off x="3065642" y="5261772"/>
            <a:ext cx="214192" cy="111065"/>
          </a:xfrm>
          <a:prstGeom prst="triangle">
            <a:avLst/>
          </a:prstGeom>
          <a:solidFill>
            <a:schemeClr val="accent1"/>
          </a:solidFill>
          <a:ln w="12700" cap="flat" cmpd="sng" algn="ctr">
            <a:noFill/>
            <a:prstDash val="solid"/>
            <a:miter lim="800000"/>
          </a:ln>
          <a:effectLst>
            <a:outerShdw blurRad="76200" sx="102000" sy="1020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65" name="文本框 64">
            <a:extLst>
              <a:ext uri="{FF2B5EF4-FFF2-40B4-BE49-F238E27FC236}">
                <a16:creationId xmlns:a16="http://schemas.microsoft.com/office/drawing/2014/main" id="{BFE24891-0057-15FE-6336-F130CDF367A4}"/>
              </a:ext>
            </a:extLst>
          </p:cNvPr>
          <p:cNvSpPr txBox="1"/>
          <p:nvPr/>
        </p:nvSpPr>
        <p:spPr>
          <a:xfrm>
            <a:off x="1762681" y="2939804"/>
            <a:ext cx="2891781" cy="705962"/>
          </a:xfrm>
          <a:prstGeom prst="rect">
            <a:avLst/>
          </a:prstGeom>
          <a:noFill/>
        </p:spPr>
        <p:txBody>
          <a:bodyPr wrap="square">
            <a:spAutoFit/>
          </a:bodyPr>
          <a:lstStyle/>
          <a:p>
            <a:pPr>
              <a:lnSpc>
                <a:spcPct val="130000"/>
              </a:lnSpc>
            </a:pPr>
            <a:r>
              <a:rPr lang="zh-CN" altLang="en-US" sz="1600" dirty="0">
                <a:solidFill>
                  <a:srgbClr val="060607"/>
                </a:solidFill>
                <a:latin typeface="微软雅黑" panose="020B0503020204020204" pitchFamily="34" charset="-122"/>
                <a:ea typeface="微软雅黑" panose="020B0503020204020204" pitchFamily="34" charset="-122"/>
              </a:rPr>
              <a:t>带季风区气候复杂，干旱的时空分布不均</a:t>
            </a:r>
            <a:endParaRPr lang="zh-CN" altLang="en-US" sz="1600" dirty="0">
              <a:solidFill>
                <a:prstClr val="black"/>
              </a:solidFill>
              <a:latin typeface="微软雅黑" panose="020B0503020204020204" pitchFamily="34" charset="-122"/>
              <a:ea typeface="微软雅黑" panose="020B0503020204020204" pitchFamily="34" charset="-122"/>
            </a:endParaRPr>
          </a:p>
        </p:txBody>
      </p:sp>
      <p:sp>
        <p:nvSpPr>
          <p:cNvPr id="66" name="文本框 65">
            <a:extLst>
              <a:ext uri="{FF2B5EF4-FFF2-40B4-BE49-F238E27FC236}">
                <a16:creationId xmlns:a16="http://schemas.microsoft.com/office/drawing/2014/main" id="{56EF7A17-F78E-CFCE-9C42-83AA064815CF}"/>
              </a:ext>
            </a:extLst>
          </p:cNvPr>
          <p:cNvSpPr txBox="1"/>
          <p:nvPr/>
        </p:nvSpPr>
        <p:spPr>
          <a:xfrm>
            <a:off x="5238662" y="2939804"/>
            <a:ext cx="2891781" cy="705962"/>
          </a:xfrm>
          <a:prstGeom prst="rect">
            <a:avLst/>
          </a:prstGeom>
          <a:noFill/>
        </p:spPr>
        <p:txBody>
          <a:bodyPr wrap="square">
            <a:spAutoFit/>
          </a:bodyPr>
          <a:lstStyle/>
          <a:p>
            <a:pPr>
              <a:lnSpc>
                <a:spcPct val="130000"/>
              </a:lnSpc>
            </a:pPr>
            <a:r>
              <a:rPr lang="zh-CN" altLang="en-US" sz="1600" dirty="0">
                <a:solidFill>
                  <a:srgbClr val="060607"/>
                </a:solidFill>
                <a:latin typeface="微软雅黑" panose="020B0503020204020204" pitchFamily="34" charset="-122"/>
                <a:ea typeface="微软雅黑" panose="020B0503020204020204" pitchFamily="34" charset="-122"/>
              </a:rPr>
              <a:t>岩溶区土壤层较薄，保水能力弱，植物更容易受到干旱胁迫</a:t>
            </a:r>
            <a:endParaRPr lang="zh-CN" altLang="en-US" sz="1600" dirty="0">
              <a:solidFill>
                <a:prstClr val="black"/>
              </a:solidFill>
              <a:latin typeface="微软雅黑" panose="020B0503020204020204" pitchFamily="34" charset="-122"/>
              <a:ea typeface="微软雅黑" panose="020B0503020204020204" pitchFamily="34" charset="-122"/>
            </a:endParaRPr>
          </a:p>
        </p:txBody>
      </p:sp>
      <p:sp>
        <p:nvSpPr>
          <p:cNvPr id="67" name="文本框 66">
            <a:extLst>
              <a:ext uri="{FF2B5EF4-FFF2-40B4-BE49-F238E27FC236}">
                <a16:creationId xmlns:a16="http://schemas.microsoft.com/office/drawing/2014/main" id="{314CA427-B0F6-5C83-FFE1-E2F2F78E15CD}"/>
              </a:ext>
            </a:extLst>
          </p:cNvPr>
          <p:cNvSpPr txBox="1"/>
          <p:nvPr/>
        </p:nvSpPr>
        <p:spPr>
          <a:xfrm>
            <a:off x="8717890" y="2939804"/>
            <a:ext cx="2891781" cy="705962"/>
          </a:xfrm>
          <a:prstGeom prst="rect">
            <a:avLst/>
          </a:prstGeom>
          <a:noFill/>
        </p:spPr>
        <p:txBody>
          <a:bodyPr wrap="square">
            <a:spAutoFit/>
          </a:bodyPr>
          <a:lstStyle/>
          <a:p>
            <a:pPr>
              <a:lnSpc>
                <a:spcPct val="130000"/>
              </a:lnSpc>
            </a:pPr>
            <a:r>
              <a:rPr lang="zh-CN" altLang="en-US" sz="1600" dirty="0">
                <a:solidFill>
                  <a:srgbClr val="060607"/>
                </a:solidFill>
                <a:latin typeface="微软雅黑" panose="020B0503020204020204" pitchFamily="34" charset="-122"/>
                <a:ea typeface="微软雅黑" panose="020B0503020204020204" pitchFamily="34" charset="-122"/>
              </a:rPr>
              <a:t>不同岩性区域的土壤水、地下水和降水的同位素组成差异</a:t>
            </a:r>
            <a:endParaRPr lang="zh-CN" altLang="en-US" sz="1600" dirty="0">
              <a:solidFill>
                <a:prstClr val="black"/>
              </a:solidFill>
              <a:latin typeface="微软雅黑" panose="020B0503020204020204" pitchFamily="34" charset="-122"/>
              <a:ea typeface="微软雅黑" panose="020B0503020204020204" pitchFamily="34" charset="-122"/>
            </a:endParaRPr>
          </a:p>
        </p:txBody>
      </p:sp>
      <p:sp>
        <p:nvSpPr>
          <p:cNvPr id="68" name="矩形 67">
            <a:extLst>
              <a:ext uri="{FF2B5EF4-FFF2-40B4-BE49-F238E27FC236}">
                <a16:creationId xmlns:a16="http://schemas.microsoft.com/office/drawing/2014/main" id="{C0898607-B318-3E2E-1246-3DE6C6BEE82C}"/>
              </a:ext>
            </a:extLst>
          </p:cNvPr>
          <p:cNvSpPr/>
          <p:nvPr/>
        </p:nvSpPr>
        <p:spPr>
          <a:xfrm>
            <a:off x="5253419" y="4033544"/>
            <a:ext cx="2788704" cy="1134251"/>
          </a:xfrm>
          <a:prstGeom prst="rect">
            <a:avLst/>
          </a:prstGeom>
          <a:gradFill flip="none" rotWithShape="1">
            <a:gsLst>
              <a:gs pos="25000">
                <a:schemeClr val="accent3"/>
              </a:gs>
              <a:gs pos="99083">
                <a:schemeClr val="bg1"/>
              </a:gs>
            </a:gsLst>
            <a:lin ang="5400000" scaled="1"/>
            <a:tileRect/>
          </a:gradFill>
          <a:ln w="3175" cap="flat" cmpd="sng" algn="ctr">
            <a:solidFill>
              <a:srgbClr val="0B4FA1"/>
            </a:solidFill>
            <a:prstDash val="solid"/>
            <a:miter lim="800000"/>
          </a:ln>
          <a:effectLst>
            <a:outerShdw blurRad="304800" sx="102000" sy="102000" algn="ctr" rotWithShape="0">
              <a:schemeClr val="accent1">
                <a:alpha val="16000"/>
              </a:schemeClr>
            </a:outerShdw>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69" name="矩形 68">
            <a:extLst>
              <a:ext uri="{FF2B5EF4-FFF2-40B4-BE49-F238E27FC236}">
                <a16:creationId xmlns:a16="http://schemas.microsoft.com/office/drawing/2014/main" id="{D92AC5AE-1008-76D1-98E6-9D052A98ED0C}"/>
              </a:ext>
            </a:extLst>
          </p:cNvPr>
          <p:cNvSpPr/>
          <p:nvPr/>
        </p:nvSpPr>
        <p:spPr>
          <a:xfrm>
            <a:off x="8728345" y="4033544"/>
            <a:ext cx="2788704" cy="1134251"/>
          </a:xfrm>
          <a:prstGeom prst="rect">
            <a:avLst/>
          </a:prstGeom>
          <a:gradFill flip="none" rotWithShape="1">
            <a:gsLst>
              <a:gs pos="25000">
                <a:schemeClr val="accent3"/>
              </a:gs>
              <a:gs pos="99083">
                <a:schemeClr val="bg1"/>
              </a:gs>
            </a:gsLst>
            <a:lin ang="5400000" scaled="1"/>
            <a:tileRect/>
          </a:gradFill>
          <a:ln w="3175" cap="flat" cmpd="sng" algn="ctr">
            <a:solidFill>
              <a:srgbClr val="0B4FA1"/>
            </a:solidFill>
            <a:prstDash val="solid"/>
            <a:miter lim="800000"/>
          </a:ln>
          <a:effectLst>
            <a:outerShdw blurRad="304800" sx="102000" sy="102000" algn="ctr" rotWithShape="0">
              <a:schemeClr val="accent1">
                <a:alpha val="16000"/>
              </a:schemeClr>
            </a:outerShdw>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70" name="矩形 69">
            <a:extLst>
              <a:ext uri="{FF2B5EF4-FFF2-40B4-BE49-F238E27FC236}">
                <a16:creationId xmlns:a16="http://schemas.microsoft.com/office/drawing/2014/main" id="{EFCB47EC-864B-AAD5-A472-00AA391549FE}"/>
              </a:ext>
            </a:extLst>
          </p:cNvPr>
          <p:cNvSpPr/>
          <p:nvPr/>
        </p:nvSpPr>
        <p:spPr>
          <a:xfrm>
            <a:off x="5067365" y="5466814"/>
            <a:ext cx="3160706" cy="832680"/>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1" name="矩形 70">
            <a:extLst>
              <a:ext uri="{FF2B5EF4-FFF2-40B4-BE49-F238E27FC236}">
                <a16:creationId xmlns:a16="http://schemas.microsoft.com/office/drawing/2014/main" id="{D499CDC0-6EAF-4CDE-EC69-384809F6400E}"/>
              </a:ext>
            </a:extLst>
          </p:cNvPr>
          <p:cNvSpPr/>
          <p:nvPr/>
        </p:nvSpPr>
        <p:spPr>
          <a:xfrm>
            <a:off x="8542344" y="5466814"/>
            <a:ext cx="3160706" cy="832680"/>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2" name="文本框 71">
            <a:extLst>
              <a:ext uri="{FF2B5EF4-FFF2-40B4-BE49-F238E27FC236}">
                <a16:creationId xmlns:a16="http://schemas.microsoft.com/office/drawing/2014/main" id="{328EC5CD-7D02-F580-116B-8C1346812E9D}"/>
              </a:ext>
            </a:extLst>
          </p:cNvPr>
          <p:cNvSpPr txBox="1"/>
          <p:nvPr/>
        </p:nvSpPr>
        <p:spPr>
          <a:xfrm>
            <a:off x="1887321" y="4046254"/>
            <a:ext cx="2586289" cy="1108830"/>
          </a:xfrm>
          <a:prstGeom prst="rect">
            <a:avLst/>
          </a:prstGeom>
          <a:noFill/>
        </p:spPr>
        <p:txBody>
          <a:bodyPr wrap="square">
            <a:spAutoFit/>
          </a:bodyPr>
          <a:lstStyle/>
          <a:p>
            <a:pPr marL="252000" indent="-252000">
              <a:lnSpc>
                <a:spcPct val="120000"/>
              </a:lnSpc>
              <a:buFont typeface="+mj-lt"/>
              <a:buAutoNum type="arabicPeriod"/>
            </a:pPr>
            <a:r>
              <a:rPr lang="zh-CN" altLang="en-US" sz="1400" dirty="0">
                <a:latin typeface="微软雅黑" panose="020B0503020204020204" pitchFamily="34" charset="-122"/>
                <a:ea typeface="微软雅黑" panose="020B0503020204020204" pitchFamily="34" charset="-122"/>
              </a:rPr>
              <a:t>构建综合干旱监测模型</a:t>
            </a:r>
          </a:p>
          <a:p>
            <a:pPr marL="252000" indent="-252000">
              <a:lnSpc>
                <a:spcPct val="120000"/>
              </a:lnSpc>
              <a:buFont typeface="+mj-lt"/>
              <a:buAutoNum type="arabicPeriod"/>
            </a:pPr>
            <a:r>
              <a:rPr lang="zh-CN" altLang="en-US" sz="1400" dirty="0">
                <a:latin typeface="微软雅黑" panose="020B0503020204020204" pitchFamily="34" charset="-122"/>
                <a:ea typeface="微软雅黑" panose="020B0503020204020204" pitchFamily="34" charset="-122"/>
              </a:rPr>
              <a:t>记录土壤水分含量，评估干旱发生的时间、强度和持续时间</a:t>
            </a:r>
          </a:p>
        </p:txBody>
      </p:sp>
      <p:sp>
        <p:nvSpPr>
          <p:cNvPr id="73" name="文本框 72">
            <a:extLst>
              <a:ext uri="{FF2B5EF4-FFF2-40B4-BE49-F238E27FC236}">
                <a16:creationId xmlns:a16="http://schemas.microsoft.com/office/drawing/2014/main" id="{71C87C36-C89F-C97A-ACCF-307579A4CD32}"/>
              </a:ext>
            </a:extLst>
          </p:cNvPr>
          <p:cNvSpPr txBox="1"/>
          <p:nvPr/>
        </p:nvSpPr>
        <p:spPr>
          <a:xfrm>
            <a:off x="5362487" y="4046254"/>
            <a:ext cx="2586289" cy="1108830"/>
          </a:xfrm>
          <a:prstGeom prst="rect">
            <a:avLst/>
          </a:prstGeom>
          <a:noFill/>
        </p:spPr>
        <p:txBody>
          <a:bodyPr wrap="square">
            <a:spAutoFit/>
          </a:bodyPr>
          <a:lstStyle/>
          <a:p>
            <a:pPr marL="252000" indent="-252000">
              <a:lnSpc>
                <a:spcPct val="120000"/>
              </a:lnSpc>
              <a:buFont typeface="+mj-lt"/>
              <a:buAutoNum type="arabicPeriod"/>
            </a:pPr>
            <a:r>
              <a:rPr lang="zh-CN" altLang="en-US" sz="1400" dirty="0">
                <a:latin typeface="微软雅黑" panose="020B0503020204020204" pitchFamily="34" charset="-122"/>
                <a:ea typeface="微软雅黑" panose="020B0503020204020204" pitchFamily="34" charset="-122"/>
              </a:rPr>
              <a:t>分析植物的水分来源和效率</a:t>
            </a:r>
            <a:endParaRPr lang="en-US" altLang="zh-CN" sz="1400" dirty="0">
              <a:latin typeface="微软雅黑" panose="020B0503020204020204" pitchFamily="34" charset="-122"/>
              <a:ea typeface="微软雅黑" panose="020B0503020204020204" pitchFamily="34" charset="-122"/>
            </a:endParaRPr>
          </a:p>
          <a:p>
            <a:pPr marL="252000" indent="-252000">
              <a:lnSpc>
                <a:spcPct val="120000"/>
              </a:lnSpc>
              <a:buFont typeface="+mj-lt"/>
              <a:buAutoNum type="arabicPeriod"/>
            </a:pPr>
            <a:r>
              <a:rPr lang="zh-CN" altLang="en-US" sz="1400" dirty="0">
                <a:latin typeface="微软雅黑" panose="020B0503020204020204" pitchFamily="34" charset="-122"/>
                <a:ea typeface="微软雅黑" panose="020B0503020204020204" pitchFamily="34" charset="-122"/>
              </a:rPr>
              <a:t>测量植物叶片厚度、比叶面积等功能性状，分析其在不同岩性区域的变异</a:t>
            </a:r>
          </a:p>
        </p:txBody>
      </p:sp>
      <p:sp>
        <p:nvSpPr>
          <p:cNvPr id="74" name="文本框 73">
            <a:extLst>
              <a:ext uri="{FF2B5EF4-FFF2-40B4-BE49-F238E27FC236}">
                <a16:creationId xmlns:a16="http://schemas.microsoft.com/office/drawing/2014/main" id="{C39EBB13-14FE-D424-94A3-54641B4E3265}"/>
              </a:ext>
            </a:extLst>
          </p:cNvPr>
          <p:cNvSpPr txBox="1"/>
          <p:nvPr/>
        </p:nvSpPr>
        <p:spPr>
          <a:xfrm>
            <a:off x="8839955" y="4046254"/>
            <a:ext cx="2586289" cy="1108830"/>
          </a:xfrm>
          <a:prstGeom prst="rect">
            <a:avLst/>
          </a:prstGeom>
          <a:noFill/>
        </p:spPr>
        <p:txBody>
          <a:bodyPr wrap="square">
            <a:spAutoFit/>
          </a:bodyPr>
          <a:lstStyle/>
          <a:p>
            <a:pPr marL="252000" indent="-252000">
              <a:lnSpc>
                <a:spcPct val="120000"/>
              </a:lnSpc>
              <a:buFont typeface="+mj-lt"/>
              <a:buAutoNum type="arabicPeriod"/>
            </a:pPr>
            <a:r>
              <a:rPr lang="zh-CN" altLang="en-US" sz="1400" dirty="0">
                <a:latin typeface="微软雅黑" panose="020B0503020204020204" pitchFamily="34" charset="-122"/>
                <a:ea typeface="微软雅黑" panose="020B0503020204020204" pitchFamily="34" charset="-122"/>
              </a:rPr>
              <a:t>分析不同岩性区域土壤结构裂隙发育程度地下水分布</a:t>
            </a:r>
            <a:endParaRPr lang="en-US" altLang="zh-CN" sz="1400" dirty="0">
              <a:latin typeface="微软雅黑" panose="020B0503020204020204" pitchFamily="34" charset="-122"/>
              <a:ea typeface="微软雅黑" panose="020B0503020204020204" pitchFamily="34" charset="-122"/>
            </a:endParaRPr>
          </a:p>
          <a:p>
            <a:pPr marL="252000" indent="-252000">
              <a:lnSpc>
                <a:spcPct val="120000"/>
              </a:lnSpc>
              <a:buFont typeface="+mj-lt"/>
              <a:buAutoNum type="arabicPeriod"/>
            </a:pPr>
            <a:r>
              <a:rPr lang="zh-CN" altLang="en-US" sz="1400" dirty="0">
                <a:latin typeface="微软雅黑" panose="020B0503020204020204" pitchFamily="34" charset="-122"/>
                <a:ea typeface="微软雅黑" panose="020B0503020204020204" pitchFamily="34" charset="-122"/>
              </a:rPr>
              <a:t>模拟不同岩性森林在干旱条件下水分循环和动态变化</a:t>
            </a:r>
          </a:p>
        </p:txBody>
      </p:sp>
      <p:sp>
        <p:nvSpPr>
          <p:cNvPr id="75" name="文本框 74">
            <a:extLst>
              <a:ext uri="{FF2B5EF4-FFF2-40B4-BE49-F238E27FC236}">
                <a16:creationId xmlns:a16="http://schemas.microsoft.com/office/drawing/2014/main" id="{1EE41AD5-F1C9-DA54-A175-E37395E49415}"/>
              </a:ext>
            </a:extLst>
          </p:cNvPr>
          <p:cNvSpPr txBox="1"/>
          <p:nvPr/>
        </p:nvSpPr>
        <p:spPr>
          <a:xfrm>
            <a:off x="1783184" y="5540428"/>
            <a:ext cx="2801686" cy="662874"/>
          </a:xfrm>
          <a:prstGeom prst="rect">
            <a:avLst/>
          </a:prstGeom>
          <a:noFill/>
        </p:spPr>
        <p:txBody>
          <a:bodyPr wrap="square">
            <a:spAutoFit/>
          </a:bodyPr>
          <a:lstStyle/>
          <a:p>
            <a:pPr>
              <a:lnSpc>
                <a:spcPct val="120000"/>
              </a:lnSpc>
            </a:pPr>
            <a:r>
              <a:rPr lang="zh-CN" altLang="en-US" sz="1600" dirty="0">
                <a:solidFill>
                  <a:prstClr val="white"/>
                </a:solidFill>
                <a:latin typeface="微软雅黑" panose="020B0503020204020204" pitchFamily="34" charset="-122"/>
                <a:ea typeface="微软雅黑" panose="020B0503020204020204" pitchFamily="34" charset="-122"/>
              </a:rPr>
              <a:t>构建综合干旱指数（</a:t>
            </a:r>
            <a:r>
              <a:rPr lang="en-US" altLang="zh-CN" sz="1600" dirty="0">
                <a:solidFill>
                  <a:prstClr val="white"/>
                </a:solidFill>
                <a:latin typeface="微软雅黑" panose="020B0503020204020204" pitchFamily="34" charset="-122"/>
                <a:ea typeface="微软雅黑" panose="020B0503020204020204" pitchFamily="34" charset="-122"/>
              </a:rPr>
              <a:t>CDI</a:t>
            </a:r>
            <a:r>
              <a:rPr lang="zh-CN" altLang="en-US" sz="1600" dirty="0">
                <a:solidFill>
                  <a:prstClr val="white"/>
                </a:solidFill>
                <a:latin typeface="微软雅黑" panose="020B0503020204020204" pitchFamily="34" charset="-122"/>
                <a:ea typeface="微软雅黑" panose="020B0503020204020204" pitchFamily="34" charset="-122"/>
              </a:rPr>
              <a:t>）以提高干旱监测的精度</a:t>
            </a:r>
          </a:p>
        </p:txBody>
      </p:sp>
      <p:sp>
        <p:nvSpPr>
          <p:cNvPr id="76" name="文本框 75">
            <a:extLst>
              <a:ext uri="{FF2B5EF4-FFF2-40B4-BE49-F238E27FC236}">
                <a16:creationId xmlns:a16="http://schemas.microsoft.com/office/drawing/2014/main" id="{0471995B-0ADD-228F-7FB6-8755CF317F35}"/>
              </a:ext>
            </a:extLst>
          </p:cNvPr>
          <p:cNvSpPr txBox="1"/>
          <p:nvPr/>
        </p:nvSpPr>
        <p:spPr>
          <a:xfrm>
            <a:off x="5227373" y="5540428"/>
            <a:ext cx="2978120" cy="662874"/>
          </a:xfrm>
          <a:prstGeom prst="rect">
            <a:avLst/>
          </a:prstGeom>
          <a:noFill/>
        </p:spPr>
        <p:txBody>
          <a:bodyPr wrap="square">
            <a:spAutoFit/>
          </a:bodyPr>
          <a:lstStyle/>
          <a:p>
            <a:pPr>
              <a:lnSpc>
                <a:spcPct val="120000"/>
              </a:lnSpc>
            </a:pPr>
            <a:r>
              <a:rPr lang="zh-CN" altLang="en-US" sz="1600" dirty="0">
                <a:solidFill>
                  <a:prstClr val="white"/>
                </a:solidFill>
                <a:latin typeface="微软雅黑" panose="020B0503020204020204" pitchFamily="34" charset="-122"/>
                <a:ea typeface="微软雅黑" panose="020B0503020204020204" pitchFamily="34" charset="-122"/>
              </a:rPr>
              <a:t>模拟不同岩性森林对干旱的响应机制，预测未来气候变化</a:t>
            </a:r>
          </a:p>
        </p:txBody>
      </p:sp>
      <p:sp>
        <p:nvSpPr>
          <p:cNvPr id="77" name="文本框 76">
            <a:extLst>
              <a:ext uri="{FF2B5EF4-FFF2-40B4-BE49-F238E27FC236}">
                <a16:creationId xmlns:a16="http://schemas.microsoft.com/office/drawing/2014/main" id="{55346BD5-E333-F829-FAEC-63EC306B2F91}"/>
              </a:ext>
            </a:extLst>
          </p:cNvPr>
          <p:cNvSpPr txBox="1"/>
          <p:nvPr/>
        </p:nvSpPr>
        <p:spPr>
          <a:xfrm>
            <a:off x="8739634" y="5540428"/>
            <a:ext cx="2801686" cy="662874"/>
          </a:xfrm>
          <a:prstGeom prst="rect">
            <a:avLst/>
          </a:prstGeom>
          <a:noFill/>
        </p:spPr>
        <p:txBody>
          <a:bodyPr wrap="square">
            <a:spAutoFit/>
          </a:bodyPr>
          <a:lstStyle/>
          <a:p>
            <a:pPr>
              <a:lnSpc>
                <a:spcPct val="120000"/>
              </a:lnSpc>
            </a:pPr>
            <a:r>
              <a:rPr lang="zh-CN" altLang="en-US" sz="1600" dirty="0">
                <a:solidFill>
                  <a:prstClr val="white"/>
                </a:solidFill>
                <a:latin typeface="微软雅黑" panose="020B0503020204020204" pitchFamily="34" charset="-122"/>
                <a:ea typeface="微软雅黑" panose="020B0503020204020204" pitchFamily="34" charset="-122"/>
              </a:rPr>
              <a:t>建立干旱指标与生态系统响应之间的关联模型</a:t>
            </a:r>
          </a:p>
        </p:txBody>
      </p:sp>
      <p:sp>
        <p:nvSpPr>
          <p:cNvPr id="2" name="矩形 1">
            <a:extLst>
              <a:ext uri="{FF2B5EF4-FFF2-40B4-BE49-F238E27FC236}">
                <a16:creationId xmlns:a16="http://schemas.microsoft.com/office/drawing/2014/main" id="{9ADD3B49-C176-8537-FE52-0BA80A22AF8B}"/>
              </a:ext>
            </a:extLst>
          </p:cNvPr>
          <p:cNvSpPr/>
          <p:nvPr/>
        </p:nvSpPr>
        <p:spPr>
          <a:xfrm>
            <a:off x="0" y="1066800"/>
            <a:ext cx="12192000" cy="5791200"/>
          </a:xfrm>
          <a:prstGeom prst="rect">
            <a:avLst/>
          </a:prstGeom>
          <a:solidFill>
            <a:srgbClr val="FFFFFF"/>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6D56315B-1A5A-EC0A-0303-78FD575E1B1F}"/>
              </a:ext>
            </a:extLst>
          </p:cNvPr>
          <p:cNvSpPr/>
          <p:nvPr/>
        </p:nvSpPr>
        <p:spPr>
          <a:xfrm>
            <a:off x="431800" y="1219200"/>
            <a:ext cx="11328400" cy="533400"/>
          </a:xfrm>
          <a:prstGeom prst="rect">
            <a:avLst/>
          </a:prstGeom>
          <a:solidFill>
            <a:srgbClr val="0054A0"/>
          </a:solidFill>
          <a:ln w="1270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700" b="1">
                <a:solidFill>
                  <a:srgbClr val="FFFFFF"/>
                </a:solidFill>
                <a:latin typeface="微软雅黑" panose="020B0503020204020204" pitchFamily="34" charset="-122"/>
              </a:rPr>
              <a:t>平台验证同时关注功能闭环、运行稳定性和对比可用性</a:t>
            </a:r>
          </a:p>
        </p:txBody>
      </p:sp>
      <p:sp>
        <p:nvSpPr>
          <p:cNvPr id="4" name="矩形 3">
            <a:extLst>
              <a:ext uri="{FF2B5EF4-FFF2-40B4-BE49-F238E27FC236}">
                <a16:creationId xmlns:a16="http://schemas.microsoft.com/office/drawing/2014/main" id="{59739EFE-53E3-7213-BA0B-F6D7B4E8BD50}"/>
              </a:ext>
            </a:extLst>
          </p:cNvPr>
          <p:cNvSpPr/>
          <p:nvPr/>
        </p:nvSpPr>
        <p:spPr>
          <a:xfrm>
            <a:off x="736600" y="2159000"/>
            <a:ext cx="3111500" cy="533400"/>
          </a:xfrm>
          <a:prstGeom prst="rect">
            <a:avLst/>
          </a:prstGeom>
          <a:solidFill>
            <a:srgbClr val="0054A0"/>
          </a:solidFill>
          <a:ln w="1270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b="1">
                <a:solidFill>
                  <a:srgbClr val="FFFFFF"/>
                </a:solidFill>
                <a:latin typeface="微软雅黑" panose="020B0503020204020204" pitchFamily="34" charset="-122"/>
              </a:rPr>
              <a:t>功能闭环</a:t>
            </a:r>
          </a:p>
        </p:txBody>
      </p:sp>
      <p:sp>
        <p:nvSpPr>
          <p:cNvPr id="5" name="矩形 4">
            <a:extLst>
              <a:ext uri="{FF2B5EF4-FFF2-40B4-BE49-F238E27FC236}">
                <a16:creationId xmlns:a16="http://schemas.microsoft.com/office/drawing/2014/main" id="{3633017A-9D3D-4C97-35A6-E3A6708873EF}"/>
              </a:ext>
            </a:extLst>
          </p:cNvPr>
          <p:cNvSpPr/>
          <p:nvPr/>
        </p:nvSpPr>
        <p:spPr>
          <a:xfrm>
            <a:off x="736600" y="2768600"/>
            <a:ext cx="3111500" cy="16764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400" b="1">
                <a:solidFill>
                  <a:srgbClr val="052346"/>
                </a:solidFill>
                <a:latin typeface="微软雅黑" panose="020B0503020204020204" pitchFamily="34" charset="-122"/>
              </a:rPr>
              <a:t>模型注册、任务提交、日志刷新、结果回传均可运行</a:t>
            </a:r>
          </a:p>
        </p:txBody>
      </p:sp>
      <p:sp>
        <p:nvSpPr>
          <p:cNvPr id="7" name="矩形 6">
            <a:extLst>
              <a:ext uri="{FF2B5EF4-FFF2-40B4-BE49-F238E27FC236}">
                <a16:creationId xmlns:a16="http://schemas.microsoft.com/office/drawing/2014/main" id="{6D5C1097-2FC4-D359-F261-3BD01735D914}"/>
              </a:ext>
            </a:extLst>
          </p:cNvPr>
          <p:cNvSpPr/>
          <p:nvPr/>
        </p:nvSpPr>
        <p:spPr>
          <a:xfrm>
            <a:off x="4546600" y="2159000"/>
            <a:ext cx="3111500" cy="533400"/>
          </a:xfrm>
          <a:prstGeom prst="rect">
            <a:avLst/>
          </a:prstGeom>
          <a:solidFill>
            <a:srgbClr val="0054A0"/>
          </a:solidFill>
          <a:ln w="1270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b="1">
                <a:solidFill>
                  <a:srgbClr val="FFFFFF"/>
                </a:solidFill>
                <a:latin typeface="微软雅黑" panose="020B0503020204020204" pitchFamily="34" charset="-122"/>
              </a:rPr>
              <a:t>稳定性验证</a:t>
            </a:r>
          </a:p>
        </p:txBody>
      </p:sp>
      <p:sp>
        <p:nvSpPr>
          <p:cNvPr id="8" name="矩形 7">
            <a:extLst>
              <a:ext uri="{FF2B5EF4-FFF2-40B4-BE49-F238E27FC236}">
                <a16:creationId xmlns:a16="http://schemas.microsoft.com/office/drawing/2014/main" id="{51A7FB9F-1F69-D462-0177-8825E4E0F533}"/>
              </a:ext>
            </a:extLst>
          </p:cNvPr>
          <p:cNvSpPr/>
          <p:nvPr/>
        </p:nvSpPr>
        <p:spPr>
          <a:xfrm>
            <a:off x="4546600" y="2768600"/>
            <a:ext cx="3111500" cy="16764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400" b="1">
                <a:solidFill>
                  <a:srgbClr val="052346"/>
                </a:solidFill>
                <a:latin typeface="微软雅黑" panose="020B0503020204020204" pitchFamily="34" charset="-122"/>
              </a:rPr>
              <a:t>远端任务异常、取消、失败恢复具有明确状态记录</a:t>
            </a:r>
          </a:p>
        </p:txBody>
      </p:sp>
      <p:sp>
        <p:nvSpPr>
          <p:cNvPr id="9" name="矩形 8">
            <a:extLst>
              <a:ext uri="{FF2B5EF4-FFF2-40B4-BE49-F238E27FC236}">
                <a16:creationId xmlns:a16="http://schemas.microsoft.com/office/drawing/2014/main" id="{A674F052-166E-F4C7-BD85-243063C52A9D}"/>
              </a:ext>
            </a:extLst>
          </p:cNvPr>
          <p:cNvSpPr/>
          <p:nvPr/>
        </p:nvSpPr>
        <p:spPr>
          <a:xfrm>
            <a:off x="8356600" y="2159000"/>
            <a:ext cx="3111500" cy="533400"/>
          </a:xfrm>
          <a:prstGeom prst="rect">
            <a:avLst/>
          </a:prstGeom>
          <a:solidFill>
            <a:srgbClr val="0054A0"/>
          </a:solidFill>
          <a:ln w="1270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b="1">
                <a:solidFill>
                  <a:srgbClr val="FFFFFF"/>
                </a:solidFill>
                <a:latin typeface="微软雅黑" panose="020B0503020204020204" pitchFamily="34" charset="-122"/>
              </a:rPr>
              <a:t>对比能力</a:t>
            </a:r>
          </a:p>
        </p:txBody>
      </p:sp>
      <p:sp>
        <p:nvSpPr>
          <p:cNvPr id="10" name="矩形 9">
            <a:extLst>
              <a:ext uri="{FF2B5EF4-FFF2-40B4-BE49-F238E27FC236}">
                <a16:creationId xmlns:a16="http://schemas.microsoft.com/office/drawing/2014/main" id="{F18BD6B1-251A-5959-9BA9-4F2BCC89DECC}"/>
              </a:ext>
            </a:extLst>
          </p:cNvPr>
          <p:cNvSpPr/>
          <p:nvPr/>
        </p:nvSpPr>
        <p:spPr>
          <a:xfrm>
            <a:off x="8356600" y="2768600"/>
            <a:ext cx="3111500" cy="16764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400" b="1">
                <a:solidFill>
                  <a:srgbClr val="052346"/>
                </a:solidFill>
                <a:latin typeface="微软雅黑" panose="020B0503020204020204" pitchFamily="34" charset="-122"/>
              </a:rPr>
              <a:t>同一输入下保留耗时、产物和元数据，支持横向查看</a:t>
            </a:r>
          </a:p>
        </p:txBody>
      </p:sp>
      <p:sp>
        <p:nvSpPr>
          <p:cNvPr id="11" name="矩形 10">
            <a:extLst>
              <a:ext uri="{FF2B5EF4-FFF2-40B4-BE49-F238E27FC236}">
                <a16:creationId xmlns:a16="http://schemas.microsoft.com/office/drawing/2014/main" id="{FC98AD81-F583-227F-860C-BBF21B5494E3}"/>
              </a:ext>
            </a:extLst>
          </p:cNvPr>
          <p:cNvSpPr/>
          <p:nvPr/>
        </p:nvSpPr>
        <p:spPr>
          <a:xfrm>
            <a:off x="1397000" y="5461000"/>
            <a:ext cx="9398000" cy="5334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600" b="1">
                <a:solidFill>
                  <a:srgbClr val="052346"/>
                </a:solidFill>
                <a:latin typeface="微软雅黑" panose="020B0503020204020204" pitchFamily="34" charset="-122"/>
              </a:rPr>
              <a:t>验证标准以可运行、可复现、可对比为主，不把平台结果包装成模型性能结论。</a:t>
            </a:r>
          </a:p>
        </p:txBody>
      </p:sp>
    </p:spTree>
    <p:extLst>
      <p:ext uri="{BB962C8B-B14F-4D97-AF65-F5344CB8AC3E}">
        <p14:creationId xmlns:p14="http://schemas.microsoft.com/office/powerpoint/2010/main" val="30334569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C7F92-9293-B59D-2DE6-2DB6188AD385}"/>
            </a:ext>
          </a:extLst>
        </p:cNvPr>
        <p:cNvGrpSpPr/>
        <p:nvPr/>
      </p:nvGrpSpPr>
      <p:grpSpPr>
        <a:xfrm>
          <a:off x="0" y="0"/>
          <a:ext cx="0" cy="0"/>
          <a:chOff x="0" y="0"/>
          <a:chExt cx="0" cy="0"/>
        </a:xfrm>
      </p:grpSpPr>
      <p:sp>
        <p:nvSpPr>
          <p:cNvPr id="90" name="文本框 89">
            <a:extLst>
              <a:ext uri="{FF2B5EF4-FFF2-40B4-BE49-F238E27FC236}">
                <a16:creationId xmlns:a16="http://schemas.microsoft.com/office/drawing/2014/main" id="{D974B1A9-EA78-9DDD-0C77-372F5B9CAD76}"/>
              </a:ext>
            </a:extLst>
          </p:cNvPr>
          <p:cNvSpPr txBox="1"/>
          <p:nvPr/>
        </p:nvSpPr>
        <p:spPr>
          <a:xfrm>
            <a:off x="115452" y="243436"/>
            <a:ext cx="772964" cy="369332"/>
          </a:xfrm>
          <a:prstGeom prst="rect">
            <a:avLst/>
          </a:prstGeom>
          <a:noFill/>
        </p:spPr>
        <p:txBody>
          <a:bodyPr wrap="square" rtlCol="0">
            <a:spAutoFit/>
          </a:bodyPr>
          <a:lstStyle/>
          <a:p>
            <a:pPr algn="ctr"/>
            <a:r>
              <a:rPr lang="en-US" altLang="zh-CN" b="1">
                <a:solidFill>
                  <a:srgbClr val="00417D"/>
                </a:solidFill>
                <a:latin typeface="微软雅黑" panose="020B0503020204020204" pitchFamily="34" charset="-122"/>
              </a:rPr>
              <a:t>4.2</a:t>
            </a:r>
            <a:endParaRPr lang="zh-CN" altLang="en-US" b="1" dirty="0">
              <a:solidFill>
                <a:srgbClr val="00417D"/>
              </a:solidFill>
              <a:latin typeface="微软雅黑" panose="020B0503020204020204" pitchFamily="34" charset="-122"/>
            </a:endParaRPr>
          </a:p>
        </p:txBody>
      </p:sp>
      <p:sp>
        <p:nvSpPr>
          <p:cNvPr id="92" name="文本框 91">
            <a:extLst>
              <a:ext uri="{FF2B5EF4-FFF2-40B4-BE49-F238E27FC236}">
                <a16:creationId xmlns:a16="http://schemas.microsoft.com/office/drawing/2014/main" id="{0F0E9114-BD5E-4531-B04D-1539D4EDDF89}"/>
              </a:ext>
            </a:extLst>
          </p:cNvPr>
          <p:cNvSpPr txBox="1"/>
          <p:nvPr/>
        </p:nvSpPr>
        <p:spPr>
          <a:xfrm>
            <a:off x="946461" y="269201"/>
            <a:ext cx="6440714" cy="477054"/>
          </a:xfrm>
          <a:prstGeom prst="rect">
            <a:avLst/>
          </a:prstGeom>
          <a:noFill/>
        </p:spPr>
        <p:txBody>
          <a:bodyPr wrap="square">
            <a:spAutoFit/>
          </a:bodyPr>
          <a:lstStyle/>
          <a:p>
            <a:r>
              <a:rPr lang="zh-CN" altLang="en-US" sz="2500" b="1">
                <a:solidFill>
                  <a:srgbClr val="00417D"/>
                </a:solidFill>
                <a:latin typeface="微软雅黑" panose="020B0503020204020204" pitchFamily="34" charset="-122"/>
              </a:rPr>
              <a:t>当前进展</a:t>
            </a:r>
            <a:endParaRPr lang="zh-CN" altLang="en-US" sz="2500" b="1" dirty="0">
              <a:solidFill>
                <a:srgbClr val="00417D"/>
              </a:solidFill>
              <a:latin typeface="微软雅黑" panose="020B0503020204020204" pitchFamily="34" charset="-122"/>
            </a:endParaRPr>
          </a:p>
        </p:txBody>
      </p:sp>
      <p:sp>
        <p:nvSpPr>
          <p:cNvPr id="20" name="矩形 19">
            <a:extLst>
              <a:ext uri="{FF2B5EF4-FFF2-40B4-BE49-F238E27FC236}">
                <a16:creationId xmlns:a16="http://schemas.microsoft.com/office/drawing/2014/main" id="{0EEF0EFC-D9C9-A29D-1C2A-1FE96C668B77}"/>
              </a:ext>
            </a:extLst>
          </p:cNvPr>
          <p:cNvSpPr/>
          <p:nvPr/>
        </p:nvSpPr>
        <p:spPr>
          <a:xfrm>
            <a:off x="472442" y="1316990"/>
            <a:ext cx="11071860" cy="461665"/>
          </a:xfrm>
          <a:prstGeom prst="rect">
            <a:avLst/>
          </a:prstGeom>
          <a:noFill/>
          <a:ln w="15875" cap="flat" cmpd="sng" algn="ctr">
            <a:solidFill>
              <a:schemeClr val="accent1"/>
            </a:solidFill>
            <a:prstDash val="solid"/>
            <a:miter lim="800000"/>
          </a:ln>
          <a:effectLst/>
          <a:extLst>
            <a:ext uri="{909E8E84-426E-40DD-AFC4-6F175D3DCCD1}">
              <a14:hiddenFill xmlns:a14="http://schemas.microsoft.com/office/drawing/2010/main">
                <a:solidFill>
                  <a:srgbClr val="0070C0"/>
                </a:solidFill>
              </a14:hiddenFill>
            </a:ext>
          </a:ex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21" name="任意多边形: 形状 20">
            <a:extLst>
              <a:ext uri="{FF2B5EF4-FFF2-40B4-BE49-F238E27FC236}">
                <a16:creationId xmlns:a16="http://schemas.microsoft.com/office/drawing/2014/main" id="{A28C3A2E-B382-7FDA-FE64-54C0532F6FAF}"/>
              </a:ext>
            </a:extLst>
          </p:cNvPr>
          <p:cNvSpPr/>
          <p:nvPr/>
        </p:nvSpPr>
        <p:spPr>
          <a:xfrm>
            <a:off x="472442" y="1316989"/>
            <a:ext cx="1819275" cy="461665"/>
          </a:xfrm>
          <a:custGeom>
            <a:avLst/>
            <a:gdLst>
              <a:gd name="connsiteX0" fmla="*/ 0 w 1819275"/>
              <a:gd name="connsiteY0" fmla="*/ 0 h 461665"/>
              <a:gd name="connsiteX1" fmla="*/ 1819275 w 1819275"/>
              <a:gd name="connsiteY1" fmla="*/ 0 h 461665"/>
              <a:gd name="connsiteX2" fmla="*/ 1637905 w 1819275"/>
              <a:gd name="connsiteY2" fmla="*/ 461665 h 461665"/>
              <a:gd name="connsiteX3" fmla="*/ 0 w 1819275"/>
              <a:gd name="connsiteY3" fmla="*/ 461665 h 461665"/>
            </a:gdLst>
            <a:ahLst/>
            <a:cxnLst>
              <a:cxn ang="0">
                <a:pos x="connsiteX0" y="connsiteY0"/>
              </a:cxn>
              <a:cxn ang="0">
                <a:pos x="connsiteX1" y="connsiteY1"/>
              </a:cxn>
              <a:cxn ang="0">
                <a:pos x="connsiteX2" y="connsiteY2"/>
              </a:cxn>
              <a:cxn ang="0">
                <a:pos x="connsiteX3" y="connsiteY3"/>
              </a:cxn>
            </a:cxnLst>
            <a:rect l="l" t="t" r="r" b="b"/>
            <a:pathLst>
              <a:path w="1819275" h="461665">
                <a:moveTo>
                  <a:pt x="0" y="0"/>
                </a:moveTo>
                <a:lnTo>
                  <a:pt x="1819275" y="0"/>
                </a:lnTo>
                <a:lnTo>
                  <a:pt x="1637905" y="461665"/>
                </a:lnTo>
                <a:lnTo>
                  <a:pt x="0" y="461665"/>
                </a:lnTo>
                <a:close/>
              </a:path>
            </a:pathLst>
          </a:custGeom>
          <a:solidFill>
            <a:schemeClr val="accent1"/>
          </a:solidFill>
          <a:ln w="15875"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solidFill>
                  <a:srgbClr val="0070C0"/>
                </a:solidFill>
              </a:ln>
              <a:solidFill>
                <a:srgbClr val="0070C0"/>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22" name="文本框 21">
            <a:extLst>
              <a:ext uri="{FF2B5EF4-FFF2-40B4-BE49-F238E27FC236}">
                <a16:creationId xmlns:a16="http://schemas.microsoft.com/office/drawing/2014/main" id="{337D067A-1454-74F9-EE67-216E997D92D2}"/>
              </a:ext>
            </a:extLst>
          </p:cNvPr>
          <p:cNvSpPr txBox="1"/>
          <p:nvPr/>
        </p:nvSpPr>
        <p:spPr>
          <a:xfrm>
            <a:off x="592457" y="1349492"/>
            <a:ext cx="1525905" cy="400110"/>
          </a:xfrm>
          <a:prstGeom prst="rect">
            <a:avLst/>
          </a:prstGeom>
          <a:noFill/>
        </p:spPr>
        <p:txBody>
          <a:bodyPr wrap="square">
            <a:spAutoFit/>
          </a:bodyPr>
          <a:lstStyle/>
          <a:p>
            <a:r>
              <a:rPr lang="zh-CN" altLang="en-US" sz="2000" b="1" dirty="0">
                <a:solidFill>
                  <a:prstClr val="white"/>
                </a:solidFill>
                <a:latin typeface="微软雅黑" panose="020B0503020204020204" pitchFamily="34" charset="-122"/>
                <a:ea typeface="微软雅黑" panose="020B0503020204020204" pitchFamily="34" charset="-122"/>
                <a:cs typeface="+mn-ea"/>
                <a:sym typeface="汉仪旗黑-55简" panose="00020600040101010101" pitchFamily="18" charset="-122"/>
              </a:rPr>
              <a:t>研究方案一</a:t>
            </a:r>
          </a:p>
        </p:txBody>
      </p:sp>
      <p:sp>
        <p:nvSpPr>
          <p:cNvPr id="23" name="文本框 22">
            <a:extLst>
              <a:ext uri="{FF2B5EF4-FFF2-40B4-BE49-F238E27FC236}">
                <a16:creationId xmlns:a16="http://schemas.microsoft.com/office/drawing/2014/main" id="{AD203EE6-611B-3471-E8A9-83F06E0BFB83}"/>
              </a:ext>
            </a:extLst>
          </p:cNvPr>
          <p:cNvSpPr txBox="1"/>
          <p:nvPr/>
        </p:nvSpPr>
        <p:spPr>
          <a:xfrm>
            <a:off x="2424114" y="1363155"/>
            <a:ext cx="8906827" cy="400110"/>
          </a:xfrm>
          <a:prstGeom prst="rect">
            <a:avLst/>
          </a:prstGeom>
          <a:noFill/>
        </p:spPr>
        <p:txBody>
          <a:bodyPr wrap="square">
            <a:spAutoFit/>
          </a:bodyPr>
          <a:lstStyle>
            <a:defPPr>
              <a:defRPr lang="zh-CN"/>
            </a:defPPr>
            <a:lvl1pPr>
              <a:defRPr sz="2000" b="1">
                <a:solidFill>
                  <a:prstClr val="black"/>
                </a:solidFill>
                <a:latin typeface="汉仪旗黑-55简" panose="00020600040101010101" pitchFamily="18" charset="-122"/>
                <a:ea typeface="汉仪旗黑-55简" panose="00020600040101010101" pitchFamily="18" charset="-122"/>
                <a:cs typeface="+mn-ea"/>
              </a:defRPr>
            </a:lvl1pPr>
          </a:lstStyle>
          <a:p>
            <a:r>
              <a:rPr lang="zh-CN" altLang="en-US" dirty="0">
                <a:latin typeface="微软雅黑" panose="020B0503020204020204" pitchFamily="34" charset="-122"/>
                <a:ea typeface="微软雅黑" panose="020B0503020204020204" pitchFamily="34" charset="-122"/>
                <a:sym typeface="汉仪旗黑-55简" panose="00020600040101010101" pitchFamily="18" charset="-122"/>
              </a:rPr>
              <a:t>单击此处输入你的正文，文字是您思想的提炼为了最终演示发布的良好效果。</a:t>
            </a:r>
          </a:p>
        </p:txBody>
      </p:sp>
      <p:sp>
        <p:nvSpPr>
          <p:cNvPr id="24" name="矩形 23">
            <a:extLst>
              <a:ext uri="{FF2B5EF4-FFF2-40B4-BE49-F238E27FC236}">
                <a16:creationId xmlns:a16="http://schemas.microsoft.com/office/drawing/2014/main" id="{FA0BCD13-EC50-2935-7349-AC89CE19BBBA}"/>
              </a:ext>
            </a:extLst>
          </p:cNvPr>
          <p:cNvSpPr/>
          <p:nvPr/>
        </p:nvSpPr>
        <p:spPr>
          <a:xfrm>
            <a:off x="472442" y="1966302"/>
            <a:ext cx="11071860" cy="3589948"/>
          </a:xfrm>
          <a:prstGeom prst="rect">
            <a:avLst/>
          </a:prstGeom>
          <a:gradFill flip="none" rotWithShape="1">
            <a:gsLst>
              <a:gs pos="25000">
                <a:schemeClr val="accent3"/>
              </a:gs>
              <a:gs pos="99083">
                <a:schemeClr val="bg1"/>
              </a:gs>
            </a:gsLst>
            <a:lin ang="5400000" scaled="1"/>
            <a:tileRect/>
          </a:gradFill>
          <a:ln w="3175" cap="flat" cmpd="sng" algn="ctr">
            <a:solidFill>
              <a:schemeClr val="accent1"/>
            </a:solidFill>
            <a:prstDash val="solid"/>
            <a:miter lim="800000"/>
          </a:ln>
          <a:effectLst>
            <a:outerShdw blurRad="304800" sx="102000" sy="102000" algn="ctr" rotWithShape="0">
              <a:schemeClr val="accent1">
                <a:alpha val="16000"/>
              </a:schemeClr>
            </a:outerShdw>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sym typeface="汉仪旗黑-55简" panose="00020600040101010101" pitchFamily="18" charset="-122"/>
            </a:endParaRPr>
          </a:p>
        </p:txBody>
      </p:sp>
      <p:pic>
        <p:nvPicPr>
          <p:cNvPr id="25" name="图片 24" descr="电脑前的男人&#10;&#10;低可信度描述已自动生成">
            <a:extLst>
              <a:ext uri="{FF2B5EF4-FFF2-40B4-BE49-F238E27FC236}">
                <a16:creationId xmlns:a16="http://schemas.microsoft.com/office/drawing/2014/main" id="{382D45C4-8F20-01E3-E855-49FBC9E3CE9F}"/>
              </a:ext>
            </a:extLst>
          </p:cNvPr>
          <p:cNvPicPr>
            <a:picLocks noChangeAspect="1"/>
          </p:cNvPicPr>
          <p:nvPr/>
        </p:nvPicPr>
        <p:blipFill>
          <a:blip r:embed="rId3" cstate="screen"/>
          <a:srcRect/>
          <a:stretch>
            <a:fillRect/>
          </a:stretch>
        </p:blipFill>
        <p:spPr>
          <a:xfrm>
            <a:off x="721149" y="2176357"/>
            <a:ext cx="2483556" cy="1397000"/>
          </a:xfrm>
          <a:prstGeom prst="rect">
            <a:avLst/>
          </a:prstGeom>
        </p:spPr>
      </p:pic>
      <p:pic>
        <p:nvPicPr>
          <p:cNvPr id="26" name="图片 25" descr="图片包含 人, 穿着, 服装, 领带&#10;&#10;描述已自动生成">
            <a:extLst>
              <a:ext uri="{FF2B5EF4-FFF2-40B4-BE49-F238E27FC236}">
                <a16:creationId xmlns:a16="http://schemas.microsoft.com/office/drawing/2014/main" id="{2A1E1D73-65C4-110D-4023-E7156BA8CD8D}"/>
              </a:ext>
            </a:extLst>
          </p:cNvPr>
          <p:cNvPicPr>
            <a:picLocks noChangeAspect="1"/>
          </p:cNvPicPr>
          <p:nvPr/>
        </p:nvPicPr>
        <p:blipFill>
          <a:blip r:embed="rId4" cstate="screen"/>
          <a:srcRect/>
          <a:stretch>
            <a:fillRect/>
          </a:stretch>
        </p:blipFill>
        <p:spPr>
          <a:xfrm>
            <a:off x="3408662" y="2176357"/>
            <a:ext cx="2483556" cy="1397000"/>
          </a:xfrm>
          <a:prstGeom prst="rect">
            <a:avLst/>
          </a:prstGeom>
        </p:spPr>
      </p:pic>
      <p:pic>
        <p:nvPicPr>
          <p:cNvPr id="27" name="图片 26" descr="穿白色衣服的人&#10;&#10;描述已自动生成">
            <a:extLst>
              <a:ext uri="{FF2B5EF4-FFF2-40B4-BE49-F238E27FC236}">
                <a16:creationId xmlns:a16="http://schemas.microsoft.com/office/drawing/2014/main" id="{3E290501-96C1-3293-E73D-C53C53F43446}"/>
              </a:ext>
            </a:extLst>
          </p:cNvPr>
          <p:cNvPicPr>
            <a:picLocks noChangeAspect="1"/>
          </p:cNvPicPr>
          <p:nvPr/>
        </p:nvPicPr>
        <p:blipFill rotWithShape="1">
          <a:blip r:embed="rId5" cstate="screen"/>
          <a:srcRect/>
          <a:stretch>
            <a:fillRect/>
          </a:stretch>
        </p:blipFill>
        <p:spPr>
          <a:xfrm>
            <a:off x="6096175" y="2176357"/>
            <a:ext cx="2483556" cy="1397000"/>
          </a:xfrm>
          <a:prstGeom prst="rect">
            <a:avLst/>
          </a:prstGeom>
        </p:spPr>
      </p:pic>
      <p:pic>
        <p:nvPicPr>
          <p:cNvPr id="28" name="图片 27" descr="图片包含 人, 室内, 男人, 穿着&#10;&#10;描述已自动生成">
            <a:extLst>
              <a:ext uri="{FF2B5EF4-FFF2-40B4-BE49-F238E27FC236}">
                <a16:creationId xmlns:a16="http://schemas.microsoft.com/office/drawing/2014/main" id="{4288273B-0602-9783-F511-C21332917718}"/>
              </a:ext>
            </a:extLst>
          </p:cNvPr>
          <p:cNvPicPr>
            <a:picLocks noChangeAspect="1"/>
          </p:cNvPicPr>
          <p:nvPr/>
        </p:nvPicPr>
        <p:blipFill>
          <a:blip r:embed="rId6" cstate="screen"/>
          <a:srcRect/>
          <a:stretch>
            <a:fillRect/>
          </a:stretch>
        </p:blipFill>
        <p:spPr>
          <a:xfrm>
            <a:off x="8783689" y="2176357"/>
            <a:ext cx="2483556" cy="1397000"/>
          </a:xfrm>
          <a:prstGeom prst="rect">
            <a:avLst/>
          </a:prstGeom>
        </p:spPr>
      </p:pic>
      <p:grpSp>
        <p:nvGrpSpPr>
          <p:cNvPr id="29" name="组合 28">
            <a:extLst>
              <a:ext uri="{FF2B5EF4-FFF2-40B4-BE49-F238E27FC236}">
                <a16:creationId xmlns:a16="http://schemas.microsoft.com/office/drawing/2014/main" id="{0F14BE7B-E19D-B038-D377-9F71859D3C29}"/>
              </a:ext>
            </a:extLst>
          </p:cNvPr>
          <p:cNvGrpSpPr/>
          <p:nvPr/>
        </p:nvGrpSpPr>
        <p:grpSpPr>
          <a:xfrm>
            <a:off x="720485" y="3197225"/>
            <a:ext cx="2478626" cy="1530253"/>
            <a:chOff x="824406" y="2800350"/>
            <a:chExt cx="2478626" cy="1530253"/>
          </a:xfrm>
        </p:grpSpPr>
        <p:sp>
          <p:nvSpPr>
            <p:cNvPr id="30" name="矩形: 圆角 29">
              <a:extLst>
                <a:ext uri="{FF2B5EF4-FFF2-40B4-BE49-F238E27FC236}">
                  <a16:creationId xmlns:a16="http://schemas.microsoft.com/office/drawing/2014/main" id="{4E1280F1-EEFC-F22B-3DB3-C43D4639055D}"/>
                </a:ext>
              </a:extLst>
            </p:cNvPr>
            <p:cNvSpPr/>
            <p:nvPr/>
          </p:nvSpPr>
          <p:spPr>
            <a:xfrm>
              <a:off x="824406" y="2800350"/>
              <a:ext cx="2473032" cy="1530253"/>
            </a:xfrm>
            <a:prstGeom prst="roundRect">
              <a:avLst>
                <a:gd name="adj" fmla="val 0"/>
              </a:avLst>
            </a:prstGeom>
            <a:noFill/>
            <a:ln w="15875" cap="flat" cmpd="sng" algn="ctr">
              <a:gradFill flip="none" rotWithShape="1">
                <a:gsLst>
                  <a:gs pos="0">
                    <a:schemeClr val="accent1"/>
                  </a:gs>
                  <a:gs pos="100000">
                    <a:schemeClr val="accent1">
                      <a:alpha val="0"/>
                    </a:schemeClr>
                  </a:gs>
                </a:gsLst>
                <a:lin ang="16200000" scaled="1"/>
                <a:tileRect/>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31" name="矩形 30">
              <a:extLst>
                <a:ext uri="{FF2B5EF4-FFF2-40B4-BE49-F238E27FC236}">
                  <a16:creationId xmlns:a16="http://schemas.microsoft.com/office/drawing/2014/main" id="{04A07656-AA7B-C3CF-1A80-D3A92F83E225}"/>
                </a:ext>
              </a:extLst>
            </p:cNvPr>
            <p:cNvSpPr/>
            <p:nvPr/>
          </p:nvSpPr>
          <p:spPr>
            <a:xfrm>
              <a:off x="1219164" y="3331234"/>
              <a:ext cx="1683516" cy="264184"/>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添加关键词</a:t>
              </a:r>
            </a:p>
          </p:txBody>
        </p:sp>
        <p:sp>
          <p:nvSpPr>
            <p:cNvPr id="32" name="文本框 31">
              <a:extLst>
                <a:ext uri="{FF2B5EF4-FFF2-40B4-BE49-F238E27FC236}">
                  <a16:creationId xmlns:a16="http://schemas.microsoft.com/office/drawing/2014/main" id="{55E929DF-61EA-6CF0-A307-6EE1C26929A3}"/>
                </a:ext>
              </a:extLst>
            </p:cNvPr>
            <p:cNvSpPr txBox="1"/>
            <p:nvPr/>
          </p:nvSpPr>
          <p:spPr>
            <a:xfrm>
              <a:off x="897424" y="3634664"/>
              <a:ext cx="2405608" cy="634469"/>
            </a:xfrm>
            <a:prstGeom prst="rect">
              <a:avLst/>
            </a:prstGeom>
            <a:noFill/>
          </p:spPr>
          <p:txBody>
            <a:bodyPr wrap="square">
              <a:spAutoFit/>
            </a:bodyPr>
            <a:lstStyle/>
            <a:p>
              <a:pPr marL="0" marR="0" lvl="0" indent="0" algn="ctr"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单击此处输入你的正文</a:t>
              </a:r>
              <a:endParaRPr kumimoji="0" lang="en-US" altLang="zh-CN"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a:p>
              <a:pPr marL="0" marR="0" lvl="0" indent="0" algn="ctr"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文字是您思想的提炼</a:t>
              </a:r>
            </a:p>
          </p:txBody>
        </p:sp>
      </p:grpSp>
      <p:grpSp>
        <p:nvGrpSpPr>
          <p:cNvPr id="33" name="组合 32">
            <a:extLst>
              <a:ext uri="{FF2B5EF4-FFF2-40B4-BE49-F238E27FC236}">
                <a16:creationId xmlns:a16="http://schemas.microsoft.com/office/drawing/2014/main" id="{92971DE1-D33B-1D83-B4B5-A55EE6AEE7EC}"/>
              </a:ext>
            </a:extLst>
          </p:cNvPr>
          <p:cNvGrpSpPr/>
          <p:nvPr/>
        </p:nvGrpSpPr>
        <p:grpSpPr>
          <a:xfrm>
            <a:off x="3402404" y="3197225"/>
            <a:ext cx="2478626" cy="1530253"/>
            <a:chOff x="824406" y="2800350"/>
            <a:chExt cx="2478626" cy="1530253"/>
          </a:xfrm>
        </p:grpSpPr>
        <p:sp>
          <p:nvSpPr>
            <p:cNvPr id="34" name="矩形: 圆角 33">
              <a:extLst>
                <a:ext uri="{FF2B5EF4-FFF2-40B4-BE49-F238E27FC236}">
                  <a16:creationId xmlns:a16="http://schemas.microsoft.com/office/drawing/2014/main" id="{3A2FED03-6FAE-E548-AFBC-4C526E7D92BC}"/>
                </a:ext>
              </a:extLst>
            </p:cNvPr>
            <p:cNvSpPr/>
            <p:nvPr/>
          </p:nvSpPr>
          <p:spPr>
            <a:xfrm>
              <a:off x="824406" y="2800350"/>
              <a:ext cx="2473032" cy="1530253"/>
            </a:xfrm>
            <a:prstGeom prst="roundRect">
              <a:avLst>
                <a:gd name="adj" fmla="val 0"/>
              </a:avLst>
            </a:prstGeom>
            <a:noFill/>
            <a:ln w="15875" cap="flat" cmpd="sng" algn="ctr">
              <a:gradFill flip="none" rotWithShape="1">
                <a:gsLst>
                  <a:gs pos="0">
                    <a:schemeClr val="accent1"/>
                  </a:gs>
                  <a:gs pos="100000">
                    <a:schemeClr val="accent1">
                      <a:alpha val="0"/>
                    </a:schemeClr>
                  </a:gs>
                </a:gsLst>
                <a:lin ang="16200000" scaled="1"/>
                <a:tileRect/>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35" name="矩形 34">
              <a:extLst>
                <a:ext uri="{FF2B5EF4-FFF2-40B4-BE49-F238E27FC236}">
                  <a16:creationId xmlns:a16="http://schemas.microsoft.com/office/drawing/2014/main" id="{6029FF79-2B53-E037-1B73-14F6F8EA3F2A}"/>
                </a:ext>
              </a:extLst>
            </p:cNvPr>
            <p:cNvSpPr/>
            <p:nvPr/>
          </p:nvSpPr>
          <p:spPr>
            <a:xfrm>
              <a:off x="1219164" y="3331234"/>
              <a:ext cx="1683516" cy="264184"/>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添加关键词</a:t>
              </a:r>
            </a:p>
          </p:txBody>
        </p:sp>
        <p:sp>
          <p:nvSpPr>
            <p:cNvPr id="36" name="文本框 35">
              <a:extLst>
                <a:ext uri="{FF2B5EF4-FFF2-40B4-BE49-F238E27FC236}">
                  <a16:creationId xmlns:a16="http://schemas.microsoft.com/office/drawing/2014/main" id="{C11ECEF7-B290-A1B3-9A4B-98853A61806C}"/>
                </a:ext>
              </a:extLst>
            </p:cNvPr>
            <p:cNvSpPr txBox="1"/>
            <p:nvPr/>
          </p:nvSpPr>
          <p:spPr>
            <a:xfrm>
              <a:off x="897424" y="3634664"/>
              <a:ext cx="2405608" cy="634469"/>
            </a:xfrm>
            <a:prstGeom prst="rect">
              <a:avLst/>
            </a:prstGeom>
            <a:noFill/>
          </p:spPr>
          <p:txBody>
            <a:bodyPr wrap="square">
              <a:spAutoFit/>
            </a:bodyPr>
            <a:lstStyle/>
            <a:p>
              <a:pPr marL="0" marR="0" lvl="0" indent="0" algn="ctr"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单击此处输入你的正文</a:t>
              </a:r>
              <a:endParaRPr kumimoji="0" lang="en-US" altLang="zh-CN"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a:p>
              <a:pPr marL="0" marR="0" lvl="0" indent="0" algn="ctr"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文字是您思想的提炼</a:t>
              </a:r>
            </a:p>
          </p:txBody>
        </p:sp>
      </p:grpSp>
      <p:grpSp>
        <p:nvGrpSpPr>
          <p:cNvPr id="37" name="组合 36">
            <a:extLst>
              <a:ext uri="{FF2B5EF4-FFF2-40B4-BE49-F238E27FC236}">
                <a16:creationId xmlns:a16="http://schemas.microsoft.com/office/drawing/2014/main" id="{AB89AEF3-2EB4-ACDF-CA72-DD7A2A2CE732}"/>
              </a:ext>
            </a:extLst>
          </p:cNvPr>
          <p:cNvGrpSpPr/>
          <p:nvPr/>
        </p:nvGrpSpPr>
        <p:grpSpPr>
          <a:xfrm>
            <a:off x="6097869" y="3197225"/>
            <a:ext cx="2478626" cy="1530253"/>
            <a:chOff x="824406" y="2800350"/>
            <a:chExt cx="2478626" cy="1530253"/>
          </a:xfrm>
        </p:grpSpPr>
        <p:sp>
          <p:nvSpPr>
            <p:cNvPr id="38" name="矩形: 圆角 37">
              <a:extLst>
                <a:ext uri="{FF2B5EF4-FFF2-40B4-BE49-F238E27FC236}">
                  <a16:creationId xmlns:a16="http://schemas.microsoft.com/office/drawing/2014/main" id="{79D7AF8E-4AF6-FE37-30A6-E14D65991A28}"/>
                </a:ext>
              </a:extLst>
            </p:cNvPr>
            <p:cNvSpPr/>
            <p:nvPr/>
          </p:nvSpPr>
          <p:spPr>
            <a:xfrm>
              <a:off x="824406" y="2800350"/>
              <a:ext cx="2473032" cy="1530253"/>
            </a:xfrm>
            <a:prstGeom prst="roundRect">
              <a:avLst>
                <a:gd name="adj" fmla="val 0"/>
              </a:avLst>
            </a:prstGeom>
            <a:noFill/>
            <a:ln w="15875" cap="flat" cmpd="sng" algn="ctr">
              <a:gradFill flip="none" rotWithShape="1">
                <a:gsLst>
                  <a:gs pos="0">
                    <a:schemeClr val="accent1"/>
                  </a:gs>
                  <a:gs pos="100000">
                    <a:schemeClr val="accent1">
                      <a:alpha val="0"/>
                    </a:schemeClr>
                  </a:gs>
                </a:gsLst>
                <a:lin ang="16200000" scaled="1"/>
                <a:tileRect/>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39" name="矩形 38">
              <a:extLst>
                <a:ext uri="{FF2B5EF4-FFF2-40B4-BE49-F238E27FC236}">
                  <a16:creationId xmlns:a16="http://schemas.microsoft.com/office/drawing/2014/main" id="{D61D2B28-8B1A-058D-C8EB-BD8B632426C2}"/>
                </a:ext>
              </a:extLst>
            </p:cNvPr>
            <p:cNvSpPr/>
            <p:nvPr/>
          </p:nvSpPr>
          <p:spPr>
            <a:xfrm>
              <a:off x="1219164" y="3331234"/>
              <a:ext cx="1683516" cy="264184"/>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添加关键词</a:t>
              </a:r>
            </a:p>
          </p:txBody>
        </p:sp>
        <p:sp>
          <p:nvSpPr>
            <p:cNvPr id="40" name="文本框 39">
              <a:extLst>
                <a:ext uri="{FF2B5EF4-FFF2-40B4-BE49-F238E27FC236}">
                  <a16:creationId xmlns:a16="http://schemas.microsoft.com/office/drawing/2014/main" id="{A32058E9-66AE-E5B0-B015-D4BC84A275D0}"/>
                </a:ext>
              </a:extLst>
            </p:cNvPr>
            <p:cNvSpPr txBox="1"/>
            <p:nvPr/>
          </p:nvSpPr>
          <p:spPr>
            <a:xfrm>
              <a:off x="897424" y="3634664"/>
              <a:ext cx="2405608" cy="634469"/>
            </a:xfrm>
            <a:prstGeom prst="rect">
              <a:avLst/>
            </a:prstGeom>
            <a:noFill/>
          </p:spPr>
          <p:txBody>
            <a:bodyPr wrap="square">
              <a:spAutoFit/>
            </a:bodyPr>
            <a:lstStyle/>
            <a:p>
              <a:pPr marL="0" marR="0" lvl="0" indent="0" algn="ctr"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单击此处输入你的正文</a:t>
              </a:r>
              <a:endParaRPr kumimoji="0" lang="en-US" altLang="zh-CN"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a:p>
              <a:pPr marL="0" marR="0" lvl="0" indent="0" algn="ctr"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文字是您思想的提炼</a:t>
              </a:r>
            </a:p>
          </p:txBody>
        </p:sp>
      </p:grpSp>
      <p:grpSp>
        <p:nvGrpSpPr>
          <p:cNvPr id="41" name="组合 40">
            <a:extLst>
              <a:ext uri="{FF2B5EF4-FFF2-40B4-BE49-F238E27FC236}">
                <a16:creationId xmlns:a16="http://schemas.microsoft.com/office/drawing/2014/main" id="{2BA83B85-9452-5F01-01CA-8575652A8DFD}"/>
              </a:ext>
            </a:extLst>
          </p:cNvPr>
          <p:cNvGrpSpPr/>
          <p:nvPr/>
        </p:nvGrpSpPr>
        <p:grpSpPr>
          <a:xfrm>
            <a:off x="8793334" y="3197225"/>
            <a:ext cx="2478626" cy="1530253"/>
            <a:chOff x="824406" y="2800350"/>
            <a:chExt cx="2478626" cy="1530253"/>
          </a:xfrm>
        </p:grpSpPr>
        <p:sp>
          <p:nvSpPr>
            <p:cNvPr id="42" name="矩形: 圆角 41">
              <a:extLst>
                <a:ext uri="{FF2B5EF4-FFF2-40B4-BE49-F238E27FC236}">
                  <a16:creationId xmlns:a16="http://schemas.microsoft.com/office/drawing/2014/main" id="{0D0001F5-3946-8279-4966-FCEDFF60435F}"/>
                </a:ext>
              </a:extLst>
            </p:cNvPr>
            <p:cNvSpPr/>
            <p:nvPr/>
          </p:nvSpPr>
          <p:spPr>
            <a:xfrm>
              <a:off x="824406" y="2800350"/>
              <a:ext cx="2473032" cy="1530253"/>
            </a:xfrm>
            <a:prstGeom prst="roundRect">
              <a:avLst>
                <a:gd name="adj" fmla="val 0"/>
              </a:avLst>
            </a:prstGeom>
            <a:noFill/>
            <a:ln w="15875" cap="flat" cmpd="sng" algn="ctr">
              <a:gradFill flip="none" rotWithShape="1">
                <a:gsLst>
                  <a:gs pos="0">
                    <a:schemeClr val="accent1"/>
                  </a:gs>
                  <a:gs pos="100000">
                    <a:schemeClr val="accent1">
                      <a:alpha val="0"/>
                    </a:schemeClr>
                  </a:gs>
                </a:gsLst>
                <a:lin ang="16200000" scaled="1"/>
                <a:tileRect/>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43" name="矩形 42">
              <a:extLst>
                <a:ext uri="{FF2B5EF4-FFF2-40B4-BE49-F238E27FC236}">
                  <a16:creationId xmlns:a16="http://schemas.microsoft.com/office/drawing/2014/main" id="{03EC2048-50C4-A6C4-9CE3-A2D5F099077E}"/>
                </a:ext>
              </a:extLst>
            </p:cNvPr>
            <p:cNvSpPr/>
            <p:nvPr/>
          </p:nvSpPr>
          <p:spPr>
            <a:xfrm>
              <a:off x="1219164" y="3331234"/>
              <a:ext cx="1683516" cy="264184"/>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添加关键词</a:t>
              </a:r>
            </a:p>
          </p:txBody>
        </p:sp>
        <p:sp>
          <p:nvSpPr>
            <p:cNvPr id="44" name="文本框 43">
              <a:extLst>
                <a:ext uri="{FF2B5EF4-FFF2-40B4-BE49-F238E27FC236}">
                  <a16:creationId xmlns:a16="http://schemas.microsoft.com/office/drawing/2014/main" id="{93E7F931-93CB-70CD-65F4-E8E34DE09B6C}"/>
                </a:ext>
              </a:extLst>
            </p:cNvPr>
            <p:cNvSpPr txBox="1"/>
            <p:nvPr/>
          </p:nvSpPr>
          <p:spPr>
            <a:xfrm>
              <a:off x="897424" y="3634664"/>
              <a:ext cx="2405608" cy="634469"/>
            </a:xfrm>
            <a:prstGeom prst="rect">
              <a:avLst/>
            </a:prstGeom>
            <a:noFill/>
          </p:spPr>
          <p:txBody>
            <a:bodyPr wrap="square">
              <a:spAutoFit/>
            </a:bodyPr>
            <a:lstStyle/>
            <a:p>
              <a:pPr marL="0" marR="0" lvl="0" indent="0" algn="ctr"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单击此处输入你的正文</a:t>
              </a:r>
              <a:endParaRPr kumimoji="0" lang="en-US" altLang="zh-CN"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a:p>
              <a:pPr marL="0" marR="0" lvl="0" indent="0" algn="ctr"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文字是您思想的提炼</a:t>
              </a:r>
            </a:p>
          </p:txBody>
        </p:sp>
      </p:grpSp>
      <p:sp>
        <p:nvSpPr>
          <p:cNvPr id="46" name="矩形 45">
            <a:extLst>
              <a:ext uri="{FF2B5EF4-FFF2-40B4-BE49-F238E27FC236}">
                <a16:creationId xmlns:a16="http://schemas.microsoft.com/office/drawing/2014/main" id="{B81F3778-B70F-03FE-C55C-AE85E4BBAF61}"/>
              </a:ext>
            </a:extLst>
          </p:cNvPr>
          <p:cNvSpPr/>
          <p:nvPr/>
        </p:nvSpPr>
        <p:spPr>
          <a:xfrm>
            <a:off x="720485" y="4826607"/>
            <a:ext cx="10537595" cy="536466"/>
          </a:xfrm>
          <a:prstGeom prst="rect">
            <a:avLst/>
          </a:prstGeom>
          <a:solidFill>
            <a:schemeClr val="accent1"/>
          </a:solidFill>
          <a:ln w="34925" cap="flat" cmpd="sng" algn="ctr">
            <a:noFill/>
            <a:prstDash val="solid"/>
            <a:miter lim="800000"/>
          </a:ln>
          <a:effectLst>
            <a:outerShdw blurRad="152400" dist="38100" dir="2700000" algn="tl" rotWithShape="0">
              <a:schemeClr val="accent2">
                <a:alpha val="22000"/>
              </a:scheme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93" name="矩形 92">
            <a:extLst>
              <a:ext uri="{FF2B5EF4-FFF2-40B4-BE49-F238E27FC236}">
                <a16:creationId xmlns:a16="http://schemas.microsoft.com/office/drawing/2014/main" id="{ABD29489-DF21-605B-5BE8-DC980759E7DC}"/>
              </a:ext>
            </a:extLst>
          </p:cNvPr>
          <p:cNvSpPr/>
          <p:nvPr/>
        </p:nvSpPr>
        <p:spPr>
          <a:xfrm>
            <a:off x="472441" y="5705525"/>
            <a:ext cx="11071859" cy="731661"/>
          </a:xfrm>
          <a:prstGeom prst="rect">
            <a:avLst/>
          </a:prstGeom>
          <a:solidFill>
            <a:sysClr val="window" lastClr="FFFFFF">
              <a:alpha val="94000"/>
            </a:sysClr>
          </a:solidFill>
          <a:ln w="12700" cap="flat" cmpd="sng" algn="ctr">
            <a:gradFill>
              <a:gsLst>
                <a:gs pos="0">
                  <a:sysClr val="window" lastClr="FFFFFF">
                    <a:lumMod val="95000"/>
                  </a:sysClr>
                </a:gs>
                <a:gs pos="100000">
                  <a:sysClr val="window" lastClr="FFFFFF">
                    <a:lumMod val="85000"/>
                  </a:sysClr>
                </a:gs>
              </a:gsLst>
              <a:lin ang="5400000" scaled="1"/>
            </a:gradFill>
            <a:prstDash val="solid"/>
            <a:miter lim="800000"/>
          </a:ln>
          <a:effectLst>
            <a:outerShdw blurRad="152400" dist="114300" dir="2700000" algn="tl" rotWithShape="0">
              <a:prstClr val="black">
                <a:alpha val="6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grpSp>
        <p:nvGrpSpPr>
          <p:cNvPr id="94" name="组合 93">
            <a:extLst>
              <a:ext uri="{FF2B5EF4-FFF2-40B4-BE49-F238E27FC236}">
                <a16:creationId xmlns:a16="http://schemas.microsoft.com/office/drawing/2014/main" id="{8C98561D-2F59-0FB9-2783-4ADF11E0D919}"/>
              </a:ext>
            </a:extLst>
          </p:cNvPr>
          <p:cNvGrpSpPr/>
          <p:nvPr/>
        </p:nvGrpSpPr>
        <p:grpSpPr>
          <a:xfrm>
            <a:off x="749089" y="5856902"/>
            <a:ext cx="2018452" cy="428906"/>
            <a:chOff x="1115772" y="5583852"/>
            <a:chExt cx="2018452" cy="428906"/>
          </a:xfrm>
        </p:grpSpPr>
        <p:sp>
          <p:nvSpPr>
            <p:cNvPr id="95" name="矩形: 圆角 94">
              <a:extLst>
                <a:ext uri="{FF2B5EF4-FFF2-40B4-BE49-F238E27FC236}">
                  <a16:creationId xmlns:a16="http://schemas.microsoft.com/office/drawing/2014/main" id="{7958552B-91EF-58E7-1936-D3EEA5C610C5}"/>
                </a:ext>
              </a:extLst>
            </p:cNvPr>
            <p:cNvSpPr/>
            <p:nvPr/>
          </p:nvSpPr>
          <p:spPr>
            <a:xfrm>
              <a:off x="1115772" y="5583852"/>
              <a:ext cx="2018452" cy="428906"/>
            </a:xfrm>
            <a:prstGeom prst="roundRect">
              <a:avLst>
                <a:gd name="adj" fmla="val 50000"/>
              </a:avLst>
            </a:prstGeom>
            <a:solidFill>
              <a:schemeClr val="accent3">
                <a:alpha val="8000"/>
              </a:schemeClr>
            </a:solidFill>
            <a:ln w="12700" cap="flat" cmpd="sng" algn="ctr">
              <a:solidFill>
                <a:schemeClr val="accent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96" name="矩形 95">
              <a:extLst>
                <a:ext uri="{FF2B5EF4-FFF2-40B4-BE49-F238E27FC236}">
                  <a16:creationId xmlns:a16="http://schemas.microsoft.com/office/drawing/2014/main" id="{6A49FE15-5D7E-5D58-6DBB-1E56937A8044}"/>
                </a:ext>
              </a:extLst>
            </p:cNvPr>
            <p:cNvSpPr/>
            <p:nvPr/>
          </p:nvSpPr>
          <p:spPr>
            <a:xfrm>
              <a:off x="1303697" y="5672986"/>
              <a:ext cx="1683516" cy="264184"/>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添加关键词</a:t>
              </a:r>
            </a:p>
          </p:txBody>
        </p:sp>
      </p:grpSp>
      <p:grpSp>
        <p:nvGrpSpPr>
          <p:cNvPr id="97" name="组合 96">
            <a:extLst>
              <a:ext uri="{FF2B5EF4-FFF2-40B4-BE49-F238E27FC236}">
                <a16:creationId xmlns:a16="http://schemas.microsoft.com/office/drawing/2014/main" id="{EE38CE60-C10E-5EBF-4151-518D8BAEA44D}"/>
              </a:ext>
            </a:extLst>
          </p:cNvPr>
          <p:cNvGrpSpPr/>
          <p:nvPr/>
        </p:nvGrpSpPr>
        <p:grpSpPr>
          <a:xfrm>
            <a:off x="2874328" y="5856902"/>
            <a:ext cx="2018452" cy="428906"/>
            <a:chOff x="1115772" y="5583852"/>
            <a:chExt cx="2018452" cy="428906"/>
          </a:xfrm>
        </p:grpSpPr>
        <p:sp>
          <p:nvSpPr>
            <p:cNvPr id="98" name="矩形: 圆角 97">
              <a:extLst>
                <a:ext uri="{FF2B5EF4-FFF2-40B4-BE49-F238E27FC236}">
                  <a16:creationId xmlns:a16="http://schemas.microsoft.com/office/drawing/2014/main" id="{F41082BD-FC93-ECB5-13F3-CF171D48B178}"/>
                </a:ext>
              </a:extLst>
            </p:cNvPr>
            <p:cNvSpPr/>
            <p:nvPr/>
          </p:nvSpPr>
          <p:spPr>
            <a:xfrm>
              <a:off x="1115772" y="5583852"/>
              <a:ext cx="2018452" cy="428906"/>
            </a:xfrm>
            <a:prstGeom prst="roundRect">
              <a:avLst>
                <a:gd name="adj" fmla="val 50000"/>
              </a:avLst>
            </a:prstGeom>
            <a:solidFill>
              <a:schemeClr val="accent3">
                <a:alpha val="8000"/>
              </a:schemeClr>
            </a:solidFill>
            <a:ln w="12700" cap="flat" cmpd="sng" algn="ctr">
              <a:solidFill>
                <a:schemeClr val="accent1"/>
              </a:solidFill>
              <a:prstDash val="solid"/>
              <a:miter lim="800000"/>
            </a:ln>
            <a:effectLst/>
          </p:spPr>
          <p:txBody>
            <a:bodyPr rtlCol="0" anchor="ctr"/>
            <a:lstStyle/>
            <a:p>
              <a:pPr algn="ctr"/>
              <a:endParaRPr lang="zh-CN" altLang="en-US" kern="0" dirty="0">
                <a:solidFill>
                  <a:srgbClr val="0070C0"/>
                </a:solidFill>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99" name="矩形 98">
              <a:extLst>
                <a:ext uri="{FF2B5EF4-FFF2-40B4-BE49-F238E27FC236}">
                  <a16:creationId xmlns:a16="http://schemas.microsoft.com/office/drawing/2014/main" id="{5433A26D-5B4A-8886-E07E-73260B3CAF90}"/>
                </a:ext>
              </a:extLst>
            </p:cNvPr>
            <p:cNvSpPr/>
            <p:nvPr/>
          </p:nvSpPr>
          <p:spPr>
            <a:xfrm>
              <a:off x="1303697" y="5672986"/>
              <a:ext cx="1683516" cy="264184"/>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添加关键词</a:t>
              </a:r>
            </a:p>
          </p:txBody>
        </p:sp>
      </p:grpSp>
      <p:grpSp>
        <p:nvGrpSpPr>
          <p:cNvPr id="100" name="组合 99">
            <a:extLst>
              <a:ext uri="{FF2B5EF4-FFF2-40B4-BE49-F238E27FC236}">
                <a16:creationId xmlns:a16="http://schemas.microsoft.com/office/drawing/2014/main" id="{8290007A-59BD-BBB1-8412-1CC89F007981}"/>
              </a:ext>
            </a:extLst>
          </p:cNvPr>
          <p:cNvGrpSpPr/>
          <p:nvPr/>
        </p:nvGrpSpPr>
        <p:grpSpPr>
          <a:xfrm>
            <a:off x="4999567" y="5856902"/>
            <a:ext cx="2018452" cy="428906"/>
            <a:chOff x="1115772" y="5583852"/>
            <a:chExt cx="2018452" cy="428906"/>
          </a:xfrm>
        </p:grpSpPr>
        <p:sp>
          <p:nvSpPr>
            <p:cNvPr id="101" name="矩形: 圆角 100">
              <a:extLst>
                <a:ext uri="{FF2B5EF4-FFF2-40B4-BE49-F238E27FC236}">
                  <a16:creationId xmlns:a16="http://schemas.microsoft.com/office/drawing/2014/main" id="{B4F82BBA-0FFF-43A3-5CDB-473B31902DBC}"/>
                </a:ext>
              </a:extLst>
            </p:cNvPr>
            <p:cNvSpPr/>
            <p:nvPr/>
          </p:nvSpPr>
          <p:spPr>
            <a:xfrm>
              <a:off x="1115772" y="5583852"/>
              <a:ext cx="2018452" cy="428906"/>
            </a:xfrm>
            <a:prstGeom prst="roundRect">
              <a:avLst>
                <a:gd name="adj" fmla="val 50000"/>
              </a:avLst>
            </a:prstGeom>
            <a:solidFill>
              <a:schemeClr val="accent3">
                <a:alpha val="8000"/>
              </a:schemeClr>
            </a:solidFill>
            <a:ln w="12700" cap="flat" cmpd="sng" algn="ctr">
              <a:solidFill>
                <a:schemeClr val="accent1"/>
              </a:solidFill>
              <a:prstDash val="solid"/>
              <a:miter lim="800000"/>
            </a:ln>
            <a:effectLst/>
          </p:spPr>
          <p:txBody>
            <a:bodyPr rtlCol="0" anchor="ctr"/>
            <a:lstStyle/>
            <a:p>
              <a:pPr algn="ctr"/>
              <a:endParaRPr lang="zh-CN" altLang="en-US" kern="0" dirty="0">
                <a:solidFill>
                  <a:srgbClr val="0070C0"/>
                </a:solidFill>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102" name="矩形 101">
              <a:extLst>
                <a:ext uri="{FF2B5EF4-FFF2-40B4-BE49-F238E27FC236}">
                  <a16:creationId xmlns:a16="http://schemas.microsoft.com/office/drawing/2014/main" id="{4B880483-AE3E-181A-C12C-4064B8FC0A2A}"/>
                </a:ext>
              </a:extLst>
            </p:cNvPr>
            <p:cNvSpPr/>
            <p:nvPr/>
          </p:nvSpPr>
          <p:spPr>
            <a:xfrm>
              <a:off x="1303697" y="5672986"/>
              <a:ext cx="1683516" cy="264184"/>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添加关键词</a:t>
              </a:r>
            </a:p>
          </p:txBody>
        </p:sp>
      </p:grpSp>
      <p:grpSp>
        <p:nvGrpSpPr>
          <p:cNvPr id="103" name="组合 102">
            <a:extLst>
              <a:ext uri="{FF2B5EF4-FFF2-40B4-BE49-F238E27FC236}">
                <a16:creationId xmlns:a16="http://schemas.microsoft.com/office/drawing/2014/main" id="{BA2F6111-7FBD-AB7F-484D-EE8827EBFA97}"/>
              </a:ext>
            </a:extLst>
          </p:cNvPr>
          <p:cNvGrpSpPr/>
          <p:nvPr/>
        </p:nvGrpSpPr>
        <p:grpSpPr>
          <a:xfrm>
            <a:off x="7124806" y="5856902"/>
            <a:ext cx="2018452" cy="428906"/>
            <a:chOff x="1115772" y="5583852"/>
            <a:chExt cx="2018452" cy="428906"/>
          </a:xfrm>
        </p:grpSpPr>
        <p:sp>
          <p:nvSpPr>
            <p:cNvPr id="104" name="矩形: 圆角 103">
              <a:extLst>
                <a:ext uri="{FF2B5EF4-FFF2-40B4-BE49-F238E27FC236}">
                  <a16:creationId xmlns:a16="http://schemas.microsoft.com/office/drawing/2014/main" id="{065EFFCA-BA49-251A-E756-26CDAEDC3C52}"/>
                </a:ext>
              </a:extLst>
            </p:cNvPr>
            <p:cNvSpPr/>
            <p:nvPr/>
          </p:nvSpPr>
          <p:spPr>
            <a:xfrm>
              <a:off x="1115772" y="5583852"/>
              <a:ext cx="2018452" cy="428906"/>
            </a:xfrm>
            <a:prstGeom prst="roundRect">
              <a:avLst>
                <a:gd name="adj" fmla="val 50000"/>
              </a:avLst>
            </a:prstGeom>
            <a:solidFill>
              <a:schemeClr val="accent3">
                <a:alpha val="8000"/>
              </a:schemeClr>
            </a:solidFill>
            <a:ln w="12700" cap="flat" cmpd="sng" algn="ctr">
              <a:solidFill>
                <a:schemeClr val="accent1"/>
              </a:solidFill>
              <a:prstDash val="solid"/>
              <a:miter lim="800000"/>
            </a:ln>
            <a:effectLst/>
          </p:spPr>
          <p:txBody>
            <a:bodyPr rtlCol="0" anchor="ctr"/>
            <a:lstStyle/>
            <a:p>
              <a:pPr algn="ctr"/>
              <a:endParaRPr lang="zh-CN" altLang="en-US" kern="0" dirty="0">
                <a:solidFill>
                  <a:srgbClr val="0070C0"/>
                </a:solidFill>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105" name="矩形 104">
              <a:extLst>
                <a:ext uri="{FF2B5EF4-FFF2-40B4-BE49-F238E27FC236}">
                  <a16:creationId xmlns:a16="http://schemas.microsoft.com/office/drawing/2014/main" id="{7F6387E9-B5D5-D645-5B9B-374F158B5954}"/>
                </a:ext>
              </a:extLst>
            </p:cNvPr>
            <p:cNvSpPr/>
            <p:nvPr/>
          </p:nvSpPr>
          <p:spPr>
            <a:xfrm>
              <a:off x="1303697" y="5672986"/>
              <a:ext cx="1683516" cy="264184"/>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添加关键词</a:t>
              </a:r>
            </a:p>
          </p:txBody>
        </p:sp>
      </p:grpSp>
      <p:grpSp>
        <p:nvGrpSpPr>
          <p:cNvPr id="106" name="组合 105">
            <a:extLst>
              <a:ext uri="{FF2B5EF4-FFF2-40B4-BE49-F238E27FC236}">
                <a16:creationId xmlns:a16="http://schemas.microsoft.com/office/drawing/2014/main" id="{A475E780-8FD7-4898-90BB-67EC32A68A84}"/>
              </a:ext>
            </a:extLst>
          </p:cNvPr>
          <p:cNvGrpSpPr/>
          <p:nvPr/>
        </p:nvGrpSpPr>
        <p:grpSpPr>
          <a:xfrm>
            <a:off x="9250046" y="5856902"/>
            <a:ext cx="2018452" cy="428906"/>
            <a:chOff x="1115772" y="5583852"/>
            <a:chExt cx="2018452" cy="428906"/>
          </a:xfrm>
        </p:grpSpPr>
        <p:sp>
          <p:nvSpPr>
            <p:cNvPr id="107" name="矩形: 圆角 106">
              <a:extLst>
                <a:ext uri="{FF2B5EF4-FFF2-40B4-BE49-F238E27FC236}">
                  <a16:creationId xmlns:a16="http://schemas.microsoft.com/office/drawing/2014/main" id="{CE9F11D4-7FC1-8F47-70FE-B2C407AF155A}"/>
                </a:ext>
              </a:extLst>
            </p:cNvPr>
            <p:cNvSpPr/>
            <p:nvPr/>
          </p:nvSpPr>
          <p:spPr>
            <a:xfrm>
              <a:off x="1115772" y="5583852"/>
              <a:ext cx="2018452" cy="428906"/>
            </a:xfrm>
            <a:prstGeom prst="roundRect">
              <a:avLst>
                <a:gd name="adj" fmla="val 50000"/>
              </a:avLst>
            </a:prstGeom>
            <a:solidFill>
              <a:schemeClr val="accent3">
                <a:alpha val="8000"/>
              </a:schemeClr>
            </a:solidFill>
            <a:ln w="12700" cap="flat" cmpd="sng" algn="ctr">
              <a:solidFill>
                <a:schemeClr val="accent1"/>
              </a:solidFill>
              <a:prstDash val="solid"/>
              <a:miter lim="800000"/>
            </a:ln>
            <a:effectLst/>
          </p:spPr>
          <p:txBody>
            <a:bodyPr rtlCol="0" anchor="ctr"/>
            <a:lstStyle/>
            <a:p>
              <a:pPr algn="ctr"/>
              <a:endParaRPr lang="zh-CN" altLang="en-US" kern="0" dirty="0">
                <a:solidFill>
                  <a:srgbClr val="0070C0"/>
                </a:solidFill>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108" name="矩形 107">
              <a:extLst>
                <a:ext uri="{FF2B5EF4-FFF2-40B4-BE49-F238E27FC236}">
                  <a16:creationId xmlns:a16="http://schemas.microsoft.com/office/drawing/2014/main" id="{51AF8AC4-E4F8-50E9-8B09-B2C11094F0DE}"/>
                </a:ext>
              </a:extLst>
            </p:cNvPr>
            <p:cNvSpPr/>
            <p:nvPr/>
          </p:nvSpPr>
          <p:spPr>
            <a:xfrm>
              <a:off x="1303697" y="5672986"/>
              <a:ext cx="1683516" cy="264184"/>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添加关键词</a:t>
              </a:r>
            </a:p>
          </p:txBody>
        </p:sp>
      </p:grpSp>
      <p:sp>
        <p:nvSpPr>
          <p:cNvPr id="109" name="文本框 108">
            <a:extLst>
              <a:ext uri="{FF2B5EF4-FFF2-40B4-BE49-F238E27FC236}">
                <a16:creationId xmlns:a16="http://schemas.microsoft.com/office/drawing/2014/main" id="{63107852-D247-AB26-F1EE-939D860E703E}"/>
              </a:ext>
            </a:extLst>
          </p:cNvPr>
          <p:cNvSpPr txBox="1"/>
          <p:nvPr/>
        </p:nvSpPr>
        <p:spPr>
          <a:xfrm>
            <a:off x="1554956" y="4894785"/>
            <a:ext cx="8906827" cy="400110"/>
          </a:xfrm>
          <a:prstGeom prst="rect">
            <a:avLst/>
          </a:prstGeom>
          <a:noFill/>
        </p:spPr>
        <p:txBody>
          <a:bodyPr wrap="square">
            <a:spAutoFit/>
          </a:bodyPr>
          <a:lstStyle>
            <a:defPPr>
              <a:defRPr lang="zh-CN"/>
            </a:defPPr>
            <a:lvl1pPr>
              <a:defRPr sz="2000" b="1">
                <a:solidFill>
                  <a:prstClr val="black"/>
                </a:solidFill>
                <a:latin typeface="汉仪旗黑-55简" panose="00020600040101010101" pitchFamily="18" charset="-122"/>
                <a:ea typeface="汉仪旗黑-55简" panose="00020600040101010101" pitchFamily="18" charset="-122"/>
                <a:cs typeface="+mn-ea"/>
              </a:defRPr>
            </a:lvl1pPr>
          </a:lstStyle>
          <a:p>
            <a:r>
              <a:rPr lang="zh-CN" altLang="en-US" dirty="0">
                <a:solidFill>
                  <a:schemeClr val="bg1"/>
                </a:solidFill>
                <a:latin typeface="微软雅黑" panose="020B0503020204020204" pitchFamily="34" charset="-122"/>
                <a:ea typeface="微软雅黑" panose="020B0503020204020204" pitchFamily="34" charset="-122"/>
                <a:sym typeface="汉仪旗黑-55简" panose="00020600040101010101" pitchFamily="18" charset="-122"/>
              </a:rPr>
              <a:t>单击此处输入你的正文，文字是您思想的提炼为了最终演示发布的良好效果。</a:t>
            </a:r>
          </a:p>
        </p:txBody>
      </p:sp>
      <p:sp>
        <p:nvSpPr>
          <p:cNvPr id="2" name="矩形 1">
            <a:extLst>
              <a:ext uri="{FF2B5EF4-FFF2-40B4-BE49-F238E27FC236}">
                <a16:creationId xmlns:a16="http://schemas.microsoft.com/office/drawing/2014/main" id="{A285A5B8-CA64-19F5-A8A4-D7DE0779963D}"/>
              </a:ext>
            </a:extLst>
          </p:cNvPr>
          <p:cNvSpPr/>
          <p:nvPr/>
        </p:nvSpPr>
        <p:spPr>
          <a:xfrm>
            <a:off x="0" y="1066800"/>
            <a:ext cx="12192000" cy="5791200"/>
          </a:xfrm>
          <a:prstGeom prst="rect">
            <a:avLst/>
          </a:prstGeom>
          <a:solidFill>
            <a:srgbClr val="FFFFFF"/>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F21FCAA2-D1F2-7BBB-01AE-9AB5B5ED610C}"/>
              </a:ext>
            </a:extLst>
          </p:cNvPr>
          <p:cNvSpPr/>
          <p:nvPr/>
        </p:nvSpPr>
        <p:spPr>
          <a:xfrm>
            <a:off x="431800" y="1219200"/>
            <a:ext cx="11328400" cy="533400"/>
          </a:xfrm>
          <a:prstGeom prst="rect">
            <a:avLst/>
          </a:prstGeom>
          <a:solidFill>
            <a:srgbClr val="0054A0"/>
          </a:solidFill>
          <a:ln w="1270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700" b="1">
                <a:solidFill>
                  <a:srgbClr val="FFFFFF"/>
                </a:solidFill>
                <a:latin typeface="微软雅黑" panose="020B0503020204020204" pitchFamily="34" charset="-122"/>
              </a:rPr>
              <a:t>平台已形成基础原型，后续重点补齐视图、记录和接口</a:t>
            </a:r>
          </a:p>
        </p:txBody>
      </p:sp>
      <p:sp>
        <p:nvSpPr>
          <p:cNvPr id="4" name="矩形 3">
            <a:extLst>
              <a:ext uri="{FF2B5EF4-FFF2-40B4-BE49-F238E27FC236}">
                <a16:creationId xmlns:a16="http://schemas.microsoft.com/office/drawing/2014/main" id="{64AFD46D-A60C-34AE-1C58-454D22EC50E5}"/>
              </a:ext>
            </a:extLst>
          </p:cNvPr>
          <p:cNvSpPr/>
          <p:nvPr/>
        </p:nvSpPr>
        <p:spPr>
          <a:xfrm>
            <a:off x="736600" y="1905000"/>
            <a:ext cx="1714500" cy="457200"/>
          </a:xfrm>
          <a:prstGeom prst="rect">
            <a:avLst/>
          </a:prstGeom>
          <a:solidFill>
            <a:srgbClr val="0054A0"/>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400" b="1">
                <a:solidFill>
                  <a:srgbClr val="FFFFFF"/>
                </a:solidFill>
                <a:latin typeface="微软雅黑" panose="020B0503020204020204" pitchFamily="34" charset="-122"/>
              </a:rPr>
              <a:t>方向</a:t>
            </a:r>
          </a:p>
        </p:txBody>
      </p:sp>
      <p:sp>
        <p:nvSpPr>
          <p:cNvPr id="5" name="矩形 4">
            <a:extLst>
              <a:ext uri="{FF2B5EF4-FFF2-40B4-BE49-F238E27FC236}">
                <a16:creationId xmlns:a16="http://schemas.microsoft.com/office/drawing/2014/main" id="{B7AF519C-5041-624A-A315-E53726B4C498}"/>
              </a:ext>
            </a:extLst>
          </p:cNvPr>
          <p:cNvSpPr/>
          <p:nvPr/>
        </p:nvSpPr>
        <p:spPr>
          <a:xfrm>
            <a:off x="2451100" y="1905000"/>
            <a:ext cx="4953000" cy="457200"/>
          </a:xfrm>
          <a:prstGeom prst="rect">
            <a:avLst/>
          </a:prstGeom>
          <a:solidFill>
            <a:srgbClr val="0054A0"/>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400" b="1">
                <a:solidFill>
                  <a:srgbClr val="FFFFFF"/>
                </a:solidFill>
                <a:latin typeface="微软雅黑" panose="020B0503020204020204" pitchFamily="34" charset="-122"/>
              </a:rPr>
              <a:t>当前基础</a:t>
            </a:r>
          </a:p>
        </p:txBody>
      </p:sp>
      <p:sp>
        <p:nvSpPr>
          <p:cNvPr id="6" name="矩形 5">
            <a:extLst>
              <a:ext uri="{FF2B5EF4-FFF2-40B4-BE49-F238E27FC236}">
                <a16:creationId xmlns:a16="http://schemas.microsoft.com/office/drawing/2014/main" id="{D5AE396E-A174-67D8-9CCD-9B8E86571CDA}"/>
              </a:ext>
            </a:extLst>
          </p:cNvPr>
          <p:cNvSpPr/>
          <p:nvPr/>
        </p:nvSpPr>
        <p:spPr>
          <a:xfrm>
            <a:off x="7404100" y="1905000"/>
            <a:ext cx="4953000" cy="457200"/>
          </a:xfrm>
          <a:prstGeom prst="rect">
            <a:avLst/>
          </a:prstGeom>
          <a:solidFill>
            <a:srgbClr val="0054A0"/>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400" b="1">
                <a:solidFill>
                  <a:srgbClr val="FFFFFF"/>
                </a:solidFill>
                <a:latin typeface="微软雅黑" panose="020B0503020204020204" pitchFamily="34" charset="-122"/>
              </a:rPr>
              <a:t>下一步</a:t>
            </a:r>
          </a:p>
        </p:txBody>
      </p:sp>
      <p:sp>
        <p:nvSpPr>
          <p:cNvPr id="7" name="矩形 6">
            <a:extLst>
              <a:ext uri="{FF2B5EF4-FFF2-40B4-BE49-F238E27FC236}">
                <a16:creationId xmlns:a16="http://schemas.microsoft.com/office/drawing/2014/main" id="{81C80763-4A74-47F1-11C6-A354017CD302}"/>
              </a:ext>
            </a:extLst>
          </p:cNvPr>
          <p:cNvSpPr/>
          <p:nvPr/>
        </p:nvSpPr>
        <p:spPr>
          <a:xfrm>
            <a:off x="736600" y="2362200"/>
            <a:ext cx="1714500" cy="4572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前端工作台</a:t>
            </a:r>
          </a:p>
        </p:txBody>
      </p:sp>
      <p:sp>
        <p:nvSpPr>
          <p:cNvPr id="8" name="矩形 7">
            <a:extLst>
              <a:ext uri="{FF2B5EF4-FFF2-40B4-BE49-F238E27FC236}">
                <a16:creationId xmlns:a16="http://schemas.microsoft.com/office/drawing/2014/main" id="{12C1BE9A-3C02-FAAA-5FEA-955CE2304CCE}"/>
              </a:ext>
            </a:extLst>
          </p:cNvPr>
          <p:cNvSpPr/>
          <p:nvPr/>
        </p:nvSpPr>
        <p:spPr>
          <a:xfrm>
            <a:off x="2451100" y="2362200"/>
            <a:ext cx="4953000" cy="4572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已形成命令中心、任务工作台等界面框架</a:t>
            </a:r>
          </a:p>
        </p:txBody>
      </p:sp>
      <p:sp>
        <p:nvSpPr>
          <p:cNvPr id="9" name="矩形 8">
            <a:extLst>
              <a:ext uri="{FF2B5EF4-FFF2-40B4-BE49-F238E27FC236}">
                <a16:creationId xmlns:a16="http://schemas.microsoft.com/office/drawing/2014/main" id="{EFA8B2D8-CBB9-F777-A9FC-7E66837D427E}"/>
              </a:ext>
            </a:extLst>
          </p:cNvPr>
          <p:cNvSpPr/>
          <p:nvPr/>
        </p:nvSpPr>
        <p:spPr>
          <a:xfrm>
            <a:off x="7404100" y="2362200"/>
            <a:ext cx="4953000" cy="4572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优化交互和结果查看</a:t>
            </a:r>
          </a:p>
        </p:txBody>
      </p:sp>
      <p:sp>
        <p:nvSpPr>
          <p:cNvPr id="10" name="矩形 9">
            <a:extLst>
              <a:ext uri="{FF2B5EF4-FFF2-40B4-BE49-F238E27FC236}">
                <a16:creationId xmlns:a16="http://schemas.microsoft.com/office/drawing/2014/main" id="{64B5AE9A-20A4-8813-7CAE-B713FB7240D6}"/>
              </a:ext>
            </a:extLst>
          </p:cNvPr>
          <p:cNvSpPr/>
          <p:nvPr/>
        </p:nvSpPr>
        <p:spPr>
          <a:xfrm>
            <a:off x="736600" y="2819400"/>
            <a:ext cx="1714500" cy="457200"/>
          </a:xfrm>
          <a:prstGeom prst="rect">
            <a:avLst/>
          </a:prstGeom>
          <a:solidFill>
            <a:srgbClr val="FFFFFF"/>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后端调度</a:t>
            </a:r>
          </a:p>
        </p:txBody>
      </p:sp>
      <p:sp>
        <p:nvSpPr>
          <p:cNvPr id="11" name="矩形 10">
            <a:extLst>
              <a:ext uri="{FF2B5EF4-FFF2-40B4-BE49-F238E27FC236}">
                <a16:creationId xmlns:a16="http://schemas.microsoft.com/office/drawing/2014/main" id="{FA220CBF-5CE7-DF5B-6470-9728B822865A}"/>
              </a:ext>
            </a:extLst>
          </p:cNvPr>
          <p:cNvSpPr/>
          <p:nvPr/>
        </p:nvSpPr>
        <p:spPr>
          <a:xfrm>
            <a:off x="2451100" y="2819400"/>
            <a:ext cx="4953000" cy="457200"/>
          </a:xfrm>
          <a:prstGeom prst="rect">
            <a:avLst/>
          </a:prstGeom>
          <a:solidFill>
            <a:srgbClr val="FFFFFF"/>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已设计任务合同与执行器接口</a:t>
            </a:r>
          </a:p>
        </p:txBody>
      </p:sp>
      <p:sp>
        <p:nvSpPr>
          <p:cNvPr id="12" name="矩形 11">
            <a:extLst>
              <a:ext uri="{FF2B5EF4-FFF2-40B4-BE49-F238E27FC236}">
                <a16:creationId xmlns:a16="http://schemas.microsoft.com/office/drawing/2014/main" id="{F45AA397-4388-BC79-4275-B3FF1D0CEF52}"/>
              </a:ext>
            </a:extLst>
          </p:cNvPr>
          <p:cNvSpPr/>
          <p:nvPr/>
        </p:nvSpPr>
        <p:spPr>
          <a:xfrm>
            <a:off x="7404100" y="2819400"/>
            <a:ext cx="4953000" cy="457200"/>
          </a:xfrm>
          <a:prstGeom prst="rect">
            <a:avLst/>
          </a:prstGeom>
          <a:solidFill>
            <a:srgbClr val="FFFFFF"/>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完善状态记录和异常处理</a:t>
            </a:r>
          </a:p>
        </p:txBody>
      </p:sp>
      <p:sp>
        <p:nvSpPr>
          <p:cNvPr id="13" name="矩形 12">
            <a:extLst>
              <a:ext uri="{FF2B5EF4-FFF2-40B4-BE49-F238E27FC236}">
                <a16:creationId xmlns:a16="http://schemas.microsoft.com/office/drawing/2014/main" id="{EBE481E7-5A51-7540-1F60-15F0D1B05D91}"/>
              </a:ext>
            </a:extLst>
          </p:cNvPr>
          <p:cNvSpPr/>
          <p:nvPr/>
        </p:nvSpPr>
        <p:spPr>
          <a:xfrm>
            <a:off x="736600" y="3276600"/>
            <a:ext cx="1714500" cy="4572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模型接入</a:t>
            </a:r>
          </a:p>
        </p:txBody>
      </p:sp>
      <p:sp>
        <p:nvSpPr>
          <p:cNvPr id="14" name="矩形 13">
            <a:extLst>
              <a:ext uri="{FF2B5EF4-FFF2-40B4-BE49-F238E27FC236}">
                <a16:creationId xmlns:a16="http://schemas.microsoft.com/office/drawing/2014/main" id="{FFC67518-AA93-9D51-E441-474DF3E64BF5}"/>
              </a:ext>
            </a:extLst>
          </p:cNvPr>
          <p:cNvSpPr/>
          <p:nvPr/>
        </p:nvSpPr>
        <p:spPr>
          <a:xfrm>
            <a:off x="2451100" y="3276600"/>
            <a:ext cx="4953000" cy="4572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已有代表模型接入基础</a:t>
            </a:r>
          </a:p>
        </p:txBody>
      </p:sp>
      <p:sp>
        <p:nvSpPr>
          <p:cNvPr id="15" name="矩形 14">
            <a:extLst>
              <a:ext uri="{FF2B5EF4-FFF2-40B4-BE49-F238E27FC236}">
                <a16:creationId xmlns:a16="http://schemas.microsoft.com/office/drawing/2014/main" id="{E63CC11F-6BE2-97F5-B030-69C99FB1B808}"/>
              </a:ext>
            </a:extLst>
          </p:cNvPr>
          <p:cNvSpPr/>
          <p:nvPr/>
        </p:nvSpPr>
        <p:spPr>
          <a:xfrm>
            <a:off x="7404100" y="3276600"/>
            <a:ext cx="4953000" cy="4572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补齐权重、环境和验证记录</a:t>
            </a:r>
          </a:p>
        </p:txBody>
      </p:sp>
      <p:sp>
        <p:nvSpPr>
          <p:cNvPr id="16" name="矩形 15">
            <a:extLst>
              <a:ext uri="{FF2B5EF4-FFF2-40B4-BE49-F238E27FC236}">
                <a16:creationId xmlns:a16="http://schemas.microsoft.com/office/drawing/2014/main" id="{F4104941-402B-3678-B0E4-7656B1FC10F8}"/>
              </a:ext>
            </a:extLst>
          </p:cNvPr>
          <p:cNvSpPr/>
          <p:nvPr/>
        </p:nvSpPr>
        <p:spPr>
          <a:xfrm>
            <a:off x="736600" y="3733800"/>
            <a:ext cx="1714500" cy="457200"/>
          </a:xfrm>
          <a:prstGeom prst="rect">
            <a:avLst/>
          </a:prstGeom>
          <a:solidFill>
            <a:srgbClr val="FFFFFF"/>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输出能力</a:t>
            </a:r>
          </a:p>
        </p:txBody>
      </p:sp>
      <p:sp>
        <p:nvSpPr>
          <p:cNvPr id="17" name="矩形 16">
            <a:extLst>
              <a:ext uri="{FF2B5EF4-FFF2-40B4-BE49-F238E27FC236}">
                <a16:creationId xmlns:a16="http://schemas.microsoft.com/office/drawing/2014/main" id="{ED20B7FD-653D-0F2E-7D0B-F73E7353AD07}"/>
              </a:ext>
            </a:extLst>
          </p:cNvPr>
          <p:cNvSpPr/>
          <p:nvPr/>
        </p:nvSpPr>
        <p:spPr>
          <a:xfrm>
            <a:off x="2451100" y="3733800"/>
            <a:ext cx="4953000" cy="457200"/>
          </a:xfrm>
          <a:prstGeom prst="rect">
            <a:avLst/>
          </a:prstGeom>
          <a:solidFill>
            <a:srgbClr val="FFFFFF"/>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已规划统一导出与 </a:t>
            </a:r>
            <a:r>
              <a:rPr lang="en-US" altLang="zh-CN" sz="1300" b="1">
                <a:solidFill>
                  <a:srgbClr val="052346"/>
                </a:solidFill>
                <a:latin typeface="微软雅黑" panose="020B0503020204020204" pitchFamily="34" charset="-122"/>
              </a:rPr>
              <a:t>API </a:t>
            </a:r>
            <a:r>
              <a:rPr lang="zh-CN" altLang="en-US" sz="1300" b="1">
                <a:solidFill>
                  <a:srgbClr val="052346"/>
                </a:solidFill>
                <a:latin typeface="微软雅黑" panose="020B0503020204020204" pitchFamily="34" charset="-122"/>
              </a:rPr>
              <a:t>路径</a:t>
            </a:r>
          </a:p>
        </p:txBody>
      </p:sp>
      <p:sp>
        <p:nvSpPr>
          <p:cNvPr id="18" name="矩形 17">
            <a:extLst>
              <a:ext uri="{FF2B5EF4-FFF2-40B4-BE49-F238E27FC236}">
                <a16:creationId xmlns:a16="http://schemas.microsoft.com/office/drawing/2014/main" id="{B0098EB4-B2A3-44CA-36B5-53798DFF0E07}"/>
              </a:ext>
            </a:extLst>
          </p:cNvPr>
          <p:cNvSpPr/>
          <p:nvPr/>
        </p:nvSpPr>
        <p:spPr>
          <a:xfrm>
            <a:off x="7404100" y="3733800"/>
            <a:ext cx="4953000" cy="457200"/>
          </a:xfrm>
          <a:prstGeom prst="rect">
            <a:avLst/>
          </a:prstGeom>
          <a:solidFill>
            <a:srgbClr val="FFFFFF"/>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形成接口文档和演示样例</a:t>
            </a:r>
          </a:p>
        </p:txBody>
      </p:sp>
      <p:sp>
        <p:nvSpPr>
          <p:cNvPr id="19" name="矩形 18">
            <a:extLst>
              <a:ext uri="{FF2B5EF4-FFF2-40B4-BE49-F238E27FC236}">
                <a16:creationId xmlns:a16="http://schemas.microsoft.com/office/drawing/2014/main" id="{9FFE996D-3EDF-D2BB-D5C1-35E68FBB213E}"/>
              </a:ext>
            </a:extLst>
          </p:cNvPr>
          <p:cNvSpPr/>
          <p:nvPr/>
        </p:nvSpPr>
        <p:spPr>
          <a:xfrm>
            <a:off x="1397000" y="5461000"/>
            <a:ext cx="9398000" cy="4826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600" b="1">
                <a:solidFill>
                  <a:srgbClr val="052346"/>
                </a:solidFill>
                <a:latin typeface="微软雅黑" panose="020B0503020204020204" pitchFamily="34" charset="-122"/>
              </a:rPr>
              <a:t>开题阶段重点确认方案边界；中期阶段以真实截图和运行记录作为主要证据。</a:t>
            </a:r>
          </a:p>
        </p:txBody>
      </p:sp>
    </p:spTree>
    <p:extLst>
      <p:ext uri="{BB962C8B-B14F-4D97-AF65-F5344CB8AC3E}">
        <p14:creationId xmlns:p14="http://schemas.microsoft.com/office/powerpoint/2010/main" val="1236520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6C448-FC36-35AA-A309-8666383D1A8B}"/>
            </a:ext>
          </a:extLst>
        </p:cNvPr>
        <p:cNvGrpSpPr/>
        <p:nvPr/>
      </p:nvGrpSpPr>
      <p:grpSpPr>
        <a:xfrm>
          <a:off x="0" y="0"/>
          <a:ext cx="0" cy="0"/>
          <a:chOff x="0" y="0"/>
          <a:chExt cx="0" cy="0"/>
        </a:xfrm>
      </p:grpSpPr>
      <p:sp>
        <p:nvSpPr>
          <p:cNvPr id="90" name="文本框 89">
            <a:extLst>
              <a:ext uri="{FF2B5EF4-FFF2-40B4-BE49-F238E27FC236}">
                <a16:creationId xmlns:a16="http://schemas.microsoft.com/office/drawing/2014/main" id="{85A692C8-69B7-DF42-1D83-830EA65885C9}"/>
              </a:ext>
            </a:extLst>
          </p:cNvPr>
          <p:cNvSpPr txBox="1"/>
          <p:nvPr/>
        </p:nvSpPr>
        <p:spPr>
          <a:xfrm>
            <a:off x="115452" y="243436"/>
            <a:ext cx="772964" cy="369332"/>
          </a:xfrm>
          <a:prstGeom prst="rect">
            <a:avLst/>
          </a:prstGeom>
          <a:noFill/>
        </p:spPr>
        <p:txBody>
          <a:bodyPr wrap="square" rtlCol="0">
            <a:spAutoFit/>
          </a:bodyPr>
          <a:lstStyle/>
          <a:p>
            <a:pPr algn="ctr"/>
            <a:r>
              <a:rPr lang="en-US" altLang="zh-CN" b="1">
                <a:solidFill>
                  <a:srgbClr val="00417D"/>
                </a:solidFill>
                <a:latin typeface="微软雅黑" panose="020B0503020204020204" pitchFamily="34" charset="-122"/>
              </a:rPr>
              <a:t>4.3</a:t>
            </a:r>
            <a:endParaRPr lang="zh-CN" altLang="en-US" b="1" dirty="0">
              <a:solidFill>
                <a:srgbClr val="00417D"/>
              </a:solidFill>
              <a:latin typeface="微软雅黑" panose="020B0503020204020204" pitchFamily="34" charset="-122"/>
            </a:endParaRPr>
          </a:p>
        </p:txBody>
      </p:sp>
      <p:sp>
        <p:nvSpPr>
          <p:cNvPr id="92" name="文本框 91">
            <a:extLst>
              <a:ext uri="{FF2B5EF4-FFF2-40B4-BE49-F238E27FC236}">
                <a16:creationId xmlns:a16="http://schemas.microsoft.com/office/drawing/2014/main" id="{756D7332-671D-7D0A-7FA8-FCC77F89DBCA}"/>
              </a:ext>
            </a:extLst>
          </p:cNvPr>
          <p:cNvSpPr txBox="1"/>
          <p:nvPr/>
        </p:nvSpPr>
        <p:spPr>
          <a:xfrm>
            <a:off x="946461" y="269201"/>
            <a:ext cx="6440714" cy="477054"/>
          </a:xfrm>
          <a:prstGeom prst="rect">
            <a:avLst/>
          </a:prstGeom>
          <a:noFill/>
        </p:spPr>
        <p:txBody>
          <a:bodyPr wrap="square">
            <a:spAutoFit/>
          </a:bodyPr>
          <a:lstStyle/>
          <a:p>
            <a:r>
              <a:rPr lang="zh-CN" altLang="en-US" sz="2500" b="1">
                <a:solidFill>
                  <a:srgbClr val="00417D"/>
                </a:solidFill>
                <a:latin typeface="微软雅黑" panose="020B0503020204020204" pitchFamily="34" charset="-122"/>
              </a:rPr>
              <a:t>计划安排与风险应对</a:t>
            </a:r>
            <a:endParaRPr lang="zh-CN" altLang="en-US" sz="2500" b="1" dirty="0">
              <a:solidFill>
                <a:srgbClr val="00417D"/>
              </a:solidFill>
              <a:latin typeface="微软雅黑" panose="020B0503020204020204" pitchFamily="34" charset="-122"/>
            </a:endParaRPr>
          </a:p>
        </p:txBody>
      </p:sp>
      <p:sp>
        <p:nvSpPr>
          <p:cNvPr id="2" name="矩形: 圆角 1">
            <a:extLst>
              <a:ext uri="{FF2B5EF4-FFF2-40B4-BE49-F238E27FC236}">
                <a16:creationId xmlns:a16="http://schemas.microsoft.com/office/drawing/2014/main" id="{D7A6ADFC-2041-7B88-8530-65151F96F530}"/>
              </a:ext>
            </a:extLst>
          </p:cNvPr>
          <p:cNvSpPr/>
          <p:nvPr/>
        </p:nvSpPr>
        <p:spPr>
          <a:xfrm>
            <a:off x="479426" y="1159628"/>
            <a:ext cx="11217274" cy="714367"/>
          </a:xfrm>
          <a:prstGeom prst="roundRect">
            <a:avLst>
              <a:gd name="adj" fmla="val 3293"/>
            </a:avLst>
          </a:prstGeom>
          <a:solidFill>
            <a:schemeClr val="bg1"/>
          </a:solidFill>
          <a:ln w="3175" cap="flat" cmpd="sng" algn="ctr">
            <a:solidFill>
              <a:schemeClr val="accent1"/>
            </a:solidFill>
            <a:prstDash val="solid"/>
            <a:miter lim="800000"/>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3" name="文本框 2">
            <a:extLst>
              <a:ext uri="{FF2B5EF4-FFF2-40B4-BE49-F238E27FC236}">
                <a16:creationId xmlns:a16="http://schemas.microsoft.com/office/drawing/2014/main" id="{F36C15BD-FC46-FE14-9215-A260C123F22B}"/>
              </a:ext>
            </a:extLst>
          </p:cNvPr>
          <p:cNvSpPr txBox="1"/>
          <p:nvPr/>
        </p:nvSpPr>
        <p:spPr>
          <a:xfrm>
            <a:off x="833648" y="1250488"/>
            <a:ext cx="10508830" cy="532646"/>
          </a:xfrm>
          <a:prstGeom prst="rect">
            <a:avLst/>
          </a:prstGeom>
          <a:noFill/>
        </p:spPr>
        <p:txBody>
          <a:bodyPr wrap="none">
            <a:noAutofit/>
          </a:bodyPr>
          <a:lstStyle/>
          <a:p>
            <a:pPr algn="just">
              <a:lnSpc>
                <a:spcPct val="130000"/>
              </a:lnSpc>
            </a:pPr>
            <a:r>
              <a:rPr lang="zh-CN" altLang="en-US" sz="2400" b="1" dirty="0">
                <a:solidFill>
                  <a:schemeClr val="accent1"/>
                </a:solidFill>
                <a:latin typeface="微软雅黑" panose="020B0503020204020204" pitchFamily="34" charset="-122"/>
                <a:ea typeface="微软雅黑" panose="020B0503020204020204" pitchFamily="34" charset="-122"/>
              </a:rPr>
              <a:t>多铁材料与磁电调控对于未来信息技术和电子器件的发展具有重要的推动作用</a:t>
            </a:r>
          </a:p>
        </p:txBody>
      </p:sp>
      <p:sp>
        <p:nvSpPr>
          <p:cNvPr id="4" name="幻云PPT-演示军团1">
            <a:extLst>
              <a:ext uri="{FF2B5EF4-FFF2-40B4-BE49-F238E27FC236}">
                <a16:creationId xmlns:a16="http://schemas.microsoft.com/office/drawing/2014/main" id="{DC74C6B0-04D3-7711-BE51-FC72DFFC2447}"/>
              </a:ext>
            </a:extLst>
          </p:cNvPr>
          <p:cNvSpPr/>
          <p:nvPr>
            <p:custDataLst>
              <p:tags r:id="rId1"/>
            </p:custDataLst>
          </p:nvPr>
        </p:nvSpPr>
        <p:spPr>
          <a:xfrm>
            <a:off x="6183311" y="2406157"/>
            <a:ext cx="5511947" cy="4046855"/>
          </a:xfrm>
          <a:prstGeom prst="roundRect">
            <a:avLst>
              <a:gd name="adj" fmla="val 812"/>
            </a:avLst>
          </a:prstGeom>
          <a:solidFill>
            <a:srgbClr val="FFFFFF"/>
          </a:solidFill>
          <a:ln w="3175" cap="flat" cmpd="sng" algn="ctr">
            <a:solidFill>
              <a:schemeClr val="accent1"/>
            </a:solidFill>
            <a:prstDash val="solid"/>
            <a:miter lim="800000"/>
          </a:ln>
          <a:effectLst/>
        </p:spPr>
        <p:txBody>
          <a:bodyPr rtlCol="0" anchor="ctr"/>
          <a:lstStyle/>
          <a:p>
            <a:pPr algn="ctr"/>
            <a:endParaRPr lang="en-US" kern="0" dirty="0">
              <a:solidFill>
                <a:srgbClr val="E5EDF4"/>
              </a:solidFill>
              <a:latin typeface="微软雅黑" panose="020B0503020204020204" pitchFamily="34" charset="-122"/>
            </a:endParaRPr>
          </a:p>
        </p:txBody>
      </p:sp>
      <p:sp>
        <p:nvSpPr>
          <p:cNvPr id="5" name="幻云PPT-演示军团19">
            <a:extLst>
              <a:ext uri="{FF2B5EF4-FFF2-40B4-BE49-F238E27FC236}">
                <a16:creationId xmlns:a16="http://schemas.microsoft.com/office/drawing/2014/main" id="{E8D00879-6D88-082B-87D9-96FE84AF5284}"/>
              </a:ext>
            </a:extLst>
          </p:cNvPr>
          <p:cNvSpPr/>
          <p:nvPr>
            <p:custDataLst>
              <p:tags r:id="rId2"/>
            </p:custDataLst>
          </p:nvPr>
        </p:nvSpPr>
        <p:spPr>
          <a:xfrm>
            <a:off x="6183312" y="1964855"/>
            <a:ext cx="5527819" cy="578212"/>
          </a:xfrm>
          <a:prstGeom prst="roundRect">
            <a:avLst>
              <a:gd name="adj" fmla="val 5827"/>
            </a:avLst>
          </a:prstGeom>
          <a:solidFill>
            <a:schemeClr val="accent1"/>
          </a:solidFill>
          <a:ln w="3175" cap="flat" cmpd="sng" algn="ctr">
            <a:noFill/>
            <a:prstDash val="solid"/>
            <a:miter lim="800000"/>
          </a:ln>
          <a:effectLst/>
        </p:spPr>
        <p:txBody>
          <a:bodyPr lIns="76535" tIns="38268" rIns="76535" bIns="38268" rtlCol="0" anchor="ctr"/>
          <a:lstStyle/>
          <a:p>
            <a:pPr algn="ctr"/>
            <a:r>
              <a:rPr lang="zh-CN" altLang="en-US" sz="2400" b="1" kern="0" dirty="0">
                <a:solidFill>
                  <a:srgbClr val="FFFFFF"/>
                </a:solidFill>
                <a:latin typeface="微软雅黑" panose="020B0503020204020204" pitchFamily="34" charset="-122"/>
                <a:ea typeface="微软雅黑" panose="020B0503020204020204" pitchFamily="34" charset="-122"/>
                <a:cs typeface="OPPOSans B" panose="00020600040101010101" pitchFamily="18" charset="-122"/>
              </a:rPr>
              <a:t>研发数据研究</a:t>
            </a:r>
            <a:endParaRPr lang="en-US" altLang="zh-CN" sz="2400" b="1" kern="0" dirty="0">
              <a:solidFill>
                <a:srgbClr val="FFFFFF"/>
              </a:solidFill>
              <a:latin typeface="微软雅黑" panose="020B0503020204020204" pitchFamily="34" charset="-122"/>
              <a:ea typeface="微软雅黑" panose="020B0503020204020204" pitchFamily="34" charset="-122"/>
              <a:cs typeface="OPPOSans B" panose="00020600040101010101" pitchFamily="18" charset="-122"/>
            </a:endParaRPr>
          </a:p>
        </p:txBody>
      </p:sp>
      <p:graphicFrame>
        <p:nvGraphicFramePr>
          <p:cNvPr id="8" name="幻云PPT-演示军团30">
            <a:extLst>
              <a:ext uri="{FF2B5EF4-FFF2-40B4-BE49-F238E27FC236}">
                <a16:creationId xmlns:a16="http://schemas.microsoft.com/office/drawing/2014/main" id="{C8695655-0342-72DF-8869-FE6EB9D41F8F}"/>
              </a:ext>
            </a:extLst>
          </p:cNvPr>
          <p:cNvGraphicFramePr/>
          <p:nvPr>
            <p:extLst>
              <p:ext uri="{D42A27DB-BD31-4B8C-83A1-F6EECF244321}">
                <p14:modId xmlns:p14="http://schemas.microsoft.com/office/powerpoint/2010/main" val="3483799321"/>
              </p:ext>
            </p:extLst>
          </p:nvPr>
        </p:nvGraphicFramePr>
        <p:xfrm>
          <a:off x="6394475" y="2691144"/>
          <a:ext cx="5086667" cy="1848046"/>
        </p:xfrm>
        <a:graphic>
          <a:graphicData uri="http://schemas.openxmlformats.org/drawingml/2006/chart">
            <c:chart xmlns:c="http://schemas.openxmlformats.org/drawingml/2006/chart" xmlns:r="http://schemas.openxmlformats.org/officeDocument/2006/relationships" r:id="rId11"/>
          </a:graphicData>
        </a:graphic>
      </p:graphicFrame>
      <p:pic>
        <p:nvPicPr>
          <p:cNvPr id="9" name="图片 8">
            <a:extLst>
              <a:ext uri="{FF2B5EF4-FFF2-40B4-BE49-F238E27FC236}">
                <a16:creationId xmlns:a16="http://schemas.microsoft.com/office/drawing/2014/main" id="{9C09736C-2B1C-DEE0-17DE-056AC4FBE54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394475" y="4676010"/>
            <a:ext cx="2444725" cy="1626954"/>
          </a:xfrm>
          <a:prstGeom prst="roundRect">
            <a:avLst>
              <a:gd name="adj" fmla="val 1084"/>
            </a:avLst>
          </a:prstGeom>
          <a:solidFill>
            <a:schemeClr val="accent3">
              <a:alpha val="30000"/>
            </a:schemeClr>
          </a:solidFill>
          <a:ln w="9525" cap="flat" cmpd="sng" algn="ctr">
            <a:solidFill>
              <a:schemeClr val="accent1"/>
            </a:solidFill>
            <a:prstDash val="lgDash"/>
            <a:miter lim="800000"/>
          </a:ln>
          <a:effectLst/>
        </p:spPr>
      </p:pic>
      <p:pic>
        <p:nvPicPr>
          <p:cNvPr id="10" name="图片 9">
            <a:extLst>
              <a:ext uri="{FF2B5EF4-FFF2-40B4-BE49-F238E27FC236}">
                <a16:creationId xmlns:a16="http://schemas.microsoft.com/office/drawing/2014/main" id="{1EA3641E-B840-F652-BFE8-6E52CE981B66}"/>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036417" y="4675670"/>
            <a:ext cx="2444724" cy="1627634"/>
          </a:xfrm>
          <a:prstGeom prst="roundRect">
            <a:avLst>
              <a:gd name="adj" fmla="val 1084"/>
            </a:avLst>
          </a:prstGeom>
          <a:solidFill>
            <a:schemeClr val="accent3">
              <a:alpha val="30000"/>
            </a:schemeClr>
          </a:solidFill>
          <a:ln w="9525" cap="flat" cmpd="sng" algn="ctr">
            <a:solidFill>
              <a:schemeClr val="accent1"/>
            </a:solidFill>
            <a:prstDash val="lgDash"/>
            <a:miter lim="800000"/>
          </a:ln>
          <a:effectLst/>
        </p:spPr>
      </p:pic>
      <p:sp>
        <p:nvSpPr>
          <p:cNvPr id="11" name="幻云PPT-演示军团1">
            <a:extLst>
              <a:ext uri="{FF2B5EF4-FFF2-40B4-BE49-F238E27FC236}">
                <a16:creationId xmlns:a16="http://schemas.microsoft.com/office/drawing/2014/main" id="{7CFF70C4-586B-70DD-ECB9-5382CAE9B58C}"/>
              </a:ext>
            </a:extLst>
          </p:cNvPr>
          <p:cNvSpPr/>
          <p:nvPr>
            <p:custDataLst>
              <p:tags r:id="rId3"/>
            </p:custDataLst>
          </p:nvPr>
        </p:nvSpPr>
        <p:spPr>
          <a:xfrm>
            <a:off x="492809" y="2000799"/>
            <a:ext cx="5493285" cy="2062731"/>
          </a:xfrm>
          <a:prstGeom prst="roundRect">
            <a:avLst>
              <a:gd name="adj" fmla="val 617"/>
            </a:avLst>
          </a:prstGeom>
          <a:solidFill>
            <a:srgbClr val="FFFFFF"/>
          </a:solidFill>
          <a:ln w="3175" cap="flat" cmpd="sng" algn="ctr">
            <a:solidFill>
              <a:schemeClr val="accent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E5EDF4"/>
              </a:solidFill>
              <a:effectLst/>
              <a:uLnTx/>
              <a:uFillTx/>
              <a:latin typeface="微软雅黑" panose="020B0503020204020204" pitchFamily="34" charset="-122"/>
              <a:ea typeface="+mn-ea"/>
              <a:cs typeface="+mn-cs"/>
            </a:endParaRPr>
          </a:p>
        </p:txBody>
      </p:sp>
      <p:sp>
        <p:nvSpPr>
          <p:cNvPr id="12" name="幻云PPT-演示军团19">
            <a:extLst>
              <a:ext uri="{FF2B5EF4-FFF2-40B4-BE49-F238E27FC236}">
                <a16:creationId xmlns:a16="http://schemas.microsoft.com/office/drawing/2014/main" id="{FA1B6605-A767-5DCD-85F8-936E73DFA664}"/>
              </a:ext>
            </a:extLst>
          </p:cNvPr>
          <p:cNvSpPr/>
          <p:nvPr>
            <p:custDataLst>
              <p:tags r:id="rId4"/>
            </p:custDataLst>
          </p:nvPr>
        </p:nvSpPr>
        <p:spPr>
          <a:xfrm>
            <a:off x="492810" y="1979405"/>
            <a:ext cx="5493284" cy="453490"/>
          </a:xfrm>
          <a:prstGeom prst="roundRect">
            <a:avLst>
              <a:gd name="adj" fmla="val 3727"/>
            </a:avLst>
          </a:prstGeom>
          <a:solidFill>
            <a:schemeClr val="accent1"/>
          </a:solidFill>
          <a:ln w="3175" cap="flat" cmpd="sng" algn="ctr">
            <a:noFill/>
            <a:prstDash val="solid"/>
            <a:miter lim="800000"/>
          </a:ln>
          <a:effectLst/>
        </p:spPr>
        <p:txBody>
          <a:bodyPr lIns="76535" tIns="38268" rIns="76535" bIns="38268"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OPPOSans B" panose="00020600040101010101" pitchFamily="18" charset="-122"/>
              </a:rPr>
              <a:t>研究难题</a:t>
            </a:r>
            <a:endParaRPr kumimoji="0" lang="en-US" altLang="zh-CN" sz="2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OPPOSans B" panose="00020600040101010101" pitchFamily="18" charset="-122"/>
            </a:endParaRPr>
          </a:p>
        </p:txBody>
      </p:sp>
      <p:sp>
        <p:nvSpPr>
          <p:cNvPr id="13" name="幻云PPT-演示军团1">
            <a:extLst>
              <a:ext uri="{FF2B5EF4-FFF2-40B4-BE49-F238E27FC236}">
                <a16:creationId xmlns:a16="http://schemas.microsoft.com/office/drawing/2014/main" id="{DE03F39A-773D-E1A6-3B18-BB6342F826F6}"/>
              </a:ext>
            </a:extLst>
          </p:cNvPr>
          <p:cNvSpPr/>
          <p:nvPr>
            <p:custDataLst>
              <p:tags r:id="rId5"/>
            </p:custDataLst>
          </p:nvPr>
        </p:nvSpPr>
        <p:spPr>
          <a:xfrm>
            <a:off x="492809" y="4388399"/>
            <a:ext cx="5493285" cy="2062731"/>
          </a:xfrm>
          <a:prstGeom prst="roundRect">
            <a:avLst>
              <a:gd name="adj" fmla="val 617"/>
            </a:avLst>
          </a:prstGeom>
          <a:solidFill>
            <a:srgbClr val="FFFFFF"/>
          </a:solidFill>
          <a:ln w="3175" cap="flat" cmpd="sng" algn="ctr">
            <a:solidFill>
              <a:schemeClr val="accent1"/>
            </a:solidFill>
            <a:prstDash val="solid"/>
            <a:miter lim="800000"/>
          </a:ln>
          <a:effectLst/>
        </p:spPr>
        <p:txBody>
          <a:bodyPr rtlCol="0" anchor="ctr"/>
          <a:lstStyle/>
          <a:p>
            <a:pPr algn="ctr"/>
            <a:endParaRPr lang="en-US" kern="0" dirty="0">
              <a:solidFill>
                <a:srgbClr val="E5EDF4"/>
              </a:solidFill>
              <a:latin typeface="微软雅黑" panose="020B0503020204020204" pitchFamily="34" charset="-122"/>
            </a:endParaRPr>
          </a:p>
        </p:txBody>
      </p:sp>
      <p:sp>
        <p:nvSpPr>
          <p:cNvPr id="14" name="幻云PPT-演示军团19">
            <a:extLst>
              <a:ext uri="{FF2B5EF4-FFF2-40B4-BE49-F238E27FC236}">
                <a16:creationId xmlns:a16="http://schemas.microsoft.com/office/drawing/2014/main" id="{FC9ABA25-F49A-5E87-1639-F3F10118BDBB}"/>
              </a:ext>
            </a:extLst>
          </p:cNvPr>
          <p:cNvSpPr/>
          <p:nvPr>
            <p:custDataLst>
              <p:tags r:id="rId6"/>
            </p:custDataLst>
          </p:nvPr>
        </p:nvSpPr>
        <p:spPr>
          <a:xfrm>
            <a:off x="492810" y="4367005"/>
            <a:ext cx="5493284" cy="453490"/>
          </a:xfrm>
          <a:prstGeom prst="roundRect">
            <a:avLst>
              <a:gd name="adj" fmla="val 3727"/>
            </a:avLst>
          </a:prstGeom>
          <a:solidFill>
            <a:schemeClr val="accent1"/>
          </a:solidFill>
          <a:ln w="3175" cap="flat" cmpd="sng" algn="ctr">
            <a:noFill/>
            <a:prstDash val="solid"/>
            <a:miter lim="800000"/>
          </a:ln>
          <a:effectLst/>
        </p:spPr>
        <p:txBody>
          <a:bodyPr lIns="76535" tIns="38268" rIns="76535" bIns="38268" rtlCol="0" anchor="ctr"/>
          <a:lstStyle/>
          <a:p>
            <a:pPr algn="ctr"/>
            <a:r>
              <a:rPr lang="zh-CN" altLang="en-US" sz="2400" b="1" kern="0" dirty="0">
                <a:solidFill>
                  <a:srgbClr val="FFFFFF"/>
                </a:solidFill>
                <a:latin typeface="微软雅黑" panose="020B0503020204020204" pitchFamily="34" charset="-122"/>
                <a:ea typeface="微软雅黑" panose="020B0503020204020204" pitchFamily="34" charset="-122"/>
                <a:cs typeface="OPPOSans B" panose="00020600040101010101" pitchFamily="18" charset="-122"/>
              </a:rPr>
              <a:t>解决方法</a:t>
            </a:r>
            <a:endParaRPr lang="en-US" altLang="zh-CN" sz="2400" b="1" kern="0" dirty="0">
              <a:solidFill>
                <a:srgbClr val="FFFFFF"/>
              </a:solidFill>
              <a:latin typeface="微软雅黑" panose="020B0503020204020204" pitchFamily="34" charset="-122"/>
              <a:ea typeface="微软雅黑" panose="020B0503020204020204" pitchFamily="34" charset="-122"/>
              <a:cs typeface="OPPOSans B" panose="00020600040101010101" pitchFamily="18" charset="-122"/>
            </a:endParaRPr>
          </a:p>
        </p:txBody>
      </p:sp>
      <p:sp>
        <p:nvSpPr>
          <p:cNvPr id="15" name="幻云PPT-演示军团14">
            <a:extLst>
              <a:ext uri="{FF2B5EF4-FFF2-40B4-BE49-F238E27FC236}">
                <a16:creationId xmlns:a16="http://schemas.microsoft.com/office/drawing/2014/main" id="{040B9002-B667-5EE7-8CE0-771063B5BDFC}"/>
              </a:ext>
            </a:extLst>
          </p:cNvPr>
          <p:cNvSpPr/>
          <p:nvPr/>
        </p:nvSpPr>
        <p:spPr>
          <a:xfrm>
            <a:off x="658812" y="2640114"/>
            <a:ext cx="5113338" cy="1240786"/>
          </a:xfrm>
          <a:prstGeom prst="roundRect">
            <a:avLst>
              <a:gd name="adj" fmla="val 3651"/>
            </a:avLst>
          </a:prstGeom>
          <a:solidFill>
            <a:schemeClr val="accent3">
              <a:alpha val="30000"/>
            </a:schemeClr>
          </a:solidFill>
          <a:ln w="9525" cap="flat" cmpd="sng" algn="ctr">
            <a:solidFill>
              <a:schemeClr val="accent1"/>
            </a:solidFill>
            <a:prstDash val="lgDash"/>
            <a:miter lim="800000"/>
          </a:ln>
          <a:effectLst/>
        </p:spPr>
        <p:txBody>
          <a:bodyPr rtlCol="0" anchor="ctr"/>
          <a:lstStyle/>
          <a:p>
            <a:pPr marL="0" marR="0" lvl="0" indent="0" algn="just" defTabSz="4572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endParaRPr>
          </a:p>
        </p:txBody>
      </p:sp>
      <p:sp>
        <p:nvSpPr>
          <p:cNvPr id="16" name="幻云PPT-演示军团7">
            <a:extLst>
              <a:ext uri="{FF2B5EF4-FFF2-40B4-BE49-F238E27FC236}">
                <a16:creationId xmlns:a16="http://schemas.microsoft.com/office/drawing/2014/main" id="{D3826F87-801A-6A84-6749-4511D4D96150}"/>
              </a:ext>
            </a:extLst>
          </p:cNvPr>
          <p:cNvSpPr txBox="1"/>
          <p:nvPr>
            <p:custDataLst>
              <p:tags r:id="rId7"/>
            </p:custDataLst>
          </p:nvPr>
        </p:nvSpPr>
        <p:spPr>
          <a:xfrm>
            <a:off x="848280" y="2737569"/>
            <a:ext cx="4799485" cy="1045613"/>
          </a:xfrm>
          <a:prstGeom prst="rect">
            <a:avLst/>
          </a:prstGeom>
          <a:noFill/>
          <a:effectLst/>
        </p:spPr>
        <p:txBody>
          <a:bodyPr wrap="square" lIns="70363" tIns="35182" rIns="70363" bIns="35182" rtlCol="0">
            <a:spAutoFit/>
          </a:bodyPr>
          <a:lstStyle/>
          <a:p>
            <a:pPr>
              <a:lnSpc>
                <a:spcPct val="120000"/>
              </a:lnSpc>
            </a:pPr>
            <a:r>
              <a:rPr lang="zh-CN" altLang="en-US" dirty="0">
                <a:solidFill>
                  <a:schemeClr val="accent1"/>
                </a:solidFill>
                <a:latin typeface="微软雅黑" panose="020B0503020204020204" pitchFamily="34" charset="-122"/>
                <a:ea typeface="微软雅黑" panose="020B0503020204020204" pitchFamily="34" charset="-122"/>
                <a:cs typeface="OPPOSans R" panose="00020600040101010101" pitchFamily="18" charset="-122"/>
              </a:rPr>
              <a:t>界面效应</a:t>
            </a:r>
            <a:r>
              <a:rPr lang="zh-CN" altLang="en-US" dirty="0">
                <a:solidFill>
                  <a:srgbClr val="000000"/>
                </a:solidFill>
                <a:latin typeface="微软雅黑" panose="020B0503020204020204" pitchFamily="34" charset="-122"/>
                <a:ea typeface="微软雅黑" panose="020B0503020204020204" pitchFamily="34" charset="-122"/>
                <a:cs typeface="OPPOSans R" panose="00020600040101010101" pitchFamily="18" charset="-122"/>
              </a:rPr>
              <a:t>：在纳米尺度薄膜中，界面效应在一定程度上限制了传统铁电材料在高速微型化铁电元器件中的应用</a:t>
            </a:r>
            <a:endParaRPr lang="en-US" dirty="0">
              <a:solidFill>
                <a:srgbClr val="000000"/>
              </a:solidFill>
              <a:latin typeface="微软雅黑" panose="020B0503020204020204" pitchFamily="34" charset="-122"/>
              <a:ea typeface="微软雅黑" panose="020B0503020204020204" pitchFamily="34" charset="-122"/>
              <a:cs typeface="OPPOSans R" panose="00020600040101010101" pitchFamily="18" charset="-122"/>
            </a:endParaRPr>
          </a:p>
        </p:txBody>
      </p:sp>
      <p:sp>
        <p:nvSpPr>
          <p:cNvPr id="17" name="幻云PPT-演示军团14">
            <a:extLst>
              <a:ext uri="{FF2B5EF4-FFF2-40B4-BE49-F238E27FC236}">
                <a16:creationId xmlns:a16="http://schemas.microsoft.com/office/drawing/2014/main" id="{B35ACE92-173B-D8DC-892C-AE6C0EB22421}"/>
              </a:ext>
            </a:extLst>
          </p:cNvPr>
          <p:cNvSpPr/>
          <p:nvPr/>
        </p:nvSpPr>
        <p:spPr>
          <a:xfrm>
            <a:off x="658812" y="5015559"/>
            <a:ext cx="5113338" cy="1240786"/>
          </a:xfrm>
          <a:prstGeom prst="roundRect">
            <a:avLst>
              <a:gd name="adj" fmla="val 3651"/>
            </a:avLst>
          </a:prstGeom>
          <a:solidFill>
            <a:schemeClr val="accent3">
              <a:alpha val="30000"/>
            </a:schemeClr>
          </a:solidFill>
          <a:ln w="9525" cap="flat" cmpd="sng" algn="ctr">
            <a:solidFill>
              <a:schemeClr val="accent1"/>
            </a:solidFill>
            <a:prstDash val="lgDash"/>
            <a:miter lim="800000"/>
          </a:ln>
          <a:effectLst/>
        </p:spPr>
        <p:txBody>
          <a:bodyPr rtlCol="0" anchor="ctr"/>
          <a:lstStyle/>
          <a:p>
            <a:pPr algn="just" defTabSz="457200"/>
            <a:endParaRPr lang="en-US" sz="1200" kern="0" dirty="0">
              <a:solidFill>
                <a:prstClr val="white"/>
              </a:solidFill>
              <a:latin typeface="Arial" panose="020B0604020202020204" pitchFamily="34" charset="0"/>
              <a:ea typeface="微软雅黑" panose="020B0503020204020204" pitchFamily="34" charset="-122"/>
            </a:endParaRPr>
          </a:p>
        </p:txBody>
      </p:sp>
      <p:sp>
        <p:nvSpPr>
          <p:cNvPr id="18" name="幻云PPT-演示军团7">
            <a:extLst>
              <a:ext uri="{FF2B5EF4-FFF2-40B4-BE49-F238E27FC236}">
                <a16:creationId xmlns:a16="http://schemas.microsoft.com/office/drawing/2014/main" id="{4E9E99BE-FA2A-1B93-278B-582988BCEB65}"/>
              </a:ext>
            </a:extLst>
          </p:cNvPr>
          <p:cNvSpPr txBox="1"/>
          <p:nvPr>
            <p:custDataLst>
              <p:tags r:id="rId8"/>
            </p:custDataLst>
          </p:nvPr>
        </p:nvSpPr>
        <p:spPr>
          <a:xfrm>
            <a:off x="848280" y="5113014"/>
            <a:ext cx="4799485" cy="1045613"/>
          </a:xfrm>
          <a:prstGeom prst="rect">
            <a:avLst/>
          </a:prstGeom>
          <a:noFill/>
          <a:effectLst/>
        </p:spPr>
        <p:txBody>
          <a:bodyPr wrap="square" lIns="70363" tIns="35182" rIns="70363" bIns="35182" rtlCol="0">
            <a:spAutoFit/>
          </a:bodyPr>
          <a:lstStyle/>
          <a:p>
            <a:pPr>
              <a:lnSpc>
                <a:spcPct val="120000"/>
              </a:lnSpc>
            </a:pPr>
            <a:r>
              <a:rPr lang="zh-CN" altLang="en-US" dirty="0">
                <a:solidFill>
                  <a:schemeClr val="accent1"/>
                </a:solidFill>
                <a:latin typeface="微软雅黑" panose="020B0503020204020204" pitchFamily="34" charset="-122"/>
                <a:ea typeface="微软雅黑" panose="020B0503020204020204" pitchFamily="34" charset="-122"/>
                <a:cs typeface="OPPOSans R" panose="00020600040101010101" pitchFamily="18" charset="-122"/>
              </a:rPr>
              <a:t>电场调控氧离子栅极：</a:t>
            </a:r>
            <a:r>
              <a:rPr lang="zh-CN" altLang="en-US" dirty="0">
                <a:solidFill>
                  <a:srgbClr val="000000"/>
                </a:solidFill>
                <a:latin typeface="微软雅黑" panose="020B0503020204020204" pitchFamily="34" charset="-122"/>
                <a:ea typeface="微软雅黑" panose="020B0503020204020204" pitchFamily="34" charset="-122"/>
                <a:cs typeface="OPPOSans R" panose="00020600040101010101" pitchFamily="18" charset="-122"/>
              </a:rPr>
              <a:t>通过电场调控氧离子栅极与磁性金属界面处的磁相互作用，在室温下实现快速的磁电耦合效应和阻变存储</a:t>
            </a:r>
            <a:endParaRPr lang="en-US" dirty="0">
              <a:solidFill>
                <a:srgbClr val="000000"/>
              </a:solidFill>
              <a:latin typeface="微软雅黑" panose="020B0503020204020204" pitchFamily="34" charset="-122"/>
              <a:ea typeface="微软雅黑" panose="020B0503020204020204" pitchFamily="34" charset="-122"/>
              <a:cs typeface="OPPOSans R" panose="00020600040101010101" pitchFamily="18" charset="-122"/>
            </a:endParaRPr>
          </a:p>
        </p:txBody>
      </p:sp>
      <p:sp>
        <p:nvSpPr>
          <p:cNvPr id="6" name="矩形 5">
            <a:extLst>
              <a:ext uri="{FF2B5EF4-FFF2-40B4-BE49-F238E27FC236}">
                <a16:creationId xmlns:a16="http://schemas.microsoft.com/office/drawing/2014/main" id="{A8BA30BB-5D29-4A55-DB77-408AB03AFD82}"/>
              </a:ext>
            </a:extLst>
          </p:cNvPr>
          <p:cNvSpPr/>
          <p:nvPr/>
        </p:nvSpPr>
        <p:spPr>
          <a:xfrm>
            <a:off x="0" y="1066800"/>
            <a:ext cx="12192000" cy="5791200"/>
          </a:xfrm>
          <a:prstGeom prst="rect">
            <a:avLst/>
          </a:prstGeom>
          <a:solidFill>
            <a:srgbClr val="FFFFFF"/>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9D200DE2-D160-188F-25BF-511BCC0B85C2}"/>
              </a:ext>
            </a:extLst>
          </p:cNvPr>
          <p:cNvSpPr/>
          <p:nvPr/>
        </p:nvSpPr>
        <p:spPr>
          <a:xfrm>
            <a:off x="431800" y="1219200"/>
            <a:ext cx="11328400" cy="533400"/>
          </a:xfrm>
          <a:prstGeom prst="rect">
            <a:avLst/>
          </a:prstGeom>
          <a:solidFill>
            <a:srgbClr val="0054A0"/>
          </a:solidFill>
          <a:ln w="1270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700" b="1">
                <a:solidFill>
                  <a:srgbClr val="FFFFFF"/>
                </a:solidFill>
                <a:latin typeface="微软雅黑" panose="020B0503020204020204" pitchFamily="34" charset="-122"/>
              </a:rPr>
              <a:t>后续工作按原型完善、模型验证和论文整理三阶段推进</a:t>
            </a:r>
          </a:p>
        </p:txBody>
      </p:sp>
      <p:sp>
        <p:nvSpPr>
          <p:cNvPr id="19" name="矩形 18">
            <a:extLst>
              <a:ext uri="{FF2B5EF4-FFF2-40B4-BE49-F238E27FC236}">
                <a16:creationId xmlns:a16="http://schemas.microsoft.com/office/drawing/2014/main" id="{5854A74C-9C22-FD55-DF7C-2BB20210EB3B}"/>
              </a:ext>
            </a:extLst>
          </p:cNvPr>
          <p:cNvSpPr/>
          <p:nvPr/>
        </p:nvSpPr>
        <p:spPr>
          <a:xfrm>
            <a:off x="698500" y="1968500"/>
            <a:ext cx="1524000" cy="457200"/>
          </a:xfrm>
          <a:prstGeom prst="rect">
            <a:avLst/>
          </a:prstGeom>
          <a:solidFill>
            <a:srgbClr val="0054A0"/>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400" b="1">
                <a:solidFill>
                  <a:srgbClr val="FFFFFF"/>
                </a:solidFill>
                <a:latin typeface="微软雅黑" panose="020B0503020204020204" pitchFamily="34" charset="-122"/>
              </a:rPr>
              <a:t>阶段</a:t>
            </a:r>
          </a:p>
        </p:txBody>
      </p:sp>
      <p:sp>
        <p:nvSpPr>
          <p:cNvPr id="20" name="矩形 19">
            <a:extLst>
              <a:ext uri="{FF2B5EF4-FFF2-40B4-BE49-F238E27FC236}">
                <a16:creationId xmlns:a16="http://schemas.microsoft.com/office/drawing/2014/main" id="{EFD3E644-4820-06DF-DD5B-F4BD4A7EDF94}"/>
              </a:ext>
            </a:extLst>
          </p:cNvPr>
          <p:cNvSpPr/>
          <p:nvPr/>
        </p:nvSpPr>
        <p:spPr>
          <a:xfrm>
            <a:off x="2222500" y="1968500"/>
            <a:ext cx="3810000" cy="457200"/>
          </a:xfrm>
          <a:prstGeom prst="rect">
            <a:avLst/>
          </a:prstGeom>
          <a:solidFill>
            <a:srgbClr val="0054A0"/>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400" b="1">
                <a:solidFill>
                  <a:srgbClr val="FFFFFF"/>
                </a:solidFill>
                <a:latin typeface="微软雅黑" panose="020B0503020204020204" pitchFamily="34" charset="-122"/>
              </a:rPr>
              <a:t>工作重点</a:t>
            </a:r>
          </a:p>
        </p:txBody>
      </p:sp>
      <p:sp>
        <p:nvSpPr>
          <p:cNvPr id="21" name="矩形 20">
            <a:extLst>
              <a:ext uri="{FF2B5EF4-FFF2-40B4-BE49-F238E27FC236}">
                <a16:creationId xmlns:a16="http://schemas.microsoft.com/office/drawing/2014/main" id="{CFF3703C-6F3B-12A0-249C-6BE59DFE53E8}"/>
              </a:ext>
            </a:extLst>
          </p:cNvPr>
          <p:cNvSpPr/>
          <p:nvPr/>
        </p:nvSpPr>
        <p:spPr>
          <a:xfrm>
            <a:off x="6032500" y="1968500"/>
            <a:ext cx="3175000" cy="457200"/>
          </a:xfrm>
          <a:prstGeom prst="rect">
            <a:avLst/>
          </a:prstGeom>
          <a:solidFill>
            <a:srgbClr val="0054A0"/>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400" b="1">
                <a:solidFill>
                  <a:srgbClr val="FFFFFF"/>
                </a:solidFill>
                <a:latin typeface="微软雅黑" panose="020B0503020204020204" pitchFamily="34" charset="-122"/>
              </a:rPr>
              <a:t>主要风险</a:t>
            </a:r>
          </a:p>
        </p:txBody>
      </p:sp>
      <p:sp>
        <p:nvSpPr>
          <p:cNvPr id="22" name="矩形 21">
            <a:extLst>
              <a:ext uri="{FF2B5EF4-FFF2-40B4-BE49-F238E27FC236}">
                <a16:creationId xmlns:a16="http://schemas.microsoft.com/office/drawing/2014/main" id="{D5300F41-B6DF-196E-48F3-AE0CFCBE67F9}"/>
              </a:ext>
            </a:extLst>
          </p:cNvPr>
          <p:cNvSpPr/>
          <p:nvPr/>
        </p:nvSpPr>
        <p:spPr>
          <a:xfrm>
            <a:off x="9207500" y="1968500"/>
            <a:ext cx="3175000" cy="457200"/>
          </a:xfrm>
          <a:prstGeom prst="rect">
            <a:avLst/>
          </a:prstGeom>
          <a:solidFill>
            <a:srgbClr val="0054A0"/>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400" b="1">
                <a:solidFill>
                  <a:srgbClr val="FFFFFF"/>
                </a:solidFill>
                <a:latin typeface="微软雅黑" panose="020B0503020204020204" pitchFamily="34" charset="-122"/>
              </a:rPr>
              <a:t>应对方式</a:t>
            </a:r>
          </a:p>
        </p:txBody>
      </p:sp>
      <p:sp>
        <p:nvSpPr>
          <p:cNvPr id="23" name="矩形 22">
            <a:extLst>
              <a:ext uri="{FF2B5EF4-FFF2-40B4-BE49-F238E27FC236}">
                <a16:creationId xmlns:a16="http://schemas.microsoft.com/office/drawing/2014/main" id="{B86E0250-A16F-0913-2CE0-AF46C0B87AF0}"/>
              </a:ext>
            </a:extLst>
          </p:cNvPr>
          <p:cNvSpPr/>
          <p:nvPr/>
        </p:nvSpPr>
        <p:spPr>
          <a:xfrm>
            <a:off x="698500" y="2425700"/>
            <a:ext cx="1524000" cy="4572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近期</a:t>
            </a:r>
          </a:p>
        </p:txBody>
      </p:sp>
      <p:sp>
        <p:nvSpPr>
          <p:cNvPr id="24" name="矩形 23">
            <a:extLst>
              <a:ext uri="{FF2B5EF4-FFF2-40B4-BE49-F238E27FC236}">
                <a16:creationId xmlns:a16="http://schemas.microsoft.com/office/drawing/2014/main" id="{3EBDB569-E73F-26AA-66AB-E42D09BC666F}"/>
              </a:ext>
            </a:extLst>
          </p:cNvPr>
          <p:cNvSpPr/>
          <p:nvPr/>
        </p:nvSpPr>
        <p:spPr>
          <a:xfrm>
            <a:off x="2222500" y="2425700"/>
            <a:ext cx="3810000" cy="4572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完善平台交互与任务记录</a:t>
            </a:r>
          </a:p>
        </p:txBody>
      </p:sp>
      <p:sp>
        <p:nvSpPr>
          <p:cNvPr id="25" name="矩形 24">
            <a:extLst>
              <a:ext uri="{FF2B5EF4-FFF2-40B4-BE49-F238E27FC236}">
                <a16:creationId xmlns:a16="http://schemas.microsoft.com/office/drawing/2014/main" id="{711163EB-D0B7-06C5-60EC-14BA9D9C62E8}"/>
              </a:ext>
            </a:extLst>
          </p:cNvPr>
          <p:cNvSpPr/>
          <p:nvPr/>
        </p:nvSpPr>
        <p:spPr>
          <a:xfrm>
            <a:off x="6032500" y="2425700"/>
            <a:ext cx="3175000" cy="4572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altLang="zh-CN" sz="1300" b="1">
                <a:solidFill>
                  <a:srgbClr val="052346"/>
                </a:solidFill>
                <a:latin typeface="微软雅黑" panose="020B0503020204020204" pitchFamily="34" charset="-122"/>
              </a:rPr>
              <a:t>UI </a:t>
            </a:r>
            <a:r>
              <a:rPr lang="zh-CN" altLang="en-US" sz="1300" b="1">
                <a:solidFill>
                  <a:srgbClr val="052346"/>
                </a:solidFill>
                <a:latin typeface="微软雅黑" panose="020B0503020204020204" pitchFamily="34" charset="-122"/>
              </a:rPr>
              <a:t>与真实流程脱节</a:t>
            </a:r>
          </a:p>
        </p:txBody>
      </p:sp>
      <p:sp>
        <p:nvSpPr>
          <p:cNvPr id="26" name="矩形 25">
            <a:extLst>
              <a:ext uri="{FF2B5EF4-FFF2-40B4-BE49-F238E27FC236}">
                <a16:creationId xmlns:a16="http://schemas.microsoft.com/office/drawing/2014/main" id="{B6BB727C-605A-E9DB-3D8E-65FA160684BC}"/>
              </a:ext>
            </a:extLst>
          </p:cNvPr>
          <p:cNvSpPr/>
          <p:nvPr/>
        </p:nvSpPr>
        <p:spPr>
          <a:xfrm>
            <a:off x="9207500" y="2425700"/>
            <a:ext cx="3175000" cy="4572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以端到端任务驱动界面</a:t>
            </a:r>
          </a:p>
        </p:txBody>
      </p:sp>
      <p:sp>
        <p:nvSpPr>
          <p:cNvPr id="27" name="矩形 26">
            <a:extLst>
              <a:ext uri="{FF2B5EF4-FFF2-40B4-BE49-F238E27FC236}">
                <a16:creationId xmlns:a16="http://schemas.microsoft.com/office/drawing/2014/main" id="{36EA673C-1427-4A72-5303-D83248C8DC05}"/>
              </a:ext>
            </a:extLst>
          </p:cNvPr>
          <p:cNvSpPr/>
          <p:nvPr/>
        </p:nvSpPr>
        <p:spPr>
          <a:xfrm>
            <a:off x="698500" y="2882900"/>
            <a:ext cx="1524000" cy="457200"/>
          </a:xfrm>
          <a:prstGeom prst="rect">
            <a:avLst/>
          </a:prstGeom>
          <a:solidFill>
            <a:srgbClr val="FFFFFF"/>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中期</a:t>
            </a:r>
          </a:p>
        </p:txBody>
      </p:sp>
      <p:sp>
        <p:nvSpPr>
          <p:cNvPr id="28" name="矩形 27">
            <a:extLst>
              <a:ext uri="{FF2B5EF4-FFF2-40B4-BE49-F238E27FC236}">
                <a16:creationId xmlns:a16="http://schemas.microsoft.com/office/drawing/2014/main" id="{488F23D6-D774-3725-1DF8-7FA30607F746}"/>
              </a:ext>
            </a:extLst>
          </p:cNvPr>
          <p:cNvSpPr/>
          <p:nvPr/>
        </p:nvSpPr>
        <p:spPr>
          <a:xfrm>
            <a:off x="2222500" y="2882900"/>
            <a:ext cx="3810000" cy="457200"/>
          </a:xfrm>
          <a:prstGeom prst="rect">
            <a:avLst/>
          </a:prstGeom>
          <a:solidFill>
            <a:srgbClr val="FFFFFF"/>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补充模型接入和对比视图</a:t>
            </a:r>
          </a:p>
        </p:txBody>
      </p:sp>
      <p:sp>
        <p:nvSpPr>
          <p:cNvPr id="29" name="矩形 28">
            <a:extLst>
              <a:ext uri="{FF2B5EF4-FFF2-40B4-BE49-F238E27FC236}">
                <a16:creationId xmlns:a16="http://schemas.microsoft.com/office/drawing/2014/main" id="{E14FA69C-D05A-3EF1-105F-56221EBADEBD}"/>
              </a:ext>
            </a:extLst>
          </p:cNvPr>
          <p:cNvSpPr/>
          <p:nvPr/>
        </p:nvSpPr>
        <p:spPr>
          <a:xfrm>
            <a:off x="6032500" y="2882900"/>
            <a:ext cx="3175000" cy="457200"/>
          </a:xfrm>
          <a:prstGeom prst="rect">
            <a:avLst/>
          </a:prstGeom>
          <a:solidFill>
            <a:srgbClr val="FFFFFF"/>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模型环境差异较大</a:t>
            </a:r>
          </a:p>
        </p:txBody>
      </p:sp>
      <p:sp>
        <p:nvSpPr>
          <p:cNvPr id="30" name="矩形 29">
            <a:extLst>
              <a:ext uri="{FF2B5EF4-FFF2-40B4-BE49-F238E27FC236}">
                <a16:creationId xmlns:a16="http://schemas.microsoft.com/office/drawing/2014/main" id="{B045A128-8EC3-F9EF-C556-CEA3A1116497}"/>
              </a:ext>
            </a:extLst>
          </p:cNvPr>
          <p:cNvSpPr/>
          <p:nvPr/>
        </p:nvSpPr>
        <p:spPr>
          <a:xfrm>
            <a:off x="9207500" y="2882900"/>
            <a:ext cx="3175000" cy="457200"/>
          </a:xfrm>
          <a:prstGeom prst="rect">
            <a:avLst/>
          </a:prstGeom>
          <a:solidFill>
            <a:srgbClr val="FFFFFF"/>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执行器隔离模型差异</a:t>
            </a:r>
          </a:p>
        </p:txBody>
      </p:sp>
      <p:sp>
        <p:nvSpPr>
          <p:cNvPr id="31" name="矩形 30">
            <a:extLst>
              <a:ext uri="{FF2B5EF4-FFF2-40B4-BE49-F238E27FC236}">
                <a16:creationId xmlns:a16="http://schemas.microsoft.com/office/drawing/2014/main" id="{6A71D873-5988-5E12-2192-D2949BDD1740}"/>
              </a:ext>
            </a:extLst>
          </p:cNvPr>
          <p:cNvSpPr/>
          <p:nvPr/>
        </p:nvSpPr>
        <p:spPr>
          <a:xfrm>
            <a:off x="698500" y="3340100"/>
            <a:ext cx="1524000" cy="4572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后期</a:t>
            </a:r>
          </a:p>
        </p:txBody>
      </p:sp>
      <p:sp>
        <p:nvSpPr>
          <p:cNvPr id="32" name="矩形 31">
            <a:extLst>
              <a:ext uri="{FF2B5EF4-FFF2-40B4-BE49-F238E27FC236}">
                <a16:creationId xmlns:a16="http://schemas.microsoft.com/office/drawing/2014/main" id="{14FDEBDD-68DE-8D5B-7811-902A59AB7ECE}"/>
              </a:ext>
            </a:extLst>
          </p:cNvPr>
          <p:cNvSpPr/>
          <p:nvPr/>
        </p:nvSpPr>
        <p:spPr>
          <a:xfrm>
            <a:off x="2222500" y="3340100"/>
            <a:ext cx="3810000" cy="4572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整理报告、截图和系统文档</a:t>
            </a:r>
          </a:p>
        </p:txBody>
      </p:sp>
      <p:sp>
        <p:nvSpPr>
          <p:cNvPr id="33" name="矩形 32">
            <a:extLst>
              <a:ext uri="{FF2B5EF4-FFF2-40B4-BE49-F238E27FC236}">
                <a16:creationId xmlns:a16="http://schemas.microsoft.com/office/drawing/2014/main" id="{78352C96-E87F-BD51-F1FF-0B3BD3B1647F}"/>
              </a:ext>
            </a:extLst>
          </p:cNvPr>
          <p:cNvSpPr/>
          <p:nvPr/>
        </p:nvSpPr>
        <p:spPr>
          <a:xfrm>
            <a:off x="6032500" y="3340100"/>
            <a:ext cx="3175000" cy="4572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证据链不完整</a:t>
            </a:r>
          </a:p>
        </p:txBody>
      </p:sp>
      <p:sp>
        <p:nvSpPr>
          <p:cNvPr id="34" name="矩形 33">
            <a:extLst>
              <a:ext uri="{FF2B5EF4-FFF2-40B4-BE49-F238E27FC236}">
                <a16:creationId xmlns:a16="http://schemas.microsoft.com/office/drawing/2014/main" id="{9616D1FB-6EEC-5E65-082F-FA5E8873CD64}"/>
              </a:ext>
            </a:extLst>
          </p:cNvPr>
          <p:cNvSpPr/>
          <p:nvPr/>
        </p:nvSpPr>
        <p:spPr>
          <a:xfrm>
            <a:off x="9207500" y="3340100"/>
            <a:ext cx="3175000" cy="4572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300" b="1">
                <a:solidFill>
                  <a:srgbClr val="052346"/>
                </a:solidFill>
                <a:latin typeface="微软雅黑" panose="020B0503020204020204" pitchFamily="34" charset="-122"/>
              </a:rPr>
              <a:t>保留日志、产物和配置</a:t>
            </a:r>
          </a:p>
        </p:txBody>
      </p:sp>
      <p:sp>
        <p:nvSpPr>
          <p:cNvPr id="35" name="矩形 34">
            <a:extLst>
              <a:ext uri="{FF2B5EF4-FFF2-40B4-BE49-F238E27FC236}">
                <a16:creationId xmlns:a16="http://schemas.microsoft.com/office/drawing/2014/main" id="{FC79DA5F-DE35-9A80-22D1-1F9A45C6723D}"/>
              </a:ext>
            </a:extLst>
          </p:cNvPr>
          <p:cNvSpPr/>
          <p:nvPr/>
        </p:nvSpPr>
        <p:spPr>
          <a:xfrm>
            <a:off x="1397000" y="5334000"/>
            <a:ext cx="9398000" cy="533400"/>
          </a:xfrm>
          <a:prstGeom prst="rect">
            <a:avLst/>
          </a:prstGeom>
          <a:solidFill>
            <a:srgbClr val="E8F1FA"/>
          </a:solidFill>
          <a:ln w="1270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600" b="1">
                <a:solidFill>
                  <a:srgbClr val="052346"/>
                </a:solidFill>
                <a:latin typeface="微软雅黑" panose="020B0503020204020204" pitchFamily="34" charset="-122"/>
              </a:rPr>
              <a:t>预期成果：可运行平台原型、代表模型接入样例、实验记录与系统说明文档。</a:t>
            </a:r>
          </a:p>
        </p:txBody>
      </p:sp>
    </p:spTree>
    <p:extLst>
      <p:ext uri="{BB962C8B-B14F-4D97-AF65-F5344CB8AC3E}">
        <p14:creationId xmlns:p14="http://schemas.microsoft.com/office/powerpoint/2010/main" val="15635948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48A6D-C6EE-964D-6C1A-BE3EC5A39DA0}"/>
            </a:ext>
          </a:extLst>
        </p:cNvPr>
        <p:cNvGrpSpPr/>
        <p:nvPr/>
      </p:nvGrpSpPr>
      <p:grpSpPr>
        <a:xfrm>
          <a:off x="0" y="0"/>
          <a:ext cx="0" cy="0"/>
          <a:chOff x="0" y="0"/>
          <a:chExt cx="0" cy="0"/>
        </a:xfrm>
      </p:grpSpPr>
      <p:pic>
        <p:nvPicPr>
          <p:cNvPr id="11" name="图片 10" descr="蓝色的火车在站台旁&#10;&#10;描述已自动生成">
            <a:extLst>
              <a:ext uri="{FF2B5EF4-FFF2-40B4-BE49-F238E27FC236}">
                <a16:creationId xmlns:a16="http://schemas.microsoft.com/office/drawing/2014/main" id="{47CB2ABF-6C6A-A145-CBD3-5D4863BE40CD}"/>
              </a:ext>
            </a:extLst>
          </p:cNvPr>
          <p:cNvPicPr>
            <a:picLocks noChangeAspect="1"/>
          </p:cNvPicPr>
          <p:nvPr/>
        </p:nvPicPr>
        <p:blipFill rotWithShape="1">
          <a:blip r:embed="rId3" cstate="print">
            <a:duotone>
              <a:schemeClr val="accent6">
                <a:shade val="45000"/>
                <a:satMod val="135000"/>
              </a:schemeClr>
              <a:prstClr val="white"/>
            </a:duotone>
            <a:extLst>
              <a:ext uri="{BEBA8EAE-BF5A-486C-A8C5-ECC9F3942E4B}">
                <a14:imgProps xmlns:a14="http://schemas.microsoft.com/office/drawing/2010/main">
                  <a14:imgLayer r:embed="rId4">
                    <a14:imgEffect>
                      <a14:saturation sat="0"/>
                    </a14:imgEffect>
                    <a14:imgEffect>
                      <a14:brightnessContrast contrast="-40000"/>
                    </a14:imgEffect>
                  </a14:imgLayer>
                </a14:imgProps>
              </a:ext>
              <a:ext uri="{28A0092B-C50C-407E-A947-70E740481C1C}">
                <a14:useLocalDpi xmlns:a14="http://schemas.microsoft.com/office/drawing/2010/main" val="0"/>
              </a:ext>
            </a:extLst>
          </a:blip>
          <a:srcRect l="51" b="33391"/>
          <a:stretch/>
        </p:blipFill>
        <p:spPr>
          <a:xfrm>
            <a:off x="567" y="1099270"/>
            <a:ext cx="12190866" cy="4060213"/>
          </a:xfrm>
          <a:prstGeom prst="rect">
            <a:avLst/>
          </a:prstGeom>
        </p:spPr>
      </p:pic>
      <p:sp>
        <p:nvSpPr>
          <p:cNvPr id="12" name="矩形 11">
            <a:extLst>
              <a:ext uri="{FF2B5EF4-FFF2-40B4-BE49-F238E27FC236}">
                <a16:creationId xmlns:a16="http://schemas.microsoft.com/office/drawing/2014/main" id="{6DAA6598-060B-09AF-69C5-C131F0EE830A}"/>
              </a:ext>
            </a:extLst>
          </p:cNvPr>
          <p:cNvSpPr/>
          <p:nvPr/>
        </p:nvSpPr>
        <p:spPr>
          <a:xfrm>
            <a:off x="9859" y="-1"/>
            <a:ext cx="12191999" cy="5159483"/>
          </a:xfrm>
          <a:prstGeom prst="rect">
            <a:avLst/>
          </a:prstGeom>
          <a:gradFill flip="none" rotWithShape="1">
            <a:gsLst>
              <a:gs pos="49000">
                <a:schemeClr val="bg1"/>
              </a:gs>
              <a:gs pos="100000">
                <a:schemeClr val="accent3">
                  <a:alpha val="2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dirty="0">
              <a:solidFill>
                <a:prstClr val="white"/>
              </a:solidFill>
              <a:latin typeface="微软雅黑" panose="020B0503020204020204" pitchFamily="34" charset="-122"/>
              <a:ea typeface="微软雅黑" panose="020B0503020204020204" pitchFamily="34" charset="-122"/>
            </a:endParaRPr>
          </a:p>
        </p:txBody>
      </p:sp>
      <p:grpSp>
        <p:nvGrpSpPr>
          <p:cNvPr id="13" name="组合 12">
            <a:extLst>
              <a:ext uri="{FF2B5EF4-FFF2-40B4-BE49-F238E27FC236}">
                <a16:creationId xmlns:a16="http://schemas.microsoft.com/office/drawing/2014/main" id="{8B7BF0E7-40A8-7FA0-2CDB-5543790FC811}"/>
              </a:ext>
            </a:extLst>
          </p:cNvPr>
          <p:cNvGrpSpPr/>
          <p:nvPr/>
        </p:nvGrpSpPr>
        <p:grpSpPr>
          <a:xfrm>
            <a:off x="9859" y="1239674"/>
            <a:ext cx="12172282" cy="2928257"/>
            <a:chOff x="442611" y="2016251"/>
            <a:chExt cx="10694619" cy="2228850"/>
          </a:xfrm>
          <a:gradFill>
            <a:gsLst>
              <a:gs pos="0">
                <a:schemeClr val="bg1">
                  <a:alpha val="0"/>
                </a:schemeClr>
              </a:gs>
              <a:gs pos="50000">
                <a:schemeClr val="bg1">
                  <a:lumMod val="95000"/>
                </a:schemeClr>
              </a:gs>
              <a:gs pos="100000">
                <a:schemeClr val="bg1">
                  <a:alpha val="0"/>
                </a:schemeClr>
              </a:gs>
            </a:gsLst>
            <a:lin ang="0" scaled="1"/>
          </a:gradFill>
        </p:grpSpPr>
        <p:grpSp>
          <p:nvGrpSpPr>
            <p:cNvPr id="14" name="组合 13">
              <a:extLst>
                <a:ext uri="{FF2B5EF4-FFF2-40B4-BE49-F238E27FC236}">
                  <a16:creationId xmlns:a16="http://schemas.microsoft.com/office/drawing/2014/main" id="{F970E494-61EE-587D-4574-8858E921DFBB}"/>
                </a:ext>
              </a:extLst>
            </p:cNvPr>
            <p:cNvGrpSpPr/>
            <p:nvPr/>
          </p:nvGrpSpPr>
          <p:grpSpPr>
            <a:xfrm>
              <a:off x="442611" y="2016251"/>
              <a:ext cx="10694619" cy="2228849"/>
              <a:chOff x="442611" y="2016251"/>
              <a:chExt cx="10694619" cy="2228849"/>
            </a:xfrm>
            <a:grpFill/>
          </p:grpSpPr>
          <p:sp>
            <p:nvSpPr>
              <p:cNvPr id="16" name="矩形 15">
                <a:extLst>
                  <a:ext uri="{FF2B5EF4-FFF2-40B4-BE49-F238E27FC236}">
                    <a16:creationId xmlns:a16="http://schemas.microsoft.com/office/drawing/2014/main" id="{4B88A2BA-CB61-B07D-37EF-4D0FB144C24D}"/>
                  </a:ext>
                </a:extLst>
              </p:cNvPr>
              <p:cNvSpPr/>
              <p:nvPr/>
            </p:nvSpPr>
            <p:spPr>
              <a:xfrm>
                <a:off x="442611" y="2016251"/>
                <a:ext cx="10694619" cy="2228849"/>
              </a:xfrm>
              <a:prstGeom prst="rect">
                <a:avLst/>
              </a:prstGeom>
              <a:grpFill/>
              <a:ln w="9525">
                <a:noFill/>
              </a:ln>
              <a:effectLst>
                <a:outerShdw blurRad="190500" dist="38100" dir="5400000" algn="t" rotWithShape="0">
                  <a:schemeClr val="bg1">
                    <a:lumMod val="75000"/>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lnSpc>
                    <a:spcPct val="150000"/>
                  </a:lnSpc>
                  <a:defRPr/>
                </a:pPr>
                <a:endParaRPr lang="zh-CN" altLang="en-US" sz="1200" b="1" dirty="0">
                  <a:solidFill>
                    <a:srgbClr val="03654E"/>
                  </a:solidFill>
                </a:endParaRPr>
              </a:p>
            </p:txBody>
          </p:sp>
          <p:cxnSp>
            <p:nvCxnSpPr>
              <p:cNvPr id="17" name="直接连接符 16">
                <a:extLst>
                  <a:ext uri="{FF2B5EF4-FFF2-40B4-BE49-F238E27FC236}">
                    <a16:creationId xmlns:a16="http://schemas.microsoft.com/office/drawing/2014/main" id="{158E00CD-2609-D798-C0FA-987A012BEC41}"/>
                  </a:ext>
                </a:extLst>
              </p:cNvPr>
              <p:cNvCxnSpPr>
                <a:cxnSpLocks/>
              </p:cNvCxnSpPr>
              <p:nvPr/>
            </p:nvCxnSpPr>
            <p:spPr>
              <a:xfrm>
                <a:off x="2049461" y="2016251"/>
                <a:ext cx="8093075" cy="0"/>
              </a:xfrm>
              <a:prstGeom prst="line">
                <a:avLst/>
              </a:prstGeom>
              <a:grpFill/>
              <a:ln w="12700">
                <a:gradFill flip="none" rotWithShape="1">
                  <a:gsLst>
                    <a:gs pos="0">
                      <a:schemeClr val="accent6">
                        <a:alpha val="0"/>
                      </a:schemeClr>
                    </a:gs>
                    <a:gs pos="50000">
                      <a:schemeClr val="accent6"/>
                    </a:gs>
                    <a:gs pos="100000">
                      <a:schemeClr val="accent6">
                        <a:alpha val="0"/>
                      </a:schemeClr>
                    </a:gs>
                  </a:gsLst>
                  <a:lin ang="0" scaled="1"/>
                  <a:tileRect/>
                </a:gradFill>
              </a:ln>
              <a:effectLst>
                <a:outerShdw blurRad="50800" dist="38100" dir="7200000" algn="t" rotWithShape="0">
                  <a:schemeClr val="bg1">
                    <a:lumMod val="65000"/>
                    <a:alpha val="42000"/>
                  </a:schemeClr>
                </a:outerShdw>
              </a:effectLst>
            </p:spPr>
            <p:style>
              <a:lnRef idx="1">
                <a:schemeClr val="accent1"/>
              </a:lnRef>
              <a:fillRef idx="0">
                <a:schemeClr val="accent1"/>
              </a:fillRef>
              <a:effectRef idx="0">
                <a:schemeClr val="accent1"/>
              </a:effectRef>
              <a:fontRef idx="minor">
                <a:schemeClr val="tx1"/>
              </a:fontRef>
            </p:style>
          </p:cxnSp>
        </p:grpSp>
        <p:cxnSp>
          <p:nvCxnSpPr>
            <p:cNvPr id="15" name="直接连接符 14">
              <a:extLst>
                <a:ext uri="{FF2B5EF4-FFF2-40B4-BE49-F238E27FC236}">
                  <a16:creationId xmlns:a16="http://schemas.microsoft.com/office/drawing/2014/main" id="{9A5C04A5-7A49-3B7C-BC7F-3E42593659C0}"/>
                </a:ext>
              </a:extLst>
            </p:cNvPr>
            <p:cNvCxnSpPr>
              <a:cxnSpLocks/>
            </p:cNvCxnSpPr>
            <p:nvPr/>
          </p:nvCxnSpPr>
          <p:spPr>
            <a:xfrm>
              <a:off x="2049461" y="4245101"/>
              <a:ext cx="8093075" cy="0"/>
            </a:xfrm>
            <a:prstGeom prst="line">
              <a:avLst/>
            </a:prstGeom>
            <a:grpFill/>
            <a:ln w="12700">
              <a:gradFill flip="none" rotWithShape="1">
                <a:gsLst>
                  <a:gs pos="0">
                    <a:schemeClr val="accent6">
                      <a:alpha val="0"/>
                    </a:schemeClr>
                  </a:gs>
                  <a:gs pos="50000">
                    <a:schemeClr val="accent6"/>
                  </a:gs>
                  <a:gs pos="100000">
                    <a:schemeClr val="accent6">
                      <a:alpha val="0"/>
                    </a:schemeClr>
                  </a:gs>
                </a:gsLst>
                <a:lin ang="0" scaled="1"/>
                <a:tileRect/>
              </a:gradFill>
            </a:ln>
            <a:effectLst>
              <a:outerShdw blurRad="50800" dist="38100" dir="7200000" algn="t" rotWithShape="0">
                <a:schemeClr val="bg1">
                  <a:lumMod val="85000"/>
                  <a:alpha val="42000"/>
                </a:schemeClr>
              </a:outerShdw>
            </a:effectLst>
          </p:spPr>
          <p:style>
            <a:lnRef idx="1">
              <a:schemeClr val="accent1"/>
            </a:lnRef>
            <a:fillRef idx="0">
              <a:schemeClr val="accent1"/>
            </a:fillRef>
            <a:effectRef idx="0">
              <a:schemeClr val="accent1"/>
            </a:effectRef>
            <a:fontRef idx="minor">
              <a:schemeClr val="tx1"/>
            </a:fontRef>
          </p:style>
        </p:cxnSp>
      </p:grpSp>
      <p:sp>
        <p:nvSpPr>
          <p:cNvPr id="2" name="文本框 1">
            <a:extLst>
              <a:ext uri="{FF2B5EF4-FFF2-40B4-BE49-F238E27FC236}">
                <a16:creationId xmlns:a16="http://schemas.microsoft.com/office/drawing/2014/main" id="{A88CC83B-3930-EC30-7D36-3B736667F610}"/>
              </a:ext>
            </a:extLst>
          </p:cNvPr>
          <p:cNvSpPr txBox="1"/>
          <p:nvPr/>
        </p:nvSpPr>
        <p:spPr>
          <a:xfrm>
            <a:off x="0" y="1366919"/>
            <a:ext cx="12192000" cy="2552494"/>
          </a:xfrm>
          <a:prstGeom prst="rect">
            <a:avLst/>
          </a:prstGeom>
          <a:noFill/>
        </p:spPr>
        <p:txBody>
          <a:bodyPr wrap="square">
            <a:spAutoFit/>
          </a:bodyPr>
          <a:lstStyle/>
          <a:p>
            <a:pPr algn="ctr">
              <a:lnSpc>
                <a:spcPts val="10500"/>
              </a:lnSpc>
              <a:defRPr/>
            </a:pPr>
            <a:r>
              <a:rPr lang="zh-CN" altLang="en-US" sz="3400" b="1">
                <a:solidFill>
                  <a:schemeClr val="accent1"/>
                </a:solidFill>
                <a:latin typeface="微软雅黑" panose="020B0503020204020204" pitchFamily="34" charset="-122"/>
                <a:ea typeface="微软雅黑" panose="020B0503020204020204" pitchFamily="34" charset="-122"/>
              </a:rPr>
              <a:t>感谢各位老师
敬请批评指正！</a:t>
            </a:r>
            <a:endParaRPr lang="zh-CN" altLang="en-US" sz="3400" b="1" dirty="0">
              <a:solidFill>
                <a:schemeClr val="accent1"/>
              </a:solidFill>
              <a:latin typeface="微软雅黑" panose="020B0503020204020204" pitchFamily="34" charset="-122"/>
              <a:ea typeface="微软雅黑" panose="020B0503020204020204" pitchFamily="34" charset="-122"/>
            </a:endParaRPr>
          </a:p>
        </p:txBody>
      </p:sp>
      <p:sp>
        <p:nvSpPr>
          <p:cNvPr id="3" name="矩形: 圆角 2">
            <a:extLst>
              <a:ext uri="{FF2B5EF4-FFF2-40B4-BE49-F238E27FC236}">
                <a16:creationId xmlns:a16="http://schemas.microsoft.com/office/drawing/2014/main" id="{753A6628-8FA7-25F2-06E2-E59A2C233769}"/>
              </a:ext>
            </a:extLst>
          </p:cNvPr>
          <p:cNvSpPr/>
          <p:nvPr/>
        </p:nvSpPr>
        <p:spPr>
          <a:xfrm>
            <a:off x="4839038" y="4461335"/>
            <a:ext cx="2768614" cy="584778"/>
          </a:xfrm>
          <a:prstGeom prst="roundRect">
            <a:avLst>
              <a:gd name="adj" fmla="val 50000"/>
            </a:avLst>
          </a:prstGeom>
          <a:solidFill>
            <a:srgbClr val="FFFFFF"/>
          </a:solidFill>
          <a:ln w="3175" cap="flat" cmpd="sng" algn="ctr">
            <a:solidFill>
              <a:schemeClr val="accent1"/>
            </a:solid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600" b="1" i="0" u="none" strike="noStrike" kern="0" cap="none" spc="0" normalizeH="0" baseline="0" noProof="0" dirty="0">
              <a:ln>
                <a:noFill/>
              </a:ln>
              <a:solidFill>
                <a:prstClr val="white"/>
              </a:solidFill>
              <a:effectLst/>
              <a:uLnTx/>
              <a:uFillTx/>
              <a:latin typeface="微软雅黑"/>
            </a:endParaRPr>
          </a:p>
        </p:txBody>
      </p:sp>
      <p:sp>
        <p:nvSpPr>
          <p:cNvPr id="4" name="矩形: 圆角 3">
            <a:extLst>
              <a:ext uri="{FF2B5EF4-FFF2-40B4-BE49-F238E27FC236}">
                <a16:creationId xmlns:a16="http://schemas.microsoft.com/office/drawing/2014/main" id="{9F1CD2E0-46BC-99EB-ABA8-B448EF15F9D4}"/>
              </a:ext>
            </a:extLst>
          </p:cNvPr>
          <p:cNvSpPr/>
          <p:nvPr/>
        </p:nvSpPr>
        <p:spPr>
          <a:xfrm>
            <a:off x="3768924" y="4454012"/>
            <a:ext cx="1685122" cy="584776"/>
          </a:xfrm>
          <a:prstGeom prst="roundRect">
            <a:avLst>
              <a:gd name="adj" fmla="val 50000"/>
            </a:avLst>
          </a:prstGeom>
          <a:solidFill>
            <a:schemeClr val="accent1"/>
          </a:solidFill>
          <a:ln w="3175" cap="flat" cmpd="sng" algn="ctr">
            <a:solidFill>
              <a:srgbClr val="0C56AE"/>
            </a:solidFill>
            <a:prstDash val="solid"/>
            <a:miter lim="800000"/>
          </a:ln>
          <a:effectLst/>
        </p:spPr>
        <p:txBody>
          <a:bodyPr wrap="square" rtlCol="0" anchor="ctr">
            <a:noAutofit/>
          </a:bodyPr>
          <a:lstStyle/>
          <a:p>
            <a:pPr algn="ctr">
              <a:defRPr/>
            </a:pPr>
            <a:r>
              <a:rPr lang="zh-CN" altLang="en-US" sz="1600" b="1" kern="0">
                <a:solidFill>
                  <a:prstClr val="white"/>
                </a:solidFill>
                <a:latin typeface="微软雅黑" panose="020B0503020204020204" pitchFamily="34" charset="-122"/>
                <a:ea typeface="微软雅黑" panose="020B0503020204020204" pitchFamily="34" charset="-122"/>
              </a:rPr>
              <a:t>汇报人</a:t>
            </a:r>
            <a:endParaRPr lang="zh-CN" altLang="en-US" sz="1600" b="1" kern="0" dirty="0">
              <a:solidFill>
                <a:prstClr val="white"/>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F1B5170C-0A93-DE4E-D3BB-401B5E35536D}"/>
              </a:ext>
            </a:extLst>
          </p:cNvPr>
          <p:cNvSpPr txBox="1"/>
          <p:nvPr/>
        </p:nvSpPr>
        <p:spPr>
          <a:xfrm>
            <a:off x="5624923" y="4461337"/>
            <a:ext cx="1707519" cy="369332"/>
          </a:xfrm>
          <a:prstGeom prst="rect">
            <a:avLst/>
          </a:prstGeom>
          <a:noFill/>
        </p:spPr>
        <p:txBody>
          <a:bodyPr wrap="none">
            <a:spAutoFit/>
          </a:bodyPr>
          <a:lstStyle/>
          <a:p>
            <a:pPr algn="ctr">
              <a:defRPr/>
            </a:pPr>
            <a:r>
              <a:rPr lang="zh-CN" altLang="en-US" b="1">
                <a:solidFill>
                  <a:schemeClr val="accent1"/>
                </a:solidFill>
                <a:latin typeface="微软雅黑" panose="020B0503020204020204" pitchFamily="34" charset="-122"/>
                <a:ea typeface="微软雅黑" panose="020B0503020204020204" pitchFamily="34" charset="-122"/>
              </a:rPr>
              <a:t>崔昊喆  纪博闻</a:t>
            </a:r>
            <a:endParaRPr lang="zh-CN" altLang="en-US" b="1" dirty="0">
              <a:solidFill>
                <a:schemeClr val="accent1"/>
              </a:solidFill>
              <a:latin typeface="微软雅黑" panose="020B0503020204020204" pitchFamily="34" charset="-122"/>
              <a:ea typeface="微软雅黑" panose="020B0503020204020204" pitchFamily="34" charset="-122"/>
            </a:endParaRPr>
          </a:p>
        </p:txBody>
      </p:sp>
      <p:sp>
        <p:nvSpPr>
          <p:cNvPr id="6" name="任意多边形: 形状 5">
            <a:extLst>
              <a:ext uri="{FF2B5EF4-FFF2-40B4-BE49-F238E27FC236}">
                <a16:creationId xmlns:a16="http://schemas.microsoft.com/office/drawing/2014/main" id="{AD3FB004-3B93-3E9F-C7A6-53529A5C2DC6}"/>
              </a:ext>
            </a:extLst>
          </p:cNvPr>
          <p:cNvSpPr/>
          <p:nvPr/>
        </p:nvSpPr>
        <p:spPr>
          <a:xfrm>
            <a:off x="2614943" y="-5733"/>
            <a:ext cx="6962115" cy="493598"/>
          </a:xfrm>
          <a:custGeom>
            <a:avLst/>
            <a:gdLst>
              <a:gd name="connsiteX0" fmla="*/ 0 w 8717654"/>
              <a:gd name="connsiteY0" fmla="*/ 0 h 562725"/>
              <a:gd name="connsiteX1" fmla="*/ 1155700 w 8717654"/>
              <a:gd name="connsiteY1" fmla="*/ 0 h 562725"/>
              <a:gd name="connsiteX2" fmla="*/ 7561954 w 8717654"/>
              <a:gd name="connsiteY2" fmla="*/ 0 h 562725"/>
              <a:gd name="connsiteX3" fmla="*/ 8717654 w 8717654"/>
              <a:gd name="connsiteY3" fmla="*/ 0 h 562725"/>
              <a:gd name="connsiteX4" fmla="*/ 8717381 w 8717654"/>
              <a:gd name="connsiteY4" fmla="*/ 1022 h 562725"/>
              <a:gd name="connsiteX5" fmla="*/ 8441286 w 8717654"/>
              <a:gd name="connsiteY5" fmla="*/ 521969 h 562725"/>
              <a:gd name="connsiteX6" fmla="*/ 8383695 w 8717654"/>
              <a:gd name="connsiteY6" fmla="*/ 562725 h 562725"/>
              <a:gd name="connsiteX7" fmla="*/ 7227995 w 8717654"/>
              <a:gd name="connsiteY7" fmla="*/ 562725 h 562725"/>
              <a:gd name="connsiteX8" fmla="*/ 1489659 w 8717654"/>
              <a:gd name="connsiteY8" fmla="*/ 562725 h 562725"/>
              <a:gd name="connsiteX9" fmla="*/ 333959 w 8717654"/>
              <a:gd name="connsiteY9" fmla="*/ 562725 h 562725"/>
              <a:gd name="connsiteX10" fmla="*/ 276368 w 8717654"/>
              <a:gd name="connsiteY10" fmla="*/ 521969 h 562725"/>
              <a:gd name="connsiteX11" fmla="*/ 273 w 8717654"/>
              <a:gd name="connsiteY11" fmla="*/ 1022 h 562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717654" h="562725">
                <a:moveTo>
                  <a:pt x="0" y="0"/>
                </a:moveTo>
                <a:lnTo>
                  <a:pt x="1155700" y="0"/>
                </a:lnTo>
                <a:lnTo>
                  <a:pt x="7561954" y="0"/>
                </a:lnTo>
                <a:lnTo>
                  <a:pt x="8717654" y="0"/>
                </a:lnTo>
                <a:lnTo>
                  <a:pt x="8717381" y="1022"/>
                </a:lnTo>
                <a:lnTo>
                  <a:pt x="8441286" y="521969"/>
                </a:lnTo>
                <a:cubicBezTo>
                  <a:pt x="8427678" y="547645"/>
                  <a:pt x="8406370" y="562725"/>
                  <a:pt x="8383695" y="562725"/>
                </a:cubicBezTo>
                <a:lnTo>
                  <a:pt x="7227995" y="562725"/>
                </a:lnTo>
                <a:lnTo>
                  <a:pt x="1489659" y="562725"/>
                </a:lnTo>
                <a:lnTo>
                  <a:pt x="333959" y="562725"/>
                </a:lnTo>
                <a:cubicBezTo>
                  <a:pt x="311285" y="562725"/>
                  <a:pt x="289976" y="547645"/>
                  <a:pt x="276368" y="521969"/>
                </a:cubicBezTo>
                <a:lnTo>
                  <a:pt x="273" y="1022"/>
                </a:lnTo>
                <a:close/>
              </a:path>
            </a:pathLst>
          </a:custGeom>
          <a:solidFill>
            <a:schemeClr val="accent1"/>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srgbClr val="0C56AE"/>
              </a:solidFill>
              <a:effectLst/>
              <a:uLnTx/>
              <a:uFillTx/>
              <a:latin typeface="微软雅黑" panose="020B0503020204020204" pitchFamily="34" charset="-122"/>
              <a:ea typeface="微软雅黑" panose="020B0503020204020204" pitchFamily="34" charset="-122"/>
              <a:cs typeface="+mn-cs"/>
            </a:endParaRPr>
          </a:p>
        </p:txBody>
      </p:sp>
      <p:sp>
        <p:nvSpPr>
          <p:cNvPr id="7" name="文本框 6">
            <a:extLst>
              <a:ext uri="{FF2B5EF4-FFF2-40B4-BE49-F238E27FC236}">
                <a16:creationId xmlns:a16="http://schemas.microsoft.com/office/drawing/2014/main" id="{4903C5D8-B02C-615F-5E7C-1D735477DD28}"/>
              </a:ext>
            </a:extLst>
          </p:cNvPr>
          <p:cNvSpPr txBox="1"/>
          <p:nvPr/>
        </p:nvSpPr>
        <p:spPr>
          <a:xfrm>
            <a:off x="2925902" y="10234"/>
            <a:ext cx="4903907" cy="338554"/>
          </a:xfrm>
          <a:prstGeom prst="rect">
            <a:avLst/>
          </a:prstGeom>
          <a:noFill/>
        </p:spPr>
        <p:txBody>
          <a:bodyPr wrap="none">
            <a:spAutoFit/>
          </a:bodyPr>
          <a:lstStyle/>
          <a:p>
            <a:pPr>
              <a:defRPr/>
            </a:pPr>
            <a:r>
              <a:rPr lang="zh-CN" altLang="en-US" sz="1600">
                <a:solidFill>
                  <a:srgbClr val="FFFFFF"/>
                </a:solidFill>
                <a:latin typeface="微软雅黑" panose="020B0503020204020204" pitchFamily="34" charset="-122"/>
                <a:ea typeface="微软雅黑" panose="020B0503020204020204" pitchFamily="34" charset="-122"/>
              </a:rPr>
              <a:t>面向前馈式三维重建模型的聚合管理平台设计与实现</a:t>
            </a:r>
            <a:endParaRPr lang="zh-CN" altLang="en-US" sz="1600" dirty="0">
              <a:solidFill>
                <a:srgbClr val="FFFFFF"/>
              </a:solidFill>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32FFE97B-23C9-8820-1F31-BED8A87ED8B0}"/>
              </a:ext>
            </a:extLst>
          </p:cNvPr>
          <p:cNvSpPr txBox="1"/>
          <p:nvPr/>
        </p:nvSpPr>
        <p:spPr>
          <a:xfrm>
            <a:off x="5182930" y="5238426"/>
            <a:ext cx="1826141" cy="338554"/>
          </a:xfrm>
          <a:prstGeom prst="rect">
            <a:avLst/>
          </a:prstGeom>
          <a:noFill/>
        </p:spPr>
        <p:txBody>
          <a:bodyPr wrap="none">
            <a:spAutoFit/>
          </a:bodyPr>
          <a:lstStyle/>
          <a:p>
            <a:pPr algn="ctr">
              <a:defRPr/>
            </a:pPr>
            <a:r>
              <a:rPr lang="zh-CN" altLang="en-US" sz="1600">
                <a:ln w="0"/>
                <a:solidFill>
                  <a:prstClr val="black"/>
                </a:solidFill>
                <a:latin typeface="微软雅黑" panose="020B0503020204020204" pitchFamily="34" charset="-122"/>
                <a:ea typeface="微软雅黑" panose="020B0503020204020204" pitchFamily="34" charset="-122"/>
              </a:rPr>
              <a:t>北京航空航天大学</a:t>
            </a:r>
            <a:endParaRPr lang="zh-CN" altLang="en-US" sz="1600" dirty="0">
              <a:ln w="0"/>
              <a:solidFill>
                <a:prstClr val="black"/>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D82FF6B3-E791-92AE-46CC-5FB429465CB0}"/>
              </a:ext>
            </a:extLst>
          </p:cNvPr>
          <p:cNvSpPr/>
          <p:nvPr/>
        </p:nvSpPr>
        <p:spPr>
          <a:xfrm>
            <a:off x="0" y="6632574"/>
            <a:ext cx="12192000" cy="23447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文本框 9">
            <a:extLst>
              <a:ext uri="{FF2B5EF4-FFF2-40B4-BE49-F238E27FC236}">
                <a16:creationId xmlns:a16="http://schemas.microsoft.com/office/drawing/2014/main" id="{626C5F9F-EECD-2264-A66A-C58849A197E9}"/>
              </a:ext>
            </a:extLst>
          </p:cNvPr>
          <p:cNvSpPr txBox="1"/>
          <p:nvPr/>
        </p:nvSpPr>
        <p:spPr>
          <a:xfrm>
            <a:off x="5497919" y="5721158"/>
            <a:ext cx="1196161" cy="338554"/>
          </a:xfrm>
          <a:prstGeom prst="rect">
            <a:avLst/>
          </a:prstGeom>
          <a:noFill/>
        </p:spPr>
        <p:txBody>
          <a:bodyPr wrap="none">
            <a:spAutoFit/>
          </a:bodyPr>
          <a:lstStyle/>
          <a:p>
            <a:pPr algn="ctr">
              <a:defRPr/>
            </a:pPr>
            <a:r>
              <a:rPr lang="en-US" altLang="zh-CN" sz="1600">
                <a:ln w="0"/>
                <a:solidFill>
                  <a:prstClr val="black"/>
                </a:solidFill>
                <a:latin typeface="微软雅黑" panose="020B0503020204020204" pitchFamily="34" charset="-122"/>
                <a:ea typeface="微软雅黑" panose="020B0503020204020204" pitchFamily="34" charset="-122"/>
              </a:rPr>
              <a:t>2026</a:t>
            </a:r>
            <a:r>
              <a:rPr lang="zh-CN" altLang="en-US" sz="1600">
                <a:ln w="0"/>
                <a:solidFill>
                  <a:prstClr val="black"/>
                </a:solidFill>
                <a:latin typeface="微软雅黑" panose="020B0503020204020204" pitchFamily="34" charset="-122"/>
                <a:ea typeface="微软雅黑" panose="020B0503020204020204" pitchFamily="34" charset="-122"/>
              </a:rPr>
              <a:t>年</a:t>
            </a:r>
            <a:r>
              <a:rPr lang="en-US" altLang="zh-CN" sz="1600">
                <a:ln w="0"/>
                <a:solidFill>
                  <a:prstClr val="black"/>
                </a:solidFill>
                <a:latin typeface="微软雅黑" panose="020B0503020204020204" pitchFamily="34" charset="-122"/>
                <a:ea typeface="微软雅黑" panose="020B0503020204020204" pitchFamily="34" charset="-122"/>
              </a:rPr>
              <a:t>6</a:t>
            </a:r>
            <a:r>
              <a:rPr lang="zh-CN" altLang="en-US" sz="1600">
                <a:ln w="0"/>
                <a:solidFill>
                  <a:prstClr val="black"/>
                </a:solidFill>
                <a:latin typeface="微软雅黑" panose="020B0503020204020204" pitchFamily="34" charset="-122"/>
                <a:ea typeface="微软雅黑" panose="020B0503020204020204" pitchFamily="34" charset="-122"/>
              </a:rPr>
              <a:t>月</a:t>
            </a:r>
            <a:endParaRPr lang="zh-CN" altLang="en-US" sz="1600" dirty="0">
              <a:ln w="0"/>
              <a:solidFill>
                <a:prstClr val="black"/>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2065556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A" val="v4.3.1"/>
</p:tagLst>
</file>

<file path=ppt/tags/tag2.xml><?xml version="1.0" encoding="utf-8"?>
<p:tagLst xmlns:a="http://schemas.openxmlformats.org/drawingml/2006/main" xmlns:r="http://schemas.openxmlformats.org/officeDocument/2006/relationships" xmlns:p="http://schemas.openxmlformats.org/presentationml/2006/main">
  <p:tag name="PA" val="v4.3.1"/>
</p:tagLst>
</file>

<file path=ppt/tags/tag3.xml><?xml version="1.0" encoding="utf-8"?>
<p:tagLst xmlns:a="http://schemas.openxmlformats.org/drawingml/2006/main" xmlns:r="http://schemas.openxmlformats.org/officeDocument/2006/relationships" xmlns:p="http://schemas.openxmlformats.org/presentationml/2006/main">
  <p:tag name="PA" val="v4.3.1"/>
</p:tagLst>
</file>

<file path=ppt/tags/tag4.xml><?xml version="1.0" encoding="utf-8"?>
<p:tagLst xmlns:a="http://schemas.openxmlformats.org/drawingml/2006/main" xmlns:r="http://schemas.openxmlformats.org/officeDocument/2006/relationships" xmlns:p="http://schemas.openxmlformats.org/presentationml/2006/main">
  <p:tag name="PA" val="v4.3.1"/>
</p:tagLst>
</file>

<file path=ppt/tags/tag5.xml><?xml version="1.0" encoding="utf-8"?>
<p:tagLst xmlns:a="http://schemas.openxmlformats.org/drawingml/2006/main" xmlns:r="http://schemas.openxmlformats.org/officeDocument/2006/relationships" xmlns:p="http://schemas.openxmlformats.org/presentationml/2006/main">
  <p:tag name="PA" val="v4.3.1"/>
</p:tagLst>
</file>

<file path=ppt/tags/tag6.xml><?xml version="1.0" encoding="utf-8"?>
<p:tagLst xmlns:a="http://schemas.openxmlformats.org/drawingml/2006/main" xmlns:r="http://schemas.openxmlformats.org/officeDocument/2006/relationships" xmlns:p="http://schemas.openxmlformats.org/presentationml/2006/main">
  <p:tag name="PA" val="v5.2.11"/>
</p:tagLst>
</file>

<file path=ppt/tags/tag7.xml><?xml version="1.0" encoding="utf-8"?>
<p:tagLst xmlns:a="http://schemas.openxmlformats.org/drawingml/2006/main" xmlns:r="http://schemas.openxmlformats.org/officeDocument/2006/relationships" xmlns:p="http://schemas.openxmlformats.org/presentationml/2006/main">
  <p:tag name="ADJUSTMENTS" val="2.311888"/>
</p:tagLst>
</file>

<file path=ppt/tags/tag8.xml><?xml version="1.0" encoding="utf-8"?>
<p:tagLst xmlns:a="http://schemas.openxmlformats.org/drawingml/2006/main" xmlns:r="http://schemas.openxmlformats.org/officeDocument/2006/relationships" xmlns:p="http://schemas.openxmlformats.org/presentationml/2006/main">
  <p:tag name="PA" val="v5.2.11"/>
</p:tagLst>
</file>

<file path=ppt/tags/tag9.xml><?xml version="1.0" encoding="utf-8"?>
<p:tagLst xmlns:a="http://schemas.openxmlformats.org/drawingml/2006/main" xmlns:r="http://schemas.openxmlformats.org/officeDocument/2006/relationships" xmlns:p="http://schemas.openxmlformats.org/presentationml/2006/main">
  <p:tag name="ADJUSTMENTS" val="2.311888"/>
</p:tagLst>
</file>

<file path=ppt/tags/tag10.xml><?xml version="1.0" encoding="utf-8"?>
<p:tagLst xmlns:a="http://schemas.openxmlformats.org/drawingml/2006/main" xmlns:r="http://schemas.openxmlformats.org/officeDocument/2006/relationships" xmlns:p="http://schemas.openxmlformats.org/presentationml/2006/main">
  <p:tag name="PA" val="v5.2.11"/>
</p:tagLst>
</file>

<file path=ppt/tags/tag11.xml><?xml version="1.0" encoding="utf-8"?>
<p:tagLst xmlns:a="http://schemas.openxmlformats.org/drawingml/2006/main" xmlns:r="http://schemas.openxmlformats.org/officeDocument/2006/relationships" xmlns:p="http://schemas.openxmlformats.org/presentationml/2006/main">
  <p:tag name="ADJUSTMENTS" val="2.311888"/>
</p:tagLst>
</file>

<file path=ppt/tags/tag12.xml><?xml version="1.0" encoding="utf-8"?>
<p:tagLst xmlns:a="http://schemas.openxmlformats.org/drawingml/2006/main" xmlns:r="http://schemas.openxmlformats.org/officeDocument/2006/relationships" xmlns:p="http://schemas.openxmlformats.org/presentationml/2006/main">
  <p:tag name="PA" val="v5.2.11"/>
</p:tagLst>
</file>

<file path=ppt/tags/tag13.xml><?xml version="1.0" encoding="utf-8"?>
<p:tagLst xmlns:a="http://schemas.openxmlformats.org/drawingml/2006/main" xmlns:r="http://schemas.openxmlformats.org/officeDocument/2006/relationships" xmlns:p="http://schemas.openxmlformats.org/presentationml/2006/main">
  <p:tag name="PA" val="v5.2.11"/>
</p:tagLst>
</file>

<file path=ppt/tags/tag14.xml><?xml version="1.0" encoding="utf-8"?>
<p:tagLst xmlns:a="http://schemas.openxmlformats.org/drawingml/2006/main" xmlns:r="http://schemas.openxmlformats.org/officeDocument/2006/relationships" xmlns:p="http://schemas.openxmlformats.org/presentationml/2006/main">
  <p:tag name="PA" val="v5.2.11"/>
</p:tagLst>
</file>

<file path=ppt/tags/tag15.xml><?xml version="1.0" encoding="utf-8"?>
<p:tagLst xmlns:a="http://schemas.openxmlformats.org/drawingml/2006/main" xmlns:r="http://schemas.openxmlformats.org/officeDocument/2006/relationships" xmlns:p="http://schemas.openxmlformats.org/presentationml/2006/main">
  <p:tag name="ADJUSTMENTS" val="2.311888"/>
</p:tagLst>
</file>

<file path=ppt/tags/tag16.xml><?xml version="1.0" encoding="utf-8"?>
<p:tagLst xmlns:a="http://schemas.openxmlformats.org/drawingml/2006/main" xmlns:r="http://schemas.openxmlformats.org/officeDocument/2006/relationships" xmlns:p="http://schemas.openxmlformats.org/presentationml/2006/main">
  <p:tag name="PA" val="v5.2.11"/>
</p:tagLst>
</file>

<file path=ppt/tags/tag17.xml><?xml version="1.0" encoding="utf-8"?>
<p:tagLst xmlns:a="http://schemas.openxmlformats.org/drawingml/2006/main" xmlns:r="http://schemas.openxmlformats.org/officeDocument/2006/relationships" xmlns:p="http://schemas.openxmlformats.org/presentationml/2006/main">
  <p:tag name="ADJUSTMENTS" val="2.311888"/>
</p:tagLst>
</file>

<file path=ppt/tags/tag18.xml><?xml version="1.0" encoding="utf-8"?>
<p:tagLst xmlns:a="http://schemas.openxmlformats.org/drawingml/2006/main" xmlns:r="http://schemas.openxmlformats.org/officeDocument/2006/relationships" xmlns:p="http://schemas.openxmlformats.org/presentationml/2006/main">
  <p:tag name="PA" val="v5.2.11"/>
</p:tagLst>
</file>

<file path=ppt/tags/tag19.xml><?xml version="1.0" encoding="utf-8"?>
<p:tagLst xmlns:a="http://schemas.openxmlformats.org/drawingml/2006/main" xmlns:r="http://schemas.openxmlformats.org/officeDocument/2006/relationships" xmlns:p="http://schemas.openxmlformats.org/presentationml/2006/main">
  <p:tag name="ADJUSTMENTS" val="2.311888"/>
</p:tagLst>
</file>

<file path=ppt/tags/tag20.xml><?xml version="1.0" encoding="utf-8"?>
<p:tagLst xmlns:a="http://schemas.openxmlformats.org/drawingml/2006/main" xmlns:r="http://schemas.openxmlformats.org/officeDocument/2006/relationships" xmlns:p="http://schemas.openxmlformats.org/presentationml/2006/main">
  <p:tag name="PA" val="v5.2.11"/>
</p:tagLst>
</file>

<file path=ppt/tags/tag21.xml><?xml version="1.0" encoding="utf-8"?>
<p:tagLst xmlns:a="http://schemas.openxmlformats.org/drawingml/2006/main" xmlns:r="http://schemas.openxmlformats.org/officeDocument/2006/relationships" xmlns:p="http://schemas.openxmlformats.org/presentationml/2006/main">
  <p:tag name="PA" val="v5.2.11"/>
</p:tagLst>
</file>

<file path=ppt/tags/tag22.xml><?xml version="1.0" encoding="utf-8"?>
<p:tagLst xmlns:a="http://schemas.openxmlformats.org/drawingml/2006/main" xmlns:r="http://schemas.openxmlformats.org/officeDocument/2006/relationships" xmlns:p="http://schemas.openxmlformats.org/presentationml/2006/main">
  <p:tag name="PA" val="v5.2.11"/>
</p:tagLst>
</file>

<file path=ppt/tags/tag23.xml><?xml version="1.0" encoding="utf-8"?>
<p:tagLst xmlns:a="http://schemas.openxmlformats.org/drawingml/2006/main" xmlns:r="http://schemas.openxmlformats.org/officeDocument/2006/relationships" xmlns:p="http://schemas.openxmlformats.org/presentationml/2006/main">
  <p:tag name="ADJUSTMENTS" val="2.311888"/>
</p:tagLst>
</file>

<file path=ppt/tags/tag24.xml><?xml version="1.0" encoding="utf-8"?>
<p:tagLst xmlns:a="http://schemas.openxmlformats.org/drawingml/2006/main" xmlns:r="http://schemas.openxmlformats.org/officeDocument/2006/relationships" xmlns:p="http://schemas.openxmlformats.org/presentationml/2006/main">
  <p:tag name="PA" val="v5.2.11"/>
</p:tagLst>
</file>

<file path=ppt/tags/tag25.xml><?xml version="1.0" encoding="utf-8"?>
<p:tagLst xmlns:a="http://schemas.openxmlformats.org/drawingml/2006/main" xmlns:r="http://schemas.openxmlformats.org/officeDocument/2006/relationships" xmlns:p="http://schemas.openxmlformats.org/presentationml/2006/main">
  <p:tag name="ADJUSTMENTS" val="2.311888"/>
</p:tagLst>
</file>

<file path=ppt/tags/tag26.xml><?xml version="1.0" encoding="utf-8"?>
<p:tagLst xmlns:a="http://schemas.openxmlformats.org/drawingml/2006/main" xmlns:r="http://schemas.openxmlformats.org/officeDocument/2006/relationships" xmlns:p="http://schemas.openxmlformats.org/presentationml/2006/main">
  <p:tag name="PA" val="v5.2.11"/>
</p:tagLst>
</file>

<file path=ppt/tags/tag27.xml><?xml version="1.0" encoding="utf-8"?>
<p:tagLst xmlns:a="http://schemas.openxmlformats.org/drawingml/2006/main" xmlns:r="http://schemas.openxmlformats.org/officeDocument/2006/relationships" xmlns:p="http://schemas.openxmlformats.org/presentationml/2006/main">
  <p:tag name="ADJUSTMENTS" val="2.311888"/>
</p:tagLst>
</file>

<file path=ppt/tags/tag28.xml><?xml version="1.0" encoding="utf-8"?>
<p:tagLst xmlns:a="http://schemas.openxmlformats.org/drawingml/2006/main" xmlns:r="http://schemas.openxmlformats.org/officeDocument/2006/relationships" xmlns:p="http://schemas.openxmlformats.org/presentationml/2006/main">
  <p:tag name="PA" val="v5.2.11"/>
</p:tagLst>
</file>

<file path=ppt/tags/tag29.xml><?xml version="1.0" encoding="utf-8"?>
<p:tagLst xmlns:a="http://schemas.openxmlformats.org/drawingml/2006/main" xmlns:r="http://schemas.openxmlformats.org/officeDocument/2006/relationships" xmlns:p="http://schemas.openxmlformats.org/presentationml/2006/main">
  <p:tag name="PA" val="v5.2.1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44546A"/>
    </a:dk2>
    <a:lt2>
      <a:srgbClr val="E7E6E6"/>
    </a:lt2>
    <a:accent1>
      <a:srgbClr val="0C56AE"/>
    </a:accent1>
    <a:accent2>
      <a:srgbClr val="0C56AE"/>
    </a:accent2>
    <a:accent3>
      <a:srgbClr val="0C56AE"/>
    </a:accent3>
    <a:accent4>
      <a:srgbClr val="0C56AE"/>
    </a:accent4>
    <a:accent5>
      <a:srgbClr val="0C56AE"/>
    </a:accent5>
    <a:accent6>
      <a:srgbClr val="0C56AE"/>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rgbClr val="000000"/>
    </a:dk1>
    <a:lt1>
      <a:srgbClr val="FFFFFF"/>
    </a:lt1>
    <a:dk2>
      <a:srgbClr val="44546A"/>
    </a:dk2>
    <a:lt2>
      <a:srgbClr val="E7E6E6"/>
    </a:lt2>
    <a:accent1>
      <a:srgbClr val="0C56AE"/>
    </a:accent1>
    <a:accent2>
      <a:srgbClr val="0C56AE"/>
    </a:accent2>
    <a:accent3>
      <a:srgbClr val="0C56AE"/>
    </a:accent3>
    <a:accent4>
      <a:srgbClr val="0C56AE"/>
    </a:accent4>
    <a:accent5>
      <a:srgbClr val="0C56AE"/>
    </a:accent5>
    <a:accent6>
      <a:srgbClr val="0C56AE"/>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rgbClr val="000000"/>
    </a:dk1>
    <a:lt1>
      <a:srgbClr val="FFFFFF"/>
    </a:lt1>
    <a:dk2>
      <a:srgbClr val="44546A"/>
    </a:dk2>
    <a:lt2>
      <a:srgbClr val="E7E6E6"/>
    </a:lt2>
    <a:accent1>
      <a:srgbClr val="0C56AE"/>
    </a:accent1>
    <a:accent2>
      <a:srgbClr val="0C56AE"/>
    </a:accent2>
    <a:accent3>
      <a:srgbClr val="0C56AE"/>
    </a:accent3>
    <a:accent4>
      <a:srgbClr val="0C56AE"/>
    </a:accent4>
    <a:accent5>
      <a:srgbClr val="0C56AE"/>
    </a:accent5>
    <a:accent6>
      <a:srgbClr val="0C56AE"/>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0</TotalTime>
  <Words>3296</Words>
  <Application>Microsoft Office PowerPoint</Application>
  <PresentationFormat>宽屏</PresentationFormat>
  <Paragraphs>446</Paragraphs>
  <Slides>16</Slides>
  <Notes>16</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16</vt:i4>
      </vt:variant>
    </vt:vector>
  </HeadingPairs>
  <TitlesOfParts>
    <vt:vector size="22" baseType="lpstr">
      <vt:lpstr>等线</vt:lpstr>
      <vt:lpstr>等线 Light</vt:lpstr>
      <vt:lpstr>微软雅黑</vt:lpstr>
      <vt:lpstr>Arial</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Xe L</dc:creator>
  <cp:lastModifiedBy>Xe L</cp:lastModifiedBy>
  <cp:revision>1</cp:revision>
  <dcterms:created xsi:type="dcterms:W3CDTF">2026-06-08T10:31:20Z</dcterms:created>
  <dcterms:modified xsi:type="dcterms:W3CDTF">2026-06-08T10:31:20Z</dcterms:modified>
</cp:coreProperties>
</file>