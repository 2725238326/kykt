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83" r:id="rId2"/>
    <p:sldId id="258" r:id="rId3"/>
    <p:sldId id="321" r:id="rId4"/>
    <p:sldId id="302" r:id="rId5"/>
    <p:sldId id="298" r:id="rId6"/>
    <p:sldId id="275" r:id="rId7"/>
    <p:sldId id="291" r:id="rId8"/>
    <p:sldId id="307" r:id="rId9"/>
    <p:sldId id="294" r:id="rId1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封面" id="{B30E2732-B6CD-4016-8125-8C9C5955B4C4}">
          <p14:sldIdLst>
            <p14:sldId id="283"/>
          </p14:sldIdLst>
        </p14:section>
        <p14:section name="目录" id="{1649F515-5087-4452-9C2A-094DCD2A6B8D}">
          <p14:sldIdLst>
            <p14:sldId id="258"/>
          </p14:sldIdLst>
        </p14:section>
        <p14:section name="内容页" id="{E94E708C-BDAF-4385-99CC-B9916BC46A39}">
          <p14:sldIdLst>
            <p14:sldId id="321"/>
            <p14:sldId id="302"/>
            <p14:sldId id="298"/>
            <p14:sldId id="275"/>
            <p14:sldId id="291"/>
          </p14:sldIdLst>
        </p14:section>
        <p14:section name="团队介绍" id="{AC225BA1-A069-468E-A448-071EB15C6D37}">
          <p14:sldIdLst>
            <p14:sldId id="307"/>
          </p14:sldIdLst>
        </p14:section>
        <p14:section name="结尾页" id="{2789DAE9-464C-45B2-A358-66E039C959B0}">
          <p14:sldIdLst>
            <p14:sldId id="29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varScale="1">
        <p:scale>
          <a:sx n="104" d="100"/>
          <a:sy n="104" d="100"/>
        </p:scale>
        <p:origin x="80" y="156"/>
      </p:cViewPr>
      <p:guideLst>
        <p:guide orient="horz" pos="2160"/>
        <p:guide pos="3840"/>
      </p:guideLst>
    </p:cSldViewPr>
  </p:slideViewPr>
  <p:notesTextViewPr>
    <p:cViewPr>
      <p:scale>
        <a:sx n="1" d="1"/>
        <a:sy n="1" d="1"/>
      </p:scale>
      <p:origin x="0" y="0"/>
    </p:cViewPr>
  </p:notesTextViewPr>
  <p:sorterViewPr>
    <p:cViewPr>
      <p:scale>
        <a:sx n="100" d="100"/>
        <a:sy n="100" d="100"/>
      </p:scale>
      <p:origin x="0" y="-1473"/>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4.3332097501265265E-2"/>
          <c:y val="8.5251887716540076E-2"/>
          <c:w val="0.94726116074055766"/>
          <c:h val="0.80651416774640616"/>
        </c:manualLayout>
      </c:layout>
      <c:barChart>
        <c:barDir val="col"/>
        <c:grouping val="clustered"/>
        <c:varyColors val="0"/>
        <c:ser>
          <c:idx val="0"/>
          <c:order val="0"/>
          <c:tx>
            <c:strRef>
              <c:f>Sheet1!$B$1</c:f>
              <c:strCache>
                <c:ptCount val="1"/>
                <c:pt idx="0">
                  <c:v>费用支出项目</c:v>
                </c:pt>
              </c:strCache>
            </c:strRef>
          </c:tx>
          <c:spPr>
            <a:solidFill>
              <a:srgbClr val="9A0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Sheet1!$A$2:$A$10</c:f>
              <c:strCache>
                <c:ptCount val="9"/>
                <c:pt idx="0">
                  <c:v>员工薪酬</c:v>
                </c:pt>
                <c:pt idx="1">
                  <c:v>办公租赁</c:v>
                </c:pt>
                <c:pt idx="2">
                  <c:v>设备采购</c:v>
                </c:pt>
                <c:pt idx="3">
                  <c:v>市场营销</c:v>
                </c:pt>
                <c:pt idx="4">
                  <c:v>研发投入</c:v>
                </c:pt>
                <c:pt idx="5">
                  <c:v>材料采购</c:v>
                </c:pt>
                <c:pt idx="6">
                  <c:v>物流运输</c:v>
                </c:pt>
                <c:pt idx="7">
                  <c:v>行政管理</c:v>
                </c:pt>
                <c:pt idx="8">
                  <c:v>法律咨询</c:v>
                </c:pt>
              </c:strCache>
            </c:strRef>
          </c:cat>
          <c:val>
            <c:numRef>
              <c:f>Sheet1!$B$2:$B$10</c:f>
              <c:numCache>
                <c:formatCode>General</c:formatCode>
                <c:ptCount val="9"/>
                <c:pt idx="0">
                  <c:v>24</c:v>
                </c:pt>
                <c:pt idx="1">
                  <c:v>26</c:v>
                </c:pt>
                <c:pt idx="2">
                  <c:v>55</c:v>
                </c:pt>
                <c:pt idx="3">
                  <c:v>27</c:v>
                </c:pt>
                <c:pt idx="4">
                  <c:v>23</c:v>
                </c:pt>
                <c:pt idx="5">
                  <c:v>28</c:v>
                </c:pt>
                <c:pt idx="6">
                  <c:v>22</c:v>
                </c:pt>
                <c:pt idx="7">
                  <c:v>29</c:v>
                </c:pt>
                <c:pt idx="8">
                  <c:v>21</c:v>
                </c:pt>
              </c:numCache>
            </c:numRef>
          </c:val>
          <c:extLst>
            <c:ext xmlns:c16="http://schemas.microsoft.com/office/drawing/2014/chart" uri="{C3380CC4-5D6E-409C-BE32-E72D297353CC}">
              <c16:uniqueId val="{00000000-F6FD-441B-AA3C-615FF2E1C46E}"/>
            </c:ext>
          </c:extLst>
        </c:ser>
        <c:dLbls>
          <c:showLegendKey val="0"/>
          <c:showVal val="0"/>
          <c:showCatName val="0"/>
          <c:showSerName val="0"/>
          <c:showPercent val="0"/>
          <c:showBubbleSize val="0"/>
        </c:dLbls>
        <c:gapWidth val="357"/>
        <c:axId val="1531171824"/>
        <c:axId val="1531174576"/>
      </c:barChart>
      <c:catAx>
        <c:axId val="1531171824"/>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OPPOSans R" panose="00020600040101010101" pitchFamily="18" charset="-122"/>
                <a:ea typeface="OPPOSans R" panose="00020600040101010101" pitchFamily="18" charset="-122"/>
                <a:cs typeface="OPPOSans R" panose="00020600040101010101" pitchFamily="18" charset="-122"/>
              </a:defRPr>
            </a:pPr>
            <a:endParaRPr lang="zh-CN"/>
          </a:p>
        </c:txPr>
        <c:crossAx val="1531174576"/>
        <c:crosses val="autoZero"/>
        <c:auto val="1"/>
        <c:lblAlgn val="ctr"/>
        <c:lblOffset val="100"/>
        <c:noMultiLvlLbl val="0"/>
      </c:catAx>
      <c:valAx>
        <c:axId val="1531174576"/>
        <c:scaling>
          <c:orientation val="minMax"/>
        </c:scaling>
        <c:delete val="0"/>
        <c:axPos val="l"/>
        <c:majorGridlines>
          <c:spPr>
            <a:ln w="9525" cap="flat" cmpd="sng" algn="ctr">
              <a:solidFill>
                <a:schemeClr val="tx1">
                  <a:alpha val="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ontserrat Light" panose="00000400000000000000" pitchFamily="2" charset="0"/>
                <a:ea typeface="+mn-ea"/>
                <a:cs typeface="+mn-cs"/>
              </a:defRPr>
            </a:pPr>
            <a:endParaRPr lang="zh-CN"/>
          </a:p>
        </c:txPr>
        <c:crossAx val="1531171824"/>
        <c:crosses val="autoZero"/>
        <c:crossBetween val="between"/>
      </c:valAx>
      <c:spPr>
        <a:noFill/>
        <a:ln>
          <a:noFill/>
        </a:ln>
        <a:effectLst/>
      </c:spPr>
    </c:plotArea>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D4B5EF-2505-42A3-9DB2-157D25785EA9}" type="datetimeFigureOut">
              <a:rPr lang="zh-CN" altLang="en-US" smtClean="0"/>
              <a:t>2026/5/25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DEE7D1-667E-4DC9-9800-BED04063C998}" type="slidenum">
              <a:rPr lang="zh-CN" altLang="en-US" smtClean="0"/>
              <a:t>‹#›</a:t>
            </a:fld>
            <a:endParaRPr lang="zh-CN" altLang="en-US"/>
          </a:p>
        </p:txBody>
      </p:sp>
    </p:spTree>
    <p:extLst>
      <p:ext uri="{BB962C8B-B14F-4D97-AF65-F5344CB8AC3E}">
        <p14:creationId xmlns:p14="http://schemas.microsoft.com/office/powerpoint/2010/main" val="6867544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100">
                <a:latin typeface="微软雅黑" panose="020B0503020204020204" pitchFamily="34" charset="-122"/>
              </a:rPr>
              <a:t>填：题目、汇报人、日期。保持模板封面即可。</a:t>
            </a:r>
          </a:p>
        </p:txBody>
      </p:sp>
      <p:sp>
        <p:nvSpPr>
          <p:cNvPr id="4" name="灯片编号占位符 3"/>
          <p:cNvSpPr>
            <a:spLocks noGrp="1"/>
          </p:cNvSpPr>
          <p:nvPr>
            <p:ph type="sldNum" sz="quarter" idx="5"/>
          </p:nvPr>
        </p:nvSpPr>
        <p:spPr/>
        <p:txBody>
          <a:bodyPr/>
          <a:lstStyle/>
          <a:p>
            <a:fld id="{37DEE7D1-667E-4DC9-9800-BED04063C998}" type="slidenum">
              <a:rPr lang="zh-CN" altLang="en-US" smtClean="0"/>
              <a:t>1</a:t>
            </a:fld>
            <a:endParaRPr lang="zh-CN" altLang="en-US"/>
          </a:p>
        </p:txBody>
      </p:sp>
    </p:spTree>
    <p:extLst>
      <p:ext uri="{BB962C8B-B14F-4D97-AF65-F5344CB8AC3E}">
        <p14:creationId xmlns:p14="http://schemas.microsoft.com/office/powerpoint/2010/main" val="11005919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100">
                <a:latin typeface="微软雅黑" panose="020B0503020204020204" pitchFamily="34" charset="-122"/>
              </a:rPr>
              <a:t>填：</a:t>
            </a:r>
            <a:r>
              <a:rPr lang="en-US" altLang="zh-CN" sz="1100">
                <a:latin typeface="微软雅黑" panose="020B0503020204020204" pitchFamily="34" charset="-122"/>
              </a:rPr>
              <a:t>4 </a:t>
            </a:r>
            <a:r>
              <a:rPr lang="zh-CN" altLang="en-US" sz="1100">
                <a:latin typeface="微软雅黑" panose="020B0503020204020204" pitchFamily="34" charset="-122"/>
              </a:rPr>
              <a:t>个目录项。建议不要超过 </a:t>
            </a:r>
            <a:r>
              <a:rPr lang="en-US" altLang="zh-CN" sz="1100">
                <a:latin typeface="微软雅黑" panose="020B0503020204020204" pitchFamily="34" charset="-122"/>
              </a:rPr>
              <a:t>4 </a:t>
            </a:r>
            <a:r>
              <a:rPr lang="zh-CN" altLang="en-US" sz="1100">
                <a:latin typeface="微软雅黑" panose="020B0503020204020204" pitchFamily="34" charset="-122"/>
              </a:rPr>
              <a:t>项，保持平台主线。</a:t>
            </a:r>
          </a:p>
        </p:txBody>
      </p:sp>
      <p:sp>
        <p:nvSpPr>
          <p:cNvPr id="4" name="灯片编号占位符 3"/>
          <p:cNvSpPr>
            <a:spLocks noGrp="1"/>
          </p:cNvSpPr>
          <p:nvPr>
            <p:ph type="sldNum" sz="quarter" idx="5"/>
          </p:nvPr>
        </p:nvSpPr>
        <p:spPr/>
        <p:txBody>
          <a:bodyPr/>
          <a:lstStyle/>
          <a:p>
            <a:fld id="{37DEE7D1-667E-4DC9-9800-BED04063C998}" type="slidenum">
              <a:rPr lang="zh-CN" altLang="en-US" smtClean="0"/>
              <a:t>2</a:t>
            </a:fld>
            <a:endParaRPr lang="zh-CN" altLang="en-US"/>
          </a:p>
        </p:txBody>
      </p:sp>
    </p:spTree>
    <p:extLst>
      <p:ext uri="{BB962C8B-B14F-4D97-AF65-F5344CB8AC3E}">
        <p14:creationId xmlns:p14="http://schemas.microsoft.com/office/powerpoint/2010/main" val="22937350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100">
                <a:latin typeface="微软雅黑" panose="020B0503020204020204" pitchFamily="34" charset="-122"/>
              </a:rPr>
              <a:t>填：只写真实痛点。最好写你实际跑模型时遇到的问题，不要写抽象口号。</a:t>
            </a:r>
          </a:p>
        </p:txBody>
      </p:sp>
      <p:sp>
        <p:nvSpPr>
          <p:cNvPr id="4" name="灯片编号占位符 3"/>
          <p:cNvSpPr>
            <a:spLocks noGrp="1"/>
          </p:cNvSpPr>
          <p:nvPr>
            <p:ph type="sldNum" sz="quarter" idx="5"/>
          </p:nvPr>
        </p:nvSpPr>
        <p:spPr/>
        <p:txBody>
          <a:bodyPr/>
          <a:lstStyle/>
          <a:p>
            <a:fld id="{37DEE7D1-667E-4DC9-9800-BED04063C998}" type="slidenum">
              <a:rPr lang="zh-CN" altLang="en-US" smtClean="0"/>
              <a:t>3</a:t>
            </a:fld>
            <a:endParaRPr lang="zh-CN" altLang="en-US"/>
          </a:p>
        </p:txBody>
      </p:sp>
    </p:spTree>
    <p:extLst>
      <p:ext uri="{BB962C8B-B14F-4D97-AF65-F5344CB8AC3E}">
        <p14:creationId xmlns:p14="http://schemas.microsoft.com/office/powerpoint/2010/main" val="26659020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100">
                <a:latin typeface="微软雅黑" panose="020B0503020204020204" pitchFamily="34" charset="-122"/>
              </a:rPr>
              <a:t>填：这页讲平台不是工具堆砌，而是三层定位：学习实践、实验研究、应用扩展。</a:t>
            </a:r>
          </a:p>
        </p:txBody>
      </p:sp>
      <p:sp>
        <p:nvSpPr>
          <p:cNvPr id="4" name="灯片编号占位符 3"/>
          <p:cNvSpPr>
            <a:spLocks noGrp="1"/>
          </p:cNvSpPr>
          <p:nvPr>
            <p:ph type="sldNum" sz="quarter" idx="5"/>
          </p:nvPr>
        </p:nvSpPr>
        <p:spPr/>
        <p:txBody>
          <a:bodyPr/>
          <a:lstStyle/>
          <a:p>
            <a:fld id="{37DEE7D1-667E-4DC9-9800-BED04063C998}" type="slidenum">
              <a:rPr lang="zh-CN" altLang="en-US" smtClean="0"/>
              <a:t>4</a:t>
            </a:fld>
            <a:endParaRPr lang="zh-CN" altLang="en-US"/>
          </a:p>
        </p:txBody>
      </p:sp>
    </p:spTree>
    <p:extLst>
      <p:ext uri="{BB962C8B-B14F-4D97-AF65-F5344CB8AC3E}">
        <p14:creationId xmlns:p14="http://schemas.microsoft.com/office/powerpoint/2010/main" val="846226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100">
                <a:latin typeface="微软雅黑" panose="020B0503020204020204" pitchFamily="34" charset="-122"/>
              </a:rPr>
              <a:t>填：每个功能模块放真实截图或留图位。不要写太多解释，截图比文字重要。</a:t>
            </a:r>
          </a:p>
        </p:txBody>
      </p:sp>
      <p:sp>
        <p:nvSpPr>
          <p:cNvPr id="4" name="灯片编号占位符 3"/>
          <p:cNvSpPr>
            <a:spLocks noGrp="1"/>
          </p:cNvSpPr>
          <p:nvPr>
            <p:ph type="sldNum" sz="quarter" idx="5"/>
          </p:nvPr>
        </p:nvSpPr>
        <p:spPr/>
        <p:txBody>
          <a:bodyPr/>
          <a:lstStyle/>
          <a:p>
            <a:fld id="{37DEE7D1-667E-4DC9-9800-BED04063C998}" type="slidenum">
              <a:rPr lang="zh-CN" altLang="en-US" smtClean="0"/>
              <a:t>5</a:t>
            </a:fld>
            <a:endParaRPr lang="zh-CN" altLang="en-US"/>
          </a:p>
        </p:txBody>
      </p:sp>
    </p:spTree>
    <p:extLst>
      <p:ext uri="{BB962C8B-B14F-4D97-AF65-F5344CB8AC3E}">
        <p14:creationId xmlns:p14="http://schemas.microsoft.com/office/powerpoint/2010/main" val="17251862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100">
                <a:latin typeface="微软雅黑" panose="020B0503020204020204" pitchFamily="34" charset="-122"/>
              </a:rPr>
              <a:t>填：技术架构图优先用简洁四层图。右侧可以放真实运行截图。</a:t>
            </a:r>
          </a:p>
        </p:txBody>
      </p:sp>
      <p:sp>
        <p:nvSpPr>
          <p:cNvPr id="4" name="灯片编号占位符 3"/>
          <p:cNvSpPr>
            <a:spLocks noGrp="1"/>
          </p:cNvSpPr>
          <p:nvPr>
            <p:ph type="sldNum" sz="quarter" idx="5"/>
          </p:nvPr>
        </p:nvSpPr>
        <p:spPr/>
        <p:txBody>
          <a:bodyPr/>
          <a:lstStyle/>
          <a:p>
            <a:fld id="{37DEE7D1-667E-4DC9-9800-BED04063C998}" type="slidenum">
              <a:rPr lang="zh-CN" altLang="en-US" smtClean="0"/>
              <a:t>6</a:t>
            </a:fld>
            <a:endParaRPr lang="zh-CN" altLang="en-US"/>
          </a:p>
        </p:txBody>
      </p:sp>
    </p:spTree>
    <p:extLst>
      <p:ext uri="{BB962C8B-B14F-4D97-AF65-F5344CB8AC3E}">
        <p14:creationId xmlns:p14="http://schemas.microsoft.com/office/powerpoint/2010/main" val="16994432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100">
                <a:latin typeface="微软雅黑" panose="020B0503020204020204" pitchFamily="34" charset="-122"/>
              </a:rPr>
              <a:t>填：这一页是证明平台不是空想的关键页。必须尽量放真实运行截图。</a:t>
            </a:r>
          </a:p>
        </p:txBody>
      </p:sp>
      <p:sp>
        <p:nvSpPr>
          <p:cNvPr id="4" name="灯片编号占位符 3"/>
          <p:cNvSpPr>
            <a:spLocks noGrp="1"/>
          </p:cNvSpPr>
          <p:nvPr>
            <p:ph type="sldNum" sz="quarter" idx="5"/>
          </p:nvPr>
        </p:nvSpPr>
        <p:spPr/>
        <p:txBody>
          <a:bodyPr/>
          <a:lstStyle/>
          <a:p>
            <a:fld id="{37DEE7D1-667E-4DC9-9800-BED04063C998}" type="slidenum">
              <a:rPr lang="zh-CN" altLang="en-US" smtClean="0"/>
              <a:t>7</a:t>
            </a:fld>
            <a:endParaRPr lang="zh-CN" altLang="en-US"/>
          </a:p>
        </p:txBody>
      </p:sp>
    </p:spTree>
    <p:extLst>
      <p:ext uri="{BB962C8B-B14F-4D97-AF65-F5344CB8AC3E}">
        <p14:creationId xmlns:p14="http://schemas.microsoft.com/office/powerpoint/2010/main" val="39221925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100">
                <a:latin typeface="微软雅黑" panose="020B0503020204020204" pitchFamily="34" charset="-122"/>
              </a:rPr>
              <a:t>填：用真实完成项，不要写已经实现但实际还没稳定的功能。</a:t>
            </a:r>
          </a:p>
        </p:txBody>
      </p:sp>
      <p:sp>
        <p:nvSpPr>
          <p:cNvPr id="4" name="灯片编号占位符 3"/>
          <p:cNvSpPr>
            <a:spLocks noGrp="1"/>
          </p:cNvSpPr>
          <p:nvPr>
            <p:ph type="sldNum" sz="quarter" idx="5"/>
          </p:nvPr>
        </p:nvSpPr>
        <p:spPr/>
        <p:txBody>
          <a:bodyPr/>
          <a:lstStyle/>
          <a:p>
            <a:fld id="{37DEE7D1-667E-4DC9-9800-BED04063C998}" type="slidenum">
              <a:rPr lang="zh-CN" altLang="en-US" smtClean="0"/>
              <a:t>8</a:t>
            </a:fld>
            <a:endParaRPr lang="zh-CN" altLang="en-US"/>
          </a:p>
        </p:txBody>
      </p:sp>
    </p:spTree>
    <p:extLst>
      <p:ext uri="{BB962C8B-B14F-4D97-AF65-F5344CB8AC3E}">
        <p14:creationId xmlns:p14="http://schemas.microsoft.com/office/powerpoint/2010/main" val="4131347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100">
                <a:latin typeface="微软雅黑" panose="020B0503020204020204" pitchFamily="34" charset="-122"/>
              </a:rPr>
              <a:t>填：结束页一般不需要再加复杂内容。</a:t>
            </a:r>
          </a:p>
        </p:txBody>
      </p:sp>
      <p:sp>
        <p:nvSpPr>
          <p:cNvPr id="4" name="灯片编号占位符 3"/>
          <p:cNvSpPr>
            <a:spLocks noGrp="1"/>
          </p:cNvSpPr>
          <p:nvPr>
            <p:ph type="sldNum" sz="quarter" idx="5"/>
          </p:nvPr>
        </p:nvSpPr>
        <p:spPr/>
        <p:txBody>
          <a:bodyPr/>
          <a:lstStyle/>
          <a:p>
            <a:fld id="{37DEE7D1-667E-4DC9-9800-BED04063C998}" type="slidenum">
              <a:rPr lang="zh-CN" altLang="en-US" smtClean="0"/>
              <a:t>9</a:t>
            </a:fld>
            <a:endParaRPr lang="zh-CN" altLang="en-US"/>
          </a:p>
        </p:txBody>
      </p:sp>
    </p:spTree>
    <p:extLst>
      <p:ext uri="{BB962C8B-B14F-4D97-AF65-F5344CB8AC3E}">
        <p14:creationId xmlns:p14="http://schemas.microsoft.com/office/powerpoint/2010/main" val="26805811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标题和内容">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D997B5FA-0921-464F-AAE1-844C04324D75}" type="datetimeFigureOut">
              <a:rPr lang="zh-CN" altLang="en-US" smtClean="0"/>
              <a:t>2026/5/25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2026/5/25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2026/5/25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2026/5/25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2026/5/25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2026/5/25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2026/5/25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2026/5/25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grpSp>
        <p:nvGrpSpPr>
          <p:cNvPr id="7" name="组合 6">
            <a:extLst>
              <a:ext uri="{FF2B5EF4-FFF2-40B4-BE49-F238E27FC236}">
                <a16:creationId xmlns:a16="http://schemas.microsoft.com/office/drawing/2014/main" id="{F2B7C29D-6568-4857-552B-0BAC8D214A8D}"/>
              </a:ext>
            </a:extLst>
          </p:cNvPr>
          <p:cNvGrpSpPr/>
          <p:nvPr userDrawn="1"/>
        </p:nvGrpSpPr>
        <p:grpSpPr>
          <a:xfrm>
            <a:off x="-133710" y="99267"/>
            <a:ext cx="12459420" cy="938977"/>
            <a:chOff x="-133710" y="99267"/>
            <a:chExt cx="12459420" cy="938977"/>
          </a:xfrm>
        </p:grpSpPr>
        <p:grpSp>
          <p:nvGrpSpPr>
            <p:cNvPr id="8" name="组合 7">
              <a:extLst>
                <a:ext uri="{FF2B5EF4-FFF2-40B4-BE49-F238E27FC236}">
                  <a16:creationId xmlns:a16="http://schemas.microsoft.com/office/drawing/2014/main" id="{7CB162ED-A712-3ED4-1002-55807FCE5C20}"/>
                </a:ext>
              </a:extLst>
            </p:cNvPr>
            <p:cNvGrpSpPr/>
            <p:nvPr/>
          </p:nvGrpSpPr>
          <p:grpSpPr>
            <a:xfrm>
              <a:off x="-133710" y="99267"/>
              <a:ext cx="12459420" cy="938977"/>
              <a:chOff x="169652" y="191323"/>
              <a:chExt cx="12459420" cy="938977"/>
            </a:xfrm>
          </p:grpSpPr>
          <p:sp>
            <p:nvSpPr>
              <p:cNvPr id="10" name="矩形: 圆角 9">
                <a:extLst>
                  <a:ext uri="{FF2B5EF4-FFF2-40B4-BE49-F238E27FC236}">
                    <a16:creationId xmlns:a16="http://schemas.microsoft.com/office/drawing/2014/main" id="{D284D105-7F94-4231-77F8-0ACB30974C94}"/>
                  </a:ext>
                </a:extLst>
              </p:cNvPr>
              <p:cNvSpPr/>
              <p:nvPr/>
            </p:nvSpPr>
            <p:spPr>
              <a:xfrm>
                <a:off x="169652" y="310551"/>
                <a:ext cx="12459420" cy="621102"/>
              </a:xfrm>
              <a:prstGeom prst="roundRect">
                <a:avLst>
                  <a:gd name="adj" fmla="val 50000"/>
                </a:avLst>
              </a:prstGeom>
              <a:solidFill>
                <a:schemeClr val="bg1"/>
              </a:solidFill>
              <a:ln>
                <a:noFill/>
              </a:ln>
              <a:effectLst>
                <a:outerShdw blurRad="177800" dist="38100" dir="2700000" algn="tl" rotWithShape="0">
                  <a:prstClr val="black">
                    <a:alpha val="2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mj-ea"/>
                  <a:ea typeface="+mj-ea"/>
                </a:endParaRPr>
              </a:p>
            </p:txBody>
          </p:sp>
          <p:sp>
            <p:nvSpPr>
              <p:cNvPr id="11" name="任意多边形: 形状 10">
                <a:extLst>
                  <a:ext uri="{FF2B5EF4-FFF2-40B4-BE49-F238E27FC236}">
                    <a16:creationId xmlns:a16="http://schemas.microsoft.com/office/drawing/2014/main" id="{4191AB39-E592-8538-0EBC-D2E5DFDF761D}"/>
                  </a:ext>
                </a:extLst>
              </p:cNvPr>
              <p:cNvSpPr/>
              <p:nvPr/>
            </p:nvSpPr>
            <p:spPr>
              <a:xfrm>
                <a:off x="496498" y="191323"/>
                <a:ext cx="621102" cy="938977"/>
              </a:xfrm>
              <a:custGeom>
                <a:avLst/>
                <a:gdLst>
                  <a:gd name="connsiteX0" fmla="*/ 0 w 914400"/>
                  <a:gd name="connsiteY0" fmla="*/ 0 h 1382383"/>
                  <a:gd name="connsiteX1" fmla="*/ 914400 w 914400"/>
                  <a:gd name="connsiteY1" fmla="*/ 0 h 1382383"/>
                  <a:gd name="connsiteX2" fmla="*/ 914400 w 914400"/>
                  <a:gd name="connsiteY2" fmla="*/ 914400 h 1382383"/>
                  <a:gd name="connsiteX3" fmla="*/ 913313 w 914400"/>
                  <a:gd name="connsiteY3" fmla="*/ 914400 h 1382383"/>
                  <a:gd name="connsiteX4" fmla="*/ 914400 w 914400"/>
                  <a:gd name="connsiteY4" fmla="*/ 925183 h 1382383"/>
                  <a:gd name="connsiteX5" fmla="*/ 457200 w 914400"/>
                  <a:gd name="connsiteY5" fmla="*/ 1382383 h 1382383"/>
                  <a:gd name="connsiteX6" fmla="*/ 0 w 914400"/>
                  <a:gd name="connsiteY6" fmla="*/ 925183 h 1382383"/>
                  <a:gd name="connsiteX7" fmla="*/ 1087 w 914400"/>
                  <a:gd name="connsiteY7" fmla="*/ 914400 h 1382383"/>
                  <a:gd name="connsiteX8" fmla="*/ 0 w 914400"/>
                  <a:gd name="connsiteY8" fmla="*/ 914400 h 1382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0" h="1382383">
                    <a:moveTo>
                      <a:pt x="0" y="0"/>
                    </a:moveTo>
                    <a:lnTo>
                      <a:pt x="914400" y="0"/>
                    </a:lnTo>
                    <a:lnTo>
                      <a:pt x="914400" y="914400"/>
                    </a:lnTo>
                    <a:lnTo>
                      <a:pt x="913313" y="914400"/>
                    </a:lnTo>
                    <a:lnTo>
                      <a:pt x="914400" y="925183"/>
                    </a:lnTo>
                    <a:cubicBezTo>
                      <a:pt x="914400" y="1177688"/>
                      <a:pt x="709705" y="1382383"/>
                      <a:pt x="457200" y="1382383"/>
                    </a:cubicBezTo>
                    <a:cubicBezTo>
                      <a:pt x="204695" y="1382383"/>
                      <a:pt x="0" y="1177688"/>
                      <a:pt x="0" y="925183"/>
                    </a:cubicBezTo>
                    <a:lnTo>
                      <a:pt x="1087" y="914400"/>
                    </a:lnTo>
                    <a:lnTo>
                      <a:pt x="0" y="9144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mj-ea"/>
                  <a:ea typeface="+mj-ea"/>
                </a:endParaRPr>
              </a:p>
            </p:txBody>
          </p:sp>
          <p:sp>
            <p:nvSpPr>
              <p:cNvPr id="12" name="直角三角形 11">
                <a:extLst>
                  <a:ext uri="{FF2B5EF4-FFF2-40B4-BE49-F238E27FC236}">
                    <a16:creationId xmlns:a16="http://schemas.microsoft.com/office/drawing/2014/main" id="{2FCA685B-777B-697A-F4FF-5AFC369EB658}"/>
                  </a:ext>
                </a:extLst>
              </p:cNvPr>
              <p:cNvSpPr/>
              <p:nvPr/>
            </p:nvSpPr>
            <p:spPr>
              <a:xfrm>
                <a:off x="1117600" y="191323"/>
                <a:ext cx="119228" cy="119228"/>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mj-ea"/>
                  <a:ea typeface="+mj-ea"/>
                </a:endParaRPr>
              </a:p>
            </p:txBody>
          </p:sp>
        </p:grpSp>
        <p:pic>
          <p:nvPicPr>
            <p:cNvPr id="9" name="图片 8">
              <a:extLst>
                <a:ext uri="{FF2B5EF4-FFF2-40B4-BE49-F238E27FC236}">
                  <a16:creationId xmlns:a16="http://schemas.microsoft.com/office/drawing/2014/main" id="{142A2F22-0801-5499-34F2-BDBCD034F454}"/>
                </a:ext>
              </a:extLst>
            </p:cNvPr>
            <p:cNvPicPr>
              <a:picLocks noChangeAspect="1"/>
            </p:cNvPicPr>
            <p:nvPr/>
          </p:nvPicPr>
          <p:blipFill>
            <a:blip r:embed="rId13">
              <a:duotone>
                <a:schemeClr val="accent1">
                  <a:shade val="45000"/>
                  <a:satMod val="135000"/>
                </a:schemeClr>
                <a:prstClr val="white"/>
              </a:duotone>
              <a:extLst>
                <a:ext uri="{28A0092B-C50C-407E-A947-70E740481C1C}">
                  <a14:useLocalDpi xmlns:a14="http://schemas.microsoft.com/office/drawing/2010/main" val="0"/>
                </a:ext>
              </a:extLst>
            </a:blip>
            <a:srcRect l="3108" r="3108"/>
            <a:stretch/>
          </p:blipFill>
          <p:spPr>
            <a:xfrm>
              <a:off x="10276676" y="252847"/>
              <a:ext cx="1722188" cy="552397"/>
            </a:xfrm>
            <a:prstGeom prst="rect">
              <a:avLst/>
            </a:prstGeom>
          </p:spPr>
        </p:pic>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3.xml"/><Relationship Id="rId7" Type="http://schemas.openxmlformats.org/officeDocument/2006/relationships/notesSlide" Target="../notesSlides/notesSlide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Layout" Target="../slideLayouts/slideLayout2.xml"/><Relationship Id="rId5" Type="http://schemas.openxmlformats.org/officeDocument/2006/relationships/tags" Target="../tags/tag5.xml"/><Relationship Id="rId10" Type="http://schemas.openxmlformats.org/officeDocument/2006/relationships/image" Target="../media/image5.jpg"/><Relationship Id="rId4" Type="http://schemas.openxmlformats.org/officeDocument/2006/relationships/tags" Target="../tags/tag4.xml"/><Relationship Id="rId9"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tags" Target="../tags/tag13.xml"/><Relationship Id="rId13" Type="http://schemas.openxmlformats.org/officeDocument/2006/relationships/image" Target="../media/image14.jpeg"/><Relationship Id="rId3" Type="http://schemas.openxmlformats.org/officeDocument/2006/relationships/tags" Target="../tags/tag8.xml"/><Relationship Id="rId7" Type="http://schemas.openxmlformats.org/officeDocument/2006/relationships/tags" Target="../tags/tag12.xml"/><Relationship Id="rId12" Type="http://schemas.openxmlformats.org/officeDocument/2006/relationships/image" Target="../media/image13.jpeg"/><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tags" Target="../tags/tag11.xml"/><Relationship Id="rId11" Type="http://schemas.openxmlformats.org/officeDocument/2006/relationships/chart" Target="../charts/chart1.xml"/><Relationship Id="rId5" Type="http://schemas.openxmlformats.org/officeDocument/2006/relationships/tags" Target="../tags/tag10.xml"/><Relationship Id="rId10" Type="http://schemas.openxmlformats.org/officeDocument/2006/relationships/notesSlide" Target="../notesSlides/notesSlide7.xml"/><Relationship Id="rId4" Type="http://schemas.openxmlformats.org/officeDocument/2006/relationships/tags" Target="../tags/tag9.xml"/><Relationship Id="rId9"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6.jpe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3C712-3CEF-6C6F-815D-BF40CE6AB0AC}"/>
            </a:ext>
          </a:extLst>
        </p:cNvPr>
        <p:cNvGrpSpPr/>
        <p:nvPr/>
      </p:nvGrpSpPr>
      <p:grpSpPr>
        <a:xfrm>
          <a:off x="0" y="0"/>
          <a:ext cx="0" cy="0"/>
          <a:chOff x="0" y="0"/>
          <a:chExt cx="0" cy="0"/>
        </a:xfrm>
      </p:grpSpPr>
      <p:pic>
        <p:nvPicPr>
          <p:cNvPr id="11" name="图片 10" descr="蓝色的火车在站台旁&#10;&#10;描述已自动生成">
            <a:extLst>
              <a:ext uri="{FF2B5EF4-FFF2-40B4-BE49-F238E27FC236}">
                <a16:creationId xmlns:a16="http://schemas.microsoft.com/office/drawing/2014/main" id="{DC642186-E975-96D8-8408-C4456DEE3F53}"/>
              </a:ext>
            </a:extLst>
          </p:cNvPr>
          <p:cNvPicPr>
            <a:picLocks noChangeAspect="1"/>
          </p:cNvPicPr>
          <p:nvPr/>
        </p:nvPicPr>
        <p:blipFill rotWithShape="1">
          <a:blip r:embed="rId3" cstate="print">
            <a:duotone>
              <a:schemeClr val="accent6">
                <a:shade val="45000"/>
                <a:satMod val="135000"/>
              </a:schemeClr>
              <a:prstClr val="white"/>
            </a:duotone>
            <a:extLst>
              <a:ext uri="{BEBA8EAE-BF5A-486C-A8C5-ECC9F3942E4B}">
                <a14:imgProps xmlns:a14="http://schemas.microsoft.com/office/drawing/2010/main">
                  <a14:imgLayer r:embed="rId4">
                    <a14:imgEffect>
                      <a14:saturation sat="0"/>
                    </a14:imgEffect>
                    <a14:imgEffect>
                      <a14:brightnessContrast contrast="-40000"/>
                    </a14:imgEffect>
                  </a14:imgLayer>
                </a14:imgProps>
              </a:ext>
              <a:ext uri="{28A0092B-C50C-407E-A947-70E740481C1C}">
                <a14:useLocalDpi xmlns:a14="http://schemas.microsoft.com/office/drawing/2010/main" val="0"/>
              </a:ext>
            </a:extLst>
          </a:blip>
          <a:srcRect l="51" b="33391"/>
          <a:stretch/>
        </p:blipFill>
        <p:spPr>
          <a:xfrm>
            <a:off x="567" y="1099270"/>
            <a:ext cx="12190866" cy="4060213"/>
          </a:xfrm>
          <a:prstGeom prst="rect">
            <a:avLst/>
          </a:prstGeom>
        </p:spPr>
      </p:pic>
      <p:sp>
        <p:nvSpPr>
          <p:cNvPr id="12" name="矩形 11">
            <a:extLst>
              <a:ext uri="{FF2B5EF4-FFF2-40B4-BE49-F238E27FC236}">
                <a16:creationId xmlns:a16="http://schemas.microsoft.com/office/drawing/2014/main" id="{1C9DA934-52C4-4CB2-4D02-075830AA3AF2}"/>
              </a:ext>
            </a:extLst>
          </p:cNvPr>
          <p:cNvSpPr/>
          <p:nvPr/>
        </p:nvSpPr>
        <p:spPr>
          <a:xfrm>
            <a:off x="9859" y="-1"/>
            <a:ext cx="12191999" cy="5159483"/>
          </a:xfrm>
          <a:prstGeom prst="rect">
            <a:avLst/>
          </a:prstGeom>
          <a:gradFill flip="none" rotWithShape="1">
            <a:gsLst>
              <a:gs pos="49000">
                <a:schemeClr val="bg1"/>
              </a:gs>
              <a:gs pos="100000">
                <a:schemeClr val="accent3">
                  <a:alpha val="2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zh-CN" altLang="en-US" b="1" dirty="0">
              <a:solidFill>
                <a:prstClr val="white"/>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F08D48A3-B931-466F-18C0-A1C304D1FEF8}"/>
              </a:ext>
            </a:extLst>
          </p:cNvPr>
          <p:cNvSpPr txBox="1"/>
          <p:nvPr/>
        </p:nvSpPr>
        <p:spPr>
          <a:xfrm>
            <a:off x="0" y="1366919"/>
            <a:ext cx="12192000" cy="2540247"/>
          </a:xfrm>
          <a:prstGeom prst="rect">
            <a:avLst/>
          </a:prstGeom>
          <a:noFill/>
        </p:spPr>
        <p:txBody>
          <a:bodyPr wrap="square">
            <a:spAutoFit/>
          </a:bodyPr>
          <a:lstStyle/>
          <a:p>
            <a:pPr algn="ctr">
              <a:lnSpc>
                <a:spcPts val="10500"/>
              </a:lnSpc>
              <a:defRPr/>
            </a:pPr>
            <a:r>
              <a:rPr lang="zh-CN" altLang="en-US" sz="3000" b="1">
                <a:solidFill>
                  <a:schemeClr val="accent1"/>
                </a:solidFill>
                <a:latin typeface="微软雅黑" panose="020B0503020204020204" pitchFamily="34" charset="-122"/>
                <a:ea typeface="微软雅黑" panose="020B0503020204020204" pitchFamily="34" charset="-122"/>
              </a:rPr>
              <a:t>面向前馈式三维重建模型的
聚合管理平台设计与实现</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3" name="矩形: 圆角 2">
            <a:extLst>
              <a:ext uri="{FF2B5EF4-FFF2-40B4-BE49-F238E27FC236}">
                <a16:creationId xmlns:a16="http://schemas.microsoft.com/office/drawing/2014/main" id="{4B2EA678-3420-5C54-B4C3-C8CAD209A7CE}"/>
              </a:ext>
            </a:extLst>
          </p:cNvPr>
          <p:cNvSpPr/>
          <p:nvPr/>
        </p:nvSpPr>
        <p:spPr>
          <a:xfrm>
            <a:off x="4839038" y="4461335"/>
            <a:ext cx="2768614" cy="584778"/>
          </a:xfrm>
          <a:prstGeom prst="roundRect">
            <a:avLst>
              <a:gd name="adj" fmla="val 50000"/>
            </a:avLst>
          </a:prstGeom>
          <a:solidFill>
            <a:srgbClr val="FFFFFF"/>
          </a:solidFill>
          <a:ln w="3175" cap="flat" cmpd="sng" algn="ctr">
            <a:solidFill>
              <a:schemeClr val="accent1"/>
            </a:solid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600" b="1" i="0" u="none" strike="noStrike" kern="0" cap="none" spc="0" normalizeH="0" baseline="0" noProof="0" dirty="0">
              <a:ln>
                <a:noFill/>
              </a:ln>
              <a:solidFill>
                <a:prstClr val="white"/>
              </a:solidFill>
              <a:effectLst/>
              <a:uLnTx/>
              <a:uFillTx/>
              <a:latin typeface="微软雅黑"/>
            </a:endParaRPr>
          </a:p>
        </p:txBody>
      </p:sp>
      <p:sp>
        <p:nvSpPr>
          <p:cNvPr id="4" name="矩形: 圆角 3">
            <a:extLst>
              <a:ext uri="{FF2B5EF4-FFF2-40B4-BE49-F238E27FC236}">
                <a16:creationId xmlns:a16="http://schemas.microsoft.com/office/drawing/2014/main" id="{DA1E6CA0-D601-DDA2-0D66-6669E5F33476}"/>
              </a:ext>
            </a:extLst>
          </p:cNvPr>
          <p:cNvSpPr/>
          <p:nvPr/>
        </p:nvSpPr>
        <p:spPr>
          <a:xfrm>
            <a:off x="3768924" y="4454012"/>
            <a:ext cx="1685122" cy="584776"/>
          </a:xfrm>
          <a:prstGeom prst="roundRect">
            <a:avLst>
              <a:gd name="adj" fmla="val 50000"/>
            </a:avLst>
          </a:prstGeom>
          <a:solidFill>
            <a:schemeClr val="accent1"/>
          </a:solidFill>
          <a:ln w="3175" cap="flat" cmpd="sng" algn="ctr">
            <a:solidFill>
              <a:srgbClr val="0C56AE"/>
            </a:solidFill>
            <a:prstDash val="solid"/>
            <a:miter lim="800000"/>
          </a:ln>
          <a:effectLst/>
        </p:spPr>
        <p:txBody>
          <a:bodyPr wrap="square" rtlCol="0" anchor="ctr">
            <a:noAutofit/>
          </a:bodyPr>
          <a:lstStyle/>
          <a:p>
            <a:pPr algn="ctr">
              <a:defRPr/>
            </a:pPr>
            <a:r>
              <a:rPr lang="zh-CN" altLang="en-US" sz="1600" b="1" kern="0">
                <a:solidFill>
                  <a:prstClr val="white"/>
                </a:solidFill>
                <a:latin typeface="微软雅黑" panose="020B0503020204020204" pitchFamily="34" charset="-122"/>
                <a:ea typeface="微软雅黑" panose="020B0503020204020204" pitchFamily="34" charset="-122"/>
              </a:rPr>
              <a:t>汇报人</a:t>
            </a:r>
            <a:endParaRPr lang="zh-CN" altLang="en-US" sz="1600" b="1" kern="0" dirty="0">
              <a:solidFill>
                <a:prstClr val="white"/>
              </a:solidFill>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E592BA2D-3982-DE10-3446-DA44D71D602C}"/>
              </a:ext>
            </a:extLst>
          </p:cNvPr>
          <p:cNvSpPr txBox="1"/>
          <p:nvPr/>
        </p:nvSpPr>
        <p:spPr>
          <a:xfrm>
            <a:off x="5624923" y="4461337"/>
            <a:ext cx="1707519" cy="369332"/>
          </a:xfrm>
          <a:prstGeom prst="rect">
            <a:avLst/>
          </a:prstGeom>
          <a:noFill/>
        </p:spPr>
        <p:txBody>
          <a:bodyPr wrap="none">
            <a:spAutoFit/>
          </a:bodyPr>
          <a:lstStyle/>
          <a:p>
            <a:pPr algn="ctr">
              <a:defRPr/>
            </a:pPr>
            <a:r>
              <a:rPr lang="zh-CN" altLang="en-US" b="1">
                <a:solidFill>
                  <a:schemeClr val="accent1"/>
                </a:solidFill>
                <a:latin typeface="微软雅黑" panose="020B0503020204020204" pitchFamily="34" charset="-122"/>
                <a:ea typeface="微软雅黑" panose="020B0503020204020204" pitchFamily="34" charset="-122"/>
              </a:rPr>
              <a:t>崔昊喆  纪博闻</a:t>
            </a:r>
            <a:endParaRPr lang="zh-CN" altLang="en-US" b="1" dirty="0">
              <a:solidFill>
                <a:schemeClr val="accent1"/>
              </a:solidFill>
              <a:latin typeface="微软雅黑" panose="020B0503020204020204" pitchFamily="34" charset="-122"/>
              <a:ea typeface="微软雅黑" panose="020B0503020204020204" pitchFamily="34" charset="-122"/>
            </a:endParaRPr>
          </a:p>
        </p:txBody>
      </p:sp>
      <p:sp>
        <p:nvSpPr>
          <p:cNvPr id="6" name="任意多边形: 形状 5">
            <a:extLst>
              <a:ext uri="{FF2B5EF4-FFF2-40B4-BE49-F238E27FC236}">
                <a16:creationId xmlns:a16="http://schemas.microsoft.com/office/drawing/2014/main" id="{03437287-155F-B97B-812D-904A5FB34C93}"/>
              </a:ext>
            </a:extLst>
          </p:cNvPr>
          <p:cNvSpPr/>
          <p:nvPr/>
        </p:nvSpPr>
        <p:spPr>
          <a:xfrm>
            <a:off x="2614943" y="-5733"/>
            <a:ext cx="6962115" cy="493598"/>
          </a:xfrm>
          <a:custGeom>
            <a:avLst/>
            <a:gdLst>
              <a:gd name="connsiteX0" fmla="*/ 0 w 8717654"/>
              <a:gd name="connsiteY0" fmla="*/ 0 h 562725"/>
              <a:gd name="connsiteX1" fmla="*/ 1155700 w 8717654"/>
              <a:gd name="connsiteY1" fmla="*/ 0 h 562725"/>
              <a:gd name="connsiteX2" fmla="*/ 7561954 w 8717654"/>
              <a:gd name="connsiteY2" fmla="*/ 0 h 562725"/>
              <a:gd name="connsiteX3" fmla="*/ 8717654 w 8717654"/>
              <a:gd name="connsiteY3" fmla="*/ 0 h 562725"/>
              <a:gd name="connsiteX4" fmla="*/ 8717381 w 8717654"/>
              <a:gd name="connsiteY4" fmla="*/ 1022 h 562725"/>
              <a:gd name="connsiteX5" fmla="*/ 8441286 w 8717654"/>
              <a:gd name="connsiteY5" fmla="*/ 521969 h 562725"/>
              <a:gd name="connsiteX6" fmla="*/ 8383695 w 8717654"/>
              <a:gd name="connsiteY6" fmla="*/ 562725 h 562725"/>
              <a:gd name="connsiteX7" fmla="*/ 7227995 w 8717654"/>
              <a:gd name="connsiteY7" fmla="*/ 562725 h 562725"/>
              <a:gd name="connsiteX8" fmla="*/ 1489659 w 8717654"/>
              <a:gd name="connsiteY8" fmla="*/ 562725 h 562725"/>
              <a:gd name="connsiteX9" fmla="*/ 333959 w 8717654"/>
              <a:gd name="connsiteY9" fmla="*/ 562725 h 562725"/>
              <a:gd name="connsiteX10" fmla="*/ 276368 w 8717654"/>
              <a:gd name="connsiteY10" fmla="*/ 521969 h 562725"/>
              <a:gd name="connsiteX11" fmla="*/ 273 w 8717654"/>
              <a:gd name="connsiteY11" fmla="*/ 1022 h 562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717654" h="562725">
                <a:moveTo>
                  <a:pt x="0" y="0"/>
                </a:moveTo>
                <a:lnTo>
                  <a:pt x="1155700" y="0"/>
                </a:lnTo>
                <a:lnTo>
                  <a:pt x="7561954" y="0"/>
                </a:lnTo>
                <a:lnTo>
                  <a:pt x="8717654" y="0"/>
                </a:lnTo>
                <a:lnTo>
                  <a:pt x="8717381" y="1022"/>
                </a:lnTo>
                <a:lnTo>
                  <a:pt x="8441286" y="521969"/>
                </a:lnTo>
                <a:cubicBezTo>
                  <a:pt x="8427678" y="547645"/>
                  <a:pt x="8406370" y="562725"/>
                  <a:pt x="8383695" y="562725"/>
                </a:cubicBezTo>
                <a:lnTo>
                  <a:pt x="7227995" y="562725"/>
                </a:lnTo>
                <a:lnTo>
                  <a:pt x="1489659" y="562725"/>
                </a:lnTo>
                <a:lnTo>
                  <a:pt x="333959" y="562725"/>
                </a:lnTo>
                <a:cubicBezTo>
                  <a:pt x="311285" y="562725"/>
                  <a:pt x="289976" y="547645"/>
                  <a:pt x="276368" y="521969"/>
                </a:cubicBezTo>
                <a:lnTo>
                  <a:pt x="273" y="1022"/>
                </a:lnTo>
                <a:close/>
              </a:path>
            </a:pathLst>
          </a:custGeom>
          <a:solidFill>
            <a:schemeClr val="accent1"/>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dirty="0">
              <a:ln>
                <a:noFill/>
              </a:ln>
              <a:solidFill>
                <a:srgbClr val="0C56AE"/>
              </a:solidFill>
              <a:effectLst/>
              <a:uLnTx/>
              <a:uFillTx/>
              <a:latin typeface="微软雅黑" panose="020B0503020204020204" pitchFamily="34" charset="-122"/>
              <a:ea typeface="微软雅黑" panose="020B0503020204020204" pitchFamily="34" charset="-122"/>
              <a:cs typeface="+mn-cs"/>
            </a:endParaRPr>
          </a:p>
        </p:txBody>
      </p:sp>
      <p:sp>
        <p:nvSpPr>
          <p:cNvPr id="7" name="文本框 6">
            <a:extLst>
              <a:ext uri="{FF2B5EF4-FFF2-40B4-BE49-F238E27FC236}">
                <a16:creationId xmlns:a16="http://schemas.microsoft.com/office/drawing/2014/main" id="{FFC05B4F-2BD2-017A-D833-AFB9CBAC897A}"/>
              </a:ext>
            </a:extLst>
          </p:cNvPr>
          <p:cNvSpPr txBox="1"/>
          <p:nvPr/>
        </p:nvSpPr>
        <p:spPr>
          <a:xfrm>
            <a:off x="2925902" y="10234"/>
            <a:ext cx="2743059" cy="338554"/>
          </a:xfrm>
          <a:prstGeom prst="rect">
            <a:avLst/>
          </a:prstGeom>
          <a:noFill/>
        </p:spPr>
        <p:txBody>
          <a:bodyPr wrap="none">
            <a:spAutoFit/>
          </a:bodyPr>
          <a:lstStyle/>
          <a:p>
            <a:pPr>
              <a:defRPr/>
            </a:pPr>
            <a:r>
              <a:rPr lang="en-US" altLang="zh-CN" sz="1600" b="1">
                <a:solidFill>
                  <a:srgbClr val="FFFFFF"/>
                </a:solidFill>
                <a:latin typeface="微软雅黑" panose="020B0503020204020204" pitchFamily="34" charset="-122"/>
                <a:ea typeface="微软雅黑" panose="020B0503020204020204" pitchFamily="34" charset="-122"/>
              </a:rPr>
              <a:t>2026</a:t>
            </a:r>
            <a:r>
              <a:rPr lang="zh-CN" altLang="en-US" sz="1600" b="1">
                <a:solidFill>
                  <a:srgbClr val="FFFFFF"/>
                </a:solidFill>
                <a:latin typeface="微软雅黑" panose="020B0503020204020204" pitchFamily="34" charset="-122"/>
                <a:ea typeface="微软雅黑" panose="020B0503020204020204" pitchFamily="34" charset="-122"/>
              </a:rPr>
              <a:t>年春科研课堂开题报告</a:t>
            </a:r>
            <a:endParaRPr lang="zh-CN" altLang="en-US" sz="1600" b="1" dirty="0">
              <a:solidFill>
                <a:srgbClr val="FFFFFF"/>
              </a:solidFill>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50993921-4A01-0A89-1E61-7A819B4A1E2F}"/>
              </a:ext>
            </a:extLst>
          </p:cNvPr>
          <p:cNvSpPr txBox="1"/>
          <p:nvPr/>
        </p:nvSpPr>
        <p:spPr>
          <a:xfrm>
            <a:off x="5182930" y="5238426"/>
            <a:ext cx="1826141" cy="338554"/>
          </a:xfrm>
          <a:prstGeom prst="rect">
            <a:avLst/>
          </a:prstGeom>
          <a:noFill/>
        </p:spPr>
        <p:txBody>
          <a:bodyPr wrap="none">
            <a:spAutoFit/>
          </a:bodyPr>
          <a:lstStyle/>
          <a:p>
            <a:pPr algn="ctr">
              <a:defRPr/>
            </a:pPr>
            <a:r>
              <a:rPr lang="zh-CN" altLang="en-US" sz="1600">
                <a:ln w="0"/>
                <a:solidFill>
                  <a:prstClr val="black"/>
                </a:solidFill>
                <a:latin typeface="微软雅黑" panose="020B0503020204020204" pitchFamily="34" charset="-122"/>
                <a:ea typeface="微软雅黑" panose="020B0503020204020204" pitchFamily="34" charset="-122"/>
              </a:rPr>
              <a:t>北京航空航天大学</a:t>
            </a:r>
            <a:endParaRPr lang="zh-CN" altLang="en-US" sz="1600" dirty="0">
              <a:ln w="0"/>
              <a:solidFill>
                <a:prstClr val="black"/>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6A13CF40-C608-8D36-562A-C2261D580099}"/>
              </a:ext>
            </a:extLst>
          </p:cNvPr>
          <p:cNvSpPr/>
          <p:nvPr/>
        </p:nvSpPr>
        <p:spPr>
          <a:xfrm>
            <a:off x="0" y="6632574"/>
            <a:ext cx="12192000" cy="23447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文本框 9">
            <a:extLst>
              <a:ext uri="{FF2B5EF4-FFF2-40B4-BE49-F238E27FC236}">
                <a16:creationId xmlns:a16="http://schemas.microsoft.com/office/drawing/2014/main" id="{FFDD9BF1-26C1-D8B1-4EF4-E6DFBF680AE0}"/>
              </a:ext>
            </a:extLst>
          </p:cNvPr>
          <p:cNvSpPr txBox="1"/>
          <p:nvPr/>
        </p:nvSpPr>
        <p:spPr>
          <a:xfrm>
            <a:off x="5497919" y="5721158"/>
            <a:ext cx="1196161" cy="338554"/>
          </a:xfrm>
          <a:prstGeom prst="rect">
            <a:avLst/>
          </a:prstGeom>
          <a:noFill/>
        </p:spPr>
        <p:txBody>
          <a:bodyPr wrap="none">
            <a:spAutoFit/>
          </a:bodyPr>
          <a:lstStyle/>
          <a:p>
            <a:pPr algn="ctr">
              <a:defRPr/>
            </a:pPr>
            <a:r>
              <a:rPr lang="en-US" altLang="zh-CN" sz="1600">
                <a:ln w="0"/>
                <a:solidFill>
                  <a:prstClr val="black"/>
                </a:solidFill>
                <a:latin typeface="微软雅黑" panose="020B0503020204020204" pitchFamily="34" charset="-122"/>
                <a:ea typeface="微软雅黑" panose="020B0503020204020204" pitchFamily="34" charset="-122"/>
              </a:rPr>
              <a:t>2026</a:t>
            </a:r>
            <a:r>
              <a:rPr lang="zh-CN" altLang="en-US" sz="1600">
                <a:ln w="0"/>
                <a:solidFill>
                  <a:prstClr val="black"/>
                </a:solidFill>
                <a:latin typeface="微软雅黑" panose="020B0503020204020204" pitchFamily="34" charset="-122"/>
                <a:ea typeface="微软雅黑" panose="020B0503020204020204" pitchFamily="34" charset="-122"/>
              </a:rPr>
              <a:t>年</a:t>
            </a:r>
            <a:r>
              <a:rPr lang="en-US" altLang="zh-CN" sz="1600">
                <a:ln w="0"/>
                <a:solidFill>
                  <a:prstClr val="black"/>
                </a:solidFill>
                <a:latin typeface="微软雅黑" panose="020B0503020204020204" pitchFamily="34" charset="-122"/>
                <a:ea typeface="微软雅黑" panose="020B0503020204020204" pitchFamily="34" charset="-122"/>
              </a:rPr>
              <a:t>5</a:t>
            </a:r>
            <a:r>
              <a:rPr lang="zh-CN" altLang="en-US" sz="1600">
                <a:ln w="0"/>
                <a:solidFill>
                  <a:prstClr val="black"/>
                </a:solidFill>
                <a:latin typeface="微软雅黑" panose="020B0503020204020204" pitchFamily="34" charset="-122"/>
                <a:ea typeface="微软雅黑" panose="020B0503020204020204" pitchFamily="34" charset="-122"/>
              </a:rPr>
              <a:t>月</a:t>
            </a:r>
            <a:endParaRPr lang="zh-CN" altLang="en-US" sz="1600" dirty="0">
              <a:ln w="0"/>
              <a:solidFill>
                <a:prstClr val="black"/>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837452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Picture 89">
            <a:extLst>
              <a:ext uri="{FF2B5EF4-FFF2-40B4-BE49-F238E27FC236}">
                <a16:creationId xmlns:a16="http://schemas.microsoft.com/office/drawing/2014/main" id="{E9CAE631-11B1-6B01-385A-60C92A6A83B3}"/>
              </a:ext>
            </a:extLst>
          </p:cNvPr>
          <p:cNvPicPr>
            <a:picLocks noChangeAspect="1"/>
          </p:cNvPicPr>
          <p:nvPr/>
        </p:nvPicPr>
        <p:blipFill>
          <a:blip r:embed="rId8">
            <a:alphaModFix amt="60000"/>
          </a:blip>
          <a:stretch>
            <a:fillRect/>
          </a:stretch>
        </p:blipFill>
        <p:spPr>
          <a:xfrm rot="10800000">
            <a:off x="-8340" y="1"/>
            <a:ext cx="12200340" cy="2868908"/>
          </a:xfrm>
          <a:prstGeom prst="rect">
            <a:avLst/>
          </a:prstGeom>
        </p:spPr>
      </p:pic>
      <p:pic>
        <p:nvPicPr>
          <p:cNvPr id="45" name="图片 44">
            <a:extLst>
              <a:ext uri="{FF2B5EF4-FFF2-40B4-BE49-F238E27FC236}">
                <a16:creationId xmlns:a16="http://schemas.microsoft.com/office/drawing/2014/main" id="{9C7262D3-C5E7-98B9-085E-5298B67D1C9A}"/>
              </a:ext>
            </a:extLst>
          </p:cNvPr>
          <p:cNvPicPr>
            <a:picLocks noChangeAspect="1"/>
          </p:cNvPicPr>
          <p:nvPr/>
        </p:nvPicPr>
        <p:blipFill rotWithShape="1">
          <a:blip r:embed="rId9"/>
          <a:srcRect r="16168"/>
          <a:stretch/>
        </p:blipFill>
        <p:spPr>
          <a:xfrm flipH="1">
            <a:off x="0" y="4270329"/>
            <a:ext cx="12192000" cy="2600960"/>
          </a:xfrm>
          <a:prstGeom prst="rect">
            <a:avLst/>
          </a:prstGeom>
        </p:spPr>
      </p:pic>
      <p:sp>
        <p:nvSpPr>
          <p:cNvPr id="46" name="矩形: 圆角 45">
            <a:extLst>
              <a:ext uri="{FF2B5EF4-FFF2-40B4-BE49-F238E27FC236}">
                <a16:creationId xmlns:a16="http://schemas.microsoft.com/office/drawing/2014/main" id="{8850DB52-E07B-E457-2D16-03191921B357}"/>
              </a:ext>
            </a:extLst>
          </p:cNvPr>
          <p:cNvSpPr/>
          <p:nvPr/>
        </p:nvSpPr>
        <p:spPr>
          <a:xfrm flipH="1">
            <a:off x="2579592" y="1079699"/>
            <a:ext cx="8422734" cy="5146730"/>
          </a:xfrm>
          <a:prstGeom prst="roundRect">
            <a:avLst>
              <a:gd name="adj" fmla="val 841"/>
            </a:avLst>
          </a:prstGeom>
          <a:gradFill flip="none" rotWithShape="1">
            <a:gsLst>
              <a:gs pos="25000">
                <a:schemeClr val="accent3"/>
              </a:gs>
              <a:gs pos="99083">
                <a:schemeClr val="bg1"/>
              </a:gs>
            </a:gsLst>
            <a:lin ang="5400000" scaled="1"/>
            <a:tileRect/>
          </a:gradFill>
          <a:ln w="3175" cap="flat" cmpd="sng" algn="ctr">
            <a:gradFill flip="none" rotWithShape="1">
              <a:gsLst>
                <a:gs pos="0">
                  <a:schemeClr val="accent3"/>
                </a:gs>
                <a:gs pos="100000">
                  <a:schemeClr val="accent1"/>
                </a:gs>
              </a:gsLst>
              <a:lin ang="10800000" scaled="1"/>
              <a:tileRect/>
            </a:gradFill>
            <a:prstDash val="solid"/>
            <a:miter lim="800000"/>
          </a:ln>
          <a:effectLst>
            <a:outerShdw blurRad="304800" sx="102000" sy="102000" algn="ctr" rotWithShape="0">
              <a:srgbClr val="0B4FA1">
                <a:lumMod val="20000"/>
                <a:lumOff val="80000"/>
                <a:alpha val="16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p:txBody>
      </p:sp>
      <p:sp>
        <p:nvSpPr>
          <p:cNvPr id="47" name="矩形: 圆角 46">
            <a:extLst>
              <a:ext uri="{FF2B5EF4-FFF2-40B4-BE49-F238E27FC236}">
                <a16:creationId xmlns:a16="http://schemas.microsoft.com/office/drawing/2014/main" id="{A03CD020-8E49-BC23-82FE-80B9ABCA3972}"/>
              </a:ext>
            </a:extLst>
          </p:cNvPr>
          <p:cNvSpPr/>
          <p:nvPr/>
        </p:nvSpPr>
        <p:spPr>
          <a:xfrm>
            <a:off x="-100120" y="-79828"/>
            <a:ext cx="4207663" cy="7017657"/>
          </a:xfrm>
          <a:prstGeom prst="roundRect">
            <a:avLst>
              <a:gd name="adj" fmla="val 0"/>
            </a:avLst>
          </a:prstGeom>
          <a:gradFill>
            <a:gsLst>
              <a:gs pos="0">
                <a:schemeClr val="accent1"/>
              </a:gs>
              <a:gs pos="100000">
                <a:schemeClr val="accent2">
                  <a:lumMod val="50000"/>
                </a:schemeClr>
              </a:gs>
            </a:gsLst>
            <a:lin ang="5400000" scaled="1"/>
          </a:gradFill>
          <a:ln w="19050" cap="flat" cmpd="sng" algn="ctr">
            <a:solidFill>
              <a:sysClr val="window" lastClr="FFFFFF"/>
            </a:solidFill>
            <a:prstDash val="solid"/>
            <a:miter lim="800000"/>
          </a:ln>
          <a:effectLst>
            <a:outerShdw blurRad="165100" dist="38100" dir="2700000" algn="tl" rotWithShape="0">
              <a:sysClr val="window" lastClr="FFFFFF">
                <a:lumMod val="85000"/>
                <a:alpha val="35000"/>
              </a:sys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p:txBody>
      </p:sp>
      <p:grpSp>
        <p:nvGrpSpPr>
          <p:cNvPr id="48" name="组合 47">
            <a:extLst>
              <a:ext uri="{FF2B5EF4-FFF2-40B4-BE49-F238E27FC236}">
                <a16:creationId xmlns:a16="http://schemas.microsoft.com/office/drawing/2014/main" id="{2075B5A1-8EA3-C140-6558-7D305793ECD4}"/>
              </a:ext>
            </a:extLst>
          </p:cNvPr>
          <p:cNvGrpSpPr/>
          <p:nvPr/>
        </p:nvGrpSpPr>
        <p:grpSpPr>
          <a:xfrm>
            <a:off x="4866627" y="1421463"/>
            <a:ext cx="5384517" cy="747324"/>
            <a:chOff x="4874973" y="1293731"/>
            <a:chExt cx="5384517" cy="747324"/>
          </a:xfrm>
        </p:grpSpPr>
        <p:sp>
          <p:nvSpPr>
            <p:cNvPr id="49" name="PA-圆角矩形 5824">
              <a:extLst>
                <a:ext uri="{FF2B5EF4-FFF2-40B4-BE49-F238E27FC236}">
                  <a16:creationId xmlns:a16="http://schemas.microsoft.com/office/drawing/2014/main" id="{97A53DB7-BAA8-AAC0-903F-78EFA2529DE9}"/>
                </a:ext>
              </a:extLst>
            </p:cNvPr>
            <p:cNvSpPr/>
            <p:nvPr>
              <p:custDataLst>
                <p:tags r:id="rId5"/>
              </p:custDataLst>
            </p:nvPr>
          </p:nvSpPr>
          <p:spPr>
            <a:xfrm>
              <a:off x="4874973" y="1350313"/>
              <a:ext cx="5384517" cy="690742"/>
            </a:xfrm>
            <a:prstGeom prst="roundRect">
              <a:avLst>
                <a:gd name="adj" fmla="val 4123"/>
              </a:avLst>
            </a:prstGeom>
            <a:solidFill>
              <a:schemeClr val="accent1"/>
            </a:solidFill>
            <a:ln w="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35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nvGrpSpPr>
            <p:cNvPr id="50" name="组合 49">
              <a:extLst>
                <a:ext uri="{FF2B5EF4-FFF2-40B4-BE49-F238E27FC236}">
                  <a16:creationId xmlns:a16="http://schemas.microsoft.com/office/drawing/2014/main" id="{67CC0FB4-A977-6105-2E34-7E7F25DC6E0C}"/>
                </a:ext>
              </a:extLst>
            </p:cNvPr>
            <p:cNvGrpSpPr/>
            <p:nvPr/>
          </p:nvGrpSpPr>
          <p:grpSpPr>
            <a:xfrm>
              <a:off x="5124372" y="1293731"/>
              <a:ext cx="4885719" cy="746522"/>
              <a:chOff x="5220820" y="1308122"/>
              <a:chExt cx="4633253" cy="746522"/>
            </a:xfrm>
          </p:grpSpPr>
          <p:cxnSp>
            <p:nvCxnSpPr>
              <p:cNvPr id="51" name="直接连接符 50">
                <a:extLst>
                  <a:ext uri="{FF2B5EF4-FFF2-40B4-BE49-F238E27FC236}">
                    <a16:creationId xmlns:a16="http://schemas.microsoft.com/office/drawing/2014/main" id="{A284F074-C6D5-7033-8336-D70A9D53D6EF}"/>
                  </a:ext>
                </a:extLst>
              </p:cNvPr>
              <p:cNvCxnSpPr>
                <a:cxnSpLocks/>
              </p:cNvCxnSpPr>
              <p:nvPr/>
            </p:nvCxnSpPr>
            <p:spPr>
              <a:xfrm>
                <a:off x="6138577" y="1462265"/>
                <a:ext cx="0" cy="482352"/>
              </a:xfrm>
              <a:prstGeom prst="line">
                <a:avLst/>
              </a:prstGeom>
              <a:noFill/>
              <a:ln w="9525" cap="flat" cmpd="sng" algn="ctr">
                <a:solidFill>
                  <a:sysClr val="window" lastClr="FFFFFF">
                    <a:lumMod val="85000"/>
                  </a:sysClr>
                </a:solidFill>
                <a:prstDash val="solid"/>
                <a:miter lim="800000"/>
              </a:ln>
              <a:effectLst/>
            </p:spPr>
          </p:cxnSp>
          <p:sp>
            <p:nvSpPr>
              <p:cNvPr id="52" name="矩形 51">
                <a:extLst>
                  <a:ext uri="{FF2B5EF4-FFF2-40B4-BE49-F238E27FC236}">
                    <a16:creationId xmlns:a16="http://schemas.microsoft.com/office/drawing/2014/main" id="{55DA4B51-29E0-1486-4901-A69DAAC1270A}"/>
                  </a:ext>
                </a:extLst>
              </p:cNvPr>
              <p:cNvSpPr/>
              <p:nvPr/>
            </p:nvSpPr>
            <p:spPr>
              <a:xfrm>
                <a:off x="6267875" y="1428373"/>
                <a:ext cx="3586198" cy="550136"/>
              </a:xfrm>
              <a:prstGeom prst="rect">
                <a:avLst/>
              </a:prstGeom>
            </p:spPr>
            <p:txBody>
              <a:bodyPr wrap="square" lIns="68499" tIns="34251" rIns="68499" bIns="34251" anchor="ctr">
                <a:spAutoFit/>
              </a:bodyPr>
              <a:lstStyle/>
              <a:p>
                <a:pPr marL="0" marR="0" lvl="0" indent="0" defTabSz="514350" eaLnBrk="1" fontAlgn="auto" latinLnBrk="0" hangingPunct="1">
                  <a:lnSpc>
                    <a:spcPct val="120000"/>
                  </a:lnSpc>
                  <a:spcBef>
                    <a:spcPts val="0"/>
                  </a:spcBef>
                  <a:spcAft>
                    <a:spcPts val="0"/>
                  </a:spcAft>
                  <a:buClr>
                    <a:srgbClr val="6EC8AA"/>
                  </a:buClr>
                  <a:buSzTx/>
                  <a:buFontTx/>
                  <a:buNone/>
                  <a:tabLst/>
                  <a:defRPr/>
                </a:pPr>
                <a:r>
                  <a:rPr kumimoji="0" lang="zh-CN" altLang="en-US" sz="2800" b="1" i="0" u="none" strike="noStrike" kern="0" cap="none" spc="0" normalizeH="0" baseline="0" noProof="0" dirty="0">
                    <a:ln>
                      <a:noFill/>
                    </a:ln>
                    <a:solidFill>
                      <a:prstClr val="white"/>
                    </a:solidFill>
                    <a:effectLst>
                      <a:outerShdw blurRad="50800" dist="38100" dir="5400000" algn="t" rotWithShape="0">
                        <a:srgbClr val="0B4FA1">
                          <a:lumMod val="75000"/>
                          <a:alpha val="40000"/>
                        </a:srgbClr>
                      </a:outerShdw>
                    </a:effectLst>
                    <a:uLnTx/>
                    <a:uFillTx/>
                    <a:latin typeface="微软雅黑" panose="020B0503020204020204" pitchFamily="34" charset="-122"/>
                    <a:ea typeface="微软雅黑" panose="020B0503020204020204" pitchFamily="34" charset="-122"/>
                    <a:cs typeface="+mn-ea"/>
                  </a:rPr>
                  <a:t>项目背景与研究现状</a:t>
                </a:r>
              </a:p>
            </p:txBody>
          </p:sp>
          <p:sp>
            <p:nvSpPr>
              <p:cNvPr id="53" name="标题占位符 27">
                <a:extLst>
                  <a:ext uri="{FF2B5EF4-FFF2-40B4-BE49-F238E27FC236}">
                    <a16:creationId xmlns:a16="http://schemas.microsoft.com/office/drawing/2014/main" id="{B42CD262-5953-A448-F38F-35E2E40A78ED}"/>
                  </a:ext>
                </a:extLst>
              </p:cNvPr>
              <p:cNvSpPr txBox="1">
                <a:spLocks/>
              </p:cNvSpPr>
              <p:nvPr/>
            </p:nvSpPr>
            <p:spPr>
              <a:xfrm>
                <a:off x="5220820" y="1308122"/>
                <a:ext cx="872036" cy="746522"/>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2200" kern="1200">
                    <a:solidFill>
                      <a:srgbClr val="D7000F"/>
                    </a:solidFill>
                    <a:latin typeface="+mj-ea"/>
                    <a:ea typeface="+mj-ea"/>
                    <a:cs typeface="+mj-cs"/>
                  </a:defRPr>
                </a:lvl1pPr>
              </a:lstStyle>
              <a:p>
                <a:pPr marL="0" marR="0" lvl="0" indent="0" algn="ctr" defTabSz="685800" rtl="0" eaLnBrk="1" fontAlgn="auto" latinLnBrk="0" hangingPunct="1">
                  <a:lnSpc>
                    <a:spcPct val="120000"/>
                  </a:lnSpc>
                  <a:spcBef>
                    <a:spcPct val="0"/>
                  </a:spcBef>
                  <a:spcAft>
                    <a:spcPts val="0"/>
                  </a:spcAft>
                  <a:buClrTx/>
                  <a:buSzTx/>
                  <a:buFontTx/>
                  <a:buNone/>
                  <a:tabLst/>
                  <a:defRPr/>
                </a:pPr>
                <a:r>
                  <a:rPr kumimoji="0" lang="en-US" altLang="zh-CN" sz="4000" b="1" i="0" u="none" strike="noStrike" kern="1200" cap="none" spc="0" normalizeH="0" baseline="0" noProof="0" dirty="0">
                    <a:ln>
                      <a:noFill/>
                    </a:ln>
                    <a:solidFill>
                      <a:prstClr val="white"/>
                    </a:solidFill>
                    <a:effectLst>
                      <a:outerShdw blurRad="50800" dist="38100" dir="5400000" algn="t" rotWithShape="0">
                        <a:srgbClr val="0B4FA1">
                          <a:lumMod val="75000"/>
                          <a:alpha val="40000"/>
                        </a:srgbClr>
                      </a:outerShdw>
                    </a:effectLst>
                    <a:uLnTx/>
                    <a:uFillTx/>
                    <a:latin typeface="Arial" panose="020B0604020202020204" pitchFamily="34" charset="0"/>
                    <a:ea typeface="微软雅黑" panose="020B0503020204020204" pitchFamily="34" charset="-122"/>
                    <a:cs typeface="+mj-cs"/>
                  </a:rPr>
                  <a:t>01</a:t>
                </a:r>
                <a:endParaRPr kumimoji="0" lang="en-US" altLang="zh-CN" sz="4400" b="1" i="0" u="none" strike="noStrike" kern="1200" cap="none" spc="0" normalizeH="0" baseline="0" noProof="0" dirty="0">
                  <a:ln>
                    <a:noFill/>
                  </a:ln>
                  <a:solidFill>
                    <a:prstClr val="white"/>
                  </a:solidFill>
                  <a:effectLst>
                    <a:outerShdw blurRad="50800" dist="38100" dir="5400000" algn="t" rotWithShape="0">
                      <a:srgbClr val="0B4FA1">
                        <a:lumMod val="75000"/>
                        <a:alpha val="40000"/>
                      </a:srgbClr>
                    </a:outerShdw>
                  </a:effectLst>
                  <a:uLnTx/>
                  <a:uFillTx/>
                  <a:latin typeface="Arial" panose="020B0604020202020204" pitchFamily="34" charset="0"/>
                  <a:ea typeface="微软雅黑" panose="020B0503020204020204" pitchFamily="34" charset="-122"/>
                  <a:cs typeface="+mj-cs"/>
                </a:endParaRPr>
              </a:p>
            </p:txBody>
          </p:sp>
        </p:grpSp>
      </p:grpSp>
      <p:grpSp>
        <p:nvGrpSpPr>
          <p:cNvPr id="54" name="组合 53">
            <a:extLst>
              <a:ext uri="{FF2B5EF4-FFF2-40B4-BE49-F238E27FC236}">
                <a16:creationId xmlns:a16="http://schemas.microsoft.com/office/drawing/2014/main" id="{8BACE6A6-5BB8-1F47-A1C7-FF1BFF42128F}"/>
              </a:ext>
            </a:extLst>
          </p:cNvPr>
          <p:cNvGrpSpPr/>
          <p:nvPr/>
        </p:nvGrpSpPr>
        <p:grpSpPr>
          <a:xfrm>
            <a:off x="4866627" y="2348432"/>
            <a:ext cx="5384517" cy="747324"/>
            <a:chOff x="4874973" y="1293731"/>
            <a:chExt cx="5384517" cy="747324"/>
          </a:xfrm>
        </p:grpSpPr>
        <p:sp>
          <p:nvSpPr>
            <p:cNvPr id="55" name="PA-圆角矩形 5824">
              <a:extLst>
                <a:ext uri="{FF2B5EF4-FFF2-40B4-BE49-F238E27FC236}">
                  <a16:creationId xmlns:a16="http://schemas.microsoft.com/office/drawing/2014/main" id="{FEBFA8E8-8406-F7EC-EDA0-B2CB91888460}"/>
                </a:ext>
              </a:extLst>
            </p:cNvPr>
            <p:cNvSpPr/>
            <p:nvPr>
              <p:custDataLst>
                <p:tags r:id="rId4"/>
              </p:custDataLst>
            </p:nvPr>
          </p:nvSpPr>
          <p:spPr>
            <a:xfrm>
              <a:off x="4874973" y="1350313"/>
              <a:ext cx="5384517" cy="690742"/>
            </a:xfrm>
            <a:prstGeom prst="roundRect">
              <a:avLst>
                <a:gd name="adj" fmla="val 4123"/>
              </a:avLst>
            </a:prstGeom>
            <a:solidFill>
              <a:schemeClr val="bg1"/>
            </a:solidFill>
            <a:ln w="0" cap="flat" cmpd="sng" algn="ctr">
              <a:solidFill>
                <a:schemeClr val="bg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35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nvGrpSpPr>
            <p:cNvPr id="56" name="组合 55">
              <a:extLst>
                <a:ext uri="{FF2B5EF4-FFF2-40B4-BE49-F238E27FC236}">
                  <a16:creationId xmlns:a16="http://schemas.microsoft.com/office/drawing/2014/main" id="{C2E521D8-A37A-97AD-A065-9D5BA2FADAD9}"/>
                </a:ext>
              </a:extLst>
            </p:cNvPr>
            <p:cNvGrpSpPr/>
            <p:nvPr/>
          </p:nvGrpSpPr>
          <p:grpSpPr>
            <a:xfrm>
              <a:off x="5124372" y="1293731"/>
              <a:ext cx="4885719" cy="746522"/>
              <a:chOff x="5220820" y="1308122"/>
              <a:chExt cx="4633253" cy="746522"/>
            </a:xfrm>
          </p:grpSpPr>
          <p:cxnSp>
            <p:nvCxnSpPr>
              <p:cNvPr id="57" name="直接连接符 56">
                <a:extLst>
                  <a:ext uri="{FF2B5EF4-FFF2-40B4-BE49-F238E27FC236}">
                    <a16:creationId xmlns:a16="http://schemas.microsoft.com/office/drawing/2014/main" id="{494B665A-0B14-6079-0EA2-EA96330CCB61}"/>
                  </a:ext>
                </a:extLst>
              </p:cNvPr>
              <p:cNvCxnSpPr>
                <a:cxnSpLocks/>
              </p:cNvCxnSpPr>
              <p:nvPr/>
            </p:nvCxnSpPr>
            <p:spPr>
              <a:xfrm>
                <a:off x="6138577" y="1462265"/>
                <a:ext cx="0" cy="482352"/>
              </a:xfrm>
              <a:prstGeom prst="line">
                <a:avLst/>
              </a:prstGeom>
              <a:noFill/>
              <a:ln w="9525" cap="flat" cmpd="sng" algn="ctr">
                <a:solidFill>
                  <a:sysClr val="window" lastClr="FFFFFF">
                    <a:lumMod val="85000"/>
                  </a:sysClr>
                </a:solidFill>
                <a:prstDash val="solid"/>
                <a:miter lim="800000"/>
              </a:ln>
              <a:effectLst/>
            </p:spPr>
          </p:cxnSp>
          <p:sp>
            <p:nvSpPr>
              <p:cNvPr id="58" name="矩形 57">
                <a:extLst>
                  <a:ext uri="{FF2B5EF4-FFF2-40B4-BE49-F238E27FC236}">
                    <a16:creationId xmlns:a16="http://schemas.microsoft.com/office/drawing/2014/main" id="{B528DCA6-688F-2EC2-45C4-3B0680A1F19F}"/>
                  </a:ext>
                </a:extLst>
              </p:cNvPr>
              <p:cNvSpPr/>
              <p:nvPr/>
            </p:nvSpPr>
            <p:spPr>
              <a:xfrm>
                <a:off x="6267875" y="1428373"/>
                <a:ext cx="3586198" cy="550136"/>
              </a:xfrm>
              <a:prstGeom prst="rect">
                <a:avLst/>
              </a:prstGeom>
            </p:spPr>
            <p:txBody>
              <a:bodyPr wrap="square" lIns="68499" tIns="34251" rIns="68499" bIns="34251" anchor="ctr">
                <a:spAutoFit/>
              </a:bodyPr>
              <a:lstStyle/>
              <a:p>
                <a:pPr marL="0" marR="0" lvl="0" indent="0" defTabSz="514350" eaLnBrk="1" fontAlgn="auto" latinLnBrk="0" hangingPunct="1">
                  <a:lnSpc>
                    <a:spcPct val="120000"/>
                  </a:lnSpc>
                  <a:spcBef>
                    <a:spcPts val="0"/>
                  </a:spcBef>
                  <a:spcAft>
                    <a:spcPts val="0"/>
                  </a:spcAft>
                  <a:buClr>
                    <a:srgbClr val="6EC8AA"/>
                  </a:buClr>
                  <a:buSzTx/>
                  <a:buFontTx/>
                  <a:buNone/>
                  <a:tabLst/>
                  <a:defRPr/>
                </a:pPr>
                <a:r>
                  <a:rPr kumimoji="0" lang="zh-CN" altLang="en-US" sz="2800" b="1" i="0" u="none" strike="noStrike" kern="0" cap="none" spc="0" normalizeH="0" baseline="0" noProof="0" dirty="0">
                    <a:ln>
                      <a:noFill/>
                    </a:ln>
                    <a:solidFill>
                      <a:prstClr val="white">
                        <a:lumMod val="85000"/>
                      </a:prstClr>
                    </a:solidFill>
                    <a:effectLst/>
                    <a:uLnTx/>
                    <a:uFillTx/>
                    <a:latin typeface="微软雅黑" panose="020B0503020204020204" pitchFamily="34" charset="-122"/>
                    <a:ea typeface="微软雅黑" panose="020B0503020204020204" pitchFamily="34" charset="-122"/>
                    <a:cs typeface="+mn-ea"/>
                  </a:rPr>
                  <a:t>课题分解与研究内容</a:t>
                </a:r>
              </a:p>
            </p:txBody>
          </p:sp>
          <p:sp>
            <p:nvSpPr>
              <p:cNvPr id="59" name="标题占位符 27">
                <a:extLst>
                  <a:ext uri="{FF2B5EF4-FFF2-40B4-BE49-F238E27FC236}">
                    <a16:creationId xmlns:a16="http://schemas.microsoft.com/office/drawing/2014/main" id="{BB8E6F84-8606-0F4E-54D6-4698755378AA}"/>
                  </a:ext>
                </a:extLst>
              </p:cNvPr>
              <p:cNvSpPr txBox="1">
                <a:spLocks/>
              </p:cNvSpPr>
              <p:nvPr/>
            </p:nvSpPr>
            <p:spPr>
              <a:xfrm>
                <a:off x="5220820" y="1308122"/>
                <a:ext cx="872036" cy="746522"/>
              </a:xfrm>
              <a:prstGeom prst="rect">
                <a:avLst/>
              </a:prstGeom>
            </p:spPr>
            <p:txBody>
              <a:bodyPr vert="horz" lIns="68580" tIns="34290" rIns="68580" bIns="34290" rtlCol="0" anchor="ctr">
                <a:normAutofit/>
              </a:bodyPr>
              <a:lstStyle>
                <a:defPPr>
                  <a:defRPr lang="zh-CN"/>
                </a:defPPr>
                <a:lvl1pPr algn="ctr" defTabSz="685800">
                  <a:lnSpc>
                    <a:spcPct val="120000"/>
                  </a:lnSpc>
                  <a:spcBef>
                    <a:spcPct val="0"/>
                  </a:spcBef>
                  <a:buNone/>
                  <a:defRPr sz="4000">
                    <a:solidFill>
                      <a:schemeClr val="accent6"/>
                    </a:solidFill>
                    <a:latin typeface="+mj-lt"/>
                    <a:ea typeface="思源宋体 CN Heavy" panose="02020900000000000000" pitchFamily="18" charset="-122"/>
                    <a:cs typeface="+mj-cs"/>
                  </a:defRPr>
                </a:lvl1pPr>
              </a:lstStyle>
              <a:p>
                <a:pPr marL="0" marR="0" lvl="0" indent="0" algn="ctr" defTabSz="685800" eaLnBrk="1" fontAlgn="auto" latinLnBrk="0" hangingPunct="1">
                  <a:lnSpc>
                    <a:spcPct val="120000"/>
                  </a:lnSpc>
                  <a:spcBef>
                    <a:spcPct val="0"/>
                  </a:spcBef>
                  <a:spcAft>
                    <a:spcPts val="0"/>
                  </a:spcAft>
                  <a:buClrTx/>
                  <a:buSzTx/>
                  <a:buFontTx/>
                  <a:buNone/>
                  <a:tabLst/>
                  <a:defRPr/>
                </a:pPr>
                <a:r>
                  <a:rPr kumimoji="0" lang="en-US" altLang="zh-CN" sz="4000" b="1" i="0" u="none" strike="noStrike" kern="0" cap="none" spc="0" normalizeH="0" baseline="0" noProof="0" dirty="0">
                    <a:ln>
                      <a:noFill/>
                    </a:ln>
                    <a:solidFill>
                      <a:prstClr val="white">
                        <a:lumMod val="85000"/>
                      </a:prstClr>
                    </a:solidFill>
                    <a:effectLst/>
                    <a:uLnTx/>
                    <a:uFillTx/>
                    <a:latin typeface="Arial" panose="020B0604020202020204" pitchFamily="34" charset="0"/>
                    <a:ea typeface="微软雅黑" panose="020B0503020204020204" pitchFamily="34" charset="-122"/>
                    <a:cs typeface="+mj-cs"/>
                  </a:rPr>
                  <a:t>02</a:t>
                </a:r>
              </a:p>
            </p:txBody>
          </p:sp>
        </p:grpSp>
      </p:grpSp>
      <p:grpSp>
        <p:nvGrpSpPr>
          <p:cNvPr id="60" name="组合 59">
            <a:extLst>
              <a:ext uri="{FF2B5EF4-FFF2-40B4-BE49-F238E27FC236}">
                <a16:creationId xmlns:a16="http://schemas.microsoft.com/office/drawing/2014/main" id="{D8702272-84E0-6B6F-E959-B91E5B3FE887}"/>
              </a:ext>
            </a:extLst>
          </p:cNvPr>
          <p:cNvGrpSpPr/>
          <p:nvPr/>
        </p:nvGrpSpPr>
        <p:grpSpPr>
          <a:xfrm>
            <a:off x="4866627" y="3275401"/>
            <a:ext cx="5384517" cy="747324"/>
            <a:chOff x="4874973" y="1293731"/>
            <a:chExt cx="5384517" cy="747324"/>
          </a:xfrm>
        </p:grpSpPr>
        <p:sp>
          <p:nvSpPr>
            <p:cNvPr id="61" name="PA-圆角矩形 5824">
              <a:extLst>
                <a:ext uri="{FF2B5EF4-FFF2-40B4-BE49-F238E27FC236}">
                  <a16:creationId xmlns:a16="http://schemas.microsoft.com/office/drawing/2014/main" id="{14FA4A3C-392E-F489-D2CA-49C218B8F847}"/>
                </a:ext>
              </a:extLst>
            </p:cNvPr>
            <p:cNvSpPr/>
            <p:nvPr>
              <p:custDataLst>
                <p:tags r:id="rId3"/>
              </p:custDataLst>
            </p:nvPr>
          </p:nvSpPr>
          <p:spPr>
            <a:xfrm>
              <a:off x="4874973" y="1350313"/>
              <a:ext cx="5384517" cy="690742"/>
            </a:xfrm>
            <a:prstGeom prst="roundRect">
              <a:avLst>
                <a:gd name="adj" fmla="val 4123"/>
              </a:avLst>
            </a:prstGeom>
            <a:solidFill>
              <a:schemeClr val="bg1"/>
            </a:solidFill>
            <a:ln w="0" cap="flat" cmpd="sng" algn="ctr">
              <a:solidFill>
                <a:schemeClr val="bg2"/>
              </a:solidFill>
              <a:prstDash val="solid"/>
              <a:miter lim="800000"/>
            </a:ln>
            <a:effectLst/>
          </p:spPr>
          <p:txBody>
            <a:bodyPr rtlCol="0" anchor="ctr"/>
            <a:lstStyle/>
            <a:p>
              <a:pPr algn="ctr"/>
              <a:endParaRPr lang="zh-CN" altLang="en-US" sz="1350" b="1" kern="0" dirty="0">
                <a:solidFill>
                  <a:prstClr val="white"/>
                </a:solidFill>
                <a:latin typeface="微软雅黑" panose="020B0503020204020204" pitchFamily="34" charset="-122"/>
                <a:ea typeface="微软雅黑" panose="020B0503020204020204" pitchFamily="34" charset="-122"/>
              </a:endParaRPr>
            </a:p>
          </p:txBody>
        </p:sp>
        <p:grpSp>
          <p:nvGrpSpPr>
            <p:cNvPr id="62" name="组合 61">
              <a:extLst>
                <a:ext uri="{FF2B5EF4-FFF2-40B4-BE49-F238E27FC236}">
                  <a16:creationId xmlns:a16="http://schemas.microsoft.com/office/drawing/2014/main" id="{0733EA0C-62D1-99E8-6C6C-8AD6C17214B4}"/>
                </a:ext>
              </a:extLst>
            </p:cNvPr>
            <p:cNvGrpSpPr/>
            <p:nvPr/>
          </p:nvGrpSpPr>
          <p:grpSpPr>
            <a:xfrm>
              <a:off x="5124372" y="1293731"/>
              <a:ext cx="4885719" cy="746522"/>
              <a:chOff x="5220820" y="1308122"/>
              <a:chExt cx="4633253" cy="746522"/>
            </a:xfrm>
          </p:grpSpPr>
          <p:cxnSp>
            <p:nvCxnSpPr>
              <p:cNvPr id="63" name="直接连接符 62">
                <a:extLst>
                  <a:ext uri="{FF2B5EF4-FFF2-40B4-BE49-F238E27FC236}">
                    <a16:creationId xmlns:a16="http://schemas.microsoft.com/office/drawing/2014/main" id="{17C31866-82D3-EAEE-A81D-FB6B2A07D4A4}"/>
                  </a:ext>
                </a:extLst>
              </p:cNvPr>
              <p:cNvCxnSpPr>
                <a:cxnSpLocks/>
              </p:cNvCxnSpPr>
              <p:nvPr/>
            </p:nvCxnSpPr>
            <p:spPr>
              <a:xfrm>
                <a:off x="6138577" y="1462265"/>
                <a:ext cx="0" cy="482352"/>
              </a:xfrm>
              <a:prstGeom prst="line">
                <a:avLst/>
              </a:prstGeom>
              <a:noFill/>
              <a:ln w="9525" cap="flat" cmpd="sng" algn="ctr">
                <a:solidFill>
                  <a:sysClr val="window" lastClr="FFFFFF">
                    <a:lumMod val="85000"/>
                  </a:sysClr>
                </a:solidFill>
                <a:prstDash val="solid"/>
                <a:miter lim="800000"/>
              </a:ln>
              <a:effectLst/>
            </p:spPr>
          </p:cxnSp>
          <p:sp>
            <p:nvSpPr>
              <p:cNvPr id="64" name="矩形 63">
                <a:extLst>
                  <a:ext uri="{FF2B5EF4-FFF2-40B4-BE49-F238E27FC236}">
                    <a16:creationId xmlns:a16="http://schemas.microsoft.com/office/drawing/2014/main" id="{2B79F03A-2F00-0381-CAA5-E3421FB7EF9E}"/>
                  </a:ext>
                </a:extLst>
              </p:cNvPr>
              <p:cNvSpPr/>
              <p:nvPr/>
            </p:nvSpPr>
            <p:spPr>
              <a:xfrm>
                <a:off x="6267875" y="1453412"/>
                <a:ext cx="3586198" cy="500058"/>
              </a:xfrm>
              <a:prstGeom prst="rect">
                <a:avLst/>
              </a:prstGeom>
            </p:spPr>
            <p:txBody>
              <a:bodyPr wrap="square" lIns="68499" tIns="34251" rIns="68499" bIns="34251"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dirty="0">
                    <a:ln>
                      <a:noFill/>
                    </a:ln>
                    <a:solidFill>
                      <a:prstClr val="white">
                        <a:lumMod val="85000"/>
                      </a:prstClr>
                    </a:solidFill>
                    <a:effectLst/>
                    <a:uLnTx/>
                    <a:uFillTx/>
                    <a:latin typeface="微软雅黑" panose="020B0503020204020204" pitchFamily="34" charset="-122"/>
                    <a:ea typeface="微软雅黑" panose="020B0503020204020204" pitchFamily="34" charset="-122"/>
                    <a:cs typeface="+mn-ea"/>
                  </a:rPr>
                  <a:t>任务分解与进度安排</a:t>
                </a:r>
              </a:p>
            </p:txBody>
          </p:sp>
          <p:sp>
            <p:nvSpPr>
              <p:cNvPr id="65" name="标题占位符 27">
                <a:extLst>
                  <a:ext uri="{FF2B5EF4-FFF2-40B4-BE49-F238E27FC236}">
                    <a16:creationId xmlns:a16="http://schemas.microsoft.com/office/drawing/2014/main" id="{4692B76A-417A-5F95-019F-4B8ECB694772}"/>
                  </a:ext>
                </a:extLst>
              </p:cNvPr>
              <p:cNvSpPr txBox="1">
                <a:spLocks/>
              </p:cNvSpPr>
              <p:nvPr/>
            </p:nvSpPr>
            <p:spPr>
              <a:xfrm>
                <a:off x="5220820" y="1308122"/>
                <a:ext cx="872036" cy="746522"/>
              </a:xfrm>
              <a:prstGeom prst="rect">
                <a:avLst/>
              </a:prstGeom>
            </p:spPr>
            <p:txBody>
              <a:bodyPr vert="horz" lIns="68580" tIns="34290" rIns="68580" bIns="34290" rtlCol="0" anchor="ctr">
                <a:normAutofit/>
              </a:bodyPr>
              <a:lstStyle>
                <a:defPPr>
                  <a:defRPr lang="zh-CN"/>
                </a:defPPr>
                <a:lvl1pPr algn="ctr" defTabSz="685800">
                  <a:lnSpc>
                    <a:spcPct val="120000"/>
                  </a:lnSpc>
                  <a:spcBef>
                    <a:spcPct val="0"/>
                  </a:spcBef>
                  <a:buNone/>
                  <a:defRPr sz="4000">
                    <a:solidFill>
                      <a:schemeClr val="accent6"/>
                    </a:solidFill>
                    <a:latin typeface="+mj-lt"/>
                    <a:ea typeface="思源宋体 CN Heavy" panose="02020900000000000000" pitchFamily="18" charset="-122"/>
                    <a:cs typeface="+mj-cs"/>
                  </a:defRPr>
                </a:lvl1pPr>
              </a:lstStyle>
              <a:p>
                <a:pPr marL="0" marR="0" lvl="0" indent="0" algn="ctr" defTabSz="685800" eaLnBrk="1" fontAlgn="auto" latinLnBrk="0" hangingPunct="1">
                  <a:lnSpc>
                    <a:spcPct val="120000"/>
                  </a:lnSpc>
                  <a:spcBef>
                    <a:spcPct val="0"/>
                  </a:spcBef>
                  <a:spcAft>
                    <a:spcPts val="0"/>
                  </a:spcAft>
                  <a:buClrTx/>
                  <a:buSzTx/>
                  <a:buFontTx/>
                  <a:buNone/>
                  <a:tabLst/>
                  <a:defRPr/>
                </a:pPr>
                <a:r>
                  <a:rPr kumimoji="0" lang="en-US" altLang="zh-CN" sz="4000" b="1" i="0" u="none" strike="noStrike" kern="0" cap="none" spc="0" normalizeH="0" baseline="0" noProof="0" dirty="0">
                    <a:ln>
                      <a:noFill/>
                    </a:ln>
                    <a:solidFill>
                      <a:prstClr val="white">
                        <a:lumMod val="85000"/>
                      </a:prstClr>
                    </a:solidFill>
                    <a:effectLst/>
                    <a:uLnTx/>
                    <a:uFillTx/>
                    <a:latin typeface="Arial" panose="020B0604020202020204" pitchFamily="34" charset="0"/>
                    <a:ea typeface="微软雅黑" panose="020B0503020204020204" pitchFamily="34" charset="-122"/>
                    <a:cs typeface="+mj-cs"/>
                  </a:rPr>
                  <a:t>03</a:t>
                </a:r>
              </a:p>
            </p:txBody>
          </p:sp>
        </p:grpSp>
      </p:grpSp>
      <p:grpSp>
        <p:nvGrpSpPr>
          <p:cNvPr id="66" name="组合 65">
            <a:extLst>
              <a:ext uri="{FF2B5EF4-FFF2-40B4-BE49-F238E27FC236}">
                <a16:creationId xmlns:a16="http://schemas.microsoft.com/office/drawing/2014/main" id="{A85FC275-0468-7B2C-4F40-8D545F69CE5D}"/>
              </a:ext>
            </a:extLst>
          </p:cNvPr>
          <p:cNvGrpSpPr/>
          <p:nvPr/>
        </p:nvGrpSpPr>
        <p:grpSpPr>
          <a:xfrm>
            <a:off x="4866627" y="4202370"/>
            <a:ext cx="5384517" cy="747324"/>
            <a:chOff x="4874973" y="1293731"/>
            <a:chExt cx="5384517" cy="747324"/>
          </a:xfrm>
        </p:grpSpPr>
        <p:sp>
          <p:nvSpPr>
            <p:cNvPr id="67" name="PA-圆角矩形 5824">
              <a:extLst>
                <a:ext uri="{FF2B5EF4-FFF2-40B4-BE49-F238E27FC236}">
                  <a16:creationId xmlns:a16="http://schemas.microsoft.com/office/drawing/2014/main" id="{13BAD14B-9D8E-AD64-67DA-223C45B514CA}"/>
                </a:ext>
              </a:extLst>
            </p:cNvPr>
            <p:cNvSpPr/>
            <p:nvPr>
              <p:custDataLst>
                <p:tags r:id="rId2"/>
              </p:custDataLst>
            </p:nvPr>
          </p:nvSpPr>
          <p:spPr>
            <a:xfrm>
              <a:off x="4874973" y="1350313"/>
              <a:ext cx="5384517" cy="690742"/>
            </a:xfrm>
            <a:prstGeom prst="roundRect">
              <a:avLst>
                <a:gd name="adj" fmla="val 4123"/>
              </a:avLst>
            </a:prstGeom>
            <a:solidFill>
              <a:schemeClr val="bg1"/>
            </a:solidFill>
            <a:ln w="0" cap="flat" cmpd="sng" algn="ctr">
              <a:solidFill>
                <a:schemeClr val="bg2"/>
              </a:solidFill>
              <a:prstDash val="solid"/>
              <a:miter lim="800000"/>
            </a:ln>
            <a:effectLst/>
          </p:spPr>
          <p:txBody>
            <a:bodyPr rtlCol="0" anchor="ctr"/>
            <a:lstStyle/>
            <a:p>
              <a:pPr algn="ctr"/>
              <a:endParaRPr lang="zh-CN" altLang="en-US" sz="1350" b="1" kern="0" dirty="0">
                <a:solidFill>
                  <a:prstClr val="white"/>
                </a:solidFill>
                <a:latin typeface="微软雅黑" panose="020B0503020204020204" pitchFamily="34" charset="-122"/>
                <a:ea typeface="微软雅黑" panose="020B0503020204020204" pitchFamily="34" charset="-122"/>
              </a:endParaRPr>
            </a:p>
          </p:txBody>
        </p:sp>
        <p:grpSp>
          <p:nvGrpSpPr>
            <p:cNvPr id="68" name="组合 67">
              <a:extLst>
                <a:ext uri="{FF2B5EF4-FFF2-40B4-BE49-F238E27FC236}">
                  <a16:creationId xmlns:a16="http://schemas.microsoft.com/office/drawing/2014/main" id="{951756C6-F51E-9B9D-2177-0ADD004EC199}"/>
                </a:ext>
              </a:extLst>
            </p:cNvPr>
            <p:cNvGrpSpPr/>
            <p:nvPr/>
          </p:nvGrpSpPr>
          <p:grpSpPr>
            <a:xfrm>
              <a:off x="5124372" y="1293731"/>
              <a:ext cx="4885719" cy="746522"/>
              <a:chOff x="5220820" y="1308122"/>
              <a:chExt cx="4633253" cy="746522"/>
            </a:xfrm>
          </p:grpSpPr>
          <p:cxnSp>
            <p:nvCxnSpPr>
              <p:cNvPr id="69" name="直接连接符 68">
                <a:extLst>
                  <a:ext uri="{FF2B5EF4-FFF2-40B4-BE49-F238E27FC236}">
                    <a16:creationId xmlns:a16="http://schemas.microsoft.com/office/drawing/2014/main" id="{C6812289-70B4-7198-196C-DDBAFC27EAE2}"/>
                  </a:ext>
                </a:extLst>
              </p:cNvPr>
              <p:cNvCxnSpPr>
                <a:cxnSpLocks/>
              </p:cNvCxnSpPr>
              <p:nvPr/>
            </p:nvCxnSpPr>
            <p:spPr>
              <a:xfrm>
                <a:off x="6138577" y="1462265"/>
                <a:ext cx="0" cy="482352"/>
              </a:xfrm>
              <a:prstGeom prst="line">
                <a:avLst/>
              </a:prstGeom>
              <a:noFill/>
              <a:ln w="9525" cap="flat" cmpd="sng" algn="ctr">
                <a:solidFill>
                  <a:sysClr val="window" lastClr="FFFFFF">
                    <a:lumMod val="85000"/>
                  </a:sysClr>
                </a:solidFill>
                <a:prstDash val="solid"/>
                <a:miter lim="800000"/>
              </a:ln>
              <a:effectLst/>
            </p:spPr>
          </p:cxnSp>
          <p:sp>
            <p:nvSpPr>
              <p:cNvPr id="70" name="矩形 69">
                <a:extLst>
                  <a:ext uri="{FF2B5EF4-FFF2-40B4-BE49-F238E27FC236}">
                    <a16:creationId xmlns:a16="http://schemas.microsoft.com/office/drawing/2014/main" id="{73AB15A1-7629-AB0B-8C46-DCC90380FFBD}"/>
                  </a:ext>
                </a:extLst>
              </p:cNvPr>
              <p:cNvSpPr/>
              <p:nvPr/>
            </p:nvSpPr>
            <p:spPr>
              <a:xfrm>
                <a:off x="6267875" y="1453412"/>
                <a:ext cx="3586198" cy="500058"/>
              </a:xfrm>
              <a:prstGeom prst="rect">
                <a:avLst/>
              </a:prstGeom>
            </p:spPr>
            <p:txBody>
              <a:bodyPr wrap="square" lIns="68499" tIns="34251" rIns="68499" bIns="34251"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dirty="0">
                    <a:ln>
                      <a:noFill/>
                    </a:ln>
                    <a:solidFill>
                      <a:prstClr val="white">
                        <a:lumMod val="85000"/>
                      </a:prstClr>
                    </a:solidFill>
                    <a:effectLst/>
                    <a:uLnTx/>
                    <a:uFillTx/>
                    <a:latin typeface="微软雅黑" panose="020B0503020204020204" pitchFamily="34" charset="-122"/>
                    <a:ea typeface="微软雅黑" panose="020B0503020204020204" pitchFamily="34" charset="-122"/>
                    <a:cs typeface="+mn-ea"/>
                  </a:rPr>
                  <a:t>研发团队与工作基础</a:t>
                </a:r>
              </a:p>
            </p:txBody>
          </p:sp>
          <p:sp>
            <p:nvSpPr>
              <p:cNvPr id="71" name="标题占位符 27">
                <a:extLst>
                  <a:ext uri="{FF2B5EF4-FFF2-40B4-BE49-F238E27FC236}">
                    <a16:creationId xmlns:a16="http://schemas.microsoft.com/office/drawing/2014/main" id="{564A85F3-0338-1680-DA01-D208708734BB}"/>
                  </a:ext>
                </a:extLst>
              </p:cNvPr>
              <p:cNvSpPr txBox="1">
                <a:spLocks/>
              </p:cNvSpPr>
              <p:nvPr/>
            </p:nvSpPr>
            <p:spPr>
              <a:xfrm>
                <a:off x="5220820" y="1308122"/>
                <a:ext cx="872036" cy="746522"/>
              </a:xfrm>
              <a:prstGeom prst="rect">
                <a:avLst/>
              </a:prstGeom>
            </p:spPr>
            <p:txBody>
              <a:bodyPr vert="horz" lIns="68580" tIns="34290" rIns="68580" bIns="34290" rtlCol="0" anchor="ctr">
                <a:normAutofit/>
              </a:bodyPr>
              <a:lstStyle>
                <a:defPPr>
                  <a:defRPr lang="zh-CN"/>
                </a:defPPr>
                <a:lvl1pPr algn="ctr" defTabSz="685800">
                  <a:lnSpc>
                    <a:spcPct val="120000"/>
                  </a:lnSpc>
                  <a:spcBef>
                    <a:spcPct val="0"/>
                  </a:spcBef>
                  <a:buNone/>
                  <a:defRPr sz="4000">
                    <a:solidFill>
                      <a:schemeClr val="accent6"/>
                    </a:solidFill>
                    <a:latin typeface="+mj-lt"/>
                    <a:ea typeface="思源宋体 CN Heavy" panose="02020900000000000000" pitchFamily="18" charset="-122"/>
                    <a:cs typeface="+mj-cs"/>
                  </a:defRPr>
                </a:lvl1pPr>
              </a:lstStyle>
              <a:p>
                <a:pPr marL="0" marR="0" lvl="0" indent="0" algn="ctr" defTabSz="685800" eaLnBrk="1" fontAlgn="auto" latinLnBrk="0" hangingPunct="1">
                  <a:lnSpc>
                    <a:spcPct val="120000"/>
                  </a:lnSpc>
                  <a:spcBef>
                    <a:spcPct val="0"/>
                  </a:spcBef>
                  <a:spcAft>
                    <a:spcPts val="0"/>
                  </a:spcAft>
                  <a:buClrTx/>
                  <a:buSzTx/>
                  <a:buFontTx/>
                  <a:buNone/>
                  <a:tabLst/>
                  <a:defRPr/>
                </a:pPr>
                <a:r>
                  <a:rPr kumimoji="0" lang="en-US" altLang="zh-CN" sz="4000" b="1" i="0" u="none" strike="noStrike" kern="0" cap="none" spc="0" normalizeH="0" baseline="0" noProof="0" dirty="0">
                    <a:ln>
                      <a:noFill/>
                    </a:ln>
                    <a:solidFill>
                      <a:prstClr val="white">
                        <a:lumMod val="85000"/>
                      </a:prstClr>
                    </a:solidFill>
                    <a:effectLst/>
                    <a:uLnTx/>
                    <a:uFillTx/>
                    <a:latin typeface="Arial" panose="020B0604020202020204" pitchFamily="34" charset="0"/>
                    <a:ea typeface="微软雅黑" panose="020B0503020204020204" pitchFamily="34" charset="-122"/>
                    <a:cs typeface="+mj-cs"/>
                  </a:rPr>
                  <a:t>04</a:t>
                </a:r>
              </a:p>
            </p:txBody>
          </p:sp>
        </p:grpSp>
      </p:grpSp>
      <p:pic>
        <p:nvPicPr>
          <p:cNvPr id="72" name="图片 71">
            <a:extLst>
              <a:ext uri="{FF2B5EF4-FFF2-40B4-BE49-F238E27FC236}">
                <a16:creationId xmlns:a16="http://schemas.microsoft.com/office/drawing/2014/main" id="{9EEBD94C-B44D-2A8B-AC9A-D4C40C3FAC2A}"/>
              </a:ext>
            </a:extLst>
          </p:cNvPr>
          <p:cNvPicPr>
            <a:picLocks noChangeAspect="1"/>
          </p:cNvPicPr>
          <p:nvPr/>
        </p:nvPicPr>
        <p:blipFill rotWithShape="1">
          <a:blip r:embed="rId10">
            <a:alphaModFix amt="7000"/>
            <a:extLst>
              <a:ext uri="{28A0092B-C50C-407E-A947-70E740481C1C}">
                <a14:useLocalDpi xmlns:a14="http://schemas.microsoft.com/office/drawing/2010/main" val="0"/>
              </a:ext>
            </a:extLst>
          </a:blip>
          <a:srcRect l="29460" r="29859"/>
          <a:stretch/>
        </p:blipFill>
        <p:spPr>
          <a:xfrm>
            <a:off x="-79458" y="-79829"/>
            <a:ext cx="4215566" cy="7017657"/>
          </a:xfrm>
          <a:prstGeom prst="rect">
            <a:avLst/>
          </a:prstGeom>
        </p:spPr>
      </p:pic>
      <p:grpSp>
        <p:nvGrpSpPr>
          <p:cNvPr id="73" name="组合 72">
            <a:extLst>
              <a:ext uri="{FF2B5EF4-FFF2-40B4-BE49-F238E27FC236}">
                <a16:creationId xmlns:a16="http://schemas.microsoft.com/office/drawing/2014/main" id="{F10A3A7F-8E83-4014-E614-25C9E95EE201}"/>
              </a:ext>
            </a:extLst>
          </p:cNvPr>
          <p:cNvGrpSpPr/>
          <p:nvPr/>
        </p:nvGrpSpPr>
        <p:grpSpPr>
          <a:xfrm>
            <a:off x="4866627" y="5129338"/>
            <a:ext cx="5384517" cy="747324"/>
            <a:chOff x="4874973" y="1293731"/>
            <a:chExt cx="5384517" cy="747324"/>
          </a:xfrm>
        </p:grpSpPr>
        <p:sp>
          <p:nvSpPr>
            <p:cNvPr id="74" name="PA-圆角矩形 5824">
              <a:extLst>
                <a:ext uri="{FF2B5EF4-FFF2-40B4-BE49-F238E27FC236}">
                  <a16:creationId xmlns:a16="http://schemas.microsoft.com/office/drawing/2014/main" id="{95943574-BE53-23A2-FDFD-5F088519B918}"/>
                </a:ext>
              </a:extLst>
            </p:cNvPr>
            <p:cNvSpPr/>
            <p:nvPr>
              <p:custDataLst>
                <p:tags r:id="rId1"/>
              </p:custDataLst>
            </p:nvPr>
          </p:nvSpPr>
          <p:spPr>
            <a:xfrm>
              <a:off x="4874973" y="1350313"/>
              <a:ext cx="5384517" cy="690742"/>
            </a:xfrm>
            <a:prstGeom prst="roundRect">
              <a:avLst>
                <a:gd name="adj" fmla="val 4123"/>
              </a:avLst>
            </a:prstGeom>
            <a:solidFill>
              <a:schemeClr val="bg1"/>
            </a:solidFill>
            <a:ln w="0" cap="flat" cmpd="sng" algn="ctr">
              <a:solidFill>
                <a:schemeClr val="bg2"/>
              </a:solidFill>
              <a:prstDash val="solid"/>
              <a:miter lim="800000"/>
            </a:ln>
            <a:effectLst/>
          </p:spPr>
          <p:txBody>
            <a:bodyPr rtlCol="0" anchor="ctr"/>
            <a:lstStyle/>
            <a:p>
              <a:pPr algn="ctr"/>
              <a:endParaRPr lang="zh-CN" altLang="en-US" sz="1350" b="1" kern="0" dirty="0">
                <a:solidFill>
                  <a:prstClr val="white"/>
                </a:solidFill>
                <a:latin typeface="微软雅黑" panose="020B0503020204020204" pitchFamily="34" charset="-122"/>
                <a:ea typeface="微软雅黑" panose="020B0503020204020204" pitchFamily="34" charset="-122"/>
              </a:endParaRPr>
            </a:p>
          </p:txBody>
        </p:sp>
        <p:grpSp>
          <p:nvGrpSpPr>
            <p:cNvPr id="75" name="组合 74">
              <a:extLst>
                <a:ext uri="{FF2B5EF4-FFF2-40B4-BE49-F238E27FC236}">
                  <a16:creationId xmlns:a16="http://schemas.microsoft.com/office/drawing/2014/main" id="{F5AB95B1-3191-5CD6-6A7A-4EA4DC499377}"/>
                </a:ext>
              </a:extLst>
            </p:cNvPr>
            <p:cNvGrpSpPr/>
            <p:nvPr/>
          </p:nvGrpSpPr>
          <p:grpSpPr>
            <a:xfrm>
              <a:off x="5124372" y="1293731"/>
              <a:ext cx="4885719" cy="746522"/>
              <a:chOff x="5220820" y="1308122"/>
              <a:chExt cx="4633253" cy="746522"/>
            </a:xfrm>
          </p:grpSpPr>
          <p:cxnSp>
            <p:nvCxnSpPr>
              <p:cNvPr id="76" name="直接连接符 75">
                <a:extLst>
                  <a:ext uri="{FF2B5EF4-FFF2-40B4-BE49-F238E27FC236}">
                    <a16:creationId xmlns:a16="http://schemas.microsoft.com/office/drawing/2014/main" id="{5719E891-DECF-963B-4E78-C486DBBD4229}"/>
                  </a:ext>
                </a:extLst>
              </p:cNvPr>
              <p:cNvCxnSpPr>
                <a:cxnSpLocks/>
              </p:cNvCxnSpPr>
              <p:nvPr/>
            </p:nvCxnSpPr>
            <p:spPr>
              <a:xfrm>
                <a:off x="6138577" y="1462265"/>
                <a:ext cx="0" cy="482352"/>
              </a:xfrm>
              <a:prstGeom prst="line">
                <a:avLst/>
              </a:prstGeom>
              <a:noFill/>
              <a:ln w="9525" cap="flat" cmpd="sng" algn="ctr">
                <a:solidFill>
                  <a:sysClr val="window" lastClr="FFFFFF">
                    <a:lumMod val="85000"/>
                  </a:sysClr>
                </a:solidFill>
                <a:prstDash val="solid"/>
                <a:miter lim="800000"/>
              </a:ln>
              <a:effectLst/>
            </p:spPr>
          </p:cxnSp>
          <p:sp>
            <p:nvSpPr>
              <p:cNvPr id="77" name="矩形 76">
                <a:extLst>
                  <a:ext uri="{FF2B5EF4-FFF2-40B4-BE49-F238E27FC236}">
                    <a16:creationId xmlns:a16="http://schemas.microsoft.com/office/drawing/2014/main" id="{D8A625D4-E931-039E-B140-2104937F7432}"/>
                  </a:ext>
                </a:extLst>
              </p:cNvPr>
              <p:cNvSpPr/>
              <p:nvPr/>
            </p:nvSpPr>
            <p:spPr>
              <a:xfrm>
                <a:off x="6267875" y="1453412"/>
                <a:ext cx="3586198" cy="500058"/>
              </a:xfrm>
              <a:prstGeom prst="rect">
                <a:avLst/>
              </a:prstGeom>
            </p:spPr>
            <p:txBody>
              <a:bodyPr wrap="square" lIns="68499" tIns="34251" rIns="68499" bIns="34251"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dirty="0">
                    <a:ln>
                      <a:noFill/>
                    </a:ln>
                    <a:solidFill>
                      <a:prstClr val="white">
                        <a:lumMod val="85000"/>
                      </a:prstClr>
                    </a:solidFill>
                    <a:effectLst/>
                    <a:uLnTx/>
                    <a:uFillTx/>
                    <a:latin typeface="微软雅黑" panose="020B0503020204020204" pitchFamily="34" charset="-122"/>
                    <a:ea typeface="微软雅黑" panose="020B0503020204020204" pitchFamily="34" charset="-122"/>
                    <a:cs typeface="+mn-ea"/>
                  </a:rPr>
                  <a:t>预期成果与风险分析</a:t>
                </a:r>
              </a:p>
            </p:txBody>
          </p:sp>
          <p:sp>
            <p:nvSpPr>
              <p:cNvPr id="78" name="标题占位符 27">
                <a:extLst>
                  <a:ext uri="{FF2B5EF4-FFF2-40B4-BE49-F238E27FC236}">
                    <a16:creationId xmlns:a16="http://schemas.microsoft.com/office/drawing/2014/main" id="{2EADEA33-2133-578E-84C7-327ABC33CD51}"/>
                  </a:ext>
                </a:extLst>
              </p:cNvPr>
              <p:cNvSpPr txBox="1">
                <a:spLocks/>
              </p:cNvSpPr>
              <p:nvPr/>
            </p:nvSpPr>
            <p:spPr>
              <a:xfrm>
                <a:off x="5220820" y="1308122"/>
                <a:ext cx="872036" cy="746522"/>
              </a:xfrm>
              <a:prstGeom prst="rect">
                <a:avLst/>
              </a:prstGeom>
            </p:spPr>
            <p:txBody>
              <a:bodyPr vert="horz" lIns="68580" tIns="34290" rIns="68580" bIns="34290" rtlCol="0" anchor="ctr">
                <a:normAutofit/>
              </a:bodyPr>
              <a:lstStyle>
                <a:defPPr>
                  <a:defRPr lang="zh-CN"/>
                </a:defPPr>
                <a:lvl1pPr algn="ctr" defTabSz="685800">
                  <a:lnSpc>
                    <a:spcPct val="120000"/>
                  </a:lnSpc>
                  <a:spcBef>
                    <a:spcPct val="0"/>
                  </a:spcBef>
                  <a:buNone/>
                  <a:defRPr sz="4000">
                    <a:solidFill>
                      <a:schemeClr val="accent6"/>
                    </a:solidFill>
                    <a:latin typeface="+mj-lt"/>
                    <a:ea typeface="思源宋体 CN Heavy" panose="02020900000000000000" pitchFamily="18" charset="-122"/>
                    <a:cs typeface="+mj-cs"/>
                  </a:defRPr>
                </a:lvl1pPr>
              </a:lstStyle>
              <a:p>
                <a:pPr marL="0" marR="0" lvl="0" indent="0" algn="ctr" defTabSz="685800" eaLnBrk="1" fontAlgn="auto" latinLnBrk="0" hangingPunct="1">
                  <a:lnSpc>
                    <a:spcPct val="120000"/>
                  </a:lnSpc>
                  <a:spcBef>
                    <a:spcPct val="0"/>
                  </a:spcBef>
                  <a:spcAft>
                    <a:spcPts val="0"/>
                  </a:spcAft>
                  <a:buClrTx/>
                  <a:buSzTx/>
                  <a:buFontTx/>
                  <a:buNone/>
                  <a:tabLst/>
                  <a:defRPr/>
                </a:pPr>
                <a:r>
                  <a:rPr kumimoji="0" lang="en-US" altLang="zh-CN" sz="4000" b="1" i="0" u="none" strike="noStrike" kern="0" cap="none" spc="0" normalizeH="0" baseline="0" noProof="0" dirty="0">
                    <a:ln>
                      <a:noFill/>
                    </a:ln>
                    <a:solidFill>
                      <a:prstClr val="white">
                        <a:lumMod val="85000"/>
                      </a:prstClr>
                    </a:solidFill>
                    <a:effectLst/>
                    <a:uLnTx/>
                    <a:uFillTx/>
                    <a:latin typeface="Arial" panose="020B0604020202020204" pitchFamily="34" charset="0"/>
                    <a:ea typeface="微软雅黑" panose="020B0503020204020204" pitchFamily="34" charset="-122"/>
                    <a:cs typeface="+mj-cs"/>
                  </a:rPr>
                  <a:t>05</a:t>
                </a:r>
              </a:p>
            </p:txBody>
          </p:sp>
        </p:grpSp>
      </p:grpSp>
      <p:grpSp>
        <p:nvGrpSpPr>
          <p:cNvPr id="79" name="组合 78">
            <a:extLst>
              <a:ext uri="{FF2B5EF4-FFF2-40B4-BE49-F238E27FC236}">
                <a16:creationId xmlns:a16="http://schemas.microsoft.com/office/drawing/2014/main" id="{A880724A-D213-04F5-5924-6FFB3394C479}"/>
              </a:ext>
            </a:extLst>
          </p:cNvPr>
          <p:cNvGrpSpPr/>
          <p:nvPr/>
        </p:nvGrpSpPr>
        <p:grpSpPr>
          <a:xfrm>
            <a:off x="1142593" y="1199713"/>
            <a:ext cx="1384986" cy="4593613"/>
            <a:chOff x="1267368" y="1564791"/>
            <a:chExt cx="1124127" cy="3728416"/>
          </a:xfrm>
        </p:grpSpPr>
        <p:grpSp>
          <p:nvGrpSpPr>
            <p:cNvPr id="80" name="组合 79">
              <a:extLst>
                <a:ext uri="{FF2B5EF4-FFF2-40B4-BE49-F238E27FC236}">
                  <a16:creationId xmlns:a16="http://schemas.microsoft.com/office/drawing/2014/main" id="{A7CF90BC-AD78-6A18-1081-6DE8AEDED568}"/>
                </a:ext>
              </a:extLst>
            </p:cNvPr>
            <p:cNvGrpSpPr/>
            <p:nvPr/>
          </p:nvGrpSpPr>
          <p:grpSpPr>
            <a:xfrm>
              <a:off x="1267368" y="1564791"/>
              <a:ext cx="1097439" cy="3728416"/>
              <a:chOff x="2430187" y="1489115"/>
              <a:chExt cx="1097439" cy="3728416"/>
            </a:xfrm>
          </p:grpSpPr>
          <p:sp>
            <p:nvSpPr>
              <p:cNvPr id="82" name="文本框 81">
                <a:extLst>
                  <a:ext uri="{FF2B5EF4-FFF2-40B4-BE49-F238E27FC236}">
                    <a16:creationId xmlns:a16="http://schemas.microsoft.com/office/drawing/2014/main" id="{14884942-1DA1-A612-FCF1-B5011D606609}"/>
                  </a:ext>
                </a:extLst>
              </p:cNvPr>
              <p:cNvSpPr txBox="1"/>
              <p:nvPr/>
            </p:nvSpPr>
            <p:spPr>
              <a:xfrm rot="5400000">
                <a:off x="1260788" y="3523537"/>
                <a:ext cx="2863393" cy="524596"/>
              </a:xfrm>
              <a:prstGeom prst="rect">
                <a:avLst/>
              </a:prstGeom>
              <a:noFill/>
            </p:spPr>
            <p:txBody>
              <a:bodyPr vert="horz" wrap="square">
                <a:spAutoFit/>
              </a:bodyPr>
              <a:lstStyle/>
              <a:p>
                <a:pPr marL="0" marR="0" lvl="0" indent="0" algn="dist" defTabSz="914400" eaLnBrk="1" fontAlgn="auto" latinLnBrk="0" hangingPunct="1">
                  <a:lnSpc>
                    <a:spcPct val="100000"/>
                  </a:lnSpc>
                  <a:spcBef>
                    <a:spcPts val="0"/>
                  </a:spcBef>
                  <a:spcAft>
                    <a:spcPts val="0"/>
                  </a:spcAft>
                  <a:buClrTx/>
                  <a:buSzTx/>
                  <a:buFontTx/>
                  <a:buNone/>
                  <a:tabLst/>
                  <a:defRPr/>
                </a:pPr>
                <a:r>
                  <a:rPr kumimoji="0" lang="en-US" altLang="zh-CN" sz="3600" b="1" i="0" u="none" strike="noStrike" kern="0" cap="none" spc="0" normalizeH="0" baseline="0" noProof="0" dirty="0">
                    <a:ln>
                      <a:solidFill>
                        <a:schemeClr val="accent3">
                          <a:alpha val="22000"/>
                        </a:schemeClr>
                      </a:solidFill>
                    </a:ln>
                    <a:noFill/>
                    <a:effectLst/>
                    <a:uLnTx/>
                    <a:uFillTx/>
                    <a:latin typeface="Arial" panose="020B0604020202020204" pitchFamily="34" charset="0"/>
                    <a:cs typeface="阿里巴巴普惠体 Heavy" panose="00020600040101010101" pitchFamily="18" charset="-122"/>
                  </a:rPr>
                  <a:t>CONTENTS</a:t>
                </a:r>
              </a:p>
            </p:txBody>
          </p:sp>
          <p:sp>
            <p:nvSpPr>
              <p:cNvPr id="83" name="平行四边形 82">
                <a:extLst>
                  <a:ext uri="{FF2B5EF4-FFF2-40B4-BE49-F238E27FC236}">
                    <a16:creationId xmlns:a16="http://schemas.microsoft.com/office/drawing/2014/main" id="{83FDD8D8-6F77-1402-0C4F-C66FCBB741AE}"/>
                  </a:ext>
                </a:extLst>
              </p:cNvPr>
              <p:cNvSpPr/>
              <p:nvPr/>
            </p:nvSpPr>
            <p:spPr>
              <a:xfrm>
                <a:off x="2610429" y="1489115"/>
                <a:ext cx="917197" cy="1784366"/>
              </a:xfrm>
              <a:prstGeom prst="parallelogram">
                <a:avLst>
                  <a:gd name="adj" fmla="val 43802"/>
                </a:avLst>
              </a:prstGeom>
              <a:gradFill>
                <a:gsLst>
                  <a:gs pos="73000">
                    <a:schemeClr val="accent3">
                      <a:alpha val="0"/>
                    </a:schemeClr>
                  </a:gs>
                  <a:gs pos="0">
                    <a:schemeClr val="accent3">
                      <a:alpha val="35000"/>
                    </a:schemeClr>
                  </a:gs>
                </a:gsLst>
                <a:lin ang="5400000" scaled="0"/>
              </a:gra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4" name="平行四边形 83">
                <a:extLst>
                  <a:ext uri="{FF2B5EF4-FFF2-40B4-BE49-F238E27FC236}">
                    <a16:creationId xmlns:a16="http://schemas.microsoft.com/office/drawing/2014/main" id="{4C00609F-15B5-23CA-AFDD-A83D3AE2DC1D}"/>
                  </a:ext>
                </a:extLst>
              </p:cNvPr>
              <p:cNvSpPr/>
              <p:nvPr/>
            </p:nvSpPr>
            <p:spPr>
              <a:xfrm>
                <a:off x="2439546" y="1936465"/>
                <a:ext cx="584776" cy="1137656"/>
              </a:xfrm>
              <a:prstGeom prst="parallelogram">
                <a:avLst>
                  <a:gd name="adj" fmla="val 43802"/>
                </a:avLst>
              </a:prstGeom>
              <a:gradFill>
                <a:gsLst>
                  <a:gs pos="73000">
                    <a:schemeClr val="accent3">
                      <a:alpha val="0"/>
                    </a:schemeClr>
                  </a:gs>
                  <a:gs pos="0">
                    <a:schemeClr val="accent3">
                      <a:alpha val="40000"/>
                    </a:schemeClr>
                  </a:gs>
                </a:gsLst>
                <a:lin ang="5400000" scaled="0"/>
              </a:gra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cxnSp>
            <p:nvCxnSpPr>
              <p:cNvPr id="85" name="直接连接符 84">
                <a:extLst>
                  <a:ext uri="{FF2B5EF4-FFF2-40B4-BE49-F238E27FC236}">
                    <a16:creationId xmlns:a16="http://schemas.microsoft.com/office/drawing/2014/main" id="{F0C106D5-8F14-9273-F3E5-C35A522043DD}"/>
                  </a:ext>
                </a:extLst>
              </p:cNvPr>
              <p:cNvCxnSpPr/>
              <p:nvPr/>
            </p:nvCxnSpPr>
            <p:spPr>
              <a:xfrm>
                <a:off x="3069028" y="2981499"/>
                <a:ext cx="0" cy="2056789"/>
              </a:xfrm>
              <a:prstGeom prst="line">
                <a:avLst/>
              </a:prstGeom>
              <a:noFill/>
              <a:ln w="12700" cap="flat" cmpd="sng" algn="ctr">
                <a:solidFill>
                  <a:sysClr val="window" lastClr="FFFFFF">
                    <a:alpha val="17000"/>
                  </a:sysClr>
                </a:solidFill>
                <a:prstDash val="solid"/>
                <a:miter lim="800000"/>
              </a:ln>
              <a:effectLst/>
            </p:spPr>
          </p:cxnSp>
        </p:grpSp>
        <p:sp>
          <p:nvSpPr>
            <p:cNvPr id="81" name="文本框 80">
              <a:extLst>
                <a:ext uri="{FF2B5EF4-FFF2-40B4-BE49-F238E27FC236}">
                  <a16:creationId xmlns:a16="http://schemas.microsoft.com/office/drawing/2014/main" id="{8447F2A9-035D-DC61-D599-7FB886503E68}"/>
                </a:ext>
              </a:extLst>
            </p:cNvPr>
            <p:cNvSpPr txBox="1"/>
            <p:nvPr/>
          </p:nvSpPr>
          <p:spPr>
            <a:xfrm>
              <a:off x="1986274" y="1616018"/>
              <a:ext cx="405221" cy="337240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6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汇报提纲</a:t>
              </a:r>
            </a:p>
          </p:txBody>
        </p:sp>
      </p:grpSp>
      <p:sp>
        <p:nvSpPr>
          <p:cNvPr id="2" name="矩形 1">
            <a:extLst>
              <a:ext uri="{FF2B5EF4-FFF2-40B4-BE49-F238E27FC236}">
                <a16:creationId xmlns:a16="http://schemas.microsoft.com/office/drawing/2014/main" id="{14C0072F-731A-CD86-69D1-5CEAB9E53175}"/>
              </a:ext>
            </a:extLst>
          </p:cNvPr>
          <p:cNvSpPr/>
          <p:nvPr/>
        </p:nvSpPr>
        <p:spPr>
          <a:xfrm>
            <a:off x="4508500" y="1041400"/>
            <a:ext cx="6604000" cy="4826000"/>
          </a:xfrm>
          <a:prstGeom prst="rect">
            <a:avLst/>
          </a:prstGeom>
          <a:solidFill>
            <a:srgbClr val="F7FAFD"/>
          </a:solidFill>
          <a:ln w="13970">
            <a:solidFill>
              <a:srgbClr val="A0BEE1"/>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endParaRPr lang="zh-CN" altLang="en-US" sz="100">
              <a:solidFill>
                <a:srgbClr val="052346"/>
              </a:solidFill>
              <a:latin typeface="微软雅黑" panose="020B0503020204020204" pitchFamily="34" charset="-122"/>
            </a:endParaRPr>
          </a:p>
        </p:txBody>
      </p:sp>
      <p:sp>
        <p:nvSpPr>
          <p:cNvPr id="3" name="矩形 2">
            <a:extLst>
              <a:ext uri="{FF2B5EF4-FFF2-40B4-BE49-F238E27FC236}">
                <a16:creationId xmlns:a16="http://schemas.microsoft.com/office/drawing/2014/main" id="{EAAE8AA3-7BC0-A321-37AA-65EE89216EA2}"/>
              </a:ext>
            </a:extLst>
          </p:cNvPr>
          <p:cNvSpPr/>
          <p:nvPr/>
        </p:nvSpPr>
        <p:spPr>
          <a:xfrm>
            <a:off x="4889500" y="1460500"/>
            <a:ext cx="5778500" cy="609600"/>
          </a:xfrm>
          <a:prstGeom prst="rect">
            <a:avLst/>
          </a:prstGeom>
          <a:solidFill>
            <a:srgbClr val="0054A0"/>
          </a:solidFill>
          <a:ln w="13970">
            <a:solidFill>
              <a:srgbClr val="0054A0"/>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en-US" altLang="zh-CN" b="1">
                <a:solidFill>
                  <a:srgbClr val="FFFFFF"/>
                </a:solidFill>
                <a:latin typeface="微软雅黑" panose="020B0503020204020204" pitchFamily="34" charset="-122"/>
              </a:rPr>
              <a:t>01    </a:t>
            </a:r>
            <a:r>
              <a:rPr lang="zh-CN" altLang="en-US" b="1">
                <a:solidFill>
                  <a:srgbClr val="FFFFFF"/>
                </a:solidFill>
                <a:latin typeface="微软雅黑" panose="020B0503020204020204" pitchFamily="34" charset="-122"/>
              </a:rPr>
              <a:t>平台建设背景</a:t>
            </a:r>
          </a:p>
        </p:txBody>
      </p:sp>
      <p:sp>
        <p:nvSpPr>
          <p:cNvPr id="4" name="矩形 3">
            <a:extLst>
              <a:ext uri="{FF2B5EF4-FFF2-40B4-BE49-F238E27FC236}">
                <a16:creationId xmlns:a16="http://schemas.microsoft.com/office/drawing/2014/main" id="{9C825BA6-C176-0B97-E06D-27660057A6A7}"/>
              </a:ext>
            </a:extLst>
          </p:cNvPr>
          <p:cNvSpPr/>
          <p:nvPr/>
        </p:nvSpPr>
        <p:spPr>
          <a:xfrm>
            <a:off x="4889500" y="2349500"/>
            <a:ext cx="5778500" cy="609600"/>
          </a:xfrm>
          <a:prstGeom prst="rect">
            <a:avLst/>
          </a:prstGeom>
          <a:solidFill>
            <a:srgbClr val="FFFFFF"/>
          </a:solidFill>
          <a:ln w="13970">
            <a:solidFill>
              <a:srgbClr val="DCE1E6"/>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en-US" altLang="zh-CN" b="1">
                <a:solidFill>
                  <a:srgbClr val="00417D"/>
                </a:solidFill>
                <a:latin typeface="微软雅黑" panose="020B0503020204020204" pitchFamily="34" charset="-122"/>
              </a:rPr>
              <a:t>02    </a:t>
            </a:r>
            <a:r>
              <a:rPr lang="zh-CN" altLang="en-US" b="1">
                <a:solidFill>
                  <a:srgbClr val="00417D"/>
                </a:solidFill>
                <a:latin typeface="微软雅黑" panose="020B0503020204020204" pitchFamily="34" charset="-122"/>
              </a:rPr>
              <a:t>平台定位与功能</a:t>
            </a:r>
          </a:p>
        </p:txBody>
      </p:sp>
      <p:sp>
        <p:nvSpPr>
          <p:cNvPr id="5" name="矩形 4">
            <a:extLst>
              <a:ext uri="{FF2B5EF4-FFF2-40B4-BE49-F238E27FC236}">
                <a16:creationId xmlns:a16="http://schemas.microsoft.com/office/drawing/2014/main" id="{0D46C176-FD27-526C-28A3-0508CFE9CCC8}"/>
              </a:ext>
            </a:extLst>
          </p:cNvPr>
          <p:cNvSpPr/>
          <p:nvPr/>
        </p:nvSpPr>
        <p:spPr>
          <a:xfrm>
            <a:off x="4889500" y="3238500"/>
            <a:ext cx="5778500" cy="609600"/>
          </a:xfrm>
          <a:prstGeom prst="rect">
            <a:avLst/>
          </a:prstGeom>
          <a:solidFill>
            <a:srgbClr val="FFFFFF"/>
          </a:solidFill>
          <a:ln w="13970">
            <a:solidFill>
              <a:srgbClr val="DCE1E6"/>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en-US" altLang="zh-CN" b="1">
                <a:solidFill>
                  <a:srgbClr val="00417D"/>
                </a:solidFill>
                <a:latin typeface="微软雅黑" panose="020B0503020204020204" pitchFamily="34" charset="-122"/>
              </a:rPr>
              <a:t>03    </a:t>
            </a:r>
            <a:r>
              <a:rPr lang="zh-CN" altLang="en-US" b="1">
                <a:solidFill>
                  <a:srgbClr val="00417D"/>
                </a:solidFill>
                <a:latin typeface="微软雅黑" panose="020B0503020204020204" pitchFamily="34" charset="-122"/>
              </a:rPr>
              <a:t>技术架构与运行流程</a:t>
            </a:r>
          </a:p>
        </p:txBody>
      </p:sp>
      <p:sp>
        <p:nvSpPr>
          <p:cNvPr id="6" name="矩形 5">
            <a:extLst>
              <a:ext uri="{FF2B5EF4-FFF2-40B4-BE49-F238E27FC236}">
                <a16:creationId xmlns:a16="http://schemas.microsoft.com/office/drawing/2014/main" id="{00898A08-9E09-70CA-60B5-E27925A9183E}"/>
              </a:ext>
            </a:extLst>
          </p:cNvPr>
          <p:cNvSpPr/>
          <p:nvPr/>
        </p:nvSpPr>
        <p:spPr>
          <a:xfrm>
            <a:off x="4889500" y="4127500"/>
            <a:ext cx="5778500" cy="609600"/>
          </a:xfrm>
          <a:prstGeom prst="rect">
            <a:avLst/>
          </a:prstGeom>
          <a:solidFill>
            <a:srgbClr val="FFFFFF"/>
          </a:solidFill>
          <a:ln w="13970">
            <a:solidFill>
              <a:srgbClr val="DCE1E6"/>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en-US" altLang="zh-CN" b="1">
                <a:solidFill>
                  <a:srgbClr val="00417D"/>
                </a:solidFill>
                <a:latin typeface="微软雅黑" panose="020B0503020204020204" pitchFamily="34" charset="-122"/>
              </a:rPr>
              <a:t>04    </a:t>
            </a:r>
            <a:r>
              <a:rPr lang="zh-CN" altLang="en-US" b="1">
                <a:solidFill>
                  <a:srgbClr val="00417D"/>
                </a:solidFill>
                <a:latin typeface="微软雅黑" panose="020B0503020204020204" pitchFamily="34" charset="-122"/>
              </a:rPr>
              <a:t>当前进展与后续计划</a:t>
            </a:r>
          </a:p>
        </p:txBody>
      </p:sp>
    </p:spTree>
    <p:extLst>
      <p:ext uri="{BB962C8B-B14F-4D97-AF65-F5344CB8AC3E}">
        <p14:creationId xmlns:p14="http://schemas.microsoft.com/office/powerpoint/2010/main" val="868139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3DD42-58F1-BF23-F1D1-911D6ECA1AC9}"/>
            </a:ext>
          </a:extLst>
        </p:cNvPr>
        <p:cNvGrpSpPr/>
        <p:nvPr/>
      </p:nvGrpSpPr>
      <p:grpSpPr>
        <a:xfrm>
          <a:off x="0" y="0"/>
          <a:ext cx="0" cy="0"/>
          <a:chOff x="0" y="0"/>
          <a:chExt cx="0" cy="0"/>
        </a:xfrm>
      </p:grpSpPr>
      <p:sp>
        <p:nvSpPr>
          <p:cNvPr id="90" name="文本框 89">
            <a:extLst>
              <a:ext uri="{FF2B5EF4-FFF2-40B4-BE49-F238E27FC236}">
                <a16:creationId xmlns:a16="http://schemas.microsoft.com/office/drawing/2014/main" id="{25103B3E-9250-E6B9-EDDC-2ED6F90CF039}"/>
              </a:ext>
            </a:extLst>
          </p:cNvPr>
          <p:cNvSpPr txBox="1"/>
          <p:nvPr/>
        </p:nvSpPr>
        <p:spPr>
          <a:xfrm>
            <a:off x="115452" y="243436"/>
            <a:ext cx="772964" cy="369332"/>
          </a:xfrm>
          <a:prstGeom prst="rect">
            <a:avLst/>
          </a:prstGeom>
          <a:noFill/>
        </p:spPr>
        <p:txBody>
          <a:bodyPr wrap="square" rtlCol="0">
            <a:spAutoFit/>
          </a:bodyPr>
          <a:lstStyle/>
          <a:p>
            <a:pPr algn="ctr"/>
            <a:r>
              <a:rPr lang="en-US" altLang="zh-CN" b="1">
                <a:solidFill>
                  <a:schemeClr val="bg1"/>
                </a:solidFill>
                <a:latin typeface="微软雅黑" panose="020B0503020204020204" pitchFamily="34" charset="-122"/>
              </a:rPr>
              <a:t>1.1</a:t>
            </a:r>
            <a:endParaRPr lang="zh-CN" altLang="en-US" b="1" dirty="0">
              <a:solidFill>
                <a:schemeClr val="bg1"/>
              </a:solidFill>
              <a:latin typeface="微软雅黑" panose="020B0503020204020204" pitchFamily="34" charset="-122"/>
            </a:endParaRPr>
          </a:p>
        </p:txBody>
      </p:sp>
      <p:sp>
        <p:nvSpPr>
          <p:cNvPr id="92" name="文本框 91">
            <a:extLst>
              <a:ext uri="{FF2B5EF4-FFF2-40B4-BE49-F238E27FC236}">
                <a16:creationId xmlns:a16="http://schemas.microsoft.com/office/drawing/2014/main" id="{C27D3A61-0DEC-BA16-46CE-C27F01A6C4A8}"/>
              </a:ext>
            </a:extLst>
          </p:cNvPr>
          <p:cNvSpPr txBox="1"/>
          <p:nvPr/>
        </p:nvSpPr>
        <p:spPr>
          <a:xfrm>
            <a:off x="946461" y="269201"/>
            <a:ext cx="6440714" cy="492443"/>
          </a:xfrm>
          <a:prstGeom prst="rect">
            <a:avLst/>
          </a:prstGeom>
          <a:noFill/>
        </p:spPr>
        <p:txBody>
          <a:bodyPr wrap="square">
            <a:spAutoFit/>
          </a:bodyPr>
          <a:lstStyle/>
          <a:p>
            <a:r>
              <a:rPr lang="zh-CN" altLang="en-US" sz="2600" b="1">
                <a:solidFill>
                  <a:schemeClr val="accent1"/>
                </a:solidFill>
                <a:latin typeface="微软雅黑" panose="020B0503020204020204" pitchFamily="34" charset="-122"/>
              </a:rPr>
              <a:t>平台建设背景</a:t>
            </a:r>
            <a:endParaRPr lang="zh-CN" altLang="en-US" sz="2600" b="1" dirty="0">
              <a:solidFill>
                <a:schemeClr val="accent1"/>
              </a:solidFill>
              <a:latin typeface="微软雅黑" panose="020B0503020204020204" pitchFamily="34" charset="-122"/>
            </a:endParaRPr>
          </a:p>
        </p:txBody>
      </p:sp>
      <p:sp>
        <p:nvSpPr>
          <p:cNvPr id="6" name="矩形 5">
            <a:extLst>
              <a:ext uri="{FF2B5EF4-FFF2-40B4-BE49-F238E27FC236}">
                <a16:creationId xmlns:a16="http://schemas.microsoft.com/office/drawing/2014/main" id="{204B3276-1D6D-A659-B777-7A8B73B43410}"/>
              </a:ext>
            </a:extLst>
          </p:cNvPr>
          <p:cNvSpPr/>
          <p:nvPr/>
        </p:nvSpPr>
        <p:spPr>
          <a:xfrm>
            <a:off x="488951" y="1148185"/>
            <a:ext cx="11214099" cy="573683"/>
          </a:xfrm>
          <a:prstGeom prst="rect">
            <a:avLst/>
          </a:prstGeom>
          <a:solidFill>
            <a:schemeClr val="accent1"/>
          </a:solidFill>
          <a:ln w="317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3" name="文本框 12">
            <a:extLst>
              <a:ext uri="{FF2B5EF4-FFF2-40B4-BE49-F238E27FC236}">
                <a16:creationId xmlns:a16="http://schemas.microsoft.com/office/drawing/2014/main" id="{17E4BB18-6BF3-E577-1061-8ED13EE92896}"/>
              </a:ext>
            </a:extLst>
          </p:cNvPr>
          <p:cNvSpPr txBox="1"/>
          <p:nvPr/>
        </p:nvSpPr>
        <p:spPr>
          <a:xfrm>
            <a:off x="2931512" y="1204194"/>
            <a:ext cx="6328976" cy="369332"/>
          </a:xfrm>
          <a:prstGeom prst="rect">
            <a:avLst/>
          </a:prstGeom>
          <a:noFill/>
        </p:spPr>
        <p:txBody>
          <a:bodyPr wrap="none">
            <a:spAutoFit/>
          </a:bodyPr>
          <a:lstStyle/>
          <a:p>
            <a:pPr algn="ctr"/>
            <a:r>
              <a:rPr lang="en-US" altLang="zh-CN" b="1">
                <a:solidFill>
                  <a:schemeClr val="accent3"/>
                </a:solidFill>
                <a:latin typeface="微软雅黑" panose="020B0503020204020204" pitchFamily="34" charset="-122"/>
                <a:ea typeface="微软雅黑" panose="020B0503020204020204" pitchFamily="34" charset="-122"/>
              </a:rPr>
              <a:t>3R </a:t>
            </a:r>
            <a:r>
              <a:rPr lang="zh-CN" altLang="en-US" b="1">
                <a:solidFill>
                  <a:schemeClr val="accent3"/>
                </a:solidFill>
                <a:latin typeface="微软雅黑" panose="020B0503020204020204" pitchFamily="34" charset="-122"/>
                <a:ea typeface="微软雅黑" panose="020B0503020204020204" pitchFamily="34" charset="-122"/>
              </a:rPr>
              <a:t>模型从论文到实践仍存在部署、算力和对比三类工程门槛</a:t>
            </a:r>
            <a:endParaRPr lang="zh-CN" altLang="en-US" b="1" dirty="0">
              <a:solidFill>
                <a:schemeClr val="accent3"/>
              </a:solidFill>
              <a:latin typeface="微软雅黑" panose="020B0503020204020204" pitchFamily="34" charset="-122"/>
              <a:ea typeface="微软雅黑" panose="020B0503020204020204" pitchFamily="34" charset="-122"/>
            </a:endParaRPr>
          </a:p>
        </p:txBody>
      </p:sp>
      <p:grpSp>
        <p:nvGrpSpPr>
          <p:cNvPr id="16" name="组合 15">
            <a:extLst>
              <a:ext uri="{FF2B5EF4-FFF2-40B4-BE49-F238E27FC236}">
                <a16:creationId xmlns:a16="http://schemas.microsoft.com/office/drawing/2014/main" id="{78EB1953-AD90-70D1-101F-4F57C659A9D3}"/>
              </a:ext>
            </a:extLst>
          </p:cNvPr>
          <p:cNvGrpSpPr/>
          <p:nvPr/>
        </p:nvGrpSpPr>
        <p:grpSpPr>
          <a:xfrm>
            <a:off x="485774" y="1706080"/>
            <a:ext cx="11210925" cy="308759"/>
            <a:chOff x="490655" y="3938634"/>
            <a:chExt cx="5140454" cy="204788"/>
          </a:xfrm>
        </p:grpSpPr>
        <p:sp>
          <p:nvSpPr>
            <p:cNvPr id="17" name="任意多边形: 形状 16">
              <a:extLst>
                <a:ext uri="{FF2B5EF4-FFF2-40B4-BE49-F238E27FC236}">
                  <a16:creationId xmlns:a16="http://schemas.microsoft.com/office/drawing/2014/main" id="{1EB340B5-558D-4A4C-C06D-67931BC6006C}"/>
                </a:ext>
              </a:extLst>
            </p:cNvPr>
            <p:cNvSpPr/>
            <p:nvPr/>
          </p:nvSpPr>
          <p:spPr>
            <a:xfrm>
              <a:off x="490655" y="3943397"/>
              <a:ext cx="4600015" cy="200025"/>
            </a:xfrm>
            <a:custGeom>
              <a:avLst/>
              <a:gdLst>
                <a:gd name="connsiteX0" fmla="*/ 0 w 5229225"/>
                <a:gd name="connsiteY0" fmla="*/ 200025 h 200025"/>
                <a:gd name="connsiteX1" fmla="*/ 1047750 w 5229225"/>
                <a:gd name="connsiteY1" fmla="*/ 200025 h 200025"/>
                <a:gd name="connsiteX2" fmla="*/ 5229225 w 5229225"/>
                <a:gd name="connsiteY2" fmla="*/ 0 h 200025"/>
                <a:gd name="connsiteX3" fmla="*/ 642938 w 5229225"/>
                <a:gd name="connsiteY3" fmla="*/ 0 h 200025"/>
                <a:gd name="connsiteX4" fmla="*/ 0 w 5229225"/>
                <a:gd name="connsiteY4" fmla="*/ 200025 h 200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29225" h="200025">
                  <a:moveTo>
                    <a:pt x="0" y="200025"/>
                  </a:moveTo>
                  <a:lnTo>
                    <a:pt x="1047750" y="200025"/>
                  </a:lnTo>
                  <a:lnTo>
                    <a:pt x="5229225" y="0"/>
                  </a:lnTo>
                  <a:lnTo>
                    <a:pt x="642938" y="0"/>
                  </a:lnTo>
                  <a:lnTo>
                    <a:pt x="0" y="200025"/>
                  </a:lnTo>
                  <a:close/>
                </a:path>
              </a:pathLst>
            </a:custGeom>
            <a:gradFill>
              <a:gsLst>
                <a:gs pos="0">
                  <a:schemeClr val="accent1">
                    <a:alpha val="30000"/>
                  </a:schemeClr>
                </a:gs>
                <a:gs pos="100000">
                  <a:schemeClr val="accent1">
                    <a:alpha val="0"/>
                  </a:scheme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8" name="任意多边形: 形状 17">
              <a:extLst>
                <a:ext uri="{FF2B5EF4-FFF2-40B4-BE49-F238E27FC236}">
                  <a16:creationId xmlns:a16="http://schemas.microsoft.com/office/drawing/2014/main" id="{6063A832-FEA9-6E9B-BA1A-55F0A270B69D}"/>
                </a:ext>
              </a:extLst>
            </p:cNvPr>
            <p:cNvSpPr/>
            <p:nvPr/>
          </p:nvSpPr>
          <p:spPr>
            <a:xfrm>
              <a:off x="1068799" y="3943397"/>
              <a:ext cx="4009303" cy="195262"/>
            </a:xfrm>
            <a:custGeom>
              <a:avLst/>
              <a:gdLst>
                <a:gd name="connsiteX0" fmla="*/ 928688 w 4557713"/>
                <a:gd name="connsiteY0" fmla="*/ 195262 h 195262"/>
                <a:gd name="connsiteX1" fmla="*/ 1990725 w 4557713"/>
                <a:gd name="connsiteY1" fmla="*/ 195262 h 195262"/>
                <a:gd name="connsiteX2" fmla="*/ 4557713 w 4557713"/>
                <a:gd name="connsiteY2" fmla="*/ 0 h 195262"/>
                <a:gd name="connsiteX3" fmla="*/ 0 w 4557713"/>
                <a:gd name="connsiteY3" fmla="*/ 0 h 195262"/>
                <a:gd name="connsiteX4" fmla="*/ 928688 w 4557713"/>
                <a:gd name="connsiteY4" fmla="*/ 195262 h 1952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7713" h="195262">
                  <a:moveTo>
                    <a:pt x="928688" y="195262"/>
                  </a:moveTo>
                  <a:lnTo>
                    <a:pt x="1990725" y="195262"/>
                  </a:lnTo>
                  <a:lnTo>
                    <a:pt x="4557713" y="0"/>
                  </a:lnTo>
                  <a:lnTo>
                    <a:pt x="0" y="0"/>
                  </a:lnTo>
                  <a:lnTo>
                    <a:pt x="928688" y="195262"/>
                  </a:lnTo>
                  <a:close/>
                </a:path>
              </a:pathLst>
            </a:custGeom>
            <a:gradFill>
              <a:gsLst>
                <a:gs pos="0">
                  <a:schemeClr val="accent1">
                    <a:alpha val="30000"/>
                  </a:schemeClr>
                </a:gs>
                <a:gs pos="100000">
                  <a:schemeClr val="accent1">
                    <a:alpha val="0"/>
                  </a:scheme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9" name="任意多边形: 形状 18">
              <a:extLst>
                <a:ext uri="{FF2B5EF4-FFF2-40B4-BE49-F238E27FC236}">
                  <a16:creationId xmlns:a16="http://schemas.microsoft.com/office/drawing/2014/main" id="{3051218A-398A-D30B-0989-EADE8277FE7C}"/>
                </a:ext>
              </a:extLst>
            </p:cNvPr>
            <p:cNvSpPr/>
            <p:nvPr/>
          </p:nvSpPr>
          <p:spPr>
            <a:xfrm>
              <a:off x="1064610" y="3943397"/>
              <a:ext cx="4013492" cy="195262"/>
            </a:xfrm>
            <a:custGeom>
              <a:avLst/>
              <a:gdLst>
                <a:gd name="connsiteX0" fmla="*/ 2552700 w 4562475"/>
                <a:gd name="connsiteY0" fmla="*/ 195262 h 195262"/>
                <a:gd name="connsiteX1" fmla="*/ 3600450 w 4562475"/>
                <a:gd name="connsiteY1" fmla="*/ 195262 h 195262"/>
                <a:gd name="connsiteX2" fmla="*/ 4562475 w 4562475"/>
                <a:gd name="connsiteY2" fmla="*/ 0 h 195262"/>
                <a:gd name="connsiteX3" fmla="*/ 0 w 4562475"/>
                <a:gd name="connsiteY3" fmla="*/ 0 h 195262"/>
                <a:gd name="connsiteX4" fmla="*/ 2552700 w 4562475"/>
                <a:gd name="connsiteY4" fmla="*/ 195262 h 1952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2475" h="195262">
                  <a:moveTo>
                    <a:pt x="2552700" y="195262"/>
                  </a:moveTo>
                  <a:lnTo>
                    <a:pt x="3600450" y="195262"/>
                  </a:lnTo>
                  <a:lnTo>
                    <a:pt x="4562475" y="0"/>
                  </a:lnTo>
                  <a:lnTo>
                    <a:pt x="0" y="0"/>
                  </a:lnTo>
                  <a:lnTo>
                    <a:pt x="2552700" y="195262"/>
                  </a:lnTo>
                  <a:close/>
                </a:path>
              </a:pathLst>
            </a:custGeom>
            <a:gradFill>
              <a:gsLst>
                <a:gs pos="0">
                  <a:schemeClr val="accent1">
                    <a:alpha val="30000"/>
                  </a:schemeClr>
                </a:gs>
                <a:gs pos="100000">
                  <a:schemeClr val="accent1">
                    <a:alpha val="0"/>
                  </a:scheme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0" name="任意多边形: 形状 19">
              <a:extLst>
                <a:ext uri="{FF2B5EF4-FFF2-40B4-BE49-F238E27FC236}">
                  <a16:creationId xmlns:a16="http://schemas.microsoft.com/office/drawing/2014/main" id="{357FB65C-0A83-ABDE-A352-DD2F29CE1D1D}"/>
                </a:ext>
              </a:extLst>
            </p:cNvPr>
            <p:cNvSpPr/>
            <p:nvPr/>
          </p:nvSpPr>
          <p:spPr>
            <a:xfrm>
              <a:off x="1085557" y="3938634"/>
              <a:ext cx="4545552" cy="200025"/>
            </a:xfrm>
            <a:custGeom>
              <a:avLst/>
              <a:gdLst>
                <a:gd name="connsiteX0" fmla="*/ 5167313 w 5167313"/>
                <a:gd name="connsiteY0" fmla="*/ 200025 h 200025"/>
                <a:gd name="connsiteX1" fmla="*/ 4138613 w 5167313"/>
                <a:gd name="connsiteY1" fmla="*/ 200025 h 200025"/>
                <a:gd name="connsiteX2" fmla="*/ 0 w 5167313"/>
                <a:gd name="connsiteY2" fmla="*/ 0 h 200025"/>
                <a:gd name="connsiteX3" fmla="*/ 4538663 w 5167313"/>
                <a:gd name="connsiteY3" fmla="*/ 0 h 200025"/>
                <a:gd name="connsiteX4" fmla="*/ 5167313 w 5167313"/>
                <a:gd name="connsiteY4" fmla="*/ 200025 h 200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67313" h="200025">
                  <a:moveTo>
                    <a:pt x="5167313" y="200025"/>
                  </a:moveTo>
                  <a:lnTo>
                    <a:pt x="4138613" y="200025"/>
                  </a:lnTo>
                  <a:lnTo>
                    <a:pt x="0" y="0"/>
                  </a:lnTo>
                  <a:lnTo>
                    <a:pt x="4538663" y="0"/>
                  </a:lnTo>
                  <a:lnTo>
                    <a:pt x="5167313" y="200025"/>
                  </a:lnTo>
                  <a:close/>
                </a:path>
              </a:pathLst>
            </a:custGeom>
            <a:gradFill>
              <a:gsLst>
                <a:gs pos="0">
                  <a:schemeClr val="accent1">
                    <a:alpha val="30000"/>
                  </a:schemeClr>
                </a:gs>
                <a:gs pos="100000">
                  <a:schemeClr val="accent1">
                    <a:alpha val="0"/>
                  </a:scheme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21" name="组合 20">
            <a:extLst>
              <a:ext uri="{FF2B5EF4-FFF2-40B4-BE49-F238E27FC236}">
                <a16:creationId xmlns:a16="http://schemas.microsoft.com/office/drawing/2014/main" id="{A337F25B-75BB-78BD-8329-594463BC8D29}"/>
              </a:ext>
            </a:extLst>
          </p:cNvPr>
          <p:cNvGrpSpPr/>
          <p:nvPr/>
        </p:nvGrpSpPr>
        <p:grpSpPr>
          <a:xfrm>
            <a:off x="2219490" y="2028529"/>
            <a:ext cx="1906711" cy="400110"/>
            <a:chOff x="2033153" y="2026823"/>
            <a:chExt cx="1906711" cy="400110"/>
          </a:xfrm>
        </p:grpSpPr>
        <p:sp>
          <p:nvSpPr>
            <p:cNvPr id="22" name="矩形: 圆角 21">
              <a:extLst>
                <a:ext uri="{FF2B5EF4-FFF2-40B4-BE49-F238E27FC236}">
                  <a16:creationId xmlns:a16="http://schemas.microsoft.com/office/drawing/2014/main" id="{56F2A4A9-3F6C-758C-AEC2-E8A9455B3278}"/>
                </a:ext>
              </a:extLst>
            </p:cNvPr>
            <p:cNvSpPr/>
            <p:nvPr/>
          </p:nvSpPr>
          <p:spPr>
            <a:xfrm>
              <a:off x="2033153" y="2027933"/>
              <a:ext cx="1906711" cy="397891"/>
            </a:xfrm>
            <a:prstGeom prst="roundRect">
              <a:avLst>
                <a:gd name="adj" fmla="val 50000"/>
              </a:avLst>
            </a:prstGeom>
            <a:gradFill flip="none" rotWithShape="1">
              <a:gsLst>
                <a:gs pos="0">
                  <a:schemeClr val="accent1">
                    <a:alpha val="10000"/>
                  </a:schemeClr>
                </a:gs>
                <a:gs pos="30000">
                  <a:schemeClr val="accent1">
                    <a:alpha val="0"/>
                  </a:schemeClr>
                </a:gs>
                <a:gs pos="100000">
                  <a:schemeClr val="accent1">
                    <a:alpha val="10000"/>
                  </a:schemeClr>
                </a:gs>
                <a:gs pos="70000">
                  <a:schemeClr val="accent1">
                    <a:alpha val="0"/>
                  </a:schemeClr>
                </a:gs>
              </a:gsLst>
              <a:lin ang="2700000" scaled="1"/>
              <a:tileRect/>
            </a:gradFill>
            <a:ln w="3175" cap="flat" cmpd="sng" algn="ctr">
              <a:solidFill>
                <a:srgbClr val="0249A1">
                  <a:alpha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3" name="文本框 22">
              <a:extLst>
                <a:ext uri="{FF2B5EF4-FFF2-40B4-BE49-F238E27FC236}">
                  <a16:creationId xmlns:a16="http://schemas.microsoft.com/office/drawing/2014/main" id="{92C5F401-9FE6-D01C-68E1-0975F2BDFCF9}"/>
                </a:ext>
              </a:extLst>
            </p:cNvPr>
            <p:cNvSpPr txBox="1"/>
            <p:nvPr/>
          </p:nvSpPr>
          <p:spPr>
            <a:xfrm>
              <a:off x="2459548" y="2026823"/>
              <a:ext cx="1053920" cy="400110"/>
            </a:xfrm>
            <a:prstGeom prst="rect">
              <a:avLst/>
            </a:prstGeom>
            <a:noFill/>
          </p:spPr>
          <p:txBody>
            <a:bodyPr wrap="square">
              <a:spAutoFit/>
            </a:bodyPr>
            <a:lstStyle/>
            <a:p>
              <a:pPr marL="0" marR="0" lvl="0" indent="0" algn="dist" defTabSz="914400" eaLnBrk="1" fontAlgn="auto" latinLnBrk="0" hangingPunct="1">
                <a:lnSpc>
                  <a:spcPct val="100000"/>
                </a:lnSpc>
                <a:spcBef>
                  <a:spcPct val="0"/>
                </a:spcBef>
                <a:spcAft>
                  <a:spcPts val="0"/>
                </a:spcAft>
                <a:buClrTx/>
                <a:buSzTx/>
                <a:buFontTx/>
                <a:buNone/>
                <a:tabLst/>
                <a:defRPr/>
              </a:pPr>
              <a:r>
                <a:rPr kumimoji="0" lang="zh-CN" altLang="en-US" sz="2000" b="1" i="0" u="none" strike="noStrike" kern="0" cap="none" spc="15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sym typeface="+mn-ea"/>
                </a:rPr>
                <a:t>成果一</a:t>
              </a:r>
            </a:p>
          </p:txBody>
        </p:sp>
      </p:grpSp>
      <p:grpSp>
        <p:nvGrpSpPr>
          <p:cNvPr id="24" name="组合 23">
            <a:extLst>
              <a:ext uri="{FF2B5EF4-FFF2-40B4-BE49-F238E27FC236}">
                <a16:creationId xmlns:a16="http://schemas.microsoft.com/office/drawing/2014/main" id="{1E948EF5-ABCA-ABBC-67C4-B88F8DF67D24}"/>
              </a:ext>
            </a:extLst>
          </p:cNvPr>
          <p:cNvGrpSpPr/>
          <p:nvPr/>
        </p:nvGrpSpPr>
        <p:grpSpPr>
          <a:xfrm>
            <a:off x="5694416" y="2028529"/>
            <a:ext cx="1906711" cy="400110"/>
            <a:chOff x="2033153" y="2026823"/>
            <a:chExt cx="1906711" cy="400110"/>
          </a:xfrm>
        </p:grpSpPr>
        <p:sp>
          <p:nvSpPr>
            <p:cNvPr id="25" name="矩形: 圆角 24">
              <a:extLst>
                <a:ext uri="{FF2B5EF4-FFF2-40B4-BE49-F238E27FC236}">
                  <a16:creationId xmlns:a16="http://schemas.microsoft.com/office/drawing/2014/main" id="{ABB2AA48-84F2-78A0-636A-B843AF0BE02F}"/>
                </a:ext>
              </a:extLst>
            </p:cNvPr>
            <p:cNvSpPr/>
            <p:nvPr/>
          </p:nvSpPr>
          <p:spPr>
            <a:xfrm>
              <a:off x="2033153" y="2027933"/>
              <a:ext cx="1906711" cy="397891"/>
            </a:xfrm>
            <a:prstGeom prst="roundRect">
              <a:avLst>
                <a:gd name="adj" fmla="val 50000"/>
              </a:avLst>
            </a:prstGeom>
            <a:gradFill flip="none" rotWithShape="1">
              <a:gsLst>
                <a:gs pos="0">
                  <a:schemeClr val="accent1">
                    <a:alpha val="10000"/>
                  </a:schemeClr>
                </a:gs>
                <a:gs pos="30000">
                  <a:schemeClr val="accent1">
                    <a:alpha val="0"/>
                  </a:schemeClr>
                </a:gs>
                <a:gs pos="100000">
                  <a:schemeClr val="accent1">
                    <a:alpha val="10000"/>
                  </a:schemeClr>
                </a:gs>
                <a:gs pos="70000">
                  <a:schemeClr val="accent1">
                    <a:alpha val="0"/>
                  </a:schemeClr>
                </a:gs>
              </a:gsLst>
              <a:lin ang="2700000" scaled="1"/>
              <a:tileRect/>
            </a:gradFill>
            <a:ln w="3175" cap="flat" cmpd="sng" algn="ctr">
              <a:solidFill>
                <a:srgbClr val="0249A1">
                  <a:alpha val="50000"/>
                </a:srgbClr>
              </a:solidFill>
              <a:prstDash val="solid"/>
              <a:miter lim="800000"/>
            </a:ln>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26" name="文本框 25">
              <a:extLst>
                <a:ext uri="{FF2B5EF4-FFF2-40B4-BE49-F238E27FC236}">
                  <a16:creationId xmlns:a16="http://schemas.microsoft.com/office/drawing/2014/main" id="{B38D0028-98C4-6B15-9865-E694273DC8B7}"/>
                </a:ext>
              </a:extLst>
            </p:cNvPr>
            <p:cNvSpPr txBox="1"/>
            <p:nvPr/>
          </p:nvSpPr>
          <p:spPr>
            <a:xfrm>
              <a:off x="2459548" y="2026823"/>
              <a:ext cx="1053920" cy="400110"/>
            </a:xfrm>
            <a:prstGeom prst="rect">
              <a:avLst/>
            </a:prstGeom>
            <a:noFill/>
          </p:spPr>
          <p:txBody>
            <a:bodyPr wrap="square">
              <a:spAutoFit/>
            </a:bodyPr>
            <a:lstStyle/>
            <a:p>
              <a:pPr marL="0" marR="0" lvl="0" indent="0" algn="dist" defTabSz="914400" eaLnBrk="1" fontAlgn="auto" latinLnBrk="0" hangingPunct="1">
                <a:lnSpc>
                  <a:spcPct val="100000"/>
                </a:lnSpc>
                <a:spcBef>
                  <a:spcPct val="0"/>
                </a:spcBef>
                <a:spcAft>
                  <a:spcPts val="0"/>
                </a:spcAft>
                <a:buClrTx/>
                <a:buSzTx/>
                <a:buFontTx/>
                <a:buNone/>
                <a:tabLst/>
                <a:defRPr/>
              </a:pPr>
              <a:r>
                <a:rPr kumimoji="0" lang="zh-CN" altLang="en-US" sz="2000" b="1" i="0" u="none" strike="noStrike" kern="0" cap="none" spc="15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sym typeface="+mn-ea"/>
                </a:rPr>
                <a:t>成果二</a:t>
              </a:r>
            </a:p>
          </p:txBody>
        </p:sp>
      </p:grpSp>
      <p:grpSp>
        <p:nvGrpSpPr>
          <p:cNvPr id="35" name="组合 34">
            <a:extLst>
              <a:ext uri="{FF2B5EF4-FFF2-40B4-BE49-F238E27FC236}">
                <a16:creationId xmlns:a16="http://schemas.microsoft.com/office/drawing/2014/main" id="{2ABD8B06-C8C6-7EBA-AE9B-6C0A373452D9}"/>
              </a:ext>
            </a:extLst>
          </p:cNvPr>
          <p:cNvGrpSpPr/>
          <p:nvPr/>
        </p:nvGrpSpPr>
        <p:grpSpPr>
          <a:xfrm>
            <a:off x="9169342" y="2028529"/>
            <a:ext cx="1906711" cy="400110"/>
            <a:chOff x="2033153" y="2026823"/>
            <a:chExt cx="1906711" cy="400110"/>
          </a:xfrm>
        </p:grpSpPr>
        <p:sp>
          <p:nvSpPr>
            <p:cNvPr id="36" name="矩形: 圆角 35">
              <a:extLst>
                <a:ext uri="{FF2B5EF4-FFF2-40B4-BE49-F238E27FC236}">
                  <a16:creationId xmlns:a16="http://schemas.microsoft.com/office/drawing/2014/main" id="{6A045275-8036-6984-3C30-7A1B96368070}"/>
                </a:ext>
              </a:extLst>
            </p:cNvPr>
            <p:cNvSpPr/>
            <p:nvPr/>
          </p:nvSpPr>
          <p:spPr>
            <a:xfrm>
              <a:off x="2033153" y="2027933"/>
              <a:ext cx="1906711" cy="397891"/>
            </a:xfrm>
            <a:prstGeom prst="roundRect">
              <a:avLst>
                <a:gd name="adj" fmla="val 50000"/>
              </a:avLst>
            </a:prstGeom>
            <a:gradFill flip="none" rotWithShape="1">
              <a:gsLst>
                <a:gs pos="0">
                  <a:schemeClr val="accent1">
                    <a:alpha val="10000"/>
                  </a:schemeClr>
                </a:gs>
                <a:gs pos="30000">
                  <a:schemeClr val="accent1">
                    <a:alpha val="0"/>
                  </a:schemeClr>
                </a:gs>
                <a:gs pos="100000">
                  <a:schemeClr val="accent1">
                    <a:alpha val="10000"/>
                  </a:schemeClr>
                </a:gs>
                <a:gs pos="70000">
                  <a:schemeClr val="accent1">
                    <a:alpha val="0"/>
                  </a:schemeClr>
                </a:gs>
              </a:gsLst>
              <a:lin ang="2700000" scaled="1"/>
              <a:tileRect/>
            </a:gradFill>
            <a:ln w="3175" cap="flat" cmpd="sng" algn="ctr">
              <a:solidFill>
                <a:srgbClr val="0249A1">
                  <a:alpha val="50000"/>
                </a:srgbClr>
              </a:solidFill>
              <a:prstDash val="solid"/>
              <a:miter lim="800000"/>
            </a:ln>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37" name="文本框 36">
              <a:extLst>
                <a:ext uri="{FF2B5EF4-FFF2-40B4-BE49-F238E27FC236}">
                  <a16:creationId xmlns:a16="http://schemas.microsoft.com/office/drawing/2014/main" id="{C7722346-123C-7DEC-235E-D36422CD5622}"/>
                </a:ext>
              </a:extLst>
            </p:cNvPr>
            <p:cNvSpPr txBox="1"/>
            <p:nvPr/>
          </p:nvSpPr>
          <p:spPr>
            <a:xfrm>
              <a:off x="2459548" y="2026823"/>
              <a:ext cx="1053920" cy="400110"/>
            </a:xfrm>
            <a:prstGeom prst="rect">
              <a:avLst/>
            </a:prstGeom>
            <a:noFill/>
          </p:spPr>
          <p:txBody>
            <a:bodyPr wrap="square">
              <a:spAutoFit/>
            </a:bodyPr>
            <a:lstStyle/>
            <a:p>
              <a:pPr marL="0" marR="0" lvl="0" indent="0" algn="dist" defTabSz="914400" eaLnBrk="1" fontAlgn="auto" latinLnBrk="0" hangingPunct="1">
                <a:lnSpc>
                  <a:spcPct val="100000"/>
                </a:lnSpc>
                <a:spcBef>
                  <a:spcPct val="0"/>
                </a:spcBef>
                <a:spcAft>
                  <a:spcPts val="0"/>
                </a:spcAft>
                <a:buClrTx/>
                <a:buSzTx/>
                <a:buFontTx/>
                <a:buNone/>
                <a:tabLst/>
                <a:defRPr/>
              </a:pPr>
              <a:r>
                <a:rPr kumimoji="0" lang="zh-CN" altLang="en-US" sz="2000" b="1" i="0" u="none" strike="noStrike" kern="0" cap="none" spc="15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sym typeface="+mn-ea"/>
                </a:rPr>
                <a:t>成果三</a:t>
              </a:r>
            </a:p>
          </p:txBody>
        </p:sp>
      </p:grpSp>
      <p:sp>
        <p:nvSpPr>
          <p:cNvPr id="38" name="矩形: 圆角 37">
            <a:extLst>
              <a:ext uri="{FF2B5EF4-FFF2-40B4-BE49-F238E27FC236}">
                <a16:creationId xmlns:a16="http://schemas.microsoft.com/office/drawing/2014/main" id="{BA3777C8-6A7C-0AF8-37BB-17F0D6E24F82}"/>
              </a:ext>
            </a:extLst>
          </p:cNvPr>
          <p:cNvSpPr/>
          <p:nvPr/>
        </p:nvSpPr>
        <p:spPr>
          <a:xfrm flipH="1">
            <a:off x="475463" y="2909026"/>
            <a:ext cx="1262062" cy="825500"/>
          </a:xfrm>
          <a:prstGeom prst="roundRect">
            <a:avLst>
              <a:gd name="adj" fmla="val 0"/>
            </a:avLst>
          </a:prstGeom>
          <a:gradFill>
            <a:gsLst>
              <a:gs pos="100000">
                <a:schemeClr val="accent2">
                  <a:alpha val="10000"/>
                </a:schemeClr>
              </a:gs>
              <a:gs pos="0">
                <a:schemeClr val="accent2">
                  <a:alpha val="0"/>
                </a:schemeClr>
              </a:gs>
            </a:gsLst>
            <a:lin ang="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9" name="文本框 38">
            <a:extLst>
              <a:ext uri="{FF2B5EF4-FFF2-40B4-BE49-F238E27FC236}">
                <a16:creationId xmlns:a16="http://schemas.microsoft.com/office/drawing/2014/main" id="{7D23964C-1875-6C93-78D7-0165D5A1151B}"/>
              </a:ext>
            </a:extLst>
          </p:cNvPr>
          <p:cNvSpPr txBox="1"/>
          <p:nvPr/>
        </p:nvSpPr>
        <p:spPr>
          <a:xfrm>
            <a:off x="578503" y="3090944"/>
            <a:ext cx="910842" cy="369332"/>
          </a:xfrm>
          <a:prstGeom prst="rect">
            <a:avLst/>
          </a:prstGeom>
          <a:noFill/>
        </p:spPr>
        <p:txBody>
          <a:bodyPr wrap="square">
            <a:spAutoFit/>
          </a:bodyPr>
          <a:lstStyle/>
          <a:p>
            <a:pPr algn="ctr"/>
            <a:r>
              <a:rPr lang="zh-CN" altLang="en-US" b="1">
                <a:solidFill>
                  <a:schemeClr val="accent1"/>
                </a:solidFill>
                <a:latin typeface="微软雅黑" panose="020B0503020204020204" pitchFamily="34" charset="-122"/>
                <a:ea typeface="微软雅黑" panose="020B0503020204020204" pitchFamily="34" charset="-122"/>
                <a:cs typeface="+mn-ea"/>
              </a:rPr>
              <a:t>问 题</a:t>
            </a:r>
            <a:endParaRPr lang="zh-CN" altLang="en-US" b="1" dirty="0">
              <a:solidFill>
                <a:schemeClr val="accent1"/>
              </a:solidFill>
              <a:latin typeface="微软雅黑" panose="020B0503020204020204" pitchFamily="34" charset="-122"/>
              <a:ea typeface="微软雅黑" panose="020B0503020204020204" pitchFamily="34" charset="-122"/>
              <a:cs typeface="+mn-ea"/>
            </a:endParaRPr>
          </a:p>
        </p:txBody>
      </p:sp>
      <p:sp>
        <p:nvSpPr>
          <p:cNvPr id="40" name="矩形: 圆角 39">
            <a:extLst>
              <a:ext uri="{FF2B5EF4-FFF2-40B4-BE49-F238E27FC236}">
                <a16:creationId xmlns:a16="http://schemas.microsoft.com/office/drawing/2014/main" id="{4FE91C36-DE1D-7ECE-23BA-505ED9EC4BCD}"/>
              </a:ext>
            </a:extLst>
          </p:cNvPr>
          <p:cNvSpPr/>
          <p:nvPr/>
        </p:nvSpPr>
        <p:spPr>
          <a:xfrm flipH="1">
            <a:off x="475463" y="4187718"/>
            <a:ext cx="1262062" cy="825500"/>
          </a:xfrm>
          <a:prstGeom prst="roundRect">
            <a:avLst>
              <a:gd name="adj" fmla="val 0"/>
            </a:avLst>
          </a:prstGeom>
          <a:gradFill>
            <a:gsLst>
              <a:gs pos="100000">
                <a:schemeClr val="accent2">
                  <a:alpha val="10000"/>
                </a:schemeClr>
              </a:gs>
              <a:gs pos="0">
                <a:schemeClr val="accent2">
                  <a:alpha val="0"/>
                </a:schemeClr>
              </a:gs>
            </a:gsLst>
            <a:lin ang="0" scaled="1"/>
          </a:gradFill>
          <a:ln w="12700" cap="flat" cmpd="sng" algn="ctr">
            <a:noFill/>
            <a:prstDash val="solid"/>
            <a:miter lim="800000"/>
          </a:ln>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41" name="文本框 40">
            <a:extLst>
              <a:ext uri="{FF2B5EF4-FFF2-40B4-BE49-F238E27FC236}">
                <a16:creationId xmlns:a16="http://schemas.microsoft.com/office/drawing/2014/main" id="{58F343BA-F168-2AE3-87BE-36512791E7F7}"/>
              </a:ext>
            </a:extLst>
          </p:cNvPr>
          <p:cNvSpPr txBox="1"/>
          <p:nvPr/>
        </p:nvSpPr>
        <p:spPr>
          <a:xfrm>
            <a:off x="578503" y="4369636"/>
            <a:ext cx="910842" cy="369332"/>
          </a:xfrm>
          <a:prstGeom prst="rect">
            <a:avLst/>
          </a:prstGeom>
          <a:noFill/>
        </p:spPr>
        <p:txBody>
          <a:bodyPr wrap="square">
            <a:spAutoFit/>
          </a:bodyPr>
          <a:lstStyle/>
          <a:p>
            <a:pPr algn="ctr"/>
            <a:r>
              <a:rPr lang="zh-CN" altLang="en-US" b="1">
                <a:solidFill>
                  <a:schemeClr val="accent1"/>
                </a:solidFill>
                <a:latin typeface="微软雅黑" panose="020B0503020204020204" pitchFamily="34" charset="-122"/>
                <a:ea typeface="微软雅黑" panose="020B0503020204020204" pitchFamily="34" charset="-122"/>
                <a:cs typeface="+mn-ea"/>
              </a:rPr>
              <a:t>现 状</a:t>
            </a:r>
            <a:endParaRPr lang="zh-CN" altLang="en-US" b="1" dirty="0">
              <a:solidFill>
                <a:schemeClr val="accent1"/>
              </a:solidFill>
              <a:latin typeface="微软雅黑" panose="020B0503020204020204" pitchFamily="34" charset="-122"/>
              <a:ea typeface="微软雅黑" panose="020B0503020204020204" pitchFamily="34" charset="-122"/>
              <a:cs typeface="+mn-ea"/>
            </a:endParaRPr>
          </a:p>
        </p:txBody>
      </p:sp>
      <p:sp>
        <p:nvSpPr>
          <p:cNvPr id="51" name="矩形: 圆角 50">
            <a:extLst>
              <a:ext uri="{FF2B5EF4-FFF2-40B4-BE49-F238E27FC236}">
                <a16:creationId xmlns:a16="http://schemas.microsoft.com/office/drawing/2014/main" id="{905CECEA-C436-4B9B-27CE-15031E7216DF}"/>
              </a:ext>
            </a:extLst>
          </p:cNvPr>
          <p:cNvSpPr/>
          <p:nvPr/>
        </p:nvSpPr>
        <p:spPr>
          <a:xfrm flipH="1">
            <a:off x="475463" y="5466411"/>
            <a:ext cx="1262062" cy="825500"/>
          </a:xfrm>
          <a:prstGeom prst="roundRect">
            <a:avLst>
              <a:gd name="adj" fmla="val 0"/>
            </a:avLst>
          </a:prstGeom>
          <a:gradFill>
            <a:gsLst>
              <a:gs pos="100000">
                <a:schemeClr val="accent2">
                  <a:alpha val="10000"/>
                </a:schemeClr>
              </a:gs>
              <a:gs pos="0">
                <a:schemeClr val="accent2">
                  <a:alpha val="0"/>
                </a:schemeClr>
              </a:gs>
            </a:gsLst>
            <a:lin ang="0" scaled="1"/>
          </a:gradFill>
          <a:ln w="12700" cap="flat" cmpd="sng" algn="ctr">
            <a:noFill/>
            <a:prstDash val="solid"/>
            <a:miter lim="800000"/>
          </a:ln>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52" name="文本框 51">
            <a:extLst>
              <a:ext uri="{FF2B5EF4-FFF2-40B4-BE49-F238E27FC236}">
                <a16:creationId xmlns:a16="http://schemas.microsoft.com/office/drawing/2014/main" id="{9C855167-6E48-7646-F165-2DDF82402DFA}"/>
              </a:ext>
            </a:extLst>
          </p:cNvPr>
          <p:cNvSpPr txBox="1"/>
          <p:nvPr/>
        </p:nvSpPr>
        <p:spPr>
          <a:xfrm>
            <a:off x="578503" y="5648329"/>
            <a:ext cx="910842" cy="369332"/>
          </a:xfrm>
          <a:prstGeom prst="rect">
            <a:avLst/>
          </a:prstGeom>
          <a:noFill/>
        </p:spPr>
        <p:txBody>
          <a:bodyPr wrap="square">
            <a:spAutoFit/>
          </a:bodyPr>
          <a:lstStyle/>
          <a:p>
            <a:pPr algn="ctr"/>
            <a:r>
              <a:rPr lang="zh-CN" altLang="en-US" b="1">
                <a:solidFill>
                  <a:schemeClr val="accent1"/>
                </a:solidFill>
                <a:latin typeface="微软雅黑" panose="020B0503020204020204" pitchFamily="34" charset="-122"/>
                <a:ea typeface="微软雅黑" panose="020B0503020204020204" pitchFamily="34" charset="-122"/>
                <a:cs typeface="+mn-ea"/>
              </a:rPr>
              <a:t>需 求</a:t>
            </a:r>
            <a:endParaRPr lang="zh-CN" altLang="en-US" b="1" dirty="0">
              <a:solidFill>
                <a:schemeClr val="accent1"/>
              </a:solidFill>
              <a:latin typeface="微软雅黑" panose="020B0503020204020204" pitchFamily="34" charset="-122"/>
              <a:ea typeface="微软雅黑" panose="020B0503020204020204" pitchFamily="34" charset="-122"/>
              <a:cs typeface="+mn-ea"/>
            </a:endParaRPr>
          </a:p>
        </p:txBody>
      </p:sp>
      <p:sp>
        <p:nvSpPr>
          <p:cNvPr id="53" name="矩形 52">
            <a:extLst>
              <a:ext uri="{FF2B5EF4-FFF2-40B4-BE49-F238E27FC236}">
                <a16:creationId xmlns:a16="http://schemas.microsoft.com/office/drawing/2014/main" id="{4E0BF1BB-346F-55F9-9689-106CA5E9BC1C}"/>
              </a:ext>
            </a:extLst>
          </p:cNvPr>
          <p:cNvSpPr/>
          <p:nvPr/>
        </p:nvSpPr>
        <p:spPr>
          <a:xfrm>
            <a:off x="1592492" y="2612138"/>
            <a:ext cx="3160706" cy="3976661"/>
          </a:xfrm>
          <a:prstGeom prst="rect">
            <a:avLst/>
          </a:prstGeom>
          <a:solidFill>
            <a:sysClr val="window" lastClr="FFFFFF"/>
          </a:solidFill>
          <a:ln w="3175" cap="flat" cmpd="sng" algn="ctr">
            <a:gradFill flip="none" rotWithShape="1">
              <a:gsLst>
                <a:gs pos="0">
                  <a:schemeClr val="accent1">
                    <a:alpha val="50000"/>
                  </a:schemeClr>
                </a:gs>
                <a:gs pos="100000">
                  <a:schemeClr val="accent1">
                    <a:alpha val="0"/>
                  </a:schemeClr>
                </a:gs>
              </a:gsLst>
              <a:lin ang="5400000" scaled="1"/>
              <a:tileRect/>
            </a:gradFill>
            <a:prstDash val="solid"/>
            <a:miter lim="800000"/>
          </a:ln>
          <a:effectLst>
            <a:outerShdw blurRad="190500" dist="25400" algn="ctr" rotWithShape="0">
              <a:schemeClr val="accent1">
                <a:alpha val="8000"/>
              </a:scheme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4" name="矩形 53">
            <a:extLst>
              <a:ext uri="{FF2B5EF4-FFF2-40B4-BE49-F238E27FC236}">
                <a16:creationId xmlns:a16="http://schemas.microsoft.com/office/drawing/2014/main" id="{D16C79F1-6191-5EFA-B569-569A4A32FD81}"/>
              </a:ext>
            </a:extLst>
          </p:cNvPr>
          <p:cNvSpPr/>
          <p:nvPr/>
        </p:nvSpPr>
        <p:spPr>
          <a:xfrm>
            <a:off x="5067418" y="2612138"/>
            <a:ext cx="3160706" cy="3976661"/>
          </a:xfrm>
          <a:prstGeom prst="rect">
            <a:avLst/>
          </a:prstGeom>
          <a:solidFill>
            <a:sysClr val="window" lastClr="FFFFFF"/>
          </a:solidFill>
          <a:ln w="3175" cap="flat" cmpd="sng" algn="ctr">
            <a:gradFill flip="none" rotWithShape="1">
              <a:gsLst>
                <a:gs pos="0">
                  <a:schemeClr val="accent1">
                    <a:alpha val="50000"/>
                  </a:schemeClr>
                </a:gs>
                <a:gs pos="100000">
                  <a:schemeClr val="accent1">
                    <a:alpha val="0"/>
                  </a:schemeClr>
                </a:gs>
              </a:gsLst>
              <a:lin ang="5400000" scaled="1"/>
              <a:tileRect/>
            </a:gradFill>
            <a:prstDash val="solid"/>
            <a:miter lim="800000"/>
          </a:ln>
          <a:effectLst>
            <a:outerShdw blurRad="190500" dist="25400" algn="ctr" rotWithShape="0">
              <a:schemeClr val="accent1">
                <a:alpha val="8000"/>
              </a:schemeClr>
            </a:outerShdw>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55" name="矩形 54">
            <a:extLst>
              <a:ext uri="{FF2B5EF4-FFF2-40B4-BE49-F238E27FC236}">
                <a16:creationId xmlns:a16="http://schemas.microsoft.com/office/drawing/2014/main" id="{D12842D0-00DC-D431-3515-614FA2B126BE}"/>
              </a:ext>
            </a:extLst>
          </p:cNvPr>
          <p:cNvSpPr/>
          <p:nvPr/>
        </p:nvSpPr>
        <p:spPr>
          <a:xfrm>
            <a:off x="8542344" y="2612138"/>
            <a:ext cx="3160706" cy="3976661"/>
          </a:xfrm>
          <a:prstGeom prst="rect">
            <a:avLst/>
          </a:prstGeom>
          <a:solidFill>
            <a:sysClr val="window" lastClr="FFFFFF"/>
          </a:solidFill>
          <a:ln w="3175" cap="flat" cmpd="sng" algn="ctr">
            <a:gradFill flip="none" rotWithShape="1">
              <a:gsLst>
                <a:gs pos="0">
                  <a:schemeClr val="accent1">
                    <a:alpha val="50000"/>
                  </a:schemeClr>
                </a:gs>
                <a:gs pos="100000">
                  <a:schemeClr val="accent1">
                    <a:alpha val="0"/>
                  </a:schemeClr>
                </a:gs>
              </a:gsLst>
              <a:lin ang="5400000" scaled="1"/>
              <a:tileRect/>
            </a:gradFill>
            <a:prstDash val="solid"/>
            <a:miter lim="800000"/>
          </a:ln>
          <a:effectLst>
            <a:outerShdw blurRad="190500" dist="25400" algn="ctr" rotWithShape="0">
              <a:schemeClr val="accent1">
                <a:alpha val="8000"/>
              </a:schemeClr>
            </a:outerShdw>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56" name="矩形 55">
            <a:extLst>
              <a:ext uri="{FF2B5EF4-FFF2-40B4-BE49-F238E27FC236}">
                <a16:creationId xmlns:a16="http://schemas.microsoft.com/office/drawing/2014/main" id="{4AC2AEAD-5504-5947-BA36-366E67D5A7D1}"/>
              </a:ext>
            </a:extLst>
          </p:cNvPr>
          <p:cNvSpPr/>
          <p:nvPr/>
        </p:nvSpPr>
        <p:spPr>
          <a:xfrm>
            <a:off x="1592385" y="2901845"/>
            <a:ext cx="3160706" cy="832680"/>
          </a:xfrm>
          <a:prstGeom prst="rect">
            <a:avLst/>
          </a:prstGeom>
          <a:solidFill>
            <a:schemeClr val="accent2">
              <a:alpha val="7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7" name="矩形 56">
            <a:extLst>
              <a:ext uri="{FF2B5EF4-FFF2-40B4-BE49-F238E27FC236}">
                <a16:creationId xmlns:a16="http://schemas.microsoft.com/office/drawing/2014/main" id="{7C14FEFA-3FA9-FF21-A0EC-C5BC22762BDB}"/>
              </a:ext>
            </a:extLst>
          </p:cNvPr>
          <p:cNvSpPr/>
          <p:nvPr/>
        </p:nvSpPr>
        <p:spPr>
          <a:xfrm>
            <a:off x="5067418" y="2901845"/>
            <a:ext cx="3160706" cy="832680"/>
          </a:xfrm>
          <a:prstGeom prst="rect">
            <a:avLst/>
          </a:prstGeom>
          <a:solidFill>
            <a:schemeClr val="accent2">
              <a:alpha val="7000"/>
            </a:schemeClr>
          </a:solidFill>
          <a:ln w="12700" cap="flat" cmpd="sng" algn="ctr">
            <a:noFill/>
            <a:prstDash val="solid"/>
            <a:miter lim="800000"/>
          </a:ln>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58" name="矩形 57">
            <a:extLst>
              <a:ext uri="{FF2B5EF4-FFF2-40B4-BE49-F238E27FC236}">
                <a16:creationId xmlns:a16="http://schemas.microsoft.com/office/drawing/2014/main" id="{64959D66-F3F3-D977-9C4D-D3ED3F39250A}"/>
              </a:ext>
            </a:extLst>
          </p:cNvPr>
          <p:cNvSpPr/>
          <p:nvPr/>
        </p:nvSpPr>
        <p:spPr>
          <a:xfrm>
            <a:off x="8542344" y="2901845"/>
            <a:ext cx="3160706" cy="832680"/>
          </a:xfrm>
          <a:prstGeom prst="rect">
            <a:avLst/>
          </a:prstGeom>
          <a:solidFill>
            <a:schemeClr val="accent2">
              <a:alpha val="7000"/>
            </a:schemeClr>
          </a:solidFill>
          <a:ln w="12700" cap="flat" cmpd="sng" algn="ctr">
            <a:noFill/>
            <a:prstDash val="solid"/>
            <a:miter lim="800000"/>
          </a:ln>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59" name="等腰三角形 58">
            <a:extLst>
              <a:ext uri="{FF2B5EF4-FFF2-40B4-BE49-F238E27FC236}">
                <a16:creationId xmlns:a16="http://schemas.microsoft.com/office/drawing/2014/main" id="{D59EDA26-FD78-12C7-586B-35D6B8EBC0B1}"/>
              </a:ext>
            </a:extLst>
          </p:cNvPr>
          <p:cNvSpPr/>
          <p:nvPr/>
        </p:nvSpPr>
        <p:spPr>
          <a:xfrm flipV="1">
            <a:off x="3065642" y="3828502"/>
            <a:ext cx="214192" cy="111065"/>
          </a:xfrm>
          <a:prstGeom prst="triangle">
            <a:avLst/>
          </a:prstGeom>
          <a:solidFill>
            <a:schemeClr val="accent1"/>
          </a:solidFill>
          <a:ln w="12700" cap="flat" cmpd="sng" algn="ctr">
            <a:noFill/>
            <a:prstDash val="solid"/>
            <a:miter lim="800000"/>
          </a:ln>
          <a:effectLst>
            <a:outerShdw blurRad="76200" sx="102000" sy="1020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sp>
        <p:nvSpPr>
          <p:cNvPr id="60" name="等腰三角形 59">
            <a:extLst>
              <a:ext uri="{FF2B5EF4-FFF2-40B4-BE49-F238E27FC236}">
                <a16:creationId xmlns:a16="http://schemas.microsoft.com/office/drawing/2014/main" id="{3452B0F5-AC3C-96DF-2AB7-962C02284681}"/>
              </a:ext>
            </a:extLst>
          </p:cNvPr>
          <p:cNvSpPr/>
          <p:nvPr/>
        </p:nvSpPr>
        <p:spPr>
          <a:xfrm flipV="1">
            <a:off x="6540675" y="3854708"/>
            <a:ext cx="214192" cy="111065"/>
          </a:xfrm>
          <a:prstGeom prst="triangle">
            <a:avLst/>
          </a:prstGeom>
          <a:solidFill>
            <a:schemeClr val="accent1"/>
          </a:solidFill>
          <a:ln w="12700" cap="flat" cmpd="sng" algn="ctr">
            <a:noFill/>
            <a:prstDash val="solid"/>
            <a:miter lim="800000"/>
          </a:ln>
          <a:effectLst>
            <a:outerShdw blurRad="76200" sx="102000" sy="1020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sp>
        <p:nvSpPr>
          <p:cNvPr id="61" name="等腰三角形 60">
            <a:extLst>
              <a:ext uri="{FF2B5EF4-FFF2-40B4-BE49-F238E27FC236}">
                <a16:creationId xmlns:a16="http://schemas.microsoft.com/office/drawing/2014/main" id="{43983FB1-228E-6A9D-5963-092096A90D04}"/>
              </a:ext>
            </a:extLst>
          </p:cNvPr>
          <p:cNvSpPr/>
          <p:nvPr/>
        </p:nvSpPr>
        <p:spPr>
          <a:xfrm flipV="1">
            <a:off x="10015601" y="3854708"/>
            <a:ext cx="214192" cy="111065"/>
          </a:xfrm>
          <a:prstGeom prst="triangle">
            <a:avLst/>
          </a:prstGeom>
          <a:solidFill>
            <a:schemeClr val="accent1"/>
          </a:solidFill>
          <a:ln w="12700" cap="flat" cmpd="sng" algn="ctr">
            <a:noFill/>
            <a:prstDash val="solid"/>
            <a:miter lim="800000"/>
          </a:ln>
          <a:effectLst>
            <a:outerShdw blurRad="76200" sx="102000" sy="1020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sp>
        <p:nvSpPr>
          <p:cNvPr id="62" name="矩形 61">
            <a:extLst>
              <a:ext uri="{FF2B5EF4-FFF2-40B4-BE49-F238E27FC236}">
                <a16:creationId xmlns:a16="http://schemas.microsoft.com/office/drawing/2014/main" id="{459BCD59-3B30-BDB8-DAC9-16149B016808}"/>
              </a:ext>
            </a:extLst>
          </p:cNvPr>
          <p:cNvSpPr/>
          <p:nvPr/>
        </p:nvSpPr>
        <p:spPr>
          <a:xfrm>
            <a:off x="1592385" y="5466814"/>
            <a:ext cx="3160706" cy="832680"/>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3" name="矩形 62">
            <a:extLst>
              <a:ext uri="{FF2B5EF4-FFF2-40B4-BE49-F238E27FC236}">
                <a16:creationId xmlns:a16="http://schemas.microsoft.com/office/drawing/2014/main" id="{7720F624-449C-5BCF-EECD-DF9D9BFB46A4}"/>
              </a:ext>
            </a:extLst>
          </p:cNvPr>
          <p:cNvSpPr/>
          <p:nvPr/>
        </p:nvSpPr>
        <p:spPr>
          <a:xfrm>
            <a:off x="1778493" y="4033544"/>
            <a:ext cx="2788704" cy="1134251"/>
          </a:xfrm>
          <a:prstGeom prst="rect">
            <a:avLst/>
          </a:prstGeom>
          <a:gradFill flip="none" rotWithShape="1">
            <a:gsLst>
              <a:gs pos="25000">
                <a:schemeClr val="accent3"/>
              </a:gs>
              <a:gs pos="99083">
                <a:schemeClr val="bg1"/>
              </a:gs>
            </a:gsLst>
            <a:lin ang="5400000" scaled="1"/>
            <a:tileRect/>
          </a:gradFill>
          <a:ln w="3175" cap="flat" cmpd="sng" algn="ctr">
            <a:solidFill>
              <a:srgbClr val="0B4FA1"/>
            </a:solidFill>
            <a:prstDash val="solid"/>
            <a:miter lim="800000"/>
          </a:ln>
          <a:effectLst>
            <a:outerShdw blurRad="304800" sx="102000" sy="102000" algn="ctr" rotWithShape="0">
              <a:schemeClr val="accent1">
                <a:alpha val="16000"/>
              </a:schemeClr>
            </a:outerShdw>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64" name="等腰三角形 63">
            <a:extLst>
              <a:ext uri="{FF2B5EF4-FFF2-40B4-BE49-F238E27FC236}">
                <a16:creationId xmlns:a16="http://schemas.microsoft.com/office/drawing/2014/main" id="{3802D0B9-20A9-55E5-0B98-E787D98C6305}"/>
              </a:ext>
            </a:extLst>
          </p:cNvPr>
          <p:cNvSpPr/>
          <p:nvPr/>
        </p:nvSpPr>
        <p:spPr>
          <a:xfrm flipV="1">
            <a:off x="3065642" y="5261772"/>
            <a:ext cx="214192" cy="111065"/>
          </a:xfrm>
          <a:prstGeom prst="triangle">
            <a:avLst/>
          </a:prstGeom>
          <a:solidFill>
            <a:schemeClr val="accent1"/>
          </a:solidFill>
          <a:ln w="12700" cap="flat" cmpd="sng" algn="ctr">
            <a:noFill/>
            <a:prstDash val="solid"/>
            <a:miter lim="800000"/>
          </a:ln>
          <a:effectLst>
            <a:outerShdw blurRad="76200" sx="102000" sy="1020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sp>
        <p:nvSpPr>
          <p:cNvPr id="65" name="文本框 64">
            <a:extLst>
              <a:ext uri="{FF2B5EF4-FFF2-40B4-BE49-F238E27FC236}">
                <a16:creationId xmlns:a16="http://schemas.microsoft.com/office/drawing/2014/main" id="{BFE24891-0057-15FE-6336-F130CDF367A4}"/>
              </a:ext>
            </a:extLst>
          </p:cNvPr>
          <p:cNvSpPr txBox="1"/>
          <p:nvPr/>
        </p:nvSpPr>
        <p:spPr>
          <a:xfrm>
            <a:off x="1762681" y="2939804"/>
            <a:ext cx="2891781" cy="663258"/>
          </a:xfrm>
          <a:prstGeom prst="rect">
            <a:avLst/>
          </a:prstGeom>
          <a:noFill/>
        </p:spPr>
        <p:txBody>
          <a:bodyPr wrap="square">
            <a:spAutoFit/>
          </a:bodyPr>
          <a:lstStyle/>
          <a:p>
            <a:pPr>
              <a:lnSpc>
                <a:spcPct val="130000"/>
              </a:lnSpc>
            </a:pPr>
            <a:r>
              <a:rPr lang="zh-CN" altLang="en-US" sz="1500">
                <a:solidFill>
                  <a:srgbClr val="060607"/>
                </a:solidFill>
                <a:latin typeface="微软雅黑" panose="020B0503020204020204" pitchFamily="34" charset="-122"/>
                <a:ea typeface="微软雅黑" panose="020B0503020204020204" pitchFamily="34" charset="-122"/>
              </a:rPr>
              <a:t>部署门槛高：环境、依赖、权重路径和脚本分散</a:t>
            </a:r>
            <a:endParaRPr lang="zh-CN" altLang="en-US" sz="1500" dirty="0">
              <a:solidFill>
                <a:prstClr val="black"/>
              </a:solidFill>
              <a:latin typeface="微软雅黑" panose="020B0503020204020204" pitchFamily="34" charset="-122"/>
              <a:ea typeface="微软雅黑" panose="020B0503020204020204" pitchFamily="34" charset="-122"/>
            </a:endParaRPr>
          </a:p>
        </p:txBody>
      </p:sp>
      <p:sp>
        <p:nvSpPr>
          <p:cNvPr id="66" name="文本框 65">
            <a:extLst>
              <a:ext uri="{FF2B5EF4-FFF2-40B4-BE49-F238E27FC236}">
                <a16:creationId xmlns:a16="http://schemas.microsoft.com/office/drawing/2014/main" id="{56EF7A17-F78E-CFCE-9C42-83AA064815CF}"/>
              </a:ext>
            </a:extLst>
          </p:cNvPr>
          <p:cNvSpPr txBox="1"/>
          <p:nvPr/>
        </p:nvSpPr>
        <p:spPr>
          <a:xfrm>
            <a:off x="5238662" y="2939804"/>
            <a:ext cx="2891781" cy="663258"/>
          </a:xfrm>
          <a:prstGeom prst="rect">
            <a:avLst/>
          </a:prstGeom>
          <a:noFill/>
        </p:spPr>
        <p:txBody>
          <a:bodyPr wrap="square">
            <a:spAutoFit/>
          </a:bodyPr>
          <a:lstStyle/>
          <a:p>
            <a:pPr>
              <a:lnSpc>
                <a:spcPct val="130000"/>
              </a:lnSpc>
            </a:pPr>
            <a:r>
              <a:rPr lang="zh-CN" altLang="en-US" sz="1500">
                <a:solidFill>
                  <a:srgbClr val="060607"/>
                </a:solidFill>
                <a:latin typeface="微软雅黑" panose="020B0503020204020204" pitchFamily="34" charset="-122"/>
                <a:ea typeface="微软雅黑" panose="020B0503020204020204" pitchFamily="34" charset="-122"/>
              </a:rPr>
              <a:t>算力使用散：上传、启动、日志、回传依赖手动命令</a:t>
            </a:r>
            <a:endParaRPr lang="zh-CN" altLang="en-US" sz="1500" dirty="0">
              <a:solidFill>
                <a:prstClr val="black"/>
              </a:solidFill>
              <a:latin typeface="微软雅黑" panose="020B0503020204020204" pitchFamily="34" charset="-122"/>
              <a:ea typeface="微软雅黑" panose="020B0503020204020204" pitchFamily="34" charset="-122"/>
            </a:endParaRPr>
          </a:p>
        </p:txBody>
      </p:sp>
      <p:sp>
        <p:nvSpPr>
          <p:cNvPr id="67" name="文本框 66">
            <a:extLst>
              <a:ext uri="{FF2B5EF4-FFF2-40B4-BE49-F238E27FC236}">
                <a16:creationId xmlns:a16="http://schemas.microsoft.com/office/drawing/2014/main" id="{314CA427-B0F6-5C83-FFE1-E2F2F78E15CD}"/>
              </a:ext>
            </a:extLst>
          </p:cNvPr>
          <p:cNvSpPr txBox="1"/>
          <p:nvPr/>
        </p:nvSpPr>
        <p:spPr>
          <a:xfrm>
            <a:off x="8717890" y="2939804"/>
            <a:ext cx="2891781" cy="663258"/>
          </a:xfrm>
          <a:prstGeom prst="rect">
            <a:avLst/>
          </a:prstGeom>
          <a:noFill/>
        </p:spPr>
        <p:txBody>
          <a:bodyPr wrap="square">
            <a:spAutoFit/>
          </a:bodyPr>
          <a:lstStyle/>
          <a:p>
            <a:pPr>
              <a:lnSpc>
                <a:spcPct val="130000"/>
              </a:lnSpc>
            </a:pPr>
            <a:r>
              <a:rPr lang="zh-CN" altLang="en-US" sz="1500">
                <a:solidFill>
                  <a:srgbClr val="060607"/>
                </a:solidFill>
                <a:latin typeface="微软雅黑" panose="020B0503020204020204" pitchFamily="34" charset="-122"/>
                <a:ea typeface="微软雅黑" panose="020B0503020204020204" pitchFamily="34" charset="-122"/>
              </a:rPr>
              <a:t>对比成本高：输入输出格式不统一，结果难横向比较</a:t>
            </a:r>
            <a:endParaRPr lang="zh-CN" altLang="en-US" sz="1500" dirty="0">
              <a:solidFill>
                <a:prstClr val="black"/>
              </a:solidFill>
              <a:latin typeface="微软雅黑" panose="020B0503020204020204" pitchFamily="34" charset="-122"/>
              <a:ea typeface="微软雅黑" panose="020B0503020204020204" pitchFamily="34" charset="-122"/>
            </a:endParaRPr>
          </a:p>
        </p:txBody>
      </p:sp>
      <p:sp>
        <p:nvSpPr>
          <p:cNvPr id="68" name="矩形 67">
            <a:extLst>
              <a:ext uri="{FF2B5EF4-FFF2-40B4-BE49-F238E27FC236}">
                <a16:creationId xmlns:a16="http://schemas.microsoft.com/office/drawing/2014/main" id="{C0898607-B318-3E2E-1246-3DE6C6BEE82C}"/>
              </a:ext>
            </a:extLst>
          </p:cNvPr>
          <p:cNvSpPr/>
          <p:nvPr/>
        </p:nvSpPr>
        <p:spPr>
          <a:xfrm>
            <a:off x="5253419" y="4033544"/>
            <a:ext cx="2788704" cy="1134251"/>
          </a:xfrm>
          <a:prstGeom prst="rect">
            <a:avLst/>
          </a:prstGeom>
          <a:gradFill flip="none" rotWithShape="1">
            <a:gsLst>
              <a:gs pos="25000">
                <a:schemeClr val="accent3"/>
              </a:gs>
              <a:gs pos="99083">
                <a:schemeClr val="bg1"/>
              </a:gs>
            </a:gsLst>
            <a:lin ang="5400000" scaled="1"/>
            <a:tileRect/>
          </a:gradFill>
          <a:ln w="3175" cap="flat" cmpd="sng" algn="ctr">
            <a:solidFill>
              <a:srgbClr val="0B4FA1"/>
            </a:solidFill>
            <a:prstDash val="solid"/>
            <a:miter lim="800000"/>
          </a:ln>
          <a:effectLst>
            <a:outerShdw blurRad="304800" sx="102000" sy="102000" algn="ctr" rotWithShape="0">
              <a:schemeClr val="accent1">
                <a:alpha val="16000"/>
              </a:schemeClr>
            </a:outerShdw>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69" name="矩形 68">
            <a:extLst>
              <a:ext uri="{FF2B5EF4-FFF2-40B4-BE49-F238E27FC236}">
                <a16:creationId xmlns:a16="http://schemas.microsoft.com/office/drawing/2014/main" id="{D92AC5AE-1008-76D1-98E6-9D052A98ED0C}"/>
              </a:ext>
            </a:extLst>
          </p:cNvPr>
          <p:cNvSpPr/>
          <p:nvPr/>
        </p:nvSpPr>
        <p:spPr>
          <a:xfrm>
            <a:off x="8728345" y="4033544"/>
            <a:ext cx="2788704" cy="1134251"/>
          </a:xfrm>
          <a:prstGeom prst="rect">
            <a:avLst/>
          </a:prstGeom>
          <a:gradFill flip="none" rotWithShape="1">
            <a:gsLst>
              <a:gs pos="25000">
                <a:schemeClr val="accent3"/>
              </a:gs>
              <a:gs pos="99083">
                <a:schemeClr val="bg1"/>
              </a:gs>
            </a:gsLst>
            <a:lin ang="5400000" scaled="1"/>
            <a:tileRect/>
          </a:gradFill>
          <a:ln w="3175" cap="flat" cmpd="sng" algn="ctr">
            <a:solidFill>
              <a:srgbClr val="0B4FA1"/>
            </a:solidFill>
            <a:prstDash val="solid"/>
            <a:miter lim="800000"/>
          </a:ln>
          <a:effectLst>
            <a:outerShdw blurRad="304800" sx="102000" sy="102000" algn="ctr" rotWithShape="0">
              <a:schemeClr val="accent1">
                <a:alpha val="16000"/>
              </a:schemeClr>
            </a:outerShdw>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70" name="矩形 69">
            <a:extLst>
              <a:ext uri="{FF2B5EF4-FFF2-40B4-BE49-F238E27FC236}">
                <a16:creationId xmlns:a16="http://schemas.microsoft.com/office/drawing/2014/main" id="{EFCB47EC-864B-AAD5-A472-00AA391549FE}"/>
              </a:ext>
            </a:extLst>
          </p:cNvPr>
          <p:cNvSpPr/>
          <p:nvPr/>
        </p:nvSpPr>
        <p:spPr>
          <a:xfrm>
            <a:off x="5067365" y="5466814"/>
            <a:ext cx="3160706" cy="832680"/>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1" name="矩形 70">
            <a:extLst>
              <a:ext uri="{FF2B5EF4-FFF2-40B4-BE49-F238E27FC236}">
                <a16:creationId xmlns:a16="http://schemas.microsoft.com/office/drawing/2014/main" id="{D499CDC0-6EAF-4CDE-EC69-384809F6400E}"/>
              </a:ext>
            </a:extLst>
          </p:cNvPr>
          <p:cNvSpPr/>
          <p:nvPr/>
        </p:nvSpPr>
        <p:spPr>
          <a:xfrm>
            <a:off x="8542344" y="5466814"/>
            <a:ext cx="3160706" cy="832680"/>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2" name="文本框 71">
            <a:extLst>
              <a:ext uri="{FF2B5EF4-FFF2-40B4-BE49-F238E27FC236}">
                <a16:creationId xmlns:a16="http://schemas.microsoft.com/office/drawing/2014/main" id="{328EC5CD-7D02-F580-116B-8C1346812E9D}"/>
              </a:ext>
            </a:extLst>
          </p:cNvPr>
          <p:cNvSpPr txBox="1"/>
          <p:nvPr/>
        </p:nvSpPr>
        <p:spPr>
          <a:xfrm>
            <a:off x="1887321" y="4046254"/>
            <a:ext cx="2586289" cy="552074"/>
          </a:xfrm>
          <a:prstGeom prst="rect">
            <a:avLst/>
          </a:prstGeom>
          <a:noFill/>
        </p:spPr>
        <p:txBody>
          <a:bodyPr wrap="square">
            <a:spAutoFit/>
          </a:bodyPr>
          <a:lstStyle/>
          <a:p>
            <a:pPr marL="252000" indent="-252000">
              <a:lnSpc>
                <a:spcPct val="120000"/>
              </a:lnSpc>
              <a:buFont typeface="+mj-lt"/>
              <a:buAutoNum type="arabicPeriod"/>
            </a:pPr>
            <a:r>
              <a:rPr lang="en-US" altLang="zh-CN" sz="1300">
                <a:latin typeface="微软雅黑" panose="020B0503020204020204" pitchFamily="34" charset="-122"/>
                <a:ea typeface="微软雅黑" panose="020B0503020204020204" pitchFamily="34" charset="-122"/>
              </a:rPr>
              <a:t>【</a:t>
            </a:r>
            <a:r>
              <a:rPr lang="zh-CN" altLang="en-US" sz="1300">
                <a:latin typeface="微软雅黑" panose="020B0503020204020204" pitchFamily="34" charset="-122"/>
                <a:ea typeface="微软雅黑" panose="020B0503020204020204" pitchFamily="34" charset="-122"/>
              </a:rPr>
              <a:t>填：你遇到的实际部署问题</a:t>
            </a:r>
            <a:r>
              <a:rPr lang="en-US" altLang="zh-CN" sz="1300">
                <a:latin typeface="微软雅黑" panose="020B0503020204020204" pitchFamily="34" charset="-122"/>
                <a:ea typeface="微软雅黑" panose="020B0503020204020204" pitchFamily="34" charset="-122"/>
              </a:rPr>
              <a:t>】
</a:t>
            </a:r>
            <a:r>
              <a:rPr lang="zh-CN" altLang="en-US" sz="1300">
                <a:latin typeface="微软雅黑" panose="020B0503020204020204" pitchFamily="34" charset="-122"/>
                <a:ea typeface="微软雅黑" panose="020B0503020204020204" pitchFamily="34" charset="-122"/>
              </a:rPr>
              <a:t>例：模型 </a:t>
            </a:r>
            <a:r>
              <a:rPr lang="en-US" altLang="zh-CN" sz="1300">
                <a:latin typeface="微软雅黑" panose="020B0503020204020204" pitchFamily="34" charset="-122"/>
                <a:ea typeface="微软雅黑" panose="020B0503020204020204" pitchFamily="34" charset="-122"/>
              </a:rPr>
              <a:t>A/B/C </a:t>
            </a:r>
            <a:r>
              <a:rPr lang="zh-CN" altLang="en-US" sz="1300">
                <a:latin typeface="微软雅黑" panose="020B0503020204020204" pitchFamily="34" charset="-122"/>
                <a:ea typeface="微软雅黑" panose="020B0503020204020204" pitchFamily="34" charset="-122"/>
              </a:rPr>
              <a:t>的环境差异</a:t>
            </a:r>
            <a:endParaRPr lang="zh-CN" altLang="en-US" sz="1300" dirty="0">
              <a:latin typeface="微软雅黑" panose="020B0503020204020204" pitchFamily="34" charset="-122"/>
              <a:ea typeface="微软雅黑" panose="020B0503020204020204" pitchFamily="34" charset="-122"/>
            </a:endParaRPr>
          </a:p>
        </p:txBody>
      </p:sp>
      <p:sp>
        <p:nvSpPr>
          <p:cNvPr id="73" name="文本框 72">
            <a:extLst>
              <a:ext uri="{FF2B5EF4-FFF2-40B4-BE49-F238E27FC236}">
                <a16:creationId xmlns:a16="http://schemas.microsoft.com/office/drawing/2014/main" id="{71C87C36-C89F-C97A-ACCF-307579A4CD32}"/>
              </a:ext>
            </a:extLst>
          </p:cNvPr>
          <p:cNvSpPr txBox="1"/>
          <p:nvPr/>
        </p:nvSpPr>
        <p:spPr>
          <a:xfrm>
            <a:off x="5362487" y="4046254"/>
            <a:ext cx="2586289" cy="792140"/>
          </a:xfrm>
          <a:prstGeom prst="rect">
            <a:avLst/>
          </a:prstGeom>
          <a:noFill/>
        </p:spPr>
        <p:txBody>
          <a:bodyPr wrap="square">
            <a:spAutoFit/>
          </a:bodyPr>
          <a:lstStyle/>
          <a:p>
            <a:pPr marL="252000" indent="-252000">
              <a:lnSpc>
                <a:spcPct val="120000"/>
              </a:lnSpc>
              <a:buFont typeface="+mj-lt"/>
              <a:buAutoNum type="arabicPeriod"/>
            </a:pPr>
            <a:r>
              <a:rPr lang="en-US" altLang="zh-CN" sz="1300">
                <a:latin typeface="微软雅黑" panose="020B0503020204020204" pitchFamily="34" charset="-122"/>
                <a:ea typeface="微软雅黑" panose="020B0503020204020204" pitchFamily="34" charset="-122"/>
              </a:rPr>
              <a:t>【</a:t>
            </a:r>
            <a:r>
              <a:rPr lang="zh-CN" altLang="en-US" sz="1300">
                <a:latin typeface="微软雅黑" panose="020B0503020204020204" pitchFamily="34" charset="-122"/>
                <a:ea typeface="微软雅黑" panose="020B0503020204020204" pitchFamily="34" charset="-122"/>
              </a:rPr>
              <a:t>填：远端 </a:t>
            </a:r>
            <a:r>
              <a:rPr lang="en-US" altLang="zh-CN" sz="1300">
                <a:latin typeface="微软雅黑" panose="020B0503020204020204" pitchFamily="34" charset="-122"/>
                <a:ea typeface="微软雅黑" panose="020B0503020204020204" pitchFamily="34" charset="-122"/>
              </a:rPr>
              <a:t>GPU </a:t>
            </a:r>
            <a:r>
              <a:rPr lang="zh-CN" altLang="en-US" sz="1300">
                <a:latin typeface="微软雅黑" panose="020B0503020204020204" pitchFamily="34" charset="-122"/>
                <a:ea typeface="微软雅黑" panose="020B0503020204020204" pitchFamily="34" charset="-122"/>
              </a:rPr>
              <a:t>使用痛点</a:t>
            </a:r>
            <a:r>
              <a:rPr lang="en-US" altLang="zh-CN" sz="1300">
                <a:latin typeface="微软雅黑" panose="020B0503020204020204" pitchFamily="34" charset="-122"/>
                <a:ea typeface="微软雅黑" panose="020B0503020204020204" pitchFamily="34" charset="-122"/>
              </a:rPr>
              <a:t>】
</a:t>
            </a:r>
            <a:r>
              <a:rPr lang="zh-CN" altLang="en-US" sz="1300">
                <a:latin typeface="微软雅黑" panose="020B0503020204020204" pitchFamily="34" charset="-122"/>
                <a:ea typeface="微软雅黑" panose="020B0503020204020204" pitchFamily="34" charset="-122"/>
              </a:rPr>
              <a:t>例：任务状态、日志、回传不集中</a:t>
            </a:r>
            <a:endParaRPr lang="zh-CN" altLang="en-US" sz="1300" dirty="0">
              <a:latin typeface="微软雅黑" panose="020B0503020204020204" pitchFamily="34" charset="-122"/>
              <a:ea typeface="微软雅黑" panose="020B0503020204020204" pitchFamily="34" charset="-122"/>
            </a:endParaRPr>
          </a:p>
        </p:txBody>
      </p:sp>
      <p:sp>
        <p:nvSpPr>
          <p:cNvPr id="74" name="文本框 73">
            <a:extLst>
              <a:ext uri="{FF2B5EF4-FFF2-40B4-BE49-F238E27FC236}">
                <a16:creationId xmlns:a16="http://schemas.microsoft.com/office/drawing/2014/main" id="{C39EBB13-14FE-D424-94A3-54641B4E3265}"/>
              </a:ext>
            </a:extLst>
          </p:cNvPr>
          <p:cNvSpPr txBox="1"/>
          <p:nvPr/>
        </p:nvSpPr>
        <p:spPr>
          <a:xfrm>
            <a:off x="8839955" y="4046254"/>
            <a:ext cx="2586289" cy="792140"/>
          </a:xfrm>
          <a:prstGeom prst="rect">
            <a:avLst/>
          </a:prstGeom>
          <a:noFill/>
        </p:spPr>
        <p:txBody>
          <a:bodyPr wrap="square">
            <a:spAutoFit/>
          </a:bodyPr>
          <a:lstStyle/>
          <a:p>
            <a:pPr marL="252000" indent="-252000">
              <a:lnSpc>
                <a:spcPct val="120000"/>
              </a:lnSpc>
              <a:buFont typeface="+mj-lt"/>
              <a:buAutoNum type="arabicPeriod"/>
            </a:pPr>
            <a:r>
              <a:rPr lang="en-US" altLang="zh-CN" sz="1300">
                <a:latin typeface="微软雅黑" panose="020B0503020204020204" pitchFamily="34" charset="-122"/>
                <a:ea typeface="微软雅黑" panose="020B0503020204020204" pitchFamily="34" charset="-122"/>
              </a:rPr>
              <a:t>【</a:t>
            </a:r>
            <a:r>
              <a:rPr lang="zh-CN" altLang="en-US" sz="1300">
                <a:latin typeface="微软雅黑" panose="020B0503020204020204" pitchFamily="34" charset="-122"/>
                <a:ea typeface="微软雅黑" panose="020B0503020204020204" pitchFamily="34" charset="-122"/>
              </a:rPr>
              <a:t>填：对比与复现痛点</a:t>
            </a:r>
            <a:r>
              <a:rPr lang="en-US" altLang="zh-CN" sz="1300">
                <a:latin typeface="微软雅黑" panose="020B0503020204020204" pitchFamily="34" charset="-122"/>
                <a:ea typeface="微软雅黑" panose="020B0503020204020204" pitchFamily="34" charset="-122"/>
              </a:rPr>
              <a:t>】
</a:t>
            </a:r>
            <a:r>
              <a:rPr lang="zh-CN" altLang="en-US" sz="1300">
                <a:latin typeface="微软雅黑" panose="020B0503020204020204" pitchFamily="34" charset="-122"/>
                <a:ea typeface="微软雅黑" panose="020B0503020204020204" pitchFamily="34" charset="-122"/>
              </a:rPr>
              <a:t>例：同一输入需要手动整理结果</a:t>
            </a:r>
            <a:endParaRPr lang="zh-CN" altLang="en-US" sz="1300" dirty="0">
              <a:latin typeface="微软雅黑" panose="020B0503020204020204" pitchFamily="34" charset="-122"/>
              <a:ea typeface="微软雅黑" panose="020B0503020204020204" pitchFamily="34" charset="-122"/>
            </a:endParaRPr>
          </a:p>
        </p:txBody>
      </p:sp>
      <p:sp>
        <p:nvSpPr>
          <p:cNvPr id="75" name="文本框 74">
            <a:extLst>
              <a:ext uri="{FF2B5EF4-FFF2-40B4-BE49-F238E27FC236}">
                <a16:creationId xmlns:a16="http://schemas.microsoft.com/office/drawing/2014/main" id="{1EE41AD5-F1C9-DA54-A175-E37395E49415}"/>
              </a:ext>
            </a:extLst>
          </p:cNvPr>
          <p:cNvSpPr txBox="1"/>
          <p:nvPr/>
        </p:nvSpPr>
        <p:spPr>
          <a:xfrm>
            <a:off x="1783184" y="5540428"/>
            <a:ext cx="2801686" cy="345864"/>
          </a:xfrm>
          <a:prstGeom prst="rect">
            <a:avLst/>
          </a:prstGeom>
          <a:noFill/>
        </p:spPr>
        <p:txBody>
          <a:bodyPr wrap="square">
            <a:spAutoFit/>
          </a:bodyPr>
          <a:lstStyle/>
          <a:p>
            <a:pPr>
              <a:lnSpc>
                <a:spcPct val="120000"/>
              </a:lnSpc>
            </a:pPr>
            <a:r>
              <a:rPr lang="zh-CN" altLang="en-US" sz="1500" b="1">
                <a:solidFill>
                  <a:prstClr val="white"/>
                </a:solidFill>
                <a:latin typeface="微软雅黑" panose="020B0503020204020204" pitchFamily="34" charset="-122"/>
                <a:ea typeface="微软雅黑" panose="020B0503020204020204" pitchFamily="34" charset="-122"/>
              </a:rPr>
              <a:t>快速部署与统一入口</a:t>
            </a:r>
            <a:endParaRPr lang="zh-CN" altLang="en-US" sz="1500" b="1" dirty="0">
              <a:solidFill>
                <a:prstClr val="white"/>
              </a:solidFill>
              <a:latin typeface="微软雅黑" panose="020B0503020204020204" pitchFamily="34" charset="-122"/>
              <a:ea typeface="微软雅黑" panose="020B0503020204020204" pitchFamily="34" charset="-122"/>
            </a:endParaRPr>
          </a:p>
        </p:txBody>
      </p:sp>
      <p:sp>
        <p:nvSpPr>
          <p:cNvPr id="76" name="文本框 75">
            <a:extLst>
              <a:ext uri="{FF2B5EF4-FFF2-40B4-BE49-F238E27FC236}">
                <a16:creationId xmlns:a16="http://schemas.microsoft.com/office/drawing/2014/main" id="{0471995B-0ADD-228F-7FB6-8755CF317F35}"/>
              </a:ext>
            </a:extLst>
          </p:cNvPr>
          <p:cNvSpPr txBox="1"/>
          <p:nvPr/>
        </p:nvSpPr>
        <p:spPr>
          <a:xfrm>
            <a:off x="5227373" y="5540428"/>
            <a:ext cx="2978120" cy="345864"/>
          </a:xfrm>
          <a:prstGeom prst="rect">
            <a:avLst/>
          </a:prstGeom>
          <a:noFill/>
        </p:spPr>
        <p:txBody>
          <a:bodyPr wrap="square">
            <a:spAutoFit/>
          </a:bodyPr>
          <a:lstStyle/>
          <a:p>
            <a:pPr>
              <a:lnSpc>
                <a:spcPct val="120000"/>
              </a:lnSpc>
            </a:pPr>
            <a:r>
              <a:rPr lang="zh-CN" altLang="en-US" sz="1500" b="1">
                <a:solidFill>
                  <a:prstClr val="white"/>
                </a:solidFill>
                <a:latin typeface="微软雅黑" panose="020B0503020204020204" pitchFamily="34" charset="-122"/>
                <a:ea typeface="微软雅黑" panose="020B0503020204020204" pitchFamily="34" charset="-122"/>
              </a:rPr>
              <a:t>远端任务调度与结果回传</a:t>
            </a:r>
            <a:endParaRPr lang="zh-CN" altLang="en-US" sz="1500" b="1" dirty="0">
              <a:solidFill>
                <a:prstClr val="white"/>
              </a:solidFill>
              <a:latin typeface="微软雅黑" panose="020B0503020204020204" pitchFamily="34" charset="-122"/>
              <a:ea typeface="微软雅黑" panose="020B0503020204020204" pitchFamily="34" charset="-122"/>
            </a:endParaRPr>
          </a:p>
        </p:txBody>
      </p:sp>
      <p:sp>
        <p:nvSpPr>
          <p:cNvPr id="77" name="文本框 76">
            <a:extLst>
              <a:ext uri="{FF2B5EF4-FFF2-40B4-BE49-F238E27FC236}">
                <a16:creationId xmlns:a16="http://schemas.microsoft.com/office/drawing/2014/main" id="{55346BD5-E333-F829-FAEC-63EC306B2F91}"/>
              </a:ext>
            </a:extLst>
          </p:cNvPr>
          <p:cNvSpPr txBox="1"/>
          <p:nvPr/>
        </p:nvSpPr>
        <p:spPr>
          <a:xfrm>
            <a:off x="8739634" y="5540428"/>
            <a:ext cx="2801686" cy="345864"/>
          </a:xfrm>
          <a:prstGeom prst="rect">
            <a:avLst/>
          </a:prstGeom>
          <a:noFill/>
        </p:spPr>
        <p:txBody>
          <a:bodyPr wrap="square">
            <a:spAutoFit/>
          </a:bodyPr>
          <a:lstStyle/>
          <a:p>
            <a:pPr>
              <a:lnSpc>
                <a:spcPct val="120000"/>
              </a:lnSpc>
            </a:pPr>
            <a:r>
              <a:rPr lang="zh-CN" altLang="en-US" sz="1500" b="1">
                <a:solidFill>
                  <a:prstClr val="white"/>
                </a:solidFill>
                <a:latin typeface="微软雅黑" panose="020B0503020204020204" pitchFamily="34" charset="-122"/>
                <a:ea typeface="微软雅黑" panose="020B0503020204020204" pitchFamily="34" charset="-122"/>
              </a:rPr>
              <a:t>统一对比与报告导出</a:t>
            </a:r>
            <a:endParaRPr lang="zh-CN" altLang="en-US" sz="1500" b="1" dirty="0">
              <a:solidFill>
                <a:prstClr val="white"/>
              </a:solidFill>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30891CA3-B5C3-03E5-DE3B-545DD9258286}"/>
              </a:ext>
            </a:extLst>
          </p:cNvPr>
          <p:cNvSpPr/>
          <p:nvPr/>
        </p:nvSpPr>
        <p:spPr>
          <a:xfrm>
            <a:off x="2222500" y="2057400"/>
            <a:ext cx="1905000" cy="406400"/>
          </a:xfrm>
          <a:prstGeom prst="rect">
            <a:avLst/>
          </a:prstGeom>
          <a:solidFill>
            <a:srgbClr val="FFFFFF"/>
          </a:solidFill>
          <a:ln w="13970">
            <a:solidFill>
              <a:srgbClr val="A0BEE1"/>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b="1">
                <a:solidFill>
                  <a:srgbClr val="00417D"/>
                </a:solidFill>
                <a:latin typeface="微软雅黑" panose="020B0503020204020204" pitchFamily="34" charset="-122"/>
              </a:rPr>
              <a:t>门槛一</a:t>
            </a:r>
          </a:p>
        </p:txBody>
      </p:sp>
      <p:sp>
        <p:nvSpPr>
          <p:cNvPr id="3" name="矩形 2">
            <a:extLst>
              <a:ext uri="{FF2B5EF4-FFF2-40B4-BE49-F238E27FC236}">
                <a16:creationId xmlns:a16="http://schemas.microsoft.com/office/drawing/2014/main" id="{374A31E8-C6CB-A465-6F9A-5F4B34A9EA23}"/>
              </a:ext>
            </a:extLst>
          </p:cNvPr>
          <p:cNvSpPr/>
          <p:nvPr/>
        </p:nvSpPr>
        <p:spPr>
          <a:xfrm>
            <a:off x="5689600" y="2057400"/>
            <a:ext cx="1905000" cy="406400"/>
          </a:xfrm>
          <a:prstGeom prst="rect">
            <a:avLst/>
          </a:prstGeom>
          <a:solidFill>
            <a:srgbClr val="FFFFFF"/>
          </a:solidFill>
          <a:ln w="13970">
            <a:solidFill>
              <a:srgbClr val="A0BEE1"/>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b="1">
                <a:solidFill>
                  <a:srgbClr val="00417D"/>
                </a:solidFill>
                <a:latin typeface="微软雅黑" panose="020B0503020204020204" pitchFamily="34" charset="-122"/>
              </a:rPr>
              <a:t>门槛二</a:t>
            </a:r>
          </a:p>
        </p:txBody>
      </p:sp>
      <p:sp>
        <p:nvSpPr>
          <p:cNvPr id="4" name="矩形 3">
            <a:extLst>
              <a:ext uri="{FF2B5EF4-FFF2-40B4-BE49-F238E27FC236}">
                <a16:creationId xmlns:a16="http://schemas.microsoft.com/office/drawing/2014/main" id="{421D82F7-2F7B-26A0-E10F-B72D228C47BD}"/>
              </a:ext>
            </a:extLst>
          </p:cNvPr>
          <p:cNvSpPr/>
          <p:nvPr/>
        </p:nvSpPr>
        <p:spPr>
          <a:xfrm>
            <a:off x="9169400" y="2057400"/>
            <a:ext cx="1905000" cy="406400"/>
          </a:xfrm>
          <a:prstGeom prst="rect">
            <a:avLst/>
          </a:prstGeom>
          <a:solidFill>
            <a:srgbClr val="FFFFFF"/>
          </a:solidFill>
          <a:ln w="13970">
            <a:solidFill>
              <a:srgbClr val="A0BEE1"/>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b="1">
                <a:solidFill>
                  <a:srgbClr val="00417D"/>
                </a:solidFill>
                <a:latin typeface="微软雅黑" panose="020B0503020204020204" pitchFamily="34" charset="-122"/>
              </a:rPr>
              <a:t>门槛三</a:t>
            </a:r>
          </a:p>
        </p:txBody>
      </p:sp>
    </p:spTree>
    <p:extLst>
      <p:ext uri="{BB962C8B-B14F-4D97-AF65-F5344CB8AC3E}">
        <p14:creationId xmlns:p14="http://schemas.microsoft.com/office/powerpoint/2010/main" val="28579117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1EAE4-6472-D17B-AE46-895E1F389AA5}"/>
            </a:ext>
          </a:extLst>
        </p:cNvPr>
        <p:cNvGrpSpPr/>
        <p:nvPr/>
      </p:nvGrpSpPr>
      <p:grpSpPr>
        <a:xfrm>
          <a:off x="0" y="0"/>
          <a:ext cx="0" cy="0"/>
          <a:chOff x="0" y="0"/>
          <a:chExt cx="0" cy="0"/>
        </a:xfrm>
      </p:grpSpPr>
      <p:sp>
        <p:nvSpPr>
          <p:cNvPr id="4" name="矩形: 圆角 3">
            <a:extLst>
              <a:ext uri="{FF2B5EF4-FFF2-40B4-BE49-F238E27FC236}">
                <a16:creationId xmlns:a16="http://schemas.microsoft.com/office/drawing/2014/main" id="{98145D44-1CE2-DFB8-865A-6C18EB914DE0}"/>
              </a:ext>
            </a:extLst>
          </p:cNvPr>
          <p:cNvSpPr/>
          <p:nvPr/>
        </p:nvSpPr>
        <p:spPr>
          <a:xfrm>
            <a:off x="4746003" y="2313832"/>
            <a:ext cx="7003084" cy="4165603"/>
          </a:xfrm>
          <a:prstGeom prst="roundRect">
            <a:avLst>
              <a:gd name="adj" fmla="val 1384"/>
            </a:avLst>
          </a:prstGeom>
          <a:gradFill flip="none" rotWithShape="1">
            <a:gsLst>
              <a:gs pos="25000">
                <a:schemeClr val="accent3"/>
              </a:gs>
              <a:gs pos="99083">
                <a:schemeClr val="bg1"/>
              </a:gs>
            </a:gsLst>
            <a:lin ang="5400000" scaled="1"/>
            <a:tileRect/>
          </a:gradFill>
          <a:ln w="3175" cap="flat" cmpd="sng" algn="ctr">
            <a:solidFill>
              <a:srgbClr val="0B4FA1"/>
            </a:solidFill>
            <a:prstDash val="solid"/>
            <a:miter lim="800000"/>
          </a:ln>
          <a:effectLst>
            <a:outerShdw blurRad="304800" sx="102000" sy="102000" algn="ctr" rotWithShape="0">
              <a:schemeClr val="accent1">
                <a:alpha val="16000"/>
              </a:schemeClr>
            </a:outerShdw>
          </a:effectLst>
        </p:spPr>
        <p:txBody>
          <a:bodyPr rtlCol="0" anchor="ctr"/>
          <a:lstStyle/>
          <a:p>
            <a:pPr algn="ctr"/>
            <a:r>
              <a:rPr lang="en-US" altLang="zh-CN" kern="0" dirty="0">
                <a:solidFill>
                  <a:prstClr val="white"/>
                </a:solidFill>
                <a:latin typeface="Arial" panose="020B0604020202020204" pitchFamily="34" charset="0"/>
                <a:ea typeface="微软雅黑" panose="020B0503020204020204" pitchFamily="34" charset="-122"/>
              </a:rPr>
              <a:t>0.25</a:t>
            </a:r>
          </a:p>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7" name="矩形 6">
            <a:extLst>
              <a:ext uri="{FF2B5EF4-FFF2-40B4-BE49-F238E27FC236}">
                <a16:creationId xmlns:a16="http://schemas.microsoft.com/office/drawing/2014/main" id="{764D790B-92A7-989F-28B9-C977FE3CDBF9}"/>
              </a:ext>
            </a:extLst>
          </p:cNvPr>
          <p:cNvSpPr>
            <a:spLocks/>
          </p:cNvSpPr>
          <p:nvPr/>
        </p:nvSpPr>
        <p:spPr>
          <a:xfrm rot="16200000">
            <a:off x="505249" y="2412682"/>
            <a:ext cx="4165602" cy="3967903"/>
          </a:xfrm>
          <a:prstGeom prst="rect">
            <a:avLst/>
          </a:prstGeom>
          <a:gradFill flip="none" rotWithShape="1">
            <a:gsLst>
              <a:gs pos="25000">
                <a:schemeClr val="accent3"/>
              </a:gs>
              <a:gs pos="99083">
                <a:schemeClr val="bg1"/>
              </a:gs>
            </a:gsLst>
            <a:lin ang="5400000" scaled="1"/>
            <a:tileRect/>
          </a:gradFill>
          <a:ln w="3175" cap="flat" cmpd="sng" algn="ctr">
            <a:solidFill>
              <a:srgbClr val="0B4FA1"/>
            </a:solidFill>
            <a:prstDash val="solid"/>
            <a:miter lim="800000"/>
          </a:ln>
          <a:effectLst>
            <a:outerShdw blurRad="304800" sx="102000" sy="102000" algn="ctr" rotWithShape="0">
              <a:schemeClr val="accent1">
                <a:alpha val="16000"/>
              </a:schemeClr>
            </a:outerShdw>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90" name="文本框 89">
            <a:extLst>
              <a:ext uri="{FF2B5EF4-FFF2-40B4-BE49-F238E27FC236}">
                <a16:creationId xmlns:a16="http://schemas.microsoft.com/office/drawing/2014/main" id="{9497BA88-AC6C-71C4-5B6A-1C8C808E98EA}"/>
              </a:ext>
            </a:extLst>
          </p:cNvPr>
          <p:cNvSpPr txBox="1"/>
          <p:nvPr/>
        </p:nvSpPr>
        <p:spPr>
          <a:xfrm>
            <a:off x="115452" y="243436"/>
            <a:ext cx="772964" cy="369332"/>
          </a:xfrm>
          <a:prstGeom prst="rect">
            <a:avLst/>
          </a:prstGeom>
          <a:noFill/>
        </p:spPr>
        <p:txBody>
          <a:bodyPr wrap="square" rtlCol="0">
            <a:spAutoFit/>
          </a:bodyPr>
          <a:lstStyle/>
          <a:p>
            <a:pPr algn="ctr"/>
            <a:r>
              <a:rPr lang="en-US" altLang="zh-CN" b="1">
                <a:solidFill>
                  <a:schemeClr val="bg1"/>
                </a:solidFill>
                <a:latin typeface="微软雅黑" panose="020B0503020204020204" pitchFamily="34" charset="-122"/>
              </a:rPr>
              <a:t>1.2</a:t>
            </a:r>
            <a:endParaRPr lang="zh-CN" altLang="en-US" b="1" dirty="0">
              <a:solidFill>
                <a:schemeClr val="bg1"/>
              </a:solidFill>
              <a:latin typeface="微软雅黑" panose="020B0503020204020204" pitchFamily="34" charset="-122"/>
            </a:endParaRPr>
          </a:p>
        </p:txBody>
      </p:sp>
      <p:sp>
        <p:nvSpPr>
          <p:cNvPr id="92" name="文本框 91">
            <a:extLst>
              <a:ext uri="{FF2B5EF4-FFF2-40B4-BE49-F238E27FC236}">
                <a16:creationId xmlns:a16="http://schemas.microsoft.com/office/drawing/2014/main" id="{E0FF6C81-BA6D-113C-44C5-5D2EA3A76F7A}"/>
              </a:ext>
            </a:extLst>
          </p:cNvPr>
          <p:cNvSpPr txBox="1"/>
          <p:nvPr/>
        </p:nvSpPr>
        <p:spPr>
          <a:xfrm>
            <a:off x="946461" y="269201"/>
            <a:ext cx="6440714" cy="492443"/>
          </a:xfrm>
          <a:prstGeom prst="rect">
            <a:avLst/>
          </a:prstGeom>
          <a:noFill/>
        </p:spPr>
        <p:txBody>
          <a:bodyPr wrap="square">
            <a:spAutoFit/>
          </a:bodyPr>
          <a:lstStyle/>
          <a:p>
            <a:r>
              <a:rPr lang="zh-CN" altLang="en-US" sz="2600" b="1">
                <a:solidFill>
                  <a:schemeClr val="accent1"/>
                </a:solidFill>
                <a:latin typeface="微软雅黑" panose="020B0503020204020204" pitchFamily="34" charset="-122"/>
              </a:rPr>
              <a:t>平台定位</a:t>
            </a:r>
            <a:endParaRPr lang="zh-CN" altLang="en-US" sz="2600" b="1" dirty="0">
              <a:solidFill>
                <a:schemeClr val="accent1"/>
              </a:solidFill>
              <a:latin typeface="微软雅黑" panose="020B0503020204020204" pitchFamily="34" charset="-122"/>
            </a:endParaRPr>
          </a:p>
        </p:txBody>
      </p:sp>
      <p:sp>
        <p:nvSpPr>
          <p:cNvPr id="2" name="矩形: 圆角 1">
            <a:extLst>
              <a:ext uri="{FF2B5EF4-FFF2-40B4-BE49-F238E27FC236}">
                <a16:creationId xmlns:a16="http://schemas.microsoft.com/office/drawing/2014/main" id="{0EFE5007-6376-64C6-7AF9-D235A04A80FC}"/>
              </a:ext>
            </a:extLst>
          </p:cNvPr>
          <p:cNvSpPr/>
          <p:nvPr/>
        </p:nvSpPr>
        <p:spPr>
          <a:xfrm>
            <a:off x="442912" y="1147650"/>
            <a:ext cx="11306175" cy="1011350"/>
          </a:xfrm>
          <a:prstGeom prst="roundRect">
            <a:avLst>
              <a:gd name="adj" fmla="val 4650"/>
            </a:avLst>
          </a:prstGeom>
          <a:solidFill>
            <a:schemeClr val="bg1"/>
          </a:solidFill>
          <a:ln w="3175" cap="flat" cmpd="sng" algn="ctr">
            <a:solidFill>
              <a:schemeClr val="accent1"/>
            </a:solidFill>
            <a:prstDash val="solid"/>
            <a:miter lim="800000"/>
          </a:ln>
          <a:effectLst>
            <a:outerShdw blurRad="266700" dist="215900" dir="8100000" algn="tr" rotWithShape="0">
              <a:schemeClr val="accent1">
                <a:alpha val="8000"/>
              </a:schemeClr>
            </a:outerShdw>
          </a:effectLst>
        </p:spPr>
        <p:txBody>
          <a:bodyPr rtlCol="0" anchor="ctr"/>
          <a:lstStyle/>
          <a:p>
            <a:pPr algn="ctr"/>
            <a:r>
              <a:rPr lang="en-US" altLang="zh-CN" kern="0" dirty="0">
                <a:solidFill>
                  <a:prstClr val="white"/>
                </a:solidFill>
                <a:latin typeface="Arial" panose="020B0604020202020204" pitchFamily="34" charset="0"/>
                <a:ea typeface="微软雅黑" panose="020B0503020204020204" pitchFamily="34" charset="-122"/>
              </a:rPr>
              <a:t>0.25</a:t>
            </a:r>
          </a:p>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3" name="文本框 2">
            <a:extLst>
              <a:ext uri="{FF2B5EF4-FFF2-40B4-BE49-F238E27FC236}">
                <a16:creationId xmlns:a16="http://schemas.microsoft.com/office/drawing/2014/main" id="{A69212DD-8DB6-7A68-A050-12670D321F9C}"/>
              </a:ext>
            </a:extLst>
          </p:cNvPr>
          <p:cNvSpPr txBox="1"/>
          <p:nvPr/>
        </p:nvSpPr>
        <p:spPr>
          <a:xfrm>
            <a:off x="442913" y="1214744"/>
            <a:ext cx="11306176" cy="876843"/>
          </a:xfrm>
          <a:prstGeom prst="rect">
            <a:avLst/>
          </a:prstGeom>
          <a:noFill/>
        </p:spPr>
        <p:txBody>
          <a:bodyPr wrap="square">
            <a:spAutoFit/>
          </a:bodyPr>
          <a:lstStyle/>
          <a:p>
            <a:pPr marL="342900" indent="-342900">
              <a:lnSpc>
                <a:spcPct val="120000"/>
              </a:lnSpc>
              <a:buFont typeface="Wingdings" panose="05000000000000000000" pitchFamily="2" charset="2"/>
              <a:buChar char="Ø"/>
            </a:pPr>
            <a:r>
              <a:rPr lang="zh-CN" altLang="en-US" sz="2200" b="1" dirty="0">
                <a:latin typeface="微软雅黑" panose="020B0503020204020204" pitchFamily="34" charset="-122"/>
                <a:ea typeface="微软雅黑" panose="020B0503020204020204" pitchFamily="34" charset="-122"/>
              </a:rPr>
              <a:t>高光谱</a:t>
            </a:r>
            <a:r>
              <a:rPr lang="en-US" altLang="zh-CN" sz="2200" b="1" dirty="0">
                <a:latin typeface="微软雅黑" panose="020B0503020204020204" pitchFamily="34" charset="-122"/>
                <a:ea typeface="微软雅黑" panose="020B0503020204020204" pitchFamily="34" charset="-122"/>
              </a:rPr>
              <a:t>3D</a:t>
            </a:r>
            <a:r>
              <a:rPr lang="zh-CN" altLang="en-US" sz="2200" b="1" dirty="0">
                <a:latin typeface="微软雅黑" panose="020B0503020204020204" pitchFamily="34" charset="-122"/>
                <a:ea typeface="微软雅黑" panose="020B0503020204020204" pitchFamily="34" charset="-122"/>
              </a:rPr>
              <a:t>图像解混是指：从混合像元中分解与提取各个地物光谱并求得其对应比例，即将混合像元分解成不同的端元组合，并求得端元在该像元中所占的比例</a:t>
            </a:r>
          </a:p>
        </p:txBody>
      </p:sp>
      <p:pic>
        <p:nvPicPr>
          <p:cNvPr id="5" name="图片 4" descr="图示&#10;&#10;描述已自动生成">
            <a:extLst>
              <a:ext uri="{FF2B5EF4-FFF2-40B4-BE49-F238E27FC236}">
                <a16:creationId xmlns:a16="http://schemas.microsoft.com/office/drawing/2014/main" id="{DA2705C0-9165-E0C9-64D5-799D1F598D1C}"/>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874329" y="2998391"/>
            <a:ext cx="3483429" cy="2519772"/>
          </a:xfrm>
          <a:prstGeom prst="roundRect">
            <a:avLst>
              <a:gd name="adj" fmla="val 308"/>
            </a:avLst>
          </a:prstGeom>
          <a:ln w="1270">
            <a:solidFill>
              <a:srgbClr val="0B4FA1"/>
            </a:solidFill>
          </a:ln>
        </p:spPr>
      </p:pic>
      <p:sp>
        <p:nvSpPr>
          <p:cNvPr id="8" name="直角三角形 7">
            <a:extLst>
              <a:ext uri="{FF2B5EF4-FFF2-40B4-BE49-F238E27FC236}">
                <a16:creationId xmlns:a16="http://schemas.microsoft.com/office/drawing/2014/main" id="{ED38C6BF-2DCA-C070-AEFD-0BD580B86469}"/>
              </a:ext>
            </a:extLst>
          </p:cNvPr>
          <p:cNvSpPr/>
          <p:nvPr/>
        </p:nvSpPr>
        <p:spPr>
          <a:xfrm rot="16200000" flipH="1">
            <a:off x="476962" y="2784297"/>
            <a:ext cx="80272" cy="173997"/>
          </a:xfrm>
          <a:prstGeom prst="rtTriangle">
            <a:avLst/>
          </a:prstGeom>
          <a:solidFill>
            <a:schemeClr val="accent1">
              <a:lumMod val="50000"/>
            </a:scheme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p:txBody>
      </p:sp>
      <p:sp>
        <p:nvSpPr>
          <p:cNvPr id="9" name="矩形: 单圆角 8">
            <a:extLst>
              <a:ext uri="{FF2B5EF4-FFF2-40B4-BE49-F238E27FC236}">
                <a16:creationId xmlns:a16="http://schemas.microsoft.com/office/drawing/2014/main" id="{9B0A6EE0-945D-AE85-72E0-0F5B34E4059E}"/>
              </a:ext>
            </a:extLst>
          </p:cNvPr>
          <p:cNvSpPr>
            <a:spLocks/>
          </p:cNvSpPr>
          <p:nvPr/>
        </p:nvSpPr>
        <p:spPr>
          <a:xfrm>
            <a:off x="430097" y="2442753"/>
            <a:ext cx="1901623" cy="393169"/>
          </a:xfrm>
          <a:prstGeom prst="round1Rect">
            <a:avLst>
              <a:gd name="adj" fmla="val 50000"/>
            </a:avLst>
          </a:prstGeom>
          <a:solidFill>
            <a:schemeClr val="accent1"/>
          </a:solidFill>
          <a:ln w="19050" cap="flat" cmpd="sng" algn="ctr">
            <a:noFill/>
            <a:prstDash val="solid"/>
            <a:miter lim="800000"/>
          </a:ln>
          <a:effectLst>
            <a:outerShdw blurRad="139700" dist="38100" dir="2700000" sx="103000" sy="103000" algn="tl" rotWithShape="0">
              <a:prstClr val="black">
                <a:alpha val="15000"/>
              </a:prstClr>
            </a:outerShdw>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mn-cs"/>
            </a:endParaRPr>
          </a:p>
        </p:txBody>
      </p:sp>
      <p:sp>
        <p:nvSpPr>
          <p:cNvPr id="10" name="文本框 9">
            <a:extLst>
              <a:ext uri="{FF2B5EF4-FFF2-40B4-BE49-F238E27FC236}">
                <a16:creationId xmlns:a16="http://schemas.microsoft.com/office/drawing/2014/main" id="{ED9511C6-438C-1701-441C-35072BBF4CCC}"/>
              </a:ext>
            </a:extLst>
          </p:cNvPr>
          <p:cNvSpPr txBox="1"/>
          <p:nvPr/>
        </p:nvSpPr>
        <p:spPr>
          <a:xfrm>
            <a:off x="604097" y="2450060"/>
            <a:ext cx="1727624" cy="400110"/>
          </a:xfrm>
          <a:prstGeom prst="rect">
            <a:avLst/>
          </a:prstGeom>
          <a:noFill/>
        </p:spPr>
        <p:txBody>
          <a:bodyPr wrap="square">
            <a:spAutoFit/>
          </a:bodyPr>
          <a:lstStyle/>
          <a:p>
            <a:pPr algn="ctr"/>
            <a:r>
              <a:rPr lang="zh-CN" altLang="en-US" sz="2000" b="1" dirty="0">
                <a:solidFill>
                  <a:prstClr val="white"/>
                </a:solidFill>
                <a:effectLst>
                  <a:outerShdw blurRad="50800" dist="38100" dir="5400000" algn="t" rotWithShape="0">
                    <a:srgbClr val="0B4FA1">
                      <a:lumMod val="50000"/>
                      <a:alpha val="40000"/>
                    </a:srgbClr>
                  </a:outerShdw>
                </a:effectLst>
                <a:latin typeface="微软雅黑" panose="020B0503020204020204" pitchFamily="34" charset="-122"/>
                <a:ea typeface="微软雅黑" panose="020B0503020204020204" pitchFamily="34" charset="-122"/>
              </a:rPr>
              <a:t>光谱遥感</a:t>
            </a:r>
          </a:p>
        </p:txBody>
      </p:sp>
      <p:sp>
        <p:nvSpPr>
          <p:cNvPr id="11" name="矩形 10">
            <a:extLst>
              <a:ext uri="{FF2B5EF4-FFF2-40B4-BE49-F238E27FC236}">
                <a16:creationId xmlns:a16="http://schemas.microsoft.com/office/drawing/2014/main" id="{860931B6-05B6-AB1E-185C-281A9ADCFC1C}"/>
              </a:ext>
            </a:extLst>
          </p:cNvPr>
          <p:cNvSpPr/>
          <p:nvPr/>
        </p:nvSpPr>
        <p:spPr>
          <a:xfrm>
            <a:off x="874329" y="5160261"/>
            <a:ext cx="3483429" cy="357902"/>
          </a:xfrm>
          <a:prstGeom prst="rect">
            <a:avLst/>
          </a:prstGeom>
          <a:solidFill>
            <a:schemeClr val="accent1"/>
          </a:solidFill>
          <a:ln w="127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p:txBody>
      </p:sp>
      <p:sp>
        <p:nvSpPr>
          <p:cNvPr id="12" name="文本框 11">
            <a:extLst>
              <a:ext uri="{FF2B5EF4-FFF2-40B4-BE49-F238E27FC236}">
                <a16:creationId xmlns:a16="http://schemas.microsoft.com/office/drawing/2014/main" id="{54A1F4A3-36E3-3BA7-11D8-BEDB95D60543}"/>
              </a:ext>
            </a:extLst>
          </p:cNvPr>
          <p:cNvSpPr txBox="1"/>
          <p:nvPr/>
        </p:nvSpPr>
        <p:spPr>
          <a:xfrm>
            <a:off x="981619" y="5148831"/>
            <a:ext cx="3304650" cy="369332"/>
          </a:xfrm>
          <a:prstGeom prst="rect">
            <a:avLst/>
          </a:prstGeom>
          <a:noFill/>
        </p:spPr>
        <p:txBody>
          <a:bodyPr wrap="square">
            <a:spAutoFit/>
          </a:bodyPr>
          <a:lstStyle/>
          <a:p>
            <a:pPr algn="ctr"/>
            <a:r>
              <a:rPr lang="zh-CN" altLang="en-US" dirty="0">
                <a:solidFill>
                  <a:prstClr val="white"/>
                </a:solidFill>
                <a:effectLst>
                  <a:outerShdw blurRad="50800" dist="38100" dir="5400000" algn="t" rotWithShape="0">
                    <a:srgbClr val="0B4FA1">
                      <a:lumMod val="50000"/>
                      <a:alpha val="40000"/>
                    </a:srgbClr>
                  </a:outerShdw>
                </a:effectLst>
                <a:latin typeface="微软雅黑" panose="020B0503020204020204" pitchFamily="34" charset="-122"/>
                <a:ea typeface="微软雅黑" panose="020B0503020204020204" pitchFamily="34" charset="-122"/>
              </a:rPr>
              <a:t>高光谱遥感原理图</a:t>
            </a:r>
          </a:p>
        </p:txBody>
      </p:sp>
      <p:sp>
        <p:nvSpPr>
          <p:cNvPr id="13" name="文本框 12">
            <a:extLst>
              <a:ext uri="{FF2B5EF4-FFF2-40B4-BE49-F238E27FC236}">
                <a16:creationId xmlns:a16="http://schemas.microsoft.com/office/drawing/2014/main" id="{25681A15-0FBC-A2D1-3C74-D9A34D4502B1}"/>
              </a:ext>
            </a:extLst>
          </p:cNvPr>
          <p:cNvSpPr txBox="1"/>
          <p:nvPr/>
        </p:nvSpPr>
        <p:spPr>
          <a:xfrm>
            <a:off x="798219" y="5648770"/>
            <a:ext cx="3579661" cy="663130"/>
          </a:xfrm>
          <a:prstGeom prst="rect">
            <a:avLst/>
          </a:prstGeom>
          <a:noFill/>
        </p:spPr>
        <p:txBody>
          <a:bodyPr wrap="square">
            <a:spAutoFit/>
          </a:bodyPr>
          <a:lstStyle/>
          <a:p>
            <a:pPr marL="285750" indent="-285750">
              <a:lnSpc>
                <a:spcPct val="120000"/>
              </a:lnSpc>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作为遥感技术发展过程中的重大创新，为观测地物提供了有效手段</a:t>
            </a:r>
            <a:endParaRPr lang="en-US" altLang="zh-CN" sz="1600" dirty="0">
              <a:latin typeface="微软雅黑" panose="020B0503020204020204" pitchFamily="34" charset="-122"/>
              <a:ea typeface="微软雅黑" panose="020B0503020204020204" pitchFamily="34" charset="-122"/>
            </a:endParaRPr>
          </a:p>
        </p:txBody>
      </p:sp>
      <p:pic>
        <p:nvPicPr>
          <p:cNvPr id="14" name="图片 13">
            <a:extLst>
              <a:ext uri="{FF2B5EF4-FFF2-40B4-BE49-F238E27FC236}">
                <a16:creationId xmlns:a16="http://schemas.microsoft.com/office/drawing/2014/main" id="{6C596D9B-5A71-3788-7C34-954C184236B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036365" y="2987699"/>
            <a:ext cx="4143203" cy="2068760"/>
          </a:xfrm>
          <a:prstGeom prst="roundRect">
            <a:avLst>
              <a:gd name="adj" fmla="val 528"/>
            </a:avLst>
          </a:prstGeom>
          <a:ln w="3175">
            <a:solidFill>
              <a:srgbClr val="0B4FA1"/>
            </a:solidFill>
          </a:ln>
        </p:spPr>
      </p:pic>
      <p:sp>
        <p:nvSpPr>
          <p:cNvPr id="15" name="文本框 14">
            <a:extLst>
              <a:ext uri="{FF2B5EF4-FFF2-40B4-BE49-F238E27FC236}">
                <a16:creationId xmlns:a16="http://schemas.microsoft.com/office/drawing/2014/main" id="{736F137E-901A-56AD-DA2E-84C5E59D10C7}"/>
              </a:ext>
            </a:extLst>
          </p:cNvPr>
          <p:cNvSpPr txBox="1"/>
          <p:nvPr/>
        </p:nvSpPr>
        <p:spPr>
          <a:xfrm>
            <a:off x="4833314" y="2435812"/>
            <a:ext cx="5985012" cy="400110"/>
          </a:xfrm>
          <a:prstGeom prst="rect">
            <a:avLst/>
          </a:prstGeom>
          <a:noFill/>
        </p:spPr>
        <p:txBody>
          <a:bodyPr wrap="square">
            <a:spAutoFit/>
          </a:bodyPr>
          <a:lstStyle/>
          <a:p>
            <a:pPr marL="285750" indent="-285750">
              <a:buFont typeface="Wingdings" panose="05000000000000000000" pitchFamily="2" charset="2"/>
              <a:buChar char="Ø"/>
            </a:pPr>
            <a:r>
              <a:rPr lang="zh-CN" altLang="en-US" sz="2000" b="1" dirty="0">
                <a:solidFill>
                  <a:schemeClr val="accent1"/>
                </a:solidFill>
                <a:latin typeface="微软雅黑" panose="020B0503020204020204" pitchFamily="34" charset="-122"/>
                <a:ea typeface="微软雅黑" panose="020B0503020204020204" pitchFamily="34" charset="-122"/>
              </a:rPr>
              <a:t>基于协同稀疏和</a:t>
            </a:r>
            <a:r>
              <a:rPr lang="en-US" altLang="zh-CN" sz="2000" b="1" dirty="0">
                <a:solidFill>
                  <a:schemeClr val="accent1"/>
                </a:solidFill>
                <a:latin typeface="微软雅黑" panose="020B0503020204020204" pitchFamily="34" charset="-122"/>
                <a:ea typeface="微软雅黑" panose="020B0503020204020204" pitchFamily="34" charset="-122"/>
              </a:rPr>
              <a:t>TV</a:t>
            </a:r>
            <a:r>
              <a:rPr lang="zh-CN" altLang="en-US" sz="2000" b="1" dirty="0">
                <a:solidFill>
                  <a:schemeClr val="accent1"/>
                </a:solidFill>
                <a:latin typeface="微软雅黑" panose="020B0503020204020204" pitchFamily="34" charset="-122"/>
                <a:ea typeface="微软雅黑" panose="020B0503020204020204" pitchFamily="34" charset="-122"/>
              </a:rPr>
              <a:t>正则项的高光谱线性解混方法</a:t>
            </a:r>
          </a:p>
        </p:txBody>
      </p:sp>
      <p:sp>
        <p:nvSpPr>
          <p:cNvPr id="24" name="矩形: 圆角 23">
            <a:extLst>
              <a:ext uri="{FF2B5EF4-FFF2-40B4-BE49-F238E27FC236}">
                <a16:creationId xmlns:a16="http://schemas.microsoft.com/office/drawing/2014/main" id="{F5028CAC-A28C-E5AD-C14F-6C29AB51DE39}"/>
              </a:ext>
            </a:extLst>
          </p:cNvPr>
          <p:cNvSpPr/>
          <p:nvPr/>
        </p:nvSpPr>
        <p:spPr>
          <a:xfrm>
            <a:off x="9338003" y="3307602"/>
            <a:ext cx="2154921" cy="365838"/>
          </a:xfrm>
          <a:prstGeom prst="roundRect">
            <a:avLst>
              <a:gd name="adj" fmla="val 50000"/>
            </a:avLst>
          </a:prstGeom>
          <a:solidFill>
            <a:schemeClr val="accent1"/>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p:txBody>
      </p:sp>
      <p:sp>
        <p:nvSpPr>
          <p:cNvPr id="25" name="文本框 24">
            <a:extLst>
              <a:ext uri="{FF2B5EF4-FFF2-40B4-BE49-F238E27FC236}">
                <a16:creationId xmlns:a16="http://schemas.microsoft.com/office/drawing/2014/main" id="{6128CFAB-D96C-E8F4-0909-534167721054}"/>
              </a:ext>
            </a:extLst>
          </p:cNvPr>
          <p:cNvSpPr txBox="1"/>
          <p:nvPr/>
        </p:nvSpPr>
        <p:spPr>
          <a:xfrm>
            <a:off x="9635143" y="3316627"/>
            <a:ext cx="1591771" cy="347788"/>
          </a:xfrm>
          <a:prstGeom prst="rect">
            <a:avLst/>
          </a:prstGeom>
          <a:noFill/>
          <a:effectLst/>
        </p:spPr>
        <p:txBody>
          <a:bodyPr wrap="square" lIns="100584" tIns="50292" rIns="100584" bIns="50292">
            <a:spAutoFit/>
          </a:bodyPr>
          <a:lstStyle>
            <a:defPPr>
              <a:defRPr lang="zh-CN"/>
            </a:defPPr>
            <a:lvl1pPr>
              <a:defRPr sz="2800" b="1">
                <a:solidFill>
                  <a:srgbClr val="771395"/>
                </a:solidFill>
                <a:latin typeface="微软雅黑" panose="020B0503020204020204" pitchFamily="34" charset="-122"/>
                <a:ea typeface="微软雅黑" panose="020B0503020204020204" pitchFamily="34" charset="-122"/>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prstClr val="white"/>
                </a:solidFill>
                <a:effectLst>
                  <a:outerShdw blurRad="50800" dist="38100" dir="5400000" algn="t" rotWithShape="0">
                    <a:srgbClr val="0B4FA1">
                      <a:lumMod val="50000"/>
                      <a:alpha val="40000"/>
                    </a:srgbClr>
                  </a:outerShdw>
                </a:effectLst>
                <a:uLnTx/>
                <a:uFillTx/>
              </a:rPr>
              <a:t>提高解混精度</a:t>
            </a:r>
          </a:p>
        </p:txBody>
      </p:sp>
      <p:sp>
        <p:nvSpPr>
          <p:cNvPr id="22" name="矩形: 圆角 21">
            <a:extLst>
              <a:ext uri="{FF2B5EF4-FFF2-40B4-BE49-F238E27FC236}">
                <a16:creationId xmlns:a16="http://schemas.microsoft.com/office/drawing/2014/main" id="{6550DE41-9230-4853-79B9-C7A3C5FE9ACC}"/>
              </a:ext>
            </a:extLst>
          </p:cNvPr>
          <p:cNvSpPr/>
          <p:nvPr/>
        </p:nvSpPr>
        <p:spPr>
          <a:xfrm>
            <a:off x="9338003" y="4370718"/>
            <a:ext cx="2154921" cy="365838"/>
          </a:xfrm>
          <a:prstGeom prst="roundRect">
            <a:avLst>
              <a:gd name="adj" fmla="val 50000"/>
            </a:avLst>
          </a:prstGeom>
          <a:solidFill>
            <a:schemeClr val="accent1"/>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p:txBody>
      </p:sp>
      <p:sp>
        <p:nvSpPr>
          <p:cNvPr id="23" name="文本框 22">
            <a:extLst>
              <a:ext uri="{FF2B5EF4-FFF2-40B4-BE49-F238E27FC236}">
                <a16:creationId xmlns:a16="http://schemas.microsoft.com/office/drawing/2014/main" id="{2F659CBF-CB65-7C4D-1D77-669674C82130}"/>
              </a:ext>
            </a:extLst>
          </p:cNvPr>
          <p:cNvSpPr txBox="1"/>
          <p:nvPr/>
        </p:nvSpPr>
        <p:spPr>
          <a:xfrm>
            <a:off x="9485511" y="4349552"/>
            <a:ext cx="1891034" cy="376642"/>
          </a:xfrm>
          <a:prstGeom prst="rect">
            <a:avLst/>
          </a:prstGeom>
          <a:noFill/>
          <a:effectLst/>
        </p:spPr>
        <p:txBody>
          <a:bodyPr wrap="square" lIns="100584" tIns="50292" rIns="100584" bIns="50292">
            <a:spAutoFit/>
          </a:bodyPr>
          <a:lstStyle>
            <a:defPPr>
              <a:defRPr lang="zh-CN"/>
            </a:defPPr>
            <a:lvl1pPr>
              <a:defRPr sz="2800" b="1">
                <a:solidFill>
                  <a:srgbClr val="771395"/>
                </a:solidFill>
                <a:latin typeface="微软雅黑" panose="020B0503020204020204" pitchFamily="34" charset="-122"/>
                <a:ea typeface="微软雅黑" panose="020B0503020204020204" pitchFamily="34" charset="-122"/>
              </a:defRPr>
            </a:lvl1p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prstClr val="white"/>
                </a:solidFill>
                <a:effectLst>
                  <a:outerShdw blurRad="50800" dist="38100" dir="5400000" algn="t" rotWithShape="0">
                    <a:srgbClr val="0B4FA1">
                      <a:lumMod val="50000"/>
                      <a:alpha val="40000"/>
                    </a:srgbClr>
                  </a:outerShdw>
                </a:effectLst>
                <a:uLnTx/>
                <a:uFillTx/>
              </a:rPr>
              <a:t>全局施加协同稀疏</a:t>
            </a:r>
          </a:p>
        </p:txBody>
      </p:sp>
      <p:sp>
        <p:nvSpPr>
          <p:cNvPr id="20" name="矩形: 圆角 19">
            <a:extLst>
              <a:ext uri="{FF2B5EF4-FFF2-40B4-BE49-F238E27FC236}">
                <a16:creationId xmlns:a16="http://schemas.microsoft.com/office/drawing/2014/main" id="{723E9D72-C5F8-06C9-15F2-74E589D85E7E}"/>
              </a:ext>
            </a:extLst>
          </p:cNvPr>
          <p:cNvSpPr/>
          <p:nvPr/>
        </p:nvSpPr>
        <p:spPr>
          <a:xfrm>
            <a:off x="9338003" y="3839160"/>
            <a:ext cx="2154921" cy="365838"/>
          </a:xfrm>
          <a:prstGeom prst="roundRect">
            <a:avLst>
              <a:gd name="adj" fmla="val 50000"/>
            </a:avLst>
          </a:prstGeom>
          <a:solidFill>
            <a:schemeClr val="accent1"/>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p:txBody>
      </p:sp>
      <p:sp>
        <p:nvSpPr>
          <p:cNvPr id="21" name="文本框 20">
            <a:extLst>
              <a:ext uri="{FF2B5EF4-FFF2-40B4-BE49-F238E27FC236}">
                <a16:creationId xmlns:a16="http://schemas.microsoft.com/office/drawing/2014/main" id="{6B8DBD49-F9A7-8D97-6F18-E2FFCCD7FEE6}"/>
              </a:ext>
            </a:extLst>
          </p:cNvPr>
          <p:cNvSpPr txBox="1"/>
          <p:nvPr/>
        </p:nvSpPr>
        <p:spPr>
          <a:xfrm>
            <a:off x="9601890" y="3817994"/>
            <a:ext cx="1625024" cy="376642"/>
          </a:xfrm>
          <a:prstGeom prst="rect">
            <a:avLst/>
          </a:prstGeom>
          <a:noFill/>
          <a:effectLst/>
        </p:spPr>
        <p:txBody>
          <a:bodyPr wrap="square" lIns="100584" tIns="50292" rIns="100584" bIns="50292">
            <a:spAutoFit/>
          </a:bodyPr>
          <a:lstStyle>
            <a:defPPr>
              <a:defRPr lang="zh-CN"/>
            </a:defPPr>
            <a:lvl1pPr>
              <a:defRPr sz="2800" b="1">
                <a:solidFill>
                  <a:srgbClr val="771395"/>
                </a:solidFill>
                <a:latin typeface="微软雅黑" panose="020B0503020204020204" pitchFamily="34" charset="-122"/>
                <a:ea typeface="微软雅黑" panose="020B0503020204020204" pitchFamily="34" charset="-122"/>
              </a:defRPr>
            </a:lvl1p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prstClr val="white"/>
                </a:solidFill>
                <a:effectLst>
                  <a:outerShdw blurRad="50800" dist="38100" dir="5400000" algn="t" rotWithShape="0">
                    <a:srgbClr val="0B4FA1">
                      <a:lumMod val="50000"/>
                      <a:alpha val="40000"/>
                    </a:srgbClr>
                  </a:outerShdw>
                </a:effectLst>
                <a:uLnTx/>
                <a:uFillTx/>
              </a:rPr>
              <a:t>利用行稀疏特性</a:t>
            </a:r>
          </a:p>
        </p:txBody>
      </p:sp>
      <p:sp>
        <p:nvSpPr>
          <p:cNvPr id="26" name="矩形: 圆角 25">
            <a:extLst>
              <a:ext uri="{FF2B5EF4-FFF2-40B4-BE49-F238E27FC236}">
                <a16:creationId xmlns:a16="http://schemas.microsoft.com/office/drawing/2014/main" id="{70D4581F-27FC-6A87-2D66-C555633C72B4}"/>
              </a:ext>
            </a:extLst>
          </p:cNvPr>
          <p:cNvSpPr/>
          <p:nvPr/>
        </p:nvSpPr>
        <p:spPr>
          <a:xfrm>
            <a:off x="5046108" y="5222180"/>
            <a:ext cx="6541793" cy="1089720"/>
          </a:xfrm>
          <a:prstGeom prst="roundRect">
            <a:avLst>
              <a:gd name="adj" fmla="val 5371"/>
            </a:avLst>
          </a:prstGeom>
          <a:solidFill>
            <a:schemeClr val="accent1">
              <a:alpha val="5000"/>
            </a:schemeClr>
          </a:solidFill>
          <a:ln w="6350" cap="flat" cmpd="sng" algn="ctr">
            <a:solidFill>
              <a:sysClr val="window" lastClr="FFFFFF">
                <a:lumMod val="8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p:txBody>
      </p:sp>
      <p:sp>
        <p:nvSpPr>
          <p:cNvPr id="27" name="文本框 26">
            <a:extLst>
              <a:ext uri="{FF2B5EF4-FFF2-40B4-BE49-F238E27FC236}">
                <a16:creationId xmlns:a16="http://schemas.microsoft.com/office/drawing/2014/main" id="{8DB874B4-1FB4-366F-AD92-6F09CF27FF12}"/>
              </a:ext>
            </a:extLst>
          </p:cNvPr>
          <p:cNvSpPr txBox="1"/>
          <p:nvPr/>
        </p:nvSpPr>
        <p:spPr>
          <a:xfrm>
            <a:off x="5161530" y="5365712"/>
            <a:ext cx="1795861" cy="802656"/>
          </a:xfrm>
          <a:prstGeom prst="rect">
            <a:avLst/>
          </a:prstGeom>
          <a:noFill/>
        </p:spPr>
        <p:txBody>
          <a:bodyPr wrap="square">
            <a:spAutoFit/>
          </a:bodyPr>
          <a:lstStyle/>
          <a:p>
            <a:pPr algn="ctr">
              <a:lnSpc>
                <a:spcPct val="120000"/>
              </a:lnSpc>
            </a:pPr>
            <a:r>
              <a:rPr lang="zh-CN" altLang="en-US" sz="2000" b="1" dirty="0">
                <a:latin typeface="微软雅黑" panose="020B0503020204020204" pitchFamily="34" charset="-122"/>
                <a:ea typeface="微软雅黑" panose="020B0503020204020204" pitchFamily="34" charset="-122"/>
              </a:rPr>
              <a:t>稀疏性高光谱解混模型</a:t>
            </a:r>
          </a:p>
        </p:txBody>
      </p:sp>
      <p:cxnSp>
        <p:nvCxnSpPr>
          <p:cNvPr id="28" name="直接连接符 27">
            <a:extLst>
              <a:ext uri="{FF2B5EF4-FFF2-40B4-BE49-F238E27FC236}">
                <a16:creationId xmlns:a16="http://schemas.microsoft.com/office/drawing/2014/main" id="{6F870A4D-5763-68BC-39A4-5D18DC40E6CF}"/>
              </a:ext>
            </a:extLst>
          </p:cNvPr>
          <p:cNvCxnSpPr>
            <a:cxnSpLocks/>
          </p:cNvCxnSpPr>
          <p:nvPr/>
        </p:nvCxnSpPr>
        <p:spPr>
          <a:xfrm>
            <a:off x="7107966" y="5319515"/>
            <a:ext cx="0" cy="895050"/>
          </a:xfrm>
          <a:prstGeom prst="line">
            <a:avLst/>
          </a:prstGeom>
          <a:noFill/>
          <a:ln w="2540" cap="flat" cmpd="sng" algn="ctr">
            <a:solidFill>
              <a:sysClr val="window" lastClr="FFFFFF">
                <a:lumMod val="85000"/>
              </a:sysClr>
            </a:solidFill>
            <a:prstDash val="solid"/>
            <a:miter lim="800000"/>
          </a:ln>
          <a:effectLst/>
        </p:spPr>
      </p:cxnSp>
      <p:sp>
        <p:nvSpPr>
          <p:cNvPr id="29" name="文本框 28">
            <a:extLst>
              <a:ext uri="{FF2B5EF4-FFF2-40B4-BE49-F238E27FC236}">
                <a16:creationId xmlns:a16="http://schemas.microsoft.com/office/drawing/2014/main" id="{88B218F7-C27A-A7C8-FE1D-51DE65D30E78}"/>
              </a:ext>
            </a:extLst>
          </p:cNvPr>
          <p:cNvSpPr txBox="1"/>
          <p:nvPr/>
        </p:nvSpPr>
        <p:spPr>
          <a:xfrm>
            <a:off x="7148103" y="5419455"/>
            <a:ext cx="4344822" cy="663130"/>
          </a:xfrm>
          <a:prstGeom prst="rect">
            <a:avLst/>
          </a:prstGeom>
          <a:noFill/>
        </p:spPr>
        <p:txBody>
          <a:bodyPr wrap="square">
            <a:spAutoFit/>
          </a:bodyPr>
          <a:lstStyle/>
          <a:p>
            <a:pPr marL="285750" indent="-285750">
              <a:lnSpc>
                <a:spcPct val="120000"/>
              </a:lnSpc>
              <a:buFont typeface="Wingdings" panose="05000000000000000000" pitchFamily="2" charset="2"/>
              <a:buChar char="Ø"/>
            </a:pPr>
            <a:r>
              <a:rPr lang="zh-CN" altLang="en-US" sz="1600" dirty="0">
                <a:latin typeface="+mn-ea"/>
              </a:rPr>
              <a:t>基于非负矩阵分解的稀疏性高光谱解混方法</a:t>
            </a:r>
            <a:endParaRPr lang="en-US" altLang="zh-CN" sz="1600" dirty="0">
              <a:latin typeface="+mn-ea"/>
            </a:endParaRPr>
          </a:p>
          <a:p>
            <a:pPr marL="285750" indent="-285750">
              <a:lnSpc>
                <a:spcPct val="120000"/>
              </a:lnSpc>
              <a:buFont typeface="Wingdings" panose="05000000000000000000" pitchFamily="2" charset="2"/>
              <a:buChar char="Ø"/>
            </a:pPr>
            <a:r>
              <a:rPr lang="zh-CN" altLang="en-US" sz="1600" dirty="0">
                <a:latin typeface="+mn-ea"/>
              </a:rPr>
              <a:t>基于光谱库的稀疏性高光谱解混方法</a:t>
            </a:r>
          </a:p>
        </p:txBody>
      </p:sp>
      <p:sp>
        <p:nvSpPr>
          <p:cNvPr id="6" name="矩形 5">
            <a:extLst>
              <a:ext uri="{FF2B5EF4-FFF2-40B4-BE49-F238E27FC236}">
                <a16:creationId xmlns:a16="http://schemas.microsoft.com/office/drawing/2014/main" id="{CFD5C0DA-D5A3-2FEB-09BD-4216D1B87B7B}"/>
              </a:ext>
            </a:extLst>
          </p:cNvPr>
          <p:cNvSpPr/>
          <p:nvPr/>
        </p:nvSpPr>
        <p:spPr>
          <a:xfrm>
            <a:off x="0" y="1168400"/>
            <a:ext cx="12192000" cy="5689600"/>
          </a:xfrm>
          <a:prstGeom prst="rect">
            <a:avLst/>
          </a:prstGeom>
          <a:solidFill>
            <a:srgbClr val="FFFFFF"/>
          </a:solidFill>
          <a:ln w="1397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endParaRPr lang="zh-CN" altLang="en-US" sz="100">
              <a:solidFill>
                <a:srgbClr val="052346"/>
              </a:solidFill>
              <a:latin typeface="微软雅黑" panose="020B0503020204020204" pitchFamily="34" charset="-122"/>
            </a:endParaRPr>
          </a:p>
        </p:txBody>
      </p:sp>
      <p:sp>
        <p:nvSpPr>
          <p:cNvPr id="16" name="矩形 15">
            <a:extLst>
              <a:ext uri="{FF2B5EF4-FFF2-40B4-BE49-F238E27FC236}">
                <a16:creationId xmlns:a16="http://schemas.microsoft.com/office/drawing/2014/main" id="{36CA9BCF-7932-0F13-C645-A60B8DC0ADF1}"/>
              </a:ext>
            </a:extLst>
          </p:cNvPr>
          <p:cNvSpPr/>
          <p:nvPr/>
        </p:nvSpPr>
        <p:spPr>
          <a:xfrm>
            <a:off x="571500" y="1422400"/>
            <a:ext cx="11049000" cy="762000"/>
          </a:xfrm>
          <a:prstGeom prst="rect">
            <a:avLst/>
          </a:prstGeom>
          <a:solidFill>
            <a:srgbClr val="FFFFFF"/>
          </a:solidFill>
          <a:ln w="1397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r>
              <a:rPr lang="zh-CN" altLang="en-US" sz="2000" b="1">
                <a:solidFill>
                  <a:srgbClr val="052346"/>
                </a:solidFill>
                <a:latin typeface="微软雅黑" panose="020B0503020204020204" pitchFamily="34" charset="-122"/>
              </a:rPr>
              <a:t>平台面向前馈式三维重建模型的学习实践、实验研究和应用扩展</a:t>
            </a:r>
          </a:p>
        </p:txBody>
      </p:sp>
      <p:sp>
        <p:nvSpPr>
          <p:cNvPr id="17" name="矩形 16">
            <a:extLst>
              <a:ext uri="{FF2B5EF4-FFF2-40B4-BE49-F238E27FC236}">
                <a16:creationId xmlns:a16="http://schemas.microsoft.com/office/drawing/2014/main" id="{3BEABCFC-ACF1-5FED-2362-FB3F08E674E0}"/>
              </a:ext>
            </a:extLst>
          </p:cNvPr>
          <p:cNvSpPr/>
          <p:nvPr/>
        </p:nvSpPr>
        <p:spPr>
          <a:xfrm>
            <a:off x="762000" y="2603500"/>
            <a:ext cx="3111500" cy="698500"/>
          </a:xfrm>
          <a:prstGeom prst="rect">
            <a:avLst/>
          </a:prstGeom>
          <a:solidFill>
            <a:srgbClr val="0054A0"/>
          </a:solidFill>
          <a:ln w="13970">
            <a:solidFill>
              <a:srgbClr val="0054A0"/>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2000" b="1">
                <a:solidFill>
                  <a:srgbClr val="FFFFFF"/>
                </a:solidFill>
                <a:latin typeface="微软雅黑" panose="020B0503020204020204" pitchFamily="34" charset="-122"/>
              </a:rPr>
              <a:t>学习与实践</a:t>
            </a:r>
          </a:p>
        </p:txBody>
      </p:sp>
      <p:sp>
        <p:nvSpPr>
          <p:cNvPr id="18" name="矩形 17">
            <a:extLst>
              <a:ext uri="{FF2B5EF4-FFF2-40B4-BE49-F238E27FC236}">
                <a16:creationId xmlns:a16="http://schemas.microsoft.com/office/drawing/2014/main" id="{A38AFED7-B000-2641-BFFA-74FCC9D684D4}"/>
              </a:ext>
            </a:extLst>
          </p:cNvPr>
          <p:cNvSpPr/>
          <p:nvPr/>
        </p:nvSpPr>
        <p:spPr>
          <a:xfrm>
            <a:off x="4533900" y="2603500"/>
            <a:ext cx="3111500" cy="698500"/>
          </a:xfrm>
          <a:prstGeom prst="rect">
            <a:avLst/>
          </a:prstGeom>
          <a:solidFill>
            <a:srgbClr val="0054A0"/>
          </a:solidFill>
          <a:ln w="13970">
            <a:solidFill>
              <a:srgbClr val="0054A0"/>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2000" b="1">
                <a:solidFill>
                  <a:srgbClr val="FFFFFF"/>
                </a:solidFill>
                <a:latin typeface="微软雅黑" panose="020B0503020204020204" pitchFamily="34" charset="-122"/>
              </a:rPr>
              <a:t>实验与研究</a:t>
            </a:r>
          </a:p>
        </p:txBody>
      </p:sp>
      <p:sp>
        <p:nvSpPr>
          <p:cNvPr id="19" name="矩形 18">
            <a:extLst>
              <a:ext uri="{FF2B5EF4-FFF2-40B4-BE49-F238E27FC236}">
                <a16:creationId xmlns:a16="http://schemas.microsoft.com/office/drawing/2014/main" id="{0ED6AA55-719E-837C-E10E-13A7CDFCA99D}"/>
              </a:ext>
            </a:extLst>
          </p:cNvPr>
          <p:cNvSpPr/>
          <p:nvPr/>
        </p:nvSpPr>
        <p:spPr>
          <a:xfrm>
            <a:off x="8305800" y="2603500"/>
            <a:ext cx="3111500" cy="698500"/>
          </a:xfrm>
          <a:prstGeom prst="rect">
            <a:avLst/>
          </a:prstGeom>
          <a:solidFill>
            <a:srgbClr val="0054A0"/>
          </a:solidFill>
          <a:ln w="13970">
            <a:solidFill>
              <a:srgbClr val="0054A0"/>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2000" b="1">
                <a:solidFill>
                  <a:srgbClr val="FFFFFF"/>
                </a:solidFill>
                <a:latin typeface="微软雅黑" panose="020B0503020204020204" pitchFamily="34" charset="-122"/>
              </a:rPr>
              <a:t>应用与扩展</a:t>
            </a:r>
          </a:p>
        </p:txBody>
      </p:sp>
      <p:sp>
        <p:nvSpPr>
          <p:cNvPr id="30" name="矩形 29">
            <a:extLst>
              <a:ext uri="{FF2B5EF4-FFF2-40B4-BE49-F238E27FC236}">
                <a16:creationId xmlns:a16="http://schemas.microsoft.com/office/drawing/2014/main" id="{AE8BB277-6BFE-29A2-4172-722E1E3CB120}"/>
              </a:ext>
            </a:extLst>
          </p:cNvPr>
          <p:cNvSpPr/>
          <p:nvPr/>
        </p:nvSpPr>
        <p:spPr>
          <a:xfrm>
            <a:off x="762000" y="3403600"/>
            <a:ext cx="3111500" cy="1714500"/>
          </a:xfrm>
          <a:prstGeom prst="rect">
            <a:avLst/>
          </a:prstGeom>
          <a:solidFill>
            <a:srgbClr val="E8F1FA"/>
          </a:solidFill>
          <a:ln w="1397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en-US" altLang="zh-CN" sz="1500" b="1">
                <a:solidFill>
                  <a:srgbClr val="052346"/>
                </a:solidFill>
                <a:latin typeface="微软雅黑" panose="020B0503020204020204" pitchFamily="34" charset="-122"/>
              </a:rPr>
              <a:t>【</a:t>
            </a:r>
            <a:r>
              <a:rPr lang="zh-CN" altLang="en-US" sz="1500" b="1">
                <a:solidFill>
                  <a:srgbClr val="052346"/>
                </a:solidFill>
                <a:latin typeface="微软雅黑" panose="020B0503020204020204" pitchFamily="34" charset="-122"/>
              </a:rPr>
              <a:t>填：学习场景</a:t>
            </a:r>
            <a:r>
              <a:rPr lang="en-US" altLang="zh-CN" sz="1500" b="1">
                <a:solidFill>
                  <a:srgbClr val="052346"/>
                </a:solidFill>
                <a:latin typeface="微软雅黑" panose="020B0503020204020204" pitchFamily="34" charset="-122"/>
              </a:rPr>
              <a:t>】
</a:t>
            </a:r>
            <a:r>
              <a:rPr lang="zh-CN" altLang="en-US" sz="1500" b="1">
                <a:solidFill>
                  <a:srgbClr val="052346"/>
                </a:solidFill>
                <a:latin typeface="微软雅黑" panose="020B0503020204020204" pitchFamily="34" charset="-122"/>
              </a:rPr>
              <a:t>新模型如何快速跑起来
减少环境配置和命令记忆</a:t>
            </a:r>
          </a:p>
        </p:txBody>
      </p:sp>
      <p:sp>
        <p:nvSpPr>
          <p:cNvPr id="31" name="矩形 30">
            <a:extLst>
              <a:ext uri="{FF2B5EF4-FFF2-40B4-BE49-F238E27FC236}">
                <a16:creationId xmlns:a16="http://schemas.microsoft.com/office/drawing/2014/main" id="{B105EBCB-A21F-011F-C861-196F5C5E4E04}"/>
              </a:ext>
            </a:extLst>
          </p:cNvPr>
          <p:cNvSpPr/>
          <p:nvPr/>
        </p:nvSpPr>
        <p:spPr>
          <a:xfrm>
            <a:off x="4533900" y="3403600"/>
            <a:ext cx="3111500" cy="1714500"/>
          </a:xfrm>
          <a:prstGeom prst="rect">
            <a:avLst/>
          </a:prstGeom>
          <a:solidFill>
            <a:srgbClr val="E8F1FA"/>
          </a:solidFill>
          <a:ln w="1397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en-US" altLang="zh-CN" sz="1500" b="1">
                <a:solidFill>
                  <a:srgbClr val="052346"/>
                </a:solidFill>
                <a:latin typeface="微软雅黑" panose="020B0503020204020204" pitchFamily="34" charset="-122"/>
              </a:rPr>
              <a:t>【</a:t>
            </a:r>
            <a:r>
              <a:rPr lang="zh-CN" altLang="en-US" sz="1500" b="1">
                <a:solidFill>
                  <a:srgbClr val="052346"/>
                </a:solidFill>
                <a:latin typeface="微软雅黑" panose="020B0503020204020204" pitchFamily="34" charset="-122"/>
              </a:rPr>
              <a:t>填：实验场景</a:t>
            </a:r>
            <a:r>
              <a:rPr lang="en-US" altLang="zh-CN" sz="1500" b="1">
                <a:solidFill>
                  <a:srgbClr val="052346"/>
                </a:solidFill>
                <a:latin typeface="微软雅黑" panose="020B0503020204020204" pitchFamily="34" charset="-122"/>
              </a:rPr>
              <a:t>】
</a:t>
            </a:r>
            <a:r>
              <a:rPr lang="zh-CN" altLang="en-US" sz="1500" b="1">
                <a:solidFill>
                  <a:srgbClr val="052346"/>
                </a:solidFill>
                <a:latin typeface="微软雅黑" panose="020B0503020204020204" pitchFamily="34" charset="-122"/>
              </a:rPr>
              <a:t>同一输入、多模型对比
统一记录耗时、日志和结果</a:t>
            </a:r>
          </a:p>
        </p:txBody>
      </p:sp>
      <p:sp>
        <p:nvSpPr>
          <p:cNvPr id="32" name="矩形 31">
            <a:extLst>
              <a:ext uri="{FF2B5EF4-FFF2-40B4-BE49-F238E27FC236}">
                <a16:creationId xmlns:a16="http://schemas.microsoft.com/office/drawing/2014/main" id="{72DDC4C9-DD15-8412-8ACC-431C44272643}"/>
              </a:ext>
            </a:extLst>
          </p:cNvPr>
          <p:cNvSpPr/>
          <p:nvPr/>
        </p:nvSpPr>
        <p:spPr>
          <a:xfrm>
            <a:off x="8305800" y="3403600"/>
            <a:ext cx="3111500" cy="1714500"/>
          </a:xfrm>
          <a:prstGeom prst="rect">
            <a:avLst/>
          </a:prstGeom>
          <a:solidFill>
            <a:srgbClr val="E8F1FA"/>
          </a:solidFill>
          <a:ln w="1397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en-US" altLang="zh-CN" sz="1500" b="1">
                <a:solidFill>
                  <a:srgbClr val="052346"/>
                </a:solidFill>
                <a:latin typeface="微软雅黑" panose="020B0503020204020204" pitchFamily="34" charset="-122"/>
              </a:rPr>
              <a:t>【</a:t>
            </a:r>
            <a:r>
              <a:rPr lang="zh-CN" altLang="en-US" sz="1500" b="1">
                <a:solidFill>
                  <a:srgbClr val="052346"/>
                </a:solidFill>
                <a:latin typeface="微软雅黑" panose="020B0503020204020204" pitchFamily="34" charset="-122"/>
              </a:rPr>
              <a:t>填：应用场景</a:t>
            </a:r>
            <a:r>
              <a:rPr lang="en-US" altLang="zh-CN" sz="1500" b="1">
                <a:solidFill>
                  <a:srgbClr val="052346"/>
                </a:solidFill>
                <a:latin typeface="微软雅黑" panose="020B0503020204020204" pitchFamily="34" charset="-122"/>
              </a:rPr>
              <a:t>】
</a:t>
            </a:r>
            <a:r>
              <a:rPr lang="zh-CN" altLang="en-US" sz="1500" b="1">
                <a:solidFill>
                  <a:srgbClr val="052346"/>
                </a:solidFill>
                <a:latin typeface="微软雅黑" panose="020B0503020204020204" pitchFamily="34" charset="-122"/>
              </a:rPr>
              <a:t>稳定模型封装为 </a:t>
            </a:r>
            <a:r>
              <a:rPr lang="en-US" altLang="zh-CN" sz="1500" b="1">
                <a:solidFill>
                  <a:srgbClr val="052346"/>
                </a:solidFill>
                <a:latin typeface="微软雅黑" panose="020B0503020204020204" pitchFamily="34" charset="-122"/>
              </a:rPr>
              <a:t>API
</a:t>
            </a:r>
            <a:r>
              <a:rPr lang="zh-CN" altLang="en-US" sz="1500" b="1">
                <a:solidFill>
                  <a:srgbClr val="052346"/>
                </a:solidFill>
                <a:latin typeface="微软雅黑" panose="020B0503020204020204" pitchFamily="34" charset="-122"/>
              </a:rPr>
              <a:t>供后续程序或服务调用</a:t>
            </a:r>
          </a:p>
        </p:txBody>
      </p:sp>
      <p:sp>
        <p:nvSpPr>
          <p:cNvPr id="33" name="矩形 32">
            <a:extLst>
              <a:ext uri="{FF2B5EF4-FFF2-40B4-BE49-F238E27FC236}">
                <a16:creationId xmlns:a16="http://schemas.microsoft.com/office/drawing/2014/main" id="{734190F5-4643-D8A8-3B51-040040EBC5D6}"/>
              </a:ext>
            </a:extLst>
          </p:cNvPr>
          <p:cNvSpPr/>
          <p:nvPr/>
        </p:nvSpPr>
        <p:spPr>
          <a:xfrm>
            <a:off x="1397000" y="5588000"/>
            <a:ext cx="9398000" cy="609600"/>
          </a:xfrm>
          <a:prstGeom prst="rect">
            <a:avLst/>
          </a:prstGeom>
          <a:solidFill>
            <a:srgbClr val="E8F1FA"/>
          </a:solidFill>
          <a:ln w="1397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en-US" altLang="zh-CN" sz="1700" b="1">
                <a:solidFill>
                  <a:srgbClr val="052346"/>
                </a:solidFill>
                <a:latin typeface="微软雅黑" panose="020B0503020204020204" pitchFamily="34" charset="-122"/>
              </a:rPr>
              <a:t>【</a:t>
            </a:r>
            <a:r>
              <a:rPr lang="zh-CN" altLang="en-US" sz="1700" b="1">
                <a:solidFill>
                  <a:srgbClr val="052346"/>
                </a:solidFill>
                <a:latin typeface="微软雅黑" panose="020B0503020204020204" pitchFamily="34" charset="-122"/>
              </a:rPr>
              <a:t>底部主句</a:t>
            </a:r>
            <a:r>
              <a:rPr lang="en-US" altLang="zh-CN" sz="1700" b="1">
                <a:solidFill>
                  <a:srgbClr val="052346"/>
                </a:solidFill>
                <a:latin typeface="微软雅黑" panose="020B0503020204020204" pitchFamily="34" charset="-122"/>
              </a:rPr>
              <a:t>】</a:t>
            </a:r>
            <a:r>
              <a:rPr lang="zh-CN" altLang="en-US" sz="1700" b="1">
                <a:solidFill>
                  <a:srgbClr val="052346"/>
                </a:solidFill>
                <a:latin typeface="微软雅黑" panose="020B0503020204020204" pitchFamily="34" charset="-122"/>
              </a:rPr>
              <a:t>降低部署门槛，统一远端算力使用和结果管理。</a:t>
            </a:r>
          </a:p>
        </p:txBody>
      </p:sp>
    </p:spTree>
    <p:extLst>
      <p:ext uri="{BB962C8B-B14F-4D97-AF65-F5344CB8AC3E}">
        <p14:creationId xmlns:p14="http://schemas.microsoft.com/office/powerpoint/2010/main" val="4186118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C7F92-9293-B59D-2DE6-2DB6188AD385}"/>
            </a:ext>
          </a:extLst>
        </p:cNvPr>
        <p:cNvGrpSpPr/>
        <p:nvPr/>
      </p:nvGrpSpPr>
      <p:grpSpPr>
        <a:xfrm>
          <a:off x="0" y="0"/>
          <a:ext cx="0" cy="0"/>
          <a:chOff x="0" y="0"/>
          <a:chExt cx="0" cy="0"/>
        </a:xfrm>
      </p:grpSpPr>
      <p:sp>
        <p:nvSpPr>
          <p:cNvPr id="90" name="文本框 89">
            <a:extLst>
              <a:ext uri="{FF2B5EF4-FFF2-40B4-BE49-F238E27FC236}">
                <a16:creationId xmlns:a16="http://schemas.microsoft.com/office/drawing/2014/main" id="{D974B1A9-EA78-9DDD-0C77-372F5B9CAD76}"/>
              </a:ext>
            </a:extLst>
          </p:cNvPr>
          <p:cNvSpPr txBox="1"/>
          <p:nvPr/>
        </p:nvSpPr>
        <p:spPr>
          <a:xfrm>
            <a:off x="115452" y="243436"/>
            <a:ext cx="772964" cy="369332"/>
          </a:xfrm>
          <a:prstGeom prst="rect">
            <a:avLst/>
          </a:prstGeom>
          <a:noFill/>
        </p:spPr>
        <p:txBody>
          <a:bodyPr wrap="square" rtlCol="0">
            <a:spAutoFit/>
          </a:bodyPr>
          <a:lstStyle/>
          <a:p>
            <a:pPr algn="ctr"/>
            <a:r>
              <a:rPr lang="en-US" altLang="zh-CN" b="1">
                <a:solidFill>
                  <a:schemeClr val="bg1"/>
                </a:solidFill>
                <a:latin typeface="微软雅黑" panose="020B0503020204020204" pitchFamily="34" charset="-122"/>
              </a:rPr>
              <a:t>2.1</a:t>
            </a:r>
            <a:endParaRPr lang="zh-CN" altLang="en-US" b="1" dirty="0">
              <a:solidFill>
                <a:schemeClr val="bg1"/>
              </a:solidFill>
              <a:latin typeface="微软雅黑" panose="020B0503020204020204" pitchFamily="34" charset="-122"/>
            </a:endParaRPr>
          </a:p>
        </p:txBody>
      </p:sp>
      <p:sp>
        <p:nvSpPr>
          <p:cNvPr id="92" name="文本框 91">
            <a:extLst>
              <a:ext uri="{FF2B5EF4-FFF2-40B4-BE49-F238E27FC236}">
                <a16:creationId xmlns:a16="http://schemas.microsoft.com/office/drawing/2014/main" id="{0F0E9114-BD5E-4531-B04D-1539D4EDDF89}"/>
              </a:ext>
            </a:extLst>
          </p:cNvPr>
          <p:cNvSpPr txBox="1"/>
          <p:nvPr/>
        </p:nvSpPr>
        <p:spPr>
          <a:xfrm>
            <a:off x="946461" y="269201"/>
            <a:ext cx="6440714" cy="492443"/>
          </a:xfrm>
          <a:prstGeom prst="rect">
            <a:avLst/>
          </a:prstGeom>
          <a:noFill/>
        </p:spPr>
        <p:txBody>
          <a:bodyPr wrap="square">
            <a:spAutoFit/>
          </a:bodyPr>
          <a:lstStyle/>
          <a:p>
            <a:r>
              <a:rPr lang="zh-CN" altLang="en-US" sz="2600" b="1">
                <a:solidFill>
                  <a:schemeClr val="accent1"/>
                </a:solidFill>
                <a:latin typeface="微软雅黑" panose="020B0503020204020204" pitchFamily="34" charset="-122"/>
              </a:rPr>
              <a:t>核心功能模块</a:t>
            </a:r>
            <a:endParaRPr lang="zh-CN" altLang="en-US" sz="2600" b="1" dirty="0">
              <a:solidFill>
                <a:schemeClr val="accent1"/>
              </a:solidFill>
              <a:latin typeface="微软雅黑" panose="020B0503020204020204" pitchFamily="34" charset="-122"/>
            </a:endParaRPr>
          </a:p>
        </p:txBody>
      </p:sp>
      <p:sp>
        <p:nvSpPr>
          <p:cNvPr id="20" name="矩形 19">
            <a:extLst>
              <a:ext uri="{FF2B5EF4-FFF2-40B4-BE49-F238E27FC236}">
                <a16:creationId xmlns:a16="http://schemas.microsoft.com/office/drawing/2014/main" id="{0EEF0EFC-D9C9-A29D-1C2A-1FE96C668B77}"/>
              </a:ext>
            </a:extLst>
          </p:cNvPr>
          <p:cNvSpPr/>
          <p:nvPr/>
        </p:nvSpPr>
        <p:spPr>
          <a:xfrm>
            <a:off x="472442" y="1316990"/>
            <a:ext cx="11071860" cy="461665"/>
          </a:xfrm>
          <a:prstGeom prst="rect">
            <a:avLst/>
          </a:prstGeom>
          <a:noFill/>
          <a:ln w="15875" cap="flat" cmpd="sng" algn="ctr">
            <a:solidFill>
              <a:schemeClr val="accent1"/>
            </a:solidFill>
            <a:prstDash val="solid"/>
            <a:miter lim="800000"/>
          </a:ln>
          <a:effectLst/>
          <a:extLst>
            <a:ext uri="{909E8E84-426E-40DD-AFC4-6F175D3DCCD1}">
              <a14:hiddenFill xmlns:a14="http://schemas.microsoft.com/office/drawing/2010/main">
                <a:solidFill>
                  <a:srgbClr val="0070C0"/>
                </a:solidFill>
              </a14:hiddenFill>
            </a:ext>
          </a:ex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endParaRPr>
          </a:p>
        </p:txBody>
      </p:sp>
      <p:sp>
        <p:nvSpPr>
          <p:cNvPr id="21" name="任意多边形: 形状 20">
            <a:extLst>
              <a:ext uri="{FF2B5EF4-FFF2-40B4-BE49-F238E27FC236}">
                <a16:creationId xmlns:a16="http://schemas.microsoft.com/office/drawing/2014/main" id="{A28C3A2E-B382-7FDA-FE64-54C0532F6FAF}"/>
              </a:ext>
            </a:extLst>
          </p:cNvPr>
          <p:cNvSpPr/>
          <p:nvPr/>
        </p:nvSpPr>
        <p:spPr>
          <a:xfrm>
            <a:off x="472442" y="1316989"/>
            <a:ext cx="1819275" cy="461665"/>
          </a:xfrm>
          <a:custGeom>
            <a:avLst/>
            <a:gdLst>
              <a:gd name="connsiteX0" fmla="*/ 0 w 1819275"/>
              <a:gd name="connsiteY0" fmla="*/ 0 h 461665"/>
              <a:gd name="connsiteX1" fmla="*/ 1819275 w 1819275"/>
              <a:gd name="connsiteY1" fmla="*/ 0 h 461665"/>
              <a:gd name="connsiteX2" fmla="*/ 1637905 w 1819275"/>
              <a:gd name="connsiteY2" fmla="*/ 461665 h 461665"/>
              <a:gd name="connsiteX3" fmla="*/ 0 w 1819275"/>
              <a:gd name="connsiteY3" fmla="*/ 461665 h 461665"/>
            </a:gdLst>
            <a:ahLst/>
            <a:cxnLst>
              <a:cxn ang="0">
                <a:pos x="connsiteX0" y="connsiteY0"/>
              </a:cxn>
              <a:cxn ang="0">
                <a:pos x="connsiteX1" y="connsiteY1"/>
              </a:cxn>
              <a:cxn ang="0">
                <a:pos x="connsiteX2" y="connsiteY2"/>
              </a:cxn>
              <a:cxn ang="0">
                <a:pos x="connsiteX3" y="connsiteY3"/>
              </a:cxn>
            </a:cxnLst>
            <a:rect l="l" t="t" r="r" b="b"/>
            <a:pathLst>
              <a:path w="1819275" h="461665">
                <a:moveTo>
                  <a:pt x="0" y="0"/>
                </a:moveTo>
                <a:lnTo>
                  <a:pt x="1819275" y="0"/>
                </a:lnTo>
                <a:lnTo>
                  <a:pt x="1637905" y="461665"/>
                </a:lnTo>
                <a:lnTo>
                  <a:pt x="0" y="461665"/>
                </a:lnTo>
                <a:close/>
              </a:path>
            </a:pathLst>
          </a:custGeom>
          <a:solidFill>
            <a:schemeClr val="accent1"/>
          </a:solidFill>
          <a:ln w="15875"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solidFill>
                  <a:srgbClr val="0070C0"/>
                </a:solidFill>
              </a:ln>
              <a:solidFill>
                <a:srgbClr val="0070C0"/>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endParaRPr>
          </a:p>
        </p:txBody>
      </p:sp>
      <p:sp>
        <p:nvSpPr>
          <p:cNvPr id="22" name="文本框 21">
            <a:extLst>
              <a:ext uri="{FF2B5EF4-FFF2-40B4-BE49-F238E27FC236}">
                <a16:creationId xmlns:a16="http://schemas.microsoft.com/office/drawing/2014/main" id="{337D067A-1454-74F9-EE67-216E997D92D2}"/>
              </a:ext>
            </a:extLst>
          </p:cNvPr>
          <p:cNvSpPr txBox="1"/>
          <p:nvPr/>
        </p:nvSpPr>
        <p:spPr>
          <a:xfrm>
            <a:off x="592457" y="1349492"/>
            <a:ext cx="1525905" cy="400110"/>
          </a:xfrm>
          <a:prstGeom prst="rect">
            <a:avLst/>
          </a:prstGeom>
          <a:noFill/>
        </p:spPr>
        <p:txBody>
          <a:bodyPr wrap="square">
            <a:spAutoFit/>
          </a:bodyPr>
          <a:lstStyle/>
          <a:p>
            <a:r>
              <a:rPr lang="zh-CN" altLang="en-US" sz="2000" b="1" dirty="0">
                <a:solidFill>
                  <a:prstClr val="white"/>
                </a:solidFill>
                <a:latin typeface="微软雅黑" panose="020B0503020204020204" pitchFamily="34" charset="-122"/>
                <a:ea typeface="微软雅黑" panose="020B0503020204020204" pitchFamily="34" charset="-122"/>
                <a:cs typeface="+mn-ea"/>
                <a:sym typeface="汉仪旗黑-55简" panose="00020600040101010101" pitchFamily="18" charset="-122"/>
              </a:rPr>
              <a:t>研究方案一</a:t>
            </a:r>
          </a:p>
        </p:txBody>
      </p:sp>
      <p:sp>
        <p:nvSpPr>
          <p:cNvPr id="23" name="文本框 22">
            <a:extLst>
              <a:ext uri="{FF2B5EF4-FFF2-40B4-BE49-F238E27FC236}">
                <a16:creationId xmlns:a16="http://schemas.microsoft.com/office/drawing/2014/main" id="{AD203EE6-611B-3471-E8A9-83F06E0BFB83}"/>
              </a:ext>
            </a:extLst>
          </p:cNvPr>
          <p:cNvSpPr txBox="1"/>
          <p:nvPr/>
        </p:nvSpPr>
        <p:spPr>
          <a:xfrm>
            <a:off x="2424114" y="1363155"/>
            <a:ext cx="8906827" cy="400110"/>
          </a:xfrm>
          <a:prstGeom prst="rect">
            <a:avLst/>
          </a:prstGeom>
          <a:noFill/>
        </p:spPr>
        <p:txBody>
          <a:bodyPr wrap="square">
            <a:spAutoFit/>
          </a:bodyPr>
          <a:lstStyle>
            <a:defPPr>
              <a:defRPr lang="zh-CN"/>
            </a:defPPr>
            <a:lvl1pPr>
              <a:defRPr sz="2000" b="1">
                <a:solidFill>
                  <a:prstClr val="black"/>
                </a:solidFill>
                <a:latin typeface="汉仪旗黑-55简" panose="00020600040101010101" pitchFamily="18" charset="-122"/>
                <a:ea typeface="汉仪旗黑-55简" panose="00020600040101010101" pitchFamily="18" charset="-122"/>
                <a:cs typeface="+mn-ea"/>
              </a:defRPr>
            </a:lvl1pPr>
          </a:lstStyle>
          <a:p>
            <a:r>
              <a:rPr lang="zh-CN" altLang="en-US" dirty="0">
                <a:latin typeface="微软雅黑" panose="020B0503020204020204" pitchFamily="34" charset="-122"/>
                <a:ea typeface="微软雅黑" panose="020B0503020204020204" pitchFamily="34" charset="-122"/>
                <a:sym typeface="汉仪旗黑-55简" panose="00020600040101010101" pitchFamily="18" charset="-122"/>
              </a:rPr>
              <a:t>单击此处输入你的正文，文字是您思想的提炼为了最终演示发布的良好效果。</a:t>
            </a:r>
          </a:p>
        </p:txBody>
      </p:sp>
      <p:sp>
        <p:nvSpPr>
          <p:cNvPr id="24" name="矩形 23">
            <a:extLst>
              <a:ext uri="{FF2B5EF4-FFF2-40B4-BE49-F238E27FC236}">
                <a16:creationId xmlns:a16="http://schemas.microsoft.com/office/drawing/2014/main" id="{FA0BCD13-EC50-2935-7349-AC89CE19BBBA}"/>
              </a:ext>
            </a:extLst>
          </p:cNvPr>
          <p:cNvSpPr/>
          <p:nvPr/>
        </p:nvSpPr>
        <p:spPr>
          <a:xfrm>
            <a:off x="472442" y="1966302"/>
            <a:ext cx="11071860" cy="3589948"/>
          </a:xfrm>
          <a:prstGeom prst="rect">
            <a:avLst/>
          </a:prstGeom>
          <a:gradFill flip="none" rotWithShape="1">
            <a:gsLst>
              <a:gs pos="25000">
                <a:schemeClr val="accent3"/>
              </a:gs>
              <a:gs pos="99083">
                <a:schemeClr val="bg1"/>
              </a:gs>
            </a:gsLst>
            <a:lin ang="5400000" scaled="1"/>
            <a:tileRect/>
          </a:gradFill>
          <a:ln w="3175" cap="flat" cmpd="sng" algn="ctr">
            <a:solidFill>
              <a:schemeClr val="accent1"/>
            </a:solidFill>
            <a:prstDash val="solid"/>
            <a:miter lim="800000"/>
          </a:ln>
          <a:effectLst>
            <a:outerShdw blurRad="304800" sx="102000" sy="102000" algn="ctr" rotWithShape="0">
              <a:schemeClr val="accent1">
                <a:alpha val="16000"/>
              </a:schemeClr>
            </a:outerShdw>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sym typeface="汉仪旗黑-55简" panose="00020600040101010101" pitchFamily="18" charset="-122"/>
            </a:endParaRPr>
          </a:p>
        </p:txBody>
      </p:sp>
      <p:pic>
        <p:nvPicPr>
          <p:cNvPr id="25" name="图片 24" descr="电脑前的男人&#10;&#10;低可信度描述已自动生成">
            <a:extLst>
              <a:ext uri="{FF2B5EF4-FFF2-40B4-BE49-F238E27FC236}">
                <a16:creationId xmlns:a16="http://schemas.microsoft.com/office/drawing/2014/main" id="{382D45C4-8F20-01E3-E855-49FBC9E3CE9F}"/>
              </a:ext>
            </a:extLst>
          </p:cNvPr>
          <p:cNvPicPr>
            <a:picLocks noChangeAspect="1"/>
          </p:cNvPicPr>
          <p:nvPr/>
        </p:nvPicPr>
        <p:blipFill>
          <a:blip r:embed="rId3" cstate="screen"/>
          <a:srcRect/>
          <a:stretch>
            <a:fillRect/>
          </a:stretch>
        </p:blipFill>
        <p:spPr>
          <a:xfrm>
            <a:off x="721149" y="2176357"/>
            <a:ext cx="2483556" cy="1397000"/>
          </a:xfrm>
          <a:prstGeom prst="rect">
            <a:avLst/>
          </a:prstGeom>
        </p:spPr>
      </p:pic>
      <p:pic>
        <p:nvPicPr>
          <p:cNvPr id="26" name="图片 25" descr="图片包含 人, 穿着, 服装, 领带&#10;&#10;描述已自动生成">
            <a:extLst>
              <a:ext uri="{FF2B5EF4-FFF2-40B4-BE49-F238E27FC236}">
                <a16:creationId xmlns:a16="http://schemas.microsoft.com/office/drawing/2014/main" id="{2A1E1D73-65C4-110D-4023-E7156BA8CD8D}"/>
              </a:ext>
            </a:extLst>
          </p:cNvPr>
          <p:cNvPicPr>
            <a:picLocks noChangeAspect="1"/>
          </p:cNvPicPr>
          <p:nvPr/>
        </p:nvPicPr>
        <p:blipFill>
          <a:blip r:embed="rId4" cstate="screen"/>
          <a:srcRect/>
          <a:stretch>
            <a:fillRect/>
          </a:stretch>
        </p:blipFill>
        <p:spPr>
          <a:xfrm>
            <a:off x="3408662" y="2176357"/>
            <a:ext cx="2483556" cy="1397000"/>
          </a:xfrm>
          <a:prstGeom prst="rect">
            <a:avLst/>
          </a:prstGeom>
        </p:spPr>
      </p:pic>
      <p:pic>
        <p:nvPicPr>
          <p:cNvPr id="27" name="图片 26" descr="穿白色衣服的人&#10;&#10;描述已自动生成">
            <a:extLst>
              <a:ext uri="{FF2B5EF4-FFF2-40B4-BE49-F238E27FC236}">
                <a16:creationId xmlns:a16="http://schemas.microsoft.com/office/drawing/2014/main" id="{3E290501-96C1-3293-E73D-C53C53F43446}"/>
              </a:ext>
            </a:extLst>
          </p:cNvPr>
          <p:cNvPicPr>
            <a:picLocks noChangeAspect="1"/>
          </p:cNvPicPr>
          <p:nvPr/>
        </p:nvPicPr>
        <p:blipFill rotWithShape="1">
          <a:blip r:embed="rId5" cstate="screen"/>
          <a:srcRect/>
          <a:stretch>
            <a:fillRect/>
          </a:stretch>
        </p:blipFill>
        <p:spPr>
          <a:xfrm>
            <a:off x="6096175" y="2176357"/>
            <a:ext cx="2483556" cy="1397000"/>
          </a:xfrm>
          <a:prstGeom prst="rect">
            <a:avLst/>
          </a:prstGeom>
        </p:spPr>
      </p:pic>
      <p:pic>
        <p:nvPicPr>
          <p:cNvPr id="28" name="图片 27" descr="图片包含 人, 室内, 男人, 穿着&#10;&#10;描述已自动生成">
            <a:extLst>
              <a:ext uri="{FF2B5EF4-FFF2-40B4-BE49-F238E27FC236}">
                <a16:creationId xmlns:a16="http://schemas.microsoft.com/office/drawing/2014/main" id="{4288273B-0602-9783-F511-C21332917718}"/>
              </a:ext>
            </a:extLst>
          </p:cNvPr>
          <p:cNvPicPr>
            <a:picLocks noChangeAspect="1"/>
          </p:cNvPicPr>
          <p:nvPr/>
        </p:nvPicPr>
        <p:blipFill>
          <a:blip r:embed="rId6" cstate="screen"/>
          <a:srcRect/>
          <a:stretch>
            <a:fillRect/>
          </a:stretch>
        </p:blipFill>
        <p:spPr>
          <a:xfrm>
            <a:off x="8783689" y="2176357"/>
            <a:ext cx="2483556" cy="1397000"/>
          </a:xfrm>
          <a:prstGeom prst="rect">
            <a:avLst/>
          </a:prstGeom>
        </p:spPr>
      </p:pic>
      <p:grpSp>
        <p:nvGrpSpPr>
          <p:cNvPr id="29" name="组合 28">
            <a:extLst>
              <a:ext uri="{FF2B5EF4-FFF2-40B4-BE49-F238E27FC236}">
                <a16:creationId xmlns:a16="http://schemas.microsoft.com/office/drawing/2014/main" id="{0F14BE7B-E19D-B038-D377-9F71859D3C29}"/>
              </a:ext>
            </a:extLst>
          </p:cNvPr>
          <p:cNvGrpSpPr/>
          <p:nvPr/>
        </p:nvGrpSpPr>
        <p:grpSpPr>
          <a:xfrm>
            <a:off x="720485" y="3197225"/>
            <a:ext cx="2478626" cy="1530253"/>
            <a:chOff x="824406" y="2800350"/>
            <a:chExt cx="2478626" cy="1530253"/>
          </a:xfrm>
        </p:grpSpPr>
        <p:sp>
          <p:nvSpPr>
            <p:cNvPr id="30" name="矩形: 圆角 29">
              <a:extLst>
                <a:ext uri="{FF2B5EF4-FFF2-40B4-BE49-F238E27FC236}">
                  <a16:creationId xmlns:a16="http://schemas.microsoft.com/office/drawing/2014/main" id="{4E1280F1-EEFC-F22B-3DB3-C43D4639055D}"/>
                </a:ext>
              </a:extLst>
            </p:cNvPr>
            <p:cNvSpPr/>
            <p:nvPr/>
          </p:nvSpPr>
          <p:spPr>
            <a:xfrm>
              <a:off x="824406" y="2800350"/>
              <a:ext cx="2473032" cy="1530253"/>
            </a:xfrm>
            <a:prstGeom prst="roundRect">
              <a:avLst>
                <a:gd name="adj" fmla="val 0"/>
              </a:avLst>
            </a:prstGeom>
            <a:noFill/>
            <a:ln w="15875" cap="flat" cmpd="sng" algn="ctr">
              <a:gradFill flip="none" rotWithShape="1">
                <a:gsLst>
                  <a:gs pos="0">
                    <a:schemeClr val="accent1"/>
                  </a:gs>
                  <a:gs pos="100000">
                    <a:schemeClr val="accent1">
                      <a:alpha val="0"/>
                    </a:schemeClr>
                  </a:gs>
                </a:gsLst>
                <a:lin ang="16200000" scaled="1"/>
                <a:tileRect/>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endParaRPr>
            </a:p>
          </p:txBody>
        </p:sp>
        <p:sp>
          <p:nvSpPr>
            <p:cNvPr id="31" name="矩形 30">
              <a:extLst>
                <a:ext uri="{FF2B5EF4-FFF2-40B4-BE49-F238E27FC236}">
                  <a16:creationId xmlns:a16="http://schemas.microsoft.com/office/drawing/2014/main" id="{04A07656-AA7B-C3CF-1A80-D3A92F83E225}"/>
                </a:ext>
              </a:extLst>
            </p:cNvPr>
            <p:cNvSpPr/>
            <p:nvPr/>
          </p:nvSpPr>
          <p:spPr>
            <a:xfrm>
              <a:off x="1219164" y="3331234"/>
              <a:ext cx="1683516" cy="264184"/>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添加关键词</a:t>
              </a:r>
            </a:p>
          </p:txBody>
        </p:sp>
        <p:sp>
          <p:nvSpPr>
            <p:cNvPr id="32" name="文本框 31">
              <a:extLst>
                <a:ext uri="{FF2B5EF4-FFF2-40B4-BE49-F238E27FC236}">
                  <a16:creationId xmlns:a16="http://schemas.microsoft.com/office/drawing/2014/main" id="{55E929DF-61EA-6CF0-A307-6EE1C26929A3}"/>
                </a:ext>
              </a:extLst>
            </p:cNvPr>
            <p:cNvSpPr txBox="1"/>
            <p:nvPr/>
          </p:nvSpPr>
          <p:spPr>
            <a:xfrm>
              <a:off x="897424" y="3634664"/>
              <a:ext cx="2405608" cy="634469"/>
            </a:xfrm>
            <a:prstGeom prst="rect">
              <a:avLst/>
            </a:prstGeom>
            <a:noFill/>
          </p:spPr>
          <p:txBody>
            <a:bodyPr wrap="square">
              <a:spAutoFit/>
            </a:bodyPr>
            <a:lstStyle/>
            <a:p>
              <a:pPr marL="0" marR="0" lvl="0" indent="0" algn="ctr"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单击此处输入你的正文</a:t>
              </a:r>
              <a:endParaRPr kumimoji="0" lang="en-US" altLang="zh-CN"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endParaRPr>
            </a:p>
            <a:p>
              <a:pPr marL="0" marR="0" lvl="0" indent="0" algn="ctr"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文字是您思想的提炼</a:t>
              </a:r>
            </a:p>
          </p:txBody>
        </p:sp>
      </p:grpSp>
      <p:grpSp>
        <p:nvGrpSpPr>
          <p:cNvPr id="33" name="组合 32">
            <a:extLst>
              <a:ext uri="{FF2B5EF4-FFF2-40B4-BE49-F238E27FC236}">
                <a16:creationId xmlns:a16="http://schemas.microsoft.com/office/drawing/2014/main" id="{92971DE1-D33B-1D83-B4B5-A55EE6AEE7EC}"/>
              </a:ext>
            </a:extLst>
          </p:cNvPr>
          <p:cNvGrpSpPr/>
          <p:nvPr/>
        </p:nvGrpSpPr>
        <p:grpSpPr>
          <a:xfrm>
            <a:off x="3402404" y="3197225"/>
            <a:ext cx="2478626" cy="1530253"/>
            <a:chOff x="824406" y="2800350"/>
            <a:chExt cx="2478626" cy="1530253"/>
          </a:xfrm>
        </p:grpSpPr>
        <p:sp>
          <p:nvSpPr>
            <p:cNvPr id="34" name="矩形: 圆角 33">
              <a:extLst>
                <a:ext uri="{FF2B5EF4-FFF2-40B4-BE49-F238E27FC236}">
                  <a16:creationId xmlns:a16="http://schemas.microsoft.com/office/drawing/2014/main" id="{3A2FED03-6FAE-E548-AFBC-4C526E7D92BC}"/>
                </a:ext>
              </a:extLst>
            </p:cNvPr>
            <p:cNvSpPr/>
            <p:nvPr/>
          </p:nvSpPr>
          <p:spPr>
            <a:xfrm>
              <a:off x="824406" y="2800350"/>
              <a:ext cx="2473032" cy="1530253"/>
            </a:xfrm>
            <a:prstGeom prst="roundRect">
              <a:avLst>
                <a:gd name="adj" fmla="val 0"/>
              </a:avLst>
            </a:prstGeom>
            <a:noFill/>
            <a:ln w="15875" cap="flat" cmpd="sng" algn="ctr">
              <a:gradFill flip="none" rotWithShape="1">
                <a:gsLst>
                  <a:gs pos="0">
                    <a:schemeClr val="accent1"/>
                  </a:gs>
                  <a:gs pos="100000">
                    <a:schemeClr val="accent1">
                      <a:alpha val="0"/>
                    </a:schemeClr>
                  </a:gs>
                </a:gsLst>
                <a:lin ang="16200000" scaled="1"/>
                <a:tileRect/>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endParaRPr>
            </a:p>
          </p:txBody>
        </p:sp>
        <p:sp>
          <p:nvSpPr>
            <p:cNvPr id="35" name="矩形 34">
              <a:extLst>
                <a:ext uri="{FF2B5EF4-FFF2-40B4-BE49-F238E27FC236}">
                  <a16:creationId xmlns:a16="http://schemas.microsoft.com/office/drawing/2014/main" id="{6029FF79-2B53-E037-1B73-14F6F8EA3F2A}"/>
                </a:ext>
              </a:extLst>
            </p:cNvPr>
            <p:cNvSpPr/>
            <p:nvPr/>
          </p:nvSpPr>
          <p:spPr>
            <a:xfrm>
              <a:off x="1219164" y="3331234"/>
              <a:ext cx="1683516" cy="264184"/>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添加关键词</a:t>
              </a:r>
            </a:p>
          </p:txBody>
        </p:sp>
        <p:sp>
          <p:nvSpPr>
            <p:cNvPr id="36" name="文本框 35">
              <a:extLst>
                <a:ext uri="{FF2B5EF4-FFF2-40B4-BE49-F238E27FC236}">
                  <a16:creationId xmlns:a16="http://schemas.microsoft.com/office/drawing/2014/main" id="{C11ECEF7-B290-A1B3-9A4B-98853A61806C}"/>
                </a:ext>
              </a:extLst>
            </p:cNvPr>
            <p:cNvSpPr txBox="1"/>
            <p:nvPr/>
          </p:nvSpPr>
          <p:spPr>
            <a:xfrm>
              <a:off x="897424" y="3634664"/>
              <a:ext cx="2405608" cy="634469"/>
            </a:xfrm>
            <a:prstGeom prst="rect">
              <a:avLst/>
            </a:prstGeom>
            <a:noFill/>
          </p:spPr>
          <p:txBody>
            <a:bodyPr wrap="square">
              <a:spAutoFit/>
            </a:bodyPr>
            <a:lstStyle/>
            <a:p>
              <a:pPr marL="0" marR="0" lvl="0" indent="0" algn="ctr"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单击此处输入你的正文</a:t>
              </a:r>
              <a:endParaRPr kumimoji="0" lang="en-US" altLang="zh-CN"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endParaRPr>
            </a:p>
            <a:p>
              <a:pPr marL="0" marR="0" lvl="0" indent="0" algn="ctr"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文字是您思想的提炼</a:t>
              </a:r>
            </a:p>
          </p:txBody>
        </p:sp>
      </p:grpSp>
      <p:grpSp>
        <p:nvGrpSpPr>
          <p:cNvPr id="37" name="组合 36">
            <a:extLst>
              <a:ext uri="{FF2B5EF4-FFF2-40B4-BE49-F238E27FC236}">
                <a16:creationId xmlns:a16="http://schemas.microsoft.com/office/drawing/2014/main" id="{AB89AEF3-2EB4-ACDF-CA72-DD7A2A2CE732}"/>
              </a:ext>
            </a:extLst>
          </p:cNvPr>
          <p:cNvGrpSpPr/>
          <p:nvPr/>
        </p:nvGrpSpPr>
        <p:grpSpPr>
          <a:xfrm>
            <a:off x="6097869" y="3197225"/>
            <a:ext cx="2478626" cy="1530253"/>
            <a:chOff x="824406" y="2800350"/>
            <a:chExt cx="2478626" cy="1530253"/>
          </a:xfrm>
        </p:grpSpPr>
        <p:sp>
          <p:nvSpPr>
            <p:cNvPr id="38" name="矩形: 圆角 37">
              <a:extLst>
                <a:ext uri="{FF2B5EF4-FFF2-40B4-BE49-F238E27FC236}">
                  <a16:creationId xmlns:a16="http://schemas.microsoft.com/office/drawing/2014/main" id="{79D7AF8E-4AF6-FE37-30A6-E14D65991A28}"/>
                </a:ext>
              </a:extLst>
            </p:cNvPr>
            <p:cNvSpPr/>
            <p:nvPr/>
          </p:nvSpPr>
          <p:spPr>
            <a:xfrm>
              <a:off x="824406" y="2800350"/>
              <a:ext cx="2473032" cy="1530253"/>
            </a:xfrm>
            <a:prstGeom prst="roundRect">
              <a:avLst>
                <a:gd name="adj" fmla="val 0"/>
              </a:avLst>
            </a:prstGeom>
            <a:noFill/>
            <a:ln w="15875" cap="flat" cmpd="sng" algn="ctr">
              <a:gradFill flip="none" rotWithShape="1">
                <a:gsLst>
                  <a:gs pos="0">
                    <a:schemeClr val="accent1"/>
                  </a:gs>
                  <a:gs pos="100000">
                    <a:schemeClr val="accent1">
                      <a:alpha val="0"/>
                    </a:schemeClr>
                  </a:gs>
                </a:gsLst>
                <a:lin ang="16200000" scaled="1"/>
                <a:tileRect/>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endParaRPr>
            </a:p>
          </p:txBody>
        </p:sp>
        <p:sp>
          <p:nvSpPr>
            <p:cNvPr id="39" name="矩形 38">
              <a:extLst>
                <a:ext uri="{FF2B5EF4-FFF2-40B4-BE49-F238E27FC236}">
                  <a16:creationId xmlns:a16="http://schemas.microsoft.com/office/drawing/2014/main" id="{D61D2B28-8B1A-058D-C8EB-BD8B632426C2}"/>
                </a:ext>
              </a:extLst>
            </p:cNvPr>
            <p:cNvSpPr/>
            <p:nvPr/>
          </p:nvSpPr>
          <p:spPr>
            <a:xfrm>
              <a:off x="1219164" y="3331234"/>
              <a:ext cx="1683516" cy="264184"/>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添加关键词</a:t>
              </a:r>
            </a:p>
          </p:txBody>
        </p:sp>
        <p:sp>
          <p:nvSpPr>
            <p:cNvPr id="40" name="文本框 39">
              <a:extLst>
                <a:ext uri="{FF2B5EF4-FFF2-40B4-BE49-F238E27FC236}">
                  <a16:creationId xmlns:a16="http://schemas.microsoft.com/office/drawing/2014/main" id="{A32058E9-66AE-E5B0-B015-D4BC84A275D0}"/>
                </a:ext>
              </a:extLst>
            </p:cNvPr>
            <p:cNvSpPr txBox="1"/>
            <p:nvPr/>
          </p:nvSpPr>
          <p:spPr>
            <a:xfrm>
              <a:off x="897424" y="3634664"/>
              <a:ext cx="2405608" cy="634469"/>
            </a:xfrm>
            <a:prstGeom prst="rect">
              <a:avLst/>
            </a:prstGeom>
            <a:noFill/>
          </p:spPr>
          <p:txBody>
            <a:bodyPr wrap="square">
              <a:spAutoFit/>
            </a:bodyPr>
            <a:lstStyle/>
            <a:p>
              <a:pPr marL="0" marR="0" lvl="0" indent="0" algn="ctr"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单击此处输入你的正文</a:t>
              </a:r>
              <a:endParaRPr kumimoji="0" lang="en-US" altLang="zh-CN"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endParaRPr>
            </a:p>
            <a:p>
              <a:pPr marL="0" marR="0" lvl="0" indent="0" algn="ctr"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文字是您思想的提炼</a:t>
              </a:r>
            </a:p>
          </p:txBody>
        </p:sp>
      </p:grpSp>
      <p:grpSp>
        <p:nvGrpSpPr>
          <p:cNvPr id="41" name="组合 40">
            <a:extLst>
              <a:ext uri="{FF2B5EF4-FFF2-40B4-BE49-F238E27FC236}">
                <a16:creationId xmlns:a16="http://schemas.microsoft.com/office/drawing/2014/main" id="{2BA83B85-9452-5F01-01CA-8575652A8DFD}"/>
              </a:ext>
            </a:extLst>
          </p:cNvPr>
          <p:cNvGrpSpPr/>
          <p:nvPr/>
        </p:nvGrpSpPr>
        <p:grpSpPr>
          <a:xfrm>
            <a:off x="8793334" y="3197225"/>
            <a:ext cx="2478626" cy="1530253"/>
            <a:chOff x="824406" y="2800350"/>
            <a:chExt cx="2478626" cy="1530253"/>
          </a:xfrm>
        </p:grpSpPr>
        <p:sp>
          <p:nvSpPr>
            <p:cNvPr id="42" name="矩形: 圆角 41">
              <a:extLst>
                <a:ext uri="{FF2B5EF4-FFF2-40B4-BE49-F238E27FC236}">
                  <a16:creationId xmlns:a16="http://schemas.microsoft.com/office/drawing/2014/main" id="{0D0001F5-3946-8279-4966-FCEDFF60435F}"/>
                </a:ext>
              </a:extLst>
            </p:cNvPr>
            <p:cNvSpPr/>
            <p:nvPr/>
          </p:nvSpPr>
          <p:spPr>
            <a:xfrm>
              <a:off x="824406" y="2800350"/>
              <a:ext cx="2473032" cy="1530253"/>
            </a:xfrm>
            <a:prstGeom prst="roundRect">
              <a:avLst>
                <a:gd name="adj" fmla="val 0"/>
              </a:avLst>
            </a:prstGeom>
            <a:noFill/>
            <a:ln w="15875" cap="flat" cmpd="sng" algn="ctr">
              <a:gradFill flip="none" rotWithShape="1">
                <a:gsLst>
                  <a:gs pos="0">
                    <a:schemeClr val="accent1"/>
                  </a:gs>
                  <a:gs pos="100000">
                    <a:schemeClr val="accent1">
                      <a:alpha val="0"/>
                    </a:schemeClr>
                  </a:gs>
                </a:gsLst>
                <a:lin ang="16200000" scaled="1"/>
                <a:tileRect/>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endParaRPr>
            </a:p>
          </p:txBody>
        </p:sp>
        <p:sp>
          <p:nvSpPr>
            <p:cNvPr id="43" name="矩形 42">
              <a:extLst>
                <a:ext uri="{FF2B5EF4-FFF2-40B4-BE49-F238E27FC236}">
                  <a16:creationId xmlns:a16="http://schemas.microsoft.com/office/drawing/2014/main" id="{03EC2048-50C4-A6C4-9CE3-A2D5F099077E}"/>
                </a:ext>
              </a:extLst>
            </p:cNvPr>
            <p:cNvSpPr/>
            <p:nvPr/>
          </p:nvSpPr>
          <p:spPr>
            <a:xfrm>
              <a:off x="1219164" y="3331234"/>
              <a:ext cx="1683516" cy="264184"/>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添加关键词</a:t>
              </a:r>
            </a:p>
          </p:txBody>
        </p:sp>
        <p:sp>
          <p:nvSpPr>
            <p:cNvPr id="44" name="文本框 43">
              <a:extLst>
                <a:ext uri="{FF2B5EF4-FFF2-40B4-BE49-F238E27FC236}">
                  <a16:creationId xmlns:a16="http://schemas.microsoft.com/office/drawing/2014/main" id="{93E7F931-93CB-70CD-65F4-E8E34DE09B6C}"/>
                </a:ext>
              </a:extLst>
            </p:cNvPr>
            <p:cNvSpPr txBox="1"/>
            <p:nvPr/>
          </p:nvSpPr>
          <p:spPr>
            <a:xfrm>
              <a:off x="897424" y="3634664"/>
              <a:ext cx="2405608" cy="634469"/>
            </a:xfrm>
            <a:prstGeom prst="rect">
              <a:avLst/>
            </a:prstGeom>
            <a:noFill/>
          </p:spPr>
          <p:txBody>
            <a:bodyPr wrap="square">
              <a:spAutoFit/>
            </a:bodyPr>
            <a:lstStyle/>
            <a:p>
              <a:pPr marL="0" marR="0" lvl="0" indent="0" algn="ctr"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单击此处输入你的正文</a:t>
              </a:r>
              <a:endParaRPr kumimoji="0" lang="en-US" altLang="zh-CN"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endParaRPr>
            </a:p>
            <a:p>
              <a:pPr marL="0" marR="0" lvl="0" indent="0" algn="ctr"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文字是您思想的提炼</a:t>
              </a:r>
            </a:p>
          </p:txBody>
        </p:sp>
      </p:grpSp>
      <p:sp>
        <p:nvSpPr>
          <p:cNvPr id="46" name="矩形 45">
            <a:extLst>
              <a:ext uri="{FF2B5EF4-FFF2-40B4-BE49-F238E27FC236}">
                <a16:creationId xmlns:a16="http://schemas.microsoft.com/office/drawing/2014/main" id="{B81F3778-B70F-03FE-C55C-AE85E4BBAF61}"/>
              </a:ext>
            </a:extLst>
          </p:cNvPr>
          <p:cNvSpPr/>
          <p:nvPr/>
        </p:nvSpPr>
        <p:spPr>
          <a:xfrm>
            <a:off x="720485" y="4826607"/>
            <a:ext cx="10537595" cy="536466"/>
          </a:xfrm>
          <a:prstGeom prst="rect">
            <a:avLst/>
          </a:prstGeom>
          <a:solidFill>
            <a:schemeClr val="accent1"/>
          </a:solidFill>
          <a:ln w="34925" cap="flat" cmpd="sng" algn="ctr">
            <a:noFill/>
            <a:prstDash val="solid"/>
            <a:miter lim="800000"/>
          </a:ln>
          <a:effectLst>
            <a:outerShdw blurRad="152400" dist="38100" dir="2700000" algn="tl" rotWithShape="0">
              <a:schemeClr val="accent2">
                <a:alpha val="22000"/>
              </a:scheme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endParaRPr>
          </a:p>
        </p:txBody>
      </p:sp>
      <p:sp>
        <p:nvSpPr>
          <p:cNvPr id="93" name="矩形 92">
            <a:extLst>
              <a:ext uri="{FF2B5EF4-FFF2-40B4-BE49-F238E27FC236}">
                <a16:creationId xmlns:a16="http://schemas.microsoft.com/office/drawing/2014/main" id="{ABD29489-DF21-605B-5BE8-DC980759E7DC}"/>
              </a:ext>
            </a:extLst>
          </p:cNvPr>
          <p:cNvSpPr/>
          <p:nvPr/>
        </p:nvSpPr>
        <p:spPr>
          <a:xfrm>
            <a:off x="472441" y="5705525"/>
            <a:ext cx="11071859" cy="731661"/>
          </a:xfrm>
          <a:prstGeom prst="rect">
            <a:avLst/>
          </a:prstGeom>
          <a:solidFill>
            <a:sysClr val="window" lastClr="FFFFFF">
              <a:alpha val="94000"/>
            </a:sysClr>
          </a:solidFill>
          <a:ln w="12700" cap="flat" cmpd="sng" algn="ctr">
            <a:gradFill>
              <a:gsLst>
                <a:gs pos="0">
                  <a:sysClr val="window" lastClr="FFFFFF">
                    <a:lumMod val="95000"/>
                  </a:sysClr>
                </a:gs>
                <a:gs pos="100000">
                  <a:sysClr val="window" lastClr="FFFFFF">
                    <a:lumMod val="85000"/>
                  </a:sysClr>
                </a:gs>
              </a:gsLst>
              <a:lin ang="5400000" scaled="1"/>
            </a:gradFill>
            <a:prstDash val="solid"/>
            <a:miter lim="800000"/>
          </a:ln>
          <a:effectLst>
            <a:outerShdw blurRad="152400" dist="114300" dir="2700000" algn="tl" rotWithShape="0">
              <a:prstClr val="black">
                <a:alpha val="6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endParaRPr>
          </a:p>
        </p:txBody>
      </p:sp>
      <p:grpSp>
        <p:nvGrpSpPr>
          <p:cNvPr id="94" name="组合 93">
            <a:extLst>
              <a:ext uri="{FF2B5EF4-FFF2-40B4-BE49-F238E27FC236}">
                <a16:creationId xmlns:a16="http://schemas.microsoft.com/office/drawing/2014/main" id="{8C98561D-2F59-0FB9-2783-4ADF11E0D919}"/>
              </a:ext>
            </a:extLst>
          </p:cNvPr>
          <p:cNvGrpSpPr/>
          <p:nvPr/>
        </p:nvGrpSpPr>
        <p:grpSpPr>
          <a:xfrm>
            <a:off x="749089" y="5856902"/>
            <a:ext cx="2018452" cy="428906"/>
            <a:chOff x="1115772" y="5583852"/>
            <a:chExt cx="2018452" cy="428906"/>
          </a:xfrm>
        </p:grpSpPr>
        <p:sp>
          <p:nvSpPr>
            <p:cNvPr id="95" name="矩形: 圆角 94">
              <a:extLst>
                <a:ext uri="{FF2B5EF4-FFF2-40B4-BE49-F238E27FC236}">
                  <a16:creationId xmlns:a16="http://schemas.microsoft.com/office/drawing/2014/main" id="{7958552B-91EF-58E7-1936-D3EEA5C610C5}"/>
                </a:ext>
              </a:extLst>
            </p:cNvPr>
            <p:cNvSpPr/>
            <p:nvPr/>
          </p:nvSpPr>
          <p:spPr>
            <a:xfrm>
              <a:off x="1115772" y="5583852"/>
              <a:ext cx="2018452" cy="428906"/>
            </a:xfrm>
            <a:prstGeom prst="roundRect">
              <a:avLst>
                <a:gd name="adj" fmla="val 50000"/>
              </a:avLst>
            </a:prstGeom>
            <a:solidFill>
              <a:schemeClr val="accent3">
                <a:alpha val="8000"/>
              </a:schemeClr>
            </a:solidFill>
            <a:ln w="12700" cap="flat" cmpd="sng" algn="ctr">
              <a:solidFill>
                <a:schemeClr val="accent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endParaRPr>
            </a:p>
          </p:txBody>
        </p:sp>
        <p:sp>
          <p:nvSpPr>
            <p:cNvPr id="96" name="矩形 95">
              <a:extLst>
                <a:ext uri="{FF2B5EF4-FFF2-40B4-BE49-F238E27FC236}">
                  <a16:creationId xmlns:a16="http://schemas.microsoft.com/office/drawing/2014/main" id="{6A49FE15-5D7E-5D58-6DBB-1E56937A8044}"/>
                </a:ext>
              </a:extLst>
            </p:cNvPr>
            <p:cNvSpPr/>
            <p:nvPr/>
          </p:nvSpPr>
          <p:spPr>
            <a:xfrm>
              <a:off x="1303697" y="5672986"/>
              <a:ext cx="1683516" cy="264184"/>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添加关键词</a:t>
              </a:r>
            </a:p>
          </p:txBody>
        </p:sp>
      </p:grpSp>
      <p:grpSp>
        <p:nvGrpSpPr>
          <p:cNvPr id="97" name="组合 96">
            <a:extLst>
              <a:ext uri="{FF2B5EF4-FFF2-40B4-BE49-F238E27FC236}">
                <a16:creationId xmlns:a16="http://schemas.microsoft.com/office/drawing/2014/main" id="{EE38CE60-C10E-5EBF-4151-518D8BAEA44D}"/>
              </a:ext>
            </a:extLst>
          </p:cNvPr>
          <p:cNvGrpSpPr/>
          <p:nvPr/>
        </p:nvGrpSpPr>
        <p:grpSpPr>
          <a:xfrm>
            <a:off x="2874328" y="5856902"/>
            <a:ext cx="2018452" cy="428906"/>
            <a:chOff x="1115772" y="5583852"/>
            <a:chExt cx="2018452" cy="428906"/>
          </a:xfrm>
        </p:grpSpPr>
        <p:sp>
          <p:nvSpPr>
            <p:cNvPr id="98" name="矩形: 圆角 97">
              <a:extLst>
                <a:ext uri="{FF2B5EF4-FFF2-40B4-BE49-F238E27FC236}">
                  <a16:creationId xmlns:a16="http://schemas.microsoft.com/office/drawing/2014/main" id="{F41082BD-FC93-ECB5-13F3-CF171D48B178}"/>
                </a:ext>
              </a:extLst>
            </p:cNvPr>
            <p:cNvSpPr/>
            <p:nvPr/>
          </p:nvSpPr>
          <p:spPr>
            <a:xfrm>
              <a:off x="1115772" y="5583852"/>
              <a:ext cx="2018452" cy="428906"/>
            </a:xfrm>
            <a:prstGeom prst="roundRect">
              <a:avLst>
                <a:gd name="adj" fmla="val 50000"/>
              </a:avLst>
            </a:prstGeom>
            <a:solidFill>
              <a:schemeClr val="accent3">
                <a:alpha val="8000"/>
              </a:schemeClr>
            </a:solidFill>
            <a:ln w="12700" cap="flat" cmpd="sng" algn="ctr">
              <a:solidFill>
                <a:schemeClr val="accent1"/>
              </a:solidFill>
              <a:prstDash val="solid"/>
              <a:miter lim="800000"/>
            </a:ln>
            <a:effectLst/>
          </p:spPr>
          <p:txBody>
            <a:bodyPr rtlCol="0" anchor="ctr"/>
            <a:lstStyle/>
            <a:p>
              <a:pPr algn="ctr"/>
              <a:endParaRPr lang="zh-CN" altLang="en-US" kern="0" dirty="0">
                <a:solidFill>
                  <a:srgbClr val="0070C0"/>
                </a:solidFill>
                <a:latin typeface="微软雅黑" panose="020B0503020204020204" pitchFamily="34" charset="-122"/>
                <a:ea typeface="微软雅黑" panose="020B0503020204020204" pitchFamily="34" charset="-122"/>
                <a:cs typeface="+mn-ea"/>
                <a:sym typeface="汉仪旗黑-55简" panose="00020600040101010101" pitchFamily="18" charset="-122"/>
              </a:endParaRPr>
            </a:p>
          </p:txBody>
        </p:sp>
        <p:sp>
          <p:nvSpPr>
            <p:cNvPr id="99" name="矩形 98">
              <a:extLst>
                <a:ext uri="{FF2B5EF4-FFF2-40B4-BE49-F238E27FC236}">
                  <a16:creationId xmlns:a16="http://schemas.microsoft.com/office/drawing/2014/main" id="{5433A26D-5B4A-8886-E07E-73260B3CAF90}"/>
                </a:ext>
              </a:extLst>
            </p:cNvPr>
            <p:cNvSpPr/>
            <p:nvPr/>
          </p:nvSpPr>
          <p:spPr>
            <a:xfrm>
              <a:off x="1303697" y="5672986"/>
              <a:ext cx="1683516" cy="264184"/>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添加关键词</a:t>
              </a:r>
            </a:p>
          </p:txBody>
        </p:sp>
      </p:grpSp>
      <p:grpSp>
        <p:nvGrpSpPr>
          <p:cNvPr id="100" name="组合 99">
            <a:extLst>
              <a:ext uri="{FF2B5EF4-FFF2-40B4-BE49-F238E27FC236}">
                <a16:creationId xmlns:a16="http://schemas.microsoft.com/office/drawing/2014/main" id="{8290007A-59BD-BBB1-8412-1CC89F007981}"/>
              </a:ext>
            </a:extLst>
          </p:cNvPr>
          <p:cNvGrpSpPr/>
          <p:nvPr/>
        </p:nvGrpSpPr>
        <p:grpSpPr>
          <a:xfrm>
            <a:off x="4999567" y="5856902"/>
            <a:ext cx="2018452" cy="428906"/>
            <a:chOff x="1115772" y="5583852"/>
            <a:chExt cx="2018452" cy="428906"/>
          </a:xfrm>
        </p:grpSpPr>
        <p:sp>
          <p:nvSpPr>
            <p:cNvPr id="101" name="矩形: 圆角 100">
              <a:extLst>
                <a:ext uri="{FF2B5EF4-FFF2-40B4-BE49-F238E27FC236}">
                  <a16:creationId xmlns:a16="http://schemas.microsoft.com/office/drawing/2014/main" id="{B4F82BBA-0FFF-43A3-5CDB-473B31902DBC}"/>
                </a:ext>
              </a:extLst>
            </p:cNvPr>
            <p:cNvSpPr/>
            <p:nvPr/>
          </p:nvSpPr>
          <p:spPr>
            <a:xfrm>
              <a:off x="1115772" y="5583852"/>
              <a:ext cx="2018452" cy="428906"/>
            </a:xfrm>
            <a:prstGeom prst="roundRect">
              <a:avLst>
                <a:gd name="adj" fmla="val 50000"/>
              </a:avLst>
            </a:prstGeom>
            <a:solidFill>
              <a:schemeClr val="accent3">
                <a:alpha val="8000"/>
              </a:schemeClr>
            </a:solidFill>
            <a:ln w="12700" cap="flat" cmpd="sng" algn="ctr">
              <a:solidFill>
                <a:schemeClr val="accent1"/>
              </a:solidFill>
              <a:prstDash val="solid"/>
              <a:miter lim="800000"/>
            </a:ln>
            <a:effectLst/>
          </p:spPr>
          <p:txBody>
            <a:bodyPr rtlCol="0" anchor="ctr"/>
            <a:lstStyle/>
            <a:p>
              <a:pPr algn="ctr"/>
              <a:endParaRPr lang="zh-CN" altLang="en-US" kern="0" dirty="0">
                <a:solidFill>
                  <a:srgbClr val="0070C0"/>
                </a:solidFill>
                <a:latin typeface="微软雅黑" panose="020B0503020204020204" pitchFamily="34" charset="-122"/>
                <a:ea typeface="微软雅黑" panose="020B0503020204020204" pitchFamily="34" charset="-122"/>
                <a:cs typeface="+mn-ea"/>
                <a:sym typeface="汉仪旗黑-55简" panose="00020600040101010101" pitchFamily="18" charset="-122"/>
              </a:endParaRPr>
            </a:p>
          </p:txBody>
        </p:sp>
        <p:sp>
          <p:nvSpPr>
            <p:cNvPr id="102" name="矩形 101">
              <a:extLst>
                <a:ext uri="{FF2B5EF4-FFF2-40B4-BE49-F238E27FC236}">
                  <a16:creationId xmlns:a16="http://schemas.microsoft.com/office/drawing/2014/main" id="{4B880483-AE3E-181A-C12C-4064B8FC0A2A}"/>
                </a:ext>
              </a:extLst>
            </p:cNvPr>
            <p:cNvSpPr/>
            <p:nvPr/>
          </p:nvSpPr>
          <p:spPr>
            <a:xfrm>
              <a:off x="1303697" y="5672986"/>
              <a:ext cx="1683516" cy="264184"/>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添加关键词</a:t>
              </a:r>
            </a:p>
          </p:txBody>
        </p:sp>
      </p:grpSp>
      <p:grpSp>
        <p:nvGrpSpPr>
          <p:cNvPr id="103" name="组合 102">
            <a:extLst>
              <a:ext uri="{FF2B5EF4-FFF2-40B4-BE49-F238E27FC236}">
                <a16:creationId xmlns:a16="http://schemas.microsoft.com/office/drawing/2014/main" id="{BA2F6111-7FBD-AB7F-484D-EE8827EBFA97}"/>
              </a:ext>
            </a:extLst>
          </p:cNvPr>
          <p:cNvGrpSpPr/>
          <p:nvPr/>
        </p:nvGrpSpPr>
        <p:grpSpPr>
          <a:xfrm>
            <a:off x="7124806" y="5856902"/>
            <a:ext cx="2018452" cy="428906"/>
            <a:chOff x="1115772" y="5583852"/>
            <a:chExt cx="2018452" cy="428906"/>
          </a:xfrm>
        </p:grpSpPr>
        <p:sp>
          <p:nvSpPr>
            <p:cNvPr id="104" name="矩形: 圆角 103">
              <a:extLst>
                <a:ext uri="{FF2B5EF4-FFF2-40B4-BE49-F238E27FC236}">
                  <a16:creationId xmlns:a16="http://schemas.microsoft.com/office/drawing/2014/main" id="{065EFFCA-BA49-251A-E756-26CDAEDC3C52}"/>
                </a:ext>
              </a:extLst>
            </p:cNvPr>
            <p:cNvSpPr/>
            <p:nvPr/>
          </p:nvSpPr>
          <p:spPr>
            <a:xfrm>
              <a:off x="1115772" y="5583852"/>
              <a:ext cx="2018452" cy="428906"/>
            </a:xfrm>
            <a:prstGeom prst="roundRect">
              <a:avLst>
                <a:gd name="adj" fmla="val 50000"/>
              </a:avLst>
            </a:prstGeom>
            <a:solidFill>
              <a:schemeClr val="accent3">
                <a:alpha val="8000"/>
              </a:schemeClr>
            </a:solidFill>
            <a:ln w="12700" cap="flat" cmpd="sng" algn="ctr">
              <a:solidFill>
                <a:schemeClr val="accent1"/>
              </a:solidFill>
              <a:prstDash val="solid"/>
              <a:miter lim="800000"/>
            </a:ln>
            <a:effectLst/>
          </p:spPr>
          <p:txBody>
            <a:bodyPr rtlCol="0" anchor="ctr"/>
            <a:lstStyle/>
            <a:p>
              <a:pPr algn="ctr"/>
              <a:endParaRPr lang="zh-CN" altLang="en-US" kern="0" dirty="0">
                <a:solidFill>
                  <a:srgbClr val="0070C0"/>
                </a:solidFill>
                <a:latin typeface="微软雅黑" panose="020B0503020204020204" pitchFamily="34" charset="-122"/>
                <a:ea typeface="微软雅黑" panose="020B0503020204020204" pitchFamily="34" charset="-122"/>
                <a:cs typeface="+mn-ea"/>
                <a:sym typeface="汉仪旗黑-55简" panose="00020600040101010101" pitchFamily="18" charset="-122"/>
              </a:endParaRPr>
            </a:p>
          </p:txBody>
        </p:sp>
        <p:sp>
          <p:nvSpPr>
            <p:cNvPr id="105" name="矩形 104">
              <a:extLst>
                <a:ext uri="{FF2B5EF4-FFF2-40B4-BE49-F238E27FC236}">
                  <a16:creationId xmlns:a16="http://schemas.microsoft.com/office/drawing/2014/main" id="{7F6387E9-B5D5-D645-5B9B-374F158B5954}"/>
                </a:ext>
              </a:extLst>
            </p:cNvPr>
            <p:cNvSpPr/>
            <p:nvPr/>
          </p:nvSpPr>
          <p:spPr>
            <a:xfrm>
              <a:off x="1303697" y="5672986"/>
              <a:ext cx="1683516" cy="264184"/>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添加关键词</a:t>
              </a:r>
            </a:p>
          </p:txBody>
        </p:sp>
      </p:grpSp>
      <p:grpSp>
        <p:nvGrpSpPr>
          <p:cNvPr id="106" name="组合 105">
            <a:extLst>
              <a:ext uri="{FF2B5EF4-FFF2-40B4-BE49-F238E27FC236}">
                <a16:creationId xmlns:a16="http://schemas.microsoft.com/office/drawing/2014/main" id="{A475E780-8FD7-4898-90BB-67EC32A68A84}"/>
              </a:ext>
            </a:extLst>
          </p:cNvPr>
          <p:cNvGrpSpPr/>
          <p:nvPr/>
        </p:nvGrpSpPr>
        <p:grpSpPr>
          <a:xfrm>
            <a:off x="9250046" y="5856902"/>
            <a:ext cx="2018452" cy="428906"/>
            <a:chOff x="1115772" y="5583852"/>
            <a:chExt cx="2018452" cy="428906"/>
          </a:xfrm>
        </p:grpSpPr>
        <p:sp>
          <p:nvSpPr>
            <p:cNvPr id="107" name="矩形: 圆角 106">
              <a:extLst>
                <a:ext uri="{FF2B5EF4-FFF2-40B4-BE49-F238E27FC236}">
                  <a16:creationId xmlns:a16="http://schemas.microsoft.com/office/drawing/2014/main" id="{CE9F11D4-7FC1-8F47-70FE-B2C407AF155A}"/>
                </a:ext>
              </a:extLst>
            </p:cNvPr>
            <p:cNvSpPr/>
            <p:nvPr/>
          </p:nvSpPr>
          <p:spPr>
            <a:xfrm>
              <a:off x="1115772" y="5583852"/>
              <a:ext cx="2018452" cy="428906"/>
            </a:xfrm>
            <a:prstGeom prst="roundRect">
              <a:avLst>
                <a:gd name="adj" fmla="val 50000"/>
              </a:avLst>
            </a:prstGeom>
            <a:solidFill>
              <a:schemeClr val="accent3">
                <a:alpha val="8000"/>
              </a:schemeClr>
            </a:solidFill>
            <a:ln w="12700" cap="flat" cmpd="sng" algn="ctr">
              <a:solidFill>
                <a:schemeClr val="accent1"/>
              </a:solidFill>
              <a:prstDash val="solid"/>
              <a:miter lim="800000"/>
            </a:ln>
            <a:effectLst/>
          </p:spPr>
          <p:txBody>
            <a:bodyPr rtlCol="0" anchor="ctr"/>
            <a:lstStyle/>
            <a:p>
              <a:pPr algn="ctr"/>
              <a:endParaRPr lang="zh-CN" altLang="en-US" kern="0" dirty="0">
                <a:solidFill>
                  <a:srgbClr val="0070C0"/>
                </a:solidFill>
                <a:latin typeface="微软雅黑" panose="020B0503020204020204" pitchFamily="34" charset="-122"/>
                <a:ea typeface="微软雅黑" panose="020B0503020204020204" pitchFamily="34" charset="-122"/>
                <a:cs typeface="+mn-ea"/>
                <a:sym typeface="汉仪旗黑-55简" panose="00020600040101010101" pitchFamily="18" charset="-122"/>
              </a:endParaRPr>
            </a:p>
          </p:txBody>
        </p:sp>
        <p:sp>
          <p:nvSpPr>
            <p:cNvPr id="108" name="矩形 107">
              <a:extLst>
                <a:ext uri="{FF2B5EF4-FFF2-40B4-BE49-F238E27FC236}">
                  <a16:creationId xmlns:a16="http://schemas.microsoft.com/office/drawing/2014/main" id="{51AF8AC4-E4F8-50E9-8B09-B2C11094F0DE}"/>
                </a:ext>
              </a:extLst>
            </p:cNvPr>
            <p:cNvSpPr/>
            <p:nvPr/>
          </p:nvSpPr>
          <p:spPr>
            <a:xfrm>
              <a:off x="1303697" y="5672986"/>
              <a:ext cx="1683516" cy="264184"/>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添加关键词</a:t>
              </a:r>
            </a:p>
          </p:txBody>
        </p:sp>
      </p:grpSp>
      <p:sp>
        <p:nvSpPr>
          <p:cNvPr id="109" name="文本框 108">
            <a:extLst>
              <a:ext uri="{FF2B5EF4-FFF2-40B4-BE49-F238E27FC236}">
                <a16:creationId xmlns:a16="http://schemas.microsoft.com/office/drawing/2014/main" id="{63107852-D247-AB26-F1EE-939D860E703E}"/>
              </a:ext>
            </a:extLst>
          </p:cNvPr>
          <p:cNvSpPr txBox="1"/>
          <p:nvPr/>
        </p:nvSpPr>
        <p:spPr>
          <a:xfrm>
            <a:off x="1554956" y="4894785"/>
            <a:ext cx="8906827" cy="400110"/>
          </a:xfrm>
          <a:prstGeom prst="rect">
            <a:avLst/>
          </a:prstGeom>
          <a:noFill/>
        </p:spPr>
        <p:txBody>
          <a:bodyPr wrap="square">
            <a:spAutoFit/>
          </a:bodyPr>
          <a:lstStyle>
            <a:defPPr>
              <a:defRPr lang="zh-CN"/>
            </a:defPPr>
            <a:lvl1pPr>
              <a:defRPr sz="2000" b="1">
                <a:solidFill>
                  <a:prstClr val="black"/>
                </a:solidFill>
                <a:latin typeface="汉仪旗黑-55简" panose="00020600040101010101" pitchFamily="18" charset="-122"/>
                <a:ea typeface="汉仪旗黑-55简" panose="00020600040101010101" pitchFamily="18" charset="-122"/>
                <a:cs typeface="+mn-ea"/>
              </a:defRPr>
            </a:lvl1pPr>
          </a:lstStyle>
          <a:p>
            <a:r>
              <a:rPr lang="zh-CN" altLang="en-US" dirty="0">
                <a:solidFill>
                  <a:schemeClr val="bg1"/>
                </a:solidFill>
                <a:latin typeface="微软雅黑" panose="020B0503020204020204" pitchFamily="34" charset="-122"/>
                <a:ea typeface="微软雅黑" panose="020B0503020204020204" pitchFamily="34" charset="-122"/>
                <a:sym typeface="汉仪旗黑-55简" panose="00020600040101010101" pitchFamily="18" charset="-122"/>
              </a:rPr>
              <a:t>单击此处输入你的正文，文字是您思想的提炼为了最终演示发布的良好效果。</a:t>
            </a:r>
          </a:p>
        </p:txBody>
      </p:sp>
      <p:sp>
        <p:nvSpPr>
          <p:cNvPr id="2" name="矩形 1">
            <a:extLst>
              <a:ext uri="{FF2B5EF4-FFF2-40B4-BE49-F238E27FC236}">
                <a16:creationId xmlns:a16="http://schemas.microsoft.com/office/drawing/2014/main" id="{6407FED5-018E-6464-B6E8-EE47A84DFEDD}"/>
              </a:ext>
            </a:extLst>
          </p:cNvPr>
          <p:cNvSpPr/>
          <p:nvPr/>
        </p:nvSpPr>
        <p:spPr>
          <a:xfrm>
            <a:off x="0" y="1168400"/>
            <a:ext cx="12192000" cy="5689600"/>
          </a:xfrm>
          <a:prstGeom prst="rect">
            <a:avLst/>
          </a:prstGeom>
          <a:solidFill>
            <a:srgbClr val="FFFFFF"/>
          </a:solidFill>
          <a:ln w="1397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endParaRPr lang="zh-CN" altLang="en-US" sz="100">
              <a:solidFill>
                <a:srgbClr val="052346"/>
              </a:solidFill>
              <a:latin typeface="微软雅黑" panose="020B0503020204020204" pitchFamily="34" charset="-122"/>
            </a:endParaRPr>
          </a:p>
        </p:txBody>
      </p:sp>
      <p:sp>
        <p:nvSpPr>
          <p:cNvPr id="3" name="矩形 2">
            <a:extLst>
              <a:ext uri="{FF2B5EF4-FFF2-40B4-BE49-F238E27FC236}">
                <a16:creationId xmlns:a16="http://schemas.microsoft.com/office/drawing/2014/main" id="{0F56281A-BEB7-D24F-0158-E004E88C12AE}"/>
              </a:ext>
            </a:extLst>
          </p:cNvPr>
          <p:cNvSpPr/>
          <p:nvPr/>
        </p:nvSpPr>
        <p:spPr>
          <a:xfrm>
            <a:off x="698500" y="1473200"/>
            <a:ext cx="10795000" cy="558800"/>
          </a:xfrm>
          <a:prstGeom prst="rect">
            <a:avLst/>
          </a:prstGeom>
          <a:solidFill>
            <a:srgbClr val="0054A0"/>
          </a:solidFill>
          <a:ln w="13970">
            <a:solidFill>
              <a:srgbClr val="0054A0"/>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b="1">
                <a:solidFill>
                  <a:srgbClr val="FFFFFF"/>
                </a:solidFill>
                <a:latin typeface="微软雅黑" panose="020B0503020204020204" pitchFamily="34" charset="-122"/>
              </a:rPr>
              <a:t>平台围绕模型部署、任务运行、结果对比和能力输出组织功能</a:t>
            </a:r>
          </a:p>
        </p:txBody>
      </p:sp>
      <p:sp>
        <p:nvSpPr>
          <p:cNvPr id="4" name="矩形 3">
            <a:extLst>
              <a:ext uri="{FF2B5EF4-FFF2-40B4-BE49-F238E27FC236}">
                <a16:creationId xmlns:a16="http://schemas.microsoft.com/office/drawing/2014/main" id="{6AA8C1CF-A5B9-BE2A-1A68-DA69B2E07AEB}"/>
              </a:ext>
            </a:extLst>
          </p:cNvPr>
          <p:cNvSpPr/>
          <p:nvPr/>
        </p:nvSpPr>
        <p:spPr>
          <a:xfrm>
            <a:off x="762000" y="2413000"/>
            <a:ext cx="2413000" cy="1460500"/>
          </a:xfrm>
          <a:prstGeom prst="rect">
            <a:avLst/>
          </a:prstGeom>
          <a:solidFill>
            <a:srgbClr val="FFFFFF"/>
          </a:solidFill>
          <a:ln w="1397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500" b="1">
                <a:solidFill>
                  <a:srgbClr val="052346"/>
                </a:solidFill>
                <a:latin typeface="微软雅黑" panose="020B0503020204020204" pitchFamily="34" charset="-122"/>
              </a:rPr>
              <a:t>放图：命令中心 </a:t>
            </a:r>
            <a:r>
              <a:rPr lang="en-US" altLang="zh-CN" sz="1500" b="1">
                <a:solidFill>
                  <a:srgbClr val="052346"/>
                </a:solidFill>
                <a:latin typeface="微软雅黑" panose="020B0503020204020204" pitchFamily="34" charset="-122"/>
              </a:rPr>
              <a:t>/ </a:t>
            </a:r>
            <a:r>
              <a:rPr lang="zh-CN" altLang="en-US" sz="1500" b="1">
                <a:solidFill>
                  <a:srgbClr val="052346"/>
                </a:solidFill>
                <a:latin typeface="微软雅黑" panose="020B0503020204020204" pitchFamily="34" charset="-122"/>
              </a:rPr>
              <a:t>首页截图</a:t>
            </a:r>
          </a:p>
        </p:txBody>
      </p:sp>
      <p:sp>
        <p:nvSpPr>
          <p:cNvPr id="5" name="矩形 4">
            <a:extLst>
              <a:ext uri="{FF2B5EF4-FFF2-40B4-BE49-F238E27FC236}">
                <a16:creationId xmlns:a16="http://schemas.microsoft.com/office/drawing/2014/main" id="{3B3285AF-D1FA-FC93-7052-04F03848931E}"/>
              </a:ext>
            </a:extLst>
          </p:cNvPr>
          <p:cNvSpPr/>
          <p:nvPr/>
        </p:nvSpPr>
        <p:spPr>
          <a:xfrm>
            <a:off x="3492500" y="2413000"/>
            <a:ext cx="2413000" cy="1460500"/>
          </a:xfrm>
          <a:prstGeom prst="rect">
            <a:avLst/>
          </a:prstGeom>
          <a:solidFill>
            <a:srgbClr val="FFFFFF"/>
          </a:solidFill>
          <a:ln w="1397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500" b="1">
                <a:solidFill>
                  <a:srgbClr val="052346"/>
                </a:solidFill>
                <a:latin typeface="微软雅黑" panose="020B0503020204020204" pitchFamily="34" charset="-122"/>
              </a:rPr>
              <a:t>放图：任务工作台截图</a:t>
            </a:r>
          </a:p>
        </p:txBody>
      </p:sp>
      <p:sp>
        <p:nvSpPr>
          <p:cNvPr id="6" name="矩形 5">
            <a:extLst>
              <a:ext uri="{FF2B5EF4-FFF2-40B4-BE49-F238E27FC236}">
                <a16:creationId xmlns:a16="http://schemas.microsoft.com/office/drawing/2014/main" id="{23CC6CCE-8FB0-3FF8-029F-CDD9EAB425E4}"/>
              </a:ext>
            </a:extLst>
          </p:cNvPr>
          <p:cNvSpPr/>
          <p:nvPr/>
        </p:nvSpPr>
        <p:spPr>
          <a:xfrm>
            <a:off x="6223000" y="2413000"/>
            <a:ext cx="2413000" cy="1460500"/>
          </a:xfrm>
          <a:prstGeom prst="rect">
            <a:avLst/>
          </a:prstGeom>
          <a:solidFill>
            <a:srgbClr val="FFFFFF"/>
          </a:solidFill>
          <a:ln w="1397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500" b="1">
                <a:solidFill>
                  <a:srgbClr val="052346"/>
                </a:solidFill>
                <a:latin typeface="微软雅黑" panose="020B0503020204020204" pitchFamily="34" charset="-122"/>
              </a:rPr>
              <a:t>放图：样本矩阵 </a:t>
            </a:r>
            <a:r>
              <a:rPr lang="en-US" altLang="zh-CN" sz="1500" b="1">
                <a:solidFill>
                  <a:srgbClr val="052346"/>
                </a:solidFill>
                <a:latin typeface="微软雅黑" panose="020B0503020204020204" pitchFamily="34" charset="-122"/>
              </a:rPr>
              <a:t>/ </a:t>
            </a:r>
            <a:r>
              <a:rPr lang="zh-CN" altLang="en-US" sz="1500" b="1">
                <a:solidFill>
                  <a:srgbClr val="052346"/>
                </a:solidFill>
                <a:latin typeface="微软雅黑" panose="020B0503020204020204" pitchFamily="34" charset="-122"/>
              </a:rPr>
              <a:t>对比截图</a:t>
            </a:r>
          </a:p>
        </p:txBody>
      </p:sp>
      <p:sp>
        <p:nvSpPr>
          <p:cNvPr id="7" name="矩形 6">
            <a:extLst>
              <a:ext uri="{FF2B5EF4-FFF2-40B4-BE49-F238E27FC236}">
                <a16:creationId xmlns:a16="http://schemas.microsoft.com/office/drawing/2014/main" id="{A96E3502-DBC4-0916-D415-AE69D64FE8BB}"/>
              </a:ext>
            </a:extLst>
          </p:cNvPr>
          <p:cNvSpPr/>
          <p:nvPr/>
        </p:nvSpPr>
        <p:spPr>
          <a:xfrm>
            <a:off x="8953500" y="2413000"/>
            <a:ext cx="2413000" cy="1460500"/>
          </a:xfrm>
          <a:prstGeom prst="rect">
            <a:avLst/>
          </a:prstGeom>
          <a:solidFill>
            <a:srgbClr val="FFFFFF"/>
          </a:solidFill>
          <a:ln w="1397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500" b="1">
                <a:solidFill>
                  <a:srgbClr val="052346"/>
                </a:solidFill>
                <a:latin typeface="微软雅黑" panose="020B0503020204020204" pitchFamily="34" charset="-122"/>
              </a:rPr>
              <a:t>放图：模型路线 </a:t>
            </a:r>
            <a:r>
              <a:rPr lang="en-US" altLang="zh-CN" sz="1500" b="1">
                <a:solidFill>
                  <a:srgbClr val="052346"/>
                </a:solidFill>
                <a:latin typeface="微软雅黑" panose="020B0503020204020204" pitchFamily="34" charset="-122"/>
              </a:rPr>
              <a:t>/ </a:t>
            </a:r>
            <a:r>
              <a:rPr lang="zh-CN" altLang="en-US" sz="1500" b="1">
                <a:solidFill>
                  <a:srgbClr val="052346"/>
                </a:solidFill>
                <a:latin typeface="微软雅黑" panose="020B0503020204020204" pitchFamily="34" charset="-122"/>
              </a:rPr>
              <a:t>注册截图</a:t>
            </a:r>
          </a:p>
        </p:txBody>
      </p:sp>
      <p:sp>
        <p:nvSpPr>
          <p:cNvPr id="8" name="矩形 7">
            <a:extLst>
              <a:ext uri="{FF2B5EF4-FFF2-40B4-BE49-F238E27FC236}">
                <a16:creationId xmlns:a16="http://schemas.microsoft.com/office/drawing/2014/main" id="{5D4DD416-DDFF-4C2B-EF8B-7BD5DF30A5A1}"/>
              </a:ext>
            </a:extLst>
          </p:cNvPr>
          <p:cNvSpPr/>
          <p:nvPr/>
        </p:nvSpPr>
        <p:spPr>
          <a:xfrm>
            <a:off x="762000" y="4013200"/>
            <a:ext cx="2413000" cy="1041400"/>
          </a:xfrm>
          <a:prstGeom prst="rect">
            <a:avLst/>
          </a:prstGeom>
          <a:solidFill>
            <a:srgbClr val="E8F1FA"/>
          </a:solidFill>
          <a:ln w="1397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400" b="1">
                <a:solidFill>
                  <a:srgbClr val="052346"/>
                </a:solidFill>
                <a:latin typeface="微软雅黑" panose="020B0503020204020204" pitchFamily="34" charset="-122"/>
              </a:rPr>
              <a:t>命令中心
</a:t>
            </a:r>
            <a:r>
              <a:rPr lang="en-US" altLang="zh-CN" sz="1400" b="1">
                <a:solidFill>
                  <a:srgbClr val="052346"/>
                </a:solidFill>
                <a:latin typeface="微软雅黑" panose="020B0503020204020204" pitchFamily="34" charset="-122"/>
              </a:rPr>
              <a:t>【</a:t>
            </a:r>
            <a:r>
              <a:rPr lang="zh-CN" altLang="en-US" sz="1400" b="1">
                <a:solidFill>
                  <a:srgbClr val="052346"/>
                </a:solidFill>
                <a:latin typeface="微软雅黑" panose="020B0503020204020204" pitchFamily="34" charset="-122"/>
              </a:rPr>
              <a:t>填 </a:t>
            </a:r>
            <a:r>
              <a:rPr lang="en-US" altLang="zh-CN" sz="1400" b="1">
                <a:solidFill>
                  <a:srgbClr val="052346"/>
                </a:solidFill>
                <a:latin typeface="微软雅黑" panose="020B0503020204020204" pitchFamily="34" charset="-122"/>
              </a:rPr>
              <a:t>2-3 </a:t>
            </a:r>
            <a:r>
              <a:rPr lang="zh-CN" altLang="en-US" sz="1400" b="1">
                <a:solidFill>
                  <a:srgbClr val="052346"/>
                </a:solidFill>
                <a:latin typeface="微软雅黑" panose="020B0503020204020204" pitchFamily="34" charset="-122"/>
              </a:rPr>
              <a:t>个功能点</a:t>
            </a:r>
            <a:r>
              <a:rPr lang="en-US" altLang="zh-CN" sz="1400" b="1">
                <a:solidFill>
                  <a:srgbClr val="052346"/>
                </a:solidFill>
                <a:latin typeface="微软雅黑" panose="020B0503020204020204" pitchFamily="34" charset="-122"/>
              </a:rPr>
              <a:t>】</a:t>
            </a:r>
            <a:endParaRPr lang="zh-CN" altLang="en-US" sz="1400" b="1">
              <a:solidFill>
                <a:srgbClr val="052346"/>
              </a:solidFill>
              <a:latin typeface="微软雅黑" panose="020B0503020204020204" pitchFamily="34" charset="-122"/>
            </a:endParaRPr>
          </a:p>
        </p:txBody>
      </p:sp>
      <p:sp>
        <p:nvSpPr>
          <p:cNvPr id="9" name="矩形 8">
            <a:extLst>
              <a:ext uri="{FF2B5EF4-FFF2-40B4-BE49-F238E27FC236}">
                <a16:creationId xmlns:a16="http://schemas.microsoft.com/office/drawing/2014/main" id="{E4D3BD8F-F24E-4052-5161-A950BEBFB8C8}"/>
              </a:ext>
            </a:extLst>
          </p:cNvPr>
          <p:cNvSpPr/>
          <p:nvPr/>
        </p:nvSpPr>
        <p:spPr>
          <a:xfrm>
            <a:off x="3492500" y="4013200"/>
            <a:ext cx="2413000" cy="1041400"/>
          </a:xfrm>
          <a:prstGeom prst="rect">
            <a:avLst/>
          </a:prstGeom>
          <a:solidFill>
            <a:srgbClr val="E8F1FA"/>
          </a:solidFill>
          <a:ln w="1397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400" b="1">
                <a:solidFill>
                  <a:srgbClr val="052346"/>
                </a:solidFill>
                <a:latin typeface="微软雅黑" panose="020B0503020204020204" pitchFamily="34" charset="-122"/>
              </a:rPr>
              <a:t>任务工作台
</a:t>
            </a:r>
            <a:r>
              <a:rPr lang="en-US" altLang="zh-CN" sz="1400" b="1">
                <a:solidFill>
                  <a:srgbClr val="052346"/>
                </a:solidFill>
                <a:latin typeface="微软雅黑" panose="020B0503020204020204" pitchFamily="34" charset="-122"/>
              </a:rPr>
              <a:t>【</a:t>
            </a:r>
            <a:r>
              <a:rPr lang="zh-CN" altLang="en-US" sz="1400" b="1">
                <a:solidFill>
                  <a:srgbClr val="052346"/>
                </a:solidFill>
                <a:latin typeface="微软雅黑" panose="020B0503020204020204" pitchFamily="34" charset="-122"/>
              </a:rPr>
              <a:t>填 </a:t>
            </a:r>
            <a:r>
              <a:rPr lang="en-US" altLang="zh-CN" sz="1400" b="1">
                <a:solidFill>
                  <a:srgbClr val="052346"/>
                </a:solidFill>
                <a:latin typeface="微软雅黑" panose="020B0503020204020204" pitchFamily="34" charset="-122"/>
              </a:rPr>
              <a:t>2-3 </a:t>
            </a:r>
            <a:r>
              <a:rPr lang="zh-CN" altLang="en-US" sz="1400" b="1">
                <a:solidFill>
                  <a:srgbClr val="052346"/>
                </a:solidFill>
                <a:latin typeface="微软雅黑" panose="020B0503020204020204" pitchFamily="34" charset="-122"/>
              </a:rPr>
              <a:t>个功能点</a:t>
            </a:r>
            <a:r>
              <a:rPr lang="en-US" altLang="zh-CN" sz="1400" b="1">
                <a:solidFill>
                  <a:srgbClr val="052346"/>
                </a:solidFill>
                <a:latin typeface="微软雅黑" panose="020B0503020204020204" pitchFamily="34" charset="-122"/>
              </a:rPr>
              <a:t>】</a:t>
            </a:r>
            <a:endParaRPr lang="zh-CN" altLang="en-US" sz="1400" b="1">
              <a:solidFill>
                <a:srgbClr val="052346"/>
              </a:solidFill>
              <a:latin typeface="微软雅黑" panose="020B0503020204020204" pitchFamily="34" charset="-122"/>
            </a:endParaRPr>
          </a:p>
        </p:txBody>
      </p:sp>
      <p:sp>
        <p:nvSpPr>
          <p:cNvPr id="10" name="矩形 9">
            <a:extLst>
              <a:ext uri="{FF2B5EF4-FFF2-40B4-BE49-F238E27FC236}">
                <a16:creationId xmlns:a16="http://schemas.microsoft.com/office/drawing/2014/main" id="{8AA7DB4A-855C-3AB0-0B63-05EA2AAD83EE}"/>
              </a:ext>
            </a:extLst>
          </p:cNvPr>
          <p:cNvSpPr/>
          <p:nvPr/>
        </p:nvSpPr>
        <p:spPr>
          <a:xfrm>
            <a:off x="6223000" y="4013200"/>
            <a:ext cx="2413000" cy="1041400"/>
          </a:xfrm>
          <a:prstGeom prst="rect">
            <a:avLst/>
          </a:prstGeom>
          <a:solidFill>
            <a:srgbClr val="E8F1FA"/>
          </a:solidFill>
          <a:ln w="1397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400" b="1">
                <a:solidFill>
                  <a:srgbClr val="052346"/>
                </a:solidFill>
                <a:latin typeface="微软雅黑" panose="020B0503020204020204" pitchFamily="34" charset="-122"/>
              </a:rPr>
              <a:t>样本矩阵
</a:t>
            </a:r>
            <a:r>
              <a:rPr lang="en-US" altLang="zh-CN" sz="1400" b="1">
                <a:solidFill>
                  <a:srgbClr val="052346"/>
                </a:solidFill>
                <a:latin typeface="微软雅黑" panose="020B0503020204020204" pitchFamily="34" charset="-122"/>
              </a:rPr>
              <a:t>【</a:t>
            </a:r>
            <a:r>
              <a:rPr lang="zh-CN" altLang="en-US" sz="1400" b="1">
                <a:solidFill>
                  <a:srgbClr val="052346"/>
                </a:solidFill>
                <a:latin typeface="微软雅黑" panose="020B0503020204020204" pitchFamily="34" charset="-122"/>
              </a:rPr>
              <a:t>填 </a:t>
            </a:r>
            <a:r>
              <a:rPr lang="en-US" altLang="zh-CN" sz="1400" b="1">
                <a:solidFill>
                  <a:srgbClr val="052346"/>
                </a:solidFill>
                <a:latin typeface="微软雅黑" panose="020B0503020204020204" pitchFamily="34" charset="-122"/>
              </a:rPr>
              <a:t>2-3 </a:t>
            </a:r>
            <a:r>
              <a:rPr lang="zh-CN" altLang="en-US" sz="1400" b="1">
                <a:solidFill>
                  <a:srgbClr val="052346"/>
                </a:solidFill>
                <a:latin typeface="微软雅黑" panose="020B0503020204020204" pitchFamily="34" charset="-122"/>
              </a:rPr>
              <a:t>个功能点</a:t>
            </a:r>
            <a:r>
              <a:rPr lang="en-US" altLang="zh-CN" sz="1400" b="1">
                <a:solidFill>
                  <a:srgbClr val="052346"/>
                </a:solidFill>
                <a:latin typeface="微软雅黑" panose="020B0503020204020204" pitchFamily="34" charset="-122"/>
              </a:rPr>
              <a:t>】</a:t>
            </a:r>
            <a:endParaRPr lang="zh-CN" altLang="en-US" sz="1400" b="1">
              <a:solidFill>
                <a:srgbClr val="052346"/>
              </a:solidFill>
              <a:latin typeface="微软雅黑" panose="020B0503020204020204" pitchFamily="34" charset="-122"/>
            </a:endParaRPr>
          </a:p>
        </p:txBody>
      </p:sp>
      <p:sp>
        <p:nvSpPr>
          <p:cNvPr id="11" name="矩形 10">
            <a:extLst>
              <a:ext uri="{FF2B5EF4-FFF2-40B4-BE49-F238E27FC236}">
                <a16:creationId xmlns:a16="http://schemas.microsoft.com/office/drawing/2014/main" id="{D06E44D6-765E-22FA-5F7D-56AD776E61BA}"/>
              </a:ext>
            </a:extLst>
          </p:cNvPr>
          <p:cNvSpPr/>
          <p:nvPr/>
        </p:nvSpPr>
        <p:spPr>
          <a:xfrm>
            <a:off x="8953500" y="4013200"/>
            <a:ext cx="2413000" cy="1041400"/>
          </a:xfrm>
          <a:prstGeom prst="rect">
            <a:avLst/>
          </a:prstGeom>
          <a:solidFill>
            <a:srgbClr val="E8F1FA"/>
          </a:solidFill>
          <a:ln w="1397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400" b="1">
                <a:solidFill>
                  <a:srgbClr val="052346"/>
                </a:solidFill>
                <a:latin typeface="微软雅黑" panose="020B0503020204020204" pitchFamily="34" charset="-122"/>
              </a:rPr>
              <a:t>模型注册与输出
</a:t>
            </a:r>
            <a:r>
              <a:rPr lang="en-US" altLang="zh-CN" sz="1400" b="1">
                <a:solidFill>
                  <a:srgbClr val="052346"/>
                </a:solidFill>
                <a:latin typeface="微软雅黑" panose="020B0503020204020204" pitchFamily="34" charset="-122"/>
              </a:rPr>
              <a:t>【</a:t>
            </a:r>
            <a:r>
              <a:rPr lang="zh-CN" altLang="en-US" sz="1400" b="1">
                <a:solidFill>
                  <a:srgbClr val="052346"/>
                </a:solidFill>
                <a:latin typeface="微软雅黑" panose="020B0503020204020204" pitchFamily="34" charset="-122"/>
              </a:rPr>
              <a:t>填 </a:t>
            </a:r>
            <a:r>
              <a:rPr lang="en-US" altLang="zh-CN" sz="1400" b="1">
                <a:solidFill>
                  <a:srgbClr val="052346"/>
                </a:solidFill>
                <a:latin typeface="微软雅黑" panose="020B0503020204020204" pitchFamily="34" charset="-122"/>
              </a:rPr>
              <a:t>2-3 </a:t>
            </a:r>
            <a:r>
              <a:rPr lang="zh-CN" altLang="en-US" sz="1400" b="1">
                <a:solidFill>
                  <a:srgbClr val="052346"/>
                </a:solidFill>
                <a:latin typeface="微软雅黑" panose="020B0503020204020204" pitchFamily="34" charset="-122"/>
              </a:rPr>
              <a:t>个功能点</a:t>
            </a:r>
            <a:r>
              <a:rPr lang="en-US" altLang="zh-CN" sz="1400" b="1">
                <a:solidFill>
                  <a:srgbClr val="052346"/>
                </a:solidFill>
                <a:latin typeface="微软雅黑" panose="020B0503020204020204" pitchFamily="34" charset="-122"/>
              </a:rPr>
              <a:t>】</a:t>
            </a:r>
            <a:endParaRPr lang="zh-CN" altLang="en-US" sz="1400" b="1">
              <a:solidFill>
                <a:srgbClr val="052346"/>
              </a:solidFill>
              <a:latin typeface="微软雅黑" panose="020B0503020204020204" pitchFamily="34" charset="-122"/>
            </a:endParaRPr>
          </a:p>
        </p:txBody>
      </p:sp>
      <p:sp>
        <p:nvSpPr>
          <p:cNvPr id="12" name="矩形 11">
            <a:extLst>
              <a:ext uri="{FF2B5EF4-FFF2-40B4-BE49-F238E27FC236}">
                <a16:creationId xmlns:a16="http://schemas.microsoft.com/office/drawing/2014/main" id="{0D740744-637C-67BA-71F5-B0CFA3EA5FC6}"/>
              </a:ext>
            </a:extLst>
          </p:cNvPr>
          <p:cNvSpPr/>
          <p:nvPr/>
        </p:nvSpPr>
        <p:spPr>
          <a:xfrm>
            <a:off x="1397000" y="5588000"/>
            <a:ext cx="9398000" cy="609600"/>
          </a:xfrm>
          <a:prstGeom prst="rect">
            <a:avLst/>
          </a:prstGeom>
          <a:solidFill>
            <a:srgbClr val="E8F1FA"/>
          </a:solidFill>
          <a:ln w="1397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en-US" altLang="zh-CN" sz="1700" b="1">
                <a:solidFill>
                  <a:srgbClr val="052346"/>
                </a:solidFill>
                <a:latin typeface="微软雅黑" panose="020B0503020204020204" pitchFamily="34" charset="-122"/>
              </a:rPr>
              <a:t>【</a:t>
            </a:r>
            <a:r>
              <a:rPr lang="zh-CN" altLang="en-US" sz="1700" b="1">
                <a:solidFill>
                  <a:srgbClr val="052346"/>
                </a:solidFill>
                <a:latin typeface="微软雅黑" panose="020B0503020204020204" pitchFamily="34" charset="-122"/>
              </a:rPr>
              <a:t>底部主句</a:t>
            </a:r>
            <a:r>
              <a:rPr lang="en-US" altLang="zh-CN" sz="1700" b="1">
                <a:solidFill>
                  <a:srgbClr val="052346"/>
                </a:solidFill>
                <a:latin typeface="微软雅黑" panose="020B0503020204020204" pitchFamily="34" charset="-122"/>
              </a:rPr>
              <a:t>】</a:t>
            </a:r>
            <a:r>
              <a:rPr lang="zh-CN" altLang="en-US" sz="1700" b="1">
                <a:solidFill>
                  <a:srgbClr val="052346"/>
                </a:solidFill>
                <a:latin typeface="微软雅黑" panose="020B0503020204020204" pitchFamily="34" charset="-122"/>
              </a:rPr>
              <a:t>把模型部署、远端运行、日志查看和结果回传统一到一个入口。</a:t>
            </a:r>
          </a:p>
        </p:txBody>
      </p:sp>
    </p:spTree>
    <p:extLst>
      <p:ext uri="{BB962C8B-B14F-4D97-AF65-F5344CB8AC3E}">
        <p14:creationId xmlns:p14="http://schemas.microsoft.com/office/powerpoint/2010/main" val="3329859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200FB-E7F6-9EDF-7A42-552B3168F012}"/>
            </a:ext>
          </a:extLst>
        </p:cNvPr>
        <p:cNvGrpSpPr/>
        <p:nvPr/>
      </p:nvGrpSpPr>
      <p:grpSpPr>
        <a:xfrm>
          <a:off x="0" y="0"/>
          <a:ext cx="0" cy="0"/>
          <a:chOff x="0" y="0"/>
          <a:chExt cx="0" cy="0"/>
        </a:xfrm>
      </p:grpSpPr>
      <p:sp>
        <p:nvSpPr>
          <p:cNvPr id="90" name="文本框 89">
            <a:extLst>
              <a:ext uri="{FF2B5EF4-FFF2-40B4-BE49-F238E27FC236}">
                <a16:creationId xmlns:a16="http://schemas.microsoft.com/office/drawing/2014/main" id="{A16A27DE-0CC3-E2DF-043F-108E3E31018F}"/>
              </a:ext>
            </a:extLst>
          </p:cNvPr>
          <p:cNvSpPr txBox="1"/>
          <p:nvPr/>
        </p:nvSpPr>
        <p:spPr>
          <a:xfrm>
            <a:off x="115452" y="243436"/>
            <a:ext cx="772964" cy="369332"/>
          </a:xfrm>
          <a:prstGeom prst="rect">
            <a:avLst/>
          </a:prstGeom>
          <a:noFill/>
        </p:spPr>
        <p:txBody>
          <a:bodyPr wrap="square" rtlCol="0">
            <a:spAutoFit/>
          </a:bodyPr>
          <a:lstStyle/>
          <a:p>
            <a:pPr algn="ctr"/>
            <a:r>
              <a:rPr lang="en-US" altLang="zh-CN" b="1">
                <a:solidFill>
                  <a:schemeClr val="bg1"/>
                </a:solidFill>
                <a:latin typeface="微软雅黑" panose="020B0503020204020204" pitchFamily="34" charset="-122"/>
              </a:rPr>
              <a:t>2.2</a:t>
            </a:r>
            <a:endParaRPr lang="zh-CN" altLang="en-US" b="1" dirty="0">
              <a:solidFill>
                <a:schemeClr val="bg1"/>
              </a:solidFill>
              <a:latin typeface="微软雅黑" panose="020B0503020204020204" pitchFamily="34" charset="-122"/>
            </a:endParaRPr>
          </a:p>
        </p:txBody>
      </p:sp>
      <p:sp>
        <p:nvSpPr>
          <p:cNvPr id="92" name="文本框 91">
            <a:extLst>
              <a:ext uri="{FF2B5EF4-FFF2-40B4-BE49-F238E27FC236}">
                <a16:creationId xmlns:a16="http://schemas.microsoft.com/office/drawing/2014/main" id="{3FAA32E8-1BA4-370D-93AB-7CBC6F780926}"/>
              </a:ext>
            </a:extLst>
          </p:cNvPr>
          <p:cNvSpPr txBox="1"/>
          <p:nvPr/>
        </p:nvSpPr>
        <p:spPr>
          <a:xfrm>
            <a:off x="946461" y="269201"/>
            <a:ext cx="6440714" cy="492443"/>
          </a:xfrm>
          <a:prstGeom prst="rect">
            <a:avLst/>
          </a:prstGeom>
          <a:noFill/>
        </p:spPr>
        <p:txBody>
          <a:bodyPr wrap="square">
            <a:spAutoFit/>
          </a:bodyPr>
          <a:lstStyle/>
          <a:p>
            <a:r>
              <a:rPr lang="zh-CN" altLang="en-US" sz="2600" b="1">
                <a:solidFill>
                  <a:schemeClr val="accent1"/>
                </a:solidFill>
                <a:latin typeface="微软雅黑" panose="020B0503020204020204" pitchFamily="34" charset="-122"/>
              </a:rPr>
              <a:t>技术架构</a:t>
            </a:r>
            <a:endParaRPr lang="zh-CN" altLang="en-US" sz="2600" b="1" dirty="0">
              <a:solidFill>
                <a:schemeClr val="accent1"/>
              </a:solidFill>
              <a:latin typeface="微软雅黑" panose="020B0503020204020204" pitchFamily="34" charset="-122"/>
            </a:endParaRPr>
          </a:p>
        </p:txBody>
      </p:sp>
      <p:sp>
        <p:nvSpPr>
          <p:cNvPr id="8" name="矩形: 圆角 7">
            <a:extLst>
              <a:ext uri="{FF2B5EF4-FFF2-40B4-BE49-F238E27FC236}">
                <a16:creationId xmlns:a16="http://schemas.microsoft.com/office/drawing/2014/main" id="{8B0C900E-EE19-3EC2-4408-C9195BC0D313}"/>
              </a:ext>
            </a:extLst>
          </p:cNvPr>
          <p:cNvSpPr/>
          <p:nvPr/>
        </p:nvSpPr>
        <p:spPr>
          <a:xfrm>
            <a:off x="460262" y="1154391"/>
            <a:ext cx="3217658" cy="2447925"/>
          </a:xfrm>
          <a:prstGeom prst="roundRect">
            <a:avLst>
              <a:gd name="adj" fmla="val 1200"/>
            </a:avLst>
          </a:prstGeom>
          <a:solidFill>
            <a:schemeClr val="bg1"/>
          </a:solidFill>
          <a:ln w="3175" cap="flat" cmpd="sng" algn="ctr">
            <a:solidFill>
              <a:schemeClr val="accent1"/>
            </a:solidFill>
            <a:prstDash val="solid"/>
            <a:miter lim="800000"/>
          </a:ln>
          <a:effectLst>
            <a:outerShdw blurRad="266700" dist="215900" dir="8100000" algn="tr" rotWithShape="0">
              <a:schemeClr val="accent2">
                <a:lumMod val="50000"/>
                <a:alpha val="8000"/>
              </a:schemeClr>
            </a:outerShdw>
          </a:effectLst>
        </p:spPr>
        <p:txBody>
          <a:bodyPr rtlCol="0" anchor="ctr"/>
          <a:lstStyle/>
          <a:p>
            <a:pPr algn="ctr"/>
            <a:endParaRPr lang="zh-CN" altLang="en-US" kern="0" dirty="0">
              <a:solidFill>
                <a:srgbClr val="0B4FA1"/>
              </a:solidFill>
              <a:latin typeface="Arial" panose="020B0604020202020204" pitchFamily="34" charset="0"/>
              <a:ea typeface="微软雅黑" panose="020B0503020204020204" pitchFamily="34" charset="-122"/>
            </a:endParaRPr>
          </a:p>
        </p:txBody>
      </p:sp>
      <p:sp>
        <p:nvSpPr>
          <p:cNvPr id="9" name="矩形: 圆角 8">
            <a:extLst>
              <a:ext uri="{FF2B5EF4-FFF2-40B4-BE49-F238E27FC236}">
                <a16:creationId xmlns:a16="http://schemas.microsoft.com/office/drawing/2014/main" id="{D9ACB5EF-E4B1-5042-609C-A27EC6DEFCAC}"/>
              </a:ext>
            </a:extLst>
          </p:cNvPr>
          <p:cNvSpPr/>
          <p:nvPr/>
        </p:nvSpPr>
        <p:spPr>
          <a:xfrm>
            <a:off x="460262" y="1154391"/>
            <a:ext cx="3217657" cy="529971"/>
          </a:xfrm>
          <a:prstGeom prst="roundRect">
            <a:avLst>
              <a:gd name="adj" fmla="val 7616"/>
            </a:avLst>
          </a:prstGeom>
          <a:gradFill>
            <a:gsLst>
              <a:gs pos="0">
                <a:schemeClr val="accent2">
                  <a:lumMod val="50000"/>
                </a:schemeClr>
              </a:gs>
              <a:gs pos="57000">
                <a:schemeClr val="accent1"/>
              </a:gs>
            </a:gsLst>
            <a:lin ang="10800000" scaled="1"/>
          </a:gradFill>
          <a:ln w="19050" cap="flat" cmpd="sng" algn="ctr">
            <a:noFill/>
            <a:prstDash val="solid"/>
            <a:miter lim="800000"/>
          </a:ln>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10" name="文本框 9">
            <a:extLst>
              <a:ext uri="{FF2B5EF4-FFF2-40B4-BE49-F238E27FC236}">
                <a16:creationId xmlns:a16="http://schemas.microsoft.com/office/drawing/2014/main" id="{552C00E2-4A63-7FD5-98E6-0E5CE0880690}"/>
              </a:ext>
            </a:extLst>
          </p:cNvPr>
          <p:cNvSpPr txBox="1"/>
          <p:nvPr/>
        </p:nvSpPr>
        <p:spPr>
          <a:xfrm>
            <a:off x="527206" y="1203933"/>
            <a:ext cx="3083768" cy="430887"/>
          </a:xfrm>
          <a:prstGeom prst="rect">
            <a:avLst/>
          </a:prstGeom>
          <a:noFill/>
        </p:spPr>
        <p:txBody>
          <a:bodyPr wrap="square">
            <a:spAutoFit/>
          </a:bodyPr>
          <a:lstStyle/>
          <a:p>
            <a:pPr algn="ctr"/>
            <a:r>
              <a:rPr lang="zh-CN" altLang="en-US" sz="2200" b="1" dirty="0">
                <a:solidFill>
                  <a:prstClr val="white"/>
                </a:solidFill>
                <a:effectLst>
                  <a:outerShdw blurRad="50800" dist="38100" dir="5400000" algn="t" rotWithShape="0">
                    <a:srgbClr val="0B4FA1">
                      <a:lumMod val="75000"/>
                      <a:alpha val="40000"/>
                    </a:srgbClr>
                  </a:outerShdw>
                </a:effectLst>
                <a:latin typeface="微软雅黑" panose="020B0503020204020204" pitchFamily="34" charset="-122"/>
                <a:ea typeface="微软雅黑" panose="020B0503020204020204" pitchFamily="34" charset="-122"/>
              </a:rPr>
              <a:t>研究热点</a:t>
            </a:r>
            <a:r>
              <a:rPr lang="en-US" altLang="zh-CN" sz="2200" b="1" dirty="0">
                <a:solidFill>
                  <a:prstClr val="white"/>
                </a:solidFill>
                <a:effectLst>
                  <a:outerShdw blurRad="50800" dist="38100" dir="5400000" algn="t" rotWithShape="0">
                    <a:srgbClr val="0B4FA1">
                      <a:lumMod val="75000"/>
                      <a:alpha val="40000"/>
                    </a:srgbClr>
                  </a:outerShdw>
                </a:effectLst>
                <a:latin typeface="微软雅黑" panose="020B0503020204020204" pitchFamily="34" charset="-122"/>
                <a:ea typeface="微软雅黑" panose="020B0503020204020204" pitchFamily="34" charset="-122"/>
              </a:rPr>
              <a:t>1</a:t>
            </a:r>
            <a:endParaRPr lang="zh-CN" altLang="en-US" sz="2200" b="1" dirty="0">
              <a:solidFill>
                <a:prstClr val="white"/>
              </a:solidFill>
              <a:effectLst>
                <a:outerShdw blurRad="50800" dist="38100" dir="5400000" algn="t" rotWithShape="0">
                  <a:srgbClr val="0B4FA1">
                    <a:lumMod val="75000"/>
                    <a:alpha val="40000"/>
                  </a:srgbClr>
                </a:outerShdw>
              </a:effectLst>
              <a:latin typeface="微软雅黑" panose="020B0503020204020204" pitchFamily="34" charset="-122"/>
              <a:ea typeface="微软雅黑" panose="020B0503020204020204" pitchFamily="34" charset="-122"/>
            </a:endParaRPr>
          </a:p>
        </p:txBody>
      </p:sp>
      <p:sp>
        <p:nvSpPr>
          <p:cNvPr id="11" name="矩形: 圆角 10">
            <a:extLst>
              <a:ext uri="{FF2B5EF4-FFF2-40B4-BE49-F238E27FC236}">
                <a16:creationId xmlns:a16="http://schemas.microsoft.com/office/drawing/2014/main" id="{211598F8-3FE7-27BD-63DE-74CC285E1FEB}"/>
              </a:ext>
            </a:extLst>
          </p:cNvPr>
          <p:cNvSpPr/>
          <p:nvPr/>
        </p:nvSpPr>
        <p:spPr>
          <a:xfrm>
            <a:off x="4487171" y="1154391"/>
            <a:ext cx="3217658" cy="2447925"/>
          </a:xfrm>
          <a:prstGeom prst="roundRect">
            <a:avLst>
              <a:gd name="adj" fmla="val 1200"/>
            </a:avLst>
          </a:prstGeom>
          <a:solidFill>
            <a:schemeClr val="bg1"/>
          </a:solidFill>
          <a:ln w="3175" cap="flat" cmpd="sng" algn="ctr">
            <a:solidFill>
              <a:schemeClr val="accent1"/>
            </a:solidFill>
            <a:prstDash val="solid"/>
            <a:miter lim="800000"/>
          </a:ln>
          <a:effectLst>
            <a:outerShdw blurRad="266700" dist="215900" dir="8100000" algn="tr" rotWithShape="0">
              <a:schemeClr val="accent2">
                <a:lumMod val="50000"/>
                <a:alpha val="8000"/>
              </a:schemeClr>
            </a:outerShdw>
          </a:effectLst>
        </p:spPr>
        <p:txBody>
          <a:bodyPr rtlCol="0" anchor="ctr"/>
          <a:lstStyle/>
          <a:p>
            <a:pPr algn="ctr"/>
            <a:endParaRPr lang="zh-CN" altLang="en-US" kern="0" dirty="0">
              <a:solidFill>
                <a:srgbClr val="0B4FA1"/>
              </a:solidFill>
              <a:latin typeface="Arial" panose="020B0604020202020204" pitchFamily="34" charset="0"/>
              <a:ea typeface="微软雅黑" panose="020B0503020204020204" pitchFamily="34" charset="-122"/>
            </a:endParaRPr>
          </a:p>
        </p:txBody>
      </p:sp>
      <p:sp>
        <p:nvSpPr>
          <p:cNvPr id="12" name="矩形: 圆角 11">
            <a:extLst>
              <a:ext uri="{FF2B5EF4-FFF2-40B4-BE49-F238E27FC236}">
                <a16:creationId xmlns:a16="http://schemas.microsoft.com/office/drawing/2014/main" id="{77631436-E87F-24A5-9B0B-27D2B1821549}"/>
              </a:ext>
            </a:extLst>
          </p:cNvPr>
          <p:cNvSpPr/>
          <p:nvPr/>
        </p:nvSpPr>
        <p:spPr>
          <a:xfrm>
            <a:off x="4487171" y="1154391"/>
            <a:ext cx="3217657" cy="529971"/>
          </a:xfrm>
          <a:prstGeom prst="roundRect">
            <a:avLst>
              <a:gd name="adj" fmla="val 7616"/>
            </a:avLst>
          </a:prstGeom>
          <a:gradFill>
            <a:gsLst>
              <a:gs pos="0">
                <a:schemeClr val="accent2">
                  <a:lumMod val="50000"/>
                </a:schemeClr>
              </a:gs>
              <a:gs pos="57000">
                <a:schemeClr val="accent1"/>
              </a:gs>
            </a:gsLst>
            <a:lin ang="10800000" scaled="1"/>
          </a:gradFill>
          <a:ln w="19050" cap="flat" cmpd="sng" algn="ctr">
            <a:noFill/>
            <a:prstDash val="solid"/>
            <a:miter lim="800000"/>
          </a:ln>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13" name="矩形: 圆角 12">
            <a:extLst>
              <a:ext uri="{FF2B5EF4-FFF2-40B4-BE49-F238E27FC236}">
                <a16:creationId xmlns:a16="http://schemas.microsoft.com/office/drawing/2014/main" id="{FAD95176-9A19-2F09-A416-0A126A53CC4C}"/>
              </a:ext>
            </a:extLst>
          </p:cNvPr>
          <p:cNvSpPr/>
          <p:nvPr/>
        </p:nvSpPr>
        <p:spPr>
          <a:xfrm>
            <a:off x="8514080" y="1154391"/>
            <a:ext cx="3217658" cy="2447925"/>
          </a:xfrm>
          <a:prstGeom prst="roundRect">
            <a:avLst>
              <a:gd name="adj" fmla="val 1200"/>
            </a:avLst>
          </a:prstGeom>
          <a:solidFill>
            <a:schemeClr val="bg1"/>
          </a:solidFill>
          <a:ln w="3175" cap="flat" cmpd="sng" algn="ctr">
            <a:solidFill>
              <a:schemeClr val="accent1"/>
            </a:solidFill>
            <a:prstDash val="solid"/>
            <a:miter lim="800000"/>
          </a:ln>
          <a:effectLst>
            <a:outerShdw blurRad="266700" dist="215900" dir="8100000" algn="tr" rotWithShape="0">
              <a:schemeClr val="accent2">
                <a:lumMod val="50000"/>
                <a:alpha val="8000"/>
              </a:schemeClr>
            </a:outerShdw>
          </a:effectLst>
        </p:spPr>
        <p:txBody>
          <a:bodyPr rtlCol="0" anchor="ctr"/>
          <a:lstStyle/>
          <a:p>
            <a:pPr algn="ctr"/>
            <a:endParaRPr lang="zh-CN" altLang="en-US" kern="0" dirty="0">
              <a:solidFill>
                <a:srgbClr val="0B4FA1"/>
              </a:solidFill>
              <a:latin typeface="Arial" panose="020B0604020202020204" pitchFamily="34" charset="0"/>
              <a:ea typeface="微软雅黑" panose="020B0503020204020204" pitchFamily="34" charset="-122"/>
            </a:endParaRPr>
          </a:p>
        </p:txBody>
      </p:sp>
      <p:sp>
        <p:nvSpPr>
          <p:cNvPr id="14" name="矩形: 圆角 13">
            <a:extLst>
              <a:ext uri="{FF2B5EF4-FFF2-40B4-BE49-F238E27FC236}">
                <a16:creationId xmlns:a16="http://schemas.microsoft.com/office/drawing/2014/main" id="{0463FAA0-A598-B9F6-2ABD-BEB9C89E0A03}"/>
              </a:ext>
            </a:extLst>
          </p:cNvPr>
          <p:cNvSpPr/>
          <p:nvPr/>
        </p:nvSpPr>
        <p:spPr>
          <a:xfrm>
            <a:off x="8514080" y="1154391"/>
            <a:ext cx="3217657" cy="529971"/>
          </a:xfrm>
          <a:prstGeom prst="roundRect">
            <a:avLst>
              <a:gd name="adj" fmla="val 7616"/>
            </a:avLst>
          </a:prstGeom>
          <a:gradFill>
            <a:gsLst>
              <a:gs pos="0">
                <a:schemeClr val="accent2">
                  <a:lumMod val="50000"/>
                </a:schemeClr>
              </a:gs>
              <a:gs pos="57000">
                <a:schemeClr val="accent1"/>
              </a:gs>
            </a:gsLst>
            <a:lin ang="10800000" scaled="1"/>
          </a:gradFill>
          <a:ln w="19050" cap="flat" cmpd="sng" algn="ctr">
            <a:noFill/>
            <a:prstDash val="solid"/>
            <a:miter lim="800000"/>
          </a:ln>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15" name="文本框 14">
            <a:extLst>
              <a:ext uri="{FF2B5EF4-FFF2-40B4-BE49-F238E27FC236}">
                <a16:creationId xmlns:a16="http://schemas.microsoft.com/office/drawing/2014/main" id="{9227201A-C56A-F54E-06F3-0F11A099B607}"/>
              </a:ext>
            </a:extLst>
          </p:cNvPr>
          <p:cNvSpPr txBox="1"/>
          <p:nvPr/>
        </p:nvSpPr>
        <p:spPr>
          <a:xfrm>
            <a:off x="4554115" y="1203933"/>
            <a:ext cx="3083768" cy="430887"/>
          </a:xfrm>
          <a:prstGeom prst="rect">
            <a:avLst/>
          </a:prstGeom>
          <a:noFill/>
        </p:spPr>
        <p:txBody>
          <a:bodyPr wrap="square">
            <a:spAutoFit/>
          </a:bodyPr>
          <a:lstStyle/>
          <a:p>
            <a:pPr algn="ctr"/>
            <a:r>
              <a:rPr lang="zh-CN" altLang="en-US" sz="2200" b="1" dirty="0">
                <a:solidFill>
                  <a:prstClr val="white"/>
                </a:solidFill>
                <a:effectLst>
                  <a:outerShdw blurRad="50800" dist="38100" dir="5400000" algn="t" rotWithShape="0">
                    <a:srgbClr val="0B4FA1">
                      <a:lumMod val="75000"/>
                      <a:alpha val="40000"/>
                    </a:srgbClr>
                  </a:outerShdw>
                </a:effectLst>
                <a:latin typeface="微软雅黑" panose="020B0503020204020204" pitchFamily="34" charset="-122"/>
                <a:ea typeface="微软雅黑" panose="020B0503020204020204" pitchFamily="34" charset="-122"/>
              </a:rPr>
              <a:t>研究热点</a:t>
            </a:r>
            <a:r>
              <a:rPr lang="en-US" altLang="zh-CN" sz="2200" b="1" dirty="0">
                <a:solidFill>
                  <a:prstClr val="white"/>
                </a:solidFill>
                <a:effectLst>
                  <a:outerShdw blurRad="50800" dist="38100" dir="5400000" algn="t" rotWithShape="0">
                    <a:srgbClr val="0B4FA1">
                      <a:lumMod val="75000"/>
                      <a:alpha val="40000"/>
                    </a:srgbClr>
                  </a:outerShdw>
                </a:effectLst>
                <a:latin typeface="微软雅黑" panose="020B0503020204020204" pitchFamily="34" charset="-122"/>
                <a:ea typeface="微软雅黑" panose="020B0503020204020204" pitchFamily="34" charset="-122"/>
              </a:rPr>
              <a:t>2</a:t>
            </a:r>
            <a:endParaRPr lang="zh-CN" altLang="en-US" sz="2200" b="1" dirty="0">
              <a:solidFill>
                <a:prstClr val="white"/>
              </a:solidFill>
              <a:effectLst>
                <a:outerShdw blurRad="50800" dist="38100" dir="5400000" algn="t" rotWithShape="0">
                  <a:srgbClr val="0B4FA1">
                    <a:lumMod val="75000"/>
                    <a:alpha val="40000"/>
                  </a:srgbClr>
                </a:outerShdw>
              </a:effectLst>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E5D8919B-D9F9-C50A-0EDB-F2884BEC914C}"/>
              </a:ext>
            </a:extLst>
          </p:cNvPr>
          <p:cNvSpPr txBox="1"/>
          <p:nvPr/>
        </p:nvSpPr>
        <p:spPr>
          <a:xfrm>
            <a:off x="8581026" y="1203933"/>
            <a:ext cx="3083768" cy="430887"/>
          </a:xfrm>
          <a:prstGeom prst="rect">
            <a:avLst/>
          </a:prstGeom>
          <a:noFill/>
        </p:spPr>
        <p:txBody>
          <a:bodyPr wrap="square">
            <a:spAutoFit/>
          </a:bodyPr>
          <a:lstStyle/>
          <a:p>
            <a:pPr algn="ctr"/>
            <a:r>
              <a:rPr lang="zh-CN" altLang="en-US" sz="2200" b="1" dirty="0">
                <a:solidFill>
                  <a:prstClr val="white"/>
                </a:solidFill>
                <a:effectLst>
                  <a:outerShdw blurRad="50800" dist="38100" dir="5400000" algn="t" rotWithShape="0">
                    <a:srgbClr val="0B4FA1">
                      <a:lumMod val="75000"/>
                      <a:alpha val="40000"/>
                    </a:srgbClr>
                  </a:outerShdw>
                </a:effectLst>
                <a:latin typeface="微软雅黑" panose="020B0503020204020204" pitchFamily="34" charset="-122"/>
                <a:ea typeface="微软雅黑" panose="020B0503020204020204" pitchFamily="34" charset="-122"/>
              </a:rPr>
              <a:t>研究热点</a:t>
            </a:r>
            <a:r>
              <a:rPr lang="en-US" altLang="zh-CN" sz="2200" b="1" dirty="0">
                <a:solidFill>
                  <a:prstClr val="white"/>
                </a:solidFill>
                <a:effectLst>
                  <a:outerShdw blurRad="50800" dist="38100" dir="5400000" algn="t" rotWithShape="0">
                    <a:srgbClr val="0B4FA1">
                      <a:lumMod val="75000"/>
                      <a:alpha val="40000"/>
                    </a:srgbClr>
                  </a:outerShdw>
                </a:effectLst>
                <a:latin typeface="微软雅黑" panose="020B0503020204020204" pitchFamily="34" charset="-122"/>
                <a:ea typeface="微软雅黑" panose="020B0503020204020204" pitchFamily="34" charset="-122"/>
              </a:rPr>
              <a:t>3</a:t>
            </a:r>
            <a:endParaRPr lang="zh-CN" altLang="en-US" sz="2200" b="1" dirty="0">
              <a:solidFill>
                <a:prstClr val="white"/>
              </a:solidFill>
              <a:effectLst>
                <a:outerShdw blurRad="50800" dist="38100" dir="5400000" algn="t" rotWithShape="0">
                  <a:srgbClr val="0B4FA1">
                    <a:lumMod val="75000"/>
                    <a:alpha val="40000"/>
                  </a:srgbClr>
                </a:outerShdw>
              </a:effectLst>
              <a:latin typeface="微软雅黑" panose="020B0503020204020204" pitchFamily="34" charset="-122"/>
              <a:ea typeface="微软雅黑" panose="020B0503020204020204" pitchFamily="34" charset="-122"/>
            </a:endParaRPr>
          </a:p>
        </p:txBody>
      </p:sp>
      <p:sp>
        <p:nvSpPr>
          <p:cNvPr id="17" name="矩形: 圆角 16">
            <a:extLst>
              <a:ext uri="{FF2B5EF4-FFF2-40B4-BE49-F238E27FC236}">
                <a16:creationId xmlns:a16="http://schemas.microsoft.com/office/drawing/2014/main" id="{A7670CBA-BE63-3B39-C359-020114604DAA}"/>
              </a:ext>
            </a:extLst>
          </p:cNvPr>
          <p:cNvSpPr/>
          <p:nvPr/>
        </p:nvSpPr>
        <p:spPr>
          <a:xfrm>
            <a:off x="460262" y="3713292"/>
            <a:ext cx="11287238" cy="2842500"/>
          </a:xfrm>
          <a:prstGeom prst="roundRect">
            <a:avLst>
              <a:gd name="adj" fmla="val 1200"/>
            </a:avLst>
          </a:prstGeom>
          <a:solidFill>
            <a:schemeClr val="bg1"/>
          </a:solidFill>
          <a:ln w="3175" cap="flat" cmpd="sng" algn="ctr">
            <a:solidFill>
              <a:schemeClr val="accent1"/>
            </a:solidFill>
            <a:prstDash val="solid"/>
            <a:miter lim="800000"/>
          </a:ln>
          <a:effectLst>
            <a:outerShdw blurRad="266700" dist="215900" dir="8100000" algn="tr" rotWithShape="0">
              <a:schemeClr val="accent2">
                <a:lumMod val="50000"/>
                <a:alpha val="8000"/>
              </a:schemeClr>
            </a:outerShdw>
          </a:effectLst>
        </p:spPr>
        <p:txBody>
          <a:bodyPr rtlCol="0" anchor="ctr"/>
          <a:lstStyle/>
          <a:p>
            <a:pPr algn="ctr"/>
            <a:endParaRPr lang="zh-CN" altLang="en-US" kern="0" dirty="0">
              <a:solidFill>
                <a:srgbClr val="0B4FA1"/>
              </a:solidFill>
              <a:latin typeface="Arial" panose="020B0604020202020204" pitchFamily="34" charset="0"/>
              <a:ea typeface="微软雅黑" panose="020B0503020204020204" pitchFamily="34" charset="-122"/>
            </a:endParaRPr>
          </a:p>
        </p:txBody>
      </p:sp>
      <p:sp>
        <p:nvSpPr>
          <p:cNvPr id="18" name="矩形: 圆角 17">
            <a:extLst>
              <a:ext uri="{FF2B5EF4-FFF2-40B4-BE49-F238E27FC236}">
                <a16:creationId xmlns:a16="http://schemas.microsoft.com/office/drawing/2014/main" id="{333FB637-12C7-851A-4E40-3894586DEDD0}"/>
              </a:ext>
            </a:extLst>
          </p:cNvPr>
          <p:cNvSpPr>
            <a:spLocks/>
          </p:cNvSpPr>
          <p:nvPr/>
        </p:nvSpPr>
        <p:spPr>
          <a:xfrm>
            <a:off x="802287" y="4066653"/>
            <a:ext cx="6893007" cy="958596"/>
          </a:xfrm>
          <a:prstGeom prst="roundRect">
            <a:avLst>
              <a:gd name="adj" fmla="val 796"/>
            </a:avLst>
          </a:prstGeom>
          <a:solidFill>
            <a:schemeClr val="bg1"/>
          </a:solidFill>
          <a:ln w="3175" cap="flat" cmpd="sng" algn="ctr">
            <a:solidFill>
              <a:schemeClr val="accent1"/>
            </a:solidFill>
            <a:prstDash val="solid"/>
            <a:miter lim="800000"/>
          </a:ln>
          <a:effectLst>
            <a:outerShdw blurRad="266700" dist="215900" dir="8100000" algn="tr" rotWithShape="0">
              <a:schemeClr val="accent2">
                <a:lumMod val="50000"/>
                <a:alpha val="8000"/>
              </a:schemeClr>
            </a:outerShdw>
          </a:effectLst>
        </p:spPr>
        <p:txBody>
          <a:bodyPr rtlCol="0" anchor="ctr"/>
          <a:lstStyle/>
          <a:p>
            <a:pPr algn="ctr"/>
            <a:endParaRPr lang="zh-CN" altLang="en-US" kern="0" dirty="0">
              <a:solidFill>
                <a:srgbClr val="0B4FA1"/>
              </a:solidFill>
              <a:latin typeface="Arial" panose="020B0604020202020204" pitchFamily="34" charset="0"/>
              <a:ea typeface="微软雅黑" panose="020B0503020204020204" pitchFamily="34" charset="-122"/>
            </a:endParaRPr>
          </a:p>
        </p:txBody>
      </p:sp>
      <p:sp>
        <p:nvSpPr>
          <p:cNvPr id="19" name="矩形: 圆角 18">
            <a:extLst>
              <a:ext uri="{FF2B5EF4-FFF2-40B4-BE49-F238E27FC236}">
                <a16:creationId xmlns:a16="http://schemas.microsoft.com/office/drawing/2014/main" id="{2B529CE1-9D44-9564-5A3E-A2503FC3A437}"/>
              </a:ext>
            </a:extLst>
          </p:cNvPr>
          <p:cNvSpPr>
            <a:spLocks/>
          </p:cNvSpPr>
          <p:nvPr/>
        </p:nvSpPr>
        <p:spPr>
          <a:xfrm>
            <a:off x="802287" y="5243836"/>
            <a:ext cx="6893007" cy="958596"/>
          </a:xfrm>
          <a:prstGeom prst="roundRect">
            <a:avLst>
              <a:gd name="adj" fmla="val 796"/>
            </a:avLst>
          </a:prstGeom>
          <a:solidFill>
            <a:schemeClr val="bg1"/>
          </a:solidFill>
          <a:ln w="3175" cap="flat" cmpd="sng" algn="ctr">
            <a:solidFill>
              <a:schemeClr val="accent1"/>
            </a:solidFill>
            <a:prstDash val="solid"/>
            <a:miter lim="800000"/>
          </a:ln>
          <a:effectLst>
            <a:outerShdw blurRad="266700" dist="215900" dir="8100000" algn="tr" rotWithShape="0">
              <a:schemeClr val="accent2">
                <a:lumMod val="50000"/>
                <a:alpha val="8000"/>
              </a:schemeClr>
            </a:outerShdw>
          </a:effectLst>
        </p:spPr>
        <p:txBody>
          <a:bodyPr rtlCol="0" anchor="ctr"/>
          <a:lstStyle/>
          <a:p>
            <a:pPr algn="ctr"/>
            <a:endParaRPr lang="zh-CN" altLang="en-US" kern="0" dirty="0">
              <a:solidFill>
                <a:srgbClr val="0B4FA1"/>
              </a:solidFill>
              <a:latin typeface="Arial" panose="020B0604020202020204" pitchFamily="34" charset="0"/>
              <a:ea typeface="微软雅黑" panose="020B0503020204020204" pitchFamily="34" charset="-122"/>
            </a:endParaRPr>
          </a:p>
        </p:txBody>
      </p:sp>
      <p:sp>
        <p:nvSpPr>
          <p:cNvPr id="20" name="文本框 19">
            <a:extLst>
              <a:ext uri="{FF2B5EF4-FFF2-40B4-BE49-F238E27FC236}">
                <a16:creationId xmlns:a16="http://schemas.microsoft.com/office/drawing/2014/main" id="{2F43FDAB-A6E6-7276-CC71-24F4AA4988B4}"/>
              </a:ext>
            </a:extLst>
          </p:cNvPr>
          <p:cNvSpPr txBox="1"/>
          <p:nvPr/>
        </p:nvSpPr>
        <p:spPr>
          <a:xfrm>
            <a:off x="627948" y="1803515"/>
            <a:ext cx="2973342" cy="400110"/>
          </a:xfrm>
          <a:prstGeom prst="rect">
            <a:avLst/>
          </a:prstGeom>
          <a:noFill/>
        </p:spPr>
        <p:txBody>
          <a:bodyPr wrap="square">
            <a:spAutoFit/>
          </a:bodyPr>
          <a:lstStyle/>
          <a:p>
            <a:pPr algn="ctr">
              <a:defRPr/>
            </a:pPr>
            <a:r>
              <a:rPr lang="zh-CN" altLang="en-US" sz="2000" dirty="0">
                <a:solidFill>
                  <a:schemeClr val="accent1"/>
                </a:solidFill>
                <a:effectLst>
                  <a:glow rad="38100">
                    <a:prstClr val="white"/>
                  </a:glow>
                </a:effectLst>
                <a:latin typeface="微软雅黑" panose="020B0503020204020204" pitchFamily="34" charset="-122"/>
                <a:ea typeface="微软雅黑" panose="020B0503020204020204" pitchFamily="34" charset="-122"/>
                <a:cs typeface="Arial" panose="020B0604020202020204" pitchFamily="34" charset="0"/>
              </a:rPr>
              <a:t>卤化物固态电解质</a:t>
            </a:r>
          </a:p>
        </p:txBody>
      </p:sp>
      <p:sp>
        <p:nvSpPr>
          <p:cNvPr id="21" name="矩形: 圆角 20">
            <a:extLst>
              <a:ext uri="{FF2B5EF4-FFF2-40B4-BE49-F238E27FC236}">
                <a16:creationId xmlns:a16="http://schemas.microsoft.com/office/drawing/2014/main" id="{B384B477-D2B9-BF7A-E04B-4EACE0417FB1}"/>
              </a:ext>
            </a:extLst>
          </p:cNvPr>
          <p:cNvSpPr>
            <a:spLocks/>
          </p:cNvSpPr>
          <p:nvPr/>
        </p:nvSpPr>
        <p:spPr>
          <a:xfrm>
            <a:off x="738130" y="2223309"/>
            <a:ext cx="2756910" cy="1180549"/>
          </a:xfrm>
          <a:prstGeom prst="roundRect">
            <a:avLst>
              <a:gd name="adj" fmla="val 796"/>
            </a:avLst>
          </a:prstGeom>
          <a:solidFill>
            <a:schemeClr val="accent1">
              <a:alpha val="4000"/>
            </a:schemeClr>
          </a:solidFill>
          <a:ln w="317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p:txBody>
      </p:sp>
      <p:sp>
        <p:nvSpPr>
          <p:cNvPr id="22" name="文本框 21">
            <a:extLst>
              <a:ext uri="{FF2B5EF4-FFF2-40B4-BE49-F238E27FC236}">
                <a16:creationId xmlns:a16="http://schemas.microsoft.com/office/drawing/2014/main" id="{3F1D4C3B-8E5B-A3A0-8E48-958324C4814D}"/>
              </a:ext>
            </a:extLst>
          </p:cNvPr>
          <p:cNvSpPr txBox="1"/>
          <p:nvPr/>
        </p:nvSpPr>
        <p:spPr>
          <a:xfrm>
            <a:off x="4609329" y="1803515"/>
            <a:ext cx="2973342" cy="400110"/>
          </a:xfrm>
          <a:prstGeom prst="rect">
            <a:avLst/>
          </a:prstGeom>
          <a:noFill/>
        </p:spPr>
        <p:txBody>
          <a:bodyPr wrap="square">
            <a:spAutoFit/>
          </a:bodyPr>
          <a:lstStyle/>
          <a:p>
            <a:pPr algn="ctr">
              <a:defRPr/>
            </a:pPr>
            <a:r>
              <a:rPr lang="zh-CN" altLang="en-US" sz="2000" dirty="0">
                <a:solidFill>
                  <a:schemeClr val="accent1"/>
                </a:solidFill>
                <a:effectLst>
                  <a:glow rad="38100">
                    <a:prstClr val="white"/>
                  </a:glow>
                </a:effectLst>
                <a:latin typeface="微软雅黑" panose="020B0503020204020204" pitchFamily="34" charset="-122"/>
                <a:ea typeface="微软雅黑" panose="020B0503020204020204" pitchFamily="34" charset="-122"/>
                <a:cs typeface="Arial" panose="020B0604020202020204" pitchFamily="34" charset="0"/>
              </a:rPr>
              <a:t>氧化物固态电解质</a:t>
            </a:r>
          </a:p>
        </p:txBody>
      </p:sp>
      <p:sp>
        <p:nvSpPr>
          <p:cNvPr id="23" name="文本框 22">
            <a:extLst>
              <a:ext uri="{FF2B5EF4-FFF2-40B4-BE49-F238E27FC236}">
                <a16:creationId xmlns:a16="http://schemas.microsoft.com/office/drawing/2014/main" id="{9DB3345E-DFF8-A6B3-A12B-57328997F7D2}"/>
              </a:ext>
            </a:extLst>
          </p:cNvPr>
          <p:cNvSpPr txBox="1"/>
          <p:nvPr/>
        </p:nvSpPr>
        <p:spPr>
          <a:xfrm>
            <a:off x="8636237" y="1803515"/>
            <a:ext cx="2973342" cy="400110"/>
          </a:xfrm>
          <a:prstGeom prst="rect">
            <a:avLst/>
          </a:prstGeom>
          <a:noFill/>
        </p:spPr>
        <p:txBody>
          <a:bodyPr wrap="square">
            <a:spAutoFit/>
          </a:bodyPr>
          <a:lstStyle/>
          <a:p>
            <a:pPr algn="ctr">
              <a:defRPr/>
            </a:pPr>
            <a:r>
              <a:rPr lang="zh-CN" altLang="en-US" sz="2000" dirty="0">
                <a:solidFill>
                  <a:schemeClr val="accent1"/>
                </a:solidFill>
                <a:effectLst>
                  <a:glow rad="38100">
                    <a:prstClr val="white"/>
                  </a:glow>
                </a:effectLst>
                <a:latin typeface="微软雅黑" panose="020B0503020204020204" pitchFamily="34" charset="-122"/>
                <a:ea typeface="微软雅黑" panose="020B0503020204020204" pitchFamily="34" charset="-122"/>
                <a:cs typeface="Arial" panose="020B0604020202020204" pitchFamily="34" charset="0"/>
              </a:rPr>
              <a:t>石榴石结构固态电解质</a:t>
            </a:r>
          </a:p>
        </p:txBody>
      </p:sp>
      <p:sp>
        <p:nvSpPr>
          <p:cNvPr id="24" name="矩形: 圆角 23">
            <a:extLst>
              <a:ext uri="{FF2B5EF4-FFF2-40B4-BE49-F238E27FC236}">
                <a16:creationId xmlns:a16="http://schemas.microsoft.com/office/drawing/2014/main" id="{15C22C74-EF33-8FD5-B9B4-878E20373438}"/>
              </a:ext>
            </a:extLst>
          </p:cNvPr>
          <p:cNvSpPr>
            <a:spLocks/>
          </p:cNvSpPr>
          <p:nvPr/>
        </p:nvSpPr>
        <p:spPr>
          <a:xfrm>
            <a:off x="4717544" y="2223309"/>
            <a:ext cx="2756910" cy="1180549"/>
          </a:xfrm>
          <a:prstGeom prst="roundRect">
            <a:avLst>
              <a:gd name="adj" fmla="val 796"/>
            </a:avLst>
          </a:prstGeom>
          <a:solidFill>
            <a:schemeClr val="accent1">
              <a:alpha val="4000"/>
            </a:schemeClr>
          </a:solidFill>
          <a:ln w="3175" cap="flat" cmpd="sng" algn="ctr">
            <a:noFill/>
            <a:prstDash val="solid"/>
            <a:miter lim="800000"/>
          </a:ln>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25" name="矩形: 圆角 24">
            <a:extLst>
              <a:ext uri="{FF2B5EF4-FFF2-40B4-BE49-F238E27FC236}">
                <a16:creationId xmlns:a16="http://schemas.microsoft.com/office/drawing/2014/main" id="{AEE12B27-D291-C1F6-A97E-BA0019D313A5}"/>
              </a:ext>
            </a:extLst>
          </p:cNvPr>
          <p:cNvSpPr>
            <a:spLocks/>
          </p:cNvSpPr>
          <p:nvPr/>
        </p:nvSpPr>
        <p:spPr>
          <a:xfrm>
            <a:off x="8744453" y="2223309"/>
            <a:ext cx="2756910" cy="1180549"/>
          </a:xfrm>
          <a:prstGeom prst="roundRect">
            <a:avLst>
              <a:gd name="adj" fmla="val 796"/>
            </a:avLst>
          </a:prstGeom>
          <a:solidFill>
            <a:schemeClr val="accent1">
              <a:alpha val="4000"/>
            </a:schemeClr>
          </a:solidFill>
          <a:ln w="3175" cap="flat" cmpd="sng" algn="ctr">
            <a:noFill/>
            <a:prstDash val="solid"/>
            <a:miter lim="800000"/>
          </a:ln>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26" name="文本框 25">
            <a:extLst>
              <a:ext uri="{FF2B5EF4-FFF2-40B4-BE49-F238E27FC236}">
                <a16:creationId xmlns:a16="http://schemas.microsoft.com/office/drawing/2014/main" id="{9352D279-92FF-0EA9-0936-7331490A4A8E}"/>
              </a:ext>
            </a:extLst>
          </p:cNvPr>
          <p:cNvSpPr txBox="1"/>
          <p:nvPr/>
        </p:nvSpPr>
        <p:spPr>
          <a:xfrm>
            <a:off x="802286" y="2334285"/>
            <a:ext cx="2692753" cy="958596"/>
          </a:xfrm>
          <a:prstGeom prst="rect">
            <a:avLst/>
          </a:prstGeom>
          <a:noFill/>
        </p:spPr>
        <p:txBody>
          <a:bodyPr wrap="square">
            <a:spAutoFit/>
          </a:bodyPr>
          <a:lstStyle/>
          <a:p>
            <a:pPr algn="just">
              <a:lnSpc>
                <a:spcPct val="120000"/>
              </a:lnSpc>
            </a:pPr>
            <a:r>
              <a:rPr lang="zh-CN" altLang="en-US" sz="1600" dirty="0">
                <a:solidFill>
                  <a:prstClr val="black"/>
                </a:solidFill>
                <a:latin typeface="微软雅黑" panose="020B0503020204020204" pitchFamily="34" charset="-122"/>
                <a:ea typeface="微软雅黑" panose="020B0503020204020204" pitchFamily="34" charset="-122"/>
              </a:rPr>
              <a:t>可通过冷压方法获得较好的界面，实现固态锂电池的稳定运行。</a:t>
            </a:r>
          </a:p>
        </p:txBody>
      </p:sp>
      <p:sp>
        <p:nvSpPr>
          <p:cNvPr id="27" name="文本框 26">
            <a:extLst>
              <a:ext uri="{FF2B5EF4-FFF2-40B4-BE49-F238E27FC236}">
                <a16:creationId xmlns:a16="http://schemas.microsoft.com/office/drawing/2014/main" id="{C61240FC-062D-BF06-867F-4BC2ADFB0DC8}"/>
              </a:ext>
            </a:extLst>
          </p:cNvPr>
          <p:cNvSpPr txBox="1"/>
          <p:nvPr/>
        </p:nvSpPr>
        <p:spPr>
          <a:xfrm>
            <a:off x="4749622" y="2334285"/>
            <a:ext cx="2692753" cy="958596"/>
          </a:xfrm>
          <a:prstGeom prst="rect">
            <a:avLst/>
          </a:prstGeom>
          <a:noFill/>
        </p:spPr>
        <p:txBody>
          <a:bodyPr wrap="square">
            <a:spAutoFit/>
          </a:bodyPr>
          <a:lstStyle/>
          <a:p>
            <a:pPr algn="just">
              <a:lnSpc>
                <a:spcPct val="120000"/>
              </a:lnSpc>
            </a:pPr>
            <a:r>
              <a:rPr lang="zh-CN" altLang="en-US" sz="1600" dirty="0">
                <a:solidFill>
                  <a:prstClr val="black"/>
                </a:solidFill>
                <a:latin typeface="微软雅黑" panose="020B0503020204020204" pitchFamily="34" charset="-122"/>
                <a:ea typeface="微软雅黑" panose="020B0503020204020204" pitchFamily="34" charset="-122"/>
              </a:rPr>
              <a:t>质地较硬，通常情况下</a:t>
            </a:r>
            <a:r>
              <a:rPr lang="zh-CN" altLang="en-US" sz="1600" u="sng" dirty="0">
                <a:solidFill>
                  <a:schemeClr val="accent1"/>
                </a:solidFill>
                <a:latin typeface="微软雅黑" panose="020B0503020204020204" pitchFamily="34" charset="-122"/>
                <a:ea typeface="微软雅黑" panose="020B0503020204020204" pitchFamily="34" charset="-122"/>
              </a:rPr>
              <a:t>需要通过高温退火处理</a:t>
            </a:r>
            <a:r>
              <a:rPr lang="zh-CN" altLang="en-US" sz="1600" dirty="0">
                <a:solidFill>
                  <a:prstClr val="black"/>
                </a:solidFill>
                <a:latin typeface="微软雅黑" panose="020B0503020204020204" pitchFamily="34" charset="-122"/>
                <a:ea typeface="微软雅黑" panose="020B0503020204020204" pitchFamily="34" charset="-122"/>
              </a:rPr>
              <a:t>才能获得良好的界面。</a:t>
            </a:r>
          </a:p>
        </p:txBody>
      </p:sp>
      <p:sp>
        <p:nvSpPr>
          <p:cNvPr id="30" name="文本框 29">
            <a:extLst>
              <a:ext uri="{FF2B5EF4-FFF2-40B4-BE49-F238E27FC236}">
                <a16:creationId xmlns:a16="http://schemas.microsoft.com/office/drawing/2014/main" id="{B1993114-CAB3-DFDD-B328-DDFA6F661EDB}"/>
              </a:ext>
            </a:extLst>
          </p:cNvPr>
          <p:cNvSpPr txBox="1"/>
          <p:nvPr/>
        </p:nvSpPr>
        <p:spPr>
          <a:xfrm>
            <a:off x="8776531" y="2334285"/>
            <a:ext cx="2692753" cy="958596"/>
          </a:xfrm>
          <a:prstGeom prst="rect">
            <a:avLst/>
          </a:prstGeom>
          <a:noFill/>
        </p:spPr>
        <p:txBody>
          <a:bodyPr wrap="square">
            <a:spAutoFit/>
          </a:bodyPr>
          <a:lstStyle/>
          <a:p>
            <a:pPr algn="just">
              <a:lnSpc>
                <a:spcPct val="120000"/>
              </a:lnSpc>
            </a:pPr>
            <a:r>
              <a:rPr lang="zh-CN" altLang="en-US" sz="1600" dirty="0">
                <a:solidFill>
                  <a:prstClr val="black"/>
                </a:solidFill>
                <a:latin typeface="微软雅黑" panose="020B0503020204020204" pitchFamily="34" charset="-122"/>
                <a:ea typeface="微软雅黑" panose="020B0503020204020204" pitchFamily="34" charset="-122"/>
              </a:rPr>
              <a:t>易与空气中的二氧化碳和水分反应形成低离子导的</a:t>
            </a:r>
            <a:r>
              <a:rPr lang="en-US" altLang="zh-CN" sz="1600" dirty="0">
                <a:solidFill>
                  <a:prstClr val="black"/>
                </a:solidFill>
                <a:latin typeface="微软雅黑" panose="020B0503020204020204" pitchFamily="34" charset="-122"/>
                <a:ea typeface="微软雅黑" panose="020B0503020204020204" pitchFamily="34" charset="-122"/>
              </a:rPr>
              <a:t>Li2CO3</a:t>
            </a:r>
            <a:r>
              <a:rPr lang="zh-CN" altLang="en-US" sz="1600" dirty="0">
                <a:solidFill>
                  <a:prstClr val="black"/>
                </a:solidFill>
                <a:latin typeface="微软雅黑" panose="020B0503020204020204" pitchFamily="34" charset="-122"/>
                <a:ea typeface="微软雅黑" panose="020B0503020204020204" pitchFamily="34" charset="-122"/>
              </a:rPr>
              <a:t>。</a:t>
            </a:r>
          </a:p>
        </p:txBody>
      </p:sp>
      <p:sp>
        <p:nvSpPr>
          <p:cNvPr id="46" name="箭头: 右 45">
            <a:extLst>
              <a:ext uri="{FF2B5EF4-FFF2-40B4-BE49-F238E27FC236}">
                <a16:creationId xmlns:a16="http://schemas.microsoft.com/office/drawing/2014/main" id="{89952DB3-035E-D0A2-074C-9058E2275499}"/>
              </a:ext>
            </a:extLst>
          </p:cNvPr>
          <p:cNvSpPr/>
          <p:nvPr/>
        </p:nvSpPr>
        <p:spPr>
          <a:xfrm>
            <a:off x="3793106" y="2404072"/>
            <a:ext cx="626371" cy="409511"/>
          </a:xfrm>
          <a:prstGeom prst="rightArrow">
            <a:avLst/>
          </a:prstGeom>
          <a:gradFill flip="none" rotWithShape="1">
            <a:gsLst>
              <a:gs pos="0">
                <a:schemeClr val="accent1">
                  <a:alpha val="0"/>
                </a:schemeClr>
              </a:gs>
              <a:gs pos="100000">
                <a:schemeClr val="accent1"/>
              </a:gs>
            </a:gsLst>
            <a:lin ang="0" scaled="1"/>
            <a:tileRect/>
          </a:gradFill>
          <a:ln w="19050" cap="flat" cmpd="sng" algn="ctr">
            <a:noFill/>
            <a:prstDash val="solid"/>
            <a:miter lim="800000"/>
          </a:ln>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47" name="箭头: 右 46">
            <a:extLst>
              <a:ext uri="{FF2B5EF4-FFF2-40B4-BE49-F238E27FC236}">
                <a16:creationId xmlns:a16="http://schemas.microsoft.com/office/drawing/2014/main" id="{FCF61D94-9153-0197-6B2C-6931A8BECEB3}"/>
              </a:ext>
            </a:extLst>
          </p:cNvPr>
          <p:cNvSpPr/>
          <p:nvPr/>
        </p:nvSpPr>
        <p:spPr>
          <a:xfrm>
            <a:off x="7819096" y="2404072"/>
            <a:ext cx="626371" cy="409511"/>
          </a:xfrm>
          <a:prstGeom prst="rightArrow">
            <a:avLst/>
          </a:prstGeom>
          <a:gradFill flip="none" rotWithShape="1">
            <a:gsLst>
              <a:gs pos="0">
                <a:schemeClr val="accent1">
                  <a:alpha val="0"/>
                </a:schemeClr>
              </a:gs>
              <a:gs pos="100000">
                <a:schemeClr val="accent1"/>
              </a:gs>
            </a:gsLst>
            <a:lin ang="0" scaled="1"/>
            <a:tileRect/>
          </a:gradFill>
          <a:ln w="19050" cap="flat" cmpd="sng" algn="ctr">
            <a:noFill/>
            <a:prstDash val="solid"/>
            <a:miter lim="800000"/>
          </a:ln>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48" name="文本框 47">
            <a:extLst>
              <a:ext uri="{FF2B5EF4-FFF2-40B4-BE49-F238E27FC236}">
                <a16:creationId xmlns:a16="http://schemas.microsoft.com/office/drawing/2014/main" id="{52A8948B-F057-9650-9867-0D2F1AE401A0}"/>
              </a:ext>
            </a:extLst>
          </p:cNvPr>
          <p:cNvSpPr txBox="1"/>
          <p:nvPr/>
        </p:nvSpPr>
        <p:spPr>
          <a:xfrm>
            <a:off x="916310" y="4192008"/>
            <a:ext cx="1014089" cy="707886"/>
          </a:xfrm>
          <a:prstGeom prst="rect">
            <a:avLst/>
          </a:prstGeom>
          <a:noFill/>
        </p:spPr>
        <p:txBody>
          <a:bodyPr wrap="square">
            <a:spAutoFit/>
          </a:bodyPr>
          <a:lstStyle/>
          <a:p>
            <a:r>
              <a:rPr lang="zh-CN" altLang="en-US" sz="2000" b="1" dirty="0">
                <a:solidFill>
                  <a:schemeClr val="accent1"/>
                </a:solidFill>
                <a:effectLst>
                  <a:glow rad="38100">
                    <a:prstClr val="white"/>
                  </a:glow>
                </a:effectLst>
                <a:latin typeface="微软雅黑" panose="020B0503020204020204" pitchFamily="34" charset="-122"/>
                <a:ea typeface="微软雅黑" panose="020B0503020204020204" pitchFamily="34" charset="-122"/>
                <a:cs typeface="Arial" panose="020B0604020202020204" pitchFamily="34" charset="0"/>
              </a:rPr>
              <a:t>降低界面阻抗</a:t>
            </a:r>
          </a:p>
        </p:txBody>
      </p:sp>
      <p:cxnSp>
        <p:nvCxnSpPr>
          <p:cNvPr id="49" name="直接连接符 48">
            <a:extLst>
              <a:ext uri="{FF2B5EF4-FFF2-40B4-BE49-F238E27FC236}">
                <a16:creationId xmlns:a16="http://schemas.microsoft.com/office/drawing/2014/main" id="{26D852ED-4B73-6A71-CD2B-B19480EC8676}"/>
              </a:ext>
            </a:extLst>
          </p:cNvPr>
          <p:cNvCxnSpPr>
            <a:cxnSpLocks/>
          </p:cNvCxnSpPr>
          <p:nvPr/>
        </p:nvCxnSpPr>
        <p:spPr>
          <a:xfrm>
            <a:off x="1960878" y="4235458"/>
            <a:ext cx="0" cy="620985"/>
          </a:xfrm>
          <a:prstGeom prst="line">
            <a:avLst/>
          </a:prstGeom>
          <a:noFill/>
          <a:ln w="12700" cap="flat" cmpd="sng" algn="ctr">
            <a:solidFill>
              <a:schemeClr val="accent1"/>
            </a:solidFill>
            <a:prstDash val="dash"/>
            <a:miter lim="800000"/>
          </a:ln>
          <a:effectLst/>
        </p:spPr>
      </p:cxnSp>
      <p:sp>
        <p:nvSpPr>
          <p:cNvPr id="50" name="文本框 49">
            <a:extLst>
              <a:ext uri="{FF2B5EF4-FFF2-40B4-BE49-F238E27FC236}">
                <a16:creationId xmlns:a16="http://schemas.microsoft.com/office/drawing/2014/main" id="{BF6C2C5E-4047-2F75-11C7-8B426C12A05E}"/>
              </a:ext>
            </a:extLst>
          </p:cNvPr>
          <p:cNvSpPr txBox="1"/>
          <p:nvPr/>
        </p:nvSpPr>
        <p:spPr>
          <a:xfrm>
            <a:off x="2069090" y="4214386"/>
            <a:ext cx="5292288" cy="953851"/>
          </a:xfrm>
          <a:prstGeom prst="rect">
            <a:avLst/>
          </a:prstGeom>
          <a:noFill/>
        </p:spPr>
        <p:txBody>
          <a:bodyPr wrap="square">
            <a:spAutoFit/>
          </a:bodyPr>
          <a:lstStyle/>
          <a:p>
            <a:pPr algn="just">
              <a:lnSpc>
                <a:spcPct val="120000"/>
              </a:lnSpc>
            </a:pPr>
            <a:r>
              <a:rPr lang="zh-CN" altLang="en-US" sz="1600" dirty="0">
                <a:solidFill>
                  <a:prstClr val="black"/>
                </a:solidFill>
                <a:latin typeface="微软雅黑" panose="020B0503020204020204" pitchFamily="34" charset="-122"/>
                <a:ea typeface="微软雅黑" panose="020B0503020204020204" pitchFamily="34" charset="-122"/>
              </a:rPr>
              <a:t>通过引入</a:t>
            </a:r>
            <a:r>
              <a:rPr lang="en-US" altLang="zh-CN" sz="1600" dirty="0">
                <a:solidFill>
                  <a:prstClr val="black"/>
                </a:solidFill>
                <a:latin typeface="微软雅黑" panose="020B0503020204020204" pitchFamily="34" charset="-122"/>
                <a:ea typeface="微软雅黑" panose="020B0503020204020204" pitchFamily="34" charset="-122"/>
              </a:rPr>
              <a:t>Li2.3C0.7B0.3O3</a:t>
            </a:r>
            <a:r>
              <a:rPr lang="zh-CN" altLang="en-US" sz="1600" dirty="0">
                <a:solidFill>
                  <a:prstClr val="black"/>
                </a:solidFill>
                <a:latin typeface="微软雅黑" panose="020B0503020204020204" pitchFamily="34" charset="-122"/>
                <a:ea typeface="微软雅黑" panose="020B0503020204020204" pitchFamily="34" charset="-122"/>
              </a:rPr>
              <a:t>和</a:t>
            </a:r>
            <a:r>
              <a:rPr lang="en-US" altLang="zh-CN" sz="1600" dirty="0">
                <a:solidFill>
                  <a:prstClr val="black"/>
                </a:solidFill>
                <a:latin typeface="微软雅黑" panose="020B0503020204020204" pitchFamily="34" charset="-122"/>
                <a:ea typeface="微软雅黑" panose="020B0503020204020204" pitchFamily="34" charset="-122"/>
              </a:rPr>
              <a:t>Co3O4</a:t>
            </a:r>
            <a:r>
              <a:rPr lang="zh-CN" altLang="en-US" sz="1600" dirty="0">
                <a:solidFill>
                  <a:prstClr val="black"/>
                </a:solidFill>
                <a:latin typeface="微软雅黑" panose="020B0503020204020204" pitchFamily="34" charset="-122"/>
                <a:ea typeface="微软雅黑" panose="020B0503020204020204" pitchFamily="34" charset="-122"/>
              </a:rPr>
              <a:t>等将其转化成高离子导的</a:t>
            </a:r>
            <a:r>
              <a:rPr lang="en-US" altLang="zh-CN" sz="1600" dirty="0">
                <a:solidFill>
                  <a:prstClr val="black"/>
                </a:solidFill>
                <a:latin typeface="微软雅黑" panose="020B0503020204020204" pitchFamily="34" charset="-122"/>
                <a:ea typeface="微软雅黑" panose="020B0503020204020204" pitchFamily="34" charset="-122"/>
              </a:rPr>
              <a:t>Li2.3-xC0.7+xB0.3-xO3</a:t>
            </a:r>
            <a:r>
              <a:rPr lang="zh-CN" altLang="en-US" sz="1600" dirty="0">
                <a:solidFill>
                  <a:prstClr val="black"/>
                </a:solidFill>
                <a:latin typeface="微软雅黑" panose="020B0503020204020204" pitchFamily="34" charset="-122"/>
                <a:ea typeface="微软雅黑" panose="020B0503020204020204" pitchFamily="34" charset="-122"/>
              </a:rPr>
              <a:t>和</a:t>
            </a:r>
            <a:r>
              <a:rPr lang="en-US" altLang="zh-CN" sz="1600" dirty="0">
                <a:solidFill>
                  <a:prstClr val="black"/>
                </a:solidFill>
                <a:latin typeface="微软雅黑" panose="020B0503020204020204" pitchFamily="34" charset="-122"/>
                <a:ea typeface="微软雅黑" panose="020B0503020204020204" pitchFamily="34" charset="-122"/>
              </a:rPr>
              <a:t>LiCoO2</a:t>
            </a:r>
            <a:r>
              <a:rPr lang="zh-CN" altLang="en-US" sz="1600" dirty="0">
                <a:solidFill>
                  <a:prstClr val="black"/>
                </a:solidFill>
                <a:latin typeface="微软雅黑" panose="020B0503020204020204" pitchFamily="34" charset="-122"/>
                <a:ea typeface="微软雅黑" panose="020B0503020204020204" pitchFamily="34" charset="-122"/>
              </a:rPr>
              <a:t>等高离子导界面相</a:t>
            </a:r>
          </a:p>
        </p:txBody>
      </p:sp>
      <p:sp>
        <p:nvSpPr>
          <p:cNvPr id="51" name="文本框 50">
            <a:extLst>
              <a:ext uri="{FF2B5EF4-FFF2-40B4-BE49-F238E27FC236}">
                <a16:creationId xmlns:a16="http://schemas.microsoft.com/office/drawing/2014/main" id="{EDA8340F-D987-2C48-FFD5-8BC38977C380}"/>
              </a:ext>
            </a:extLst>
          </p:cNvPr>
          <p:cNvSpPr txBox="1"/>
          <p:nvPr/>
        </p:nvSpPr>
        <p:spPr>
          <a:xfrm>
            <a:off x="916310" y="5372075"/>
            <a:ext cx="1014089" cy="707886"/>
          </a:xfrm>
          <a:prstGeom prst="rect">
            <a:avLst/>
          </a:prstGeom>
          <a:noFill/>
        </p:spPr>
        <p:txBody>
          <a:bodyPr wrap="square">
            <a:spAutoFit/>
          </a:bodyPr>
          <a:lstStyle/>
          <a:p>
            <a:r>
              <a:rPr lang="zh-CN" altLang="en-US" sz="2000" b="1" dirty="0">
                <a:solidFill>
                  <a:schemeClr val="accent1"/>
                </a:solidFill>
                <a:effectLst>
                  <a:glow rad="38100">
                    <a:prstClr val="white"/>
                  </a:glow>
                </a:effectLst>
                <a:latin typeface="微软雅黑" panose="020B0503020204020204" pitchFamily="34" charset="-122"/>
                <a:ea typeface="微软雅黑" panose="020B0503020204020204" pitchFamily="34" charset="-122"/>
                <a:cs typeface="Arial" panose="020B0604020202020204" pitchFamily="34" charset="0"/>
              </a:rPr>
              <a:t>超快高温退火</a:t>
            </a:r>
          </a:p>
        </p:txBody>
      </p:sp>
      <p:cxnSp>
        <p:nvCxnSpPr>
          <p:cNvPr id="52" name="直接连接符 51">
            <a:extLst>
              <a:ext uri="{FF2B5EF4-FFF2-40B4-BE49-F238E27FC236}">
                <a16:creationId xmlns:a16="http://schemas.microsoft.com/office/drawing/2014/main" id="{30FB4EB4-3D9A-667B-C12F-4A1FB9AC5CFE}"/>
              </a:ext>
            </a:extLst>
          </p:cNvPr>
          <p:cNvCxnSpPr>
            <a:cxnSpLocks/>
          </p:cNvCxnSpPr>
          <p:nvPr/>
        </p:nvCxnSpPr>
        <p:spPr>
          <a:xfrm>
            <a:off x="1960878" y="5415525"/>
            <a:ext cx="0" cy="620985"/>
          </a:xfrm>
          <a:prstGeom prst="line">
            <a:avLst/>
          </a:prstGeom>
          <a:noFill/>
          <a:ln w="12700" cap="flat" cmpd="sng" algn="ctr">
            <a:solidFill>
              <a:schemeClr val="accent1"/>
            </a:solidFill>
            <a:prstDash val="dash"/>
            <a:miter lim="800000"/>
          </a:ln>
          <a:effectLst/>
        </p:spPr>
      </p:cxnSp>
      <p:sp>
        <p:nvSpPr>
          <p:cNvPr id="53" name="文本框 52">
            <a:extLst>
              <a:ext uri="{FF2B5EF4-FFF2-40B4-BE49-F238E27FC236}">
                <a16:creationId xmlns:a16="http://schemas.microsoft.com/office/drawing/2014/main" id="{5898660D-2A53-168C-E67A-584C7E110514}"/>
              </a:ext>
            </a:extLst>
          </p:cNvPr>
          <p:cNvSpPr txBox="1"/>
          <p:nvPr/>
        </p:nvSpPr>
        <p:spPr>
          <a:xfrm>
            <a:off x="2069090" y="5394453"/>
            <a:ext cx="5292288" cy="663130"/>
          </a:xfrm>
          <a:prstGeom prst="rect">
            <a:avLst/>
          </a:prstGeom>
          <a:noFill/>
        </p:spPr>
        <p:txBody>
          <a:bodyPr wrap="square">
            <a:spAutoFit/>
          </a:bodyPr>
          <a:lstStyle/>
          <a:p>
            <a:pPr algn="just">
              <a:lnSpc>
                <a:spcPct val="120000"/>
              </a:lnSpc>
            </a:pPr>
            <a:r>
              <a:rPr lang="zh-CN" altLang="en-US" sz="1600" dirty="0">
                <a:solidFill>
                  <a:prstClr val="black"/>
                </a:solidFill>
                <a:latin typeface="微软雅黑" panose="020B0503020204020204" pitchFamily="34" charset="-122"/>
                <a:ea typeface="微软雅黑" panose="020B0503020204020204" pitchFamily="34" charset="-122"/>
              </a:rPr>
              <a:t>通过引入</a:t>
            </a:r>
            <a:r>
              <a:rPr lang="zh-CN" altLang="en-US" sz="1600" dirty="0">
                <a:solidFill>
                  <a:srgbClr val="C00000"/>
                </a:solidFill>
                <a:latin typeface="微软雅黑" panose="020B0503020204020204" pitchFamily="34" charset="-122"/>
                <a:ea typeface="微软雅黑" panose="020B0503020204020204" pitchFamily="34" charset="-122"/>
              </a:rPr>
              <a:t>低熔点含锂化合物来焊接电极</a:t>
            </a:r>
            <a:r>
              <a:rPr lang="en-US" altLang="zh-CN" sz="1600" dirty="0">
                <a:solidFill>
                  <a:srgbClr val="C00000"/>
                </a:solidFill>
                <a:latin typeface="微软雅黑" panose="020B0503020204020204" pitchFamily="34" charset="-122"/>
                <a:ea typeface="微软雅黑" panose="020B0503020204020204" pitchFamily="34" charset="-122"/>
              </a:rPr>
              <a:t>-</a:t>
            </a:r>
            <a:r>
              <a:rPr lang="zh-CN" altLang="en-US" sz="1600" dirty="0">
                <a:solidFill>
                  <a:srgbClr val="C00000"/>
                </a:solidFill>
                <a:latin typeface="微软雅黑" panose="020B0503020204020204" pitchFamily="34" charset="-122"/>
                <a:ea typeface="微软雅黑" panose="020B0503020204020204" pitchFamily="34" charset="-122"/>
              </a:rPr>
              <a:t>电解质</a:t>
            </a:r>
            <a:r>
              <a:rPr lang="zh-CN" altLang="en-US" sz="1600" dirty="0">
                <a:solidFill>
                  <a:prstClr val="black"/>
                </a:solidFill>
                <a:latin typeface="微软雅黑" panose="020B0503020204020204" pitchFamily="34" charset="-122"/>
                <a:ea typeface="微软雅黑" panose="020B0503020204020204" pitchFamily="34" charset="-122"/>
              </a:rPr>
              <a:t>界面是另一有效策略，解决石榴石界面接触问题。</a:t>
            </a:r>
          </a:p>
        </p:txBody>
      </p:sp>
      <p:pic>
        <p:nvPicPr>
          <p:cNvPr id="54" name="Picture 4">
            <a:extLst>
              <a:ext uri="{FF2B5EF4-FFF2-40B4-BE49-F238E27FC236}">
                <a16:creationId xmlns:a16="http://schemas.microsoft.com/office/drawing/2014/main" id="{2898DB00-E73E-AD67-C694-E44157D21BF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5288" t="44509"/>
          <a:stretch/>
        </p:blipFill>
        <p:spPr bwMode="auto">
          <a:xfrm>
            <a:off x="8193058" y="3913510"/>
            <a:ext cx="3082632" cy="2491307"/>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a:extLst>
              <a:ext uri="{FF2B5EF4-FFF2-40B4-BE49-F238E27FC236}">
                <a16:creationId xmlns:a16="http://schemas.microsoft.com/office/drawing/2014/main" id="{9C28268F-C2A4-E859-65C7-859941392FF4}"/>
              </a:ext>
            </a:extLst>
          </p:cNvPr>
          <p:cNvSpPr/>
          <p:nvPr/>
        </p:nvSpPr>
        <p:spPr>
          <a:xfrm>
            <a:off x="444500" y="1079500"/>
            <a:ext cx="11430000" cy="5397500"/>
          </a:xfrm>
          <a:prstGeom prst="rect">
            <a:avLst/>
          </a:prstGeom>
          <a:solidFill>
            <a:srgbClr val="FFFFFF"/>
          </a:solidFill>
          <a:ln w="1397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endParaRPr lang="zh-CN" altLang="en-US" sz="100">
              <a:solidFill>
                <a:srgbClr val="052346"/>
              </a:solidFill>
              <a:latin typeface="微软雅黑" panose="020B0503020204020204" pitchFamily="34" charset="-122"/>
            </a:endParaRPr>
          </a:p>
        </p:txBody>
      </p:sp>
      <p:sp>
        <p:nvSpPr>
          <p:cNvPr id="3" name="矩形 2">
            <a:extLst>
              <a:ext uri="{FF2B5EF4-FFF2-40B4-BE49-F238E27FC236}">
                <a16:creationId xmlns:a16="http://schemas.microsoft.com/office/drawing/2014/main" id="{1B6DDA84-4485-7268-8111-F2D5EA9031E0}"/>
              </a:ext>
            </a:extLst>
          </p:cNvPr>
          <p:cNvSpPr/>
          <p:nvPr/>
        </p:nvSpPr>
        <p:spPr>
          <a:xfrm>
            <a:off x="533400" y="1524000"/>
            <a:ext cx="11049000" cy="533400"/>
          </a:xfrm>
          <a:prstGeom prst="rect">
            <a:avLst/>
          </a:prstGeom>
          <a:solidFill>
            <a:srgbClr val="0054A0"/>
          </a:solidFill>
          <a:ln w="13970">
            <a:solidFill>
              <a:srgbClr val="0054A0"/>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700" b="1">
                <a:solidFill>
                  <a:srgbClr val="FFFFFF"/>
                </a:solidFill>
                <a:latin typeface="微软雅黑" panose="020B0503020204020204" pitchFamily="34" charset="-122"/>
              </a:rPr>
              <a:t>平台通过桌面前端、本地后端、远端调度和模型执行器连接实际算力</a:t>
            </a:r>
          </a:p>
        </p:txBody>
      </p:sp>
      <p:sp>
        <p:nvSpPr>
          <p:cNvPr id="4" name="矩形 3">
            <a:extLst>
              <a:ext uri="{FF2B5EF4-FFF2-40B4-BE49-F238E27FC236}">
                <a16:creationId xmlns:a16="http://schemas.microsoft.com/office/drawing/2014/main" id="{21F1F99A-6CDB-93AB-05BD-1B21A52A653D}"/>
              </a:ext>
            </a:extLst>
          </p:cNvPr>
          <p:cNvSpPr/>
          <p:nvPr/>
        </p:nvSpPr>
        <p:spPr>
          <a:xfrm>
            <a:off x="698500" y="2349500"/>
            <a:ext cx="6731000" cy="2603500"/>
          </a:xfrm>
          <a:prstGeom prst="rect">
            <a:avLst/>
          </a:prstGeom>
          <a:solidFill>
            <a:srgbClr val="FFFFFF"/>
          </a:solidFill>
          <a:ln w="1397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500" b="1">
                <a:solidFill>
                  <a:srgbClr val="052346"/>
                </a:solidFill>
                <a:latin typeface="微软雅黑" panose="020B0503020204020204" pitchFamily="34" charset="-122"/>
              </a:rPr>
              <a:t>放图：四层技术架构图
</a:t>
            </a:r>
            <a:r>
              <a:rPr lang="en-US" altLang="zh-CN" sz="1500" b="1">
                <a:solidFill>
                  <a:srgbClr val="052346"/>
                </a:solidFill>
                <a:latin typeface="微软雅黑" panose="020B0503020204020204" pitchFamily="34" charset="-122"/>
              </a:rPr>
              <a:t>Tauri / React / FastAPI / SSH-SCP / </a:t>
            </a:r>
            <a:r>
              <a:rPr lang="zh-CN" altLang="en-US" sz="1500" b="1">
                <a:solidFill>
                  <a:srgbClr val="052346"/>
                </a:solidFill>
                <a:latin typeface="微软雅黑" panose="020B0503020204020204" pitchFamily="34" charset="-122"/>
              </a:rPr>
              <a:t>执行器</a:t>
            </a:r>
          </a:p>
        </p:txBody>
      </p:sp>
      <p:sp>
        <p:nvSpPr>
          <p:cNvPr id="5" name="矩形 4">
            <a:extLst>
              <a:ext uri="{FF2B5EF4-FFF2-40B4-BE49-F238E27FC236}">
                <a16:creationId xmlns:a16="http://schemas.microsoft.com/office/drawing/2014/main" id="{83649A8F-7363-0212-F233-DF912BBE6FB0}"/>
              </a:ext>
            </a:extLst>
          </p:cNvPr>
          <p:cNvSpPr/>
          <p:nvPr/>
        </p:nvSpPr>
        <p:spPr>
          <a:xfrm>
            <a:off x="7747000" y="2349500"/>
            <a:ext cx="3619500" cy="2603500"/>
          </a:xfrm>
          <a:prstGeom prst="rect">
            <a:avLst/>
          </a:prstGeom>
          <a:solidFill>
            <a:srgbClr val="FFFFFF"/>
          </a:solidFill>
          <a:ln w="1397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500" b="1">
                <a:solidFill>
                  <a:srgbClr val="052346"/>
                </a:solidFill>
                <a:latin typeface="微软雅黑" panose="020B0503020204020204" pitchFamily="34" charset="-122"/>
              </a:rPr>
              <a:t>放图：任务运行截图
日志、状态、结果回传</a:t>
            </a:r>
          </a:p>
        </p:txBody>
      </p:sp>
      <p:sp>
        <p:nvSpPr>
          <p:cNvPr id="6" name="矩形 5">
            <a:extLst>
              <a:ext uri="{FF2B5EF4-FFF2-40B4-BE49-F238E27FC236}">
                <a16:creationId xmlns:a16="http://schemas.microsoft.com/office/drawing/2014/main" id="{FBE650FD-96D4-B0F3-5861-9F9F6E36BF1B}"/>
              </a:ext>
            </a:extLst>
          </p:cNvPr>
          <p:cNvSpPr/>
          <p:nvPr/>
        </p:nvSpPr>
        <p:spPr>
          <a:xfrm>
            <a:off x="7747000" y="5143500"/>
            <a:ext cx="1714500" cy="508000"/>
          </a:xfrm>
          <a:prstGeom prst="rect">
            <a:avLst/>
          </a:prstGeom>
          <a:solidFill>
            <a:srgbClr val="0054A0"/>
          </a:solidFill>
          <a:ln w="13970">
            <a:solidFill>
              <a:srgbClr val="0054A0"/>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500" b="1">
                <a:solidFill>
                  <a:srgbClr val="FFFFFF"/>
                </a:solidFill>
                <a:latin typeface="微软雅黑" panose="020B0503020204020204" pitchFamily="34" charset="-122"/>
              </a:rPr>
              <a:t>桌面前端</a:t>
            </a:r>
          </a:p>
        </p:txBody>
      </p:sp>
      <p:sp>
        <p:nvSpPr>
          <p:cNvPr id="7" name="矩形 6">
            <a:extLst>
              <a:ext uri="{FF2B5EF4-FFF2-40B4-BE49-F238E27FC236}">
                <a16:creationId xmlns:a16="http://schemas.microsoft.com/office/drawing/2014/main" id="{80E052E6-4873-F534-2EF7-E9ECBC03FAA7}"/>
              </a:ext>
            </a:extLst>
          </p:cNvPr>
          <p:cNvSpPr/>
          <p:nvPr/>
        </p:nvSpPr>
        <p:spPr>
          <a:xfrm>
            <a:off x="9652000" y="5143500"/>
            <a:ext cx="1714500" cy="508000"/>
          </a:xfrm>
          <a:prstGeom prst="rect">
            <a:avLst/>
          </a:prstGeom>
          <a:solidFill>
            <a:srgbClr val="0054A0"/>
          </a:solidFill>
          <a:ln w="13970">
            <a:solidFill>
              <a:srgbClr val="0054A0"/>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500" b="1">
                <a:solidFill>
                  <a:srgbClr val="FFFFFF"/>
                </a:solidFill>
                <a:latin typeface="微软雅黑" panose="020B0503020204020204" pitchFamily="34" charset="-122"/>
              </a:rPr>
              <a:t>本地后端</a:t>
            </a:r>
          </a:p>
        </p:txBody>
      </p:sp>
      <p:sp>
        <p:nvSpPr>
          <p:cNvPr id="28" name="矩形 27">
            <a:extLst>
              <a:ext uri="{FF2B5EF4-FFF2-40B4-BE49-F238E27FC236}">
                <a16:creationId xmlns:a16="http://schemas.microsoft.com/office/drawing/2014/main" id="{C4391039-7355-3E3E-8E14-AAFB2BAE35F2}"/>
              </a:ext>
            </a:extLst>
          </p:cNvPr>
          <p:cNvSpPr/>
          <p:nvPr/>
        </p:nvSpPr>
        <p:spPr>
          <a:xfrm>
            <a:off x="7747000" y="5740400"/>
            <a:ext cx="1714500" cy="508000"/>
          </a:xfrm>
          <a:prstGeom prst="rect">
            <a:avLst/>
          </a:prstGeom>
          <a:solidFill>
            <a:srgbClr val="0054A0"/>
          </a:solidFill>
          <a:ln w="13970">
            <a:solidFill>
              <a:srgbClr val="0054A0"/>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500" b="1">
                <a:solidFill>
                  <a:srgbClr val="FFFFFF"/>
                </a:solidFill>
                <a:latin typeface="微软雅黑" panose="020B0503020204020204" pitchFamily="34" charset="-122"/>
              </a:rPr>
              <a:t>远端调度</a:t>
            </a:r>
          </a:p>
        </p:txBody>
      </p:sp>
      <p:sp>
        <p:nvSpPr>
          <p:cNvPr id="29" name="矩形 28">
            <a:extLst>
              <a:ext uri="{FF2B5EF4-FFF2-40B4-BE49-F238E27FC236}">
                <a16:creationId xmlns:a16="http://schemas.microsoft.com/office/drawing/2014/main" id="{729526E0-2982-054E-CF89-2A33298F470A}"/>
              </a:ext>
            </a:extLst>
          </p:cNvPr>
          <p:cNvSpPr/>
          <p:nvPr/>
        </p:nvSpPr>
        <p:spPr>
          <a:xfrm>
            <a:off x="9652000" y="5740400"/>
            <a:ext cx="1714500" cy="508000"/>
          </a:xfrm>
          <a:prstGeom prst="rect">
            <a:avLst/>
          </a:prstGeom>
          <a:solidFill>
            <a:srgbClr val="0054A0"/>
          </a:solidFill>
          <a:ln w="13970">
            <a:solidFill>
              <a:srgbClr val="0054A0"/>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500" b="1">
                <a:solidFill>
                  <a:srgbClr val="FFFFFF"/>
                </a:solidFill>
                <a:latin typeface="微软雅黑" panose="020B0503020204020204" pitchFamily="34" charset="-122"/>
              </a:rPr>
              <a:t>模型执行器</a:t>
            </a:r>
          </a:p>
        </p:txBody>
      </p:sp>
      <p:sp>
        <p:nvSpPr>
          <p:cNvPr id="31" name="矩形 30">
            <a:extLst>
              <a:ext uri="{FF2B5EF4-FFF2-40B4-BE49-F238E27FC236}">
                <a16:creationId xmlns:a16="http://schemas.microsoft.com/office/drawing/2014/main" id="{3337F32F-45D6-616F-41CF-E25CE94B2430}"/>
              </a:ext>
            </a:extLst>
          </p:cNvPr>
          <p:cNvSpPr/>
          <p:nvPr/>
        </p:nvSpPr>
        <p:spPr>
          <a:xfrm>
            <a:off x="698500" y="5270500"/>
            <a:ext cx="6731000" cy="736600"/>
          </a:xfrm>
          <a:prstGeom prst="rect">
            <a:avLst/>
          </a:prstGeom>
          <a:solidFill>
            <a:srgbClr val="E8F1FA"/>
          </a:solidFill>
          <a:ln w="1397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en-US" altLang="zh-CN" sz="1500" b="1">
                <a:solidFill>
                  <a:srgbClr val="052346"/>
                </a:solidFill>
                <a:latin typeface="微软雅黑" panose="020B0503020204020204" pitchFamily="34" charset="-122"/>
              </a:rPr>
              <a:t>【</a:t>
            </a:r>
            <a:r>
              <a:rPr lang="zh-CN" altLang="en-US" sz="1500" b="1">
                <a:solidFill>
                  <a:srgbClr val="052346"/>
                </a:solidFill>
                <a:latin typeface="微软雅黑" panose="020B0503020204020204" pitchFamily="34" charset="-122"/>
              </a:rPr>
              <a:t>填：一句架构结论</a:t>
            </a:r>
            <a:r>
              <a:rPr lang="en-US" altLang="zh-CN" sz="1500" b="1">
                <a:solidFill>
                  <a:srgbClr val="052346"/>
                </a:solidFill>
                <a:latin typeface="微软雅黑" panose="020B0503020204020204" pitchFamily="34" charset="-122"/>
              </a:rPr>
              <a:t>】</a:t>
            </a:r>
            <a:r>
              <a:rPr lang="zh-CN" altLang="en-US" sz="1500" b="1">
                <a:solidFill>
                  <a:srgbClr val="052346"/>
                </a:solidFill>
                <a:latin typeface="微软雅黑" panose="020B0503020204020204" pitchFamily="34" charset="-122"/>
              </a:rPr>
              <a:t>例如：执行器封装模型差异，平台统一提交、日志监听和结果回传。</a:t>
            </a:r>
          </a:p>
        </p:txBody>
      </p:sp>
    </p:spTree>
    <p:extLst>
      <p:ext uri="{BB962C8B-B14F-4D97-AF65-F5344CB8AC3E}">
        <p14:creationId xmlns:p14="http://schemas.microsoft.com/office/powerpoint/2010/main" val="2555259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6C448-FC36-35AA-A309-8666383D1A8B}"/>
            </a:ext>
          </a:extLst>
        </p:cNvPr>
        <p:cNvGrpSpPr/>
        <p:nvPr/>
      </p:nvGrpSpPr>
      <p:grpSpPr>
        <a:xfrm>
          <a:off x="0" y="0"/>
          <a:ext cx="0" cy="0"/>
          <a:chOff x="0" y="0"/>
          <a:chExt cx="0" cy="0"/>
        </a:xfrm>
      </p:grpSpPr>
      <p:sp>
        <p:nvSpPr>
          <p:cNvPr id="90" name="文本框 89">
            <a:extLst>
              <a:ext uri="{FF2B5EF4-FFF2-40B4-BE49-F238E27FC236}">
                <a16:creationId xmlns:a16="http://schemas.microsoft.com/office/drawing/2014/main" id="{85A692C8-69B7-DF42-1D83-830EA65885C9}"/>
              </a:ext>
            </a:extLst>
          </p:cNvPr>
          <p:cNvSpPr txBox="1"/>
          <p:nvPr/>
        </p:nvSpPr>
        <p:spPr>
          <a:xfrm>
            <a:off x="115452" y="243436"/>
            <a:ext cx="772964" cy="369332"/>
          </a:xfrm>
          <a:prstGeom prst="rect">
            <a:avLst/>
          </a:prstGeom>
          <a:noFill/>
        </p:spPr>
        <p:txBody>
          <a:bodyPr wrap="square" rtlCol="0">
            <a:spAutoFit/>
          </a:bodyPr>
          <a:lstStyle/>
          <a:p>
            <a:pPr algn="ctr"/>
            <a:r>
              <a:rPr lang="en-US" altLang="zh-CN" b="1">
                <a:solidFill>
                  <a:schemeClr val="bg1"/>
                </a:solidFill>
                <a:latin typeface="微软雅黑" panose="020B0503020204020204" pitchFamily="34" charset="-122"/>
              </a:rPr>
              <a:t>3.1</a:t>
            </a:r>
            <a:endParaRPr lang="zh-CN" altLang="en-US" b="1" dirty="0">
              <a:solidFill>
                <a:schemeClr val="bg1"/>
              </a:solidFill>
              <a:latin typeface="微软雅黑" panose="020B0503020204020204" pitchFamily="34" charset="-122"/>
            </a:endParaRPr>
          </a:p>
        </p:txBody>
      </p:sp>
      <p:sp>
        <p:nvSpPr>
          <p:cNvPr id="92" name="文本框 91">
            <a:extLst>
              <a:ext uri="{FF2B5EF4-FFF2-40B4-BE49-F238E27FC236}">
                <a16:creationId xmlns:a16="http://schemas.microsoft.com/office/drawing/2014/main" id="{756D7332-671D-7D0A-7FA8-FCC77F89DBCA}"/>
              </a:ext>
            </a:extLst>
          </p:cNvPr>
          <p:cNvSpPr txBox="1"/>
          <p:nvPr/>
        </p:nvSpPr>
        <p:spPr>
          <a:xfrm>
            <a:off x="946461" y="269201"/>
            <a:ext cx="6440714" cy="492443"/>
          </a:xfrm>
          <a:prstGeom prst="rect">
            <a:avLst/>
          </a:prstGeom>
          <a:noFill/>
        </p:spPr>
        <p:txBody>
          <a:bodyPr wrap="square">
            <a:spAutoFit/>
          </a:bodyPr>
          <a:lstStyle/>
          <a:p>
            <a:r>
              <a:rPr lang="zh-CN" altLang="en-US" sz="2600" b="1">
                <a:solidFill>
                  <a:schemeClr val="accent1"/>
                </a:solidFill>
                <a:latin typeface="微软雅黑" panose="020B0503020204020204" pitchFamily="34" charset="-122"/>
              </a:rPr>
              <a:t>实际运行流程</a:t>
            </a:r>
            <a:endParaRPr lang="zh-CN" altLang="en-US" sz="2600" b="1" dirty="0">
              <a:solidFill>
                <a:schemeClr val="accent1"/>
              </a:solidFill>
              <a:latin typeface="微软雅黑" panose="020B0503020204020204" pitchFamily="34" charset="-122"/>
            </a:endParaRPr>
          </a:p>
        </p:txBody>
      </p:sp>
      <p:sp>
        <p:nvSpPr>
          <p:cNvPr id="2" name="矩形: 圆角 1">
            <a:extLst>
              <a:ext uri="{FF2B5EF4-FFF2-40B4-BE49-F238E27FC236}">
                <a16:creationId xmlns:a16="http://schemas.microsoft.com/office/drawing/2014/main" id="{D7A6ADFC-2041-7B88-8530-65151F96F530}"/>
              </a:ext>
            </a:extLst>
          </p:cNvPr>
          <p:cNvSpPr/>
          <p:nvPr/>
        </p:nvSpPr>
        <p:spPr>
          <a:xfrm>
            <a:off x="479426" y="1159628"/>
            <a:ext cx="11217274" cy="714367"/>
          </a:xfrm>
          <a:prstGeom prst="roundRect">
            <a:avLst>
              <a:gd name="adj" fmla="val 3293"/>
            </a:avLst>
          </a:prstGeom>
          <a:solidFill>
            <a:schemeClr val="bg1"/>
          </a:solidFill>
          <a:ln w="3175" cap="flat" cmpd="sng" algn="ctr">
            <a:solidFill>
              <a:schemeClr val="accent1"/>
            </a:solidFill>
            <a:prstDash val="solid"/>
            <a:miter lim="800000"/>
          </a:ln>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3" name="文本框 2">
            <a:extLst>
              <a:ext uri="{FF2B5EF4-FFF2-40B4-BE49-F238E27FC236}">
                <a16:creationId xmlns:a16="http://schemas.microsoft.com/office/drawing/2014/main" id="{F36C15BD-FC46-FE14-9215-A260C123F22B}"/>
              </a:ext>
            </a:extLst>
          </p:cNvPr>
          <p:cNvSpPr txBox="1"/>
          <p:nvPr/>
        </p:nvSpPr>
        <p:spPr>
          <a:xfrm>
            <a:off x="833648" y="1250488"/>
            <a:ext cx="10508830" cy="532646"/>
          </a:xfrm>
          <a:prstGeom prst="rect">
            <a:avLst/>
          </a:prstGeom>
          <a:noFill/>
        </p:spPr>
        <p:txBody>
          <a:bodyPr wrap="none">
            <a:noAutofit/>
          </a:bodyPr>
          <a:lstStyle/>
          <a:p>
            <a:pPr algn="just">
              <a:lnSpc>
                <a:spcPct val="130000"/>
              </a:lnSpc>
            </a:pPr>
            <a:r>
              <a:rPr lang="zh-CN" altLang="en-US" sz="2400" b="1" dirty="0">
                <a:solidFill>
                  <a:schemeClr val="accent1"/>
                </a:solidFill>
                <a:latin typeface="微软雅黑" panose="020B0503020204020204" pitchFamily="34" charset="-122"/>
                <a:ea typeface="微软雅黑" panose="020B0503020204020204" pitchFamily="34" charset="-122"/>
              </a:rPr>
              <a:t>多铁材料与磁电调控对于未来信息技术和电子器件的发展具有重要的推动作用</a:t>
            </a:r>
          </a:p>
        </p:txBody>
      </p:sp>
      <p:sp>
        <p:nvSpPr>
          <p:cNvPr id="4" name="幻云PPT-演示军团1">
            <a:extLst>
              <a:ext uri="{FF2B5EF4-FFF2-40B4-BE49-F238E27FC236}">
                <a16:creationId xmlns:a16="http://schemas.microsoft.com/office/drawing/2014/main" id="{DC74C6B0-04D3-7711-BE51-FC72DFFC2447}"/>
              </a:ext>
            </a:extLst>
          </p:cNvPr>
          <p:cNvSpPr/>
          <p:nvPr>
            <p:custDataLst>
              <p:tags r:id="rId1"/>
            </p:custDataLst>
          </p:nvPr>
        </p:nvSpPr>
        <p:spPr>
          <a:xfrm>
            <a:off x="6183311" y="2406157"/>
            <a:ext cx="5511947" cy="4046855"/>
          </a:xfrm>
          <a:prstGeom prst="roundRect">
            <a:avLst>
              <a:gd name="adj" fmla="val 812"/>
            </a:avLst>
          </a:prstGeom>
          <a:solidFill>
            <a:srgbClr val="FFFFFF"/>
          </a:solidFill>
          <a:ln w="3175" cap="flat" cmpd="sng" algn="ctr">
            <a:solidFill>
              <a:schemeClr val="accent1"/>
            </a:solidFill>
            <a:prstDash val="solid"/>
            <a:miter lim="800000"/>
          </a:ln>
          <a:effectLst/>
        </p:spPr>
        <p:txBody>
          <a:bodyPr rtlCol="0" anchor="ctr"/>
          <a:lstStyle/>
          <a:p>
            <a:pPr algn="ctr"/>
            <a:endParaRPr lang="en-US" kern="0" dirty="0">
              <a:solidFill>
                <a:srgbClr val="E5EDF4"/>
              </a:solidFill>
              <a:latin typeface="微软雅黑" panose="020B0503020204020204" pitchFamily="34" charset="-122"/>
            </a:endParaRPr>
          </a:p>
        </p:txBody>
      </p:sp>
      <p:sp>
        <p:nvSpPr>
          <p:cNvPr id="5" name="幻云PPT-演示军团19">
            <a:extLst>
              <a:ext uri="{FF2B5EF4-FFF2-40B4-BE49-F238E27FC236}">
                <a16:creationId xmlns:a16="http://schemas.microsoft.com/office/drawing/2014/main" id="{E8D00879-6D88-082B-87D9-96FE84AF5284}"/>
              </a:ext>
            </a:extLst>
          </p:cNvPr>
          <p:cNvSpPr/>
          <p:nvPr>
            <p:custDataLst>
              <p:tags r:id="rId2"/>
            </p:custDataLst>
          </p:nvPr>
        </p:nvSpPr>
        <p:spPr>
          <a:xfrm>
            <a:off x="6183312" y="1964855"/>
            <a:ext cx="5527819" cy="578212"/>
          </a:xfrm>
          <a:prstGeom prst="roundRect">
            <a:avLst>
              <a:gd name="adj" fmla="val 5827"/>
            </a:avLst>
          </a:prstGeom>
          <a:solidFill>
            <a:schemeClr val="accent1"/>
          </a:solidFill>
          <a:ln w="3175" cap="flat" cmpd="sng" algn="ctr">
            <a:noFill/>
            <a:prstDash val="solid"/>
            <a:miter lim="800000"/>
          </a:ln>
          <a:effectLst/>
        </p:spPr>
        <p:txBody>
          <a:bodyPr lIns="76535" tIns="38268" rIns="76535" bIns="38268" rtlCol="0" anchor="ctr"/>
          <a:lstStyle/>
          <a:p>
            <a:pPr algn="ctr"/>
            <a:r>
              <a:rPr lang="zh-CN" altLang="en-US" sz="2400" b="1" kern="0" dirty="0">
                <a:solidFill>
                  <a:srgbClr val="FFFFFF"/>
                </a:solidFill>
                <a:latin typeface="微软雅黑" panose="020B0503020204020204" pitchFamily="34" charset="-122"/>
                <a:ea typeface="微软雅黑" panose="020B0503020204020204" pitchFamily="34" charset="-122"/>
                <a:cs typeface="OPPOSans B" panose="00020600040101010101" pitchFamily="18" charset="-122"/>
              </a:rPr>
              <a:t>研发数据研究</a:t>
            </a:r>
            <a:endParaRPr lang="en-US" altLang="zh-CN" sz="2400" b="1" kern="0" dirty="0">
              <a:solidFill>
                <a:srgbClr val="FFFFFF"/>
              </a:solidFill>
              <a:latin typeface="微软雅黑" panose="020B0503020204020204" pitchFamily="34" charset="-122"/>
              <a:ea typeface="微软雅黑" panose="020B0503020204020204" pitchFamily="34" charset="-122"/>
              <a:cs typeface="OPPOSans B" panose="00020600040101010101" pitchFamily="18" charset="-122"/>
            </a:endParaRPr>
          </a:p>
        </p:txBody>
      </p:sp>
      <p:graphicFrame>
        <p:nvGraphicFramePr>
          <p:cNvPr id="8" name="幻云PPT-演示军团30">
            <a:extLst>
              <a:ext uri="{FF2B5EF4-FFF2-40B4-BE49-F238E27FC236}">
                <a16:creationId xmlns:a16="http://schemas.microsoft.com/office/drawing/2014/main" id="{C8695655-0342-72DF-8869-FE6EB9D41F8F}"/>
              </a:ext>
            </a:extLst>
          </p:cNvPr>
          <p:cNvGraphicFramePr/>
          <p:nvPr>
            <p:extLst>
              <p:ext uri="{D42A27DB-BD31-4B8C-83A1-F6EECF244321}">
                <p14:modId xmlns:p14="http://schemas.microsoft.com/office/powerpoint/2010/main" val="3483799321"/>
              </p:ext>
            </p:extLst>
          </p:nvPr>
        </p:nvGraphicFramePr>
        <p:xfrm>
          <a:off x="6394475" y="2691144"/>
          <a:ext cx="5086667" cy="1848046"/>
        </p:xfrm>
        <a:graphic>
          <a:graphicData uri="http://schemas.openxmlformats.org/drawingml/2006/chart">
            <c:chart xmlns:c="http://schemas.openxmlformats.org/drawingml/2006/chart" xmlns:r="http://schemas.openxmlformats.org/officeDocument/2006/relationships" r:id="rId11"/>
          </a:graphicData>
        </a:graphic>
      </p:graphicFrame>
      <p:pic>
        <p:nvPicPr>
          <p:cNvPr id="9" name="图片 8">
            <a:extLst>
              <a:ext uri="{FF2B5EF4-FFF2-40B4-BE49-F238E27FC236}">
                <a16:creationId xmlns:a16="http://schemas.microsoft.com/office/drawing/2014/main" id="{9C09736C-2B1C-DEE0-17DE-056AC4FBE54A}"/>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394475" y="4676010"/>
            <a:ext cx="2444725" cy="1626954"/>
          </a:xfrm>
          <a:prstGeom prst="roundRect">
            <a:avLst>
              <a:gd name="adj" fmla="val 1084"/>
            </a:avLst>
          </a:prstGeom>
          <a:solidFill>
            <a:schemeClr val="accent3">
              <a:alpha val="30000"/>
            </a:schemeClr>
          </a:solidFill>
          <a:ln w="9525" cap="flat" cmpd="sng" algn="ctr">
            <a:solidFill>
              <a:schemeClr val="accent1"/>
            </a:solidFill>
            <a:prstDash val="lgDash"/>
            <a:miter lim="800000"/>
          </a:ln>
          <a:effectLst/>
        </p:spPr>
      </p:pic>
      <p:pic>
        <p:nvPicPr>
          <p:cNvPr id="10" name="图片 9">
            <a:extLst>
              <a:ext uri="{FF2B5EF4-FFF2-40B4-BE49-F238E27FC236}">
                <a16:creationId xmlns:a16="http://schemas.microsoft.com/office/drawing/2014/main" id="{1EA3641E-B840-F652-BFE8-6E52CE981B66}"/>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036417" y="4675670"/>
            <a:ext cx="2444724" cy="1627634"/>
          </a:xfrm>
          <a:prstGeom prst="roundRect">
            <a:avLst>
              <a:gd name="adj" fmla="val 1084"/>
            </a:avLst>
          </a:prstGeom>
          <a:solidFill>
            <a:schemeClr val="accent3">
              <a:alpha val="30000"/>
            </a:schemeClr>
          </a:solidFill>
          <a:ln w="9525" cap="flat" cmpd="sng" algn="ctr">
            <a:solidFill>
              <a:schemeClr val="accent1"/>
            </a:solidFill>
            <a:prstDash val="lgDash"/>
            <a:miter lim="800000"/>
          </a:ln>
          <a:effectLst/>
        </p:spPr>
      </p:pic>
      <p:sp>
        <p:nvSpPr>
          <p:cNvPr id="11" name="幻云PPT-演示军团1">
            <a:extLst>
              <a:ext uri="{FF2B5EF4-FFF2-40B4-BE49-F238E27FC236}">
                <a16:creationId xmlns:a16="http://schemas.microsoft.com/office/drawing/2014/main" id="{7CFF70C4-586B-70DD-ECB9-5382CAE9B58C}"/>
              </a:ext>
            </a:extLst>
          </p:cNvPr>
          <p:cNvSpPr/>
          <p:nvPr>
            <p:custDataLst>
              <p:tags r:id="rId3"/>
            </p:custDataLst>
          </p:nvPr>
        </p:nvSpPr>
        <p:spPr>
          <a:xfrm>
            <a:off x="492809" y="2000799"/>
            <a:ext cx="5493285" cy="2062731"/>
          </a:xfrm>
          <a:prstGeom prst="roundRect">
            <a:avLst>
              <a:gd name="adj" fmla="val 617"/>
            </a:avLst>
          </a:prstGeom>
          <a:solidFill>
            <a:srgbClr val="FFFFFF"/>
          </a:solidFill>
          <a:ln w="3175" cap="flat" cmpd="sng" algn="ctr">
            <a:solidFill>
              <a:schemeClr val="accent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E5EDF4"/>
              </a:solidFill>
              <a:effectLst/>
              <a:uLnTx/>
              <a:uFillTx/>
              <a:latin typeface="微软雅黑" panose="020B0503020204020204" pitchFamily="34" charset="-122"/>
              <a:ea typeface="+mn-ea"/>
              <a:cs typeface="+mn-cs"/>
            </a:endParaRPr>
          </a:p>
        </p:txBody>
      </p:sp>
      <p:sp>
        <p:nvSpPr>
          <p:cNvPr id="12" name="幻云PPT-演示军团19">
            <a:extLst>
              <a:ext uri="{FF2B5EF4-FFF2-40B4-BE49-F238E27FC236}">
                <a16:creationId xmlns:a16="http://schemas.microsoft.com/office/drawing/2014/main" id="{FA1B6605-A767-5DCD-85F8-936E73DFA664}"/>
              </a:ext>
            </a:extLst>
          </p:cNvPr>
          <p:cNvSpPr/>
          <p:nvPr>
            <p:custDataLst>
              <p:tags r:id="rId4"/>
            </p:custDataLst>
          </p:nvPr>
        </p:nvSpPr>
        <p:spPr>
          <a:xfrm>
            <a:off x="492810" y="1979405"/>
            <a:ext cx="5493284" cy="453490"/>
          </a:xfrm>
          <a:prstGeom prst="roundRect">
            <a:avLst>
              <a:gd name="adj" fmla="val 3727"/>
            </a:avLst>
          </a:prstGeom>
          <a:solidFill>
            <a:schemeClr val="accent1"/>
          </a:solidFill>
          <a:ln w="3175" cap="flat" cmpd="sng" algn="ctr">
            <a:noFill/>
            <a:prstDash val="solid"/>
            <a:miter lim="800000"/>
          </a:ln>
          <a:effectLst/>
        </p:spPr>
        <p:txBody>
          <a:bodyPr lIns="76535" tIns="38268" rIns="76535" bIns="38268"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OPPOSans B" panose="00020600040101010101" pitchFamily="18" charset="-122"/>
              </a:rPr>
              <a:t>研究难题</a:t>
            </a:r>
            <a:endParaRPr kumimoji="0" lang="en-US" altLang="zh-CN" sz="2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OPPOSans B" panose="00020600040101010101" pitchFamily="18" charset="-122"/>
            </a:endParaRPr>
          </a:p>
        </p:txBody>
      </p:sp>
      <p:sp>
        <p:nvSpPr>
          <p:cNvPr id="13" name="幻云PPT-演示军团1">
            <a:extLst>
              <a:ext uri="{FF2B5EF4-FFF2-40B4-BE49-F238E27FC236}">
                <a16:creationId xmlns:a16="http://schemas.microsoft.com/office/drawing/2014/main" id="{DE03F39A-773D-E1A6-3B18-BB6342F826F6}"/>
              </a:ext>
            </a:extLst>
          </p:cNvPr>
          <p:cNvSpPr/>
          <p:nvPr>
            <p:custDataLst>
              <p:tags r:id="rId5"/>
            </p:custDataLst>
          </p:nvPr>
        </p:nvSpPr>
        <p:spPr>
          <a:xfrm>
            <a:off x="492809" y="4388399"/>
            <a:ext cx="5493285" cy="2062731"/>
          </a:xfrm>
          <a:prstGeom prst="roundRect">
            <a:avLst>
              <a:gd name="adj" fmla="val 617"/>
            </a:avLst>
          </a:prstGeom>
          <a:solidFill>
            <a:srgbClr val="FFFFFF"/>
          </a:solidFill>
          <a:ln w="3175" cap="flat" cmpd="sng" algn="ctr">
            <a:solidFill>
              <a:schemeClr val="accent1"/>
            </a:solidFill>
            <a:prstDash val="solid"/>
            <a:miter lim="800000"/>
          </a:ln>
          <a:effectLst/>
        </p:spPr>
        <p:txBody>
          <a:bodyPr rtlCol="0" anchor="ctr"/>
          <a:lstStyle/>
          <a:p>
            <a:pPr algn="ctr"/>
            <a:endParaRPr lang="en-US" kern="0" dirty="0">
              <a:solidFill>
                <a:srgbClr val="E5EDF4"/>
              </a:solidFill>
              <a:latin typeface="微软雅黑" panose="020B0503020204020204" pitchFamily="34" charset="-122"/>
            </a:endParaRPr>
          </a:p>
        </p:txBody>
      </p:sp>
      <p:sp>
        <p:nvSpPr>
          <p:cNvPr id="14" name="幻云PPT-演示军团19">
            <a:extLst>
              <a:ext uri="{FF2B5EF4-FFF2-40B4-BE49-F238E27FC236}">
                <a16:creationId xmlns:a16="http://schemas.microsoft.com/office/drawing/2014/main" id="{FC9ABA25-F49A-5E87-1639-F3F10118BDBB}"/>
              </a:ext>
            </a:extLst>
          </p:cNvPr>
          <p:cNvSpPr/>
          <p:nvPr>
            <p:custDataLst>
              <p:tags r:id="rId6"/>
            </p:custDataLst>
          </p:nvPr>
        </p:nvSpPr>
        <p:spPr>
          <a:xfrm>
            <a:off x="492810" y="4367005"/>
            <a:ext cx="5493284" cy="453490"/>
          </a:xfrm>
          <a:prstGeom prst="roundRect">
            <a:avLst>
              <a:gd name="adj" fmla="val 3727"/>
            </a:avLst>
          </a:prstGeom>
          <a:solidFill>
            <a:schemeClr val="accent1"/>
          </a:solidFill>
          <a:ln w="3175" cap="flat" cmpd="sng" algn="ctr">
            <a:noFill/>
            <a:prstDash val="solid"/>
            <a:miter lim="800000"/>
          </a:ln>
          <a:effectLst/>
        </p:spPr>
        <p:txBody>
          <a:bodyPr lIns="76535" tIns="38268" rIns="76535" bIns="38268" rtlCol="0" anchor="ctr"/>
          <a:lstStyle/>
          <a:p>
            <a:pPr algn="ctr"/>
            <a:r>
              <a:rPr lang="zh-CN" altLang="en-US" sz="2400" b="1" kern="0" dirty="0">
                <a:solidFill>
                  <a:srgbClr val="FFFFFF"/>
                </a:solidFill>
                <a:latin typeface="微软雅黑" panose="020B0503020204020204" pitchFamily="34" charset="-122"/>
                <a:ea typeface="微软雅黑" panose="020B0503020204020204" pitchFamily="34" charset="-122"/>
                <a:cs typeface="OPPOSans B" panose="00020600040101010101" pitchFamily="18" charset="-122"/>
              </a:rPr>
              <a:t>解决方法</a:t>
            </a:r>
            <a:endParaRPr lang="en-US" altLang="zh-CN" sz="2400" b="1" kern="0" dirty="0">
              <a:solidFill>
                <a:srgbClr val="FFFFFF"/>
              </a:solidFill>
              <a:latin typeface="微软雅黑" panose="020B0503020204020204" pitchFamily="34" charset="-122"/>
              <a:ea typeface="微软雅黑" panose="020B0503020204020204" pitchFamily="34" charset="-122"/>
              <a:cs typeface="OPPOSans B" panose="00020600040101010101" pitchFamily="18" charset="-122"/>
            </a:endParaRPr>
          </a:p>
        </p:txBody>
      </p:sp>
      <p:sp>
        <p:nvSpPr>
          <p:cNvPr id="15" name="幻云PPT-演示军团14">
            <a:extLst>
              <a:ext uri="{FF2B5EF4-FFF2-40B4-BE49-F238E27FC236}">
                <a16:creationId xmlns:a16="http://schemas.microsoft.com/office/drawing/2014/main" id="{040B9002-B667-5EE7-8CE0-771063B5BDFC}"/>
              </a:ext>
            </a:extLst>
          </p:cNvPr>
          <p:cNvSpPr/>
          <p:nvPr/>
        </p:nvSpPr>
        <p:spPr>
          <a:xfrm>
            <a:off x="658812" y="2640114"/>
            <a:ext cx="5113338" cy="1240786"/>
          </a:xfrm>
          <a:prstGeom prst="roundRect">
            <a:avLst>
              <a:gd name="adj" fmla="val 3651"/>
            </a:avLst>
          </a:prstGeom>
          <a:solidFill>
            <a:schemeClr val="accent3">
              <a:alpha val="30000"/>
            </a:schemeClr>
          </a:solidFill>
          <a:ln w="9525" cap="flat" cmpd="sng" algn="ctr">
            <a:solidFill>
              <a:schemeClr val="accent1"/>
            </a:solidFill>
            <a:prstDash val="lgDash"/>
            <a:miter lim="800000"/>
          </a:ln>
          <a:effectLst/>
        </p:spPr>
        <p:txBody>
          <a:bodyPr rtlCol="0" anchor="ctr"/>
          <a:lstStyle/>
          <a:p>
            <a:pPr marL="0" marR="0" lvl="0" indent="0" algn="just" defTabSz="4572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endParaRPr>
          </a:p>
        </p:txBody>
      </p:sp>
      <p:sp>
        <p:nvSpPr>
          <p:cNvPr id="16" name="幻云PPT-演示军团7">
            <a:extLst>
              <a:ext uri="{FF2B5EF4-FFF2-40B4-BE49-F238E27FC236}">
                <a16:creationId xmlns:a16="http://schemas.microsoft.com/office/drawing/2014/main" id="{D3826F87-801A-6A84-6749-4511D4D96150}"/>
              </a:ext>
            </a:extLst>
          </p:cNvPr>
          <p:cNvSpPr txBox="1"/>
          <p:nvPr>
            <p:custDataLst>
              <p:tags r:id="rId7"/>
            </p:custDataLst>
          </p:nvPr>
        </p:nvSpPr>
        <p:spPr>
          <a:xfrm>
            <a:off x="848280" y="2737569"/>
            <a:ext cx="4799485" cy="1045613"/>
          </a:xfrm>
          <a:prstGeom prst="rect">
            <a:avLst/>
          </a:prstGeom>
          <a:noFill/>
          <a:effectLst/>
        </p:spPr>
        <p:txBody>
          <a:bodyPr wrap="square" lIns="70363" tIns="35182" rIns="70363" bIns="35182" rtlCol="0">
            <a:spAutoFit/>
          </a:bodyPr>
          <a:lstStyle/>
          <a:p>
            <a:pPr>
              <a:lnSpc>
                <a:spcPct val="120000"/>
              </a:lnSpc>
            </a:pPr>
            <a:r>
              <a:rPr lang="zh-CN" altLang="en-US" dirty="0">
                <a:solidFill>
                  <a:schemeClr val="accent1"/>
                </a:solidFill>
                <a:latin typeface="微软雅黑" panose="020B0503020204020204" pitchFamily="34" charset="-122"/>
                <a:ea typeface="微软雅黑" panose="020B0503020204020204" pitchFamily="34" charset="-122"/>
                <a:cs typeface="OPPOSans R" panose="00020600040101010101" pitchFamily="18" charset="-122"/>
              </a:rPr>
              <a:t>界面效应</a:t>
            </a:r>
            <a:r>
              <a:rPr lang="zh-CN" altLang="en-US" dirty="0">
                <a:solidFill>
                  <a:srgbClr val="000000"/>
                </a:solidFill>
                <a:latin typeface="微软雅黑" panose="020B0503020204020204" pitchFamily="34" charset="-122"/>
                <a:ea typeface="微软雅黑" panose="020B0503020204020204" pitchFamily="34" charset="-122"/>
                <a:cs typeface="OPPOSans R" panose="00020600040101010101" pitchFamily="18" charset="-122"/>
              </a:rPr>
              <a:t>：在纳米尺度薄膜中，界面效应在一定程度上限制了传统铁电材料在高速微型化铁电元器件中的应用</a:t>
            </a:r>
            <a:endParaRPr lang="en-US" dirty="0">
              <a:solidFill>
                <a:srgbClr val="000000"/>
              </a:solidFill>
              <a:latin typeface="微软雅黑" panose="020B0503020204020204" pitchFamily="34" charset="-122"/>
              <a:ea typeface="微软雅黑" panose="020B0503020204020204" pitchFamily="34" charset="-122"/>
              <a:cs typeface="OPPOSans R" panose="00020600040101010101" pitchFamily="18" charset="-122"/>
            </a:endParaRPr>
          </a:p>
        </p:txBody>
      </p:sp>
      <p:sp>
        <p:nvSpPr>
          <p:cNvPr id="17" name="幻云PPT-演示军团14">
            <a:extLst>
              <a:ext uri="{FF2B5EF4-FFF2-40B4-BE49-F238E27FC236}">
                <a16:creationId xmlns:a16="http://schemas.microsoft.com/office/drawing/2014/main" id="{B35ACE92-173B-D8DC-892C-AE6C0EB22421}"/>
              </a:ext>
            </a:extLst>
          </p:cNvPr>
          <p:cNvSpPr/>
          <p:nvPr/>
        </p:nvSpPr>
        <p:spPr>
          <a:xfrm>
            <a:off x="658812" y="5015559"/>
            <a:ext cx="5113338" cy="1240786"/>
          </a:xfrm>
          <a:prstGeom prst="roundRect">
            <a:avLst>
              <a:gd name="adj" fmla="val 3651"/>
            </a:avLst>
          </a:prstGeom>
          <a:solidFill>
            <a:schemeClr val="accent3">
              <a:alpha val="30000"/>
            </a:schemeClr>
          </a:solidFill>
          <a:ln w="9525" cap="flat" cmpd="sng" algn="ctr">
            <a:solidFill>
              <a:schemeClr val="accent1"/>
            </a:solidFill>
            <a:prstDash val="lgDash"/>
            <a:miter lim="800000"/>
          </a:ln>
          <a:effectLst/>
        </p:spPr>
        <p:txBody>
          <a:bodyPr rtlCol="0" anchor="ctr"/>
          <a:lstStyle/>
          <a:p>
            <a:pPr algn="just" defTabSz="457200"/>
            <a:endParaRPr lang="en-US" sz="1200" kern="0" dirty="0">
              <a:solidFill>
                <a:prstClr val="white"/>
              </a:solidFill>
              <a:latin typeface="Arial" panose="020B0604020202020204" pitchFamily="34" charset="0"/>
              <a:ea typeface="微软雅黑" panose="020B0503020204020204" pitchFamily="34" charset="-122"/>
            </a:endParaRPr>
          </a:p>
        </p:txBody>
      </p:sp>
      <p:sp>
        <p:nvSpPr>
          <p:cNvPr id="18" name="幻云PPT-演示军团7">
            <a:extLst>
              <a:ext uri="{FF2B5EF4-FFF2-40B4-BE49-F238E27FC236}">
                <a16:creationId xmlns:a16="http://schemas.microsoft.com/office/drawing/2014/main" id="{4E9E99BE-FA2A-1B93-278B-582988BCEB65}"/>
              </a:ext>
            </a:extLst>
          </p:cNvPr>
          <p:cNvSpPr txBox="1"/>
          <p:nvPr>
            <p:custDataLst>
              <p:tags r:id="rId8"/>
            </p:custDataLst>
          </p:nvPr>
        </p:nvSpPr>
        <p:spPr>
          <a:xfrm>
            <a:off x="848280" y="5113014"/>
            <a:ext cx="4799485" cy="1045613"/>
          </a:xfrm>
          <a:prstGeom prst="rect">
            <a:avLst/>
          </a:prstGeom>
          <a:noFill/>
          <a:effectLst/>
        </p:spPr>
        <p:txBody>
          <a:bodyPr wrap="square" lIns="70363" tIns="35182" rIns="70363" bIns="35182" rtlCol="0">
            <a:spAutoFit/>
          </a:bodyPr>
          <a:lstStyle/>
          <a:p>
            <a:pPr>
              <a:lnSpc>
                <a:spcPct val="120000"/>
              </a:lnSpc>
            </a:pPr>
            <a:r>
              <a:rPr lang="zh-CN" altLang="en-US" dirty="0">
                <a:solidFill>
                  <a:schemeClr val="accent1"/>
                </a:solidFill>
                <a:latin typeface="微软雅黑" panose="020B0503020204020204" pitchFamily="34" charset="-122"/>
                <a:ea typeface="微软雅黑" panose="020B0503020204020204" pitchFamily="34" charset="-122"/>
                <a:cs typeface="OPPOSans R" panose="00020600040101010101" pitchFamily="18" charset="-122"/>
              </a:rPr>
              <a:t>电场调控氧离子栅极：</a:t>
            </a:r>
            <a:r>
              <a:rPr lang="zh-CN" altLang="en-US" dirty="0">
                <a:solidFill>
                  <a:srgbClr val="000000"/>
                </a:solidFill>
                <a:latin typeface="微软雅黑" panose="020B0503020204020204" pitchFamily="34" charset="-122"/>
                <a:ea typeface="微软雅黑" panose="020B0503020204020204" pitchFamily="34" charset="-122"/>
                <a:cs typeface="OPPOSans R" panose="00020600040101010101" pitchFamily="18" charset="-122"/>
              </a:rPr>
              <a:t>通过电场调控氧离子栅极与磁性金属界面处的磁相互作用，在室温下实现快速的磁电耦合效应和阻变存储</a:t>
            </a:r>
            <a:endParaRPr lang="en-US" dirty="0">
              <a:solidFill>
                <a:srgbClr val="000000"/>
              </a:solidFill>
              <a:latin typeface="微软雅黑" panose="020B0503020204020204" pitchFamily="34" charset="-122"/>
              <a:ea typeface="微软雅黑" panose="020B0503020204020204" pitchFamily="34" charset="-122"/>
              <a:cs typeface="OPPOSans R" panose="00020600040101010101" pitchFamily="18" charset="-122"/>
            </a:endParaRPr>
          </a:p>
        </p:txBody>
      </p:sp>
      <p:sp>
        <p:nvSpPr>
          <p:cNvPr id="6" name="矩形 5">
            <a:extLst>
              <a:ext uri="{FF2B5EF4-FFF2-40B4-BE49-F238E27FC236}">
                <a16:creationId xmlns:a16="http://schemas.microsoft.com/office/drawing/2014/main" id="{E9B49DC6-C95A-D8BF-852D-8F78E1E2D8FB}"/>
              </a:ext>
            </a:extLst>
          </p:cNvPr>
          <p:cNvSpPr/>
          <p:nvPr/>
        </p:nvSpPr>
        <p:spPr>
          <a:xfrm>
            <a:off x="0" y="1168400"/>
            <a:ext cx="12192000" cy="5689600"/>
          </a:xfrm>
          <a:prstGeom prst="rect">
            <a:avLst/>
          </a:prstGeom>
          <a:solidFill>
            <a:srgbClr val="FFFFFF"/>
          </a:solidFill>
          <a:ln w="1397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endParaRPr lang="zh-CN" altLang="en-US" sz="100">
              <a:solidFill>
                <a:srgbClr val="052346"/>
              </a:solidFill>
              <a:latin typeface="微软雅黑" panose="020B0503020204020204" pitchFamily="34" charset="-122"/>
            </a:endParaRPr>
          </a:p>
        </p:txBody>
      </p:sp>
      <p:sp>
        <p:nvSpPr>
          <p:cNvPr id="7" name="矩形 6">
            <a:extLst>
              <a:ext uri="{FF2B5EF4-FFF2-40B4-BE49-F238E27FC236}">
                <a16:creationId xmlns:a16="http://schemas.microsoft.com/office/drawing/2014/main" id="{23FEF739-E697-30E7-A246-F974AC4A33E3}"/>
              </a:ext>
            </a:extLst>
          </p:cNvPr>
          <p:cNvSpPr/>
          <p:nvPr/>
        </p:nvSpPr>
        <p:spPr>
          <a:xfrm>
            <a:off x="571500" y="1460500"/>
            <a:ext cx="11049000" cy="660400"/>
          </a:xfrm>
          <a:prstGeom prst="rect">
            <a:avLst/>
          </a:prstGeom>
          <a:solidFill>
            <a:srgbClr val="FFFFFF"/>
          </a:solidFill>
          <a:ln w="1397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2000" b="1">
                <a:solidFill>
                  <a:srgbClr val="052346"/>
                </a:solidFill>
                <a:latin typeface="微软雅黑" panose="020B0503020204020204" pitchFamily="34" charset="-122"/>
              </a:rPr>
              <a:t>一次任务应能完整覆盖：选择模型、上传输入、远端执行、日志监听、结果回传</a:t>
            </a:r>
          </a:p>
        </p:txBody>
      </p:sp>
      <p:sp>
        <p:nvSpPr>
          <p:cNvPr id="19" name="矩形 18">
            <a:extLst>
              <a:ext uri="{FF2B5EF4-FFF2-40B4-BE49-F238E27FC236}">
                <a16:creationId xmlns:a16="http://schemas.microsoft.com/office/drawing/2014/main" id="{F4F73F58-6402-7C5C-08CC-97751324DABB}"/>
              </a:ext>
            </a:extLst>
          </p:cNvPr>
          <p:cNvSpPr/>
          <p:nvPr/>
        </p:nvSpPr>
        <p:spPr>
          <a:xfrm>
            <a:off x="698500" y="2603500"/>
            <a:ext cx="4953000" cy="635000"/>
          </a:xfrm>
          <a:prstGeom prst="rect">
            <a:avLst/>
          </a:prstGeom>
          <a:solidFill>
            <a:srgbClr val="0054A0"/>
          </a:solidFill>
          <a:ln w="13970">
            <a:solidFill>
              <a:srgbClr val="0054A0"/>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2000" b="1">
                <a:solidFill>
                  <a:srgbClr val="FFFFFF"/>
                </a:solidFill>
                <a:latin typeface="微软雅黑" panose="020B0503020204020204" pitchFamily="34" charset="-122"/>
              </a:rPr>
              <a:t>运行流程</a:t>
            </a:r>
          </a:p>
        </p:txBody>
      </p:sp>
      <p:sp>
        <p:nvSpPr>
          <p:cNvPr id="20" name="矩形 19">
            <a:extLst>
              <a:ext uri="{FF2B5EF4-FFF2-40B4-BE49-F238E27FC236}">
                <a16:creationId xmlns:a16="http://schemas.microsoft.com/office/drawing/2014/main" id="{22B303C8-9B5C-148C-8352-6D4F94AC48D7}"/>
              </a:ext>
            </a:extLst>
          </p:cNvPr>
          <p:cNvSpPr/>
          <p:nvPr/>
        </p:nvSpPr>
        <p:spPr>
          <a:xfrm>
            <a:off x="698500" y="3365500"/>
            <a:ext cx="4953000" cy="1422400"/>
          </a:xfrm>
          <a:prstGeom prst="rect">
            <a:avLst/>
          </a:prstGeom>
          <a:solidFill>
            <a:srgbClr val="FFFFFF"/>
          </a:solidFill>
          <a:ln w="1397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en-US" altLang="zh-CN" sz="1700" b="1">
                <a:solidFill>
                  <a:srgbClr val="052346"/>
                </a:solidFill>
                <a:latin typeface="微软雅黑" panose="020B0503020204020204" pitchFamily="34" charset="-122"/>
              </a:rPr>
              <a:t>【</a:t>
            </a:r>
            <a:r>
              <a:rPr lang="zh-CN" altLang="en-US" sz="1700" b="1">
                <a:solidFill>
                  <a:srgbClr val="052346"/>
                </a:solidFill>
                <a:latin typeface="微软雅黑" panose="020B0503020204020204" pitchFamily="34" charset="-122"/>
              </a:rPr>
              <a:t>填：任务如何从本地提交到远端 </a:t>
            </a:r>
            <a:r>
              <a:rPr lang="en-US" altLang="zh-CN" sz="1700" b="1">
                <a:solidFill>
                  <a:srgbClr val="052346"/>
                </a:solidFill>
                <a:latin typeface="微软雅黑" panose="020B0503020204020204" pitchFamily="34" charset="-122"/>
              </a:rPr>
              <a:t>GPU】
</a:t>
            </a:r>
            <a:r>
              <a:rPr lang="zh-CN" altLang="en-US" sz="1700" b="1">
                <a:solidFill>
                  <a:srgbClr val="052346"/>
                </a:solidFill>
                <a:latin typeface="微软雅黑" panose="020B0503020204020204" pitchFamily="34" charset="-122"/>
              </a:rPr>
              <a:t>建议写 </a:t>
            </a:r>
            <a:r>
              <a:rPr lang="en-US" altLang="zh-CN" sz="1700" b="1">
                <a:solidFill>
                  <a:srgbClr val="052346"/>
                </a:solidFill>
                <a:latin typeface="微软雅黑" panose="020B0503020204020204" pitchFamily="34" charset="-122"/>
              </a:rPr>
              <a:t>3-4 </a:t>
            </a:r>
            <a:r>
              <a:rPr lang="zh-CN" altLang="en-US" sz="1700" b="1">
                <a:solidFill>
                  <a:srgbClr val="052346"/>
                </a:solidFill>
                <a:latin typeface="微软雅黑" panose="020B0503020204020204" pitchFamily="34" charset="-122"/>
              </a:rPr>
              <a:t>步，不要写长段</a:t>
            </a:r>
          </a:p>
        </p:txBody>
      </p:sp>
      <p:sp>
        <p:nvSpPr>
          <p:cNvPr id="21" name="矩形 20">
            <a:extLst>
              <a:ext uri="{FF2B5EF4-FFF2-40B4-BE49-F238E27FC236}">
                <a16:creationId xmlns:a16="http://schemas.microsoft.com/office/drawing/2014/main" id="{3B2DA13B-B6DE-0070-2E80-BA207B8F86B4}"/>
              </a:ext>
            </a:extLst>
          </p:cNvPr>
          <p:cNvSpPr/>
          <p:nvPr/>
        </p:nvSpPr>
        <p:spPr>
          <a:xfrm>
            <a:off x="698500" y="5143500"/>
            <a:ext cx="4953000" cy="635000"/>
          </a:xfrm>
          <a:prstGeom prst="rect">
            <a:avLst/>
          </a:prstGeom>
          <a:solidFill>
            <a:srgbClr val="0054A0"/>
          </a:solidFill>
          <a:ln w="13970">
            <a:solidFill>
              <a:srgbClr val="0054A0"/>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2000" b="1">
                <a:solidFill>
                  <a:srgbClr val="FFFFFF"/>
                </a:solidFill>
                <a:latin typeface="微软雅黑" panose="020B0503020204020204" pitchFamily="34" charset="-122"/>
              </a:rPr>
              <a:t>运行证据</a:t>
            </a:r>
          </a:p>
        </p:txBody>
      </p:sp>
      <p:sp>
        <p:nvSpPr>
          <p:cNvPr id="22" name="矩形 21">
            <a:extLst>
              <a:ext uri="{FF2B5EF4-FFF2-40B4-BE49-F238E27FC236}">
                <a16:creationId xmlns:a16="http://schemas.microsoft.com/office/drawing/2014/main" id="{F866496C-6F8F-EA37-AF9F-461BC7A71819}"/>
              </a:ext>
            </a:extLst>
          </p:cNvPr>
          <p:cNvSpPr/>
          <p:nvPr/>
        </p:nvSpPr>
        <p:spPr>
          <a:xfrm>
            <a:off x="698500" y="5905500"/>
            <a:ext cx="4953000" cy="736600"/>
          </a:xfrm>
          <a:prstGeom prst="rect">
            <a:avLst/>
          </a:prstGeom>
          <a:solidFill>
            <a:srgbClr val="FFFFFF"/>
          </a:solidFill>
          <a:ln w="1397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en-US" altLang="zh-CN" sz="1600" b="1">
                <a:solidFill>
                  <a:srgbClr val="052346"/>
                </a:solidFill>
                <a:latin typeface="微软雅黑" panose="020B0503020204020204" pitchFamily="34" charset="-122"/>
              </a:rPr>
              <a:t>【</a:t>
            </a:r>
            <a:r>
              <a:rPr lang="zh-CN" altLang="en-US" sz="1600" b="1">
                <a:solidFill>
                  <a:srgbClr val="052346"/>
                </a:solidFill>
                <a:latin typeface="微软雅黑" panose="020B0503020204020204" pitchFamily="34" charset="-122"/>
              </a:rPr>
              <a:t>填：实际运行日志 </a:t>
            </a:r>
            <a:r>
              <a:rPr lang="en-US" altLang="zh-CN" sz="1600" b="1">
                <a:solidFill>
                  <a:srgbClr val="052346"/>
                </a:solidFill>
                <a:latin typeface="微软雅黑" panose="020B0503020204020204" pitchFamily="34" charset="-122"/>
              </a:rPr>
              <a:t>/ </a:t>
            </a:r>
            <a:r>
              <a:rPr lang="zh-CN" altLang="en-US" sz="1600" b="1">
                <a:solidFill>
                  <a:srgbClr val="052346"/>
                </a:solidFill>
                <a:latin typeface="微软雅黑" panose="020B0503020204020204" pitchFamily="34" charset="-122"/>
              </a:rPr>
              <a:t>结果回传说明</a:t>
            </a:r>
            <a:r>
              <a:rPr lang="en-US" altLang="zh-CN" sz="1600" b="1">
                <a:solidFill>
                  <a:srgbClr val="052346"/>
                </a:solidFill>
                <a:latin typeface="微软雅黑" panose="020B0503020204020204" pitchFamily="34" charset="-122"/>
              </a:rPr>
              <a:t>】</a:t>
            </a:r>
            <a:endParaRPr lang="zh-CN" altLang="en-US" sz="1600" b="1">
              <a:solidFill>
                <a:srgbClr val="052346"/>
              </a:solidFill>
              <a:latin typeface="微软雅黑" panose="020B0503020204020204" pitchFamily="34" charset="-122"/>
            </a:endParaRPr>
          </a:p>
        </p:txBody>
      </p:sp>
      <p:sp>
        <p:nvSpPr>
          <p:cNvPr id="23" name="矩形 22">
            <a:extLst>
              <a:ext uri="{FF2B5EF4-FFF2-40B4-BE49-F238E27FC236}">
                <a16:creationId xmlns:a16="http://schemas.microsoft.com/office/drawing/2014/main" id="{7E21369A-7028-49A5-A293-CB2565DFBD58}"/>
              </a:ext>
            </a:extLst>
          </p:cNvPr>
          <p:cNvSpPr/>
          <p:nvPr/>
        </p:nvSpPr>
        <p:spPr>
          <a:xfrm>
            <a:off x="6350000" y="2603500"/>
            <a:ext cx="5080000" cy="3302000"/>
          </a:xfrm>
          <a:prstGeom prst="rect">
            <a:avLst/>
          </a:prstGeom>
          <a:solidFill>
            <a:srgbClr val="FFFFFF"/>
          </a:solidFill>
          <a:ln w="1397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500" b="1">
                <a:solidFill>
                  <a:srgbClr val="052346"/>
                </a:solidFill>
                <a:latin typeface="微软雅黑" panose="020B0503020204020204" pitchFamily="34" charset="-122"/>
              </a:rPr>
              <a:t>放图：运行日志 </a:t>
            </a:r>
            <a:r>
              <a:rPr lang="en-US" altLang="zh-CN" sz="1500" b="1">
                <a:solidFill>
                  <a:srgbClr val="052346"/>
                </a:solidFill>
                <a:latin typeface="微软雅黑" panose="020B0503020204020204" pitchFamily="34" charset="-122"/>
              </a:rPr>
              <a:t>/ </a:t>
            </a:r>
            <a:r>
              <a:rPr lang="zh-CN" altLang="en-US" sz="1500" b="1">
                <a:solidFill>
                  <a:srgbClr val="052346"/>
                </a:solidFill>
                <a:latin typeface="微软雅黑" panose="020B0503020204020204" pitchFamily="34" charset="-122"/>
              </a:rPr>
              <a:t>任务状态 </a:t>
            </a:r>
            <a:r>
              <a:rPr lang="en-US" altLang="zh-CN" sz="1500" b="1">
                <a:solidFill>
                  <a:srgbClr val="052346"/>
                </a:solidFill>
                <a:latin typeface="微软雅黑" panose="020B0503020204020204" pitchFamily="34" charset="-122"/>
              </a:rPr>
              <a:t>/ </a:t>
            </a:r>
            <a:r>
              <a:rPr lang="zh-CN" altLang="en-US" sz="1500" b="1">
                <a:solidFill>
                  <a:srgbClr val="052346"/>
                </a:solidFill>
                <a:latin typeface="微软雅黑" panose="020B0503020204020204" pitchFamily="34" charset="-122"/>
              </a:rPr>
              <a:t>输出结果截图</a:t>
            </a:r>
          </a:p>
        </p:txBody>
      </p:sp>
    </p:spTree>
    <p:extLst>
      <p:ext uri="{BB962C8B-B14F-4D97-AF65-F5344CB8AC3E}">
        <p14:creationId xmlns:p14="http://schemas.microsoft.com/office/powerpoint/2010/main" val="14495509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95727-EB63-8B05-C0BA-FC16CEA9655B}"/>
            </a:ext>
          </a:extLst>
        </p:cNvPr>
        <p:cNvGrpSpPr/>
        <p:nvPr/>
      </p:nvGrpSpPr>
      <p:grpSpPr>
        <a:xfrm>
          <a:off x="0" y="0"/>
          <a:ext cx="0" cy="0"/>
          <a:chOff x="0" y="0"/>
          <a:chExt cx="0" cy="0"/>
        </a:xfrm>
      </p:grpSpPr>
      <p:sp>
        <p:nvSpPr>
          <p:cNvPr id="90" name="文本框 89">
            <a:extLst>
              <a:ext uri="{FF2B5EF4-FFF2-40B4-BE49-F238E27FC236}">
                <a16:creationId xmlns:a16="http://schemas.microsoft.com/office/drawing/2014/main" id="{746D9152-48D3-E0A8-3FF3-2116404376ED}"/>
              </a:ext>
            </a:extLst>
          </p:cNvPr>
          <p:cNvSpPr txBox="1"/>
          <p:nvPr/>
        </p:nvSpPr>
        <p:spPr>
          <a:xfrm>
            <a:off x="115452" y="243436"/>
            <a:ext cx="772964" cy="369332"/>
          </a:xfrm>
          <a:prstGeom prst="rect">
            <a:avLst/>
          </a:prstGeom>
          <a:noFill/>
        </p:spPr>
        <p:txBody>
          <a:bodyPr wrap="square" rtlCol="0">
            <a:spAutoFit/>
          </a:bodyPr>
          <a:lstStyle/>
          <a:p>
            <a:pPr algn="ctr"/>
            <a:r>
              <a:rPr lang="en-US" altLang="zh-CN" b="1">
                <a:solidFill>
                  <a:schemeClr val="bg1"/>
                </a:solidFill>
                <a:latin typeface="微软雅黑" panose="020B0503020204020204" pitchFamily="34" charset="-122"/>
              </a:rPr>
              <a:t>4.1</a:t>
            </a:r>
            <a:endParaRPr lang="zh-CN" altLang="en-US" b="1" dirty="0">
              <a:solidFill>
                <a:schemeClr val="bg1"/>
              </a:solidFill>
              <a:latin typeface="微软雅黑" panose="020B0503020204020204" pitchFamily="34" charset="-122"/>
            </a:endParaRPr>
          </a:p>
        </p:txBody>
      </p:sp>
      <p:sp>
        <p:nvSpPr>
          <p:cNvPr id="92" name="文本框 91">
            <a:extLst>
              <a:ext uri="{FF2B5EF4-FFF2-40B4-BE49-F238E27FC236}">
                <a16:creationId xmlns:a16="http://schemas.microsoft.com/office/drawing/2014/main" id="{BF154AD5-A70A-1962-3AC7-43543A030B62}"/>
              </a:ext>
            </a:extLst>
          </p:cNvPr>
          <p:cNvSpPr txBox="1"/>
          <p:nvPr/>
        </p:nvSpPr>
        <p:spPr>
          <a:xfrm>
            <a:off x="946460" y="269201"/>
            <a:ext cx="7626039" cy="492443"/>
          </a:xfrm>
          <a:prstGeom prst="rect">
            <a:avLst/>
          </a:prstGeom>
          <a:noFill/>
        </p:spPr>
        <p:txBody>
          <a:bodyPr wrap="square">
            <a:spAutoFit/>
          </a:bodyPr>
          <a:lstStyle/>
          <a:p>
            <a:r>
              <a:rPr lang="zh-CN" altLang="en-US" sz="2600" b="1">
                <a:solidFill>
                  <a:schemeClr val="accent1"/>
                </a:solidFill>
                <a:latin typeface="微软雅黑" panose="020B0503020204020204" pitchFamily="34" charset="-122"/>
              </a:rPr>
              <a:t>当前进展与后续计划</a:t>
            </a:r>
            <a:endParaRPr lang="zh-CN" altLang="en-US" sz="2600" b="1" dirty="0">
              <a:solidFill>
                <a:schemeClr val="accent1"/>
              </a:solidFill>
              <a:latin typeface="微软雅黑" panose="020B0503020204020204" pitchFamily="34" charset="-122"/>
            </a:endParaRPr>
          </a:p>
        </p:txBody>
      </p:sp>
      <p:pic>
        <p:nvPicPr>
          <p:cNvPr id="2" name="图片 1">
            <a:extLst>
              <a:ext uri="{FF2B5EF4-FFF2-40B4-BE49-F238E27FC236}">
                <a16:creationId xmlns:a16="http://schemas.microsoft.com/office/drawing/2014/main" id="{5A1AD411-E3B9-A64A-CB29-582F6FE1466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510416" y="2563899"/>
            <a:ext cx="3221273" cy="1789596"/>
          </a:xfrm>
          <a:prstGeom prst="rect">
            <a:avLst/>
          </a:prstGeom>
          <a:ln>
            <a:solidFill>
              <a:sysClr val="window" lastClr="FFFFFF">
                <a:lumMod val="85000"/>
              </a:sysClr>
            </a:solidFill>
          </a:ln>
        </p:spPr>
      </p:pic>
      <p:pic>
        <p:nvPicPr>
          <p:cNvPr id="3" name="图片 2">
            <a:extLst>
              <a:ext uri="{FF2B5EF4-FFF2-40B4-BE49-F238E27FC236}">
                <a16:creationId xmlns:a16="http://schemas.microsoft.com/office/drawing/2014/main" id="{43B9BA38-8548-59AC-A240-E401A8C43F19}"/>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8517908" y="4667250"/>
            <a:ext cx="3228742" cy="1635200"/>
          </a:xfrm>
          <a:prstGeom prst="rect">
            <a:avLst/>
          </a:prstGeom>
          <a:ln w="9525">
            <a:solidFill>
              <a:sysClr val="window" lastClr="FFFFFF">
                <a:lumMod val="85000"/>
              </a:sysClr>
            </a:solidFill>
          </a:ln>
        </p:spPr>
      </p:pic>
      <p:sp>
        <p:nvSpPr>
          <p:cNvPr id="5" name="矩形 4">
            <a:extLst>
              <a:ext uri="{FF2B5EF4-FFF2-40B4-BE49-F238E27FC236}">
                <a16:creationId xmlns:a16="http://schemas.microsoft.com/office/drawing/2014/main" id="{DA5D5E04-6FFA-55B0-FCE4-55ADB6993AE9}"/>
              </a:ext>
            </a:extLst>
          </p:cNvPr>
          <p:cNvSpPr/>
          <p:nvPr/>
        </p:nvSpPr>
        <p:spPr>
          <a:xfrm>
            <a:off x="475754" y="2554729"/>
            <a:ext cx="7482913" cy="1107340"/>
          </a:xfrm>
          <a:prstGeom prst="rect">
            <a:avLst/>
          </a:prstGeom>
          <a:gradFill flip="none" rotWithShape="1">
            <a:gsLst>
              <a:gs pos="25000">
                <a:schemeClr val="accent3"/>
              </a:gs>
              <a:gs pos="99083">
                <a:schemeClr val="bg1"/>
              </a:gs>
            </a:gsLst>
            <a:lin ang="5400000" scaled="1"/>
            <a:tileRect/>
          </a:gradFill>
          <a:ln w="3175" cap="flat" cmpd="sng" algn="ctr">
            <a:solidFill>
              <a:schemeClr val="accent1"/>
            </a:solidFill>
            <a:prstDash val="solid"/>
            <a:miter lim="800000"/>
          </a:ln>
          <a:effectLst>
            <a:outerShdw blurRad="304800" sx="102000" sy="102000" algn="ctr" rotWithShape="0">
              <a:schemeClr val="accent1">
                <a:alpha val="16000"/>
              </a:schemeClr>
            </a:outerShdw>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6" name="箭头: 五边形 5">
            <a:extLst>
              <a:ext uri="{FF2B5EF4-FFF2-40B4-BE49-F238E27FC236}">
                <a16:creationId xmlns:a16="http://schemas.microsoft.com/office/drawing/2014/main" id="{BC4C96C0-40F4-6697-612F-651118C8A3AE}"/>
              </a:ext>
            </a:extLst>
          </p:cNvPr>
          <p:cNvSpPr/>
          <p:nvPr/>
        </p:nvSpPr>
        <p:spPr>
          <a:xfrm>
            <a:off x="475754" y="2556637"/>
            <a:ext cx="1690913" cy="1105432"/>
          </a:xfrm>
          <a:prstGeom prst="homePlate">
            <a:avLst>
              <a:gd name="adj" fmla="val 28405"/>
            </a:avLst>
          </a:prstGeom>
          <a:gradFill flip="none" rotWithShape="1">
            <a:gsLst>
              <a:gs pos="0">
                <a:schemeClr val="accent1"/>
              </a:gs>
              <a:gs pos="100000">
                <a:schemeClr val="accent2">
                  <a:lumMod val="50000"/>
                </a:schemeClr>
              </a:gs>
            </a:gsLst>
            <a:lin ang="810000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endParaRPr>
          </a:p>
        </p:txBody>
      </p:sp>
      <p:sp>
        <p:nvSpPr>
          <p:cNvPr id="7" name="文本框 6">
            <a:extLst>
              <a:ext uri="{FF2B5EF4-FFF2-40B4-BE49-F238E27FC236}">
                <a16:creationId xmlns:a16="http://schemas.microsoft.com/office/drawing/2014/main" id="{9AEDF9D7-FD83-BA27-D36F-914C2C97960D}"/>
              </a:ext>
            </a:extLst>
          </p:cNvPr>
          <p:cNvSpPr txBox="1"/>
          <p:nvPr/>
        </p:nvSpPr>
        <p:spPr>
          <a:xfrm>
            <a:off x="475754" y="2611757"/>
            <a:ext cx="1384451" cy="993285"/>
          </a:xfrm>
          <a:prstGeom prst="rect">
            <a:avLst/>
          </a:prstGeom>
          <a:noFill/>
        </p:spPr>
        <p:txBody>
          <a:bodyPr wrap="square">
            <a:spAutoFit/>
          </a:bodyPr>
          <a:lstStyle/>
          <a:p>
            <a:pPr marL="0" marR="0" lvl="0" indent="0" algn="ctr" defTabSz="914400" eaLnBrk="1" fontAlgn="auto" latinLnBrk="0" hangingPunct="1">
              <a:lnSpc>
                <a:spcPct val="125000"/>
              </a:lnSpc>
              <a:spcBef>
                <a:spcPts val="120"/>
              </a:spcBef>
              <a:spcAft>
                <a:spcPts val="0"/>
              </a:spcAft>
              <a:buClrTx/>
              <a:buSzTx/>
              <a:buFontTx/>
              <a:buNone/>
              <a:tabLst/>
              <a:defRPr/>
            </a:pPr>
            <a:r>
              <a:rPr kumimoji="0" lang="zh-CN" altLang="en-US" sz="2400" b="1" i="0" u="none" strike="noStrike" kern="0" cap="none" spc="0" normalizeH="0" baseline="0" noProof="0" dirty="0">
                <a:ln>
                  <a:noFill/>
                </a:ln>
                <a:solidFill>
                  <a:prstClr val="white"/>
                </a:solidFill>
                <a:effectLst>
                  <a:outerShdw blurRad="50800" dist="38100" dir="5400000" algn="t" rotWithShape="0">
                    <a:srgbClr val="0B4FA1">
                      <a:lumMod val="50000"/>
                      <a:alpha val="40000"/>
                    </a:srgbClr>
                  </a:outerShdw>
                </a:effectLst>
                <a:uLnTx/>
                <a:uFillTx/>
                <a:latin typeface="微软雅黑" panose="020B0503020204020204" pitchFamily="34" charset="-122"/>
                <a:ea typeface="微软雅黑" panose="020B0503020204020204" pitchFamily="34" charset="-122"/>
              </a:rPr>
              <a:t>前期</a:t>
            </a:r>
            <a:endParaRPr kumimoji="0" lang="en-US" altLang="zh-CN" sz="2400" b="1" i="0" u="none" strike="noStrike" kern="0" cap="none" spc="0" normalizeH="0" baseline="0" noProof="0" dirty="0">
              <a:ln>
                <a:noFill/>
              </a:ln>
              <a:solidFill>
                <a:prstClr val="white"/>
              </a:solidFill>
              <a:effectLst>
                <a:outerShdw blurRad="50800" dist="38100" dir="5400000" algn="t" rotWithShape="0">
                  <a:srgbClr val="0B4FA1">
                    <a:lumMod val="50000"/>
                    <a:alpha val="40000"/>
                  </a:srgbClr>
                </a:outerShdw>
              </a:effectLst>
              <a:uLnTx/>
              <a:uFillTx/>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25000"/>
              </a:lnSpc>
              <a:spcBef>
                <a:spcPts val="120"/>
              </a:spcBef>
              <a:spcAft>
                <a:spcPts val="0"/>
              </a:spcAft>
              <a:buClrTx/>
              <a:buSzTx/>
              <a:buFontTx/>
              <a:buNone/>
              <a:tabLst/>
              <a:defRPr/>
            </a:pPr>
            <a:r>
              <a:rPr kumimoji="0" lang="zh-CN" altLang="en-US" sz="2400" b="1" i="0" u="none" strike="noStrike" kern="0" cap="none" spc="0" normalizeH="0" baseline="0" noProof="0" dirty="0">
                <a:ln>
                  <a:noFill/>
                </a:ln>
                <a:solidFill>
                  <a:prstClr val="white"/>
                </a:solidFill>
                <a:effectLst>
                  <a:outerShdw blurRad="50800" dist="38100" dir="5400000" algn="t" rotWithShape="0">
                    <a:srgbClr val="0B4FA1">
                      <a:lumMod val="50000"/>
                      <a:alpha val="40000"/>
                    </a:srgbClr>
                  </a:outerShdw>
                </a:effectLst>
                <a:uLnTx/>
                <a:uFillTx/>
                <a:latin typeface="微软雅黑" panose="020B0503020204020204" pitchFamily="34" charset="-122"/>
                <a:ea typeface="微软雅黑" panose="020B0503020204020204" pitchFamily="34" charset="-122"/>
              </a:rPr>
              <a:t>研究</a:t>
            </a:r>
            <a:endParaRPr kumimoji="0" lang="en-US" altLang="zh-CN" sz="2400" b="1" i="0" u="none" strike="noStrike" kern="0" cap="none" spc="0" normalizeH="0" baseline="0" noProof="0" dirty="0">
              <a:ln>
                <a:noFill/>
              </a:ln>
              <a:solidFill>
                <a:prstClr val="white"/>
              </a:solidFill>
              <a:effectLst>
                <a:outerShdw blurRad="50800" dist="38100" dir="5400000" algn="t" rotWithShape="0">
                  <a:srgbClr val="0B4FA1">
                    <a:lumMod val="50000"/>
                    <a:alpha val="40000"/>
                  </a:srgbClr>
                </a:outerShdw>
              </a:effectLst>
              <a:uLnTx/>
              <a:uFillTx/>
              <a:latin typeface="微软雅黑" panose="020B0503020204020204" pitchFamily="34" charset="-122"/>
              <a:ea typeface="微软雅黑" panose="020B0503020204020204" pitchFamily="34" charset="-122"/>
            </a:endParaRPr>
          </a:p>
        </p:txBody>
      </p:sp>
      <p:sp>
        <p:nvSpPr>
          <p:cNvPr id="8" name="箭头: 右 7">
            <a:extLst>
              <a:ext uri="{FF2B5EF4-FFF2-40B4-BE49-F238E27FC236}">
                <a16:creationId xmlns:a16="http://schemas.microsoft.com/office/drawing/2014/main" id="{FA7F645B-8EE9-53A8-FAB9-F99A2808F266}"/>
              </a:ext>
            </a:extLst>
          </p:cNvPr>
          <p:cNvSpPr/>
          <p:nvPr/>
        </p:nvSpPr>
        <p:spPr>
          <a:xfrm rot="5400000">
            <a:off x="6288242" y="4417078"/>
            <a:ext cx="3900090" cy="175398"/>
          </a:xfrm>
          <a:prstGeom prst="rightArrow">
            <a:avLst>
              <a:gd name="adj1" fmla="val 50000"/>
              <a:gd name="adj2" fmla="val 42149"/>
            </a:avLst>
          </a:prstGeom>
          <a:gradFill flip="none" rotWithShape="1">
            <a:gsLst>
              <a:gs pos="0">
                <a:schemeClr val="accent1">
                  <a:alpha val="0"/>
                </a:schemeClr>
              </a:gs>
              <a:gs pos="100000">
                <a:schemeClr val="accent1"/>
              </a:gs>
            </a:gsLst>
            <a:lin ang="0" scaled="1"/>
            <a:tileRect/>
          </a:gra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p:txBody>
      </p:sp>
      <p:grpSp>
        <p:nvGrpSpPr>
          <p:cNvPr id="9" name="组合 8">
            <a:extLst>
              <a:ext uri="{FF2B5EF4-FFF2-40B4-BE49-F238E27FC236}">
                <a16:creationId xmlns:a16="http://schemas.microsoft.com/office/drawing/2014/main" id="{6BDF2B0B-E1F2-F072-850F-BC25DD259A10}"/>
              </a:ext>
            </a:extLst>
          </p:cNvPr>
          <p:cNvGrpSpPr/>
          <p:nvPr/>
        </p:nvGrpSpPr>
        <p:grpSpPr>
          <a:xfrm>
            <a:off x="8510416" y="4063865"/>
            <a:ext cx="3238672" cy="400110"/>
            <a:chOff x="2905870" y="6125586"/>
            <a:chExt cx="3238672" cy="400110"/>
          </a:xfrm>
        </p:grpSpPr>
        <p:sp>
          <p:nvSpPr>
            <p:cNvPr id="10" name="矩形 9">
              <a:extLst>
                <a:ext uri="{FF2B5EF4-FFF2-40B4-BE49-F238E27FC236}">
                  <a16:creationId xmlns:a16="http://schemas.microsoft.com/office/drawing/2014/main" id="{8018E114-2DA5-A795-5C88-DFE3951C98EB}"/>
                </a:ext>
              </a:extLst>
            </p:cNvPr>
            <p:cNvSpPr/>
            <p:nvPr/>
          </p:nvSpPr>
          <p:spPr>
            <a:xfrm>
              <a:off x="2905870" y="6125586"/>
              <a:ext cx="3238672" cy="400110"/>
            </a:xfrm>
            <a:prstGeom prst="rect">
              <a:avLst/>
            </a:prstGeom>
            <a:solidFill>
              <a:schemeClr val="accent1"/>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p:txBody>
        </p:sp>
        <p:sp>
          <p:nvSpPr>
            <p:cNvPr id="11" name="文本框 10">
              <a:extLst>
                <a:ext uri="{FF2B5EF4-FFF2-40B4-BE49-F238E27FC236}">
                  <a16:creationId xmlns:a16="http://schemas.microsoft.com/office/drawing/2014/main" id="{94AEE657-042C-B53E-B399-AF93A09A1585}"/>
                </a:ext>
              </a:extLst>
            </p:cNvPr>
            <p:cNvSpPr txBox="1"/>
            <p:nvPr/>
          </p:nvSpPr>
          <p:spPr>
            <a:xfrm>
              <a:off x="3221954" y="6140975"/>
              <a:ext cx="2710600" cy="369332"/>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prstClr val="white"/>
                  </a:solidFill>
                  <a:effectLst>
                    <a:outerShdw blurRad="50800" dist="38100" dir="5400000" algn="t" rotWithShape="0">
                      <a:srgbClr val="0B4FA1">
                        <a:lumMod val="50000"/>
                        <a:alpha val="40000"/>
                      </a:srgbClr>
                    </a:outerShdw>
                  </a:effectLst>
                  <a:uLnTx/>
                  <a:uFillTx/>
                  <a:latin typeface="微软雅黑" panose="020B0503020204020204" pitchFamily="34" charset="-122"/>
                  <a:ea typeface="微软雅黑" panose="020B0503020204020204" pitchFamily="34" charset="-122"/>
                </a:rPr>
                <a:t>高光谱遥感构造解译图</a:t>
              </a:r>
            </a:p>
          </p:txBody>
        </p:sp>
      </p:grpSp>
      <p:sp>
        <p:nvSpPr>
          <p:cNvPr id="12" name="矩形 11">
            <a:extLst>
              <a:ext uri="{FF2B5EF4-FFF2-40B4-BE49-F238E27FC236}">
                <a16:creationId xmlns:a16="http://schemas.microsoft.com/office/drawing/2014/main" id="{6F751443-3547-A898-D187-2FC6B5B13A41}"/>
              </a:ext>
            </a:extLst>
          </p:cNvPr>
          <p:cNvSpPr/>
          <p:nvPr/>
        </p:nvSpPr>
        <p:spPr>
          <a:xfrm>
            <a:off x="8510416" y="6038115"/>
            <a:ext cx="3246164" cy="400110"/>
          </a:xfrm>
          <a:prstGeom prst="rect">
            <a:avLst/>
          </a:prstGeom>
          <a:solidFill>
            <a:schemeClr val="accent1"/>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p:txBody>
      </p:sp>
      <p:sp>
        <p:nvSpPr>
          <p:cNvPr id="13" name="文本框 12">
            <a:extLst>
              <a:ext uri="{FF2B5EF4-FFF2-40B4-BE49-F238E27FC236}">
                <a16:creationId xmlns:a16="http://schemas.microsoft.com/office/drawing/2014/main" id="{74DF7326-6DF8-739B-D18E-6FA9C910F053}"/>
              </a:ext>
            </a:extLst>
          </p:cNvPr>
          <p:cNvSpPr txBox="1"/>
          <p:nvPr/>
        </p:nvSpPr>
        <p:spPr>
          <a:xfrm>
            <a:off x="8632962" y="6053504"/>
            <a:ext cx="2993580" cy="369332"/>
          </a:xfrm>
          <a:prstGeom prst="rect">
            <a:avLst/>
          </a:prstGeom>
          <a:noFill/>
        </p:spPr>
        <p:txBody>
          <a:bodyPr wrap="square">
            <a:spAutoFit/>
          </a:bodyPr>
          <a:lstStyle/>
          <a:p>
            <a:pPr algn="ctr"/>
            <a:r>
              <a:rPr lang="zh-CN" altLang="en-US" dirty="0">
                <a:solidFill>
                  <a:prstClr val="white"/>
                </a:solidFill>
                <a:effectLst>
                  <a:outerShdw blurRad="50800" dist="38100" dir="5400000" algn="t" rotWithShape="0">
                    <a:srgbClr val="0B4FA1">
                      <a:lumMod val="50000"/>
                      <a:alpha val="40000"/>
                    </a:srgbClr>
                  </a:outerShdw>
                </a:effectLst>
                <a:latin typeface="微软雅黑" panose="020B0503020204020204" pitchFamily="34" charset="-122"/>
                <a:ea typeface="微软雅黑" panose="020B0503020204020204" pitchFamily="34" charset="-122"/>
              </a:rPr>
              <a:t>南金滩金矿区矿物填图结果</a:t>
            </a:r>
          </a:p>
        </p:txBody>
      </p:sp>
      <p:sp>
        <p:nvSpPr>
          <p:cNvPr id="14" name="任意多边形: 形状 93">
            <a:extLst>
              <a:ext uri="{FF2B5EF4-FFF2-40B4-BE49-F238E27FC236}">
                <a16:creationId xmlns:a16="http://schemas.microsoft.com/office/drawing/2014/main" id="{AF1BF063-7278-CF65-8ADD-CE545C77BE17}"/>
              </a:ext>
            </a:extLst>
          </p:cNvPr>
          <p:cNvSpPr/>
          <p:nvPr/>
        </p:nvSpPr>
        <p:spPr>
          <a:xfrm rot="5400000">
            <a:off x="5590187" y="-4418609"/>
            <a:ext cx="1011626" cy="12192000"/>
          </a:xfrm>
          <a:prstGeom prst="rect">
            <a:avLst/>
          </a:prstGeom>
          <a:gradFill>
            <a:gsLst>
              <a:gs pos="0">
                <a:schemeClr val="accent1"/>
              </a:gs>
              <a:gs pos="100000">
                <a:schemeClr val="accent2">
                  <a:lumMod val="75000"/>
                </a:schemeClr>
              </a:gs>
            </a:gsLst>
            <a:lin ang="5400000" scaled="1"/>
          </a:gradFill>
          <a:ln w="19050" cap="flat" cmpd="sng" algn="ctr">
            <a:noFill/>
            <a:prstDash val="solid"/>
            <a:miter lim="800000"/>
          </a:ln>
          <a:effectLst>
            <a:outerShdw blurRad="152400" dist="190500" dir="13500000" algn="ctr" rotWithShape="0">
              <a:sysClr val="window" lastClr="FFFFFF">
                <a:alpha val="29000"/>
              </a:sys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 name="文本框 14">
            <a:extLst>
              <a:ext uri="{FF2B5EF4-FFF2-40B4-BE49-F238E27FC236}">
                <a16:creationId xmlns:a16="http://schemas.microsoft.com/office/drawing/2014/main" id="{07DD5E1B-BAB7-9A7F-1DBA-E50831F08433}"/>
              </a:ext>
            </a:extLst>
          </p:cNvPr>
          <p:cNvSpPr txBox="1"/>
          <p:nvPr/>
        </p:nvSpPr>
        <p:spPr>
          <a:xfrm>
            <a:off x="463384" y="1203319"/>
            <a:ext cx="11285704" cy="948145"/>
          </a:xfrm>
          <a:prstGeom prst="rect">
            <a:avLst/>
          </a:prstGeom>
          <a:noFill/>
        </p:spPr>
        <p:txBody>
          <a:bodyPr wrap="square">
            <a:spAutoFit/>
          </a:bodyPr>
          <a:lstStyle/>
          <a:p>
            <a:pPr>
              <a:lnSpc>
                <a:spcPct val="120000"/>
              </a:lnSpc>
            </a:pPr>
            <a:r>
              <a:rPr lang="zh-CN" altLang="en-US" sz="2400" b="1" dirty="0">
                <a:solidFill>
                  <a:schemeClr val="bg1"/>
                </a:solidFill>
                <a:effectLst>
                  <a:outerShdw blurRad="50800" dist="38100" dir="5400000" algn="t" rotWithShape="0">
                    <a:srgbClr val="0B4FA1">
                      <a:lumMod val="50000"/>
                      <a:alpha val="40000"/>
                    </a:srgbClr>
                  </a:outerShdw>
                </a:effectLst>
                <a:latin typeface="微软雅黑" panose="020B0503020204020204" pitchFamily="34" charset="-122"/>
                <a:ea typeface="微软雅黑" panose="020B0503020204020204" pitchFamily="34" charset="-122"/>
              </a:rPr>
              <a:t>利用遥感信息与国家级重点实验室的航空高光谱遥感成像系统，开展了航空高光谱遥感金矿床定位模型及找矿应用研究</a:t>
            </a:r>
          </a:p>
        </p:txBody>
      </p:sp>
      <p:sp>
        <p:nvSpPr>
          <p:cNvPr id="16" name="梯形 15">
            <a:extLst>
              <a:ext uri="{FF2B5EF4-FFF2-40B4-BE49-F238E27FC236}">
                <a16:creationId xmlns:a16="http://schemas.microsoft.com/office/drawing/2014/main" id="{75E5DAE3-CCC6-A7C3-729F-C270C383E857}"/>
              </a:ext>
            </a:extLst>
          </p:cNvPr>
          <p:cNvSpPr/>
          <p:nvPr/>
        </p:nvSpPr>
        <p:spPr>
          <a:xfrm flipV="1">
            <a:off x="0" y="2168406"/>
            <a:ext cx="12192000" cy="320928"/>
          </a:xfrm>
          <a:prstGeom prst="trapezoid">
            <a:avLst>
              <a:gd name="adj" fmla="val 271875"/>
            </a:avLst>
          </a:prstGeom>
          <a:gradFill>
            <a:gsLst>
              <a:gs pos="22000">
                <a:schemeClr val="accent1">
                  <a:alpha val="0"/>
                </a:schemeClr>
              </a:gs>
              <a:gs pos="81000">
                <a:schemeClr val="accent1">
                  <a:alpha val="15000"/>
                </a:schemeClr>
              </a:gs>
            </a:gsLst>
            <a:lin ang="5400000" scaled="1"/>
          </a:gra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p:txBody>
      </p:sp>
      <p:sp>
        <p:nvSpPr>
          <p:cNvPr id="17" name="矩形 16">
            <a:extLst>
              <a:ext uri="{FF2B5EF4-FFF2-40B4-BE49-F238E27FC236}">
                <a16:creationId xmlns:a16="http://schemas.microsoft.com/office/drawing/2014/main" id="{E31BB6A2-4A34-930D-29C9-045EE190BE7E}"/>
              </a:ext>
            </a:extLst>
          </p:cNvPr>
          <p:cNvSpPr/>
          <p:nvPr/>
        </p:nvSpPr>
        <p:spPr>
          <a:xfrm>
            <a:off x="475754" y="3951105"/>
            <a:ext cx="7482913" cy="1107340"/>
          </a:xfrm>
          <a:prstGeom prst="rect">
            <a:avLst/>
          </a:prstGeom>
          <a:gradFill flip="none" rotWithShape="1">
            <a:gsLst>
              <a:gs pos="25000">
                <a:schemeClr val="accent3"/>
              </a:gs>
              <a:gs pos="99083">
                <a:schemeClr val="bg1"/>
              </a:gs>
            </a:gsLst>
            <a:lin ang="5400000" scaled="1"/>
            <a:tileRect/>
          </a:gradFill>
          <a:ln w="3175" cap="flat" cmpd="sng" algn="ctr">
            <a:solidFill>
              <a:schemeClr val="accent1"/>
            </a:solidFill>
            <a:prstDash val="solid"/>
            <a:miter lim="800000"/>
          </a:ln>
          <a:effectLst>
            <a:outerShdw blurRad="304800" sx="102000" sy="102000" algn="ctr" rotWithShape="0">
              <a:schemeClr val="accent1">
                <a:alpha val="16000"/>
              </a:schemeClr>
            </a:outerShdw>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18" name="箭头: 五边形 17">
            <a:extLst>
              <a:ext uri="{FF2B5EF4-FFF2-40B4-BE49-F238E27FC236}">
                <a16:creationId xmlns:a16="http://schemas.microsoft.com/office/drawing/2014/main" id="{44A1F4FC-2A14-F695-A09D-D483A90E78FA}"/>
              </a:ext>
            </a:extLst>
          </p:cNvPr>
          <p:cNvSpPr/>
          <p:nvPr/>
        </p:nvSpPr>
        <p:spPr>
          <a:xfrm>
            <a:off x="475754" y="3953013"/>
            <a:ext cx="1690913" cy="1105432"/>
          </a:xfrm>
          <a:prstGeom prst="homePlate">
            <a:avLst>
              <a:gd name="adj" fmla="val 28405"/>
            </a:avLst>
          </a:prstGeom>
          <a:gradFill flip="none" rotWithShape="1">
            <a:gsLst>
              <a:gs pos="0">
                <a:schemeClr val="accent1"/>
              </a:gs>
              <a:gs pos="100000">
                <a:schemeClr val="accent2">
                  <a:lumMod val="50000"/>
                </a:schemeClr>
              </a:gs>
            </a:gsLst>
            <a:lin ang="8100000" scaled="1"/>
            <a:tileRect/>
          </a:gradFill>
          <a:ln w="12700" cap="flat" cmpd="sng" algn="ctr">
            <a:noFill/>
            <a:prstDash val="solid"/>
            <a:miter lim="800000"/>
          </a:ln>
          <a:effectLst/>
        </p:spPr>
        <p:txBody>
          <a:bodyPr rtlCol="0" anchor="ctr"/>
          <a:lstStyle/>
          <a:p>
            <a:pPr algn="ctr"/>
            <a:endParaRPr lang="zh-CN" altLang="en-US" kern="0">
              <a:solidFill>
                <a:prstClr val="white"/>
              </a:solidFill>
            </a:endParaRPr>
          </a:p>
        </p:txBody>
      </p:sp>
      <p:sp>
        <p:nvSpPr>
          <p:cNvPr id="19" name="文本框 18">
            <a:extLst>
              <a:ext uri="{FF2B5EF4-FFF2-40B4-BE49-F238E27FC236}">
                <a16:creationId xmlns:a16="http://schemas.microsoft.com/office/drawing/2014/main" id="{17C219AF-170E-A731-3304-CB2A0C9C8117}"/>
              </a:ext>
            </a:extLst>
          </p:cNvPr>
          <p:cNvSpPr txBox="1"/>
          <p:nvPr/>
        </p:nvSpPr>
        <p:spPr>
          <a:xfrm>
            <a:off x="475754" y="4008133"/>
            <a:ext cx="1384451" cy="993285"/>
          </a:xfrm>
          <a:prstGeom prst="rect">
            <a:avLst/>
          </a:prstGeom>
          <a:noFill/>
        </p:spPr>
        <p:txBody>
          <a:bodyPr wrap="square">
            <a:spAutoFit/>
          </a:bodyPr>
          <a:lstStyle/>
          <a:p>
            <a:pPr algn="ctr">
              <a:lnSpc>
                <a:spcPct val="125000"/>
              </a:lnSpc>
              <a:spcBef>
                <a:spcPts val="120"/>
              </a:spcBef>
              <a:defRPr/>
            </a:pPr>
            <a:r>
              <a:rPr lang="zh-CN" altLang="en-US" sz="2400" b="1" dirty="0">
                <a:solidFill>
                  <a:prstClr val="white"/>
                </a:solidFill>
                <a:effectLst>
                  <a:outerShdw blurRad="50800" dist="38100" dir="5400000" algn="t" rotWithShape="0">
                    <a:srgbClr val="0B4FA1">
                      <a:lumMod val="50000"/>
                      <a:alpha val="40000"/>
                    </a:srgbClr>
                  </a:outerShdw>
                </a:effectLst>
                <a:latin typeface="微软雅黑" panose="020B0503020204020204" pitchFamily="34" charset="-122"/>
                <a:ea typeface="微软雅黑" panose="020B0503020204020204" pitchFamily="34" charset="-122"/>
              </a:rPr>
              <a:t>中期</a:t>
            </a:r>
            <a:endParaRPr lang="en-US" altLang="zh-CN" sz="2400" b="1" dirty="0">
              <a:solidFill>
                <a:prstClr val="white"/>
              </a:solidFill>
              <a:effectLst>
                <a:outerShdw blurRad="50800" dist="38100" dir="5400000" algn="t" rotWithShape="0">
                  <a:srgbClr val="0B4FA1">
                    <a:lumMod val="50000"/>
                    <a:alpha val="40000"/>
                  </a:srgbClr>
                </a:outerShdw>
              </a:effectLst>
              <a:latin typeface="微软雅黑" panose="020B0503020204020204" pitchFamily="34" charset="-122"/>
              <a:ea typeface="微软雅黑" panose="020B0503020204020204" pitchFamily="34" charset="-122"/>
            </a:endParaRPr>
          </a:p>
          <a:p>
            <a:pPr algn="ctr">
              <a:lnSpc>
                <a:spcPct val="125000"/>
              </a:lnSpc>
              <a:spcBef>
                <a:spcPts val="120"/>
              </a:spcBef>
              <a:defRPr/>
            </a:pPr>
            <a:r>
              <a:rPr lang="zh-CN" altLang="en-US" sz="2400" b="1" dirty="0">
                <a:solidFill>
                  <a:prstClr val="white"/>
                </a:solidFill>
                <a:effectLst>
                  <a:outerShdw blurRad="50800" dist="38100" dir="5400000" algn="t" rotWithShape="0">
                    <a:srgbClr val="0B4FA1">
                      <a:lumMod val="50000"/>
                      <a:alpha val="40000"/>
                    </a:srgbClr>
                  </a:outerShdw>
                </a:effectLst>
                <a:latin typeface="微软雅黑" panose="020B0503020204020204" pitchFamily="34" charset="-122"/>
                <a:ea typeface="微软雅黑" panose="020B0503020204020204" pitchFamily="34" charset="-122"/>
              </a:rPr>
              <a:t>研究</a:t>
            </a:r>
            <a:endParaRPr lang="en-US" altLang="zh-CN" sz="2400" b="1" dirty="0">
              <a:solidFill>
                <a:prstClr val="white"/>
              </a:solidFill>
              <a:effectLst>
                <a:outerShdw blurRad="50800" dist="38100" dir="5400000" algn="t" rotWithShape="0">
                  <a:srgbClr val="0B4FA1">
                    <a:lumMod val="50000"/>
                    <a:alpha val="40000"/>
                  </a:srgbClr>
                </a:outerShdw>
              </a:effectLst>
              <a:latin typeface="微软雅黑" panose="020B0503020204020204" pitchFamily="34" charset="-122"/>
              <a:ea typeface="微软雅黑" panose="020B0503020204020204" pitchFamily="34" charset="-122"/>
            </a:endParaRPr>
          </a:p>
        </p:txBody>
      </p:sp>
      <p:sp>
        <p:nvSpPr>
          <p:cNvPr id="20" name="矩形 19">
            <a:extLst>
              <a:ext uri="{FF2B5EF4-FFF2-40B4-BE49-F238E27FC236}">
                <a16:creationId xmlns:a16="http://schemas.microsoft.com/office/drawing/2014/main" id="{85F77D7B-D36C-55FE-9E02-233C9FD1065E}"/>
              </a:ext>
            </a:extLst>
          </p:cNvPr>
          <p:cNvSpPr/>
          <p:nvPr/>
        </p:nvSpPr>
        <p:spPr>
          <a:xfrm>
            <a:off x="475754" y="5347480"/>
            <a:ext cx="7482913" cy="1107340"/>
          </a:xfrm>
          <a:prstGeom prst="rect">
            <a:avLst/>
          </a:prstGeom>
          <a:gradFill flip="none" rotWithShape="1">
            <a:gsLst>
              <a:gs pos="25000">
                <a:schemeClr val="accent3"/>
              </a:gs>
              <a:gs pos="99083">
                <a:schemeClr val="bg1"/>
              </a:gs>
            </a:gsLst>
            <a:lin ang="5400000" scaled="1"/>
            <a:tileRect/>
          </a:gradFill>
          <a:ln w="3175" cap="flat" cmpd="sng" algn="ctr">
            <a:solidFill>
              <a:schemeClr val="accent1"/>
            </a:solidFill>
            <a:prstDash val="solid"/>
            <a:miter lim="800000"/>
          </a:ln>
          <a:effectLst>
            <a:outerShdw blurRad="304800" sx="102000" sy="102000" algn="ctr" rotWithShape="0">
              <a:schemeClr val="accent1">
                <a:alpha val="16000"/>
              </a:schemeClr>
            </a:outerShdw>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21" name="箭头: 五边形 20">
            <a:extLst>
              <a:ext uri="{FF2B5EF4-FFF2-40B4-BE49-F238E27FC236}">
                <a16:creationId xmlns:a16="http://schemas.microsoft.com/office/drawing/2014/main" id="{EDDCBB12-AD58-FE54-BDC2-3E4130B693C2}"/>
              </a:ext>
            </a:extLst>
          </p:cNvPr>
          <p:cNvSpPr/>
          <p:nvPr/>
        </p:nvSpPr>
        <p:spPr>
          <a:xfrm>
            <a:off x="475754" y="5349388"/>
            <a:ext cx="1690913" cy="1105432"/>
          </a:xfrm>
          <a:prstGeom prst="homePlate">
            <a:avLst>
              <a:gd name="adj" fmla="val 28405"/>
            </a:avLst>
          </a:prstGeom>
          <a:gradFill flip="none" rotWithShape="1">
            <a:gsLst>
              <a:gs pos="0">
                <a:schemeClr val="accent1"/>
              </a:gs>
              <a:gs pos="100000">
                <a:schemeClr val="accent2">
                  <a:lumMod val="50000"/>
                </a:schemeClr>
              </a:gs>
            </a:gsLst>
            <a:lin ang="8100000" scaled="1"/>
            <a:tileRect/>
          </a:gradFill>
          <a:ln w="12700" cap="flat" cmpd="sng" algn="ctr">
            <a:noFill/>
            <a:prstDash val="solid"/>
            <a:miter lim="800000"/>
          </a:ln>
          <a:effectLst/>
        </p:spPr>
        <p:txBody>
          <a:bodyPr rtlCol="0" anchor="ctr"/>
          <a:lstStyle/>
          <a:p>
            <a:pPr algn="ctr"/>
            <a:endParaRPr lang="zh-CN" altLang="en-US" kern="0">
              <a:solidFill>
                <a:prstClr val="white"/>
              </a:solidFill>
            </a:endParaRPr>
          </a:p>
        </p:txBody>
      </p:sp>
      <p:sp>
        <p:nvSpPr>
          <p:cNvPr id="22" name="文本框 21">
            <a:extLst>
              <a:ext uri="{FF2B5EF4-FFF2-40B4-BE49-F238E27FC236}">
                <a16:creationId xmlns:a16="http://schemas.microsoft.com/office/drawing/2014/main" id="{3A84DD4E-E8EF-3E85-295B-BD1EE84C42DA}"/>
              </a:ext>
            </a:extLst>
          </p:cNvPr>
          <p:cNvSpPr txBox="1"/>
          <p:nvPr/>
        </p:nvSpPr>
        <p:spPr>
          <a:xfrm>
            <a:off x="475754" y="5404508"/>
            <a:ext cx="1384451" cy="993285"/>
          </a:xfrm>
          <a:prstGeom prst="rect">
            <a:avLst/>
          </a:prstGeom>
          <a:noFill/>
        </p:spPr>
        <p:txBody>
          <a:bodyPr wrap="square">
            <a:spAutoFit/>
          </a:bodyPr>
          <a:lstStyle/>
          <a:p>
            <a:pPr algn="ctr">
              <a:lnSpc>
                <a:spcPct val="125000"/>
              </a:lnSpc>
              <a:spcBef>
                <a:spcPts val="120"/>
              </a:spcBef>
              <a:defRPr/>
            </a:pPr>
            <a:r>
              <a:rPr lang="zh-CN" altLang="en-US" sz="2400" b="1" dirty="0">
                <a:solidFill>
                  <a:prstClr val="white"/>
                </a:solidFill>
                <a:effectLst>
                  <a:outerShdw blurRad="50800" dist="38100" dir="5400000" algn="t" rotWithShape="0">
                    <a:srgbClr val="0B4FA1">
                      <a:lumMod val="50000"/>
                      <a:alpha val="40000"/>
                    </a:srgbClr>
                  </a:outerShdw>
                </a:effectLst>
                <a:latin typeface="微软雅黑" panose="020B0503020204020204" pitchFamily="34" charset="-122"/>
                <a:ea typeface="微软雅黑" panose="020B0503020204020204" pitchFamily="34" charset="-122"/>
              </a:rPr>
              <a:t>后期</a:t>
            </a:r>
            <a:endParaRPr lang="en-US" altLang="zh-CN" sz="2400" b="1" dirty="0">
              <a:solidFill>
                <a:prstClr val="white"/>
              </a:solidFill>
              <a:effectLst>
                <a:outerShdw blurRad="50800" dist="38100" dir="5400000" algn="t" rotWithShape="0">
                  <a:srgbClr val="0B4FA1">
                    <a:lumMod val="50000"/>
                    <a:alpha val="40000"/>
                  </a:srgbClr>
                </a:outerShdw>
              </a:effectLst>
              <a:latin typeface="微软雅黑" panose="020B0503020204020204" pitchFamily="34" charset="-122"/>
              <a:ea typeface="微软雅黑" panose="020B0503020204020204" pitchFamily="34" charset="-122"/>
            </a:endParaRPr>
          </a:p>
          <a:p>
            <a:pPr algn="ctr">
              <a:lnSpc>
                <a:spcPct val="125000"/>
              </a:lnSpc>
              <a:spcBef>
                <a:spcPts val="120"/>
              </a:spcBef>
              <a:defRPr/>
            </a:pPr>
            <a:r>
              <a:rPr lang="zh-CN" altLang="en-US" sz="2400" b="1" dirty="0">
                <a:solidFill>
                  <a:prstClr val="white"/>
                </a:solidFill>
                <a:effectLst>
                  <a:outerShdw blurRad="50800" dist="38100" dir="5400000" algn="t" rotWithShape="0">
                    <a:srgbClr val="0B4FA1">
                      <a:lumMod val="50000"/>
                      <a:alpha val="40000"/>
                    </a:srgbClr>
                  </a:outerShdw>
                </a:effectLst>
                <a:latin typeface="微软雅黑" panose="020B0503020204020204" pitchFamily="34" charset="-122"/>
                <a:ea typeface="微软雅黑" panose="020B0503020204020204" pitchFamily="34" charset="-122"/>
              </a:rPr>
              <a:t>研究</a:t>
            </a:r>
            <a:endParaRPr lang="en-US" altLang="zh-CN" sz="2400" b="1" dirty="0">
              <a:solidFill>
                <a:prstClr val="white"/>
              </a:solidFill>
              <a:effectLst>
                <a:outerShdw blurRad="50800" dist="38100" dir="5400000" algn="t" rotWithShape="0">
                  <a:srgbClr val="0B4FA1">
                    <a:lumMod val="50000"/>
                    <a:alpha val="40000"/>
                  </a:srgbClr>
                </a:outerShdw>
              </a:effectLst>
              <a:latin typeface="微软雅黑" panose="020B0503020204020204" pitchFamily="34" charset="-122"/>
              <a:ea typeface="微软雅黑" panose="020B0503020204020204" pitchFamily="34" charset="-122"/>
            </a:endParaRPr>
          </a:p>
        </p:txBody>
      </p:sp>
      <p:sp>
        <p:nvSpPr>
          <p:cNvPr id="23" name="文本框 22">
            <a:extLst>
              <a:ext uri="{FF2B5EF4-FFF2-40B4-BE49-F238E27FC236}">
                <a16:creationId xmlns:a16="http://schemas.microsoft.com/office/drawing/2014/main" id="{F7E2FE61-EA32-A58C-DE37-BF4CDE699E5D}"/>
              </a:ext>
            </a:extLst>
          </p:cNvPr>
          <p:cNvSpPr txBox="1"/>
          <p:nvPr/>
        </p:nvSpPr>
        <p:spPr>
          <a:xfrm>
            <a:off x="2166667" y="2629101"/>
            <a:ext cx="5799492" cy="958596"/>
          </a:xfrm>
          <a:prstGeom prst="rect">
            <a:avLst/>
          </a:prstGeom>
          <a:noFill/>
        </p:spPr>
        <p:txBody>
          <a:bodyPr wrap="square">
            <a:spAutoFit/>
          </a:bodyPr>
          <a:lstStyle/>
          <a:p>
            <a:pPr marL="285750" indent="-285750">
              <a:lnSpc>
                <a:spcPct val="120000"/>
              </a:lnSpc>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提取金矿床范围的蚀变信息，分析其标志性蚀变矿物组合，并对其控制要素和成矿环境进行地质分析</a:t>
            </a:r>
            <a:endParaRPr lang="en-US" altLang="zh-CN" sz="1600" dirty="0">
              <a:latin typeface="微软雅黑" panose="020B0503020204020204" pitchFamily="34" charset="-122"/>
              <a:ea typeface="微软雅黑" panose="020B0503020204020204" pitchFamily="34" charset="-122"/>
            </a:endParaRPr>
          </a:p>
          <a:p>
            <a:pPr marL="285750" indent="-285750">
              <a:lnSpc>
                <a:spcPct val="120000"/>
              </a:lnSpc>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建立金矿床的定位模型</a:t>
            </a:r>
          </a:p>
        </p:txBody>
      </p:sp>
      <p:sp>
        <p:nvSpPr>
          <p:cNvPr id="24" name="文本框 23">
            <a:extLst>
              <a:ext uri="{FF2B5EF4-FFF2-40B4-BE49-F238E27FC236}">
                <a16:creationId xmlns:a16="http://schemas.microsoft.com/office/drawing/2014/main" id="{56B6D1E6-DB5F-2DB1-A22C-8F41DA901214}"/>
              </a:ext>
            </a:extLst>
          </p:cNvPr>
          <p:cNvSpPr txBox="1"/>
          <p:nvPr/>
        </p:nvSpPr>
        <p:spPr>
          <a:xfrm>
            <a:off x="2166667" y="4025477"/>
            <a:ext cx="5758891" cy="958596"/>
          </a:xfrm>
          <a:prstGeom prst="rect">
            <a:avLst/>
          </a:prstGeom>
          <a:noFill/>
        </p:spPr>
        <p:txBody>
          <a:bodyPr wrap="square">
            <a:spAutoFit/>
          </a:bodyPr>
          <a:lstStyle/>
          <a:p>
            <a:pPr marL="285750" indent="-285750">
              <a:lnSpc>
                <a:spcPct val="120000"/>
              </a:lnSpc>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改进传统的矿物识别和填图方法</a:t>
            </a:r>
            <a:endParaRPr lang="en-US" altLang="zh-CN" sz="1600" dirty="0">
              <a:latin typeface="微软雅黑" panose="020B0503020204020204" pitchFamily="34" charset="-122"/>
              <a:ea typeface="微软雅黑" panose="020B0503020204020204" pitchFamily="34" charset="-122"/>
            </a:endParaRPr>
          </a:p>
          <a:p>
            <a:pPr marL="285750" indent="-285750">
              <a:lnSpc>
                <a:spcPct val="120000"/>
              </a:lnSpc>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将矿物 光谱特征参数的识别技术和光谱的相似性填图方法相结合；注入地质学和矿物学的专业知识</a:t>
            </a:r>
          </a:p>
        </p:txBody>
      </p:sp>
      <p:sp>
        <p:nvSpPr>
          <p:cNvPr id="25" name="文本框 24">
            <a:extLst>
              <a:ext uri="{FF2B5EF4-FFF2-40B4-BE49-F238E27FC236}">
                <a16:creationId xmlns:a16="http://schemas.microsoft.com/office/drawing/2014/main" id="{41151D21-587E-4909-CDC9-85D78B71EEE4}"/>
              </a:ext>
            </a:extLst>
          </p:cNvPr>
          <p:cNvSpPr txBox="1"/>
          <p:nvPr/>
        </p:nvSpPr>
        <p:spPr>
          <a:xfrm>
            <a:off x="2166667" y="5421852"/>
            <a:ext cx="5677459" cy="958596"/>
          </a:xfrm>
          <a:prstGeom prst="rect">
            <a:avLst/>
          </a:prstGeom>
          <a:noFill/>
        </p:spPr>
        <p:txBody>
          <a:bodyPr wrap="square">
            <a:spAutoFit/>
          </a:bodyPr>
          <a:lstStyle/>
          <a:p>
            <a:pPr marL="285750" indent="-285750">
              <a:lnSpc>
                <a:spcPct val="120000"/>
              </a:lnSpc>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开展有针对性的二次填图</a:t>
            </a:r>
            <a:endParaRPr lang="en-US" altLang="zh-CN" sz="1600" dirty="0">
              <a:latin typeface="微软雅黑" panose="020B0503020204020204" pitchFamily="34" charset="-122"/>
              <a:ea typeface="微软雅黑" panose="020B0503020204020204" pitchFamily="34" charset="-122"/>
            </a:endParaRPr>
          </a:p>
          <a:p>
            <a:pPr marL="285750" indent="-285750">
              <a:lnSpc>
                <a:spcPct val="120000"/>
              </a:lnSpc>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对填图的效果 及时进行野外查证，对漏填的矿物进行有针对性的重新提取，并检验或改正已提取矿物的位置和范围</a:t>
            </a:r>
          </a:p>
        </p:txBody>
      </p:sp>
      <p:sp>
        <p:nvSpPr>
          <p:cNvPr id="4" name="矩形 3">
            <a:extLst>
              <a:ext uri="{FF2B5EF4-FFF2-40B4-BE49-F238E27FC236}">
                <a16:creationId xmlns:a16="http://schemas.microsoft.com/office/drawing/2014/main" id="{38E61EA1-E64B-2139-BF93-6CC0CDF5B310}"/>
              </a:ext>
            </a:extLst>
          </p:cNvPr>
          <p:cNvSpPr/>
          <p:nvPr/>
        </p:nvSpPr>
        <p:spPr>
          <a:xfrm>
            <a:off x="0" y="1168400"/>
            <a:ext cx="12192000" cy="5689600"/>
          </a:xfrm>
          <a:prstGeom prst="rect">
            <a:avLst/>
          </a:prstGeom>
          <a:solidFill>
            <a:srgbClr val="FFFFFF"/>
          </a:solidFill>
          <a:ln w="1397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endParaRPr lang="zh-CN" altLang="en-US" sz="100">
              <a:solidFill>
                <a:srgbClr val="052346"/>
              </a:solidFill>
              <a:latin typeface="微软雅黑" panose="020B0503020204020204" pitchFamily="34" charset="-122"/>
            </a:endParaRPr>
          </a:p>
        </p:txBody>
      </p:sp>
      <p:sp>
        <p:nvSpPr>
          <p:cNvPr id="26" name="矩形 25">
            <a:extLst>
              <a:ext uri="{FF2B5EF4-FFF2-40B4-BE49-F238E27FC236}">
                <a16:creationId xmlns:a16="http://schemas.microsoft.com/office/drawing/2014/main" id="{140A47FC-1366-FFAC-56F0-D8AADF2F8A5C}"/>
              </a:ext>
            </a:extLst>
          </p:cNvPr>
          <p:cNvSpPr/>
          <p:nvPr/>
        </p:nvSpPr>
        <p:spPr>
          <a:xfrm>
            <a:off x="533400" y="1460500"/>
            <a:ext cx="11112500" cy="558800"/>
          </a:xfrm>
          <a:prstGeom prst="rect">
            <a:avLst/>
          </a:prstGeom>
          <a:solidFill>
            <a:srgbClr val="0054A0"/>
          </a:solidFill>
          <a:ln w="13970">
            <a:solidFill>
              <a:srgbClr val="0054A0"/>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b="1">
                <a:solidFill>
                  <a:srgbClr val="FFFFFF"/>
                </a:solidFill>
                <a:latin typeface="微软雅黑" panose="020B0503020204020204" pitchFamily="34" charset="-122"/>
              </a:rPr>
              <a:t>围绕快速部署、算力调度和结果对比，逐步完善平台功能</a:t>
            </a:r>
          </a:p>
        </p:txBody>
      </p:sp>
      <p:sp>
        <p:nvSpPr>
          <p:cNvPr id="27" name="矩形 26">
            <a:extLst>
              <a:ext uri="{FF2B5EF4-FFF2-40B4-BE49-F238E27FC236}">
                <a16:creationId xmlns:a16="http://schemas.microsoft.com/office/drawing/2014/main" id="{B0A949DC-FCBA-DD8B-F81C-D511D16C9F75}"/>
              </a:ext>
            </a:extLst>
          </p:cNvPr>
          <p:cNvSpPr/>
          <p:nvPr/>
        </p:nvSpPr>
        <p:spPr>
          <a:xfrm>
            <a:off x="698500" y="2413000"/>
            <a:ext cx="1524000" cy="838200"/>
          </a:xfrm>
          <a:prstGeom prst="rect">
            <a:avLst/>
          </a:prstGeom>
          <a:solidFill>
            <a:srgbClr val="0054A0"/>
          </a:solidFill>
          <a:ln w="13970">
            <a:solidFill>
              <a:srgbClr val="0054A0"/>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b="1">
                <a:solidFill>
                  <a:srgbClr val="FFFFFF"/>
                </a:solidFill>
                <a:latin typeface="微软雅黑" panose="020B0503020204020204" pitchFamily="34" charset="-122"/>
              </a:rPr>
              <a:t>当前
进展</a:t>
            </a:r>
          </a:p>
        </p:txBody>
      </p:sp>
      <p:sp>
        <p:nvSpPr>
          <p:cNvPr id="28" name="矩形 27">
            <a:extLst>
              <a:ext uri="{FF2B5EF4-FFF2-40B4-BE49-F238E27FC236}">
                <a16:creationId xmlns:a16="http://schemas.microsoft.com/office/drawing/2014/main" id="{B6CA5AC6-6E8E-06E0-CDD1-E3BC62FD7099}"/>
              </a:ext>
            </a:extLst>
          </p:cNvPr>
          <p:cNvSpPr/>
          <p:nvPr/>
        </p:nvSpPr>
        <p:spPr>
          <a:xfrm>
            <a:off x="2349500" y="2413000"/>
            <a:ext cx="5461000" cy="838200"/>
          </a:xfrm>
          <a:prstGeom prst="rect">
            <a:avLst/>
          </a:prstGeom>
          <a:solidFill>
            <a:srgbClr val="E8F1FA"/>
          </a:solidFill>
          <a:ln w="1397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r>
              <a:rPr lang="en-US" altLang="zh-CN" sz="1400" b="1">
                <a:solidFill>
                  <a:srgbClr val="052346"/>
                </a:solidFill>
                <a:latin typeface="微软雅黑" panose="020B0503020204020204" pitchFamily="34" charset="-122"/>
              </a:rPr>
              <a:t>【</a:t>
            </a:r>
            <a:r>
              <a:rPr lang="zh-CN" altLang="en-US" sz="1400" b="1">
                <a:solidFill>
                  <a:srgbClr val="052346"/>
                </a:solidFill>
                <a:latin typeface="微软雅黑" panose="020B0503020204020204" pitchFamily="34" charset="-122"/>
              </a:rPr>
              <a:t>填：已完成</a:t>
            </a:r>
            <a:r>
              <a:rPr lang="en-US" altLang="zh-CN" sz="1400" b="1">
                <a:solidFill>
                  <a:srgbClr val="052346"/>
                </a:solidFill>
                <a:latin typeface="微软雅黑" panose="020B0503020204020204" pitchFamily="34" charset="-122"/>
              </a:rPr>
              <a:t>】
</a:t>
            </a:r>
            <a:r>
              <a:rPr lang="zh-CN" altLang="en-US" sz="1400" b="1">
                <a:solidFill>
                  <a:srgbClr val="052346"/>
                </a:solidFill>
                <a:latin typeface="微软雅黑" panose="020B0503020204020204" pitchFamily="34" charset="-122"/>
              </a:rPr>
              <a:t>桌面端基础界面 </a:t>
            </a:r>
            <a:r>
              <a:rPr lang="en-US" altLang="zh-CN" sz="1400" b="1">
                <a:solidFill>
                  <a:srgbClr val="052346"/>
                </a:solidFill>
                <a:latin typeface="微软雅黑" panose="020B0503020204020204" pitchFamily="34" charset="-122"/>
              </a:rPr>
              <a:t>/ </a:t>
            </a:r>
            <a:r>
              <a:rPr lang="zh-CN" altLang="en-US" sz="1400" b="1">
                <a:solidFill>
                  <a:srgbClr val="052346"/>
                </a:solidFill>
                <a:latin typeface="微软雅黑" panose="020B0503020204020204" pitchFamily="34" charset="-122"/>
              </a:rPr>
              <a:t>本地后端 </a:t>
            </a:r>
            <a:r>
              <a:rPr lang="en-US" altLang="zh-CN" sz="1400" b="1">
                <a:solidFill>
                  <a:srgbClr val="052346"/>
                </a:solidFill>
                <a:latin typeface="微软雅黑" panose="020B0503020204020204" pitchFamily="34" charset="-122"/>
              </a:rPr>
              <a:t>/ </a:t>
            </a:r>
            <a:r>
              <a:rPr lang="zh-CN" altLang="en-US" sz="1400" b="1">
                <a:solidFill>
                  <a:srgbClr val="052346"/>
                </a:solidFill>
                <a:latin typeface="微软雅黑" panose="020B0503020204020204" pitchFamily="34" charset="-122"/>
              </a:rPr>
              <a:t>远端调度 </a:t>
            </a:r>
            <a:r>
              <a:rPr lang="en-US" altLang="zh-CN" sz="1400" b="1">
                <a:solidFill>
                  <a:srgbClr val="052346"/>
                </a:solidFill>
                <a:latin typeface="微软雅黑" panose="020B0503020204020204" pitchFamily="34" charset="-122"/>
              </a:rPr>
              <a:t>/ </a:t>
            </a:r>
            <a:r>
              <a:rPr lang="zh-CN" altLang="en-US" sz="1400" b="1">
                <a:solidFill>
                  <a:srgbClr val="052346"/>
                </a:solidFill>
                <a:latin typeface="微软雅黑" panose="020B0503020204020204" pitchFamily="34" charset="-122"/>
              </a:rPr>
              <a:t>已接入模型</a:t>
            </a:r>
          </a:p>
        </p:txBody>
      </p:sp>
      <p:sp>
        <p:nvSpPr>
          <p:cNvPr id="29" name="矩形 28">
            <a:extLst>
              <a:ext uri="{FF2B5EF4-FFF2-40B4-BE49-F238E27FC236}">
                <a16:creationId xmlns:a16="http://schemas.microsoft.com/office/drawing/2014/main" id="{399498B7-47E8-0EC2-C82E-8ABFF1422DE0}"/>
              </a:ext>
            </a:extLst>
          </p:cNvPr>
          <p:cNvSpPr/>
          <p:nvPr/>
        </p:nvSpPr>
        <p:spPr>
          <a:xfrm>
            <a:off x="698500" y="3619500"/>
            <a:ext cx="1524000" cy="838200"/>
          </a:xfrm>
          <a:prstGeom prst="rect">
            <a:avLst/>
          </a:prstGeom>
          <a:solidFill>
            <a:srgbClr val="0054A0"/>
          </a:solidFill>
          <a:ln w="13970">
            <a:solidFill>
              <a:srgbClr val="0054A0"/>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b="1">
                <a:solidFill>
                  <a:srgbClr val="FFFFFF"/>
                </a:solidFill>
                <a:latin typeface="微软雅黑" panose="020B0503020204020204" pitchFamily="34" charset="-122"/>
              </a:rPr>
              <a:t>近期
优化</a:t>
            </a:r>
          </a:p>
        </p:txBody>
      </p:sp>
      <p:sp>
        <p:nvSpPr>
          <p:cNvPr id="30" name="矩形 29">
            <a:extLst>
              <a:ext uri="{FF2B5EF4-FFF2-40B4-BE49-F238E27FC236}">
                <a16:creationId xmlns:a16="http://schemas.microsoft.com/office/drawing/2014/main" id="{6359D255-60B1-D0D2-5533-AF7137658320}"/>
              </a:ext>
            </a:extLst>
          </p:cNvPr>
          <p:cNvSpPr/>
          <p:nvPr/>
        </p:nvSpPr>
        <p:spPr>
          <a:xfrm>
            <a:off x="2349500" y="3619500"/>
            <a:ext cx="5461000" cy="838200"/>
          </a:xfrm>
          <a:prstGeom prst="rect">
            <a:avLst/>
          </a:prstGeom>
          <a:solidFill>
            <a:srgbClr val="E8F1FA"/>
          </a:solidFill>
          <a:ln w="1397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r>
              <a:rPr lang="en-US" altLang="zh-CN" sz="1400" b="1">
                <a:solidFill>
                  <a:srgbClr val="052346"/>
                </a:solidFill>
                <a:latin typeface="微软雅黑" panose="020B0503020204020204" pitchFamily="34" charset="-122"/>
              </a:rPr>
              <a:t>【</a:t>
            </a:r>
            <a:r>
              <a:rPr lang="zh-CN" altLang="en-US" sz="1400" b="1">
                <a:solidFill>
                  <a:srgbClr val="052346"/>
                </a:solidFill>
                <a:latin typeface="微软雅黑" panose="020B0503020204020204" pitchFamily="34" charset="-122"/>
              </a:rPr>
              <a:t>填：近期要改</a:t>
            </a:r>
            <a:r>
              <a:rPr lang="en-US" altLang="zh-CN" sz="1400" b="1">
                <a:solidFill>
                  <a:srgbClr val="052346"/>
                </a:solidFill>
                <a:latin typeface="微软雅黑" panose="020B0503020204020204" pitchFamily="34" charset="-122"/>
              </a:rPr>
              <a:t>】
UI </a:t>
            </a:r>
            <a:r>
              <a:rPr lang="zh-CN" altLang="en-US" sz="1400" b="1">
                <a:solidFill>
                  <a:srgbClr val="052346"/>
                </a:solidFill>
                <a:latin typeface="微软雅黑" panose="020B0503020204020204" pitchFamily="34" charset="-122"/>
              </a:rPr>
              <a:t>交互 </a:t>
            </a:r>
            <a:r>
              <a:rPr lang="en-US" altLang="zh-CN" sz="1400" b="1">
                <a:solidFill>
                  <a:srgbClr val="052346"/>
                </a:solidFill>
                <a:latin typeface="微软雅黑" panose="020B0503020204020204" pitchFamily="34" charset="-122"/>
              </a:rPr>
              <a:t>/ </a:t>
            </a:r>
            <a:r>
              <a:rPr lang="zh-CN" altLang="en-US" sz="1400" b="1">
                <a:solidFill>
                  <a:srgbClr val="052346"/>
                </a:solidFill>
                <a:latin typeface="微软雅黑" panose="020B0503020204020204" pitchFamily="34" charset="-122"/>
              </a:rPr>
              <a:t>任务记录 </a:t>
            </a:r>
            <a:r>
              <a:rPr lang="en-US" altLang="zh-CN" sz="1400" b="1">
                <a:solidFill>
                  <a:srgbClr val="052346"/>
                </a:solidFill>
                <a:latin typeface="微软雅黑" panose="020B0503020204020204" pitchFamily="34" charset="-122"/>
              </a:rPr>
              <a:t>/ </a:t>
            </a:r>
            <a:r>
              <a:rPr lang="zh-CN" altLang="en-US" sz="1400" b="1">
                <a:solidFill>
                  <a:srgbClr val="052346"/>
                </a:solidFill>
                <a:latin typeface="微软雅黑" panose="020B0503020204020204" pitchFamily="34" charset="-122"/>
              </a:rPr>
              <a:t>对比视图 </a:t>
            </a:r>
            <a:r>
              <a:rPr lang="en-US" altLang="zh-CN" sz="1400" b="1">
                <a:solidFill>
                  <a:srgbClr val="052346"/>
                </a:solidFill>
                <a:latin typeface="微软雅黑" panose="020B0503020204020204" pitchFamily="34" charset="-122"/>
              </a:rPr>
              <a:t>/ </a:t>
            </a:r>
            <a:r>
              <a:rPr lang="zh-CN" altLang="en-US" sz="1400" b="1">
                <a:solidFill>
                  <a:srgbClr val="052346"/>
                </a:solidFill>
                <a:latin typeface="微软雅黑" panose="020B0503020204020204" pitchFamily="34" charset="-122"/>
              </a:rPr>
              <a:t>报告导出</a:t>
            </a:r>
          </a:p>
        </p:txBody>
      </p:sp>
      <p:sp>
        <p:nvSpPr>
          <p:cNvPr id="31" name="矩形 30">
            <a:extLst>
              <a:ext uri="{FF2B5EF4-FFF2-40B4-BE49-F238E27FC236}">
                <a16:creationId xmlns:a16="http://schemas.microsoft.com/office/drawing/2014/main" id="{9CF8FEB2-DC1E-84EB-E0E6-D357F75A3322}"/>
              </a:ext>
            </a:extLst>
          </p:cNvPr>
          <p:cNvSpPr/>
          <p:nvPr/>
        </p:nvSpPr>
        <p:spPr>
          <a:xfrm>
            <a:off x="698500" y="4826000"/>
            <a:ext cx="1524000" cy="838200"/>
          </a:xfrm>
          <a:prstGeom prst="rect">
            <a:avLst/>
          </a:prstGeom>
          <a:solidFill>
            <a:srgbClr val="0054A0"/>
          </a:solidFill>
          <a:ln w="13970">
            <a:solidFill>
              <a:srgbClr val="0054A0"/>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b="1">
                <a:solidFill>
                  <a:srgbClr val="FFFFFF"/>
                </a:solidFill>
                <a:latin typeface="微软雅黑" panose="020B0503020204020204" pitchFamily="34" charset="-122"/>
              </a:rPr>
              <a:t>后续
扩展</a:t>
            </a:r>
          </a:p>
        </p:txBody>
      </p:sp>
      <p:sp>
        <p:nvSpPr>
          <p:cNvPr id="32" name="矩形 31">
            <a:extLst>
              <a:ext uri="{FF2B5EF4-FFF2-40B4-BE49-F238E27FC236}">
                <a16:creationId xmlns:a16="http://schemas.microsoft.com/office/drawing/2014/main" id="{11435FD8-8DFF-0919-9072-377B815FFE9E}"/>
              </a:ext>
            </a:extLst>
          </p:cNvPr>
          <p:cNvSpPr/>
          <p:nvPr/>
        </p:nvSpPr>
        <p:spPr>
          <a:xfrm>
            <a:off x="2349500" y="4826000"/>
            <a:ext cx="5461000" cy="838200"/>
          </a:xfrm>
          <a:prstGeom prst="rect">
            <a:avLst/>
          </a:prstGeom>
          <a:solidFill>
            <a:srgbClr val="E8F1FA"/>
          </a:solidFill>
          <a:ln w="1397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r>
              <a:rPr lang="en-US" altLang="zh-CN" sz="1400" b="1">
                <a:solidFill>
                  <a:srgbClr val="052346"/>
                </a:solidFill>
                <a:latin typeface="微软雅黑" panose="020B0503020204020204" pitchFamily="34" charset="-122"/>
              </a:rPr>
              <a:t>【</a:t>
            </a:r>
            <a:r>
              <a:rPr lang="zh-CN" altLang="en-US" sz="1400" b="1">
                <a:solidFill>
                  <a:srgbClr val="052346"/>
                </a:solidFill>
                <a:latin typeface="微软雅黑" panose="020B0503020204020204" pitchFamily="34" charset="-122"/>
              </a:rPr>
              <a:t>填：后续方向</a:t>
            </a:r>
            <a:r>
              <a:rPr lang="en-US" altLang="zh-CN" sz="1400" b="1">
                <a:solidFill>
                  <a:srgbClr val="052346"/>
                </a:solidFill>
                <a:latin typeface="微软雅黑" panose="020B0503020204020204" pitchFamily="34" charset="-122"/>
              </a:rPr>
              <a:t>】
</a:t>
            </a:r>
            <a:r>
              <a:rPr lang="zh-CN" altLang="en-US" sz="1400" b="1">
                <a:solidFill>
                  <a:srgbClr val="052346"/>
                </a:solidFill>
                <a:latin typeface="微软雅黑" panose="020B0503020204020204" pitchFamily="34" charset="-122"/>
              </a:rPr>
              <a:t>算力队列 </a:t>
            </a:r>
            <a:r>
              <a:rPr lang="en-US" altLang="zh-CN" sz="1400" b="1">
                <a:solidFill>
                  <a:srgbClr val="052346"/>
                </a:solidFill>
                <a:latin typeface="微软雅黑" panose="020B0503020204020204" pitchFamily="34" charset="-122"/>
              </a:rPr>
              <a:t>/ </a:t>
            </a:r>
            <a:r>
              <a:rPr lang="zh-CN" altLang="en-US" sz="1400" b="1">
                <a:solidFill>
                  <a:srgbClr val="052346"/>
                </a:solidFill>
                <a:latin typeface="微软雅黑" panose="020B0503020204020204" pitchFamily="34" charset="-122"/>
              </a:rPr>
              <a:t>更多模型执行器 </a:t>
            </a:r>
            <a:r>
              <a:rPr lang="en-US" altLang="zh-CN" sz="1400" b="1">
                <a:solidFill>
                  <a:srgbClr val="052346"/>
                </a:solidFill>
                <a:latin typeface="微软雅黑" panose="020B0503020204020204" pitchFamily="34" charset="-122"/>
              </a:rPr>
              <a:t>/ API </a:t>
            </a:r>
            <a:r>
              <a:rPr lang="zh-CN" altLang="en-US" sz="1400" b="1">
                <a:solidFill>
                  <a:srgbClr val="052346"/>
                </a:solidFill>
                <a:latin typeface="微软雅黑" panose="020B0503020204020204" pitchFamily="34" charset="-122"/>
              </a:rPr>
              <a:t>服务化调用</a:t>
            </a:r>
          </a:p>
        </p:txBody>
      </p:sp>
      <p:sp>
        <p:nvSpPr>
          <p:cNvPr id="33" name="矩形 32">
            <a:extLst>
              <a:ext uri="{FF2B5EF4-FFF2-40B4-BE49-F238E27FC236}">
                <a16:creationId xmlns:a16="http://schemas.microsoft.com/office/drawing/2014/main" id="{817C1801-C8C4-44B1-1397-45A80D398954}"/>
              </a:ext>
            </a:extLst>
          </p:cNvPr>
          <p:cNvSpPr/>
          <p:nvPr/>
        </p:nvSpPr>
        <p:spPr>
          <a:xfrm>
            <a:off x="8382000" y="2413000"/>
            <a:ext cx="3175000" cy="1460500"/>
          </a:xfrm>
          <a:prstGeom prst="rect">
            <a:avLst/>
          </a:prstGeom>
          <a:solidFill>
            <a:srgbClr val="FFFFFF"/>
          </a:solidFill>
          <a:ln w="1397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500" b="1">
                <a:solidFill>
                  <a:srgbClr val="052346"/>
                </a:solidFill>
                <a:latin typeface="微软雅黑" panose="020B0503020204020204" pitchFamily="34" charset="-122"/>
              </a:rPr>
              <a:t>放图：当前 </a:t>
            </a:r>
            <a:r>
              <a:rPr lang="en-US" altLang="zh-CN" sz="1500" b="1">
                <a:solidFill>
                  <a:srgbClr val="052346"/>
                </a:solidFill>
                <a:latin typeface="微软雅黑" panose="020B0503020204020204" pitchFamily="34" charset="-122"/>
              </a:rPr>
              <a:t>UI </a:t>
            </a:r>
            <a:r>
              <a:rPr lang="zh-CN" altLang="en-US" sz="1500" b="1">
                <a:solidFill>
                  <a:srgbClr val="052346"/>
                </a:solidFill>
                <a:latin typeface="微软雅黑" panose="020B0503020204020204" pitchFamily="34" charset="-122"/>
              </a:rPr>
              <a:t>截图</a:t>
            </a:r>
          </a:p>
        </p:txBody>
      </p:sp>
      <p:sp>
        <p:nvSpPr>
          <p:cNvPr id="34" name="矩形 33">
            <a:extLst>
              <a:ext uri="{FF2B5EF4-FFF2-40B4-BE49-F238E27FC236}">
                <a16:creationId xmlns:a16="http://schemas.microsoft.com/office/drawing/2014/main" id="{1B0CE399-1DDE-091D-7604-FD56D0C8EDCB}"/>
              </a:ext>
            </a:extLst>
          </p:cNvPr>
          <p:cNvSpPr/>
          <p:nvPr/>
        </p:nvSpPr>
        <p:spPr>
          <a:xfrm>
            <a:off x="8382000" y="4254500"/>
            <a:ext cx="3175000" cy="1460500"/>
          </a:xfrm>
          <a:prstGeom prst="rect">
            <a:avLst/>
          </a:prstGeom>
          <a:solidFill>
            <a:srgbClr val="FFFFFF"/>
          </a:solidFill>
          <a:ln w="13970">
            <a:solidFill>
              <a:srgbClr val="2B6BB9"/>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zh-CN" altLang="en-US" sz="1500" b="1">
                <a:solidFill>
                  <a:srgbClr val="052346"/>
                </a:solidFill>
                <a:latin typeface="微软雅黑" panose="020B0503020204020204" pitchFamily="34" charset="-122"/>
              </a:rPr>
              <a:t>放图：耗时图 </a:t>
            </a:r>
            <a:r>
              <a:rPr lang="en-US" altLang="zh-CN" sz="1500" b="1">
                <a:solidFill>
                  <a:srgbClr val="052346"/>
                </a:solidFill>
                <a:latin typeface="微软雅黑" panose="020B0503020204020204" pitchFamily="34" charset="-122"/>
              </a:rPr>
              <a:t>/ </a:t>
            </a:r>
            <a:r>
              <a:rPr lang="zh-CN" altLang="en-US" sz="1500" b="1">
                <a:solidFill>
                  <a:srgbClr val="052346"/>
                </a:solidFill>
                <a:latin typeface="微软雅黑" panose="020B0503020204020204" pitchFamily="34" charset="-122"/>
              </a:rPr>
              <a:t>后续计划图</a:t>
            </a:r>
          </a:p>
        </p:txBody>
      </p:sp>
    </p:spTree>
    <p:extLst>
      <p:ext uri="{BB962C8B-B14F-4D97-AF65-F5344CB8AC3E}">
        <p14:creationId xmlns:p14="http://schemas.microsoft.com/office/powerpoint/2010/main" val="31763127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48A6D-C6EE-964D-6C1A-BE3EC5A39DA0}"/>
            </a:ext>
          </a:extLst>
        </p:cNvPr>
        <p:cNvGrpSpPr/>
        <p:nvPr/>
      </p:nvGrpSpPr>
      <p:grpSpPr>
        <a:xfrm>
          <a:off x="0" y="0"/>
          <a:ext cx="0" cy="0"/>
          <a:chOff x="0" y="0"/>
          <a:chExt cx="0" cy="0"/>
        </a:xfrm>
      </p:grpSpPr>
      <p:pic>
        <p:nvPicPr>
          <p:cNvPr id="11" name="图片 10" descr="蓝色的火车在站台旁&#10;&#10;描述已自动生成">
            <a:extLst>
              <a:ext uri="{FF2B5EF4-FFF2-40B4-BE49-F238E27FC236}">
                <a16:creationId xmlns:a16="http://schemas.microsoft.com/office/drawing/2014/main" id="{47CB2ABF-6C6A-A145-CBD3-5D4863BE40CD}"/>
              </a:ext>
            </a:extLst>
          </p:cNvPr>
          <p:cNvPicPr>
            <a:picLocks noChangeAspect="1"/>
          </p:cNvPicPr>
          <p:nvPr/>
        </p:nvPicPr>
        <p:blipFill rotWithShape="1">
          <a:blip r:embed="rId3" cstate="print">
            <a:duotone>
              <a:schemeClr val="accent6">
                <a:shade val="45000"/>
                <a:satMod val="135000"/>
              </a:schemeClr>
              <a:prstClr val="white"/>
            </a:duotone>
            <a:extLst>
              <a:ext uri="{BEBA8EAE-BF5A-486C-A8C5-ECC9F3942E4B}">
                <a14:imgProps xmlns:a14="http://schemas.microsoft.com/office/drawing/2010/main">
                  <a14:imgLayer r:embed="rId4">
                    <a14:imgEffect>
                      <a14:saturation sat="0"/>
                    </a14:imgEffect>
                    <a14:imgEffect>
                      <a14:brightnessContrast contrast="-40000"/>
                    </a14:imgEffect>
                  </a14:imgLayer>
                </a14:imgProps>
              </a:ext>
              <a:ext uri="{28A0092B-C50C-407E-A947-70E740481C1C}">
                <a14:useLocalDpi xmlns:a14="http://schemas.microsoft.com/office/drawing/2010/main" val="0"/>
              </a:ext>
            </a:extLst>
          </a:blip>
          <a:srcRect l="51" b="33391"/>
          <a:stretch/>
        </p:blipFill>
        <p:spPr>
          <a:xfrm>
            <a:off x="567" y="1099270"/>
            <a:ext cx="12190866" cy="4060213"/>
          </a:xfrm>
          <a:prstGeom prst="rect">
            <a:avLst/>
          </a:prstGeom>
        </p:spPr>
      </p:pic>
      <p:sp>
        <p:nvSpPr>
          <p:cNvPr id="12" name="矩形 11">
            <a:extLst>
              <a:ext uri="{FF2B5EF4-FFF2-40B4-BE49-F238E27FC236}">
                <a16:creationId xmlns:a16="http://schemas.microsoft.com/office/drawing/2014/main" id="{6DAA6598-060B-09AF-69C5-C131F0EE830A}"/>
              </a:ext>
            </a:extLst>
          </p:cNvPr>
          <p:cNvSpPr/>
          <p:nvPr/>
        </p:nvSpPr>
        <p:spPr>
          <a:xfrm>
            <a:off x="9859" y="-1"/>
            <a:ext cx="12191999" cy="5159483"/>
          </a:xfrm>
          <a:prstGeom prst="rect">
            <a:avLst/>
          </a:prstGeom>
          <a:gradFill flip="none" rotWithShape="1">
            <a:gsLst>
              <a:gs pos="49000">
                <a:schemeClr val="bg1"/>
              </a:gs>
              <a:gs pos="100000">
                <a:schemeClr val="accent3">
                  <a:alpha val="2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zh-CN" altLang="en-US" dirty="0">
              <a:solidFill>
                <a:prstClr val="white"/>
              </a:solidFill>
              <a:latin typeface="微软雅黑" panose="020B0503020204020204" pitchFamily="34" charset="-122"/>
              <a:ea typeface="微软雅黑" panose="020B0503020204020204" pitchFamily="34" charset="-122"/>
            </a:endParaRPr>
          </a:p>
        </p:txBody>
      </p:sp>
      <p:grpSp>
        <p:nvGrpSpPr>
          <p:cNvPr id="13" name="组合 12">
            <a:extLst>
              <a:ext uri="{FF2B5EF4-FFF2-40B4-BE49-F238E27FC236}">
                <a16:creationId xmlns:a16="http://schemas.microsoft.com/office/drawing/2014/main" id="{8B7BF0E7-40A8-7FA0-2CDB-5543790FC811}"/>
              </a:ext>
            </a:extLst>
          </p:cNvPr>
          <p:cNvGrpSpPr/>
          <p:nvPr/>
        </p:nvGrpSpPr>
        <p:grpSpPr>
          <a:xfrm>
            <a:off x="9859" y="1239674"/>
            <a:ext cx="12172282" cy="2928257"/>
            <a:chOff x="442611" y="2016251"/>
            <a:chExt cx="10694619" cy="2228850"/>
          </a:xfrm>
          <a:gradFill>
            <a:gsLst>
              <a:gs pos="0">
                <a:schemeClr val="bg1">
                  <a:alpha val="0"/>
                </a:schemeClr>
              </a:gs>
              <a:gs pos="50000">
                <a:schemeClr val="bg1">
                  <a:lumMod val="95000"/>
                </a:schemeClr>
              </a:gs>
              <a:gs pos="100000">
                <a:schemeClr val="bg1">
                  <a:alpha val="0"/>
                </a:schemeClr>
              </a:gs>
            </a:gsLst>
            <a:lin ang="0" scaled="1"/>
          </a:gradFill>
        </p:grpSpPr>
        <p:grpSp>
          <p:nvGrpSpPr>
            <p:cNvPr id="14" name="组合 13">
              <a:extLst>
                <a:ext uri="{FF2B5EF4-FFF2-40B4-BE49-F238E27FC236}">
                  <a16:creationId xmlns:a16="http://schemas.microsoft.com/office/drawing/2014/main" id="{F970E494-61EE-587D-4574-8858E921DFBB}"/>
                </a:ext>
              </a:extLst>
            </p:cNvPr>
            <p:cNvGrpSpPr/>
            <p:nvPr/>
          </p:nvGrpSpPr>
          <p:grpSpPr>
            <a:xfrm>
              <a:off x="442611" y="2016251"/>
              <a:ext cx="10694619" cy="2228849"/>
              <a:chOff x="442611" y="2016251"/>
              <a:chExt cx="10694619" cy="2228849"/>
            </a:xfrm>
            <a:grpFill/>
          </p:grpSpPr>
          <p:sp>
            <p:nvSpPr>
              <p:cNvPr id="16" name="矩形 15">
                <a:extLst>
                  <a:ext uri="{FF2B5EF4-FFF2-40B4-BE49-F238E27FC236}">
                    <a16:creationId xmlns:a16="http://schemas.microsoft.com/office/drawing/2014/main" id="{4B88A2BA-CB61-B07D-37EF-4D0FB144C24D}"/>
                  </a:ext>
                </a:extLst>
              </p:cNvPr>
              <p:cNvSpPr/>
              <p:nvPr/>
            </p:nvSpPr>
            <p:spPr>
              <a:xfrm>
                <a:off x="442611" y="2016251"/>
                <a:ext cx="10694619" cy="2228849"/>
              </a:xfrm>
              <a:prstGeom prst="rect">
                <a:avLst/>
              </a:prstGeom>
              <a:grpFill/>
              <a:ln w="9525">
                <a:noFill/>
              </a:ln>
              <a:effectLst>
                <a:outerShdw blurRad="190500" dist="38100" dir="5400000" algn="t" rotWithShape="0">
                  <a:schemeClr val="bg1">
                    <a:lumMod val="75000"/>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lnSpc>
                    <a:spcPct val="150000"/>
                  </a:lnSpc>
                  <a:defRPr/>
                </a:pPr>
                <a:endParaRPr lang="zh-CN" altLang="en-US" sz="1200" b="1" dirty="0">
                  <a:solidFill>
                    <a:srgbClr val="03654E"/>
                  </a:solidFill>
                </a:endParaRPr>
              </a:p>
            </p:txBody>
          </p:sp>
          <p:cxnSp>
            <p:nvCxnSpPr>
              <p:cNvPr id="17" name="直接连接符 16">
                <a:extLst>
                  <a:ext uri="{FF2B5EF4-FFF2-40B4-BE49-F238E27FC236}">
                    <a16:creationId xmlns:a16="http://schemas.microsoft.com/office/drawing/2014/main" id="{158E00CD-2609-D798-C0FA-987A012BEC41}"/>
                  </a:ext>
                </a:extLst>
              </p:cNvPr>
              <p:cNvCxnSpPr>
                <a:cxnSpLocks/>
              </p:cNvCxnSpPr>
              <p:nvPr/>
            </p:nvCxnSpPr>
            <p:spPr>
              <a:xfrm>
                <a:off x="2049461" y="2016251"/>
                <a:ext cx="8093075" cy="0"/>
              </a:xfrm>
              <a:prstGeom prst="line">
                <a:avLst/>
              </a:prstGeom>
              <a:grpFill/>
              <a:ln w="12700">
                <a:gradFill flip="none" rotWithShape="1">
                  <a:gsLst>
                    <a:gs pos="0">
                      <a:schemeClr val="accent6">
                        <a:alpha val="0"/>
                      </a:schemeClr>
                    </a:gs>
                    <a:gs pos="50000">
                      <a:schemeClr val="accent6"/>
                    </a:gs>
                    <a:gs pos="100000">
                      <a:schemeClr val="accent6">
                        <a:alpha val="0"/>
                      </a:schemeClr>
                    </a:gs>
                  </a:gsLst>
                  <a:lin ang="0" scaled="1"/>
                  <a:tileRect/>
                </a:gradFill>
              </a:ln>
              <a:effectLst>
                <a:outerShdw blurRad="50800" dist="38100" dir="7200000" algn="t" rotWithShape="0">
                  <a:schemeClr val="bg1">
                    <a:lumMod val="65000"/>
                    <a:alpha val="42000"/>
                  </a:schemeClr>
                </a:outerShdw>
              </a:effectLst>
            </p:spPr>
            <p:style>
              <a:lnRef idx="1">
                <a:schemeClr val="accent1"/>
              </a:lnRef>
              <a:fillRef idx="0">
                <a:schemeClr val="accent1"/>
              </a:fillRef>
              <a:effectRef idx="0">
                <a:schemeClr val="accent1"/>
              </a:effectRef>
              <a:fontRef idx="minor">
                <a:schemeClr val="tx1"/>
              </a:fontRef>
            </p:style>
          </p:cxnSp>
        </p:grpSp>
        <p:cxnSp>
          <p:nvCxnSpPr>
            <p:cNvPr id="15" name="直接连接符 14">
              <a:extLst>
                <a:ext uri="{FF2B5EF4-FFF2-40B4-BE49-F238E27FC236}">
                  <a16:creationId xmlns:a16="http://schemas.microsoft.com/office/drawing/2014/main" id="{9A5C04A5-7A49-3B7C-BC7F-3E42593659C0}"/>
                </a:ext>
              </a:extLst>
            </p:cNvPr>
            <p:cNvCxnSpPr>
              <a:cxnSpLocks/>
            </p:cNvCxnSpPr>
            <p:nvPr/>
          </p:nvCxnSpPr>
          <p:spPr>
            <a:xfrm>
              <a:off x="2049461" y="4245101"/>
              <a:ext cx="8093075" cy="0"/>
            </a:xfrm>
            <a:prstGeom prst="line">
              <a:avLst/>
            </a:prstGeom>
            <a:grpFill/>
            <a:ln w="12700">
              <a:gradFill flip="none" rotWithShape="1">
                <a:gsLst>
                  <a:gs pos="0">
                    <a:schemeClr val="accent6">
                      <a:alpha val="0"/>
                    </a:schemeClr>
                  </a:gs>
                  <a:gs pos="50000">
                    <a:schemeClr val="accent6"/>
                  </a:gs>
                  <a:gs pos="100000">
                    <a:schemeClr val="accent6">
                      <a:alpha val="0"/>
                    </a:schemeClr>
                  </a:gs>
                </a:gsLst>
                <a:lin ang="0" scaled="1"/>
                <a:tileRect/>
              </a:gradFill>
            </a:ln>
            <a:effectLst>
              <a:outerShdw blurRad="50800" dist="38100" dir="7200000" algn="t" rotWithShape="0">
                <a:schemeClr val="bg1">
                  <a:lumMod val="85000"/>
                  <a:alpha val="42000"/>
                </a:schemeClr>
              </a:outerShdw>
            </a:effectLst>
          </p:spPr>
          <p:style>
            <a:lnRef idx="1">
              <a:schemeClr val="accent1"/>
            </a:lnRef>
            <a:fillRef idx="0">
              <a:schemeClr val="accent1"/>
            </a:fillRef>
            <a:effectRef idx="0">
              <a:schemeClr val="accent1"/>
            </a:effectRef>
            <a:fontRef idx="minor">
              <a:schemeClr val="tx1"/>
            </a:fontRef>
          </p:style>
        </p:cxnSp>
      </p:grpSp>
      <p:sp>
        <p:nvSpPr>
          <p:cNvPr id="2" name="文本框 1">
            <a:extLst>
              <a:ext uri="{FF2B5EF4-FFF2-40B4-BE49-F238E27FC236}">
                <a16:creationId xmlns:a16="http://schemas.microsoft.com/office/drawing/2014/main" id="{A88CC83B-3930-EC30-7D36-3B736667F610}"/>
              </a:ext>
            </a:extLst>
          </p:cNvPr>
          <p:cNvSpPr txBox="1"/>
          <p:nvPr/>
        </p:nvSpPr>
        <p:spPr>
          <a:xfrm>
            <a:off x="0" y="1366919"/>
            <a:ext cx="12192000" cy="2552494"/>
          </a:xfrm>
          <a:prstGeom prst="rect">
            <a:avLst/>
          </a:prstGeom>
          <a:noFill/>
        </p:spPr>
        <p:txBody>
          <a:bodyPr wrap="square">
            <a:spAutoFit/>
          </a:bodyPr>
          <a:lstStyle/>
          <a:p>
            <a:pPr algn="ctr">
              <a:lnSpc>
                <a:spcPts val="10500"/>
              </a:lnSpc>
              <a:defRPr/>
            </a:pPr>
            <a:r>
              <a:rPr lang="zh-CN" altLang="en-US" sz="3400" b="1">
                <a:solidFill>
                  <a:schemeClr val="accent1"/>
                </a:solidFill>
                <a:latin typeface="微软雅黑" panose="020B0503020204020204" pitchFamily="34" charset="-122"/>
                <a:ea typeface="微软雅黑" panose="020B0503020204020204" pitchFamily="34" charset="-122"/>
              </a:rPr>
              <a:t>感谢各位老师
敬请批评指正！</a:t>
            </a:r>
            <a:endParaRPr lang="zh-CN" altLang="en-US" sz="3400" b="1" dirty="0">
              <a:solidFill>
                <a:schemeClr val="accent1"/>
              </a:solidFill>
              <a:latin typeface="微软雅黑" panose="020B0503020204020204" pitchFamily="34" charset="-122"/>
              <a:ea typeface="微软雅黑" panose="020B0503020204020204" pitchFamily="34" charset="-122"/>
            </a:endParaRPr>
          </a:p>
        </p:txBody>
      </p:sp>
      <p:sp>
        <p:nvSpPr>
          <p:cNvPr id="3" name="矩形: 圆角 2">
            <a:extLst>
              <a:ext uri="{FF2B5EF4-FFF2-40B4-BE49-F238E27FC236}">
                <a16:creationId xmlns:a16="http://schemas.microsoft.com/office/drawing/2014/main" id="{753A6628-8FA7-25F2-06E2-E59A2C233769}"/>
              </a:ext>
            </a:extLst>
          </p:cNvPr>
          <p:cNvSpPr/>
          <p:nvPr/>
        </p:nvSpPr>
        <p:spPr>
          <a:xfrm>
            <a:off x="4839038" y="4461335"/>
            <a:ext cx="2768614" cy="584778"/>
          </a:xfrm>
          <a:prstGeom prst="roundRect">
            <a:avLst>
              <a:gd name="adj" fmla="val 50000"/>
            </a:avLst>
          </a:prstGeom>
          <a:solidFill>
            <a:srgbClr val="FFFFFF"/>
          </a:solidFill>
          <a:ln w="3175" cap="flat" cmpd="sng" algn="ctr">
            <a:solidFill>
              <a:schemeClr val="accent1"/>
            </a:solid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600" b="1" i="0" u="none" strike="noStrike" kern="0" cap="none" spc="0" normalizeH="0" baseline="0" noProof="0" dirty="0">
              <a:ln>
                <a:noFill/>
              </a:ln>
              <a:solidFill>
                <a:prstClr val="white"/>
              </a:solidFill>
              <a:effectLst/>
              <a:uLnTx/>
              <a:uFillTx/>
              <a:latin typeface="微软雅黑"/>
            </a:endParaRPr>
          </a:p>
        </p:txBody>
      </p:sp>
      <p:sp>
        <p:nvSpPr>
          <p:cNvPr id="4" name="矩形: 圆角 3">
            <a:extLst>
              <a:ext uri="{FF2B5EF4-FFF2-40B4-BE49-F238E27FC236}">
                <a16:creationId xmlns:a16="http://schemas.microsoft.com/office/drawing/2014/main" id="{9F1CD2E0-46BC-99EB-ABA8-B448EF15F9D4}"/>
              </a:ext>
            </a:extLst>
          </p:cNvPr>
          <p:cNvSpPr/>
          <p:nvPr/>
        </p:nvSpPr>
        <p:spPr>
          <a:xfrm>
            <a:off x="3768924" y="4454012"/>
            <a:ext cx="1685122" cy="584776"/>
          </a:xfrm>
          <a:prstGeom prst="roundRect">
            <a:avLst>
              <a:gd name="adj" fmla="val 50000"/>
            </a:avLst>
          </a:prstGeom>
          <a:solidFill>
            <a:schemeClr val="accent1"/>
          </a:solidFill>
          <a:ln w="3175" cap="flat" cmpd="sng" algn="ctr">
            <a:solidFill>
              <a:srgbClr val="0C56AE"/>
            </a:solidFill>
            <a:prstDash val="solid"/>
            <a:miter lim="800000"/>
          </a:ln>
          <a:effectLst/>
        </p:spPr>
        <p:txBody>
          <a:bodyPr wrap="square" rtlCol="0" anchor="ctr">
            <a:noAutofit/>
          </a:bodyPr>
          <a:lstStyle/>
          <a:p>
            <a:pPr algn="ctr">
              <a:defRPr/>
            </a:pPr>
            <a:r>
              <a:rPr lang="zh-CN" altLang="en-US" sz="1600" b="1" kern="0">
                <a:solidFill>
                  <a:prstClr val="white"/>
                </a:solidFill>
                <a:latin typeface="微软雅黑" panose="020B0503020204020204" pitchFamily="34" charset="-122"/>
                <a:ea typeface="微软雅黑" panose="020B0503020204020204" pitchFamily="34" charset="-122"/>
              </a:rPr>
              <a:t>汇报人</a:t>
            </a:r>
            <a:endParaRPr lang="zh-CN" altLang="en-US" sz="1600" b="1" kern="0" dirty="0">
              <a:solidFill>
                <a:prstClr val="white"/>
              </a:solidFill>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F1B5170C-0A93-DE4E-D3BB-401B5E35536D}"/>
              </a:ext>
            </a:extLst>
          </p:cNvPr>
          <p:cNvSpPr txBox="1"/>
          <p:nvPr/>
        </p:nvSpPr>
        <p:spPr>
          <a:xfrm>
            <a:off x="5624923" y="4461337"/>
            <a:ext cx="1707519" cy="369332"/>
          </a:xfrm>
          <a:prstGeom prst="rect">
            <a:avLst/>
          </a:prstGeom>
          <a:noFill/>
        </p:spPr>
        <p:txBody>
          <a:bodyPr wrap="none">
            <a:spAutoFit/>
          </a:bodyPr>
          <a:lstStyle/>
          <a:p>
            <a:pPr algn="ctr">
              <a:defRPr/>
            </a:pPr>
            <a:r>
              <a:rPr lang="zh-CN" altLang="en-US" b="1">
                <a:solidFill>
                  <a:schemeClr val="accent1"/>
                </a:solidFill>
                <a:latin typeface="微软雅黑" panose="020B0503020204020204" pitchFamily="34" charset="-122"/>
                <a:ea typeface="微软雅黑" panose="020B0503020204020204" pitchFamily="34" charset="-122"/>
              </a:rPr>
              <a:t>崔昊喆  纪博闻</a:t>
            </a:r>
            <a:endParaRPr lang="zh-CN" altLang="en-US" b="1" dirty="0">
              <a:solidFill>
                <a:schemeClr val="accent1"/>
              </a:solidFill>
              <a:latin typeface="微软雅黑" panose="020B0503020204020204" pitchFamily="34" charset="-122"/>
              <a:ea typeface="微软雅黑" panose="020B0503020204020204" pitchFamily="34" charset="-122"/>
            </a:endParaRPr>
          </a:p>
        </p:txBody>
      </p:sp>
      <p:sp>
        <p:nvSpPr>
          <p:cNvPr id="6" name="任意多边形: 形状 5">
            <a:extLst>
              <a:ext uri="{FF2B5EF4-FFF2-40B4-BE49-F238E27FC236}">
                <a16:creationId xmlns:a16="http://schemas.microsoft.com/office/drawing/2014/main" id="{AD3FB004-3B93-3E9F-C7A6-53529A5C2DC6}"/>
              </a:ext>
            </a:extLst>
          </p:cNvPr>
          <p:cNvSpPr/>
          <p:nvPr/>
        </p:nvSpPr>
        <p:spPr>
          <a:xfrm>
            <a:off x="2614943" y="-5733"/>
            <a:ext cx="6962115" cy="493598"/>
          </a:xfrm>
          <a:custGeom>
            <a:avLst/>
            <a:gdLst>
              <a:gd name="connsiteX0" fmla="*/ 0 w 8717654"/>
              <a:gd name="connsiteY0" fmla="*/ 0 h 562725"/>
              <a:gd name="connsiteX1" fmla="*/ 1155700 w 8717654"/>
              <a:gd name="connsiteY1" fmla="*/ 0 h 562725"/>
              <a:gd name="connsiteX2" fmla="*/ 7561954 w 8717654"/>
              <a:gd name="connsiteY2" fmla="*/ 0 h 562725"/>
              <a:gd name="connsiteX3" fmla="*/ 8717654 w 8717654"/>
              <a:gd name="connsiteY3" fmla="*/ 0 h 562725"/>
              <a:gd name="connsiteX4" fmla="*/ 8717381 w 8717654"/>
              <a:gd name="connsiteY4" fmla="*/ 1022 h 562725"/>
              <a:gd name="connsiteX5" fmla="*/ 8441286 w 8717654"/>
              <a:gd name="connsiteY5" fmla="*/ 521969 h 562725"/>
              <a:gd name="connsiteX6" fmla="*/ 8383695 w 8717654"/>
              <a:gd name="connsiteY6" fmla="*/ 562725 h 562725"/>
              <a:gd name="connsiteX7" fmla="*/ 7227995 w 8717654"/>
              <a:gd name="connsiteY7" fmla="*/ 562725 h 562725"/>
              <a:gd name="connsiteX8" fmla="*/ 1489659 w 8717654"/>
              <a:gd name="connsiteY8" fmla="*/ 562725 h 562725"/>
              <a:gd name="connsiteX9" fmla="*/ 333959 w 8717654"/>
              <a:gd name="connsiteY9" fmla="*/ 562725 h 562725"/>
              <a:gd name="connsiteX10" fmla="*/ 276368 w 8717654"/>
              <a:gd name="connsiteY10" fmla="*/ 521969 h 562725"/>
              <a:gd name="connsiteX11" fmla="*/ 273 w 8717654"/>
              <a:gd name="connsiteY11" fmla="*/ 1022 h 562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717654" h="562725">
                <a:moveTo>
                  <a:pt x="0" y="0"/>
                </a:moveTo>
                <a:lnTo>
                  <a:pt x="1155700" y="0"/>
                </a:lnTo>
                <a:lnTo>
                  <a:pt x="7561954" y="0"/>
                </a:lnTo>
                <a:lnTo>
                  <a:pt x="8717654" y="0"/>
                </a:lnTo>
                <a:lnTo>
                  <a:pt x="8717381" y="1022"/>
                </a:lnTo>
                <a:lnTo>
                  <a:pt x="8441286" y="521969"/>
                </a:lnTo>
                <a:cubicBezTo>
                  <a:pt x="8427678" y="547645"/>
                  <a:pt x="8406370" y="562725"/>
                  <a:pt x="8383695" y="562725"/>
                </a:cubicBezTo>
                <a:lnTo>
                  <a:pt x="7227995" y="562725"/>
                </a:lnTo>
                <a:lnTo>
                  <a:pt x="1489659" y="562725"/>
                </a:lnTo>
                <a:lnTo>
                  <a:pt x="333959" y="562725"/>
                </a:lnTo>
                <a:cubicBezTo>
                  <a:pt x="311285" y="562725"/>
                  <a:pt x="289976" y="547645"/>
                  <a:pt x="276368" y="521969"/>
                </a:cubicBezTo>
                <a:lnTo>
                  <a:pt x="273" y="1022"/>
                </a:lnTo>
                <a:close/>
              </a:path>
            </a:pathLst>
          </a:custGeom>
          <a:solidFill>
            <a:schemeClr val="accent1"/>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dirty="0">
              <a:ln>
                <a:noFill/>
              </a:ln>
              <a:solidFill>
                <a:srgbClr val="0C56AE"/>
              </a:solidFill>
              <a:effectLst/>
              <a:uLnTx/>
              <a:uFillTx/>
              <a:latin typeface="微软雅黑" panose="020B0503020204020204" pitchFamily="34" charset="-122"/>
              <a:ea typeface="微软雅黑" panose="020B0503020204020204" pitchFamily="34" charset="-122"/>
              <a:cs typeface="+mn-cs"/>
            </a:endParaRPr>
          </a:p>
        </p:txBody>
      </p:sp>
      <p:sp>
        <p:nvSpPr>
          <p:cNvPr id="7" name="文本框 6">
            <a:extLst>
              <a:ext uri="{FF2B5EF4-FFF2-40B4-BE49-F238E27FC236}">
                <a16:creationId xmlns:a16="http://schemas.microsoft.com/office/drawing/2014/main" id="{4903C5D8-B02C-615F-5E7C-1D735477DD28}"/>
              </a:ext>
            </a:extLst>
          </p:cNvPr>
          <p:cNvSpPr txBox="1"/>
          <p:nvPr/>
        </p:nvSpPr>
        <p:spPr>
          <a:xfrm>
            <a:off x="2925902" y="10234"/>
            <a:ext cx="4903907" cy="338554"/>
          </a:xfrm>
          <a:prstGeom prst="rect">
            <a:avLst/>
          </a:prstGeom>
          <a:noFill/>
        </p:spPr>
        <p:txBody>
          <a:bodyPr wrap="none">
            <a:spAutoFit/>
          </a:bodyPr>
          <a:lstStyle/>
          <a:p>
            <a:pPr>
              <a:defRPr/>
            </a:pPr>
            <a:r>
              <a:rPr lang="zh-CN" altLang="en-US" sz="1600">
                <a:solidFill>
                  <a:srgbClr val="FFFFFF"/>
                </a:solidFill>
                <a:latin typeface="微软雅黑" panose="020B0503020204020204" pitchFamily="34" charset="-122"/>
                <a:ea typeface="微软雅黑" panose="020B0503020204020204" pitchFamily="34" charset="-122"/>
              </a:rPr>
              <a:t>面向前馈式三维重建模型的聚合管理平台设计与实现</a:t>
            </a:r>
            <a:endParaRPr lang="zh-CN" altLang="en-US" sz="1600" dirty="0">
              <a:solidFill>
                <a:srgbClr val="FFFFFF"/>
              </a:solidFill>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32FFE97B-23C9-8820-1F31-BED8A87ED8B0}"/>
              </a:ext>
            </a:extLst>
          </p:cNvPr>
          <p:cNvSpPr txBox="1"/>
          <p:nvPr/>
        </p:nvSpPr>
        <p:spPr>
          <a:xfrm>
            <a:off x="5182930" y="5238426"/>
            <a:ext cx="1826141" cy="338554"/>
          </a:xfrm>
          <a:prstGeom prst="rect">
            <a:avLst/>
          </a:prstGeom>
          <a:noFill/>
        </p:spPr>
        <p:txBody>
          <a:bodyPr wrap="none">
            <a:spAutoFit/>
          </a:bodyPr>
          <a:lstStyle/>
          <a:p>
            <a:pPr algn="ctr">
              <a:defRPr/>
            </a:pPr>
            <a:r>
              <a:rPr lang="zh-CN" altLang="en-US" sz="1600">
                <a:ln w="0"/>
                <a:solidFill>
                  <a:prstClr val="black"/>
                </a:solidFill>
                <a:latin typeface="微软雅黑" panose="020B0503020204020204" pitchFamily="34" charset="-122"/>
                <a:ea typeface="微软雅黑" panose="020B0503020204020204" pitchFamily="34" charset="-122"/>
              </a:rPr>
              <a:t>北京航空航天大学</a:t>
            </a:r>
            <a:endParaRPr lang="zh-CN" altLang="en-US" sz="1600" dirty="0">
              <a:ln w="0"/>
              <a:solidFill>
                <a:prstClr val="black"/>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D82FF6B3-E791-92AE-46CC-5FB429465CB0}"/>
              </a:ext>
            </a:extLst>
          </p:cNvPr>
          <p:cNvSpPr/>
          <p:nvPr/>
        </p:nvSpPr>
        <p:spPr>
          <a:xfrm>
            <a:off x="0" y="6632574"/>
            <a:ext cx="12192000" cy="23447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文本框 9">
            <a:extLst>
              <a:ext uri="{FF2B5EF4-FFF2-40B4-BE49-F238E27FC236}">
                <a16:creationId xmlns:a16="http://schemas.microsoft.com/office/drawing/2014/main" id="{626C5F9F-EECD-2264-A66A-C58849A197E9}"/>
              </a:ext>
            </a:extLst>
          </p:cNvPr>
          <p:cNvSpPr txBox="1"/>
          <p:nvPr/>
        </p:nvSpPr>
        <p:spPr>
          <a:xfrm>
            <a:off x="5497919" y="5721158"/>
            <a:ext cx="1196161" cy="338554"/>
          </a:xfrm>
          <a:prstGeom prst="rect">
            <a:avLst/>
          </a:prstGeom>
          <a:noFill/>
        </p:spPr>
        <p:txBody>
          <a:bodyPr wrap="none">
            <a:spAutoFit/>
          </a:bodyPr>
          <a:lstStyle/>
          <a:p>
            <a:pPr algn="ctr">
              <a:defRPr/>
            </a:pPr>
            <a:r>
              <a:rPr lang="en-US" altLang="zh-CN" sz="1600">
                <a:ln w="0"/>
                <a:solidFill>
                  <a:prstClr val="black"/>
                </a:solidFill>
                <a:latin typeface="微软雅黑" panose="020B0503020204020204" pitchFamily="34" charset="-122"/>
                <a:ea typeface="微软雅黑" panose="020B0503020204020204" pitchFamily="34" charset="-122"/>
              </a:rPr>
              <a:t>2026</a:t>
            </a:r>
            <a:r>
              <a:rPr lang="zh-CN" altLang="en-US" sz="1600">
                <a:ln w="0"/>
                <a:solidFill>
                  <a:prstClr val="black"/>
                </a:solidFill>
                <a:latin typeface="微软雅黑" panose="020B0503020204020204" pitchFamily="34" charset="-122"/>
                <a:ea typeface="微软雅黑" panose="020B0503020204020204" pitchFamily="34" charset="-122"/>
              </a:rPr>
              <a:t>年</a:t>
            </a:r>
            <a:r>
              <a:rPr lang="en-US" altLang="zh-CN" sz="1600">
                <a:ln w="0"/>
                <a:solidFill>
                  <a:prstClr val="black"/>
                </a:solidFill>
                <a:latin typeface="微软雅黑" panose="020B0503020204020204" pitchFamily="34" charset="-122"/>
                <a:ea typeface="微软雅黑" panose="020B0503020204020204" pitchFamily="34" charset="-122"/>
              </a:rPr>
              <a:t>5</a:t>
            </a:r>
            <a:r>
              <a:rPr lang="zh-CN" altLang="en-US" sz="1600">
                <a:ln w="0"/>
                <a:solidFill>
                  <a:prstClr val="black"/>
                </a:solidFill>
                <a:latin typeface="微软雅黑" panose="020B0503020204020204" pitchFamily="34" charset="-122"/>
                <a:ea typeface="微软雅黑" panose="020B0503020204020204" pitchFamily="34" charset="-122"/>
              </a:rPr>
              <a:t>月</a:t>
            </a:r>
            <a:endParaRPr lang="zh-CN" altLang="en-US" sz="1600" dirty="0">
              <a:ln w="0"/>
              <a:solidFill>
                <a:prstClr val="black"/>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8634028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A" val="v4.3.1"/>
</p:tagLst>
</file>

<file path=ppt/tags/tag2.xml><?xml version="1.0" encoding="utf-8"?>
<p:tagLst xmlns:a="http://schemas.openxmlformats.org/drawingml/2006/main" xmlns:r="http://schemas.openxmlformats.org/officeDocument/2006/relationships" xmlns:p="http://schemas.openxmlformats.org/presentationml/2006/main">
  <p:tag name="PA" val="v4.3.1"/>
</p:tagLst>
</file>

<file path=ppt/tags/tag3.xml><?xml version="1.0" encoding="utf-8"?>
<p:tagLst xmlns:a="http://schemas.openxmlformats.org/drawingml/2006/main" xmlns:r="http://schemas.openxmlformats.org/officeDocument/2006/relationships" xmlns:p="http://schemas.openxmlformats.org/presentationml/2006/main">
  <p:tag name="PA" val="v4.3.1"/>
</p:tagLst>
</file>

<file path=ppt/tags/tag4.xml><?xml version="1.0" encoding="utf-8"?>
<p:tagLst xmlns:a="http://schemas.openxmlformats.org/drawingml/2006/main" xmlns:r="http://schemas.openxmlformats.org/officeDocument/2006/relationships" xmlns:p="http://schemas.openxmlformats.org/presentationml/2006/main">
  <p:tag name="PA" val="v4.3.1"/>
</p:tagLst>
</file>

<file path=ppt/tags/tag5.xml><?xml version="1.0" encoding="utf-8"?>
<p:tagLst xmlns:a="http://schemas.openxmlformats.org/drawingml/2006/main" xmlns:r="http://schemas.openxmlformats.org/officeDocument/2006/relationships" xmlns:p="http://schemas.openxmlformats.org/presentationml/2006/main">
  <p:tag name="PA" val="v4.3.1"/>
</p:tagLst>
</file>

<file path=ppt/tags/tag6.xml><?xml version="1.0" encoding="utf-8"?>
<p:tagLst xmlns:a="http://schemas.openxmlformats.org/drawingml/2006/main" xmlns:r="http://schemas.openxmlformats.org/officeDocument/2006/relationships" xmlns:p="http://schemas.openxmlformats.org/presentationml/2006/main">
  <p:tag name="PA" val="v5.2.11"/>
</p:tagLst>
</file>

<file path=ppt/tags/tag7.xml><?xml version="1.0" encoding="utf-8"?>
<p:tagLst xmlns:a="http://schemas.openxmlformats.org/drawingml/2006/main" xmlns:r="http://schemas.openxmlformats.org/officeDocument/2006/relationships" xmlns:p="http://schemas.openxmlformats.org/presentationml/2006/main">
  <p:tag name="ADJUSTMENTS" val="2.311888"/>
</p:tagLst>
</file>

<file path=ppt/tags/tag8.xml><?xml version="1.0" encoding="utf-8"?>
<p:tagLst xmlns:a="http://schemas.openxmlformats.org/drawingml/2006/main" xmlns:r="http://schemas.openxmlformats.org/officeDocument/2006/relationships" xmlns:p="http://schemas.openxmlformats.org/presentationml/2006/main">
  <p:tag name="PA" val="v5.2.11"/>
</p:tagLst>
</file>

<file path=ppt/tags/tag9.xml><?xml version="1.0" encoding="utf-8"?>
<p:tagLst xmlns:a="http://schemas.openxmlformats.org/drawingml/2006/main" xmlns:r="http://schemas.openxmlformats.org/officeDocument/2006/relationships" xmlns:p="http://schemas.openxmlformats.org/presentationml/2006/main">
  <p:tag name="ADJUSTMENTS" val="2.311888"/>
</p:tagLst>
</file>

<file path=ppt/tags/tag10.xml><?xml version="1.0" encoding="utf-8"?>
<p:tagLst xmlns:a="http://schemas.openxmlformats.org/drawingml/2006/main" xmlns:r="http://schemas.openxmlformats.org/officeDocument/2006/relationships" xmlns:p="http://schemas.openxmlformats.org/presentationml/2006/main">
  <p:tag name="PA" val="v5.2.11"/>
</p:tagLst>
</file>

<file path=ppt/tags/tag11.xml><?xml version="1.0" encoding="utf-8"?>
<p:tagLst xmlns:a="http://schemas.openxmlformats.org/drawingml/2006/main" xmlns:r="http://schemas.openxmlformats.org/officeDocument/2006/relationships" xmlns:p="http://schemas.openxmlformats.org/presentationml/2006/main">
  <p:tag name="ADJUSTMENTS" val="2.311888"/>
</p:tagLst>
</file>

<file path=ppt/tags/tag12.xml><?xml version="1.0" encoding="utf-8"?>
<p:tagLst xmlns:a="http://schemas.openxmlformats.org/drawingml/2006/main" xmlns:r="http://schemas.openxmlformats.org/officeDocument/2006/relationships" xmlns:p="http://schemas.openxmlformats.org/presentationml/2006/main">
  <p:tag name="PA" val="v5.2.11"/>
</p:tagLst>
</file>

<file path=ppt/tags/tag13.xml><?xml version="1.0" encoding="utf-8"?>
<p:tagLst xmlns:a="http://schemas.openxmlformats.org/drawingml/2006/main" xmlns:r="http://schemas.openxmlformats.org/officeDocument/2006/relationships" xmlns:p="http://schemas.openxmlformats.org/presentationml/2006/main">
  <p:tag name="PA" val="v5.2.11"/>
</p:tagLst>
</file>

<file path=ppt/theme/theme1.xml><?xml version="1.0" encoding="utf-8"?>
<a:theme xmlns:a="http://schemas.openxmlformats.org/drawingml/2006/main" name="WPS">
  <a:themeElements>
    <a:clrScheme name="浙大蓝">
      <a:dk1>
        <a:sysClr val="windowText" lastClr="000000"/>
      </a:dk1>
      <a:lt1>
        <a:sysClr val="window" lastClr="FFFFFF"/>
      </a:lt1>
      <a:dk2>
        <a:srgbClr val="2D3847"/>
      </a:dk2>
      <a:lt2>
        <a:srgbClr val="E7E6E6"/>
      </a:lt2>
      <a:accent1>
        <a:srgbClr val="164690"/>
      </a:accent1>
      <a:accent2>
        <a:srgbClr val="45ABF9"/>
      </a:accent2>
      <a:accent3>
        <a:srgbClr val="F4FAFF"/>
      </a:accent3>
      <a:accent4>
        <a:srgbClr val="00AA65"/>
      </a:accent4>
      <a:accent5>
        <a:srgbClr val="D8F8E6"/>
      </a:accent5>
      <a:accent6>
        <a:srgbClr val="F4FAFF"/>
      </a:accent6>
      <a:hlink>
        <a:srgbClr val="0563C1"/>
      </a:hlink>
      <a:folHlink>
        <a:srgbClr val="954F72"/>
      </a:folHlink>
    </a:clrScheme>
    <a:fontScheme name="学术风格字体">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44546A"/>
    </a:dk2>
    <a:lt2>
      <a:srgbClr val="E7E6E6"/>
    </a:lt2>
    <a:accent1>
      <a:srgbClr val="0C56AE"/>
    </a:accent1>
    <a:accent2>
      <a:srgbClr val="0C56AE"/>
    </a:accent2>
    <a:accent3>
      <a:srgbClr val="0C56AE"/>
    </a:accent3>
    <a:accent4>
      <a:srgbClr val="0C56AE"/>
    </a:accent4>
    <a:accent5>
      <a:srgbClr val="0C56AE"/>
    </a:accent5>
    <a:accent6>
      <a:srgbClr val="0C56AE"/>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1183</TotalTime>
  <Words>1514</Words>
  <Application>Microsoft Office PowerPoint</Application>
  <PresentationFormat>宽屏</PresentationFormat>
  <Paragraphs>185</Paragraphs>
  <Slides>9</Slides>
  <Notes>9</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9</vt:i4>
      </vt:variant>
    </vt:vector>
  </HeadingPairs>
  <TitlesOfParts>
    <vt:vector size="14" baseType="lpstr">
      <vt:lpstr>等线</vt:lpstr>
      <vt:lpstr>微软雅黑</vt:lpstr>
      <vt:lpstr>Arial</vt:lpstr>
      <vt:lpstr>Wingdings</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钟华</dc:creator>
  <cp:lastModifiedBy>Xe L</cp:lastModifiedBy>
  <cp:revision>86</cp:revision>
  <dcterms:created xsi:type="dcterms:W3CDTF">2023-08-09T12:44:00Z</dcterms:created>
  <dcterms:modified xsi:type="dcterms:W3CDTF">2026-05-25T13:58:33Z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ies>
</file>