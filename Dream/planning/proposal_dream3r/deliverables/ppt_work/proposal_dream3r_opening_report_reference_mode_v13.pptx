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329" r:id="rId8"/>
    <p:sldId id="298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23" r:id="rId18"/>
    <p:sldId id="338" r:id="rId19"/>
    <p:sldId id="339" r:id="rId20"/>
    <p:sldId id="340" r:id="rId21"/>
    <p:sldId id="341" r:id="rId22"/>
    <p:sldId id="342" r:id="rId23"/>
    <p:sldId id="343" r:id="rId24"/>
    <p:sldId id="269" r:id="rId25"/>
    <p:sldId id="344" r:id="rId26"/>
    <p:sldId id="29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58EAB-718E-3503-72AD-BBCEF9BD8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A43225-99DF-31B5-8A19-43076E2B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9AB85-D04F-34D2-1FB2-F75A0B86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F919C-ADF4-CAE6-E414-DF02E1AD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E35A0-B800-6840-B8E1-D5F624DB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60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B047A-3CA2-0A52-2251-972D0054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54C8B-465C-645F-1EA3-C37AC2C2A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187FC-EC68-E69B-2818-B01D65A0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CB39DF-CA67-B3E4-A5D7-045DB4E1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595048-42A1-93C4-9E00-358C74A9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30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3AB09-40FB-8C8A-DAA6-8BC648B7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1BF4A9-D910-894C-EAE6-ABADD1708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198E28-900E-BE25-4850-F9B26F24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AF8E6-7F24-91B0-D380-10BDDCB8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157987-8359-459C-E656-18BC3DF0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56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2831C-D19B-C3EC-2D27-8B9908FE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0147C6-2EC4-C760-CBD0-E20CBFF1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0ACFE6-A747-02EA-4A9B-209EDD693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2A7749-A040-DE19-6BF3-4D028F11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30B2F4-1B17-2019-2F61-F499A789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7A4B5E-E9CE-83CD-5A16-B92E8643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37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57B45-E84B-D86B-EB69-17651E50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C612A0-CE03-46E7-C2E3-E9ABE620F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966110-D1DB-A785-1F6D-96E1ED4F7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DA4298-32E2-75F0-3BA6-62EA390FC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E5B6AF-2BE6-A287-F40F-F561383C0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8EE5E8-97EE-0D89-C5A2-3389BBDE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8623EE-0755-0B2E-0B2F-DF0C1F639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3F272A-F9A2-8791-1D85-65B2BD12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43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644DF-4F85-27D5-87EA-DB33BB15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A0F372-2218-D85D-3D84-DB509F05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E4DB6E-F25D-8779-3E0C-313AC4B0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F8CCB8-6712-C14E-0543-0E8C4287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66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9025F4-7A26-697B-0CC5-524313B0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055DD5-D2C9-EB2F-29EE-7639E041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2FF921-157C-D969-8DB5-DEC09399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05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EC91C-A989-193F-A5EF-B786A0C38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BE4E1-DF52-36A3-F5B1-549D244E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BB390C-BBCE-BDBD-A039-ABB3812A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98D9A9-67BE-BC6E-3682-55BF58EB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810DDB-F4AF-1884-5B0F-FADD056C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9F426B-922A-1879-BD74-D1FEEDDE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79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58334-DB08-C1F9-E467-AB318E1B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28BEF2-A4B2-D601-AC95-4BAEAB907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CAE451-3EB1-80B5-C374-A75B51AD5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1986BC-3265-1249-AD4B-1A1775CE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379F3F-B643-19CD-7E91-EE0C25E0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17252E-F556-B7E2-D187-FA164377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857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5EA56-8D89-DA48-2F6A-CC824282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E83A4D-1D7A-88CD-5966-0534836B0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84773-B0BB-E90F-C884-529C0093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C8713-0AF1-3993-4F83-5A4EFEFF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BFB975-7C89-0686-C828-7ED729AB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15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8D5EBE-4892-4D69-5651-B7A4E5C75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D051FA-B2C3-0044-4B29-C9A87C95C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CB3C4-4632-2432-F569-8937802F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C44E5-590C-49C4-36B2-4861E1E3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AC63E-8F92-EAE9-326F-17A7907C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298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60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BE0044-27D3-BFED-4938-9E809575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7270A6-666B-C321-BA5E-FDB725D97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B9A23-02AB-3787-612B-6FAC0CEE3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98178-58C6-4B63-9DA7-E37FA1D8F9B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9AACA8-8FE3-47A1-3B40-4D59F0E17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03B09A-ADD9-5BFF-9A9B-BCF4E2D2F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DD4EE-2642-4A48-A65E-0350D890F5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09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37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C4C3CB6-DD91-CF04-5F0C-6A5425D8CF87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13D9D0-1A04-AB8E-0682-23C62FA2525F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EDFAE64-589A-E2E6-C0BA-13132D62BE49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0FD2159-9F0E-68A7-67D3-5553A4BD0A21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59747B-8C1D-C3B4-395E-979FA4EF7B6A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431D8F-2A46-4469-BF0F-F9431E4757AC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EE2B093-D6FC-B758-D2E4-ED8B34F9873A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8D97C6-FB1B-1991-E938-770A22709688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6F59F3-A2EC-A6C5-B171-6ABB23359000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85C512D-F1B9-99F6-1A71-F64A2D30B1A3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8D8D126-C3B6-DEB5-A66F-CC929A32C424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8325CA-E409-5D60-64B4-6D1DB9CED152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0AAC05-3723-5913-C928-53ACF3807D71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C3F2329-B541-3622-5E46-AB921119970F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3886DF1-0CD1-E741-C289-2D130A15E178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937758-EB72-A53B-4C7C-345DBA6AC0E3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D67C84-4FBE-494B-FB3A-499329DCA5DA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21F2315-1DE5-3FF5-1F8B-6C78946654A6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BC7F320-6806-DECB-4ABB-3CC72FC562B6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59449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研究背景：前馈式三维重建的兴起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BA6804-FCCB-1337-ACB2-CFD67202543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DA23CA-7239-FF86-3CD4-75EA36737A4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方法在两年内从单一基准发展为多个子方向并行演进。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279489-A313-5F78-6E88-9E881CE9C115}"/>
              </a:ext>
            </a:extLst>
          </p:cNvPr>
          <p:cNvSpPr/>
          <p:nvPr/>
        </p:nvSpPr>
        <p:spPr>
          <a:xfrm>
            <a:off x="889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传统几何流程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56123F-FC12-3BCC-2E02-254B7786CD2B}"/>
              </a:ext>
            </a:extLst>
          </p:cNvPr>
          <p:cNvSpPr/>
          <p:nvPr/>
        </p:nvSpPr>
        <p:spPr>
          <a:xfrm>
            <a:off x="889000" y="2552700"/>
            <a:ext cx="3175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特征匹配
位姿估计
三角化
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5A296D28-CE52-8F1C-08D8-7FD96D1EE7FF}"/>
              </a:ext>
            </a:extLst>
          </p:cNvPr>
          <p:cNvSpPr/>
          <p:nvPr/>
        </p:nvSpPr>
        <p:spPr>
          <a:xfrm>
            <a:off x="4318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ED214A-8CBD-D86B-9111-8C5936D0D87A}"/>
              </a:ext>
            </a:extLst>
          </p:cNvPr>
          <p:cNvSpPr/>
          <p:nvPr/>
        </p:nvSpPr>
        <p:spPr>
          <a:xfrm>
            <a:off x="5270500" y="2095500"/>
            <a:ext cx="317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前向预测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24304D3-0DC9-474A-C6DC-C462BD8E6CA6}"/>
              </a:ext>
            </a:extLst>
          </p:cNvPr>
          <p:cNvSpPr/>
          <p:nvPr/>
        </p:nvSpPr>
        <p:spPr>
          <a:xfrm>
            <a:off x="5270500" y="2552700"/>
            <a:ext cx="3175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单次前向传播
像素级三维点图
置信度与相机信息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1E0EEA4E-3546-0771-B8C6-8CACCA32E4D5}"/>
              </a:ext>
            </a:extLst>
          </p:cNvPr>
          <p:cNvSpPr/>
          <p:nvPr/>
        </p:nvSpPr>
        <p:spPr>
          <a:xfrm>
            <a:off x="86995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56F998-217D-AB59-F636-D454D2A4ADC9}"/>
              </a:ext>
            </a:extLst>
          </p:cNvPr>
          <p:cNvSpPr/>
          <p:nvPr/>
        </p:nvSpPr>
        <p:spPr>
          <a:xfrm>
            <a:off x="9398000" y="2095500"/>
            <a:ext cx="190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研究延伸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486E88-0A20-174A-9E37-25BAF591291D}"/>
              </a:ext>
            </a:extLst>
          </p:cNvPr>
          <p:cNvSpPr/>
          <p:nvPr/>
        </p:nvSpPr>
        <p:spPr>
          <a:xfrm>
            <a:off x="9398000" y="2552700"/>
            <a:ext cx="1905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跨视图几何
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4D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长序列记忆
测试时校验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D5386A-BBA1-C986-BAD0-B965797A1E37}"/>
              </a:ext>
            </a:extLst>
          </p:cNvPr>
          <p:cNvSpPr/>
          <p:nvPr/>
        </p:nvSpPr>
        <p:spPr>
          <a:xfrm>
            <a:off x="1016000" y="4953000"/>
            <a:ext cx="10160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提供了新的统一预测入口，长序列稳定性仍需进一步研究。</a:t>
            </a:r>
          </a:p>
        </p:txBody>
      </p:sp>
    </p:spTree>
    <p:extLst>
      <p:ext uri="{BB962C8B-B14F-4D97-AF65-F5344CB8AC3E}">
        <p14:creationId xmlns:p14="http://schemas.microsoft.com/office/powerpoint/2010/main" val="213814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代表模型与方法谱系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F8CC4A-F507-5B4C-0006-A00BDFDF0BD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821A28-B289-DF4A-54AE-4FDB8DEE6F4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各模型分别推进匹配、多视角、动态场景和长序列记忆等问题。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1B7ECD-3B4E-1E89-5908-379597AA2672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点图与匹配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C83A55-2F67-0EE2-51AF-74AE46273A60}"/>
              </a:ext>
            </a:extLst>
          </p:cNvPr>
          <p:cNvSpPr/>
          <p:nvPr/>
        </p:nvSpPr>
        <p:spPr>
          <a:xfrm>
            <a:off x="5334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DUSt3R
MASt3R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C7AC1-1D33-F97E-9FB7-E2882B5B79CF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多视角规模化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9D3278D-8ECB-A4CA-510F-9428B54EDED4}"/>
              </a:ext>
            </a:extLst>
          </p:cNvPr>
          <p:cNvSpPr/>
          <p:nvPr/>
        </p:nvSpPr>
        <p:spPr>
          <a:xfrm>
            <a:off x="27559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Fast3R
VGGT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E74298D-4642-ACCE-FEEF-20DFE78C3FA0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6662AA-1568-EBB8-F247-51ED9576AED6}"/>
              </a:ext>
            </a:extLst>
          </p:cNvPr>
          <p:cNvSpPr/>
          <p:nvPr/>
        </p:nvSpPr>
        <p:spPr>
          <a:xfrm>
            <a:off x="49784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MonST3R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动态掩码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6B0D9ED-677C-E68E-67F3-F2A91A1CBE2A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长序列记忆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F06C384-7E39-4D47-654D-882120FF14B2}"/>
              </a:ext>
            </a:extLst>
          </p:cNvPr>
          <p:cNvSpPr/>
          <p:nvPr/>
        </p:nvSpPr>
        <p:spPr>
          <a:xfrm>
            <a:off x="72009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
Spann3R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A99E35-FBE3-1204-973F-300ABEDF6E6C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测试时校验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875454-19A9-DA82-DEE9-EC595FE523B6}"/>
              </a:ext>
            </a:extLst>
          </p:cNvPr>
          <p:cNvSpPr/>
          <p:nvPr/>
        </p:nvSpPr>
        <p:spPr>
          <a:xfrm>
            <a:off x="9423400" y="2552700"/>
            <a:ext cx="1841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几何一致性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8C10FB-1AAC-CBF0-A54C-37EA7134C4D3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现有模型形成了丰富方法谱系，关键机制仍分散在不同工作和不同评测口径中。</a:t>
            </a:r>
          </a:p>
        </p:txBody>
      </p:sp>
    </p:spTree>
    <p:extLst>
      <p:ext uri="{BB962C8B-B14F-4D97-AF65-F5344CB8AC3E}">
        <p14:creationId xmlns:p14="http://schemas.microsoft.com/office/powerpoint/2010/main" val="403526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问题提出：失败模式与研究问题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8747FD-1906-D233-01A5-944C1F2FEC8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BC0803-81D4-E93A-65AD-C0A2A6954BB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方法面临六类几何失败模式和四组架构层研究问题。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F136EC-DBEC-7098-10A0-866FB6011B41}"/>
              </a:ext>
            </a:extLst>
          </p:cNvPr>
          <p:cNvSpPr/>
          <p:nvPr/>
        </p:nvSpPr>
        <p:spPr>
          <a:xfrm>
            <a:off x="698500" y="1905000"/>
            <a:ext cx="17145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弱纹理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E66599-B58B-38A9-FAE0-7E017964A71B}"/>
              </a:ext>
            </a:extLst>
          </p:cNvPr>
          <p:cNvSpPr/>
          <p:nvPr/>
        </p:nvSpPr>
        <p:spPr>
          <a:xfrm>
            <a:off x="698500" y="2463800"/>
            <a:ext cx="1714500" cy="406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镜面反射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A73C60-610A-B4BB-7ABF-B20D08F99CFB}"/>
              </a:ext>
            </a:extLst>
          </p:cNvPr>
          <p:cNvSpPr/>
          <p:nvPr/>
        </p:nvSpPr>
        <p:spPr>
          <a:xfrm>
            <a:off x="698500" y="3022600"/>
            <a:ext cx="17145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快速运动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4A6633-BC5C-B879-4698-35A4CF787CA6}"/>
              </a:ext>
            </a:extLst>
          </p:cNvPr>
          <p:cNvSpPr/>
          <p:nvPr/>
        </p:nvSpPr>
        <p:spPr>
          <a:xfrm>
            <a:off x="698500" y="3581400"/>
            <a:ext cx="1714500" cy="406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长基线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F44692-9C8A-BA28-95B8-84F736B7BB1B}"/>
              </a:ext>
            </a:extLst>
          </p:cNvPr>
          <p:cNvSpPr/>
          <p:nvPr/>
        </p:nvSpPr>
        <p:spPr>
          <a:xfrm>
            <a:off x="698500" y="4140200"/>
            <a:ext cx="17145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尺度漂移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F222F5-DD78-8512-0CC1-1EA904964677}"/>
              </a:ext>
            </a:extLst>
          </p:cNvPr>
          <p:cNvSpPr/>
          <p:nvPr/>
        </p:nvSpPr>
        <p:spPr>
          <a:xfrm>
            <a:off x="698500" y="4699000"/>
            <a:ext cx="1714500" cy="406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域外场景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CC27F8-6EC5-039B-DA4C-7DDDF8EFAB80}"/>
              </a:ext>
            </a:extLst>
          </p:cNvPr>
          <p:cNvSpPr/>
          <p:nvPr/>
        </p:nvSpPr>
        <p:spPr>
          <a:xfrm>
            <a:off x="2984500" y="1905000"/>
            <a:ext cx="9525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01CC56-22EF-AF88-FA51-EBCA4C7172C2}"/>
              </a:ext>
            </a:extLst>
          </p:cNvPr>
          <p:cNvSpPr/>
          <p:nvPr/>
        </p:nvSpPr>
        <p:spPr>
          <a:xfrm>
            <a:off x="4191000" y="1905000"/>
            <a:ext cx="704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几何校验与测试时适应如何进入架构层？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383C98-3608-DB40-FBA6-FF406D4A0BA5}"/>
              </a:ext>
            </a:extLst>
          </p:cNvPr>
          <p:cNvSpPr/>
          <p:nvPr/>
        </p:nvSpPr>
        <p:spPr>
          <a:xfrm>
            <a:off x="2984500" y="2692400"/>
            <a:ext cx="9525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EEAFEF-3562-E714-C29C-2003CB6E3DA3}"/>
              </a:ext>
            </a:extLst>
          </p:cNvPr>
          <p:cNvSpPr/>
          <p:nvPr/>
        </p:nvSpPr>
        <p:spPr>
          <a:xfrm>
            <a:off x="4191000" y="2692400"/>
            <a:ext cx="70485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长序列内存机制能否在单一架构内比较？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683C8B-0549-8812-872B-A85A5A121FD3}"/>
              </a:ext>
            </a:extLst>
          </p:cNvPr>
          <p:cNvSpPr/>
          <p:nvPr/>
        </p:nvSpPr>
        <p:spPr>
          <a:xfrm>
            <a:off x="2984500" y="3479800"/>
            <a:ext cx="9525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1080E8-B4EE-7FDF-02C8-A774BFDBF12F}"/>
              </a:ext>
            </a:extLst>
          </p:cNvPr>
          <p:cNvSpPr/>
          <p:nvPr/>
        </p:nvSpPr>
        <p:spPr>
          <a:xfrm>
            <a:off x="4191000" y="3479800"/>
            <a:ext cx="704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多专家组合相对单一专家是否有实证优势？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6835E11-47ED-5A18-E084-BBED1E8F4B36}"/>
              </a:ext>
            </a:extLst>
          </p:cNvPr>
          <p:cNvSpPr/>
          <p:nvPr/>
        </p:nvSpPr>
        <p:spPr>
          <a:xfrm>
            <a:off x="2984500" y="4267200"/>
            <a:ext cx="9525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7C43C5C-2EC0-A271-C238-842D26E251B9}"/>
              </a:ext>
            </a:extLst>
          </p:cNvPr>
          <p:cNvSpPr/>
          <p:nvPr/>
        </p:nvSpPr>
        <p:spPr>
          <a:xfrm>
            <a:off x="4191000" y="4267200"/>
            <a:ext cx="70485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能否构建统一的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0B2B58-010F-7AF4-A287-2376CEB06DB0}"/>
              </a:ext>
            </a:extLst>
          </p:cNvPr>
          <p:cNvSpPr/>
          <p:nvPr/>
        </p:nvSpPr>
        <p:spPr>
          <a:xfrm>
            <a:off x="1143000" y="5461000"/>
            <a:ext cx="9906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本课题围绕几何校验、长序列记忆、多专家编排和统一平台展开。</a:t>
            </a:r>
          </a:p>
        </p:txBody>
      </p:sp>
    </p:spTree>
    <p:extLst>
      <p:ext uri="{BB962C8B-B14F-4D97-AF65-F5344CB8AC3E}">
        <p14:creationId xmlns:p14="http://schemas.microsoft.com/office/powerpoint/2010/main" val="279157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研究目标与两大支柱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FC2D7D-08E7-6504-8CED-52B9238880C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49EEB5-0B5A-009A-2657-CF39BB92331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本课题以候选架构和聚合管理平台为两大支柱，支撑后续对照评估。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8626B6-DE95-D859-2D05-8B38E8896948}"/>
              </a:ext>
            </a:extLst>
          </p:cNvPr>
          <p:cNvSpPr/>
          <p:nvPr/>
        </p:nvSpPr>
        <p:spPr>
          <a:xfrm>
            <a:off x="1270000" y="2095500"/>
            <a:ext cx="393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：候选架构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D57F25-D43C-5C4B-5ED3-843DBCCF5E7E}"/>
              </a:ext>
            </a:extLst>
          </p:cNvPr>
          <p:cNvSpPr/>
          <p:nvPr/>
        </p:nvSpPr>
        <p:spPr>
          <a:xfrm>
            <a:off x="1270000" y="2552700"/>
            <a:ext cx="3937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六模块设计
校验、记忆、编排
跨模块信号契约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6F5BF17-6920-B245-72ED-1A3361B131ED}"/>
              </a:ext>
            </a:extLst>
          </p:cNvPr>
          <p:cNvSpPr/>
          <p:nvPr/>
        </p:nvSpPr>
        <p:spPr>
          <a:xfrm>
            <a:off x="5461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BB2C7-3EC5-48C7-9B2A-051217A771AF}"/>
              </a:ext>
            </a:extLst>
          </p:cNvPr>
          <p:cNvSpPr/>
          <p:nvPr/>
        </p:nvSpPr>
        <p:spPr>
          <a:xfrm>
            <a:off x="6985000" y="2095500"/>
            <a:ext cx="3937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B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B8E16F-F4D0-51BD-172C-F68A0CD73497}"/>
              </a:ext>
            </a:extLst>
          </p:cNvPr>
          <p:cNvSpPr/>
          <p:nvPr/>
        </p:nvSpPr>
        <p:spPr>
          <a:xfrm>
            <a:off x="6985000" y="2552700"/>
            <a:ext cx="3937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模型统一接入
调度执行
跨模型对比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88148F-57F6-BB75-06BE-3E9C3068885D}"/>
              </a:ext>
            </a:extLst>
          </p:cNvPr>
          <p:cNvSpPr/>
          <p:nvPr/>
        </p:nvSpPr>
        <p:spPr>
          <a:xfrm>
            <a:off x="1524000" y="4889500"/>
            <a:ext cx="9144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架构消融依赖平台调度执行，平台为架构提供标准化实验环境。</a:t>
            </a:r>
          </a:p>
        </p:txBody>
      </p:sp>
    </p:spTree>
    <p:extLst>
      <p:ext uri="{BB962C8B-B14F-4D97-AF65-F5344CB8AC3E}">
        <p14:creationId xmlns:p14="http://schemas.microsoft.com/office/powerpoint/2010/main" val="291420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89389AC-E30E-F563-EEAB-7DA7B6EE609A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9DC02-E464-EA61-82DC-05D249023B3D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63F2135-2460-4F09-A604-EB9EF1CE4DA4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E05012D-D1EE-19F7-CEB2-17FE2A988B75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57435E-54AB-D091-2B81-8D3946373346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61B07F1-C972-BF1E-B89F-1DBA6A0D534E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1D0099A-9A62-7EA9-3D06-52B7D563D690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499D78-5BA0-0DB3-D668-F21FBBD1E8AE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7B9CBE-F9AA-04C6-E1F8-AB16A0370E32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0195090-3377-1540-1ACA-606923622F43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FD0F116-831F-31B2-1140-2F5354464B05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17BD4C-25FC-7C45-7A22-1EE5922F36EC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13B9AC-A8EB-A4C2-D289-191C07893B92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81BCD24-CDDB-9C0C-4836-9BFB0BC1EEE4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1520E0C-E0D5-285F-2609-38B40E370D9E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ED4896-9C43-61A7-4CF8-F34E3B8D5B19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5C555F-A7B4-AF41-3F23-172CCE8E9322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26BE89A-71E2-B1CF-C79D-53AFD7E125E6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0923FFF-F212-41CD-5A93-82E87B733DA3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215187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总体架构：六模块设计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26E0DB-B900-733B-9474-C881D27C296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41B26-30D0-DF21-10E1-18E2A31085D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候选架构由感知、记忆、永久性、校验、编排、总线六个模块组成。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1D78CA-3067-447B-9DE7-D44B0EA91494}"/>
              </a:ext>
            </a:extLst>
          </p:cNvPr>
          <p:cNvSpPr/>
          <p:nvPr/>
        </p:nvSpPr>
        <p:spPr>
          <a:xfrm>
            <a:off x="4445000" y="2984500"/>
            <a:ext cx="33020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MemoryBus
CR-1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类型化交接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2EB4C6-097C-184E-8D9A-5E2A00830904}"/>
              </a:ext>
            </a:extLst>
          </p:cNvPr>
          <p:cNvSpPr/>
          <p:nvPr/>
        </p:nvSpPr>
        <p:spPr>
          <a:xfrm>
            <a:off x="889000" y="1905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Perceiver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088952-E36B-9574-080A-959853516D46}"/>
              </a:ext>
            </a:extLst>
          </p:cNvPr>
          <p:cNvSpPr/>
          <p:nvPr/>
        </p:nvSpPr>
        <p:spPr>
          <a:xfrm>
            <a:off x="889000" y="2286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视觉骨干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特征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token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92F7CF-A837-5746-0B0A-0004833C638A}"/>
              </a:ext>
            </a:extLst>
          </p:cNvPr>
          <p:cNvSpPr/>
          <p:nvPr/>
        </p:nvSpPr>
        <p:spPr>
          <a:xfrm>
            <a:off x="8128000" y="1905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SpatialMemory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B8EC8A-BCCD-38DC-3EBE-E3FE8FC42601}"/>
              </a:ext>
            </a:extLst>
          </p:cNvPr>
          <p:cNvSpPr/>
          <p:nvPr/>
        </p:nvSpPr>
        <p:spPr>
          <a:xfrm>
            <a:off x="8128000" y="2286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三分支注意力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空间锚点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0FDF01-F45A-AEA1-6D07-E2853439597F}"/>
              </a:ext>
            </a:extLst>
          </p:cNvPr>
          <p:cNvSpPr/>
          <p:nvPr/>
        </p:nvSpPr>
        <p:spPr>
          <a:xfrm>
            <a:off x="889000" y="4318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CC9099-AF0E-8B50-4A74-AC048C8DBEEF}"/>
              </a:ext>
            </a:extLst>
          </p:cNvPr>
          <p:cNvSpPr/>
          <p:nvPr/>
        </p:nvSpPr>
        <p:spPr>
          <a:xfrm>
            <a:off x="889000" y="4699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几何冲突检测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72051A-CD3A-5A03-B23D-68C760A08CDF}"/>
              </a:ext>
            </a:extLst>
          </p:cNvPr>
          <p:cNvSpPr/>
          <p:nvPr/>
        </p:nvSpPr>
        <p:spPr>
          <a:xfrm>
            <a:off x="8128000" y="4318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Composer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131342-175A-DE26-6DDF-E10B0AC4C3A1}"/>
              </a:ext>
            </a:extLst>
          </p:cNvPr>
          <p:cNvSpPr/>
          <p:nvPr/>
        </p:nvSpPr>
        <p:spPr>
          <a:xfrm>
            <a:off x="8128000" y="4699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能力路由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4870D3-B43E-A98B-06E1-47C060D9100C}"/>
              </a:ext>
            </a:extLst>
          </p:cNvPr>
          <p:cNvSpPr/>
          <p:nvPr/>
        </p:nvSpPr>
        <p:spPr>
          <a:xfrm>
            <a:off x="4635500" y="46355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Permanence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74D0B7-E5C7-0D99-5648-2EB66ACFBEC0}"/>
              </a:ext>
            </a:extLst>
          </p:cNvPr>
          <p:cNvSpPr/>
          <p:nvPr/>
        </p:nvSpPr>
        <p:spPr>
          <a:xfrm>
            <a:off x="4635500" y="50165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对象身份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动静分离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4AD139-B8C1-705D-B9AE-D05EFB066847}"/>
              </a:ext>
            </a:extLst>
          </p:cNvPr>
          <p:cNvCxnSpPr/>
          <p:nvPr/>
        </p:nvCxnSpPr>
        <p:spPr>
          <a:xfrm>
            <a:off x="40005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71A768B-341C-968F-D211-98D62B52DFF1}"/>
              </a:ext>
            </a:extLst>
          </p:cNvPr>
          <p:cNvCxnSpPr/>
          <p:nvPr/>
        </p:nvCxnSpPr>
        <p:spPr>
          <a:xfrm flipH="1">
            <a:off x="77470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77BE8FC-F310-A79F-931F-C6E7CEF28990}"/>
              </a:ext>
            </a:extLst>
          </p:cNvPr>
          <p:cNvCxnSpPr/>
          <p:nvPr/>
        </p:nvCxnSpPr>
        <p:spPr>
          <a:xfrm flipV="1">
            <a:off x="40005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B73DF52-0968-1139-6427-6FDAF2AAAF81}"/>
              </a:ext>
            </a:extLst>
          </p:cNvPr>
          <p:cNvCxnSpPr/>
          <p:nvPr/>
        </p:nvCxnSpPr>
        <p:spPr>
          <a:xfrm flipH="1" flipV="1">
            <a:off x="77470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06A9CA2-EAD4-1BA5-1286-0D7DEE2B60CB}"/>
              </a:ext>
            </a:extLst>
          </p:cNvPr>
          <p:cNvCxnSpPr/>
          <p:nvPr/>
        </p:nvCxnSpPr>
        <p:spPr>
          <a:xfrm flipV="1">
            <a:off x="6096000" y="4025900"/>
            <a:ext cx="0" cy="609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82D2030-66E9-7B75-4D08-8C2E1F9E96D3}"/>
              </a:ext>
            </a:extLst>
          </p:cNvPr>
          <p:cNvSpPr/>
          <p:nvPr/>
        </p:nvSpPr>
        <p:spPr>
          <a:xfrm>
            <a:off x="1524000" y="5588000"/>
            <a:ext cx="914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六个模块通过信号契约协同，输入图像序列，输出点图、动态掩码和中间证据。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251127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记忆模块：长序列内存机制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73A521-1F7F-795E-2B2A-C49729C8E0E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2F13B6-01CC-B66A-CBA8-C4850E18DB4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记忆模块在单一架构内覆盖递推状态、空间指针和混合记忆三类机制。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65E441-DF05-C9F3-9AD7-16289D6D3D6E}"/>
              </a:ext>
            </a:extLst>
          </p:cNvPr>
          <p:cNvSpPr/>
          <p:nvPr/>
        </p:nvSpPr>
        <p:spPr>
          <a:xfrm>
            <a:off x="762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压缩分支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5AB311-4384-3AD2-56E8-ACA7F84DCA22}"/>
              </a:ext>
            </a:extLst>
          </p:cNvPr>
          <p:cNvSpPr/>
          <p:nvPr/>
        </p:nvSpPr>
        <p:spPr>
          <a:xfrm>
            <a:off x="76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递推状态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类机制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ABC8AFE-8674-D25B-7AFD-BE67DD649151}"/>
              </a:ext>
            </a:extLst>
          </p:cNvPr>
          <p:cNvSpPr/>
          <p:nvPr/>
        </p:nvSpPr>
        <p:spPr>
          <a:xfrm>
            <a:off x="3937000" y="27940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5AEA40-3104-1B44-6BEE-20E9C8C7FE5C}"/>
              </a:ext>
            </a:extLst>
          </p:cNvPr>
          <p:cNvSpPr/>
          <p:nvPr/>
        </p:nvSpPr>
        <p:spPr>
          <a:xfrm>
            <a:off x="4572000" y="2095500"/>
            <a:ext cx="3048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选择分支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511D5-A858-9EC7-0683-A1D16572DB61}"/>
              </a:ext>
            </a:extLst>
          </p:cNvPr>
          <p:cNvSpPr/>
          <p:nvPr/>
        </p:nvSpPr>
        <p:spPr>
          <a:xfrm>
            <a:off x="457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空间锚点存储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K=256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91A4E10-D7C5-A8A8-D02F-81D33993CDAA}"/>
              </a:ext>
            </a:extLst>
          </p:cNvPr>
          <p:cNvSpPr/>
          <p:nvPr/>
        </p:nvSpPr>
        <p:spPr>
          <a:xfrm>
            <a:off x="7747000" y="27940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361134-E0F1-C923-2306-D7D1A3AA0791}"/>
              </a:ext>
            </a:extLst>
          </p:cNvPr>
          <p:cNvSpPr/>
          <p:nvPr/>
        </p:nvSpPr>
        <p:spPr>
          <a:xfrm>
            <a:off x="8382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滑窗分支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D5807D-F653-3B80-717F-56DAB5CB5486}"/>
              </a:ext>
            </a:extLst>
          </p:cNvPr>
          <p:cNvSpPr/>
          <p:nvPr/>
        </p:nvSpPr>
        <p:spPr>
          <a:xfrm>
            <a:off x="838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Mamba-Transformer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混合记忆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9E54D0-879A-A2EA-7E05-CA40D1C63A46}"/>
              </a:ext>
            </a:extLst>
          </p:cNvPr>
          <p:cNvSpPr/>
          <p:nvPr/>
        </p:nvSpPr>
        <p:spPr>
          <a:xfrm>
            <a:off x="1206500" y="4635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缓存治理接口已保留，动态剪枝和帧预算控制将在后续对照中验证。</a:t>
            </a:r>
          </a:p>
        </p:txBody>
      </p:sp>
    </p:spTree>
    <p:extLst>
      <p:ext uri="{BB962C8B-B14F-4D97-AF65-F5344CB8AC3E}">
        <p14:creationId xmlns:p14="http://schemas.microsoft.com/office/powerpoint/2010/main" val="3190032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校验模块：几何自检查与修复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56CFA1-D591-4CAC-9C9B-4F125FA3CD1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E922CC-B6B4-5A93-3B96-F4503662F6D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校验模块将几何验证作为架构内置组件，通过三类信号检测冲突并触发修复。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B5C155-33F4-8B60-F2FD-135B02111C7F}"/>
              </a:ext>
            </a:extLst>
          </p:cNvPr>
          <p:cNvSpPr/>
          <p:nvPr/>
        </p:nvSpPr>
        <p:spPr>
          <a:xfrm>
            <a:off x="95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输入信号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E3F973-C583-89C7-8F79-EC2D5BD222A2}"/>
              </a:ext>
            </a:extLst>
          </p:cNvPr>
          <p:cNvSpPr/>
          <p:nvPr/>
        </p:nvSpPr>
        <p:spPr>
          <a:xfrm>
            <a:off x="95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点图对
置信度
共视关系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1C4F967-9A7F-333E-C7CE-DFBC9B4DC10E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848D-869F-3CEC-092D-71D3E69D89B1}"/>
              </a:ext>
            </a:extLst>
          </p:cNvPr>
          <p:cNvSpPr/>
          <p:nvPr/>
        </p:nvSpPr>
        <p:spPr>
          <a:xfrm>
            <a:off x="4635500" y="1968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3E36C6-7D25-DAC6-21C8-836BF3ECFC76}"/>
              </a:ext>
            </a:extLst>
          </p:cNvPr>
          <p:cNvSpPr/>
          <p:nvPr/>
        </p:nvSpPr>
        <p:spPr>
          <a:xfrm>
            <a:off x="4635500" y="2425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Sampson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残差
深度一致性
共视冲突
冲突评分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5E3F7A6-4B63-4175-1521-02559E6D15B1}"/>
              </a:ext>
            </a:extLst>
          </p:cNvPr>
          <p:cNvSpPr/>
          <p:nvPr/>
        </p:nvSpPr>
        <p:spPr>
          <a:xfrm>
            <a:off x="7747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6BADFF-9631-A376-ECA4-CCD3878310CE}"/>
              </a:ext>
            </a:extLst>
          </p:cNvPr>
          <p:cNvSpPr/>
          <p:nvPr/>
        </p:nvSpPr>
        <p:spPr>
          <a:xfrm>
            <a:off x="857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E20974-7C27-8E8D-DE29-6B03E1F30959}"/>
              </a:ext>
            </a:extLst>
          </p:cNvPr>
          <p:cNvSpPr/>
          <p:nvPr/>
        </p:nvSpPr>
        <p:spPr>
          <a:xfrm>
            <a:off x="857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不修复
局部重跑
全窗口重跑
路由切换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927592-405A-97F5-1B15-ABACF0DD9C07}"/>
              </a:ext>
            </a:extLst>
          </p:cNvPr>
          <p:cNvSpPr/>
          <p:nvPr/>
        </p:nvSpPr>
        <p:spPr>
          <a:xfrm>
            <a:off x="1206500" y="4889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六类失败模式对应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项阈值标定方案，当前处于待执行状态。</a:t>
            </a:r>
          </a:p>
        </p:txBody>
      </p:sp>
    </p:spTree>
    <p:extLst>
      <p:ext uri="{BB962C8B-B14F-4D97-AF65-F5344CB8AC3E}">
        <p14:creationId xmlns:p14="http://schemas.microsoft.com/office/powerpoint/2010/main" val="3426196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编排模块：专家池与路由策略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4D4F71-6AB5-3009-7DAB-C84089FEDB0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D3B922-0F3B-864E-BC7E-4DDE0C248EB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编排模块通过能力描述符在七个异构专家之间按输入条件路由。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593E5B-9A5D-37A6-2D2F-FC0877BE39DA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1DAB68-6AD9-3AC1-B71D-2F9A0A3739F6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869231-2752-03DA-5D20-EBFDB9B0183F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9EA1EC-B349-1BE9-2D2A-1903064902A7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D2533D-BAC6-EC75-ECC6-BBCFC0B22ECC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0879BD-84B4-1525-355D-911CC299735E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A9D028-36FA-E173-9A5D-0AC908CF9B07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D9313D-8EA6-7E45-0A3D-86600228BB23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ECCD280-995D-B66C-C3BE-86EA614436EF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DCB3B6-2A48-6BE6-866D-7042D4CBA9CB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F211B2D-C71D-EC88-AE86-8D671B965F65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6CED03-3A91-9B5D-47D3-3833A56BFB89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BFF814-466D-8BB5-69B9-CDA04C1B5B4E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后续实验将比较多专家组合与单一专家在不同输入条件下的表现。</a:t>
            </a:r>
          </a:p>
        </p:txBody>
      </p:sp>
    </p:spTree>
    <p:extLst>
      <p:ext uri="{BB962C8B-B14F-4D97-AF65-F5344CB8AC3E}">
        <p14:creationId xmlns:p14="http://schemas.microsoft.com/office/powerpoint/2010/main" val="3480969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跨模块信号合同与实现基础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E076C1-8C5E-F2EE-E986-65EF6825575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2FCA1F-03DD-D62A-E8F7-BC5AF49F14F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六条信号校验规则规约跨模块协作；当前已完成实现里程碑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1-18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E4110-4949-E7FB-CECB-6632097CEFDD}"/>
              </a:ext>
            </a:extLst>
          </p:cNvPr>
          <p:cNvSpPr/>
          <p:nvPr/>
        </p:nvSpPr>
        <p:spPr>
          <a:xfrm>
            <a:off x="635000" y="1841500"/>
            <a:ext cx="9906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E3EC9E-E24B-0A4D-97B6-5145240F35C2}"/>
              </a:ext>
            </a:extLst>
          </p:cNvPr>
          <p:cNvSpPr/>
          <p:nvPr/>
        </p:nvSpPr>
        <p:spPr>
          <a:xfrm>
            <a:off x="1714500" y="1841500"/>
            <a:ext cx="2349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路由切换约束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F27039-E632-24A7-8C8B-6EA72E766D7F}"/>
              </a:ext>
            </a:extLst>
          </p:cNvPr>
          <p:cNvSpPr/>
          <p:nvPr/>
        </p:nvSpPr>
        <p:spPr>
          <a:xfrm>
            <a:off x="4318000" y="1841500"/>
            <a:ext cx="9906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ADAE6F-3663-1942-13B5-1585D70BD6A1}"/>
              </a:ext>
            </a:extLst>
          </p:cNvPr>
          <p:cNvSpPr/>
          <p:nvPr/>
        </p:nvSpPr>
        <p:spPr>
          <a:xfrm>
            <a:off x="5397500" y="1841500"/>
            <a:ext cx="23495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静态写入抑制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4E946F-CE06-6AF8-82E8-0E148ED0EEDD}"/>
              </a:ext>
            </a:extLst>
          </p:cNvPr>
          <p:cNvSpPr/>
          <p:nvPr/>
        </p:nvSpPr>
        <p:spPr>
          <a:xfrm>
            <a:off x="8001000" y="1841500"/>
            <a:ext cx="9906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3A6CC5-7EB2-1249-6664-FE6AA07C5BEF}"/>
              </a:ext>
            </a:extLst>
          </p:cNvPr>
          <p:cNvSpPr/>
          <p:nvPr/>
        </p:nvSpPr>
        <p:spPr>
          <a:xfrm>
            <a:off x="9080500" y="1841500"/>
            <a:ext cx="2349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漂移信号传播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86C6664-7147-EFDA-D803-3B6FC8292B5A}"/>
              </a:ext>
            </a:extLst>
          </p:cNvPr>
          <p:cNvSpPr/>
          <p:nvPr/>
        </p:nvSpPr>
        <p:spPr>
          <a:xfrm>
            <a:off x="635000" y="2730500"/>
            <a:ext cx="9906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69BB60-EA00-6943-CFDC-4BE452C2616F}"/>
              </a:ext>
            </a:extLst>
          </p:cNvPr>
          <p:cNvSpPr/>
          <p:nvPr/>
        </p:nvSpPr>
        <p:spPr>
          <a:xfrm>
            <a:off x="1714500" y="2730500"/>
            <a:ext cx="23495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平局窗口处理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119D0A-D117-61FB-B1A6-27C1C2D0AFC6}"/>
              </a:ext>
            </a:extLst>
          </p:cNvPr>
          <p:cNvSpPr/>
          <p:nvPr/>
        </p:nvSpPr>
        <p:spPr>
          <a:xfrm>
            <a:off x="4318000" y="2730500"/>
            <a:ext cx="9906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CR-5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AC0FAE-9AEF-E289-2195-ED55FDFC8C83}"/>
              </a:ext>
            </a:extLst>
          </p:cNvPr>
          <p:cNvSpPr/>
          <p:nvPr/>
        </p:nvSpPr>
        <p:spPr>
          <a:xfrm>
            <a:off x="5397500" y="2730500"/>
            <a:ext cx="2349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证据标签传播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3FFDFBC-BA57-507C-44FF-5661F31775F7}"/>
              </a:ext>
            </a:extLst>
          </p:cNvPr>
          <p:cNvSpPr/>
          <p:nvPr/>
        </p:nvSpPr>
        <p:spPr>
          <a:xfrm>
            <a:off x="8001000" y="2730500"/>
            <a:ext cx="9906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CR-6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0C0E6F-57CB-CEF1-423F-743A548FA113}"/>
              </a:ext>
            </a:extLst>
          </p:cNvPr>
          <p:cNvSpPr/>
          <p:nvPr/>
        </p:nvSpPr>
        <p:spPr>
          <a:xfrm>
            <a:off x="9080500" y="2730500"/>
            <a:ext cx="23495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前向引用协议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6E8FE8-6141-8A42-8063-EAC5C2DD96F6}"/>
              </a:ext>
            </a:extLst>
          </p:cNvPr>
          <p:cNvSpPr/>
          <p:nvPr/>
        </p:nvSpPr>
        <p:spPr>
          <a:xfrm>
            <a:off x="1079500" y="3937000"/>
            <a:ext cx="17145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实现进展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7E533A3-1E93-1A19-B08A-3A91A7F2001A}"/>
              </a:ext>
            </a:extLst>
          </p:cNvPr>
          <p:cNvSpPr/>
          <p:nvPr/>
        </p:nvSpPr>
        <p:spPr>
          <a:xfrm>
            <a:off x="3048000" y="3937000"/>
            <a:ext cx="8064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前后向流水线、多窗口流式更新、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MASt3R/Spann3R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适配器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ADEA790-3D29-AF4E-4134-79124C22BA47}"/>
              </a:ext>
            </a:extLst>
          </p:cNvPr>
          <p:cNvSpPr/>
          <p:nvPr/>
        </p:nvSpPr>
        <p:spPr>
          <a:xfrm>
            <a:off x="1079500" y="4673600"/>
            <a:ext cx="17145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B460BD-A8BD-5A59-A556-AF093B2E0D6D}"/>
              </a:ext>
            </a:extLst>
          </p:cNvPr>
          <p:cNvSpPr/>
          <p:nvPr/>
        </p:nvSpPr>
        <p:spPr>
          <a:xfrm>
            <a:off x="3048000" y="4673600"/>
            <a:ext cx="80645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点图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L2 = 20.47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；集成证据，非训练后质量</a:t>
            </a:r>
          </a:p>
        </p:txBody>
      </p:sp>
    </p:spTree>
    <p:extLst>
      <p:ext uri="{BB962C8B-B14F-4D97-AF65-F5344CB8AC3E}">
        <p14:creationId xmlns:p14="http://schemas.microsoft.com/office/powerpoint/2010/main" val="2312689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694603-699E-CE3E-7142-FA4CF73B9324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0CFD50-9778-743C-D729-B2C60FA54CDE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0F737E5-A4A0-D449-912B-B81B51F6D370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0ED613C1-B9D8-DCC8-5172-469CFD50F4B5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A672B1-A27C-66F7-2A0A-030E506E0A6D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E44D4E-A316-9FD2-C28B-FAC7AF2A2D6C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117CC27-6AFF-3F0F-0FDF-E3F56FFDA764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5C2509-5875-74F3-A954-CD4F768513F7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EA7FCF-1544-BFD4-FE87-CE19208C0F8B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88D86E5-1EC4-0D31-0318-CDE25232105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98FBC4E-FEF1-2504-09BF-A8EAD02E9A90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5A0396-2B36-0383-2A78-68617EE049BC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F2732B-E02E-5C68-421C-2BDE219F746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BB61B06-B14C-C7F4-62CD-E5EEF4A7CF1F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3CBA9E4-C46C-F519-8D4F-FB1AACEBBFED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BB0E96-A345-5B35-A36A-0AA7A759FD4A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0548AF-6BC6-9CED-7E82-2E1310C9BA31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5F2DAF7-FBDE-BAA6-6B33-5E1ACDDF626B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CE515F2-08C0-FD79-95C6-79F42670C43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54287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工具链现状与平台动机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655D06-8FC8-CAEB-7AA3-DBBF4EAFF34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B825E2-37B2-CFBA-CF14-69AC22FC6F9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方向缺乏面向前馈式模型的统一聚合对比平台。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69E016-98FF-08C7-D133-1FC8EF9995CB}"/>
              </a:ext>
            </a:extLst>
          </p:cNvPr>
          <p:cNvSpPr/>
          <p:nvPr/>
        </p:nvSpPr>
        <p:spPr>
          <a:xfrm>
            <a:off x="889000" y="1905000"/>
            <a:ext cx="1841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Nerfstudio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28767-F3D7-3B3B-7184-48B8A7F9936A}"/>
              </a:ext>
            </a:extLst>
          </p:cNvPr>
          <p:cNvSpPr/>
          <p:nvPr/>
        </p:nvSpPr>
        <p:spPr>
          <a:xfrm>
            <a:off x="3048000" y="1905000"/>
            <a:ext cx="80645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范式，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抽象与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不兼容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EF47FC-D94E-994B-1C45-08B0949240FE}"/>
              </a:ext>
            </a:extLst>
          </p:cNvPr>
          <p:cNvSpPr/>
          <p:nvPr/>
        </p:nvSpPr>
        <p:spPr>
          <a:xfrm>
            <a:off x="889000" y="2692400"/>
            <a:ext cx="1841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商业产品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15E747-D793-1A7E-F5C0-D4BD7182F5B3}"/>
              </a:ext>
            </a:extLst>
          </p:cNvPr>
          <p:cNvSpPr/>
          <p:nvPr/>
        </p:nvSpPr>
        <p:spPr>
          <a:xfrm>
            <a:off x="3048000" y="2692400"/>
            <a:ext cx="80645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闭源，算法细节和评测过程难以审计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022B3C-FBBE-5C34-4E69-5A3BC3A9B642}"/>
              </a:ext>
            </a:extLst>
          </p:cNvPr>
          <p:cNvSpPr/>
          <p:nvPr/>
        </p:nvSpPr>
        <p:spPr>
          <a:xfrm>
            <a:off x="889000" y="3479800"/>
            <a:ext cx="1841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官方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demo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D8AAFC-B414-A68A-DC10-E4B9A5D53158}"/>
              </a:ext>
            </a:extLst>
          </p:cNvPr>
          <p:cNvSpPr/>
          <p:nvPr/>
        </p:nvSpPr>
        <p:spPr>
          <a:xfrm>
            <a:off x="3048000" y="3479800"/>
            <a:ext cx="80645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孤岛运行，跨模型对比需要手动调度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F5D67F-6901-6F19-BE54-21C411BDDA99}"/>
              </a:ext>
            </a:extLst>
          </p:cNvPr>
          <p:cNvSpPr/>
          <p:nvPr/>
        </p:nvSpPr>
        <p:spPr>
          <a:xfrm>
            <a:off x="889000" y="4267200"/>
            <a:ext cx="1841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本研究平台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330041-9F32-9186-E8FA-58B79D56E552}"/>
              </a:ext>
            </a:extLst>
          </p:cNvPr>
          <p:cNvSpPr/>
          <p:nvPr/>
        </p:nvSpPr>
        <p:spPr>
          <a:xfrm>
            <a:off x="3048000" y="4267200"/>
            <a:ext cx="80645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模型注册、执行合同和对比框架统一管理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C64F9C-D0AD-E554-F44B-D7FD3F37D405}"/>
              </a:ext>
            </a:extLst>
          </p:cNvPr>
          <p:cNvSpPr/>
          <p:nvPr/>
        </p:nvSpPr>
        <p:spPr>
          <a:xfrm>
            <a:off x="1524000" y="5461000"/>
            <a:ext cx="9144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多模型实验需要统一运行入口、输出结构和结果归集方式。</a:t>
            </a:r>
          </a:p>
        </p:txBody>
      </p:sp>
    </p:spTree>
    <p:extLst>
      <p:ext uri="{BB962C8B-B14F-4D97-AF65-F5344CB8AC3E}">
        <p14:creationId xmlns:p14="http://schemas.microsoft.com/office/powerpoint/2010/main" val="1913983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平台架构：四层分离设计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C5CF89-4FAA-5D79-F847-E97DEE21FF2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A34C64-8C7B-BEBC-273C-DEA413ED126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平台采用桌面前端、本地后端、远端调度、模型执行器四层分离架构。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62A3BC-DE1C-835A-A505-B1E941BED6D8}"/>
              </a:ext>
            </a:extLst>
          </p:cNvPr>
          <p:cNvSpPr/>
          <p:nvPr/>
        </p:nvSpPr>
        <p:spPr>
          <a:xfrm>
            <a:off x="1270000" y="1841500"/>
            <a:ext cx="965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桌面应用层    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</a:rPr>
              <a:t>Tauri 2 + React</a:t>
            </a:r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：命令中心、任务工作台、样本矩阵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E2CD39E2-7743-03DF-954B-DB593D05D16A}"/>
              </a:ext>
            </a:extLst>
          </p:cNvPr>
          <p:cNvSpPr/>
          <p:nvPr/>
        </p:nvSpPr>
        <p:spPr>
          <a:xfrm>
            <a:off x="5842000" y="24638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CC1EDC-5B19-4251-4BA0-94D92683870B}"/>
              </a:ext>
            </a:extLst>
          </p:cNvPr>
          <p:cNvSpPr/>
          <p:nvPr/>
        </p:nvSpPr>
        <p:spPr>
          <a:xfrm>
            <a:off x="1270000" y="2667000"/>
            <a:ext cx="9652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本地后端层   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：模型注册、任务队列、合同验证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9A302732-1976-D7A2-563C-50DDDAA1BD8C}"/>
              </a:ext>
            </a:extLst>
          </p:cNvPr>
          <p:cNvSpPr/>
          <p:nvPr/>
        </p:nvSpPr>
        <p:spPr>
          <a:xfrm>
            <a:off x="5842000" y="32893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A29458-681F-01A0-5C0F-07B656177FFD}"/>
              </a:ext>
            </a:extLst>
          </p:cNvPr>
          <p:cNvSpPr/>
          <p:nvPr/>
        </p:nvSpPr>
        <p:spPr>
          <a:xfrm>
            <a:off x="1270000" y="3492500"/>
            <a:ext cx="9652000" cy="584200"/>
          </a:xfrm>
          <a:prstGeom prst="rect">
            <a:avLst/>
          </a:prstGeom>
          <a:solidFill>
            <a:srgbClr val="286FB9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远端调度层    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</a:rPr>
              <a:t>SSH / SCP</a:t>
            </a:r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：启动任务、监听日志、同步产物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56409C2-4C3C-96B7-9534-5FFBA18A274B}"/>
              </a:ext>
            </a:extLst>
          </p:cNvPr>
          <p:cNvSpPr/>
          <p:nvPr/>
        </p:nvSpPr>
        <p:spPr>
          <a:xfrm>
            <a:off x="5842000" y="41148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A231BC-4F81-234C-41FC-FF53611C307B}"/>
              </a:ext>
            </a:extLst>
          </p:cNvPr>
          <p:cNvSpPr/>
          <p:nvPr/>
        </p:nvSpPr>
        <p:spPr>
          <a:xfrm>
            <a:off x="1270000" y="4318000"/>
            <a:ext cx="9652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模型执行层   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个执行器：封装各模型推理差异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70B77-EF82-9071-1EF3-4FD3DD2CC113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新模型接入主要通过新增执行器和注册记录完成。</a:t>
            </a:r>
          </a:p>
        </p:txBody>
      </p:sp>
    </p:spTree>
    <p:extLst>
      <p:ext uri="{BB962C8B-B14F-4D97-AF65-F5344CB8AC3E}">
        <p14:creationId xmlns:p14="http://schemas.microsoft.com/office/powerpoint/2010/main" val="1239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统一执行合同：核心学术抽象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D53334-AC91-A26D-A8E8-FED603EC032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996138-690E-BE58-86BB-9CF16CDA19A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三文件合同将异构模型的执行差异封装在执行器层。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5356F3-8414-8AB7-FC1E-C95135392B81}"/>
              </a:ext>
            </a:extLst>
          </p:cNvPr>
          <p:cNvSpPr/>
          <p:nvPr/>
        </p:nvSpPr>
        <p:spPr>
          <a:xfrm>
            <a:off x="1016000" y="1968500"/>
            <a:ext cx="2857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job.json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8D576D-2EE0-F274-BFD3-8385254F2035}"/>
              </a:ext>
            </a:extLst>
          </p:cNvPr>
          <p:cNvSpPr/>
          <p:nvPr/>
        </p:nvSpPr>
        <p:spPr>
          <a:xfrm>
            <a:off x="1016000" y="2425700"/>
            <a:ext cx="2857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模型名
输入路径
参数配置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4A0DC4-B1D4-87C3-AF83-2D630E2B4E0D}"/>
              </a:ext>
            </a:extLst>
          </p:cNvPr>
          <p:cNvSpPr/>
          <p:nvPr/>
        </p:nvSpPr>
        <p:spPr>
          <a:xfrm>
            <a:off x="4635500" y="1968500"/>
            <a:ext cx="2857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status.json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4BF94E-AD43-9A93-3038-DA20616BFD5A}"/>
              </a:ext>
            </a:extLst>
          </p:cNvPr>
          <p:cNvSpPr/>
          <p:nvPr/>
        </p:nvSpPr>
        <p:spPr>
          <a:xfrm>
            <a:off x="4635500" y="2425700"/>
            <a:ext cx="2857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排队
上传
运行
回传
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6E2595-DD3D-E951-2A63-EA4815D64969}"/>
              </a:ext>
            </a:extLst>
          </p:cNvPr>
          <p:cNvSpPr/>
          <p:nvPr/>
        </p:nvSpPr>
        <p:spPr>
          <a:xfrm>
            <a:off x="8255000" y="1968500"/>
            <a:ext cx="2857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scene_meta.json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CC9689-6873-EFDC-AA4E-B62B9310B46B}"/>
              </a:ext>
            </a:extLst>
          </p:cNvPr>
          <p:cNvSpPr/>
          <p:nvPr/>
        </p:nvSpPr>
        <p:spPr>
          <a:xfrm>
            <a:off x="8255000" y="2425700"/>
            <a:ext cx="2857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产物类型
数量分组
运行时间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359C41-0B2A-1C38-6531-FC19009C91AD}"/>
              </a:ext>
            </a:extLst>
          </p:cNvPr>
          <p:cNvSpPr/>
          <p:nvPr/>
        </p:nvSpPr>
        <p:spPr>
          <a:xfrm>
            <a:off x="825500" y="4445000"/>
            <a:ext cx="10541000" cy="571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桌面提交 → 后端验证 →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SSH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推送 → 远端执行 →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SCP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回传 → 结果展示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D56FF0-5E8B-CE4F-74F7-1E5558B82621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个已验证模型在同一输入上的对比流程保持一致。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3544535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平台进展：模型接入与实测数据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437E4A-1E1D-ADEB-11C2-C50F819B27F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0D4044-9A4B-2554-F1BB-1CE93254862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个模型已通过端到端集成验证，跨模型对比矩阵已生成。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8E86DD-A6A6-5A10-3FB8-1A1BAD1E5A51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接入状态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D2FE71-4092-6861-30E2-ED7C0614F14F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个模型执行器已完成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BC84BF-85A4-E461-1F3E-D724B10FD5FA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个端到端验证通过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4F638D-CF54-F336-E655-AAC11B87B2D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待权重上传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FC16A2-22A0-40FB-0915-F1A759958EB1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统一输入：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1080p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EA90B5F-B9B8-5425-D43E-0A0E06CADA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7C6AD1D-B74E-1A21-08EE-23CB59034BF9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耗时数据用于说明调度和归集需求，不作为模型质量排序。</a:t>
            </a:r>
          </a:p>
        </p:txBody>
      </p:sp>
    </p:spTree>
    <p:extLst>
      <p:ext uri="{BB962C8B-B14F-4D97-AF65-F5344CB8AC3E}">
        <p14:creationId xmlns:p14="http://schemas.microsoft.com/office/powerpoint/2010/main" val="2557937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平台与候选架构的协同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00BC0E-6847-9349-7C33-D38812DEA4D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50C83D-B0B8-1710-00B1-6F99AC996CD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平台为架构消融实验提供调度执行基础设施，架构需求驱动平台功能演化。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77C7A1-39B5-D077-59AF-E3EC89B11401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29BC70-1522-B9D9-AB4B-0F4F520445DA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新模型接入
结果复核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C07C3C4-0C9E-2A76-0C83-2089E80EAFEC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C3EDCA-B8F7-A361-60E1-7AA68F953A97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78826D-DE35-19DD-12F6-32B669A1EC20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统一提交
统一输出合同
论文表格导出
同协议对比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21F799-AA8A-EFA7-2609-1F8D152632A4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短期补齐合同覆盖，中期完善对比视图与报告导出，长期扩展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</p:spTree>
    <p:extLst>
      <p:ext uri="{BB962C8B-B14F-4D97-AF65-F5344CB8AC3E}">
        <p14:creationId xmlns:p14="http://schemas.microsoft.com/office/powerpoint/2010/main" val="1359978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913288E-B32D-9D0D-49D0-6C6177002B21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C86D38-B24A-0D66-D9C9-4D191EA7B56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97072FC-2BE6-B762-E987-F6348D983C9C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40CD96C-D3C8-24A5-9BA1-E5598D86B756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EB9F90-CF0A-C146-E238-60DE69F31268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835F952-1FA1-5A53-9231-57F64BE67060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F2F7E61-3AA4-32B9-7C0D-C4190421297B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559AFC-0244-C8C2-B8EA-235DC937FCCE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9B10D4-3794-363C-42F6-D345548F14C2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4B6F404-14FC-028B-5216-ECC1D3CB8DC1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60BE903-7424-F40F-1ADA-508F7AE4394F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候选架构研究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A23922-AC30-51C5-EEFE-E56B8E897216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6986EF-6EBB-391D-7464-CAD9DD717F60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616DA2E-54D4-0D1B-19E6-B85A403477AA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3C584C6-64C7-EDAF-1F55-C73E92AFF4B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软件平台建设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D20841-DE4F-E9A3-7221-8E1EA5CCFAF5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41372D-8E57-B35D-BDBE-1EEB55DE4B65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53E6075-01C4-A557-41A8-E56EF05D5904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9EA2866-7499-8FFD-4800-8E554CD9E07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1986260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实验设计：架构证据链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9399E4-304C-B7AB-6ADA-27319D904C7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47A2E8-CC49-1502-FAE4-28D8F36B6D2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架构侧设计了三组消融实验和两组评测，所有实验均为待执行状态。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53D080-FC33-4407-171D-5A6E40204FE0}"/>
              </a:ext>
            </a:extLst>
          </p:cNvPr>
          <p:cNvSpPr/>
          <p:nvPr/>
        </p:nvSpPr>
        <p:spPr>
          <a:xfrm>
            <a:off x="825500" y="18415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架构层消融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886AC9-E549-976F-6196-A940D8D398D3}"/>
              </a:ext>
            </a:extLst>
          </p:cNvPr>
          <p:cNvSpPr/>
          <p:nvPr/>
        </p:nvSpPr>
        <p:spPr>
          <a:xfrm>
            <a:off x="3175000" y="1841500"/>
            <a:ext cx="8001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三分支注意力移除、多专家与单专家对照、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Test3R-alone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对照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CA554E-9DBA-B918-49B7-F647BE8D98DA}"/>
              </a:ext>
            </a:extLst>
          </p:cNvPr>
          <p:cNvSpPr/>
          <p:nvPr/>
        </p:nvSpPr>
        <p:spPr>
          <a:xfrm>
            <a:off x="825500" y="26543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记忆机制消融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16EF36-3DA7-461D-ACCD-75F5527F64F4}"/>
              </a:ext>
            </a:extLst>
          </p:cNvPr>
          <p:cNvSpPr/>
          <p:nvPr/>
        </p:nvSpPr>
        <p:spPr>
          <a:xfrm>
            <a:off x="3175000" y="2654300"/>
            <a:ext cx="8001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项测试；四类候选变体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五类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fixture regime</a:t>
            </a:r>
            <a:endParaRPr lang="zh-CN" altLang="en-US" sz="160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0813ED-C761-CDD2-597D-ACDF5C2123FE}"/>
              </a:ext>
            </a:extLst>
          </p:cNvPr>
          <p:cNvSpPr/>
          <p:nvPr/>
        </p:nvSpPr>
        <p:spPr>
          <a:xfrm>
            <a:off x="825500" y="34671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校验标定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9368FC-A2CA-2405-F6BA-E0E796AB0229}"/>
              </a:ext>
            </a:extLst>
          </p:cNvPr>
          <p:cNvSpPr/>
          <p:nvPr/>
        </p:nvSpPr>
        <p:spPr>
          <a:xfrm>
            <a:off x="3175000" y="3467100"/>
            <a:ext cx="8001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项阈值；六类失败模式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× 5 sub-signal</a:t>
            </a:r>
            <a:endParaRPr lang="zh-CN" altLang="en-US" sz="160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2EC330-F499-F4FE-042E-8B68CDBC1562}"/>
              </a:ext>
            </a:extLst>
          </p:cNvPr>
          <p:cNvSpPr/>
          <p:nvPr/>
        </p:nvSpPr>
        <p:spPr>
          <a:xfrm>
            <a:off x="825500" y="4279900"/>
            <a:ext cx="203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长序列评测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C30732-791F-1C45-1A09-8E2BD34139CE}"/>
              </a:ext>
            </a:extLst>
          </p:cNvPr>
          <p:cNvSpPr/>
          <p:nvPr/>
        </p:nvSpPr>
        <p:spPr>
          <a:xfrm>
            <a:off x="3175000" y="4279900"/>
            <a:ext cx="8001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变体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× 4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度量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1600">
                <a:solidFill>
                  <a:srgbClr val="00285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600">
                <a:solidFill>
                  <a:srgbClr val="00285F"/>
                </a:solidFill>
                <a:latin typeface="Microsoft YaHei" panose="020B0503020204020204" pitchFamily="34" charset="-122"/>
              </a:rPr>
              <a:t>{10, 20, 50, 100}</a:t>
            </a:r>
            <a:endParaRPr lang="zh-CN" altLang="en-US" sz="160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9173C0-3D48-A368-21C0-4E3C9763F206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预估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预算约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1377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小时，执行需算力授权。</a:t>
            </a:r>
          </a:p>
        </p:txBody>
      </p:sp>
    </p:spTree>
    <p:extLst>
      <p:ext uri="{BB962C8B-B14F-4D97-AF65-F5344CB8AC3E}">
        <p14:creationId xmlns:p14="http://schemas.microsoft.com/office/powerpoint/2010/main" val="3776527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实验设计：平台证据链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2134DE-D395-D90B-ACD8-12DA70A3752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EF0290-424A-15E5-7C1F-77395B03977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平台侧评测独立于架构算法评测，聚焦统一合同覆盖与对比能力。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34D999-26CA-CBD9-2C0A-D39F6DE4871B}"/>
              </a:ext>
            </a:extLst>
          </p:cNvPr>
          <p:cNvSpPr/>
          <p:nvPr/>
        </p:nvSpPr>
        <p:spPr>
          <a:xfrm>
            <a:off x="762000" y="2222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合同覆盖率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ED5144-04F9-E98C-C616-FC4742A8C589}"/>
              </a:ext>
            </a:extLst>
          </p:cNvPr>
          <p:cNvSpPr/>
          <p:nvPr/>
        </p:nvSpPr>
        <p:spPr>
          <a:xfrm>
            <a:off x="762000" y="2679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目标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7/7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当前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6/7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2B5E26-FC5B-7C00-B1DC-FB077D90A07F}"/>
              </a:ext>
            </a:extLst>
          </p:cNvPr>
          <p:cNvSpPr/>
          <p:nvPr/>
        </p:nvSpPr>
        <p:spPr>
          <a:xfrm>
            <a:off x="3556000" y="2222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对比矩阵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B78249-4EEE-D7DE-BA5A-7B4F49181B54}"/>
              </a:ext>
            </a:extLst>
          </p:cNvPr>
          <p:cNvSpPr/>
          <p:nvPr/>
        </p:nvSpPr>
        <p:spPr>
          <a:xfrm>
            <a:off x="3556000" y="2679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平台内聚合
报告导出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D6DFE8-855A-2B15-1417-1CB856F4F3E9}"/>
              </a:ext>
            </a:extLst>
          </p:cNvPr>
          <p:cNvSpPr/>
          <p:nvPr/>
        </p:nvSpPr>
        <p:spPr>
          <a:xfrm>
            <a:off x="6350000" y="2222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接入成本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F7F1F4-CD8A-D41A-1142-688227C4DDA2}"/>
              </a:ext>
            </a:extLst>
          </p:cNvPr>
          <p:cNvSpPr/>
          <p:nvPr/>
        </p:nvSpPr>
        <p:spPr>
          <a:xfrm>
            <a:off x="6350000" y="2679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一条注册记录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755481-4DD2-12EE-C0B7-9AAA5D2C46E9}"/>
              </a:ext>
            </a:extLst>
          </p:cNvPr>
          <p:cNvSpPr/>
          <p:nvPr/>
        </p:nvSpPr>
        <p:spPr>
          <a:xfrm>
            <a:off x="9144000" y="2222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对接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0DC4F9-5A2E-B7DF-13BE-152BFD652EC0}"/>
              </a:ext>
            </a:extLst>
          </p:cNvPr>
          <p:cNvSpPr/>
          <p:nvPr/>
        </p:nvSpPr>
        <p:spPr>
          <a:xfrm>
            <a:off x="9144000" y="2679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REST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端点
设计完整性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510B98-EF4B-4157-5FD4-AFEF483A00B1}"/>
              </a:ext>
            </a:extLst>
          </p:cNvPr>
          <p:cNvSpPr/>
          <p:nvPr/>
        </p:nvSpPr>
        <p:spPr>
          <a:xfrm>
            <a:off x="1206500" y="5016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平台评测可与架构实验并行推进，形成互补证据。</a:t>
            </a:r>
          </a:p>
        </p:txBody>
      </p:sp>
    </p:spTree>
    <p:extLst>
      <p:ext uri="{BB962C8B-B14F-4D97-AF65-F5344CB8AC3E}">
        <p14:creationId xmlns:p14="http://schemas.microsoft.com/office/powerpoint/2010/main" val="2223074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四个创新点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341B6A-37CC-590B-A584-076927482CA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93EBE1-8ECF-DB80-F3DE-F1EDCDF8D18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四个创新点分别对应四个研究问题，均以候选方案和对照实验证据为边界。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4011B5-FB76-D06E-B93E-D837BBE17D59}"/>
              </a:ext>
            </a:extLst>
          </p:cNvPr>
          <p:cNvSpPr/>
          <p:nvPr/>
        </p:nvSpPr>
        <p:spPr>
          <a:xfrm>
            <a:off x="889000" y="20955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IP1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A527CA-D9FB-9CAD-0151-00D5A7843DB6}"/>
              </a:ext>
            </a:extLst>
          </p:cNvPr>
          <p:cNvSpPr/>
          <p:nvPr/>
        </p:nvSpPr>
        <p:spPr>
          <a:xfrm>
            <a:off x="2286000" y="2095500"/>
            <a:ext cx="3302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校验作为架构组件
对应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Q1</a:t>
            </a:r>
            <a:endParaRPr lang="zh-CN" altLang="en-US" sz="17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7EB9B3-6C41-524E-DA81-0C85D018E26F}"/>
              </a:ext>
            </a:extLst>
          </p:cNvPr>
          <p:cNvSpPr/>
          <p:nvPr/>
        </p:nvSpPr>
        <p:spPr>
          <a:xfrm>
            <a:off x="6350000" y="20955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IP2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59E36D-11F2-E8F1-768B-AAB4CB6D9B8C}"/>
              </a:ext>
            </a:extLst>
          </p:cNvPr>
          <p:cNvSpPr/>
          <p:nvPr/>
        </p:nvSpPr>
        <p:spPr>
          <a:xfrm>
            <a:off x="7747000" y="2095500"/>
            <a:ext cx="3302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
对应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Q3</a:t>
            </a:r>
            <a:endParaRPr lang="zh-CN" altLang="en-US" sz="17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739039-5CF5-B64D-5426-EB99C0636BF0}"/>
              </a:ext>
            </a:extLst>
          </p:cNvPr>
          <p:cNvSpPr/>
          <p:nvPr/>
        </p:nvSpPr>
        <p:spPr>
          <a:xfrm>
            <a:off x="889000" y="35560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IP3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5A68B9-6424-FE6C-79F5-EB65D8807A19}"/>
              </a:ext>
            </a:extLst>
          </p:cNvPr>
          <p:cNvSpPr/>
          <p:nvPr/>
        </p:nvSpPr>
        <p:spPr>
          <a:xfrm>
            <a:off x="2286000" y="3556000"/>
            <a:ext cx="3302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长序列内存机制统一
对应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Q2</a:t>
            </a:r>
            <a:endParaRPr lang="zh-CN" altLang="en-US" sz="17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2AE09A-EBE1-2F20-4FE1-EE1FE56E651E}"/>
              </a:ext>
            </a:extLst>
          </p:cNvPr>
          <p:cNvSpPr/>
          <p:nvPr/>
        </p:nvSpPr>
        <p:spPr>
          <a:xfrm>
            <a:off x="6350000" y="35560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IP4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BB977C-1DBC-56DA-EBFD-5ECDDD1A6AEE}"/>
              </a:ext>
            </a:extLst>
          </p:cNvPr>
          <p:cNvSpPr/>
          <p:nvPr/>
        </p:nvSpPr>
        <p:spPr>
          <a:xfrm>
            <a:off x="7747000" y="3556000"/>
            <a:ext cx="3302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统一聚合管理平台
对应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Q4</a:t>
            </a:r>
            <a:endParaRPr lang="zh-CN" altLang="en-US" sz="17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A675E9-BDFF-999A-13CB-A54D5F19901D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创新点表述限定为候选方案与实验证据，不写总体优越性声明。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1377682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已完成工作总览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90DCEF-C9A4-81B0-D216-FAEACFB825E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7F49E0-4DD8-1968-6076-DCC56965DBA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当前已形成架构文档、原型实现、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集成验证、平台代码和综述材料。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16E82C-5091-83A8-24FE-031A5CE74094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：候选架构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5054DE-841A-60CE-1E2A-052B13912BF8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份正式文档
跨模块信号契约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里程碑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1-18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通过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0FD641-9947-7D7D-BE54-314105E7DE9E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B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：聚合平台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D82B53-137F-C765-02D4-8A8444325606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页中文综述支撑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943476-D90A-2730-4756-5DC9340EE830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数值为集成证据，后续消融和训练需算力授权后启动。</a:t>
            </a:r>
          </a:p>
        </p:txBody>
      </p:sp>
    </p:spTree>
    <p:extLst>
      <p:ext uri="{BB962C8B-B14F-4D97-AF65-F5344CB8AC3E}">
        <p14:creationId xmlns:p14="http://schemas.microsoft.com/office/powerpoint/2010/main" val="1262482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研究计划与时间安排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3AA8D3-00C3-2E2A-D13F-FD4476A0877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3F6457-89D1-8097-CD8E-343D13A10A7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后续工作分短期、中期、长期三阶段推进，每项里程碑独立决策。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B3165B-C169-099D-ED43-7E4069975CB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842" y="1651000"/>
            <a:ext cx="7486316" cy="4064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989A6CA-1C4C-B3C1-7F28-84683E5DEBE4}"/>
              </a:ext>
            </a:extLst>
          </p:cNvPr>
          <p:cNvSpPr/>
          <p:nvPr/>
        </p:nvSpPr>
        <p:spPr>
          <a:xfrm>
            <a:off x="1016000" y="5778500"/>
            <a:ext cx="10160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短期完稿与补充验证，中期执行标定和对比，长期推进训练、渲染和论文撰写。</a:t>
            </a:r>
          </a:p>
        </p:txBody>
      </p:sp>
    </p:spTree>
    <p:extLst>
      <p:ext uri="{BB962C8B-B14F-4D97-AF65-F5344CB8AC3E}">
        <p14:creationId xmlns:p14="http://schemas.microsoft.com/office/powerpoint/2010/main" val="2261684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计划风险与应对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EE1566-4537-2B71-D913-1761ADE2EA3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D65F8F-E13C-883E-4DBC-419E4E7CAF1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所有已识别风险均有方案级缓解路径，但仍需后续实验逐步收敛。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45C88C-A9B5-76E8-D72C-1DF833A1E39A}"/>
              </a:ext>
            </a:extLst>
          </p:cNvPr>
          <p:cNvSpPr/>
          <p:nvPr/>
        </p:nvSpPr>
        <p:spPr>
          <a:xfrm>
            <a:off x="952500" y="20955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P0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B6B93C-E118-6E48-0BDC-3D481778CF38}"/>
              </a:ext>
            </a:extLst>
          </p:cNvPr>
          <p:cNvSpPr/>
          <p:nvPr/>
        </p:nvSpPr>
        <p:spPr>
          <a:xfrm>
            <a:off x="2413000" y="2095500"/>
            <a:ext cx="4000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消融待执行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训练后质量未知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2E5CE7-ADD0-F15B-F8F0-FF9AEF7222F6}"/>
              </a:ext>
            </a:extLst>
          </p:cNvPr>
          <p:cNvSpPr/>
          <p:nvPr/>
        </p:nvSpPr>
        <p:spPr>
          <a:xfrm>
            <a:off x="6667500" y="2095500"/>
            <a:ext cx="42545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算力授权门控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证据边界声明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B7AEC1-415C-FA3C-62B0-F7C6792E83D9}"/>
              </a:ext>
            </a:extLst>
          </p:cNvPr>
          <p:cNvSpPr/>
          <p:nvPr/>
        </p:nvSpPr>
        <p:spPr>
          <a:xfrm>
            <a:off x="952500" y="30861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E86CD-8C8B-AB99-A235-D6EEB84E9CED}"/>
              </a:ext>
            </a:extLst>
          </p:cNvPr>
          <p:cNvSpPr/>
          <p:nvPr/>
        </p:nvSpPr>
        <p:spPr>
          <a:xfrm>
            <a:off x="2413000" y="3086100"/>
            <a:ext cx="4000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域外检测缺口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渲染许可链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D53E48-50C6-3F4F-4423-EB396B877105}"/>
              </a:ext>
            </a:extLst>
          </p:cNvPr>
          <p:cNvSpPr/>
          <p:nvPr/>
        </p:nvSpPr>
        <p:spPr>
          <a:xfrm>
            <a:off x="6667500" y="3086100"/>
            <a:ext cx="42545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标定方案规划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渲染器执行门控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EBEABD-B127-7F6F-FB78-3FB77A41A5BA}"/>
              </a:ext>
            </a:extLst>
          </p:cNvPr>
          <p:cNvSpPr/>
          <p:nvPr/>
        </p:nvSpPr>
        <p:spPr>
          <a:xfrm>
            <a:off x="952500" y="4076700"/>
            <a:ext cx="1143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514490-14B0-C6D8-A826-C4125E329B5F}"/>
              </a:ext>
            </a:extLst>
          </p:cNvPr>
          <p:cNvSpPr/>
          <p:nvPr/>
        </p:nvSpPr>
        <p:spPr>
          <a:xfrm>
            <a:off x="2413000" y="4076700"/>
            <a:ext cx="4000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远端环境漂移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对比公平性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3924FF-8BD3-1439-BF0D-94D51CF4634B}"/>
              </a:ext>
            </a:extLst>
          </p:cNvPr>
          <p:cNvSpPr/>
          <p:nvPr/>
        </p:nvSpPr>
        <p:spPr>
          <a:xfrm>
            <a:off x="6667500" y="4076700"/>
            <a:ext cx="42545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环境锁定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统一预处理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B2A20AD-1093-3803-CDAF-5378CEF46F27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风险管理随实证推进动态更新，不在开题阶段提前关闭。</a:t>
            </a:r>
          </a:p>
        </p:txBody>
      </p:sp>
    </p:spTree>
    <p:extLst>
      <p:ext uri="{BB962C8B-B14F-4D97-AF65-F5344CB8AC3E}">
        <p14:creationId xmlns:p14="http://schemas.microsoft.com/office/powerpoint/2010/main" val="2089038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5F57C8-B6EB-A0F1-9D30-47086A170D12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65570C-F23C-1B1E-DAA7-4B7546BC29D0}"/>
              </a:ext>
            </a:extLst>
          </p:cNvPr>
          <p:cNvSpPr/>
          <p:nvPr/>
        </p:nvSpPr>
        <p:spPr>
          <a:xfrm>
            <a:off x="1968500" y="3556000"/>
            <a:ext cx="8255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本研究关注前馈式三维重建在长序列、动态干扰和多模型对比方面的架构层问题。
拟设计包含显式空间记忆、几何校验和专家编排的候选架构，并构建统一的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模型聚合管理平台。</a:t>
            </a:r>
          </a:p>
        </p:txBody>
      </p:sp>
    </p:spTree>
    <p:extLst>
      <p:ext uri="{BB962C8B-B14F-4D97-AF65-F5344CB8AC3E}">
        <p14:creationId xmlns:p14="http://schemas.microsoft.com/office/powerpoint/2010/main" val="1087063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1827</Words>
  <Application>Microsoft Office PowerPoint</Application>
  <PresentationFormat>宽屏</PresentationFormat>
  <Paragraphs>270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2026-05-17T18:29:41Z</dcterms:created>
  <dcterms:modified xsi:type="dcterms:W3CDTF">2026-05-17T18:29:41Z</dcterms:modified>
</cp:coreProperties>
</file>