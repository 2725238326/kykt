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21" r:id="rId6"/>
    <p:sldId id="307" r:id="rId7"/>
    <p:sldId id="328" r:id="rId8"/>
    <p:sldId id="298" r:id="rId9"/>
    <p:sldId id="329" r:id="rId10"/>
    <p:sldId id="330" r:id="rId11"/>
    <p:sldId id="331" r:id="rId12"/>
    <p:sldId id="332" r:id="rId13"/>
    <p:sldId id="333" r:id="rId14"/>
    <p:sldId id="323" r:id="rId15"/>
    <p:sldId id="269" r:id="rId16"/>
    <p:sldId id="334" r:id="rId17"/>
    <p:sldId id="335" r:id="rId18"/>
    <p:sldId id="336" r:id="rId19"/>
    <p:sldId id="337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AECBA-D1C0-C19F-C12D-5D9F78450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24045F-A46C-9533-A6AF-906623C22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E32FB-2E7D-56CA-DBAC-5101A181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027B7-F008-D1E9-77B9-D7EA8EF7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1E589-38F9-F7CF-6550-BD35BE5C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18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FC3E8-303C-33C0-24E9-42989D09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21AE26-410F-82D6-18D4-4C433F7CB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0998C-1019-FA49-6F66-3786195E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805296-7047-6E9D-55BC-96A55EB5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8EAF0-5C96-218A-9692-B171BCA7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9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5B8EF-86B4-B0EB-554B-66CEA897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28B23-9D34-403F-C456-4C2D1AD8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BC2DC-B3B0-A0C0-A560-40864771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641B0-1EAE-4DDF-1F11-C3BCA46C9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94DD41-3CD0-1FEC-CB3D-A8BEEA08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19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DC246-BE1E-419E-3BE8-207A849D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B134A3-A885-ABEC-C7F6-E9378447E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BAF1A8-9FAA-1232-8E80-0C998C63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E5D5C8-D544-5BD6-6404-80413D8E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B5DBD3-8756-C22D-B9E1-869D10F7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F8543-77C7-D84B-46CA-2E762184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9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BE0F0-D30D-B362-C9C4-B231A361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2FFF9-BE50-7EB3-85FD-3BC0D13D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606D1F-C2DA-9894-91AD-944D9BF9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83B930-4944-4CB0-EB66-75A5B5A76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F9E836-6801-DA55-A879-B1F2D50D7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C19FB8-83C1-7678-737C-D7284269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430520-3860-67D2-C292-AAFCB691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F97FB-1D7C-6B68-727A-0733FB47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91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ABB8C-6959-5818-2173-78EB3DBA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610D28-E650-EBE8-115F-6CD077DA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DE2BDB-1FE4-A9B0-42F3-E6759992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59EEFB-DD58-4E57-5D7E-1EE4EE94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96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DD856-FFB9-A15F-4ABA-CD56C1B3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1FFB26-1513-D894-54F6-9A82326E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ABA094-307B-E27C-04A2-643E903D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97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F80F2-4876-9596-3584-E2F94FC2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351AF0-EEA2-BA18-2E8C-51E9AE24D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54FF1-3B9A-F532-48BB-817A847FD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67FBAC-4324-715C-F875-C508C400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39F8D5-1784-C14C-9E75-828BA322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CA5A86-3600-F213-6B8B-B7E24CB3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4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C9B4D-1057-FC4A-CA1A-B05BA0D1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3B9700-0F03-C30A-D08E-1D0C6C2D0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D69434-4DCD-1162-88B7-422CFB0FF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D24EC1-49FA-8735-F6CE-6DDB8F07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5EBE45-FE62-11AA-2B55-738E5E7F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838CCA-F983-4325-5A9C-0FE08809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5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743B2-A704-176B-4663-256474F4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92302-016B-5A05-F03E-81CB69A04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78C1F-D240-B407-7C1D-51D0273A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751ED-4CCB-8034-9B4F-9D55313C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B120E-9B4B-E113-FD4F-3A7AFFF5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23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73E059-38BE-99D6-2F08-A7C64BC44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29125B-69B1-62E9-410F-6069C6B1B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E741C-223B-43B8-5510-282AD7A3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3DE950-81B8-0DE4-D62B-E0D1DDDC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49D58-9F76-8E7B-C2F9-6C671865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705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7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CCE09E-A37E-C2B2-4289-91E61D48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8017B-1524-1E5C-BDE9-3277FCFD9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94FEC-9728-B9DF-1374-0591CE9B0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8681B-75DB-4C82-9DFC-87BDF3CA9A17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9697F-134C-D812-8319-22B5AF193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EB3691-30E7-0093-6023-44C12F917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C970A-36F1-474C-97F3-0FAED90496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68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8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342794" y="4461337"/>
            <a:ext cx="22717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3695343" y="10234"/>
            <a:ext cx="480131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6003639" y="5238426"/>
            <a:ext cx="1847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46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3B24009-3760-13BD-A140-BCC2318B3A1D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20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页版本按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15-20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分钟组织，后续可压缩为答辩短版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0672C4-83BE-B510-6E22-8FA72C55F468}"/>
              </a:ext>
            </a:extLst>
          </p:cNvPr>
          <p:cNvSpPr/>
          <p:nvPr/>
        </p:nvSpPr>
        <p:spPr>
          <a:xfrm>
            <a:off x="3175000" y="1968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EE66ED-D468-E9CE-DEE8-59D8F2DBC0C7}"/>
              </a:ext>
            </a:extLst>
          </p:cNvPr>
          <p:cNvSpPr/>
          <p:nvPr/>
        </p:nvSpPr>
        <p:spPr>
          <a:xfrm>
            <a:off x="4191000" y="1968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研究背景与问题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91DE7-4CF7-5E9D-0EEA-B4DFB3DCDBD5}"/>
              </a:ext>
            </a:extLst>
          </p:cNvPr>
          <p:cNvSpPr/>
          <p:nvPr/>
        </p:nvSpPr>
        <p:spPr>
          <a:xfrm>
            <a:off x="3175000" y="26670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8BE6C7-6730-F5B2-8DA0-59481F631A39}"/>
              </a:ext>
            </a:extLst>
          </p:cNvPr>
          <p:cNvSpPr/>
          <p:nvPr/>
        </p:nvSpPr>
        <p:spPr>
          <a:xfrm>
            <a:off x="4191000" y="2667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95CEFB-E2CB-85C9-67F0-50B16E126987}"/>
              </a:ext>
            </a:extLst>
          </p:cNvPr>
          <p:cNvSpPr/>
          <p:nvPr/>
        </p:nvSpPr>
        <p:spPr>
          <a:xfrm>
            <a:off x="3175000" y="3365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41324A-7C56-D271-AB0A-980AC6CF917F}"/>
              </a:ext>
            </a:extLst>
          </p:cNvPr>
          <p:cNvSpPr/>
          <p:nvPr/>
        </p:nvSpPr>
        <p:spPr>
          <a:xfrm>
            <a:off x="4191000" y="3365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候选架构与平台设计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A5D7A6-3353-8E24-B3F5-14D936A36379}"/>
              </a:ext>
            </a:extLst>
          </p:cNvPr>
          <p:cNvSpPr/>
          <p:nvPr/>
        </p:nvSpPr>
        <p:spPr>
          <a:xfrm>
            <a:off x="3175000" y="40640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95FEFA-7BF4-F13B-33AF-83316E437B41}"/>
              </a:ext>
            </a:extLst>
          </p:cNvPr>
          <p:cNvSpPr/>
          <p:nvPr/>
        </p:nvSpPr>
        <p:spPr>
          <a:xfrm>
            <a:off x="4191000" y="4064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实验计划与进展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9F941E-9C89-8EB7-B179-EDDC86CAC358}"/>
              </a:ext>
            </a:extLst>
          </p:cNvPr>
          <p:cNvSpPr/>
          <p:nvPr/>
        </p:nvSpPr>
        <p:spPr>
          <a:xfrm>
            <a:off x="3175000" y="4762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B85BBD-D04C-4543-6ECC-13D5057E3B36}"/>
              </a:ext>
            </a:extLst>
          </p:cNvPr>
          <p:cNvSpPr/>
          <p:nvPr/>
        </p:nvSpPr>
        <p:spPr>
          <a:xfrm>
            <a:off x="4191000" y="4762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风险边界与总结</a:t>
            </a:r>
          </a:p>
        </p:txBody>
      </p:sp>
    </p:spTree>
    <p:extLst>
      <p:ext uri="{BB962C8B-B14F-4D97-AF65-F5344CB8AC3E}">
        <p14:creationId xmlns:p14="http://schemas.microsoft.com/office/powerpoint/2010/main" val="364759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研究背景：</a:t>
            </a:r>
            <a:r>
              <a:rPr lang="en-US" altLang="zh-CN" sz="2800" b="1">
                <a:solidFill>
                  <a:schemeClr val="accent1"/>
                </a:solidFill>
              </a:rPr>
              <a:t>3R </a:t>
            </a:r>
            <a:r>
              <a:rPr lang="zh-CN" altLang="en-US" sz="2800" b="1">
                <a:solidFill>
                  <a:schemeClr val="accent1"/>
                </a:solidFill>
              </a:rPr>
              <a:t>方向快速演进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2AAE56-032D-F936-8E91-F8E7C94BF88F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DUSt3R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之后，前馈式三维重建从单模型能力扩展到长序列、动态场景与测试时机制。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93BA88-DAF3-18C1-8242-43E3B34BD87B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
DUSt3R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82532A-1CE3-F5DF-5809-FF0F1DA859CC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pose-free
pointmap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D210C5-41BB-D8E6-1733-642D5134390C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
MASt3R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E74A7A3-1709-CDA3-F4AF-273D0F93833E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98EC65-BB49-A6CB-7F9C-1E3030E661CF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Fast3R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2DA8DAB-ED83-AAED-14AD-CA211ED827F5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BFC8E77-5951-8399-F8DE-2AC4C9DD8EDF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6B2382-1C8A-1FFA-2496-6BE9DA2FA675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video / dynamic
4D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94B899-2BA3-2512-0502-6999F7275D25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7B40C26-A98A-92CA-7FBF-ACA6D01A2174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982BC6B-21CF-D74A-3FC4-C392C22C3482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988566-05E6-DD98-CA30-CE58541E4E00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9903633-EBA8-101E-E81E-1B6BA4E8761E}"/>
              </a:ext>
            </a:extLst>
          </p:cNvPr>
          <p:cNvSpPr/>
          <p:nvPr/>
        </p:nvSpPr>
        <p:spPr>
          <a:xfrm>
            <a:off x="889000" y="4318000"/>
            <a:ext cx="10414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539B"/>
                </a:solidFill>
                <a:latin typeface="微软雅黑" panose="020B0503020204020204" pitchFamily="34" charset="-122"/>
              </a:rPr>
              <a:t>研究缺口：比较口径、复现入口与跨模型实验记录尚未统一。</a:t>
            </a:r>
          </a:p>
        </p:txBody>
      </p:sp>
    </p:spTree>
    <p:extLst>
      <p:ext uri="{BB962C8B-B14F-4D97-AF65-F5344CB8AC3E}">
        <p14:creationId xmlns:p14="http://schemas.microsoft.com/office/powerpoint/2010/main" val="113341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问题提出：失败模式与未解问题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69070E-471E-D7FC-A053-24741FFDE31E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本研究不押注单一分支，而是围绕失败模式建立候选架构与统一评测入口。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E6A267-57C3-2A65-3482-5A34391A17B4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几何验证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9A737E-3E71-8DEE-D472-46AFE1191CFA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尺度漂移、重投影误差
缺少统一反馈机制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5A09ED-7AA2-0682-FF33-05FD7B7337E4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长序列内存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99E4C7-5C72-C8D7-222B-BC55E8603DDC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9A3A8F-4437-DB7B-8F3B-4D2C45148185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多专家组合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8F77D1-FA31-4DE5-73F9-A5C225F349BE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90DBAA-C9BC-425F-BF38-020CD86001C4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统一平台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71FDA2-9E45-4A54-29BE-24B5C7B14B0B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4026814-382A-1641-1EEC-DA4409C7C58D}"/>
              </a:ext>
            </a:extLst>
          </p:cNvPr>
          <p:cNvSpPr/>
          <p:nvPr/>
        </p:nvSpPr>
        <p:spPr>
          <a:xfrm>
            <a:off x="1079500" y="5524500"/>
            <a:ext cx="10033000" cy="571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研究边界：候选架构不是最终方案，目标是形成可对照、可复用的实验入口。</a:t>
            </a:r>
          </a:p>
        </p:txBody>
      </p:sp>
    </p:spTree>
    <p:extLst>
      <p:ext uri="{BB962C8B-B14F-4D97-AF65-F5344CB8AC3E}">
        <p14:creationId xmlns:p14="http://schemas.microsoft.com/office/powerpoint/2010/main" val="293257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研究现状：四轴覆盖矩阵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DF8A90-C102-0900-DF31-9B311F5E6400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覆盖矩阵显示现有方法在几何校验、长序列内存、多专家组合和统一平台方面覆盖不均。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AB8D9E-1ADC-A0B5-5086-8A8C16B526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68" y="1803400"/>
            <a:ext cx="772026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1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工具链空白：支柱 </a:t>
            </a:r>
            <a:r>
              <a:rPr lang="en-US" altLang="zh-CN" sz="2800" b="1">
                <a:solidFill>
                  <a:schemeClr val="accent1"/>
                </a:solidFill>
              </a:rPr>
              <a:t>B </a:t>
            </a:r>
            <a:r>
              <a:rPr lang="zh-CN" altLang="en-US" sz="2800" b="1">
                <a:solidFill>
                  <a:schemeClr val="accent1"/>
                </a:solidFill>
              </a:rPr>
              <a:t>的动机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AFDFC2-4C03-067C-8B34-691B20E170C2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当前工具链主要瓶颈不在模型数量，而在统一入口、统一格式和统一实验记录不足。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86B508-C9AC-ADA4-7DF1-F75F4601E84C}"/>
              </a:ext>
            </a:extLst>
          </p:cNvPr>
          <p:cNvSpPr/>
          <p:nvPr/>
        </p:nvSpPr>
        <p:spPr>
          <a:xfrm>
            <a:off x="1016000" y="19685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模型入口分散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A34BCF-62A5-35B9-6565-3042A7A6A4B3}"/>
              </a:ext>
            </a:extLst>
          </p:cNvPr>
          <p:cNvSpPr/>
          <p:nvPr/>
        </p:nvSpPr>
        <p:spPr>
          <a:xfrm>
            <a:off x="3111500" y="19685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不同仓库、环境与脚本割裂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CD1AAB-27AF-3DC0-78A1-31C1B7A7CFBA}"/>
              </a:ext>
            </a:extLst>
          </p:cNvPr>
          <p:cNvSpPr/>
          <p:nvPr/>
        </p:nvSpPr>
        <p:spPr>
          <a:xfrm>
            <a:off x="1016000" y="30861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输出格式异构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236A36-B3DD-D029-F4D4-7CCA68F86AC9}"/>
              </a:ext>
            </a:extLst>
          </p:cNvPr>
          <p:cNvSpPr/>
          <p:nvPr/>
        </p:nvSpPr>
        <p:spPr>
          <a:xfrm>
            <a:off x="3111500" y="30861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pointmap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mesh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、动态轨迹难以横向比较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7C2F1A-7131-E99D-0992-5437C888075D}"/>
              </a:ext>
            </a:extLst>
          </p:cNvPr>
          <p:cNvSpPr/>
          <p:nvPr/>
        </p:nvSpPr>
        <p:spPr>
          <a:xfrm>
            <a:off x="1016000" y="42037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日志口径不一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E5EE4F-9DF3-CE0A-73C3-CE22821ACA5A}"/>
              </a:ext>
            </a:extLst>
          </p:cNvPr>
          <p:cNvSpPr/>
          <p:nvPr/>
        </p:nvSpPr>
        <p:spPr>
          <a:xfrm>
            <a:off x="3111500" y="42037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耗时、状态、失败原因缺少统一记录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759F86-FDF2-C852-DBDB-8D71889272F9}"/>
              </a:ext>
            </a:extLst>
          </p:cNvPr>
          <p:cNvSpPr/>
          <p:nvPr/>
        </p:nvSpPr>
        <p:spPr>
          <a:xfrm>
            <a:off x="1270000" y="5461000"/>
            <a:ext cx="9652000" cy="558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的作用：降低比较成本，并支撑支柱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A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的可验证性。</a:t>
            </a:r>
          </a:p>
        </p:txBody>
      </p:sp>
    </p:spTree>
    <p:extLst>
      <p:ext uri="{BB962C8B-B14F-4D97-AF65-F5344CB8AC3E}">
        <p14:creationId xmlns:p14="http://schemas.microsoft.com/office/powerpoint/2010/main" val="238821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研究目标：四个目标与两大支柱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D53B72-6650-1BD9-8D44-3173CF87C6DE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两大支柱不是并列堆砌：平台提供实验入口，候选架构提出可检验假设。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76E880-2303-28E5-8B05-FB5BD461CDA6}"/>
              </a:ext>
            </a:extLst>
          </p:cNvPr>
          <p:cNvSpPr/>
          <p:nvPr/>
        </p:nvSpPr>
        <p:spPr>
          <a:xfrm>
            <a:off x="762000" y="1968500"/>
            <a:ext cx="3175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A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0CF2D-F846-01BD-A6A8-05ED6B8074FA}"/>
              </a:ext>
            </a:extLst>
          </p:cNvPr>
          <p:cNvSpPr/>
          <p:nvPr/>
        </p:nvSpPr>
        <p:spPr>
          <a:xfrm>
            <a:off x="762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可检验的候选架构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X</a:t>
            </a:r>
            <a:endParaRPr lang="zh-CN" altLang="en-US" sz="15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8885F3-5198-6891-DA24-BF6ED03F4EFF}"/>
              </a:ext>
            </a:extLst>
          </p:cNvPr>
          <p:cNvSpPr/>
          <p:nvPr/>
        </p:nvSpPr>
        <p:spPr>
          <a:xfrm>
            <a:off x="762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校验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编排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EC85C6-B322-58A4-D9AE-4B24E459ADA0}"/>
              </a:ext>
            </a:extLst>
          </p:cNvPr>
          <p:cNvSpPr/>
          <p:nvPr/>
        </p:nvSpPr>
        <p:spPr>
          <a:xfrm>
            <a:off x="762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消融实验与对照验证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225E55-7C91-04AB-7FA6-FB6D3E96BF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2360856"/>
            <a:ext cx="3683000" cy="207278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8371AB1-1EA1-E371-A014-5A9738C55C8C}"/>
              </a:ext>
            </a:extLst>
          </p:cNvPr>
          <p:cNvSpPr/>
          <p:nvPr/>
        </p:nvSpPr>
        <p:spPr>
          <a:xfrm>
            <a:off x="8255000" y="1968500"/>
            <a:ext cx="3175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B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A87508-C785-70F0-A818-7F82874095FA}"/>
              </a:ext>
            </a:extLst>
          </p:cNvPr>
          <p:cNvSpPr/>
          <p:nvPr/>
        </p:nvSpPr>
        <p:spPr>
          <a:xfrm>
            <a:off x="8255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统一执行合同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0DB41D-679F-A161-E7C6-77F51B521AA2}"/>
              </a:ext>
            </a:extLst>
          </p:cNvPr>
          <p:cNvSpPr/>
          <p:nvPr/>
        </p:nvSpPr>
        <p:spPr>
          <a:xfrm>
            <a:off x="8255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7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模型接入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CCCA8C-6658-4A1E-9D47-02B5317B4379}"/>
              </a:ext>
            </a:extLst>
          </p:cNvPr>
          <p:cNvSpPr/>
          <p:nvPr/>
        </p:nvSpPr>
        <p:spPr>
          <a:xfrm>
            <a:off x="8255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远端调度与日志记录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2851AC-C6A5-9308-95DB-07CA5E86DE69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539B"/>
                </a:solidFill>
                <a:latin typeface="微软雅黑" panose="020B0503020204020204" pitchFamily="34" charset="-122"/>
              </a:rPr>
              <a:t>三条红线：候选不等于结论；不押注单一分支；只提供比较数据与评估入口。</a:t>
            </a:r>
          </a:p>
        </p:txBody>
      </p:sp>
    </p:spTree>
    <p:extLst>
      <p:ext uri="{BB962C8B-B14F-4D97-AF65-F5344CB8AC3E}">
        <p14:creationId xmlns:p14="http://schemas.microsoft.com/office/powerpoint/2010/main" val="192099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候选架构 </a:t>
            </a:r>
            <a:r>
              <a:rPr lang="en-US" altLang="zh-CN" sz="2800" b="1">
                <a:solidFill>
                  <a:schemeClr val="accent1"/>
                </a:solidFill>
              </a:rPr>
              <a:t>X</a:t>
            </a:r>
            <a:r>
              <a:rPr lang="zh-CN" altLang="en-US" sz="2800" b="1">
                <a:solidFill>
                  <a:schemeClr val="accent1"/>
                </a:solidFill>
              </a:rPr>
              <a:t>：整体设计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FB3797-F22E-AFF0-0D43-5F2314D6A388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由前馈模型、校验反馈、多专家编排和记忆管理组成，后续通过消融实验验证。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A3E849-7A26-0E8B-27AD-E34C44641B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7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校验模块：几何一致性反馈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17A571-EAC4-F953-7DAE-C2BA8A4269EE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校验模块将几何一致性信号反馈到前馈流程，用于发现失败案例并支撑修正策略。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8A7DAC-E20E-0097-4DF9-86B294B225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3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编排模块：多专家路由机制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2DE20D-A1C3-2DFA-85D6-099F237E68EC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编排模块不预设某个模型最优，而是依据任务与场景特征进行可配置组合。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C1B732-7597-AB60-FA23-07418DA040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76" y="1841500"/>
            <a:ext cx="6431248" cy="3619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9793F83-7B63-0BC1-7F7E-77648CA88792}"/>
              </a:ext>
            </a:extLst>
          </p:cNvPr>
          <p:cNvSpPr/>
          <p:nvPr/>
        </p:nvSpPr>
        <p:spPr>
          <a:xfrm>
            <a:off x="8509000" y="1905000"/>
            <a:ext cx="2794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核心机制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3B3AF9-BABD-F1E5-3E83-1933EE7BE768}"/>
              </a:ext>
            </a:extLst>
          </p:cNvPr>
          <p:cNvSpPr/>
          <p:nvPr/>
        </p:nvSpPr>
        <p:spPr>
          <a:xfrm>
            <a:off x="8509000" y="2336800"/>
            <a:ext cx="2794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任务输入：场景、序列、动态程度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F10D1E-8FB5-08F6-CB94-D5861B36F8A6}"/>
              </a:ext>
            </a:extLst>
          </p:cNvPr>
          <p:cNvSpPr/>
          <p:nvPr/>
        </p:nvSpPr>
        <p:spPr>
          <a:xfrm>
            <a:off x="8509000" y="2946400"/>
            <a:ext cx="2794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路由依据：失败信号与资源约束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6E57ED-A818-FF2A-87A1-21EA1E637ACE}"/>
              </a:ext>
            </a:extLst>
          </p:cNvPr>
          <p:cNvSpPr/>
          <p:nvPr/>
        </p:nvSpPr>
        <p:spPr>
          <a:xfrm>
            <a:off x="8509000" y="3556000"/>
            <a:ext cx="2794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输出：模型选择与聚合记录</a:t>
            </a:r>
          </a:p>
        </p:txBody>
      </p:sp>
    </p:spTree>
    <p:extLst>
      <p:ext uri="{BB962C8B-B14F-4D97-AF65-F5344CB8AC3E}">
        <p14:creationId xmlns:p14="http://schemas.microsoft.com/office/powerpoint/2010/main" val="28681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记忆模块：长序列状态管理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84C472-65B2-18E1-CEB2-17F13630A7AD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记忆模块面向长序列输入，统一短期状态、长期状态和检索记忆三类机制。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6F7978-D4AB-6589-171E-A90F5FF1C6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1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聚合管理平台：四层架构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7FC56-D67D-F0D4-E651-57C2FD4B77CF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聚合管理平台采用桌面前端、本地后端、远端调度和模型执行层的分层结构。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1B0108-D6B2-AAEE-8988-44F7B96ED4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2060FC6-436F-D6D2-68A6-BE4BD2631B80}"/>
              </a:ext>
            </a:extLst>
          </p:cNvPr>
          <p:cNvSpPr/>
          <p:nvPr/>
        </p:nvSpPr>
        <p:spPr>
          <a:xfrm>
            <a:off x="2032000" y="5778500"/>
            <a:ext cx="8128000" cy="355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400">
                <a:solidFill>
                  <a:srgbClr val="00539B"/>
                </a:solidFill>
                <a:latin typeface="微软雅黑" panose="020B0503020204020204" pitchFamily="34" charset="-122"/>
              </a:rPr>
              <a:t>平台 </a:t>
            </a:r>
            <a:r>
              <a:rPr lang="en-US" altLang="zh-CN" sz="1400">
                <a:solidFill>
                  <a:srgbClr val="00539B"/>
                </a:solidFill>
                <a:latin typeface="微软雅黑" panose="020B0503020204020204" pitchFamily="34" charset="-122"/>
              </a:rPr>
              <a:t>UI </a:t>
            </a:r>
            <a:r>
              <a:rPr lang="zh-CN" altLang="en-US" sz="1400">
                <a:solidFill>
                  <a:srgbClr val="00539B"/>
                </a:solidFill>
                <a:latin typeface="微软雅黑" panose="020B0503020204020204" pitchFamily="34" charset="-122"/>
              </a:rPr>
              <a:t>截图待版本稳定后补充，本页仅展示架构抽象。</a:t>
            </a:r>
          </a:p>
        </p:txBody>
      </p:sp>
    </p:spTree>
    <p:extLst>
      <p:ext uri="{BB962C8B-B14F-4D97-AF65-F5344CB8AC3E}">
        <p14:creationId xmlns:p14="http://schemas.microsoft.com/office/powerpoint/2010/main" val="385185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统一执行合同：跨模型抽象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60B90-2012-4799-47BC-86E65C0E519D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统一执行合同规定输入、状态、日志、输出和错误返回，是跨模型比较的基础。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FE0392-0E30-D9C3-9AEF-203BE3848E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2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跨模型实测：耗时差异明显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391DCC-7EBE-0DE3-A097-ECC5CC7064AA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远端视频输入下不同模型推理耗时差异明显，说明统一调度和可观测记录具有必要性。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E398BC-54C1-7054-26B9-18B0F2C486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82" y="1714500"/>
            <a:ext cx="7837237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01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实验设计：三层证据链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EB025C-EF80-5A7C-0F2F-D83793896901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实验设计围绕场景覆盖、校验消融、长序列评测和平台复用能力展开。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487477-C3DC-EAC2-79ED-08143A7415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7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创新点：问题驱动的四项设计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24BA6-EC17-0A21-E2B8-055C9551FA7F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创新点均从研究问题出发，后续通过对照实验验证，不提前宣称性能结论。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97A649-EFA0-CCAA-EE55-30D0F3870922}"/>
              </a:ext>
            </a:extLst>
          </p:cNvPr>
          <p:cNvSpPr/>
          <p:nvPr/>
        </p:nvSpPr>
        <p:spPr>
          <a:xfrm>
            <a:off x="762000" y="2032000"/>
            <a:ext cx="2286000" cy="4572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IP1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00B1E7-74B1-BC08-DED9-CDF2B680656F}"/>
              </a:ext>
            </a:extLst>
          </p:cNvPr>
          <p:cNvSpPr/>
          <p:nvPr/>
        </p:nvSpPr>
        <p:spPr>
          <a:xfrm>
            <a:off x="762000" y="2540000"/>
            <a:ext cx="228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校验作为架构组件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60AE66-94DB-DC3C-4683-CEC36D5E0C59}"/>
              </a:ext>
            </a:extLst>
          </p:cNvPr>
          <p:cNvSpPr/>
          <p:nvPr/>
        </p:nvSpPr>
        <p:spPr>
          <a:xfrm>
            <a:off x="3556000" y="2032000"/>
            <a:ext cx="2286000" cy="4572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IP2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5A4692-2D7C-FC2D-AF7F-D7027488BBB1}"/>
              </a:ext>
            </a:extLst>
          </p:cNvPr>
          <p:cNvSpPr/>
          <p:nvPr/>
        </p:nvSpPr>
        <p:spPr>
          <a:xfrm>
            <a:off x="3556000" y="2540000"/>
            <a:ext cx="228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异构多专家组合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8DF508-5AED-57D2-8B71-BD2377EB5B7B}"/>
              </a:ext>
            </a:extLst>
          </p:cNvPr>
          <p:cNvSpPr/>
          <p:nvPr/>
        </p:nvSpPr>
        <p:spPr>
          <a:xfrm>
            <a:off x="6350000" y="2032000"/>
            <a:ext cx="2286000" cy="4572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IP3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0D2BA-D591-B7D9-4D6E-2115A0A071E0}"/>
              </a:ext>
            </a:extLst>
          </p:cNvPr>
          <p:cNvSpPr/>
          <p:nvPr/>
        </p:nvSpPr>
        <p:spPr>
          <a:xfrm>
            <a:off x="6350000" y="2540000"/>
            <a:ext cx="228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长序列内存统一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E5681A-EF7F-ED16-6611-DA85719702BC}"/>
              </a:ext>
            </a:extLst>
          </p:cNvPr>
          <p:cNvSpPr/>
          <p:nvPr/>
        </p:nvSpPr>
        <p:spPr>
          <a:xfrm>
            <a:off x="9144000" y="2032000"/>
            <a:ext cx="2286000" cy="4572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IP4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ED5C52-EECF-9421-6777-BFE1F0665AF5}"/>
              </a:ext>
            </a:extLst>
          </p:cNvPr>
          <p:cNvSpPr/>
          <p:nvPr/>
        </p:nvSpPr>
        <p:spPr>
          <a:xfrm>
            <a:off x="9144000" y="2540000"/>
            <a:ext cx="228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统一聚合管理平台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2D16ED7-778C-699A-DC9E-E0B8C71D2E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53" y="4127500"/>
            <a:ext cx="270789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42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支柱 </a:t>
            </a:r>
            <a:r>
              <a:rPr lang="en-US" altLang="zh-CN" sz="2800" b="1">
                <a:solidFill>
                  <a:schemeClr val="accent1"/>
                </a:solidFill>
              </a:rPr>
              <a:t>A </a:t>
            </a:r>
            <a:r>
              <a:rPr lang="zh-CN" altLang="en-US" sz="2800" b="1">
                <a:solidFill>
                  <a:schemeClr val="accent1"/>
                </a:solidFill>
              </a:rPr>
              <a:t>进展：候选架构入口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CB6B22-2174-ADCA-5FDE-1D4AD3FD6980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A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已完成候选架构拆分与实验入口梳理，后续重点是消融验证。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86863C-C156-FEEF-C2C8-34FD981AE9DA}"/>
              </a:ext>
            </a:extLst>
          </p:cNvPr>
          <p:cNvSpPr/>
          <p:nvPr/>
        </p:nvSpPr>
        <p:spPr>
          <a:xfrm>
            <a:off x="889000" y="1905000"/>
            <a:ext cx="4572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已完成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F201E2-5A42-1818-D967-708D9253AA4D}"/>
              </a:ext>
            </a:extLst>
          </p:cNvPr>
          <p:cNvSpPr/>
          <p:nvPr/>
        </p:nvSpPr>
        <p:spPr>
          <a:xfrm>
            <a:off x="889000" y="23368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综述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18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页，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44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篇引用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120482-5D7B-A2C1-A9DA-9E8E1D9CCFA2}"/>
              </a:ext>
            </a:extLst>
          </p:cNvPr>
          <p:cNvSpPr/>
          <p:nvPr/>
        </p:nvSpPr>
        <p:spPr>
          <a:xfrm>
            <a:off x="889000" y="29464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KITTI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集成验证与实验规划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4231A7-D91C-343C-D6AD-74DCD2FDB4E2}"/>
              </a:ext>
            </a:extLst>
          </p:cNvPr>
          <p:cNvSpPr/>
          <p:nvPr/>
        </p:nvSpPr>
        <p:spPr>
          <a:xfrm>
            <a:off x="889000" y="35560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Critic / Composer / Memory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模块拆分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698114-CB18-EC93-55D0-0E318F018457}"/>
              </a:ext>
            </a:extLst>
          </p:cNvPr>
          <p:cNvSpPr/>
          <p:nvPr/>
        </p:nvSpPr>
        <p:spPr>
          <a:xfrm>
            <a:off x="6604000" y="1905000"/>
            <a:ext cx="4572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待验证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A48982-07F8-A528-BAF8-453E66D003D3}"/>
              </a:ext>
            </a:extLst>
          </p:cNvPr>
          <p:cNvSpPr/>
          <p:nvPr/>
        </p:nvSpPr>
        <p:spPr>
          <a:xfrm>
            <a:off x="6604000" y="23368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统一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ablation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benchmark</a:t>
            </a:r>
            <a:endParaRPr lang="zh-CN" altLang="en-US" sz="15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3FE4C1-FD17-55B7-B7C3-1A364CD883AD}"/>
              </a:ext>
            </a:extLst>
          </p:cNvPr>
          <p:cNvSpPr/>
          <p:nvPr/>
        </p:nvSpPr>
        <p:spPr>
          <a:xfrm>
            <a:off x="6604000" y="29464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长序列与动态场景对照组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60C0CF0-C7AB-BE86-1B46-D7E09586FD76}"/>
              </a:ext>
            </a:extLst>
          </p:cNvPr>
          <p:cNvSpPr/>
          <p:nvPr/>
        </p:nvSpPr>
        <p:spPr>
          <a:xfrm>
            <a:off x="6604000" y="35560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避免把计划写成既有结果</a:t>
            </a:r>
          </a:p>
        </p:txBody>
      </p:sp>
    </p:spTree>
    <p:extLst>
      <p:ext uri="{BB962C8B-B14F-4D97-AF65-F5344CB8AC3E}">
        <p14:creationId xmlns:p14="http://schemas.microsoft.com/office/powerpoint/2010/main" val="335657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支柱 </a:t>
            </a:r>
            <a:r>
              <a:rPr lang="en-US" altLang="zh-CN" sz="2800" b="1">
                <a:solidFill>
                  <a:schemeClr val="accent1"/>
                </a:solidFill>
              </a:rPr>
              <a:t>B </a:t>
            </a:r>
            <a:r>
              <a:rPr lang="zh-CN" altLang="en-US" sz="2800" b="1">
                <a:solidFill>
                  <a:schemeClr val="accent1"/>
                </a:solidFill>
              </a:rPr>
              <a:t>进展：平台工程基础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C2F24-3DD6-6C11-83C5-4E300CF0A01B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已具备多模型接入、统一执行合同和远端调度基础，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UI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截图待稳定后补充。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81FD9-11E9-1A00-27B7-7CC9DD0E2660}"/>
              </a:ext>
            </a:extLst>
          </p:cNvPr>
          <p:cNvSpPr/>
          <p:nvPr/>
        </p:nvSpPr>
        <p:spPr>
          <a:xfrm>
            <a:off x="889000" y="1905000"/>
            <a:ext cx="4572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工程基础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05E388-DAD3-AAFB-7F32-31C42DB1F4BC}"/>
              </a:ext>
            </a:extLst>
          </p:cNvPr>
          <p:cNvSpPr/>
          <p:nvPr/>
        </p:nvSpPr>
        <p:spPr>
          <a:xfrm>
            <a:off x="889000" y="23368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7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个模型接入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823BBC-6D32-1DAD-311B-4E5AFB7A4D27}"/>
              </a:ext>
            </a:extLst>
          </p:cNvPr>
          <p:cNvSpPr/>
          <p:nvPr/>
        </p:nvSpPr>
        <p:spPr>
          <a:xfrm>
            <a:off x="889000" y="29464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6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项验证通过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4D1C47-5CA8-C232-C0EB-8E8A6CEC950D}"/>
              </a:ext>
            </a:extLst>
          </p:cNvPr>
          <p:cNvSpPr/>
          <p:nvPr/>
        </p:nvSpPr>
        <p:spPr>
          <a:xfrm>
            <a:off x="889000" y="35560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约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15000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行代码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D3E8B9-3C34-3376-647D-DE3BE43A5E84}"/>
              </a:ext>
            </a:extLst>
          </p:cNvPr>
          <p:cNvSpPr/>
          <p:nvPr/>
        </p:nvSpPr>
        <p:spPr>
          <a:xfrm>
            <a:off x="6604000" y="1905000"/>
            <a:ext cx="4572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平台证据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045025-2DB1-AE6B-D1C0-FB346382C710}"/>
              </a:ext>
            </a:extLst>
          </p:cNvPr>
          <p:cNvSpPr/>
          <p:nvPr/>
        </p:nvSpPr>
        <p:spPr>
          <a:xfrm>
            <a:off x="6604000" y="23368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文件上传、远端执行、日志记录、结果回传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ADB97D-63B0-FB9C-8C24-7CEB309EBA95}"/>
              </a:ext>
            </a:extLst>
          </p:cNvPr>
          <p:cNvSpPr/>
          <p:nvPr/>
        </p:nvSpPr>
        <p:spPr>
          <a:xfrm>
            <a:off x="6604000" y="29464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UI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暂不展示，避免未定稿界面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40C1AE-2358-42AA-C868-B0191E7A58BC}"/>
              </a:ext>
            </a:extLst>
          </p:cNvPr>
          <p:cNvSpPr/>
          <p:nvPr/>
        </p:nvSpPr>
        <p:spPr>
          <a:xfrm>
            <a:off x="6604000" y="3556000"/>
            <a:ext cx="4572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后续补充稳定版截图</a:t>
            </a:r>
          </a:p>
        </p:txBody>
      </p:sp>
    </p:spTree>
    <p:extLst>
      <p:ext uri="{BB962C8B-B14F-4D97-AF65-F5344CB8AC3E}">
        <p14:creationId xmlns:p14="http://schemas.microsoft.com/office/powerpoint/2010/main" val="1000809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风险分析：边界与对策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86F69A-8850-9FEB-8FDA-6B13D7EA7703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风险可控的前提是明确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claim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边界：候选方案必须由对照实验支持。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CBAE9A-874F-DD63-A87D-19ABA4C67936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实验风险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6F92E4-CB8F-B916-F416-926F4CA03E07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性能波动或提升不稳定
设置强基线与消融组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C0D3F5-62A2-1749-2760-54571CA01E7A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工程风险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AAB93C-8F26-04A6-D9B4-BB647EF61B0B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模型适配与资源受限
保留离线执行方案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62E6DC-C9A9-5607-EBD1-605C131D6DD0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表达风险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D0D91C-EB67-0AFF-3828-8A4F685ED74D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避免计划写成结果
统一使用候选与评估表述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CD7A8AD-CFC2-2762-9233-2D0035CEBF32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进度风险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A3E5C1-7AD5-2FB5-BA28-89E7D7DB7873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平台与论文并行推进
按阶段锁定交付物</a:t>
            </a:r>
          </a:p>
        </p:txBody>
      </p:sp>
    </p:spTree>
    <p:extLst>
      <p:ext uri="{BB962C8B-B14F-4D97-AF65-F5344CB8AC3E}">
        <p14:creationId xmlns:p14="http://schemas.microsoft.com/office/powerpoint/2010/main" val="65228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D12771-98B6-AD71-871C-DC2D3D2E9FF3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539B"/>
                </a:solidFill>
                <a:latin typeface="微软雅黑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C56325-9F17-4244-E2F4-ABBC23FCDB76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23324B"/>
                </a:solidFill>
                <a:latin typeface="微软雅黑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23324B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23324B"/>
                </a:solidFill>
                <a:latin typeface="微软雅黑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99159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Microsoft Office PowerPoint</Application>
  <PresentationFormat>宽屏</PresentationFormat>
  <Paragraphs>143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2026-05-17T15:36:57Z</dcterms:created>
  <dcterms:modified xsi:type="dcterms:W3CDTF">2026-05-17T15:36:57Z</dcterms:modified>
</cp:coreProperties>
</file>