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58" r:id="rId3"/>
    <p:sldId id="327" r:id="rId4"/>
    <p:sldId id="281" r:id="rId5"/>
    <p:sldId id="321" r:id="rId6"/>
    <p:sldId id="307" r:id="rId7"/>
    <p:sldId id="328" r:id="rId8"/>
    <p:sldId id="298" r:id="rId9"/>
    <p:sldId id="329" r:id="rId10"/>
    <p:sldId id="330" r:id="rId11"/>
    <p:sldId id="331" r:id="rId12"/>
    <p:sldId id="332" r:id="rId13"/>
    <p:sldId id="333" r:id="rId14"/>
    <p:sldId id="323" r:id="rId15"/>
    <p:sldId id="269" r:id="rId16"/>
    <p:sldId id="334" r:id="rId17"/>
    <p:sldId id="335" r:id="rId18"/>
    <p:sldId id="336" r:id="rId19"/>
    <p:sldId id="337" r:id="rId20"/>
    <p:sldId id="294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7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AAF10-7BD2-6FAB-AD3B-2E8F519FE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8C25094-BBA8-1E1E-3497-F1FF74FCC4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7267D5-4115-FE9D-0787-7C9F48CB0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BAFDE4-2151-E955-22B1-B8A716058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4441D9-4743-C861-DBED-89F54CDC6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6486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88FB1D-4201-AC33-FB68-1EA958375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535059-B207-6697-7270-88C373A10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9E932B-3C82-B733-D365-451A61208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F6E3D3-1DC3-9342-133D-283784BF0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68D57D-E969-D1BE-FC1A-733E12FFF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03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412313-52AA-5A26-4D38-84F41C5D5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674A9E3-093F-811F-F562-361552A9EB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3C03FE-4FC5-8B52-04B8-B92ADB13A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F17889-A226-7A15-65F9-BC072E0D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E75F00-A5A3-9D8F-F7AD-DD051B918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304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75EBC2-DBDF-62A3-1702-0E19905A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9F14FF-7775-1EEF-3D9C-D58A4D5D36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238A19-E355-C871-16C0-DE609D81B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C03218-587A-0C76-1C9B-60E56756D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4EF52C6-6A4A-1A98-9A74-5A7F898D7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492FCA-AABB-128A-62A7-1F6F9A75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85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91D3CD-2410-A14C-B5F9-A1E5443D3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1E1508-2FA9-D083-7B43-4EFAA5122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B9884C-2E32-F0C5-8477-5877B087BC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BEB4A4-E896-3C84-0355-78956A185E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75873D-51FC-DFB2-E901-BA06AE0F51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884DDEC-6360-9F1D-231E-9D8F1D28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AFB91FA-2C7A-96F1-388C-4C68A658D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D4D464A-E11C-66C0-6518-3AA3B3F30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65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3F3C30-9DE8-1907-D80C-25D97D2AB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D844E09-7799-7D8C-06A5-14A85E59A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EA04E08-6668-3156-3B6C-FBE6C9247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8DBAD41-3149-EADC-C9ED-F9207048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645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0D3901A-F81D-E96E-DB31-C1A60247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8A1527-BE42-AB38-5F60-E11E4B8D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862C15-B300-5D78-32F3-FAAFEE9F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44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F52716-56A5-A6E8-8FCD-4CE2FAFE3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523257B-5AD8-184F-5757-B0C1466E5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54913C-CCB1-17BB-8FB5-622EC926ED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73761C-2FCA-0E9B-F761-23FF3FE47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563B5B-EE5C-9068-754B-B4A372101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9EE728-B4ED-8162-DE6C-E6E1C04AF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4201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49605-6E1D-379F-3061-C62FB4244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984C66-7568-A5E9-8212-C808119AD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D115EA4-DF76-CFD0-E470-8CD832766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ADD8C1-C6AB-8C49-5299-51524CBC9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5DD0C5-53E3-9339-1D9F-38E6ADD48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337806-C624-1D8A-9215-22F0B135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202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72FC31-2D0E-8E60-F74A-2A73B7833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BFAAB1D-00D1-40EC-4428-7B8CB20C6F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3FC6F0-6919-127B-73B1-FFA09C8D4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053E4-2E9E-31C7-6ED5-02A3F89B8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860451-FB1D-9F55-3D3C-F1B300793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7824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A72C59-6661-6C81-EB09-797D537FD6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171CBC-836B-4722-7533-4662C9725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612486-A5BD-B958-D31E-2F4A9711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4D11C8-6306-6639-BC90-E96A0DA56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2F4256-024D-4DEF-CE57-71431890A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62169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1354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D7CB7B3-1FF5-E6E5-5B0F-58044A6C0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A0AC364-DEF0-2531-F871-BEBE4F954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A01226-00C7-CEAC-8205-6E709E6BB9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9D2C28-59CA-4AB3-9353-841524E544DF}" type="datetimeFigureOut">
              <a:rPr lang="zh-CN" altLang="en-US" smtClean="0"/>
              <a:t>2026/5/17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07A2E0-4B06-DBB3-42F9-CC9C3CEC55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669E1B-3F2D-4460-89F7-315C58880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3CCCC-5C39-4432-B2E1-4F7F9ECE33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7108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3C712-3CEF-6C6F-815D-BF40CE6AB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DC642186-E975-96D8-8408-C4456DEE3F5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1C9DA934-52C4-4CB2-4D02-075830AA3AF2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b="1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08D48A3-B931-466F-18C0-A1C304D1FEF8}"/>
              </a:ext>
            </a:extLst>
          </p:cNvPr>
          <p:cNvSpPr txBox="1"/>
          <p:nvPr/>
        </p:nvSpPr>
        <p:spPr>
          <a:xfrm>
            <a:off x="685800" y="1366919"/>
            <a:ext cx="10835640" cy="2576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r>
              <a:rPr lang="zh-CN" altLang="en-US" sz="4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面向前馈式三维重建的
候选架构设计与统一聚合管理平台</a:t>
            </a:r>
            <a:endParaRPr lang="zh-CN" altLang="en-US" sz="4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B2EA678-3420-5C54-B4C3-C8CAD209A7CE}"/>
              </a:ext>
            </a:extLst>
          </p:cNvPr>
          <p:cNvSpPr/>
          <p:nvPr/>
        </p:nvSpPr>
        <p:spPr>
          <a:xfrm>
            <a:off x="4839038" y="4461335"/>
            <a:ext cx="2768614" cy="5847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A1E6CA0-D601-DDA2-0D66-6669E5F33476}"/>
              </a:ext>
            </a:extLst>
          </p:cNvPr>
          <p:cNvSpPr/>
          <p:nvPr/>
        </p:nvSpPr>
        <p:spPr>
          <a:xfrm>
            <a:off x="3768924" y="4454012"/>
            <a:ext cx="1685122" cy="584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3175" cap="flat" cmpd="sng" algn="ctr">
            <a:solidFill>
              <a:srgbClr val="0C56AE"/>
            </a:solidFill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>
              <a:defRPr/>
            </a:pPr>
            <a:r>
              <a:rPr lang="zh-CN" altLang="en-US" sz="3200" b="1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</a:t>
            </a:r>
            <a:endParaRPr lang="zh-CN" altLang="en-US" sz="3200" b="1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92BA2D-3982-DE10-3446-DA44D71D602C}"/>
              </a:ext>
            </a:extLst>
          </p:cNvPr>
          <p:cNvSpPr txBox="1"/>
          <p:nvPr/>
        </p:nvSpPr>
        <p:spPr>
          <a:xfrm>
            <a:off x="5955943" y="4461337"/>
            <a:ext cx="10454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endParaRPr lang="zh-CN" altLang="en-US" sz="32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3437287-155F-B97B-812D-904A5FB34C93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05B4F-2BD2-017A-D833-AFB9CBAC897A}"/>
              </a:ext>
            </a:extLst>
          </p:cNvPr>
          <p:cNvSpPr txBox="1"/>
          <p:nvPr/>
        </p:nvSpPr>
        <p:spPr>
          <a:xfrm>
            <a:off x="4464784" y="10234"/>
            <a:ext cx="32624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24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硕士学位论文开题报告</a:t>
            </a:r>
            <a:endParaRPr lang="zh-CN" altLang="en-US" sz="24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0993921-4A01-0A89-1E61-7A819B4A1E2F}"/>
              </a:ext>
            </a:extLst>
          </p:cNvPr>
          <p:cNvSpPr txBox="1"/>
          <p:nvPr/>
        </p:nvSpPr>
        <p:spPr>
          <a:xfrm>
            <a:off x="5243046" y="5238426"/>
            <a:ext cx="170591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</a:t>
            </a:r>
            <a:r>
              <a:rPr lang="en-US" altLang="zh-CN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2400">
                <a:ln w="0"/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</a:t>
            </a:r>
            <a:endParaRPr lang="zh-CN" altLang="en-US" sz="2400" dirty="0">
              <a:ln w="0"/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A13CF40-C608-8D36-562A-C2261D580099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DD9BF1-26C1-D8B1-4EF4-E6DFBF680AE0}"/>
              </a:ext>
            </a:extLst>
          </p:cNvPr>
          <p:cNvSpPr txBox="1"/>
          <p:nvPr/>
        </p:nvSpPr>
        <p:spPr>
          <a:xfrm>
            <a:off x="4310896" y="5721158"/>
            <a:ext cx="357020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088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89">
            <a:extLst>
              <a:ext uri="{FF2B5EF4-FFF2-40B4-BE49-F238E27FC236}">
                <a16:creationId xmlns:a16="http://schemas.microsoft.com/office/drawing/2014/main" id="{E9CAE631-11B1-6B01-385A-60C92A6A83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 rot="10800000">
            <a:off x="-8340" y="1"/>
            <a:ext cx="12200340" cy="2868908"/>
          </a:xfrm>
          <a:prstGeom prst="rect">
            <a:avLst/>
          </a:prstGeom>
        </p:spPr>
      </p:pic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8850DB52-E07B-E457-2D16-03191921B357}"/>
              </a:ext>
            </a:extLst>
          </p:cNvPr>
          <p:cNvSpPr/>
          <p:nvPr/>
        </p:nvSpPr>
        <p:spPr>
          <a:xfrm flipH="1">
            <a:off x="2579592" y="1079699"/>
            <a:ext cx="8422734" cy="5146730"/>
          </a:xfrm>
          <a:prstGeom prst="roundRect">
            <a:avLst>
              <a:gd name="adj" fmla="val 841"/>
            </a:avLst>
          </a:prstGeom>
          <a:gradFill flip="none" rotWithShape="1">
            <a:gsLst>
              <a:gs pos="25000">
                <a:schemeClr val="accent3"/>
              </a:gs>
              <a:gs pos="99083">
                <a:schemeClr val="bg1"/>
              </a:gs>
            </a:gsLst>
            <a:lin ang="5400000" scaled="1"/>
            <a:tileRect/>
          </a:gradFill>
          <a:ln w="3175" cap="flat" cmpd="sng" algn="ctr">
            <a:gradFill flip="none" rotWithShape="1">
              <a:gsLst>
                <a:gs pos="0">
                  <a:schemeClr val="accent3"/>
                </a:gs>
                <a:gs pos="100000">
                  <a:schemeClr val="accent1"/>
                </a:gs>
              </a:gsLst>
              <a:lin ang="10800000" scaled="1"/>
              <a:tileRect/>
            </a:gradFill>
            <a:prstDash val="solid"/>
            <a:miter lim="800000"/>
          </a:ln>
          <a:effectLst>
            <a:outerShdw blurRad="304800" sx="102000" sy="102000" algn="ctr" rotWithShape="0">
              <a:srgbClr val="0B4FA1">
                <a:lumMod val="20000"/>
                <a:lumOff val="80000"/>
                <a:alpha val="16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A03CD020-8E49-BC23-82FE-80B9ABCA3972}"/>
              </a:ext>
            </a:extLst>
          </p:cNvPr>
          <p:cNvSpPr/>
          <p:nvPr/>
        </p:nvSpPr>
        <p:spPr>
          <a:xfrm>
            <a:off x="-100120" y="-79828"/>
            <a:ext cx="4207663" cy="7017657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5400000" scaled="1"/>
          </a:gra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>
            <a:outerShdw blurRad="165100" dist="38100" dir="2700000" algn="tl" rotWithShape="0">
              <a:sysClr val="window" lastClr="FFFFFF">
                <a:lumMod val="85000"/>
                <a:alpha val="35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72" name="图片 71">
            <a:extLst>
              <a:ext uri="{FF2B5EF4-FFF2-40B4-BE49-F238E27FC236}">
                <a16:creationId xmlns:a16="http://schemas.microsoft.com/office/drawing/2014/main" id="{9EEBD94C-B44D-2A8B-AC9A-D4C40C3FAC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0" r="29859"/>
          <a:stretch/>
        </p:blipFill>
        <p:spPr>
          <a:xfrm>
            <a:off x="-79458" y="-79829"/>
            <a:ext cx="4215566" cy="7017657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F8FAB1F6-64B4-4CA9-ADD3-B24B1FA3D58D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20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页版本按 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15-20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分钟组织，后续可压缩为答辩短版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4A77E9-7ABA-FEDF-CF26-DBA646F9EAB4}"/>
              </a:ext>
            </a:extLst>
          </p:cNvPr>
          <p:cNvSpPr/>
          <p:nvPr/>
        </p:nvSpPr>
        <p:spPr>
          <a:xfrm>
            <a:off x="3175000" y="1968500"/>
            <a:ext cx="889000" cy="4826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01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0E2700-3E8D-6739-2CD8-A568DB33ED19}"/>
              </a:ext>
            </a:extLst>
          </p:cNvPr>
          <p:cNvSpPr/>
          <p:nvPr/>
        </p:nvSpPr>
        <p:spPr>
          <a:xfrm>
            <a:off x="4191000" y="1968500"/>
            <a:ext cx="46990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研究背景与问题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9E7006-5480-AA1F-EFFF-F0503DC0EE4E}"/>
              </a:ext>
            </a:extLst>
          </p:cNvPr>
          <p:cNvSpPr/>
          <p:nvPr/>
        </p:nvSpPr>
        <p:spPr>
          <a:xfrm>
            <a:off x="3175000" y="2667000"/>
            <a:ext cx="889000" cy="4826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02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3936E63-86CD-F674-E89C-7E1DC7CB7312}"/>
              </a:ext>
            </a:extLst>
          </p:cNvPr>
          <p:cNvSpPr/>
          <p:nvPr/>
        </p:nvSpPr>
        <p:spPr>
          <a:xfrm>
            <a:off x="4191000" y="2667000"/>
            <a:ext cx="46990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研究现状与目标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830FF5-6230-FE00-0944-56CD57869F14}"/>
              </a:ext>
            </a:extLst>
          </p:cNvPr>
          <p:cNvSpPr/>
          <p:nvPr/>
        </p:nvSpPr>
        <p:spPr>
          <a:xfrm>
            <a:off x="3175000" y="3365500"/>
            <a:ext cx="889000" cy="4826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03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FF2C63-E2CD-D352-3437-287EF157E9E0}"/>
              </a:ext>
            </a:extLst>
          </p:cNvPr>
          <p:cNvSpPr/>
          <p:nvPr/>
        </p:nvSpPr>
        <p:spPr>
          <a:xfrm>
            <a:off x="4191000" y="3365500"/>
            <a:ext cx="46990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候选架构与平台设计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E6A8865-57B7-1963-778F-C73B17D789AD}"/>
              </a:ext>
            </a:extLst>
          </p:cNvPr>
          <p:cNvSpPr/>
          <p:nvPr/>
        </p:nvSpPr>
        <p:spPr>
          <a:xfrm>
            <a:off x="3175000" y="4064000"/>
            <a:ext cx="889000" cy="4826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04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086128-DC64-E23D-FB64-E417CC3C9526}"/>
              </a:ext>
            </a:extLst>
          </p:cNvPr>
          <p:cNvSpPr/>
          <p:nvPr/>
        </p:nvSpPr>
        <p:spPr>
          <a:xfrm>
            <a:off x="4191000" y="4064000"/>
            <a:ext cx="46990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实验计划与进展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4787AD9-11E7-7461-7227-9012F46945E1}"/>
              </a:ext>
            </a:extLst>
          </p:cNvPr>
          <p:cNvSpPr/>
          <p:nvPr/>
        </p:nvSpPr>
        <p:spPr>
          <a:xfrm>
            <a:off x="3175000" y="4762500"/>
            <a:ext cx="889000" cy="4826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05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B9D284-6510-B6A9-1830-B22ADE53912C}"/>
              </a:ext>
            </a:extLst>
          </p:cNvPr>
          <p:cNvSpPr/>
          <p:nvPr/>
        </p:nvSpPr>
        <p:spPr>
          <a:xfrm>
            <a:off x="4191000" y="4762500"/>
            <a:ext cx="46990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风险边界与总结</a:t>
            </a:r>
          </a:p>
        </p:txBody>
      </p:sp>
    </p:spTree>
    <p:extLst>
      <p:ext uri="{BB962C8B-B14F-4D97-AF65-F5344CB8AC3E}">
        <p14:creationId xmlns:p14="http://schemas.microsoft.com/office/powerpoint/2010/main" val="255191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6A3DB-04B7-0F28-5E8A-F56BFA60F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C423CAF-2C04-A115-DAA8-7FE393C84F1F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01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40D8A0FD-5522-688B-0919-03AA88600BB6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研究背景：</a:t>
            </a:r>
            <a:r>
              <a:rPr lang="en-US" altLang="zh-CN" sz="2800" b="1">
                <a:solidFill>
                  <a:schemeClr val="accent1"/>
                </a:solidFill>
              </a:rPr>
              <a:t>3R </a:t>
            </a:r>
            <a:r>
              <a:rPr lang="zh-CN" altLang="en-US" sz="2800" b="1">
                <a:solidFill>
                  <a:schemeClr val="accent1"/>
                </a:solidFill>
              </a:rPr>
              <a:t>方向快速演进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6CFCDE-9D9B-0889-FF77-2643A5A6D955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304EF7-23D8-4ECC-8339-8E5B48E0F576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DUSt3R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之后，前馈式三维重建从单模型能力扩展到长序列、动态场景与测试时机制。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576EE74-C939-DC8D-9F95-00966784E806}"/>
              </a:ext>
            </a:extLst>
          </p:cNvPr>
          <p:cNvSpPr/>
          <p:nvPr/>
        </p:nvSpPr>
        <p:spPr>
          <a:xfrm>
            <a:off x="6350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2024
DUSt3R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02ACE6C-89A6-C458-EE22-C4037907062C}"/>
              </a:ext>
            </a:extLst>
          </p:cNvPr>
          <p:cNvSpPr/>
          <p:nvPr/>
        </p:nvSpPr>
        <p:spPr>
          <a:xfrm>
            <a:off x="6350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pose-free
pointmap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66FF7D6-BD37-B73A-83A4-A69DF1C2F13D}"/>
              </a:ext>
            </a:extLst>
          </p:cNvPr>
          <p:cNvSpPr/>
          <p:nvPr/>
        </p:nvSpPr>
        <p:spPr>
          <a:xfrm>
            <a:off x="24765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2024
MASt3R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2E05995-0A78-C753-0B8D-5184720F5AE6}"/>
              </a:ext>
            </a:extLst>
          </p:cNvPr>
          <p:cNvSpPr/>
          <p:nvPr/>
        </p:nvSpPr>
        <p:spPr>
          <a:xfrm>
            <a:off x="24765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3D grounding
matching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D0A8C57-F3AD-B14C-AB08-C478AB217A81}"/>
              </a:ext>
            </a:extLst>
          </p:cNvPr>
          <p:cNvSpPr/>
          <p:nvPr/>
        </p:nvSpPr>
        <p:spPr>
          <a:xfrm>
            <a:off x="43180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2025
Fast3R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99534A5-F114-9EEE-03AD-2E113CB42409}"/>
              </a:ext>
            </a:extLst>
          </p:cNvPr>
          <p:cNvSpPr/>
          <p:nvPr/>
        </p:nvSpPr>
        <p:spPr>
          <a:xfrm>
            <a:off x="43180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many-view
single forward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DC267D4-51F5-488E-EB9D-CF7E82EFF4BA}"/>
              </a:ext>
            </a:extLst>
          </p:cNvPr>
          <p:cNvSpPr/>
          <p:nvPr/>
        </p:nvSpPr>
        <p:spPr>
          <a:xfrm>
            <a:off x="61595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2024-25
MonST3R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BD38A4E-6A8A-D5C7-4960-012A3964248B}"/>
              </a:ext>
            </a:extLst>
          </p:cNvPr>
          <p:cNvSpPr/>
          <p:nvPr/>
        </p:nvSpPr>
        <p:spPr>
          <a:xfrm>
            <a:off x="61595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video / dynamic
4D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339080D-376A-E975-4B63-EA76CEEE2503}"/>
              </a:ext>
            </a:extLst>
          </p:cNvPr>
          <p:cNvSpPr/>
          <p:nvPr/>
        </p:nvSpPr>
        <p:spPr>
          <a:xfrm>
            <a:off x="80010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2025
Spann3R / CUT3R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3A3EAAA-7D96-E827-573A-1B30BD47941E}"/>
              </a:ext>
            </a:extLst>
          </p:cNvPr>
          <p:cNvSpPr/>
          <p:nvPr/>
        </p:nvSpPr>
        <p:spPr>
          <a:xfrm>
            <a:off x="80010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long-sequence
memory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F046FCB-3DE7-4D1D-0307-DF2AD2A6839A}"/>
              </a:ext>
            </a:extLst>
          </p:cNvPr>
          <p:cNvSpPr/>
          <p:nvPr/>
        </p:nvSpPr>
        <p:spPr>
          <a:xfrm>
            <a:off x="9842500" y="2095500"/>
            <a:ext cx="1397000" cy="635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300" b="1">
                <a:solidFill>
                  <a:srgbClr val="00539B"/>
                </a:solidFill>
                <a:latin typeface="微软雅黑" panose="020B0503020204020204" pitchFamily="34" charset="-122"/>
              </a:rPr>
              <a:t>2025
Test3R / TTT3R</a:t>
            </a:r>
            <a:endParaRPr lang="zh-CN" altLang="en-US" sz="1300" b="1">
              <a:solidFill>
                <a:srgbClr val="00539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90351DD-74D5-E44E-5864-A13A340A886D}"/>
              </a:ext>
            </a:extLst>
          </p:cNvPr>
          <p:cNvSpPr/>
          <p:nvPr/>
        </p:nvSpPr>
        <p:spPr>
          <a:xfrm>
            <a:off x="9842500" y="2857500"/>
            <a:ext cx="1397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200">
                <a:solidFill>
                  <a:srgbClr val="23324B"/>
                </a:solidFill>
                <a:latin typeface="微软雅黑" panose="020B0503020204020204" pitchFamily="34" charset="-122"/>
              </a:rPr>
              <a:t>test-time
mechanisms</a:t>
            </a:r>
            <a:endParaRPr lang="zh-CN" altLang="en-US" sz="12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096F10B-EE81-3A22-5706-CDAE4484E85B}"/>
              </a:ext>
            </a:extLst>
          </p:cNvPr>
          <p:cNvSpPr/>
          <p:nvPr/>
        </p:nvSpPr>
        <p:spPr>
          <a:xfrm>
            <a:off x="889000" y="4318000"/>
            <a:ext cx="104140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2200" b="1">
                <a:solidFill>
                  <a:srgbClr val="00539B"/>
                </a:solidFill>
                <a:latin typeface="微软雅黑" panose="020B0503020204020204" pitchFamily="34" charset="-122"/>
              </a:rPr>
              <a:t>研究缺口：比较口径、复现入口与跨模型实验记录尚未统一。</a:t>
            </a:r>
          </a:p>
        </p:txBody>
      </p:sp>
    </p:spTree>
    <p:extLst>
      <p:ext uri="{BB962C8B-B14F-4D97-AF65-F5344CB8AC3E}">
        <p14:creationId xmlns:p14="http://schemas.microsoft.com/office/powerpoint/2010/main" val="3502628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1C7-72C6-1029-14A1-14DA5782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92C25290-25CA-9409-7329-785426950541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16D3D87-A82F-7CBB-9ECA-5489B69CC28D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问题提出：失败模式与未解问题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11329FD-83B1-D736-F94F-52EA4C1D57FC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F28BC7C-FD5D-713B-792D-FC116B122C27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本研究不押注单一分支，而是围绕失败模式建立候选架构与统一评测入口。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27707AB-6D62-49D0-1461-40322D86BC49}"/>
              </a:ext>
            </a:extLst>
          </p:cNvPr>
          <p:cNvSpPr/>
          <p:nvPr/>
        </p:nvSpPr>
        <p:spPr>
          <a:xfrm>
            <a:off x="698500" y="2095500"/>
            <a:ext cx="1587500" cy="10414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几何验证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999DD50-BD2D-7B5D-FAB9-05CFA98F50A8}"/>
              </a:ext>
            </a:extLst>
          </p:cNvPr>
          <p:cNvSpPr/>
          <p:nvPr/>
        </p:nvSpPr>
        <p:spPr>
          <a:xfrm>
            <a:off x="2349500" y="2095500"/>
            <a:ext cx="3810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尺度漂移、重投影误差
缺少统一反馈机制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78E295-1646-BC6C-836F-302F28ABBD7F}"/>
              </a:ext>
            </a:extLst>
          </p:cNvPr>
          <p:cNvSpPr/>
          <p:nvPr/>
        </p:nvSpPr>
        <p:spPr>
          <a:xfrm>
            <a:off x="6477000" y="2095500"/>
            <a:ext cx="1587500" cy="10414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长序列内存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D5D81DB-9451-2E70-5D5E-8164F18DC672}"/>
              </a:ext>
            </a:extLst>
          </p:cNvPr>
          <p:cNvSpPr/>
          <p:nvPr/>
        </p:nvSpPr>
        <p:spPr>
          <a:xfrm>
            <a:off x="8128000" y="2095500"/>
            <a:ext cx="3810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跨片段状态衰减
一致性难保持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EBD9E3D-FEE9-78AF-27C0-E70B7D261698}"/>
              </a:ext>
            </a:extLst>
          </p:cNvPr>
          <p:cNvSpPr/>
          <p:nvPr/>
        </p:nvSpPr>
        <p:spPr>
          <a:xfrm>
            <a:off x="698500" y="3746500"/>
            <a:ext cx="1587500" cy="10414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多专家组合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A88178C-0E63-85D7-4E59-A4C264BE1B76}"/>
              </a:ext>
            </a:extLst>
          </p:cNvPr>
          <p:cNvSpPr/>
          <p:nvPr/>
        </p:nvSpPr>
        <p:spPr>
          <a:xfrm>
            <a:off x="2349500" y="3746500"/>
            <a:ext cx="3810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模型能力互补
但缺少编排接口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E4BC47-10B9-BB35-F2C5-246EFBAA2E5B}"/>
              </a:ext>
            </a:extLst>
          </p:cNvPr>
          <p:cNvSpPr/>
          <p:nvPr/>
        </p:nvSpPr>
        <p:spPr>
          <a:xfrm>
            <a:off x="6477000" y="3746500"/>
            <a:ext cx="1587500" cy="10414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统一平台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83446DF-1FAE-F371-C7FE-BF26F4D2E4EE}"/>
              </a:ext>
            </a:extLst>
          </p:cNvPr>
          <p:cNvSpPr/>
          <p:nvPr/>
        </p:nvSpPr>
        <p:spPr>
          <a:xfrm>
            <a:off x="8128000" y="3746500"/>
            <a:ext cx="3810000" cy="104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入口、格式、日志
难以横向比较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9769BF5-BE81-690A-C33E-E8B7B65D862E}"/>
              </a:ext>
            </a:extLst>
          </p:cNvPr>
          <p:cNvSpPr/>
          <p:nvPr/>
        </p:nvSpPr>
        <p:spPr>
          <a:xfrm>
            <a:off x="1079500" y="5524500"/>
            <a:ext cx="10033000" cy="5715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研究边界：候选架构不是最终方案，目标是形成可对照、可复用的实验入口。</a:t>
            </a:r>
          </a:p>
        </p:txBody>
      </p:sp>
    </p:spTree>
    <p:extLst>
      <p:ext uri="{BB962C8B-B14F-4D97-AF65-F5344CB8AC3E}">
        <p14:creationId xmlns:p14="http://schemas.microsoft.com/office/powerpoint/2010/main" val="419530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3DD42-58F1-BF23-F1D1-911D6ECA1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25103B3E-9250-E6B9-EDDC-2ED6F90CF039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C27D3A61-0DEC-BA16-46CE-C27F01A6C4A8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研究现状：四轴覆盖矩阵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D09F43-0B2F-5502-CD26-257812EFBABB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3352C4D-6E3A-C949-9901-653CA0F586E8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覆盖矩阵显示现有方法在几何校验、长序列内存、多专家组合和统一平台方面覆盖不均。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040B324-7309-66E0-1235-D22B1220DA9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68" y="1803400"/>
            <a:ext cx="7720263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237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工具链空白：支柱 </a:t>
            </a:r>
            <a:r>
              <a:rPr lang="en-US" altLang="zh-CN" sz="2800" b="1">
                <a:solidFill>
                  <a:schemeClr val="accent1"/>
                </a:solidFill>
              </a:rPr>
              <a:t>B </a:t>
            </a:r>
            <a:r>
              <a:rPr lang="zh-CN" altLang="en-US" sz="2800" b="1">
                <a:solidFill>
                  <a:schemeClr val="accent1"/>
                </a:solidFill>
              </a:rPr>
              <a:t>的动机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68615D-11FD-8F3A-9197-72AE499DB2B4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FEA7F8-0A48-3CE2-8716-FB1E097A2F5E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当前工具链主要瓶颈不在模型数量，而在统一入口、统一格式和统一实验记录不足。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7CB34D8-0523-6664-94EA-111B47F9A6C4}"/>
              </a:ext>
            </a:extLst>
          </p:cNvPr>
          <p:cNvSpPr/>
          <p:nvPr/>
        </p:nvSpPr>
        <p:spPr>
          <a:xfrm>
            <a:off x="1016000" y="1968500"/>
            <a:ext cx="1905000" cy="685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模型入口分散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D7052D1-49CF-A904-E396-BFE97E1392CE}"/>
              </a:ext>
            </a:extLst>
          </p:cNvPr>
          <p:cNvSpPr/>
          <p:nvPr/>
        </p:nvSpPr>
        <p:spPr>
          <a:xfrm>
            <a:off x="3111500" y="1968500"/>
            <a:ext cx="787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不同仓库、环境与脚本割裂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1B69D1-8675-A53C-F8C2-980E7ECF7DC3}"/>
              </a:ext>
            </a:extLst>
          </p:cNvPr>
          <p:cNvSpPr/>
          <p:nvPr/>
        </p:nvSpPr>
        <p:spPr>
          <a:xfrm>
            <a:off x="1016000" y="3086100"/>
            <a:ext cx="1905000" cy="685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输出格式异构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EB4624-8F3D-D669-3633-70B24247176B}"/>
              </a:ext>
            </a:extLst>
          </p:cNvPr>
          <p:cNvSpPr/>
          <p:nvPr/>
        </p:nvSpPr>
        <p:spPr>
          <a:xfrm>
            <a:off x="3111500" y="3086100"/>
            <a:ext cx="787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>
                <a:solidFill>
                  <a:srgbClr val="23324B"/>
                </a:solidFill>
                <a:latin typeface="微软雅黑" panose="020B0503020204020204" pitchFamily="34" charset="-122"/>
              </a:rPr>
              <a:t>pointmap</a:t>
            </a:r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、</a:t>
            </a:r>
            <a:r>
              <a:rPr lang="en-US" altLang="zh-CN">
                <a:solidFill>
                  <a:srgbClr val="23324B"/>
                </a:solidFill>
                <a:latin typeface="微软雅黑" panose="020B0503020204020204" pitchFamily="34" charset="-122"/>
              </a:rPr>
              <a:t>mesh</a:t>
            </a:r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、动态轨迹难以横向比较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FF0C17-7EAB-D771-08EC-8B52F18C1F06}"/>
              </a:ext>
            </a:extLst>
          </p:cNvPr>
          <p:cNvSpPr/>
          <p:nvPr/>
        </p:nvSpPr>
        <p:spPr>
          <a:xfrm>
            <a:off x="1016000" y="4203700"/>
            <a:ext cx="1905000" cy="685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日志口径不一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89E134-A290-C672-1529-255DF2027460}"/>
              </a:ext>
            </a:extLst>
          </p:cNvPr>
          <p:cNvSpPr/>
          <p:nvPr/>
        </p:nvSpPr>
        <p:spPr>
          <a:xfrm>
            <a:off x="3111500" y="4203700"/>
            <a:ext cx="787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>
                <a:solidFill>
                  <a:srgbClr val="23324B"/>
                </a:solidFill>
                <a:latin typeface="微软雅黑" panose="020B0503020204020204" pitchFamily="34" charset="-122"/>
              </a:rPr>
              <a:t>耗时、状态、失败原因缺少统一记录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0285C8E-F70B-272A-180F-E7B88BBDBA80}"/>
              </a:ext>
            </a:extLst>
          </p:cNvPr>
          <p:cNvSpPr/>
          <p:nvPr/>
        </p:nvSpPr>
        <p:spPr>
          <a:xfrm>
            <a:off x="1270000" y="5461000"/>
            <a:ext cx="9652000" cy="558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支柱 </a:t>
            </a:r>
            <a:r>
              <a:rPr lang="en-US" altLang="zh-CN" b="1">
                <a:solidFill>
                  <a:srgbClr val="FFFFFF"/>
                </a:solidFill>
                <a:latin typeface="微软雅黑" panose="020B0503020204020204" pitchFamily="34" charset="-122"/>
              </a:rPr>
              <a:t>B </a:t>
            </a:r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的作用：降低比较成本，并支撑支柱 </a:t>
            </a:r>
            <a:r>
              <a:rPr lang="en-US" altLang="zh-CN" b="1">
                <a:solidFill>
                  <a:srgbClr val="FFFFFF"/>
                </a:solidFill>
                <a:latin typeface="微软雅黑" panose="020B0503020204020204" pitchFamily="34" charset="-122"/>
              </a:rPr>
              <a:t>A </a:t>
            </a:r>
            <a:r>
              <a:rPr lang="zh-CN" altLang="en-US" b="1">
                <a:solidFill>
                  <a:srgbClr val="FFFFFF"/>
                </a:solidFill>
                <a:latin typeface="微软雅黑" panose="020B0503020204020204" pitchFamily="34" charset="-122"/>
              </a:rPr>
              <a:t>的可验证性。</a:t>
            </a:r>
          </a:p>
        </p:txBody>
      </p:sp>
    </p:spTree>
    <p:extLst>
      <p:ext uri="{BB962C8B-B14F-4D97-AF65-F5344CB8AC3E}">
        <p14:creationId xmlns:p14="http://schemas.microsoft.com/office/powerpoint/2010/main" val="945595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研究目标：四个目标与两大支柱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E2644D-83E0-32B8-0863-222ADB7DE63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8E7E54-819A-CD3D-82CF-3A172D9D3E01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两大支柱不是并列堆砌：平台提供实验入口，候选架构提出可检验假设。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42E29C-806F-2547-ADF2-98CC69F5F757}"/>
              </a:ext>
            </a:extLst>
          </p:cNvPr>
          <p:cNvSpPr/>
          <p:nvPr/>
        </p:nvSpPr>
        <p:spPr>
          <a:xfrm>
            <a:off x="762000" y="1968500"/>
            <a:ext cx="3175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支柱 </a:t>
            </a:r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A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AB3ED1-7C03-29F3-2F34-7F05681731AC}"/>
              </a:ext>
            </a:extLst>
          </p:cNvPr>
          <p:cNvSpPr/>
          <p:nvPr/>
        </p:nvSpPr>
        <p:spPr>
          <a:xfrm>
            <a:off x="762000" y="24003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可检验的候选架构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X</a:t>
            </a:r>
            <a:endParaRPr lang="zh-CN" altLang="en-US" sz="15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7CC06F7-47E5-0573-F9D3-29FCAB49A9AF}"/>
              </a:ext>
            </a:extLst>
          </p:cNvPr>
          <p:cNvSpPr/>
          <p:nvPr/>
        </p:nvSpPr>
        <p:spPr>
          <a:xfrm>
            <a:off x="762000" y="30099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校验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/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编排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/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记忆模块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6B0E03-63C7-EC94-0DA2-B9FCEFBD0B61}"/>
              </a:ext>
            </a:extLst>
          </p:cNvPr>
          <p:cNvSpPr/>
          <p:nvPr/>
        </p:nvSpPr>
        <p:spPr>
          <a:xfrm>
            <a:off x="762000" y="36195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消融实验与对照验证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6A239A8C-16C0-9C93-5D21-F6632D02C8A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500" y="2360856"/>
            <a:ext cx="3683000" cy="2072789"/>
          </a:xfrm>
          <a:prstGeom prst="rect">
            <a:avLst/>
          </a:prstGeom>
        </p:spPr>
      </p:pic>
      <p:sp>
        <p:nvSpPr>
          <p:cNvPr id="26" name="矩形 25">
            <a:extLst>
              <a:ext uri="{FF2B5EF4-FFF2-40B4-BE49-F238E27FC236}">
                <a16:creationId xmlns:a16="http://schemas.microsoft.com/office/drawing/2014/main" id="{5B24E393-459D-0ECA-22D1-DD821A26E88E}"/>
              </a:ext>
            </a:extLst>
          </p:cNvPr>
          <p:cNvSpPr/>
          <p:nvPr/>
        </p:nvSpPr>
        <p:spPr>
          <a:xfrm>
            <a:off x="8255000" y="1968500"/>
            <a:ext cx="3175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支柱 </a:t>
            </a:r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B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952626-DBA6-91E1-12FE-D1BE980E5008}"/>
              </a:ext>
            </a:extLst>
          </p:cNvPr>
          <p:cNvSpPr/>
          <p:nvPr/>
        </p:nvSpPr>
        <p:spPr>
          <a:xfrm>
            <a:off x="8255000" y="24003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统一执行合同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C1D6A0-D887-2D6F-6ED1-4D778E1AA21C}"/>
              </a:ext>
            </a:extLst>
          </p:cNvPr>
          <p:cNvSpPr/>
          <p:nvPr/>
        </p:nvSpPr>
        <p:spPr>
          <a:xfrm>
            <a:off x="8255000" y="30099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7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模型接入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F99F81F-6DE7-102B-FB67-42C37DB82906}"/>
              </a:ext>
            </a:extLst>
          </p:cNvPr>
          <p:cNvSpPr/>
          <p:nvPr/>
        </p:nvSpPr>
        <p:spPr>
          <a:xfrm>
            <a:off x="8255000" y="3619500"/>
            <a:ext cx="3175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远端调度与日志记录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617D2B3-B000-DC1F-591E-71F226628BDC}"/>
              </a:ext>
            </a:extLst>
          </p:cNvPr>
          <p:cNvSpPr/>
          <p:nvPr/>
        </p:nvSpPr>
        <p:spPr>
          <a:xfrm>
            <a:off x="1270000" y="5461000"/>
            <a:ext cx="9652000" cy="5080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00539B"/>
                </a:solidFill>
                <a:latin typeface="微软雅黑" panose="020B0503020204020204" pitchFamily="34" charset="-122"/>
              </a:rPr>
              <a:t>三条红线：候选不等于结论；不押注单一分支；只提供比较数据与评估入口。</a:t>
            </a:r>
          </a:p>
        </p:txBody>
      </p:sp>
    </p:spTree>
    <p:extLst>
      <p:ext uri="{BB962C8B-B14F-4D97-AF65-F5344CB8AC3E}">
        <p14:creationId xmlns:p14="http://schemas.microsoft.com/office/powerpoint/2010/main" val="1701967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08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候选架构 </a:t>
            </a:r>
            <a:r>
              <a:rPr lang="en-US" altLang="zh-CN" sz="2800" b="1">
                <a:solidFill>
                  <a:schemeClr val="accent1"/>
                </a:solidFill>
              </a:rPr>
              <a:t>X</a:t>
            </a:r>
            <a:r>
              <a:rPr lang="zh-CN" altLang="en-US" sz="2800" b="1">
                <a:solidFill>
                  <a:schemeClr val="accent1"/>
                </a:solidFill>
              </a:rPr>
              <a:t>：整体设计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F358B8-EF8B-ECDC-3789-DE10E58528B2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A09972-079B-D83A-A13A-E0B65CB5F03D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候选架构 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X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由前馈模型、校验反馈、多专家编排和记忆管理组成，后续通过消融实验验证。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2039D8-4F3F-9AE6-418C-01E7940DFE2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55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08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校验模块：几何一致性反馈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5B7E60-EEEF-9146-102B-ABB6D56A63E6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2D2CA9-AF19-EB6B-9E84-E72655C2AF4A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校验模块将几何一致性信号反馈到前馈流程，用于发现失败案例并支撑修正策略。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369BBDC-4838-62F4-7659-97332C9469F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706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编排模块：多专家路由机制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0386710-99F9-FB93-F01D-47E86F7238CA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36ED45-D621-E151-1DE4-65E62DA2FBAD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编排模块不预设某个模型最优，而是依据任务与场景特征进行可配置组合。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7DB29CD-0E3F-5D31-92E5-1067D50F882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376" y="1841500"/>
            <a:ext cx="6431248" cy="36195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8DA40B03-2C1B-E1EC-6BBC-619B2AD0AC30}"/>
              </a:ext>
            </a:extLst>
          </p:cNvPr>
          <p:cNvSpPr/>
          <p:nvPr/>
        </p:nvSpPr>
        <p:spPr>
          <a:xfrm>
            <a:off x="8509000" y="1905000"/>
            <a:ext cx="2794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核心机制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54F8A15-F739-407A-7E66-00768639949E}"/>
              </a:ext>
            </a:extLst>
          </p:cNvPr>
          <p:cNvSpPr/>
          <p:nvPr/>
        </p:nvSpPr>
        <p:spPr>
          <a:xfrm>
            <a:off x="8509000" y="2336800"/>
            <a:ext cx="2794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任务输入：场景、序列、动态程度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D7FB57-8C6C-6C8C-92AF-3B9E15C6B9BA}"/>
              </a:ext>
            </a:extLst>
          </p:cNvPr>
          <p:cNvSpPr/>
          <p:nvPr/>
        </p:nvSpPr>
        <p:spPr>
          <a:xfrm>
            <a:off x="8509000" y="2946400"/>
            <a:ext cx="2794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路由依据：失败信号与资源约束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20A92C-4D8D-B225-99D1-E4CB8F6DBC3D}"/>
              </a:ext>
            </a:extLst>
          </p:cNvPr>
          <p:cNvSpPr/>
          <p:nvPr/>
        </p:nvSpPr>
        <p:spPr>
          <a:xfrm>
            <a:off x="8509000" y="3556000"/>
            <a:ext cx="2794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输出：模型选择与聚合记录</a:t>
            </a:r>
          </a:p>
        </p:txBody>
      </p:sp>
    </p:spTree>
    <p:extLst>
      <p:ext uri="{BB962C8B-B14F-4D97-AF65-F5344CB8AC3E}">
        <p14:creationId xmlns:p14="http://schemas.microsoft.com/office/powerpoint/2010/main" val="609442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08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记忆模块：长序列状态管理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4A73AD-7C57-B39C-28C9-995602DC5FF5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1056BEC-3E78-2DA8-5EFA-2D16786E198D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记忆模块面向长序列输入，统一短期状态、长期状态和检索记忆三类机制。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3C5E437-6501-BACE-35F9-46E886BDADB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168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08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聚合管理平台：四层架构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7F5CC85-C9ED-C11B-CF81-536D09CE13D2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E930DD-C8CB-363E-0E27-E09D77280F86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聚合管理平台采用桌面前端、本地后端、远端调度和模型执行层的分层结构。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CDD0A56-CAF8-E9E8-0E23-4B6E3D55E65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6C383CF-9D00-D72D-063F-A77439332E06}"/>
              </a:ext>
            </a:extLst>
          </p:cNvPr>
          <p:cNvSpPr/>
          <p:nvPr/>
        </p:nvSpPr>
        <p:spPr>
          <a:xfrm>
            <a:off x="2032000" y="5778500"/>
            <a:ext cx="8128000" cy="355600"/>
          </a:xfrm>
          <a:prstGeom prst="rect">
            <a:avLst/>
          </a:prstGeom>
          <a:solidFill>
            <a:srgbClr val="E8F2FB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400">
                <a:solidFill>
                  <a:srgbClr val="00539B"/>
                </a:solidFill>
                <a:latin typeface="微软雅黑" panose="020B0503020204020204" pitchFamily="34" charset="-122"/>
              </a:rPr>
              <a:t>平台 </a:t>
            </a:r>
            <a:r>
              <a:rPr lang="en-US" altLang="zh-CN" sz="1400">
                <a:solidFill>
                  <a:srgbClr val="00539B"/>
                </a:solidFill>
                <a:latin typeface="微软雅黑" panose="020B0503020204020204" pitchFamily="34" charset="-122"/>
              </a:rPr>
              <a:t>UI </a:t>
            </a:r>
            <a:r>
              <a:rPr lang="zh-CN" altLang="en-US" sz="1400">
                <a:solidFill>
                  <a:srgbClr val="00539B"/>
                </a:solidFill>
                <a:latin typeface="微软雅黑" panose="020B0503020204020204" pitchFamily="34" charset="-122"/>
              </a:rPr>
              <a:t>截图待版本稳定后补充，本页仅展示架构抽象。</a:t>
            </a:r>
          </a:p>
        </p:txBody>
      </p:sp>
    </p:spTree>
    <p:extLst>
      <p:ext uri="{BB962C8B-B14F-4D97-AF65-F5344CB8AC3E}">
        <p14:creationId xmlns:p14="http://schemas.microsoft.com/office/powerpoint/2010/main" val="2818425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C7F92-9293-B59D-2DE6-2DB6188A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D974B1A9-EA78-9DDD-0C77-372F5B9CAD76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08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F0E9114-BD5E-4531-B04D-1539D4EDDF89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统一执行合同：跨模型抽象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8F8BB0-531F-314A-BBCA-ACA12A553AD7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9D75A3-9136-99AA-1DB3-44E12209DE1E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统一执行合同规定输入、状态、日志、输出和错误返回，是跨模型比较的基础。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F090520-CAAF-7FA8-4A44-A461E4B201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362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993F8-A2A5-B371-B6CC-C97E0D16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284BF616-090D-BA5B-20D4-639B4472D780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06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EA574DC-E824-BEBE-8E95-9476D0FC3CF3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跨模型实测：耗时差异明显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03ADCB-4F50-0802-5C29-80F2A14E7BB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3260D3-3FC2-EA03-54FC-1757EECB60E3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远端视频输入下不同模型推理耗时差异明显，说明统一调度和可观测记录具有必要性。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BF16127-5967-7A12-43F1-3B98D7FE2F0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382" y="1714500"/>
            <a:ext cx="7837237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702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1AC14-4D81-0B48-547E-7159FB0D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BAF1E447-5F42-9CE3-9E7C-27FABF3FC177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05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032F2B33-3392-C809-868B-8FB43F2C123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实验设计：三层证据链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F0772CD-0AE0-E27E-5C63-9383F76C6A5E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003963-0D48-D71D-68BD-0E0BF04C19D1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实验设计围绕场景覆盖、校验消融、长序列评测和平台复用能力展开。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6FC881E-478C-8532-DB34-48ED1956FF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18" y="1841500"/>
            <a:ext cx="6882564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887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3DD42-58F1-BF23-F1D1-911D6ECA1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25103B3E-9250-E6B9-EDDC-2ED6F90CF039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04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C27D3A61-0DEC-BA16-46CE-C27F01A6C4A8}"/>
              </a:ext>
            </a:extLst>
          </p:cNvPr>
          <p:cNvSpPr txBox="1"/>
          <p:nvPr/>
        </p:nvSpPr>
        <p:spPr>
          <a:xfrm>
            <a:off x="946461" y="269201"/>
            <a:ext cx="6440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创新点：问题驱动的四项设计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1D8EC7-0C8E-3C9E-2591-FFC176B68C8E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AE4EE6-BF6A-255E-5698-34F062054679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创新点均从研究问题出发，后续通过对照实验验证，不提前宣称性能结论。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23304E0-D80D-879C-A193-26B3042B45DC}"/>
              </a:ext>
            </a:extLst>
          </p:cNvPr>
          <p:cNvSpPr/>
          <p:nvPr/>
        </p:nvSpPr>
        <p:spPr>
          <a:xfrm>
            <a:off x="762000" y="2032000"/>
            <a:ext cx="2286000" cy="4572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IP1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4BBB57-4922-D901-4496-3E228599D446}"/>
              </a:ext>
            </a:extLst>
          </p:cNvPr>
          <p:cNvSpPr/>
          <p:nvPr/>
        </p:nvSpPr>
        <p:spPr>
          <a:xfrm>
            <a:off x="762000" y="2540000"/>
            <a:ext cx="2286000" cy="120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校验作为架构组件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3607849-1C53-4997-8D44-EA92EFC8B0F2}"/>
              </a:ext>
            </a:extLst>
          </p:cNvPr>
          <p:cNvSpPr/>
          <p:nvPr/>
        </p:nvSpPr>
        <p:spPr>
          <a:xfrm>
            <a:off x="3556000" y="2032000"/>
            <a:ext cx="2286000" cy="4572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IP2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FABC01-B512-B652-0324-6FAC00EE12D2}"/>
              </a:ext>
            </a:extLst>
          </p:cNvPr>
          <p:cNvSpPr/>
          <p:nvPr/>
        </p:nvSpPr>
        <p:spPr>
          <a:xfrm>
            <a:off x="3556000" y="2540000"/>
            <a:ext cx="2286000" cy="120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异构多专家组合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B74CFD-FA31-6D3F-9E12-092CDD8A4030}"/>
              </a:ext>
            </a:extLst>
          </p:cNvPr>
          <p:cNvSpPr/>
          <p:nvPr/>
        </p:nvSpPr>
        <p:spPr>
          <a:xfrm>
            <a:off x="6350000" y="2032000"/>
            <a:ext cx="2286000" cy="4572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IP3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10D86D4-C7DC-C7F1-B8B8-64EEEB232B02}"/>
              </a:ext>
            </a:extLst>
          </p:cNvPr>
          <p:cNvSpPr/>
          <p:nvPr/>
        </p:nvSpPr>
        <p:spPr>
          <a:xfrm>
            <a:off x="6350000" y="2540000"/>
            <a:ext cx="2286000" cy="120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长序列内存统一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9F0DB2-3B7F-E1B4-F8ED-8668A5BB5847}"/>
              </a:ext>
            </a:extLst>
          </p:cNvPr>
          <p:cNvSpPr/>
          <p:nvPr/>
        </p:nvSpPr>
        <p:spPr>
          <a:xfrm>
            <a:off x="9144000" y="2032000"/>
            <a:ext cx="2286000" cy="4572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en-US" altLang="zh-CN" sz="1700" b="1">
                <a:solidFill>
                  <a:srgbClr val="FFFFFF"/>
                </a:solidFill>
                <a:latin typeface="微软雅黑" panose="020B0503020204020204" pitchFamily="34" charset="-122"/>
              </a:rPr>
              <a:t>IP4</a:t>
            </a:r>
            <a:endParaRPr lang="zh-CN" altLang="en-US" sz="17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3CC2AC-EE0D-7A56-111C-3424BE314B46}"/>
              </a:ext>
            </a:extLst>
          </p:cNvPr>
          <p:cNvSpPr/>
          <p:nvPr/>
        </p:nvSpPr>
        <p:spPr>
          <a:xfrm>
            <a:off x="9144000" y="2540000"/>
            <a:ext cx="2286000" cy="120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00539B"/>
                </a:solidFill>
                <a:latin typeface="微软雅黑" panose="020B0503020204020204" pitchFamily="34" charset="-122"/>
              </a:rPr>
              <a:t>统一聚合管理平台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3B75F9A-8895-FDFB-8DB6-AA563033D7C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053" y="4127500"/>
            <a:ext cx="2707894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7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支柱 </a:t>
            </a:r>
            <a:r>
              <a:rPr lang="en-US" altLang="zh-CN" sz="2800" b="1">
                <a:solidFill>
                  <a:schemeClr val="accent1"/>
                </a:solidFill>
              </a:rPr>
              <a:t>A </a:t>
            </a:r>
            <a:r>
              <a:rPr lang="zh-CN" altLang="en-US" sz="2800" b="1">
                <a:solidFill>
                  <a:schemeClr val="accent1"/>
                </a:solidFill>
              </a:rPr>
              <a:t>进展：候选架构入口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3440CCD-4DAA-7F1C-5466-0747848BD977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FC98AC-43ED-3D81-7D3A-6CBED9E5DA07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支柱 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A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已完成候选架构拆分与实验入口梳理，后续重点是消融验证。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FF28A9-E0C8-76BC-3624-87CBD71EBC6F}"/>
              </a:ext>
            </a:extLst>
          </p:cNvPr>
          <p:cNvSpPr/>
          <p:nvPr/>
        </p:nvSpPr>
        <p:spPr>
          <a:xfrm>
            <a:off x="889000" y="1905000"/>
            <a:ext cx="4572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已完成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C832949-E393-A98D-F419-8947157AE2A2}"/>
              </a:ext>
            </a:extLst>
          </p:cNvPr>
          <p:cNvSpPr/>
          <p:nvPr/>
        </p:nvSpPr>
        <p:spPr>
          <a:xfrm>
            <a:off x="889000" y="23368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综述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18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页，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44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篇引用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533640-9DE6-8701-D3A9-13AF4823BA38}"/>
              </a:ext>
            </a:extLst>
          </p:cNvPr>
          <p:cNvSpPr/>
          <p:nvPr/>
        </p:nvSpPr>
        <p:spPr>
          <a:xfrm>
            <a:off x="889000" y="29464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KITTI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集成验证与实验规划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E4582F-0F1D-DE95-1C48-5FD124395762}"/>
              </a:ext>
            </a:extLst>
          </p:cNvPr>
          <p:cNvSpPr/>
          <p:nvPr/>
        </p:nvSpPr>
        <p:spPr>
          <a:xfrm>
            <a:off x="889000" y="35560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Critic / Composer / Memory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模块拆分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761889-89BD-0955-3FCA-C7BFC15A30A0}"/>
              </a:ext>
            </a:extLst>
          </p:cNvPr>
          <p:cNvSpPr/>
          <p:nvPr/>
        </p:nvSpPr>
        <p:spPr>
          <a:xfrm>
            <a:off x="6604000" y="1905000"/>
            <a:ext cx="4572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待验证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722509-5533-74C9-4E26-B114225653A1}"/>
              </a:ext>
            </a:extLst>
          </p:cNvPr>
          <p:cNvSpPr/>
          <p:nvPr/>
        </p:nvSpPr>
        <p:spPr>
          <a:xfrm>
            <a:off x="6604000" y="23368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统一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ablation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与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benchmark</a:t>
            </a:r>
            <a:endParaRPr lang="zh-CN" altLang="en-US" sz="1500">
              <a:solidFill>
                <a:srgbClr val="23324B"/>
              </a:solidFill>
              <a:latin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2B4CFE-A864-2DB0-87FB-6CA2B574E87A}"/>
              </a:ext>
            </a:extLst>
          </p:cNvPr>
          <p:cNvSpPr/>
          <p:nvPr/>
        </p:nvSpPr>
        <p:spPr>
          <a:xfrm>
            <a:off x="6604000" y="29464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长序列与动态场景对照组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EBB029A-09EB-3D4B-8F83-E3C14D982B3A}"/>
              </a:ext>
            </a:extLst>
          </p:cNvPr>
          <p:cNvSpPr/>
          <p:nvPr/>
        </p:nvSpPr>
        <p:spPr>
          <a:xfrm>
            <a:off x="6604000" y="35560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避免把计划写成既有结果</a:t>
            </a:r>
          </a:p>
        </p:txBody>
      </p:sp>
    </p:spTree>
    <p:extLst>
      <p:ext uri="{BB962C8B-B14F-4D97-AF65-F5344CB8AC3E}">
        <p14:creationId xmlns:p14="http://schemas.microsoft.com/office/powerpoint/2010/main" val="271102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5727-EB63-8B05-C0BA-FC16CEA9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746D9152-48D3-E0A8-3FF3-2116404376ED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03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F154AD5-A70A-1962-3AC7-43543A030B62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支柱 </a:t>
            </a:r>
            <a:r>
              <a:rPr lang="en-US" altLang="zh-CN" sz="2800" b="1">
                <a:solidFill>
                  <a:schemeClr val="accent1"/>
                </a:solidFill>
              </a:rPr>
              <a:t>B </a:t>
            </a:r>
            <a:r>
              <a:rPr lang="zh-CN" altLang="en-US" sz="2800" b="1">
                <a:solidFill>
                  <a:schemeClr val="accent1"/>
                </a:solidFill>
              </a:rPr>
              <a:t>进展：平台工程基础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14" name="任意多边形: 形状 93">
            <a:extLst>
              <a:ext uri="{FF2B5EF4-FFF2-40B4-BE49-F238E27FC236}">
                <a16:creationId xmlns:a16="http://schemas.microsoft.com/office/drawing/2014/main" id="{AF1BF063-7278-CF65-8ADD-CE545C77BE17}"/>
              </a:ext>
            </a:extLst>
          </p:cNvPr>
          <p:cNvSpPr/>
          <p:nvPr/>
        </p:nvSpPr>
        <p:spPr>
          <a:xfrm rot="5400000">
            <a:off x="5590187" y="-4418609"/>
            <a:ext cx="1011626" cy="12192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>
                  <a:lumMod val="75000"/>
                </a:schemeClr>
              </a:gs>
            </a:gsLst>
            <a:lin ang="5400000" scaled="1"/>
          </a:gradFill>
          <a:ln w="19050" cap="flat" cmpd="sng" algn="ctr">
            <a:noFill/>
            <a:prstDash val="solid"/>
            <a:miter lim="800000"/>
          </a:ln>
          <a:effectLst>
            <a:outerShdw blurRad="152400" dist="190500" dir="13500000" algn="ctr" rotWithShape="0">
              <a:sysClr val="window" lastClr="FFFFFF">
                <a:alpha val="29000"/>
              </a:sys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EA001B3-0C0B-E86D-9246-EEB2F8547E03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2A248F-8176-6AFC-8112-3FC6E86895A9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支柱 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B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已具备多模型接入、统一执行合同和远端调度基础，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UI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截图待稳定后补充。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34A071-B37D-9612-CAC4-4AA7EB2975FE}"/>
              </a:ext>
            </a:extLst>
          </p:cNvPr>
          <p:cNvSpPr/>
          <p:nvPr/>
        </p:nvSpPr>
        <p:spPr>
          <a:xfrm>
            <a:off x="889000" y="1905000"/>
            <a:ext cx="4572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工程基础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EBE1D2-2701-D509-358F-EBF1DE870F85}"/>
              </a:ext>
            </a:extLst>
          </p:cNvPr>
          <p:cNvSpPr/>
          <p:nvPr/>
        </p:nvSpPr>
        <p:spPr>
          <a:xfrm>
            <a:off x="889000" y="23368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7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个模型接入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4C3B3C-FF45-1BFD-692B-44312B37110D}"/>
              </a:ext>
            </a:extLst>
          </p:cNvPr>
          <p:cNvSpPr/>
          <p:nvPr/>
        </p:nvSpPr>
        <p:spPr>
          <a:xfrm>
            <a:off x="889000" y="29464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6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项验证通过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AF9764C-BD9B-05F8-0A59-FDB300FA12A7}"/>
              </a:ext>
            </a:extLst>
          </p:cNvPr>
          <p:cNvSpPr/>
          <p:nvPr/>
        </p:nvSpPr>
        <p:spPr>
          <a:xfrm>
            <a:off x="889000" y="35560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约 </a:t>
            </a:r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15000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行代码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C7D5C5-C9CA-1E07-7A0E-7DF251155169}"/>
              </a:ext>
            </a:extLst>
          </p:cNvPr>
          <p:cNvSpPr/>
          <p:nvPr/>
        </p:nvSpPr>
        <p:spPr>
          <a:xfrm>
            <a:off x="6604000" y="1905000"/>
            <a:ext cx="4572000" cy="381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平台证据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06BF903-03BC-93AA-85BF-DEF36DD992AA}"/>
              </a:ext>
            </a:extLst>
          </p:cNvPr>
          <p:cNvSpPr/>
          <p:nvPr/>
        </p:nvSpPr>
        <p:spPr>
          <a:xfrm>
            <a:off x="6604000" y="23368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文件上传、远端执行、日志记录、结果回传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87AB9EA-6EC9-10E2-C4CE-A84AB355C826}"/>
              </a:ext>
            </a:extLst>
          </p:cNvPr>
          <p:cNvSpPr/>
          <p:nvPr/>
        </p:nvSpPr>
        <p:spPr>
          <a:xfrm>
            <a:off x="6604000" y="29464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en-US" altLang="zh-CN" sz="1500">
                <a:solidFill>
                  <a:srgbClr val="23324B"/>
                </a:solidFill>
                <a:latin typeface="微软雅黑" panose="020B0503020204020204" pitchFamily="34" charset="-122"/>
              </a:rPr>
              <a:t>UI </a:t>
            </a:r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暂不展示，避免未定稿界面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221ADEC-C707-CBA2-CF7A-C43848ADA785}"/>
              </a:ext>
            </a:extLst>
          </p:cNvPr>
          <p:cNvSpPr/>
          <p:nvPr/>
        </p:nvSpPr>
        <p:spPr>
          <a:xfrm>
            <a:off x="6604000" y="3556000"/>
            <a:ext cx="4572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r>
              <a:rPr lang="zh-CN" altLang="en-US" sz="1500">
                <a:solidFill>
                  <a:srgbClr val="23324B"/>
                </a:solidFill>
                <a:latin typeface="微软雅黑" panose="020B0503020204020204" pitchFamily="34" charset="-122"/>
              </a:rPr>
              <a:t>后续补充稳定版截图</a:t>
            </a:r>
          </a:p>
        </p:txBody>
      </p:sp>
    </p:spTree>
    <p:extLst>
      <p:ext uri="{BB962C8B-B14F-4D97-AF65-F5344CB8AC3E}">
        <p14:creationId xmlns:p14="http://schemas.microsoft.com/office/powerpoint/2010/main" val="912145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1C7-72C6-1029-14A1-14DA5782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文本框 89">
            <a:extLst>
              <a:ext uri="{FF2B5EF4-FFF2-40B4-BE49-F238E27FC236}">
                <a16:creationId xmlns:a16="http://schemas.microsoft.com/office/drawing/2014/main" id="{92C25290-25CA-9409-7329-785426950541}"/>
              </a:ext>
            </a:extLst>
          </p:cNvPr>
          <p:cNvSpPr txBox="1"/>
          <p:nvPr/>
        </p:nvSpPr>
        <p:spPr>
          <a:xfrm>
            <a:off x="115452" y="243436"/>
            <a:ext cx="77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</a:rPr>
              <a:t>02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16D3D87-A82F-7CBB-9ECA-5489B69CC28D}"/>
              </a:ext>
            </a:extLst>
          </p:cNvPr>
          <p:cNvSpPr txBox="1"/>
          <p:nvPr/>
        </p:nvSpPr>
        <p:spPr>
          <a:xfrm>
            <a:off x="946460" y="269201"/>
            <a:ext cx="7626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chemeClr val="accent1"/>
                </a:solidFill>
              </a:rPr>
              <a:t>风险分析：边界与对策</a:t>
            </a:r>
            <a:endParaRPr lang="zh-CN" altLang="en-US" sz="2800" b="1" dirty="0">
              <a:solidFill>
                <a:schemeClr val="accent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A2DEB33-F80A-7CEB-3867-1691D5D0CD09}"/>
              </a:ext>
            </a:extLst>
          </p:cNvPr>
          <p:cNvSpPr/>
          <p:nvPr/>
        </p:nvSpPr>
        <p:spPr>
          <a:xfrm>
            <a:off x="0" y="1651000"/>
            <a:ext cx="12192000" cy="520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A00C152-7B46-E0C8-F1AF-B92082889851}"/>
              </a:ext>
            </a:extLst>
          </p:cNvPr>
          <p:cNvSpPr/>
          <p:nvPr/>
        </p:nvSpPr>
        <p:spPr>
          <a:xfrm>
            <a:off x="431800" y="1168400"/>
            <a:ext cx="11303000" cy="4318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风险可控的前提是明确 </a:t>
            </a:r>
            <a:r>
              <a:rPr lang="en-US" altLang="zh-CN" sz="1600" b="1">
                <a:solidFill>
                  <a:srgbClr val="FFFFFF"/>
                </a:solidFill>
                <a:latin typeface="微软雅黑" panose="020B0503020204020204" pitchFamily="34" charset="-122"/>
              </a:rPr>
              <a:t>claim </a:t>
            </a:r>
            <a:r>
              <a:rPr lang="zh-CN" altLang="en-US" sz="1600" b="1">
                <a:solidFill>
                  <a:srgbClr val="FFFFFF"/>
                </a:solidFill>
                <a:latin typeface="微软雅黑" panose="020B0503020204020204" pitchFamily="34" charset="-122"/>
              </a:rPr>
              <a:t>边界：候选方案必须由对照实验支持。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BA53FD4-B62A-F8BB-6848-18A41BC44955}"/>
              </a:ext>
            </a:extLst>
          </p:cNvPr>
          <p:cNvSpPr/>
          <p:nvPr/>
        </p:nvSpPr>
        <p:spPr>
          <a:xfrm>
            <a:off x="825500" y="2032000"/>
            <a:ext cx="1651000" cy="889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实验风险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E4E948A-896C-9B9E-BD33-F93659DDD1B6}"/>
              </a:ext>
            </a:extLst>
          </p:cNvPr>
          <p:cNvSpPr/>
          <p:nvPr/>
        </p:nvSpPr>
        <p:spPr>
          <a:xfrm>
            <a:off x="2603500" y="2032000"/>
            <a:ext cx="3365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>
                <a:solidFill>
                  <a:srgbClr val="23324B"/>
                </a:solidFill>
                <a:latin typeface="微软雅黑" panose="020B0503020204020204" pitchFamily="34" charset="-122"/>
              </a:rPr>
              <a:t>性能波动或提升不稳定
设置强基线与消融组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6672948-DA84-1D09-1172-C530566F0AE2}"/>
              </a:ext>
            </a:extLst>
          </p:cNvPr>
          <p:cNvSpPr/>
          <p:nvPr/>
        </p:nvSpPr>
        <p:spPr>
          <a:xfrm>
            <a:off x="6286500" y="2032000"/>
            <a:ext cx="1651000" cy="889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工程风险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F8158CC-6557-B9D1-C782-9ACD9EA436BE}"/>
              </a:ext>
            </a:extLst>
          </p:cNvPr>
          <p:cNvSpPr/>
          <p:nvPr/>
        </p:nvSpPr>
        <p:spPr>
          <a:xfrm>
            <a:off x="8064500" y="2032000"/>
            <a:ext cx="3365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>
                <a:solidFill>
                  <a:srgbClr val="23324B"/>
                </a:solidFill>
                <a:latin typeface="微软雅黑" panose="020B0503020204020204" pitchFamily="34" charset="-122"/>
              </a:rPr>
              <a:t>模型适配与资源受限
保留离线执行方案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7C2A063-7D98-24E5-C35A-C1559408F73D}"/>
              </a:ext>
            </a:extLst>
          </p:cNvPr>
          <p:cNvSpPr/>
          <p:nvPr/>
        </p:nvSpPr>
        <p:spPr>
          <a:xfrm>
            <a:off x="825500" y="3619500"/>
            <a:ext cx="1651000" cy="889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表达风险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80EF80-D9A6-2D54-E11F-2CF258A31528}"/>
              </a:ext>
            </a:extLst>
          </p:cNvPr>
          <p:cNvSpPr/>
          <p:nvPr/>
        </p:nvSpPr>
        <p:spPr>
          <a:xfrm>
            <a:off x="2603500" y="3619500"/>
            <a:ext cx="3365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>
                <a:solidFill>
                  <a:srgbClr val="23324B"/>
                </a:solidFill>
                <a:latin typeface="微软雅黑" panose="020B0503020204020204" pitchFamily="34" charset="-122"/>
              </a:rPr>
              <a:t>避免计划写成结果
统一使用候选与评估表述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5604710-69AC-EAD4-A947-4CFBD1D52E85}"/>
              </a:ext>
            </a:extLst>
          </p:cNvPr>
          <p:cNvSpPr/>
          <p:nvPr/>
        </p:nvSpPr>
        <p:spPr>
          <a:xfrm>
            <a:off x="6286500" y="3619500"/>
            <a:ext cx="1651000" cy="889000"/>
          </a:xfrm>
          <a:prstGeom prst="rect">
            <a:avLst/>
          </a:prstGeom>
          <a:solidFill>
            <a:srgbClr val="00539B"/>
          </a:solidFill>
          <a:ln w="12700">
            <a:solidFill>
              <a:srgbClr val="0053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微软雅黑" panose="020B0503020204020204" pitchFamily="34" charset="-122"/>
              </a:rPr>
              <a:t>进度风险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7389BDA-28BC-4799-1DB9-591F54E6D06D}"/>
              </a:ext>
            </a:extLst>
          </p:cNvPr>
          <p:cNvSpPr/>
          <p:nvPr/>
        </p:nvSpPr>
        <p:spPr>
          <a:xfrm>
            <a:off x="8064500" y="3619500"/>
            <a:ext cx="3365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6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1600">
                <a:solidFill>
                  <a:srgbClr val="23324B"/>
                </a:solidFill>
                <a:latin typeface="微软雅黑" panose="020B0503020204020204" pitchFamily="34" charset="-122"/>
              </a:rPr>
              <a:t>平台与论文并行推进
按阶段锁定交付物</a:t>
            </a:r>
          </a:p>
        </p:txBody>
      </p:sp>
    </p:spTree>
    <p:extLst>
      <p:ext uri="{BB962C8B-B14F-4D97-AF65-F5344CB8AC3E}">
        <p14:creationId xmlns:p14="http://schemas.microsoft.com/office/powerpoint/2010/main" val="3517275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48A6D-C6EE-964D-6C1A-BE3EC5A3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蓝色的火车在站台旁&#10;&#10;描述已自动生成">
            <a:extLst>
              <a:ext uri="{FF2B5EF4-FFF2-40B4-BE49-F238E27FC236}">
                <a16:creationId xmlns:a16="http://schemas.microsoft.com/office/drawing/2014/main" id="{47CB2ABF-6C6A-A145-CBD3-5D4863BE40C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" b="33391"/>
          <a:stretch/>
        </p:blipFill>
        <p:spPr>
          <a:xfrm>
            <a:off x="567" y="1099270"/>
            <a:ext cx="12190866" cy="4060213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6DAA6598-060B-09AF-69C5-C131F0EE830A}"/>
              </a:ext>
            </a:extLst>
          </p:cNvPr>
          <p:cNvSpPr/>
          <p:nvPr/>
        </p:nvSpPr>
        <p:spPr>
          <a:xfrm>
            <a:off x="9859" y="-1"/>
            <a:ext cx="12191999" cy="5159483"/>
          </a:xfrm>
          <a:prstGeom prst="rect">
            <a:avLst/>
          </a:prstGeom>
          <a:gradFill flip="none" rotWithShape="1">
            <a:gsLst>
              <a:gs pos="49000">
                <a:schemeClr val="bg1"/>
              </a:gs>
              <a:gs pos="100000">
                <a:schemeClr val="accent3">
                  <a:alpha val="2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defRPr/>
            </a:pPr>
            <a:endParaRPr lang="zh-CN" altLang="en-US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7BF0E7-40A8-7FA0-2CDB-5543790FC811}"/>
              </a:ext>
            </a:extLst>
          </p:cNvPr>
          <p:cNvGrpSpPr/>
          <p:nvPr/>
        </p:nvGrpSpPr>
        <p:grpSpPr>
          <a:xfrm>
            <a:off x="9859" y="1239674"/>
            <a:ext cx="12172282" cy="2928257"/>
            <a:chOff x="442611" y="2016251"/>
            <a:chExt cx="10694619" cy="2228850"/>
          </a:xfrm>
          <a:gradFill>
            <a:gsLst>
              <a:gs pos="0">
                <a:schemeClr val="bg1">
                  <a:alpha val="0"/>
                </a:schemeClr>
              </a:gs>
              <a:gs pos="50000">
                <a:schemeClr val="bg1">
                  <a:lumMod val="9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970E494-61EE-587D-4574-8858E921DFBB}"/>
                </a:ext>
              </a:extLst>
            </p:cNvPr>
            <p:cNvGrpSpPr/>
            <p:nvPr/>
          </p:nvGrpSpPr>
          <p:grpSpPr>
            <a:xfrm>
              <a:off x="442611" y="2016251"/>
              <a:ext cx="10694619" cy="2228849"/>
              <a:chOff x="442611" y="2016251"/>
              <a:chExt cx="10694619" cy="2228849"/>
            </a:xfrm>
            <a:grpFill/>
          </p:grpSpPr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B88A2BA-CB61-B07D-37EF-4D0FB144C24D}"/>
                  </a:ext>
                </a:extLst>
              </p:cNvPr>
              <p:cNvSpPr/>
              <p:nvPr/>
            </p:nvSpPr>
            <p:spPr>
              <a:xfrm>
                <a:off x="442611" y="2016251"/>
                <a:ext cx="10694619" cy="2228849"/>
              </a:xfrm>
              <a:prstGeom prst="rect">
                <a:avLst/>
              </a:prstGeom>
              <a:grpFill/>
              <a:ln w="9525">
                <a:noFill/>
              </a:ln>
              <a:effectLst>
                <a:outerShdw blurRad="190500" dist="38100" dir="5400000" algn="t" rotWithShape="0">
                  <a:schemeClr val="bg1">
                    <a:lumMod val="75000"/>
                    <a:alpha val="17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50000"/>
                  </a:lnSpc>
                  <a:defRPr/>
                </a:pPr>
                <a:endParaRPr lang="zh-CN" altLang="en-US" sz="1200" b="1" dirty="0">
                  <a:solidFill>
                    <a:srgbClr val="03654E"/>
                  </a:solidFill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158E00CD-2609-D798-C0FA-987A012BE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9461" y="2016251"/>
                <a:ext cx="8093075" cy="0"/>
              </a:xfrm>
              <a:prstGeom prst="line">
                <a:avLst/>
              </a:prstGeom>
              <a:grpFill/>
              <a:ln w="12700">
                <a:gradFill flip="none" rotWithShape="1">
                  <a:gsLst>
                    <a:gs pos="0">
                      <a:schemeClr val="accent6">
                        <a:alpha val="0"/>
                      </a:schemeClr>
                    </a:gs>
                    <a:gs pos="50000">
                      <a:schemeClr val="accent6"/>
                    </a:gs>
                    <a:gs pos="100000">
                      <a:schemeClr val="accent6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  <a:effectLst>
                <a:outerShdw blurRad="50800" dist="38100" dir="7200000" algn="t" rotWithShape="0">
                  <a:schemeClr val="bg1">
                    <a:lumMod val="65000"/>
                    <a:alpha val="42000"/>
                  </a:scheme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9A5C04A5-7A49-3B7C-BC7F-3E42593659C0}"/>
                </a:ext>
              </a:extLst>
            </p:cNvPr>
            <p:cNvCxnSpPr>
              <a:cxnSpLocks/>
            </p:cNvCxnSpPr>
            <p:nvPr/>
          </p:nvCxnSpPr>
          <p:spPr>
            <a:xfrm>
              <a:off x="2049461" y="4245101"/>
              <a:ext cx="8093075" cy="0"/>
            </a:xfrm>
            <a:prstGeom prst="line">
              <a:avLst/>
            </a:prstGeom>
            <a:grpFill/>
            <a:ln w="12700">
              <a:gradFill flip="none" rotWithShape="1">
                <a:gsLst>
                  <a:gs pos="0">
                    <a:schemeClr val="accent6">
                      <a:alpha val="0"/>
                    </a:schemeClr>
                  </a:gs>
                  <a:gs pos="50000">
                    <a:schemeClr val="accent6"/>
                  </a:gs>
                  <a:gs pos="100000">
                    <a:schemeClr val="accent6">
                      <a:alpha val="0"/>
                    </a:schemeClr>
                  </a:gs>
                </a:gsLst>
                <a:lin ang="0" scaled="1"/>
                <a:tileRect/>
              </a:gradFill>
            </a:ln>
            <a:effectLst>
              <a:outerShdw blurRad="50800" dist="38100" dir="7200000" algn="t" rotWithShape="0">
                <a:schemeClr val="bg1">
                  <a:lumMod val="85000"/>
                  <a:alpha val="42000"/>
                </a:scheme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88CC83B-3930-EC30-7D36-3B736667F610}"/>
              </a:ext>
            </a:extLst>
          </p:cNvPr>
          <p:cNvSpPr txBox="1"/>
          <p:nvPr/>
        </p:nvSpPr>
        <p:spPr>
          <a:xfrm>
            <a:off x="0" y="1366919"/>
            <a:ext cx="12192000" cy="1346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500"/>
              </a:lnSpc>
              <a:defRPr/>
            </a:pPr>
            <a:endParaRPr lang="zh-CN" altLang="en-US" sz="80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AD3FB004-3B93-3E9F-C7A6-53529A5C2DC6}"/>
              </a:ext>
            </a:extLst>
          </p:cNvPr>
          <p:cNvSpPr/>
          <p:nvPr/>
        </p:nvSpPr>
        <p:spPr>
          <a:xfrm>
            <a:off x="2614943" y="-5733"/>
            <a:ext cx="6962115" cy="493598"/>
          </a:xfrm>
          <a:custGeom>
            <a:avLst/>
            <a:gdLst>
              <a:gd name="connsiteX0" fmla="*/ 0 w 8717654"/>
              <a:gd name="connsiteY0" fmla="*/ 0 h 562725"/>
              <a:gd name="connsiteX1" fmla="*/ 1155700 w 8717654"/>
              <a:gd name="connsiteY1" fmla="*/ 0 h 562725"/>
              <a:gd name="connsiteX2" fmla="*/ 7561954 w 8717654"/>
              <a:gd name="connsiteY2" fmla="*/ 0 h 562725"/>
              <a:gd name="connsiteX3" fmla="*/ 8717654 w 8717654"/>
              <a:gd name="connsiteY3" fmla="*/ 0 h 562725"/>
              <a:gd name="connsiteX4" fmla="*/ 8717381 w 8717654"/>
              <a:gd name="connsiteY4" fmla="*/ 1022 h 562725"/>
              <a:gd name="connsiteX5" fmla="*/ 8441286 w 8717654"/>
              <a:gd name="connsiteY5" fmla="*/ 521969 h 562725"/>
              <a:gd name="connsiteX6" fmla="*/ 8383695 w 8717654"/>
              <a:gd name="connsiteY6" fmla="*/ 562725 h 562725"/>
              <a:gd name="connsiteX7" fmla="*/ 7227995 w 8717654"/>
              <a:gd name="connsiteY7" fmla="*/ 562725 h 562725"/>
              <a:gd name="connsiteX8" fmla="*/ 1489659 w 8717654"/>
              <a:gd name="connsiteY8" fmla="*/ 562725 h 562725"/>
              <a:gd name="connsiteX9" fmla="*/ 333959 w 8717654"/>
              <a:gd name="connsiteY9" fmla="*/ 562725 h 562725"/>
              <a:gd name="connsiteX10" fmla="*/ 276368 w 8717654"/>
              <a:gd name="connsiteY10" fmla="*/ 521969 h 562725"/>
              <a:gd name="connsiteX11" fmla="*/ 273 w 8717654"/>
              <a:gd name="connsiteY11" fmla="*/ 1022 h 56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17654" h="562725">
                <a:moveTo>
                  <a:pt x="0" y="0"/>
                </a:moveTo>
                <a:lnTo>
                  <a:pt x="1155700" y="0"/>
                </a:lnTo>
                <a:lnTo>
                  <a:pt x="7561954" y="0"/>
                </a:lnTo>
                <a:lnTo>
                  <a:pt x="8717654" y="0"/>
                </a:lnTo>
                <a:lnTo>
                  <a:pt x="8717381" y="1022"/>
                </a:lnTo>
                <a:lnTo>
                  <a:pt x="8441286" y="521969"/>
                </a:lnTo>
                <a:cubicBezTo>
                  <a:pt x="8427678" y="547645"/>
                  <a:pt x="8406370" y="562725"/>
                  <a:pt x="8383695" y="562725"/>
                </a:cubicBezTo>
                <a:lnTo>
                  <a:pt x="7227995" y="562725"/>
                </a:lnTo>
                <a:lnTo>
                  <a:pt x="1489659" y="562725"/>
                </a:lnTo>
                <a:lnTo>
                  <a:pt x="333959" y="562725"/>
                </a:lnTo>
                <a:cubicBezTo>
                  <a:pt x="311285" y="562725"/>
                  <a:pt x="289976" y="547645"/>
                  <a:pt x="276368" y="521969"/>
                </a:cubicBezTo>
                <a:lnTo>
                  <a:pt x="273" y="1022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0" cap="none" spc="0" normalizeH="0" baseline="0" noProof="0" dirty="0">
              <a:ln>
                <a:noFill/>
              </a:ln>
              <a:solidFill>
                <a:srgbClr val="0C56A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903C5D8-B02C-615F-5E7C-1D735477DD28}"/>
              </a:ext>
            </a:extLst>
          </p:cNvPr>
          <p:cNvSpPr txBox="1"/>
          <p:nvPr/>
        </p:nvSpPr>
        <p:spPr>
          <a:xfrm>
            <a:off x="6003634" y="10234"/>
            <a:ext cx="1847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2FF6B3-E791-92AE-46CC-5FB429465CB0}"/>
              </a:ext>
            </a:extLst>
          </p:cNvPr>
          <p:cNvSpPr/>
          <p:nvPr/>
        </p:nvSpPr>
        <p:spPr>
          <a:xfrm>
            <a:off x="0" y="6632574"/>
            <a:ext cx="12192000" cy="234477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E327E3-738D-2856-E5A4-B6AB7FE46E59}"/>
              </a:ext>
            </a:extLst>
          </p:cNvPr>
          <p:cNvSpPr/>
          <p:nvPr/>
        </p:nvSpPr>
        <p:spPr>
          <a:xfrm>
            <a:off x="1143000" y="2349500"/>
            <a:ext cx="9906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sz="3400" b="1">
                <a:solidFill>
                  <a:srgbClr val="00539B"/>
                </a:solidFill>
                <a:latin typeface="微软雅黑" panose="020B0503020204020204" pitchFamily="34" charset="-122"/>
              </a:rPr>
              <a:t>总结与致谢
敬请批评指正！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90EDB0-F519-9234-A60E-195359077775}"/>
              </a:ext>
            </a:extLst>
          </p:cNvPr>
          <p:cNvSpPr/>
          <p:nvPr/>
        </p:nvSpPr>
        <p:spPr>
          <a:xfrm>
            <a:off x="2159000" y="3937000"/>
            <a:ext cx="7874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50800" rtlCol="0" anchor="ctr"/>
          <a:lstStyle/>
          <a:p>
            <a:pPr algn="ctr"/>
            <a:r>
              <a:rPr lang="zh-CN" altLang="en-US" b="1">
                <a:solidFill>
                  <a:srgbClr val="23324B"/>
                </a:solidFill>
                <a:latin typeface="微软雅黑" panose="020B0503020204020204" pitchFamily="34" charset="-122"/>
              </a:rPr>
              <a:t>本研究以候选架构 </a:t>
            </a:r>
            <a:r>
              <a:rPr lang="en-US" altLang="zh-CN" b="1">
                <a:solidFill>
                  <a:srgbClr val="23324B"/>
                </a:solidFill>
                <a:latin typeface="微软雅黑" panose="020B0503020204020204" pitchFamily="34" charset="-122"/>
              </a:rPr>
              <a:t>X </a:t>
            </a:r>
            <a:r>
              <a:rPr lang="zh-CN" altLang="en-US" b="1">
                <a:solidFill>
                  <a:srgbClr val="23324B"/>
                </a:solidFill>
                <a:latin typeface="微软雅黑" panose="020B0503020204020204" pitchFamily="34" charset="-122"/>
              </a:rPr>
              <a:t>与聚合管理平台为两大支柱，面向前馈式三维重建提供可对照、可复用的研究框架。</a:t>
            </a:r>
          </a:p>
        </p:txBody>
      </p:sp>
    </p:spTree>
    <p:extLst>
      <p:ext uri="{BB962C8B-B14F-4D97-AF65-F5344CB8AC3E}">
        <p14:creationId xmlns:p14="http://schemas.microsoft.com/office/powerpoint/2010/main" val="3792720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1038</Words>
  <Application>Microsoft Office PowerPoint</Application>
  <PresentationFormat>宽屏</PresentationFormat>
  <Paragraphs>144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Xe L</dc:creator>
  <cp:lastModifiedBy>Xe L</cp:lastModifiedBy>
  <cp:revision>1</cp:revision>
  <dcterms:created xsi:type="dcterms:W3CDTF">2026-05-17T15:42:11Z</dcterms:created>
  <dcterms:modified xsi:type="dcterms:W3CDTF">2026-05-17T15:42:11Z</dcterms:modified>
</cp:coreProperties>
</file>