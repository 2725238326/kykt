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284" r:id="rId4"/>
    <p:sldId id="327" r:id="rId5"/>
    <p:sldId id="281" r:id="rId6"/>
    <p:sldId id="328" r:id="rId7"/>
    <p:sldId id="321" r:id="rId8"/>
    <p:sldId id="307" r:id="rId9"/>
    <p:sldId id="269" r:id="rId10"/>
    <p:sldId id="329" r:id="rId11"/>
    <p:sldId id="298" r:id="rId12"/>
    <p:sldId id="330" r:id="rId13"/>
    <p:sldId id="331" r:id="rId14"/>
    <p:sldId id="332" r:id="rId15"/>
    <p:sldId id="333" r:id="rId16"/>
    <p:sldId id="334" r:id="rId17"/>
    <p:sldId id="323" r:id="rId18"/>
    <p:sldId id="335" r:id="rId19"/>
    <p:sldId id="336" r:id="rId20"/>
    <p:sldId id="29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DEF6E3-5887-A283-90FF-9D158A0F0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06CEBC-67AA-FC96-E6AE-1E0CBEB5D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8ED779-9962-ACF8-E706-461757B17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2FA88-34C5-489F-9251-48FA0CB5560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B35647-03BD-6F65-7490-E75C392C5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3D1D44-782A-2765-DD30-AA60327FB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8B518-E2C7-4E0E-B5BE-287527CEB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881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0C4A4E-46AB-51E9-97FF-999E6A79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8A01C-400A-5030-CA0A-9573B7248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DC5B57-9943-0A0A-6846-01AF1346F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2FA88-34C5-489F-9251-48FA0CB5560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5789D5-E5F0-117E-787C-EEB1FB94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DC6D3A-6074-B7A2-E689-93B0FD4A6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8B518-E2C7-4E0E-B5BE-287527CEB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071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22C75-C322-4D79-B2BD-2197C4C10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1C5812-24D6-69DF-064B-2C1A5DDD0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1D558C-BCBD-EF10-CA24-F82584A6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2FA88-34C5-489F-9251-48FA0CB5560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645011-DB60-A3C6-2885-E4361814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BD5552-B3A8-3B6D-0F65-26D437F4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8B518-E2C7-4E0E-B5BE-287527CEB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593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0CFE3-7E29-3E23-C3DB-99EE5BD6C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153E44-EB7D-9B2D-0F17-B465AED5E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4B1BCC-BEB4-6188-CB9D-0C0467DA4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2EAFB4-D01D-F956-F4FB-D1A007E35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2FA88-34C5-489F-9251-48FA0CB5560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E02913-A9F5-D30D-B07D-837C832B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3F6974-E15D-9932-1565-1A1A1A2A4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8B518-E2C7-4E0E-B5BE-287527CEB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621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EBEEA-EAF0-6930-2E6C-ACB8512AC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A29738-BB07-E346-FD6F-617E7F43A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E53DCA-FD4C-97E5-BDC4-608484DD8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53CB0B-81C6-54DF-820F-140262012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3F1548-B2BD-BF6F-8AAC-59B0242B7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2260EC-1D0F-C2C6-C583-3BD372844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2FA88-34C5-489F-9251-48FA0CB5560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0A1411-AA3A-4305-1EBE-D5F24EC1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9BA9D59-F037-54D1-3B08-937840C3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8B518-E2C7-4E0E-B5BE-287527CEB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430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304988-7CE1-0EE0-6F75-24671B4C7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7145EA-F42C-B3A0-D9E0-D32499F8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2FA88-34C5-489F-9251-48FA0CB5560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1DD9861-4207-3CFD-255D-2EC142723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85ECF5-3AEC-1A93-8951-258DD5C2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8B518-E2C7-4E0E-B5BE-287527CEB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277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4B30C4-7C54-E251-A2FD-692DD358A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2FA88-34C5-489F-9251-48FA0CB5560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D101D6-849C-E90C-A467-BFA78B2A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AEAED4-6B1D-21FA-EE7B-6410755CB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8B518-E2C7-4E0E-B5BE-287527CEB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034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8BB11-467D-F145-201D-742381F56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F9E758-2A74-4213-3B6B-0B5638D65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96C299-CE25-5517-304D-E46F9CB6F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04FBB4-5E0D-2A1F-7826-F00E2B54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2FA88-34C5-489F-9251-48FA0CB5560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F7E497-C6AF-FB89-C185-AE2AFF0D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00C336-2516-F665-D020-4D1B04DE5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8B518-E2C7-4E0E-B5BE-287527CEB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769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A19F6E-2353-6829-DDF8-CDB736A5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4907A5-9223-4F9C-3B8F-C03DEF1AD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2104CE-D0A0-BC36-38FC-0C59B741C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5FA7B6-3546-DFA5-E9EC-9D02CE720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2FA88-34C5-489F-9251-48FA0CB5560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CDA80D-B865-142C-A482-60F617FC5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42986F-5C07-266F-24EE-8C19740C8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8B518-E2C7-4E0E-B5BE-287527CEB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476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D81523-DF03-8D07-4BCC-603F6D7DA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671C68-D328-28E2-1C42-BE5E3C074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32BA11-1F4F-6710-21B6-B36122D8B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2FA88-34C5-489F-9251-48FA0CB5560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3C3E86-6679-FC61-A60D-348542A3B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ACB49F-0BCD-5859-BF43-1D1920844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8B518-E2C7-4E0E-B5BE-287527CEB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27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404BBB-0EDA-F72D-EF42-CF011F6A47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35917B-F451-19F7-3531-ACC448896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854568-9CB2-DFD3-C6F3-C9E5D1F6F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2FA88-34C5-489F-9251-48FA0CB5560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18CA1A-35A1-F7C9-BD31-5E61A5C6C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A0C2D0-78CE-1DEC-9BC0-DEAC2E87E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8B518-E2C7-4E0E-B5BE-287527CEB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280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880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AF41BF-904D-E04A-795D-3BF2A02A7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AA381E-2AFD-76B1-E222-146776348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C4ABB-8316-6D19-D807-6605898C46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2FA88-34C5-489F-9251-48FA0CB55602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7A06FD-8C53-5F22-D13D-1E7151F4E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590FC5-7A39-6CD5-6B16-1AEAF7CC10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8B518-E2C7-4E0E-B5BE-287527CEB5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989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候选架构设计与统一聚合管理平台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7742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850DB52-E07B-E457-2D16-03191921B357}"/>
              </a:ext>
            </a:extLst>
          </p:cNvPr>
          <p:cNvSpPr/>
          <p:nvPr/>
        </p:nvSpPr>
        <p:spPr>
          <a:xfrm flipH="1">
            <a:off x="2579592" y="1079699"/>
            <a:ext cx="8422734" cy="5146730"/>
          </a:xfrm>
          <a:prstGeom prst="roundRect">
            <a:avLst>
              <a:gd name="adj" fmla="val 841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gradFill flip="none" rotWithShape="1"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10800000" scaled="1"/>
              <a:tileRect/>
            </a:gradFill>
            <a:prstDash val="solid"/>
            <a:miter lim="800000"/>
          </a:ln>
          <a:effectLst>
            <a:outerShdw blurRad="304800" sx="102000" sy="102000" algn="ctr" rotWithShape="0">
              <a:srgbClr val="0B4FA1">
                <a:lumMod val="20000"/>
                <a:lumOff val="80000"/>
                <a:alpha val="1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B3A75FE-5931-D1EF-7F63-BF487A26A6A5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开题报告按“背景问题 → 现状目标 → 技术路线 → 实验计划”展开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12364F-13E8-05CF-C633-CE4541B89176}"/>
              </a:ext>
            </a:extLst>
          </p:cNvPr>
          <p:cNvSpPr/>
          <p:nvPr/>
        </p:nvSpPr>
        <p:spPr>
          <a:xfrm>
            <a:off x="3175000" y="1968500"/>
            <a:ext cx="889000" cy="4826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01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5AACC5-9139-A2E1-462F-70E189E9AD95}"/>
              </a:ext>
            </a:extLst>
          </p:cNvPr>
          <p:cNvSpPr/>
          <p:nvPr/>
        </p:nvSpPr>
        <p:spPr>
          <a:xfrm>
            <a:off x="4191000" y="1968500"/>
            <a:ext cx="469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b="1">
                <a:solidFill>
                  <a:srgbClr val="00539B"/>
                </a:solidFill>
                <a:latin typeface="微软雅黑" panose="020B0503020204020204" pitchFamily="34" charset="-122"/>
              </a:rPr>
              <a:t>背景与问题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C8D94C-F108-0215-5D31-827065312B15}"/>
              </a:ext>
            </a:extLst>
          </p:cNvPr>
          <p:cNvSpPr/>
          <p:nvPr/>
        </p:nvSpPr>
        <p:spPr>
          <a:xfrm>
            <a:off x="3175000" y="2667000"/>
            <a:ext cx="889000" cy="4826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02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1443DE-A69C-1F69-E801-5FFF2DBB09DB}"/>
              </a:ext>
            </a:extLst>
          </p:cNvPr>
          <p:cNvSpPr/>
          <p:nvPr/>
        </p:nvSpPr>
        <p:spPr>
          <a:xfrm>
            <a:off x="4191000" y="2667000"/>
            <a:ext cx="469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b="1">
                <a:solidFill>
                  <a:srgbClr val="00539B"/>
                </a:solidFill>
                <a:latin typeface="微软雅黑" panose="020B0503020204020204" pitchFamily="34" charset="-122"/>
              </a:rPr>
              <a:t>研究现状与目标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7B12E9-4D10-6B2F-5375-F273BA121884}"/>
              </a:ext>
            </a:extLst>
          </p:cNvPr>
          <p:cNvSpPr/>
          <p:nvPr/>
        </p:nvSpPr>
        <p:spPr>
          <a:xfrm>
            <a:off x="3175000" y="3365500"/>
            <a:ext cx="889000" cy="4826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03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43D789-2769-6A98-F5FD-35E4A4D08DF7}"/>
              </a:ext>
            </a:extLst>
          </p:cNvPr>
          <p:cNvSpPr/>
          <p:nvPr/>
        </p:nvSpPr>
        <p:spPr>
          <a:xfrm>
            <a:off x="4191000" y="3365500"/>
            <a:ext cx="469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b="1">
                <a:solidFill>
                  <a:srgbClr val="00539B"/>
                </a:solidFill>
                <a:latin typeface="微软雅黑" panose="020B0503020204020204" pitchFamily="34" charset="-122"/>
              </a:rPr>
              <a:t>技术路线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5D154A-A108-6B0F-D248-E78A21F6C932}"/>
              </a:ext>
            </a:extLst>
          </p:cNvPr>
          <p:cNvSpPr/>
          <p:nvPr/>
        </p:nvSpPr>
        <p:spPr>
          <a:xfrm>
            <a:off x="3175000" y="4064000"/>
            <a:ext cx="889000" cy="4826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04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D4645C-C30A-9726-BECC-098D8CBBFA6A}"/>
              </a:ext>
            </a:extLst>
          </p:cNvPr>
          <p:cNvSpPr/>
          <p:nvPr/>
        </p:nvSpPr>
        <p:spPr>
          <a:xfrm>
            <a:off x="4191000" y="4064000"/>
            <a:ext cx="469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b="1">
                <a:solidFill>
                  <a:srgbClr val="00539B"/>
                </a:solidFill>
                <a:latin typeface="微软雅黑" panose="020B0503020204020204" pitchFamily="34" charset="-122"/>
              </a:rPr>
              <a:t>实验与计划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3219A4-0924-49E3-3AD0-D83140FEE107}"/>
              </a:ext>
            </a:extLst>
          </p:cNvPr>
          <p:cNvSpPr/>
          <p:nvPr/>
        </p:nvSpPr>
        <p:spPr>
          <a:xfrm>
            <a:off x="3175000" y="4762500"/>
            <a:ext cx="889000" cy="4826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05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70E8C7-0197-DB96-AE2B-BB20B6AF1F5E}"/>
              </a:ext>
            </a:extLst>
          </p:cNvPr>
          <p:cNvSpPr/>
          <p:nvPr/>
        </p:nvSpPr>
        <p:spPr>
          <a:xfrm>
            <a:off x="4191000" y="4762500"/>
            <a:ext cx="469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b="1">
                <a:solidFill>
                  <a:srgbClr val="00539B"/>
                </a:solidFill>
                <a:latin typeface="微软雅黑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3040792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850DB52-E07B-E457-2D16-03191921B357}"/>
              </a:ext>
            </a:extLst>
          </p:cNvPr>
          <p:cNvSpPr/>
          <p:nvPr/>
        </p:nvSpPr>
        <p:spPr>
          <a:xfrm flipH="1">
            <a:off x="2579592" y="1079699"/>
            <a:ext cx="8422734" cy="5146730"/>
          </a:xfrm>
          <a:prstGeom prst="roundRect">
            <a:avLst>
              <a:gd name="adj" fmla="val 841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gradFill flip="none" rotWithShape="1"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10800000" scaled="1"/>
              <a:tileRect/>
            </a:gradFill>
            <a:prstDash val="solid"/>
            <a:miter lim="800000"/>
          </a:ln>
          <a:effectLst>
            <a:outerShdw blurRad="304800" sx="102000" sy="102000" algn="ctr" rotWithShape="0">
              <a:srgbClr val="0B4FA1">
                <a:lumMod val="20000"/>
                <a:lumOff val="80000"/>
                <a:alpha val="1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1652EDD-B7B3-E32D-EDD3-17B22C3EDCA6}"/>
              </a:ext>
            </a:extLst>
          </p:cNvPr>
          <p:cNvSpPr/>
          <p:nvPr/>
        </p:nvSpPr>
        <p:spPr>
          <a:xfrm>
            <a:off x="952500" y="1841500"/>
            <a:ext cx="1905000" cy="1524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4800" b="1">
                <a:solidFill>
                  <a:srgbClr val="FFFFFF"/>
                </a:solidFill>
                <a:latin typeface="微软雅黑" panose="020B0503020204020204" pitchFamily="34" charset="-122"/>
              </a:rPr>
              <a:t>01</a:t>
            </a:r>
            <a:endParaRPr lang="zh-CN" altLang="en-US" sz="4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7387B1-55A0-3C4C-28BC-9AAAAF78FE7E}"/>
              </a:ext>
            </a:extLst>
          </p:cNvPr>
          <p:cNvSpPr/>
          <p:nvPr/>
        </p:nvSpPr>
        <p:spPr>
          <a:xfrm>
            <a:off x="3175000" y="1841500"/>
            <a:ext cx="711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3000" b="1">
                <a:solidFill>
                  <a:srgbClr val="00539B"/>
                </a:solidFill>
                <a:latin typeface="微软雅黑" panose="020B0503020204020204" pitchFamily="34" charset="-122"/>
              </a:rPr>
              <a:t>背景与问题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F8A168-F94F-9FC5-F739-4B184E9F5879}"/>
              </a:ext>
            </a:extLst>
          </p:cNvPr>
          <p:cNvSpPr/>
          <p:nvPr/>
        </p:nvSpPr>
        <p:spPr>
          <a:xfrm>
            <a:off x="3492500" y="29845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>
                <a:solidFill>
                  <a:srgbClr val="23324B"/>
                </a:solidFill>
                <a:latin typeface="微软雅黑" panose="020B0503020204020204" pitchFamily="34" charset="-122"/>
              </a:rPr>
              <a:t>3R </a:t>
            </a:r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方向快速扩展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303C99-C958-0585-2386-F1997CAA7501}"/>
              </a:ext>
            </a:extLst>
          </p:cNvPr>
          <p:cNvSpPr/>
          <p:nvPr/>
        </p:nvSpPr>
        <p:spPr>
          <a:xfrm>
            <a:off x="3492500" y="36449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失败模式转为研究问题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B15FDB-64E3-C3CB-564D-2925E5777385}"/>
              </a:ext>
            </a:extLst>
          </p:cNvPr>
          <p:cNvSpPr/>
          <p:nvPr/>
        </p:nvSpPr>
        <p:spPr>
          <a:xfrm>
            <a:off x="3492500" y="43053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本研究先限定结论边界</a:t>
            </a:r>
          </a:p>
        </p:txBody>
      </p:sp>
    </p:spTree>
    <p:extLst>
      <p:ext uri="{BB962C8B-B14F-4D97-AF65-F5344CB8AC3E}">
        <p14:creationId xmlns:p14="http://schemas.microsoft.com/office/powerpoint/2010/main" val="3758207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研究背景：</a:t>
            </a:r>
            <a:r>
              <a:rPr lang="en-US" altLang="zh-CN" sz="2800" b="1">
                <a:solidFill>
                  <a:schemeClr val="accent1"/>
                </a:solidFill>
              </a:rPr>
              <a:t>3R </a:t>
            </a:r>
            <a:r>
              <a:rPr lang="zh-CN" altLang="en-US" sz="2800" b="1">
                <a:solidFill>
                  <a:schemeClr val="accent1"/>
                </a:solidFill>
              </a:rPr>
              <a:t>方向快速演进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DF0E63-1EBC-46FC-E8EF-61350620BC6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D11484-C4A2-F888-A4FB-C22981C25C24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3R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从单次回归点图出发，近两年扩展到匹配、动态、长序列和测试时适配。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E882129-61B6-F9C0-EB31-DAE0435E0A8A}"/>
              </a:ext>
            </a:extLst>
          </p:cNvPr>
          <p:cNvSpPr/>
          <p:nvPr/>
        </p:nvSpPr>
        <p:spPr>
          <a:xfrm>
            <a:off x="635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539B"/>
                </a:solidFill>
                <a:latin typeface="微软雅黑" panose="020B0503020204020204" pitchFamily="34" charset="-122"/>
              </a:rPr>
              <a:t>2024
DUSt3R</a:t>
            </a:r>
            <a:endParaRPr lang="zh-CN" altLang="en-US" sz="1300" b="1">
              <a:solidFill>
                <a:srgbClr val="0053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237B1FB-28C3-AE02-31F5-D9165CDB5C1B}"/>
              </a:ext>
            </a:extLst>
          </p:cNvPr>
          <p:cNvSpPr/>
          <p:nvPr/>
        </p:nvSpPr>
        <p:spPr>
          <a:xfrm>
            <a:off x="635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23324B"/>
                </a:solidFill>
                <a:latin typeface="微软雅黑" panose="020B0503020204020204" pitchFamily="34" charset="-122"/>
              </a:rPr>
              <a:t>pose-free
pointmap</a:t>
            </a:r>
            <a:endParaRPr lang="zh-CN" altLang="en-US" sz="1200">
              <a:solidFill>
                <a:srgbClr val="2332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03375B4-26E8-70CE-886F-946F1A11BC69}"/>
              </a:ext>
            </a:extLst>
          </p:cNvPr>
          <p:cNvSpPr/>
          <p:nvPr/>
        </p:nvSpPr>
        <p:spPr>
          <a:xfrm>
            <a:off x="2476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539B"/>
                </a:solidFill>
                <a:latin typeface="微软雅黑" panose="020B0503020204020204" pitchFamily="34" charset="-122"/>
              </a:rPr>
              <a:t>2024
MASt3R</a:t>
            </a:r>
            <a:endParaRPr lang="zh-CN" altLang="en-US" sz="1300" b="1">
              <a:solidFill>
                <a:srgbClr val="0053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FFE9814-E32D-DCF1-23BA-76F02FEA2355}"/>
              </a:ext>
            </a:extLst>
          </p:cNvPr>
          <p:cNvSpPr/>
          <p:nvPr/>
        </p:nvSpPr>
        <p:spPr>
          <a:xfrm>
            <a:off x="2476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23324B"/>
                </a:solidFill>
                <a:latin typeface="微软雅黑" panose="020B0503020204020204" pitchFamily="34" charset="-122"/>
              </a:rPr>
              <a:t>3D grounding
matching</a:t>
            </a:r>
            <a:endParaRPr lang="zh-CN" altLang="en-US" sz="1200">
              <a:solidFill>
                <a:srgbClr val="2332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D46BF51-F2E1-B398-B441-64C8090793F3}"/>
              </a:ext>
            </a:extLst>
          </p:cNvPr>
          <p:cNvSpPr/>
          <p:nvPr/>
        </p:nvSpPr>
        <p:spPr>
          <a:xfrm>
            <a:off x="4318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539B"/>
                </a:solidFill>
                <a:latin typeface="微软雅黑" panose="020B0503020204020204" pitchFamily="34" charset="-122"/>
              </a:rPr>
              <a:t>2025
Fast3R</a:t>
            </a:r>
            <a:endParaRPr lang="zh-CN" altLang="en-US" sz="1300" b="1">
              <a:solidFill>
                <a:srgbClr val="0053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B040621-632D-26F9-905C-F9DD21C5A04B}"/>
              </a:ext>
            </a:extLst>
          </p:cNvPr>
          <p:cNvSpPr/>
          <p:nvPr/>
        </p:nvSpPr>
        <p:spPr>
          <a:xfrm>
            <a:off x="4318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23324B"/>
                </a:solidFill>
                <a:latin typeface="微软雅黑" panose="020B0503020204020204" pitchFamily="34" charset="-122"/>
              </a:rPr>
              <a:t>many-view
single forward</a:t>
            </a:r>
            <a:endParaRPr lang="zh-CN" altLang="en-US" sz="1200">
              <a:solidFill>
                <a:srgbClr val="2332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E9FA182-E622-D8DD-2B77-CC1A371F93EE}"/>
              </a:ext>
            </a:extLst>
          </p:cNvPr>
          <p:cNvSpPr/>
          <p:nvPr/>
        </p:nvSpPr>
        <p:spPr>
          <a:xfrm>
            <a:off x="6159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539B"/>
                </a:solidFill>
                <a:latin typeface="微软雅黑" panose="020B0503020204020204" pitchFamily="34" charset="-122"/>
              </a:rPr>
              <a:t>2024-25
MonST3R</a:t>
            </a:r>
            <a:endParaRPr lang="zh-CN" altLang="en-US" sz="1300" b="1">
              <a:solidFill>
                <a:srgbClr val="0053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6DDC932-1ECE-B2FC-36D3-29F48FA1C4CE}"/>
              </a:ext>
            </a:extLst>
          </p:cNvPr>
          <p:cNvSpPr/>
          <p:nvPr/>
        </p:nvSpPr>
        <p:spPr>
          <a:xfrm>
            <a:off x="6159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23324B"/>
                </a:solidFill>
                <a:latin typeface="微软雅黑" panose="020B0503020204020204" pitchFamily="34" charset="-122"/>
              </a:rPr>
              <a:t>video / dynamic
4D</a:t>
            </a:r>
            <a:endParaRPr lang="zh-CN" altLang="en-US" sz="1200">
              <a:solidFill>
                <a:srgbClr val="2332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DB67605-84A3-F15D-4778-BE7563548F10}"/>
              </a:ext>
            </a:extLst>
          </p:cNvPr>
          <p:cNvSpPr/>
          <p:nvPr/>
        </p:nvSpPr>
        <p:spPr>
          <a:xfrm>
            <a:off x="8001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539B"/>
                </a:solidFill>
                <a:latin typeface="微软雅黑" panose="020B0503020204020204" pitchFamily="34" charset="-122"/>
              </a:rPr>
              <a:t>2025
Spann3R / CUT3R</a:t>
            </a:r>
            <a:endParaRPr lang="zh-CN" altLang="en-US" sz="1300" b="1">
              <a:solidFill>
                <a:srgbClr val="0053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7144205-77FA-5FDB-1525-711E25DF2B5A}"/>
              </a:ext>
            </a:extLst>
          </p:cNvPr>
          <p:cNvSpPr/>
          <p:nvPr/>
        </p:nvSpPr>
        <p:spPr>
          <a:xfrm>
            <a:off x="8001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23324B"/>
                </a:solidFill>
                <a:latin typeface="微软雅黑" panose="020B0503020204020204" pitchFamily="34" charset="-122"/>
              </a:rPr>
              <a:t>long-sequence
memory</a:t>
            </a:r>
            <a:endParaRPr lang="zh-CN" altLang="en-US" sz="1200">
              <a:solidFill>
                <a:srgbClr val="2332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1AB94C1-DC99-6306-A4A0-64C2FCA3F77B}"/>
              </a:ext>
            </a:extLst>
          </p:cNvPr>
          <p:cNvSpPr/>
          <p:nvPr/>
        </p:nvSpPr>
        <p:spPr>
          <a:xfrm>
            <a:off x="9842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539B"/>
                </a:solidFill>
                <a:latin typeface="微软雅黑" panose="020B0503020204020204" pitchFamily="34" charset="-122"/>
              </a:rPr>
              <a:t>2025
Test3R / TTT3R</a:t>
            </a:r>
            <a:endParaRPr lang="zh-CN" altLang="en-US" sz="1300" b="1">
              <a:solidFill>
                <a:srgbClr val="00539B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2BDA58A-69BE-C7D6-B243-E5D385B6A04E}"/>
              </a:ext>
            </a:extLst>
          </p:cNvPr>
          <p:cNvSpPr/>
          <p:nvPr/>
        </p:nvSpPr>
        <p:spPr>
          <a:xfrm>
            <a:off x="9842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23324B"/>
                </a:solidFill>
                <a:latin typeface="微软雅黑" panose="020B0503020204020204" pitchFamily="34" charset="-122"/>
              </a:rPr>
              <a:t>test-time
mechanisms</a:t>
            </a:r>
            <a:endParaRPr lang="zh-CN" altLang="en-US" sz="1200">
              <a:solidFill>
                <a:srgbClr val="2332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47983EB-D8E4-C675-D414-368F2EE43E09}"/>
              </a:ext>
            </a:extLst>
          </p:cNvPr>
          <p:cNvSpPr/>
          <p:nvPr/>
        </p:nvSpPr>
        <p:spPr>
          <a:xfrm>
            <a:off x="889000" y="4445000"/>
            <a:ext cx="10414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539B"/>
                </a:solidFill>
                <a:latin typeface="微软雅黑" panose="020B0503020204020204" pitchFamily="34" charset="-122"/>
              </a:rPr>
              <a:t>问题不在模型数量，而在比较口径、复现入口和实验记录还没有统一。</a:t>
            </a:r>
          </a:p>
        </p:txBody>
      </p:sp>
    </p:spTree>
    <p:extLst>
      <p:ext uri="{BB962C8B-B14F-4D97-AF65-F5344CB8AC3E}">
        <p14:creationId xmlns:p14="http://schemas.microsoft.com/office/powerpoint/2010/main" val="3142465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问题收束：从失败模式到研究问题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D9AD4E7-3860-B7FB-303A-45DB331AB1E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9D9AE93-9DCE-EC23-AF6C-2B3B6C81F57F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本文把常见限制收束为四个可研究问题：验证、内存、组合、平台。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8786425-25EA-0BDA-E7D5-347C9D66073B}"/>
              </a:ext>
            </a:extLst>
          </p:cNvPr>
          <p:cNvSpPr/>
          <p:nvPr/>
        </p:nvSpPr>
        <p:spPr>
          <a:xfrm>
            <a:off x="698500" y="2095500"/>
            <a:ext cx="1587500" cy="10414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几何验证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220C164-431B-2ADF-EAFE-777C9FFDFE65}"/>
              </a:ext>
            </a:extLst>
          </p:cNvPr>
          <p:cNvSpPr/>
          <p:nvPr/>
        </p:nvSpPr>
        <p:spPr>
          <a:xfrm>
            <a:off x="2349500" y="2095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尺度漂移、重投影误差
缺少反馈入口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B8DD2CC-6AE0-3E2E-928D-604D32E1D4DF}"/>
              </a:ext>
            </a:extLst>
          </p:cNvPr>
          <p:cNvSpPr/>
          <p:nvPr/>
        </p:nvSpPr>
        <p:spPr>
          <a:xfrm>
            <a:off x="6477000" y="2095500"/>
            <a:ext cx="1587500" cy="10414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长序列内存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3F6863C-B14B-907A-203A-ABC8F7DC1B30}"/>
              </a:ext>
            </a:extLst>
          </p:cNvPr>
          <p:cNvSpPr/>
          <p:nvPr/>
        </p:nvSpPr>
        <p:spPr>
          <a:xfrm>
            <a:off x="8128000" y="2095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跨片段状态衰减
一致性难保持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B8E482C-3E93-95B5-42CC-32084CE0C988}"/>
              </a:ext>
            </a:extLst>
          </p:cNvPr>
          <p:cNvSpPr/>
          <p:nvPr/>
        </p:nvSpPr>
        <p:spPr>
          <a:xfrm>
            <a:off x="698500" y="3746500"/>
            <a:ext cx="1587500" cy="10414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多专家组合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650B455-3ED4-D5CC-DDBC-EC32BBFB779F}"/>
              </a:ext>
            </a:extLst>
          </p:cNvPr>
          <p:cNvSpPr/>
          <p:nvPr/>
        </p:nvSpPr>
        <p:spPr>
          <a:xfrm>
            <a:off x="2349500" y="3746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模型能力互补
但缺少编排接口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1CD8F44-55C7-728F-6FB9-AB047197331D}"/>
              </a:ext>
            </a:extLst>
          </p:cNvPr>
          <p:cNvSpPr/>
          <p:nvPr/>
        </p:nvSpPr>
        <p:spPr>
          <a:xfrm>
            <a:off x="6477000" y="3746500"/>
            <a:ext cx="1587500" cy="10414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统一平台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2D47965-4778-D403-6E68-FB7A7BBD89D8}"/>
              </a:ext>
            </a:extLst>
          </p:cNvPr>
          <p:cNvSpPr/>
          <p:nvPr/>
        </p:nvSpPr>
        <p:spPr>
          <a:xfrm>
            <a:off x="8128000" y="3746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入口、格式、日志
难以横向比较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6705147-C1EA-911B-E9E4-CF977A63D4A4}"/>
              </a:ext>
            </a:extLst>
          </p:cNvPr>
          <p:cNvSpPr/>
          <p:nvPr/>
        </p:nvSpPr>
        <p:spPr>
          <a:xfrm>
            <a:off x="1079500" y="5524500"/>
            <a:ext cx="10033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539B"/>
                </a:solidFill>
                <a:latin typeface="微软雅黑" panose="020B0503020204020204" pitchFamily="34" charset="-122"/>
              </a:rPr>
              <a:t>研究边界：候选架构不是最终方案；目标是形成可对照、可复用的实验入口。</a:t>
            </a:r>
          </a:p>
        </p:txBody>
      </p:sp>
    </p:spTree>
    <p:extLst>
      <p:ext uri="{BB962C8B-B14F-4D97-AF65-F5344CB8AC3E}">
        <p14:creationId xmlns:p14="http://schemas.microsoft.com/office/powerpoint/2010/main" val="2287312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850DB52-E07B-E457-2D16-03191921B357}"/>
              </a:ext>
            </a:extLst>
          </p:cNvPr>
          <p:cNvSpPr/>
          <p:nvPr/>
        </p:nvSpPr>
        <p:spPr>
          <a:xfrm flipH="1">
            <a:off x="2579592" y="1079699"/>
            <a:ext cx="8422734" cy="5146730"/>
          </a:xfrm>
          <a:prstGeom prst="roundRect">
            <a:avLst>
              <a:gd name="adj" fmla="val 841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gradFill flip="none" rotWithShape="1"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10800000" scaled="1"/>
              <a:tileRect/>
            </a:gradFill>
            <a:prstDash val="solid"/>
            <a:miter lim="800000"/>
          </a:ln>
          <a:effectLst>
            <a:outerShdw blurRad="304800" sx="102000" sy="102000" algn="ctr" rotWithShape="0">
              <a:srgbClr val="0B4FA1">
                <a:lumMod val="20000"/>
                <a:lumOff val="80000"/>
                <a:alpha val="1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42DCB92-B352-806C-6B4A-2BFCA4656916}"/>
              </a:ext>
            </a:extLst>
          </p:cNvPr>
          <p:cNvSpPr/>
          <p:nvPr/>
        </p:nvSpPr>
        <p:spPr>
          <a:xfrm>
            <a:off x="952500" y="1841500"/>
            <a:ext cx="1905000" cy="1524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4800" b="1">
                <a:solidFill>
                  <a:srgbClr val="FFFFFF"/>
                </a:solidFill>
                <a:latin typeface="微软雅黑" panose="020B0503020204020204" pitchFamily="34" charset="-122"/>
              </a:rPr>
              <a:t>02</a:t>
            </a:r>
            <a:endParaRPr lang="zh-CN" altLang="en-US" sz="4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2FDA23-D991-D263-548A-5496E8A524E6}"/>
              </a:ext>
            </a:extLst>
          </p:cNvPr>
          <p:cNvSpPr/>
          <p:nvPr/>
        </p:nvSpPr>
        <p:spPr>
          <a:xfrm>
            <a:off x="3175000" y="1841500"/>
            <a:ext cx="711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3000" b="1">
                <a:solidFill>
                  <a:srgbClr val="00539B"/>
                </a:solidFill>
                <a:latin typeface="微软雅黑" panose="020B0503020204020204" pitchFamily="34" charset="-122"/>
              </a:rPr>
              <a:t>研究现状与目标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FB8C21-E3D8-6BE5-D531-18ECB5C04AE7}"/>
              </a:ext>
            </a:extLst>
          </p:cNvPr>
          <p:cNvSpPr/>
          <p:nvPr/>
        </p:nvSpPr>
        <p:spPr>
          <a:xfrm>
            <a:off x="3492500" y="29845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用综述矩阵定位缺口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63C4F0-C7FC-704E-5ACC-A74AC7602767}"/>
              </a:ext>
            </a:extLst>
          </p:cNvPr>
          <p:cNvSpPr/>
          <p:nvPr/>
        </p:nvSpPr>
        <p:spPr>
          <a:xfrm>
            <a:off x="3492500" y="36449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把工具链问题纳入研究对象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BFBBA0-0983-8B6D-FDA1-A96C7562F60D}"/>
              </a:ext>
            </a:extLst>
          </p:cNvPr>
          <p:cNvSpPr/>
          <p:nvPr/>
        </p:nvSpPr>
        <p:spPr>
          <a:xfrm>
            <a:off x="3492500" y="43053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明确两大支柱和三条红线</a:t>
            </a:r>
          </a:p>
        </p:txBody>
      </p:sp>
    </p:spTree>
    <p:extLst>
      <p:ext uri="{BB962C8B-B14F-4D97-AF65-F5344CB8AC3E}">
        <p14:creationId xmlns:p14="http://schemas.microsoft.com/office/powerpoint/2010/main" val="4288191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DD42-58F1-BF23-F1D1-911D6ECA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5103B3E-9250-E6B9-EDDC-2ED6F90CF039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27D3A61-0DEC-BA16-46CE-C27F01A6C4A8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研究现状：四轴覆盖矩阵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EA24EAF-58A6-3284-C85E-9381A5AD27B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81C248-2660-CC19-2FE3-34E26AE35336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44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篇文献按四轴整理后，缺口集中在校验反馈、多专家组合和统一平台。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28882D-C325-0E25-127F-0CC36D6D7D0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868" y="1803400"/>
            <a:ext cx="7720263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756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工具链空白：支柱 </a:t>
            </a:r>
            <a:r>
              <a:rPr lang="en-US" altLang="zh-CN" sz="2800" b="1">
                <a:solidFill>
                  <a:schemeClr val="accent1"/>
                </a:solidFill>
              </a:rPr>
              <a:t>B </a:t>
            </a:r>
            <a:r>
              <a:rPr lang="zh-CN" altLang="en-US" sz="2800" b="1">
                <a:solidFill>
                  <a:schemeClr val="accent1"/>
                </a:solidFill>
              </a:rPr>
              <a:t>的动机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DAD7E7-DA02-10D4-6F0B-C031319B3B6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FD1D70-3B05-93D0-CCC8-A3C3D02CEE21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现有 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demo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能跑模型，但难以稳定记录同一输入下的多模型输出。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E29954-008F-40E3-EDEF-37A9F7E0070D}"/>
              </a:ext>
            </a:extLst>
          </p:cNvPr>
          <p:cNvSpPr/>
          <p:nvPr/>
        </p:nvSpPr>
        <p:spPr>
          <a:xfrm>
            <a:off x="1016000" y="1968500"/>
            <a:ext cx="1905000" cy="685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模型入口分散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FD2A1A-2D16-DA81-E8C7-3BE95F1BEF87}"/>
              </a:ext>
            </a:extLst>
          </p:cNvPr>
          <p:cNvSpPr/>
          <p:nvPr/>
        </p:nvSpPr>
        <p:spPr>
          <a:xfrm>
            <a:off x="3111500" y="1968500"/>
            <a:ext cx="787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不同仓库、环境与脚本割裂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B24CB0-00D6-A94D-FE5A-1F7E64E5F57A}"/>
              </a:ext>
            </a:extLst>
          </p:cNvPr>
          <p:cNvSpPr/>
          <p:nvPr/>
        </p:nvSpPr>
        <p:spPr>
          <a:xfrm>
            <a:off x="1016000" y="3086100"/>
            <a:ext cx="1905000" cy="685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输出格式异构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9FFFF0-831B-50C8-1D0C-F377111BD547}"/>
              </a:ext>
            </a:extLst>
          </p:cNvPr>
          <p:cNvSpPr/>
          <p:nvPr/>
        </p:nvSpPr>
        <p:spPr>
          <a:xfrm>
            <a:off x="3111500" y="3086100"/>
            <a:ext cx="787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>
                <a:solidFill>
                  <a:srgbClr val="23324B"/>
                </a:solidFill>
                <a:latin typeface="微软雅黑" panose="020B0503020204020204" pitchFamily="34" charset="-122"/>
              </a:rPr>
              <a:t>pointmap</a:t>
            </a:r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>
                <a:solidFill>
                  <a:srgbClr val="23324B"/>
                </a:solidFill>
                <a:latin typeface="微软雅黑" panose="020B0503020204020204" pitchFamily="34" charset="-122"/>
              </a:rPr>
              <a:t>mesh</a:t>
            </a:r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、动态轨迹难以横向比较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E38EFE-89F1-B553-E5CC-A3477F5566D2}"/>
              </a:ext>
            </a:extLst>
          </p:cNvPr>
          <p:cNvSpPr/>
          <p:nvPr/>
        </p:nvSpPr>
        <p:spPr>
          <a:xfrm>
            <a:off x="1016000" y="4203700"/>
            <a:ext cx="1905000" cy="685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日志口径不一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0FF63B-EE62-DDCF-5B70-0C00DB1AA01D}"/>
              </a:ext>
            </a:extLst>
          </p:cNvPr>
          <p:cNvSpPr/>
          <p:nvPr/>
        </p:nvSpPr>
        <p:spPr>
          <a:xfrm>
            <a:off x="3111500" y="4203700"/>
            <a:ext cx="787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耗时、状态、失败原因缺少统一记录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6F518D-620D-6E8E-BB18-2AEEF81A2429}"/>
              </a:ext>
            </a:extLst>
          </p:cNvPr>
          <p:cNvSpPr/>
          <p:nvPr/>
        </p:nvSpPr>
        <p:spPr>
          <a:xfrm>
            <a:off x="1270000" y="5461000"/>
            <a:ext cx="9652000" cy="508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支柱 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pitchFamily="34" charset="-122"/>
              </a:rPr>
              <a:t>B 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</a:rPr>
              <a:t>的定位：把一次性演示变成可复查的实验流程。</a:t>
            </a:r>
          </a:p>
        </p:txBody>
      </p:sp>
    </p:spTree>
    <p:extLst>
      <p:ext uri="{BB962C8B-B14F-4D97-AF65-F5344CB8AC3E}">
        <p14:creationId xmlns:p14="http://schemas.microsoft.com/office/powerpoint/2010/main" val="1172468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研究目标：两大支柱与边界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BC13F9-9F61-B7FA-F875-2C5C9A3C24F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080CC4-1BB5-F547-D329-2355767F1BFD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研究目标不是证明某个模型最强，而是让候选机制可以被对照检验。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6E4109-00E2-CB11-E194-34FE7FF2BB15}"/>
              </a:ext>
            </a:extLst>
          </p:cNvPr>
          <p:cNvSpPr/>
          <p:nvPr/>
        </p:nvSpPr>
        <p:spPr>
          <a:xfrm>
            <a:off x="762000" y="1968500"/>
            <a:ext cx="3175000" cy="381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支柱 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A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E82347-70F1-47E6-5B3A-70776BD102C1}"/>
              </a:ext>
            </a:extLst>
          </p:cNvPr>
          <p:cNvSpPr/>
          <p:nvPr/>
        </p:nvSpPr>
        <p:spPr>
          <a:xfrm>
            <a:off x="762000" y="24003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候选架构 </a:t>
            </a:r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X</a:t>
            </a:r>
            <a:endParaRPr lang="zh-CN" altLang="en-US" sz="1500">
              <a:solidFill>
                <a:srgbClr val="2332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74879B-2D20-BCF6-267C-46C4A14F45C7}"/>
              </a:ext>
            </a:extLst>
          </p:cNvPr>
          <p:cNvSpPr/>
          <p:nvPr/>
        </p:nvSpPr>
        <p:spPr>
          <a:xfrm>
            <a:off x="762000" y="30099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校验 </a:t>
            </a:r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编排 </a:t>
            </a:r>
            <a:r>
              <a:rPr lang="en-US" altLang="zh-CN" sz="1500">
                <a:solidFill>
                  <a:srgbClr val="23324B"/>
                </a:solidFill>
                <a:latin typeface="微软雅黑" panose="020B0503020204020204" pitchFamily="34" charset="-122"/>
              </a:rPr>
              <a:t>/ </a:t>
            </a:r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记忆模块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AF1B08-EA97-0D8F-8FC3-53BC0B17CE32}"/>
              </a:ext>
            </a:extLst>
          </p:cNvPr>
          <p:cNvSpPr/>
          <p:nvPr/>
        </p:nvSpPr>
        <p:spPr>
          <a:xfrm>
            <a:off x="762000" y="36195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消融实验与对照验证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AE28D7B-BC7A-98D3-ABC7-568F904798D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0" y="2360856"/>
            <a:ext cx="3683000" cy="207278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94842337-5F4D-68BF-181F-C6D3DB198A0B}"/>
              </a:ext>
            </a:extLst>
          </p:cNvPr>
          <p:cNvSpPr/>
          <p:nvPr/>
        </p:nvSpPr>
        <p:spPr>
          <a:xfrm>
            <a:off x="8255000" y="1968500"/>
            <a:ext cx="3175000" cy="381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支柱 </a:t>
            </a:r>
            <a:r>
              <a:rPr lang="en-US" altLang="zh-CN" sz="1700" b="1">
                <a:solidFill>
                  <a:srgbClr val="FFFFFF"/>
                </a:solidFill>
                <a:latin typeface="微软雅黑" panose="020B0503020204020204" pitchFamily="34" charset="-122"/>
              </a:rPr>
              <a:t>B</a:t>
            </a:r>
            <a:endParaRPr lang="zh-CN" altLang="en-US" sz="1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B9B709-32C4-2410-BB66-BAC2A15C93FE}"/>
              </a:ext>
            </a:extLst>
          </p:cNvPr>
          <p:cNvSpPr/>
          <p:nvPr/>
        </p:nvSpPr>
        <p:spPr>
          <a:xfrm>
            <a:off x="8255000" y="24003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统一执行合同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B41C63-0585-6CA6-3D6F-25048369684D}"/>
              </a:ext>
            </a:extLst>
          </p:cNvPr>
          <p:cNvSpPr/>
          <p:nvPr/>
        </p:nvSpPr>
        <p:spPr>
          <a:xfrm>
            <a:off x="8255000" y="30099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多模型接入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F9DA97-3A8A-2C81-AAC6-26A450EEE936}"/>
              </a:ext>
            </a:extLst>
          </p:cNvPr>
          <p:cNvSpPr/>
          <p:nvPr/>
        </p:nvSpPr>
        <p:spPr>
          <a:xfrm>
            <a:off x="8255000" y="36195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23324B"/>
                </a:solidFill>
                <a:latin typeface="微软雅黑" panose="020B0503020204020204" pitchFamily="34" charset="-122"/>
              </a:rPr>
              <a:t>远端调度与日志记录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90BF29-CBBF-34F1-754B-0AA45236EB47}"/>
              </a:ext>
            </a:extLst>
          </p:cNvPr>
          <p:cNvSpPr/>
          <p:nvPr/>
        </p:nvSpPr>
        <p:spPr>
          <a:xfrm>
            <a:off x="1270000" y="5461000"/>
            <a:ext cx="9652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539B"/>
                </a:solidFill>
                <a:latin typeface="微软雅黑" panose="020B0503020204020204" pitchFamily="34" charset="-122"/>
              </a:rPr>
              <a:t>三条红线：候选不等于结论；不押注单一支线；只报告对照数据。</a:t>
            </a:r>
          </a:p>
        </p:txBody>
      </p:sp>
    </p:spTree>
    <p:extLst>
      <p:ext uri="{BB962C8B-B14F-4D97-AF65-F5344CB8AC3E}">
        <p14:creationId xmlns:p14="http://schemas.microsoft.com/office/powerpoint/2010/main" val="2614834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850DB52-E07B-E457-2D16-03191921B357}"/>
              </a:ext>
            </a:extLst>
          </p:cNvPr>
          <p:cNvSpPr/>
          <p:nvPr/>
        </p:nvSpPr>
        <p:spPr>
          <a:xfrm flipH="1">
            <a:off x="2579592" y="1079699"/>
            <a:ext cx="8422734" cy="5146730"/>
          </a:xfrm>
          <a:prstGeom prst="roundRect">
            <a:avLst>
              <a:gd name="adj" fmla="val 841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gradFill flip="none" rotWithShape="1"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10800000" scaled="1"/>
              <a:tileRect/>
            </a:gradFill>
            <a:prstDash val="solid"/>
            <a:miter lim="800000"/>
          </a:ln>
          <a:effectLst>
            <a:outerShdw blurRad="304800" sx="102000" sy="102000" algn="ctr" rotWithShape="0">
              <a:srgbClr val="0B4FA1">
                <a:lumMod val="20000"/>
                <a:lumOff val="80000"/>
                <a:alpha val="1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350743D-6D08-2013-5C70-AB33B7029369}"/>
              </a:ext>
            </a:extLst>
          </p:cNvPr>
          <p:cNvSpPr/>
          <p:nvPr/>
        </p:nvSpPr>
        <p:spPr>
          <a:xfrm>
            <a:off x="952500" y="1841500"/>
            <a:ext cx="1905000" cy="1524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4800" b="1">
                <a:solidFill>
                  <a:srgbClr val="FFFFFF"/>
                </a:solidFill>
                <a:latin typeface="微软雅黑" panose="020B0503020204020204" pitchFamily="34" charset="-122"/>
              </a:rPr>
              <a:t>03</a:t>
            </a:r>
            <a:endParaRPr lang="zh-CN" altLang="en-US" sz="4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B26AEC-6C9E-FBC6-5A14-8DECAEEAFED7}"/>
              </a:ext>
            </a:extLst>
          </p:cNvPr>
          <p:cNvSpPr/>
          <p:nvPr/>
        </p:nvSpPr>
        <p:spPr>
          <a:xfrm>
            <a:off x="3175000" y="1841500"/>
            <a:ext cx="711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3000" b="1">
                <a:solidFill>
                  <a:srgbClr val="00539B"/>
                </a:solidFill>
                <a:latin typeface="微软雅黑" panose="020B0503020204020204" pitchFamily="34" charset="-122"/>
              </a:rPr>
              <a:t>技术路线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2280E3-8A87-B33E-C6B2-59ED3081F7E5}"/>
              </a:ext>
            </a:extLst>
          </p:cNvPr>
          <p:cNvSpPr/>
          <p:nvPr/>
        </p:nvSpPr>
        <p:spPr>
          <a:xfrm>
            <a:off x="3492500" y="29845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候选架构 </a:t>
            </a:r>
            <a:r>
              <a:rPr lang="en-US" altLang="zh-CN">
                <a:solidFill>
                  <a:srgbClr val="23324B"/>
                </a:solidFill>
                <a:latin typeface="微软雅黑" panose="020B0503020204020204" pitchFamily="34" charset="-122"/>
              </a:rPr>
              <a:t>X</a:t>
            </a:r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：把机制放进同一框架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BF115D-1987-7B2F-80D2-8AF785E68EEC}"/>
              </a:ext>
            </a:extLst>
          </p:cNvPr>
          <p:cNvSpPr/>
          <p:nvPr/>
        </p:nvSpPr>
        <p:spPr>
          <a:xfrm>
            <a:off x="3492500" y="36449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平台支柱 </a:t>
            </a:r>
            <a:r>
              <a:rPr lang="en-US" altLang="zh-CN">
                <a:solidFill>
                  <a:srgbClr val="23324B"/>
                </a:solidFill>
                <a:latin typeface="微软雅黑" panose="020B0503020204020204" pitchFamily="34" charset="-122"/>
              </a:rPr>
              <a:t>B</a:t>
            </a:r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：统一执行与记录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D99242-622F-EE05-CC9F-D780426E0AC3}"/>
              </a:ext>
            </a:extLst>
          </p:cNvPr>
          <p:cNvSpPr/>
          <p:nvPr/>
        </p:nvSpPr>
        <p:spPr>
          <a:xfrm>
            <a:off x="3492500" y="43053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每个模块保留退化和替换空间</a:t>
            </a:r>
          </a:p>
        </p:txBody>
      </p:sp>
    </p:spTree>
    <p:extLst>
      <p:ext uri="{BB962C8B-B14F-4D97-AF65-F5344CB8AC3E}">
        <p14:creationId xmlns:p14="http://schemas.microsoft.com/office/powerpoint/2010/main" val="1379960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候选架构 </a:t>
            </a:r>
            <a:r>
              <a:rPr lang="en-US" altLang="zh-CN" sz="2800" b="1">
                <a:solidFill>
                  <a:schemeClr val="accent1"/>
                </a:solidFill>
              </a:rPr>
              <a:t>X</a:t>
            </a:r>
            <a:r>
              <a:rPr lang="zh-CN" altLang="en-US" sz="2800" b="1">
                <a:solidFill>
                  <a:schemeClr val="accent1"/>
                </a:solidFill>
              </a:rPr>
              <a:t>：整体设计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40F430-8BE3-D87F-644C-C77B859EEC0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543F3F-9EF1-79F3-A03A-570C08563196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候选架构 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pitchFamily="34" charset="-122"/>
              </a:rPr>
              <a:t>X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的作用是组织可检验假设，而不是提前给出最终模型。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5A4A36-EFDE-DC92-589A-443D6F0ACDD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18" y="1841500"/>
            <a:ext cx="6882564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177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校验模块：几何一致性反馈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DC84C2-C52C-4F1C-026A-8A02D6BC698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047171-472D-8FB0-4452-D758CDAD5C16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校验模块把几何一致性作为显式信号，避免只在结果页解释失败。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A52920-783C-77D7-7766-4C39391681C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18" y="1841500"/>
            <a:ext cx="6882564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738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编排与记忆：组合机制与长序列状态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8EE3CB-9A4A-F6EC-E49C-FEAA08D4FEA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CD6806-2CD2-8FB6-2D29-A1837EAEF800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编排负责模型组合，记忆负责长序列状态；两者都需要独立消融。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847B1B-AFC8-6928-96B5-25CBF2CD440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26490"/>
            <a:ext cx="5080000" cy="28590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9F5913B-BCA6-EC16-8B8E-2C11B137C35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2126490"/>
            <a:ext cx="5080000" cy="285901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FFFDFC9-7EF3-2262-DF11-F5CB8F61542E}"/>
              </a:ext>
            </a:extLst>
          </p:cNvPr>
          <p:cNvSpPr/>
          <p:nvPr/>
        </p:nvSpPr>
        <p:spPr>
          <a:xfrm>
            <a:off x="1524000" y="5461000"/>
            <a:ext cx="9144000" cy="4445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0539B"/>
                </a:solidFill>
                <a:latin typeface="微软雅黑" panose="020B0503020204020204" pitchFamily="34" charset="-122"/>
              </a:rPr>
              <a:t>本页只作为机制草图，后续以消融实验判断是否保留。</a:t>
            </a:r>
          </a:p>
        </p:txBody>
      </p:sp>
    </p:spTree>
    <p:extLst>
      <p:ext uri="{BB962C8B-B14F-4D97-AF65-F5344CB8AC3E}">
        <p14:creationId xmlns:p14="http://schemas.microsoft.com/office/powerpoint/2010/main" val="2672166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平台与合同：统一接入和执行记录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A5492C-2579-D58E-225F-882CAEE0955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0786A2-6386-7114-213E-8AB0C9EA52BB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平台侧统一模型入口、执行状态和结果记录，服务后续横向对比。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EBB313-2CD3-69E5-BA4F-31B47DC83D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26490"/>
            <a:ext cx="5080000" cy="28590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99C8276-B38D-D739-30E2-3DF480D19D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2126490"/>
            <a:ext cx="5080000" cy="285901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10AC164-F8C8-B60F-38C1-4AF1EF04CFBD}"/>
              </a:ext>
            </a:extLst>
          </p:cNvPr>
          <p:cNvSpPr/>
          <p:nvPr/>
        </p:nvSpPr>
        <p:spPr>
          <a:xfrm>
            <a:off x="1841500" y="5461000"/>
            <a:ext cx="8509000" cy="4445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0539B"/>
                </a:solidFill>
                <a:latin typeface="微软雅黑" panose="020B0503020204020204" pitchFamily="34" charset="-122"/>
              </a:rPr>
              <a:t>平台界面暂不展示；待版本稳定后再补充截图。</a:t>
            </a:r>
          </a:p>
        </p:txBody>
      </p:sp>
    </p:spTree>
    <p:extLst>
      <p:ext uri="{BB962C8B-B14F-4D97-AF65-F5344CB8AC3E}">
        <p14:creationId xmlns:p14="http://schemas.microsoft.com/office/powerpoint/2010/main" val="179735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850DB52-E07B-E457-2D16-03191921B357}"/>
              </a:ext>
            </a:extLst>
          </p:cNvPr>
          <p:cNvSpPr/>
          <p:nvPr/>
        </p:nvSpPr>
        <p:spPr>
          <a:xfrm flipH="1">
            <a:off x="2579592" y="1079699"/>
            <a:ext cx="8422734" cy="5146730"/>
          </a:xfrm>
          <a:prstGeom prst="roundRect">
            <a:avLst>
              <a:gd name="adj" fmla="val 841"/>
            </a:avLst>
          </a:prstGeom>
          <a:gradFill flip="none" rotWithShape="1">
            <a:gsLst>
              <a:gs pos="25000">
                <a:schemeClr val="accent3"/>
              </a:gs>
              <a:gs pos="99083">
                <a:schemeClr val="bg1"/>
              </a:gs>
            </a:gsLst>
            <a:lin ang="5400000" scaled="1"/>
            <a:tileRect/>
          </a:gradFill>
          <a:ln w="3175" cap="flat" cmpd="sng" algn="ctr">
            <a:gradFill flip="none" rotWithShape="1"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10800000" scaled="1"/>
              <a:tileRect/>
            </a:gradFill>
            <a:prstDash val="solid"/>
            <a:miter lim="800000"/>
          </a:ln>
          <a:effectLst>
            <a:outerShdw blurRad="304800" sx="102000" sy="102000" algn="ctr" rotWithShape="0">
              <a:srgbClr val="0B4FA1">
                <a:lumMod val="20000"/>
                <a:lumOff val="80000"/>
                <a:alpha val="16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20D1361-9235-E571-3E59-7598309BD9FE}"/>
              </a:ext>
            </a:extLst>
          </p:cNvPr>
          <p:cNvSpPr/>
          <p:nvPr/>
        </p:nvSpPr>
        <p:spPr>
          <a:xfrm>
            <a:off x="952500" y="1841500"/>
            <a:ext cx="1905000" cy="1524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4800" b="1">
                <a:solidFill>
                  <a:srgbClr val="FFFFFF"/>
                </a:solidFill>
                <a:latin typeface="微软雅黑" panose="020B0503020204020204" pitchFamily="34" charset="-122"/>
              </a:rPr>
              <a:t>04</a:t>
            </a:r>
            <a:endParaRPr lang="zh-CN" altLang="en-US" sz="4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F44F5F-03E4-C8C5-0386-B6F58B4BB4BA}"/>
              </a:ext>
            </a:extLst>
          </p:cNvPr>
          <p:cNvSpPr/>
          <p:nvPr/>
        </p:nvSpPr>
        <p:spPr>
          <a:xfrm>
            <a:off x="3175000" y="1841500"/>
            <a:ext cx="711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3000" b="1">
                <a:solidFill>
                  <a:srgbClr val="00539B"/>
                </a:solidFill>
                <a:latin typeface="微软雅黑" panose="020B0503020204020204" pitchFamily="34" charset="-122"/>
              </a:rPr>
              <a:t>实验与计划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78ED17-7FEF-7F62-031E-63CF8B2A4A61}"/>
              </a:ext>
            </a:extLst>
          </p:cNvPr>
          <p:cNvSpPr/>
          <p:nvPr/>
        </p:nvSpPr>
        <p:spPr>
          <a:xfrm>
            <a:off x="3492500" y="29845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先保证可比较，再讨论机制效果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759302-2927-A0DE-73BC-139A6A166F32}"/>
              </a:ext>
            </a:extLst>
          </p:cNvPr>
          <p:cNvSpPr/>
          <p:nvPr/>
        </p:nvSpPr>
        <p:spPr>
          <a:xfrm>
            <a:off x="3492500" y="36449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平台进展作为工程证据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9B630F-EFC3-401F-377D-4D8CCAA3E5A3}"/>
              </a:ext>
            </a:extLst>
          </p:cNvPr>
          <p:cNvSpPr/>
          <p:nvPr/>
        </p:nvSpPr>
        <p:spPr>
          <a:xfrm>
            <a:off x="3492500" y="4305300"/>
            <a:ext cx="6096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>
                <a:solidFill>
                  <a:srgbClr val="23324B"/>
                </a:solidFill>
                <a:latin typeface="微软雅黑" panose="020B0503020204020204" pitchFamily="34" charset="-122"/>
              </a:rPr>
              <a:t>风险集中在结果解释边界</a:t>
            </a:r>
          </a:p>
        </p:txBody>
      </p:sp>
    </p:spTree>
    <p:extLst>
      <p:ext uri="{BB962C8B-B14F-4D97-AF65-F5344CB8AC3E}">
        <p14:creationId xmlns:p14="http://schemas.microsoft.com/office/powerpoint/2010/main" val="4250539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实验设计：三层证据链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029E2D-DBAE-8364-2E21-EC992A2B2B7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67A64E-675E-B36F-AA3A-463F3A21EFD4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实验页只回答一个问题：候选机制是否在统一口径下值得保留。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970015-2A33-6593-4ADC-FEDD3BFBBE0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18" y="1841500"/>
            <a:ext cx="6882564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87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已有证据：平台测量与模型接入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4CF6EBB-E9FB-9BAB-CD40-4CBC6CD5974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28FCD7-276A-7C0B-5B81-30572CBE4A84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平台已有测量说明：统一调度和日志记录不是附属工作，而是实验前提。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9430CD-2DF3-47D3-11B8-3FEE6EEA2CD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382" y="1714500"/>
            <a:ext cx="7837237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39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进展安排：阶段交付与时间线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925FCE-2A33-DBCE-08DA-9E4FF9195FC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2E240B-5425-E849-8F8D-C202D22E99A2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后续工作按“复现基线 → 模块消融 → 长序列实验 → 论文整理”推进。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B0A255A-2274-10DC-4AB9-FF43B9F7C3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448" y="1841500"/>
            <a:ext cx="5867103" cy="3302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5A7FB69-3A0D-91AA-A333-10734D4EF2FE}"/>
              </a:ext>
            </a:extLst>
          </p:cNvPr>
          <p:cNvSpPr/>
          <p:nvPr/>
        </p:nvSpPr>
        <p:spPr>
          <a:xfrm>
            <a:off x="1270000" y="5397500"/>
            <a:ext cx="1905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近期重点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287273-8C8F-9433-476B-71B6F7BD9034}"/>
              </a:ext>
            </a:extLst>
          </p:cNvPr>
          <p:cNvSpPr/>
          <p:nvPr/>
        </p:nvSpPr>
        <p:spPr>
          <a:xfrm>
            <a:off x="3302000" y="5397500"/>
            <a:ext cx="33020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23324B"/>
                </a:solidFill>
                <a:latin typeface="微软雅黑" panose="020B0503020204020204" pitchFamily="34" charset="-122"/>
              </a:rPr>
              <a:t>候选模块消融；稳定执行合同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EBA11A-271F-0A67-7470-3F7A450C8024}"/>
              </a:ext>
            </a:extLst>
          </p:cNvPr>
          <p:cNvSpPr/>
          <p:nvPr/>
        </p:nvSpPr>
        <p:spPr>
          <a:xfrm>
            <a:off x="7048500" y="5397500"/>
            <a:ext cx="1905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边界控制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676DD8-F548-129C-0E0D-004E842C1614}"/>
              </a:ext>
            </a:extLst>
          </p:cNvPr>
          <p:cNvSpPr/>
          <p:nvPr/>
        </p:nvSpPr>
        <p:spPr>
          <a:xfrm>
            <a:off x="9080500" y="5397500"/>
            <a:ext cx="1905000" cy="43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23324B"/>
                </a:solidFill>
                <a:latin typeface="微软雅黑" panose="020B0503020204020204" pitchFamily="34" charset="-122"/>
              </a:rPr>
              <a:t>不提前写结论</a:t>
            </a:r>
          </a:p>
        </p:txBody>
      </p:sp>
    </p:spTree>
    <p:extLst>
      <p:ext uri="{BB962C8B-B14F-4D97-AF65-F5344CB8AC3E}">
        <p14:creationId xmlns:p14="http://schemas.microsoft.com/office/powerpoint/2010/main" val="2829761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</a:rPr>
              <a:t>风险与预期成果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B97E1F3-F133-BBAA-EA7B-6EFEED35602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B5C2732-EC5F-23D8-5446-27D58BD38FBC}"/>
              </a:ext>
            </a:extLst>
          </p:cNvPr>
          <p:cNvSpPr/>
          <p:nvPr/>
        </p:nvSpPr>
        <p:spPr>
          <a:xfrm>
            <a:off x="431800" y="1168400"/>
            <a:ext cx="11303000" cy="4318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</a:rPr>
              <a:t>风险主要来自实验波动和表述边界，预期成果必须落到可检查交付物。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12486E9-AC4A-20C0-69E9-65CEDDF54E4C}"/>
              </a:ext>
            </a:extLst>
          </p:cNvPr>
          <p:cNvSpPr/>
          <p:nvPr/>
        </p:nvSpPr>
        <p:spPr>
          <a:xfrm>
            <a:off x="825500" y="2032000"/>
            <a:ext cx="1651000" cy="889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实验风险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AC1915B-B7BF-6641-D6DA-2ED909BE689A}"/>
              </a:ext>
            </a:extLst>
          </p:cNvPr>
          <p:cNvSpPr/>
          <p:nvPr/>
        </p:nvSpPr>
        <p:spPr>
          <a:xfrm>
            <a:off x="2603500" y="20320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23324B"/>
                </a:solidFill>
                <a:latin typeface="微软雅黑" panose="020B0503020204020204" pitchFamily="34" charset="-122"/>
              </a:rPr>
              <a:t>性能波动或提升不稳定
设置强基线与消融组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F23DDAC-86C5-66C0-44F7-F942675DE77A}"/>
              </a:ext>
            </a:extLst>
          </p:cNvPr>
          <p:cNvSpPr/>
          <p:nvPr/>
        </p:nvSpPr>
        <p:spPr>
          <a:xfrm>
            <a:off x="6286500" y="2032000"/>
            <a:ext cx="1651000" cy="889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工程风险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BBC64C7-5E7B-F70B-F013-2C0E83ECF007}"/>
              </a:ext>
            </a:extLst>
          </p:cNvPr>
          <p:cNvSpPr/>
          <p:nvPr/>
        </p:nvSpPr>
        <p:spPr>
          <a:xfrm>
            <a:off x="8064500" y="20320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23324B"/>
                </a:solidFill>
                <a:latin typeface="微软雅黑" panose="020B0503020204020204" pitchFamily="34" charset="-122"/>
              </a:rPr>
              <a:t>模型适配与资源受限
保留离线执行方案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4EBD962-AB3B-D3AD-73B8-CE7331695591}"/>
              </a:ext>
            </a:extLst>
          </p:cNvPr>
          <p:cNvSpPr/>
          <p:nvPr/>
        </p:nvSpPr>
        <p:spPr>
          <a:xfrm>
            <a:off x="825500" y="3619500"/>
            <a:ext cx="1651000" cy="889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表达风险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FD253D1-FB15-8CBB-F558-D3C42FF3A196}"/>
              </a:ext>
            </a:extLst>
          </p:cNvPr>
          <p:cNvSpPr/>
          <p:nvPr/>
        </p:nvSpPr>
        <p:spPr>
          <a:xfrm>
            <a:off x="2603500" y="36195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23324B"/>
                </a:solidFill>
                <a:latin typeface="微软雅黑" panose="020B0503020204020204" pitchFamily="34" charset="-122"/>
              </a:rPr>
              <a:t>避免计划写成结果
统一使用候选与评估表述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F8C4AB6-8FCD-733A-61BA-D0881ED6302C}"/>
              </a:ext>
            </a:extLst>
          </p:cNvPr>
          <p:cNvSpPr/>
          <p:nvPr/>
        </p:nvSpPr>
        <p:spPr>
          <a:xfrm>
            <a:off x="6286500" y="3619500"/>
            <a:ext cx="1651000" cy="889000"/>
          </a:xfrm>
          <a:prstGeom prst="rect">
            <a:avLst/>
          </a:prstGeom>
          <a:solidFill>
            <a:srgbClr val="00539B"/>
          </a:solidFill>
          <a:ln w="12700">
            <a:solidFill>
              <a:srgbClr val="0053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微软雅黑" panose="020B0503020204020204" pitchFamily="34" charset="-122"/>
              </a:rPr>
              <a:t>预期成果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6B0BD75-D48B-FDC2-D11F-53BA1D75C5DA}"/>
              </a:ext>
            </a:extLst>
          </p:cNvPr>
          <p:cNvSpPr/>
          <p:nvPr/>
        </p:nvSpPr>
        <p:spPr>
          <a:xfrm>
            <a:off x="8064500" y="36195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23324B"/>
                </a:solidFill>
                <a:latin typeface="微软雅黑" panose="020B0503020204020204" pitchFamily="34" charset="-122"/>
              </a:rPr>
              <a:t>对照实验数据
可复用聚合管理平台</a:t>
            </a:r>
          </a:p>
        </p:txBody>
      </p:sp>
    </p:spTree>
    <p:extLst>
      <p:ext uri="{BB962C8B-B14F-4D97-AF65-F5344CB8AC3E}">
        <p14:creationId xmlns:p14="http://schemas.microsoft.com/office/powerpoint/2010/main" val="3796222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0B3F76-7A71-97CA-C634-E5DEA31738F6}"/>
              </a:ext>
            </a:extLst>
          </p:cNvPr>
          <p:cNvSpPr/>
          <p:nvPr/>
        </p:nvSpPr>
        <p:spPr>
          <a:xfrm>
            <a:off x="1143000" y="2349500"/>
            <a:ext cx="990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539B"/>
                </a:solidFill>
                <a:latin typeface="微软雅黑" panose="020B0503020204020204" pitchFamily="34" charset="-122"/>
              </a:rPr>
              <a:t>总结与致谢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3EEEA8-F6CE-E255-BF47-B2C2DD086C29}"/>
              </a:ext>
            </a:extLst>
          </p:cNvPr>
          <p:cNvSpPr/>
          <p:nvPr/>
        </p:nvSpPr>
        <p:spPr>
          <a:xfrm>
            <a:off x="2159000" y="3937000"/>
            <a:ext cx="7874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23324B"/>
                </a:solidFill>
                <a:latin typeface="微软雅黑" panose="020B0503020204020204" pitchFamily="34" charset="-122"/>
              </a:rPr>
              <a:t>本研究以候选架构 </a:t>
            </a:r>
            <a:r>
              <a:rPr lang="en-US" altLang="zh-CN" b="1">
                <a:solidFill>
                  <a:srgbClr val="23324B"/>
                </a:solidFill>
                <a:latin typeface="微软雅黑" panose="020B0503020204020204" pitchFamily="34" charset="-122"/>
              </a:rPr>
              <a:t>X </a:t>
            </a:r>
            <a:r>
              <a:rPr lang="zh-CN" altLang="en-US" b="1">
                <a:solidFill>
                  <a:srgbClr val="23324B"/>
                </a:solidFill>
                <a:latin typeface="微软雅黑" panose="020B0503020204020204" pitchFamily="34" charset="-122"/>
              </a:rPr>
              <a:t>与聚合管理平台为两大支柱，面向前馈式三维重建提供可对照、可复用的研究框架。</a:t>
            </a:r>
          </a:p>
        </p:txBody>
      </p:sp>
    </p:spTree>
    <p:extLst>
      <p:ext uri="{BB962C8B-B14F-4D97-AF65-F5344CB8AC3E}">
        <p14:creationId xmlns:p14="http://schemas.microsoft.com/office/powerpoint/2010/main" val="2437906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884</Words>
  <Application>Microsoft Office PowerPoint</Application>
  <PresentationFormat>宽屏</PresentationFormat>
  <Paragraphs>129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2026-05-17T16:09:40Z</dcterms:created>
  <dcterms:modified xsi:type="dcterms:W3CDTF">2026-05-17T16:09:40Z</dcterms:modified>
</cp:coreProperties>
</file>