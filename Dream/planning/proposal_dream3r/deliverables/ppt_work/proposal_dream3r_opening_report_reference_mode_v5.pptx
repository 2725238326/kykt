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23" r:id="rId18"/>
    <p:sldId id="335" r:id="rId19"/>
    <p:sldId id="336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7EFD8-78CF-547F-3B7B-0B26AAF6B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B2118E-F633-0E59-1171-0E6A68AC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06FCC6-508B-9692-1383-15B2CE3A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3BC83-D456-62E2-F339-61D2753C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0F15F6-137B-5745-C9FE-81B26D45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88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E5BF4-3225-19AE-02BD-68F7445B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6B991-7546-4601-1BBD-60A1684C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6C447C-D26F-2A2C-31C5-48800FE8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A10181-4506-B7C8-7A2A-833B58E9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B8559C-E791-03CF-8AE1-BE9E74167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98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AB6C2-74F8-3D33-44DE-7995671A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15E6EF-CF1E-06AD-B293-E717A569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FA4228-699A-6EF1-FB20-EB65DC4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2C998-EE66-D2BD-605B-FD07A95E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1E81FC-0B1E-CF68-840E-C369EC28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274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BB471-78E2-AF2E-6EED-B827ABA2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CBADFA-E5F6-1812-F4F6-061FC4A58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2593A7-EEDE-208F-25A3-C550BFE5C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A6BA10-99FA-7652-B642-38217F35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8A63CD-1544-B036-C42B-2370AB02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EFFB0-6845-A420-2201-8CFC8AAD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6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1E8BA-2EBB-881D-BD7D-44BDE74D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4A7A0-3A70-0415-0A34-CB2D0924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1393F5-964E-67C7-FD04-A7001AAE4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07F1F2-F56E-7F25-0731-C09012A27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4156DB-6EBC-6348-BC1A-A6227829E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DDF397-A318-0AEA-C30E-32EE9A7F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D1A3F9-D5E5-AECC-CBFF-7628E103C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697584-A8ED-83B2-70B7-AA209448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6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45EA3-7ED3-8A24-D150-191A9800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323C79-E29B-D644-A70A-E6BF8A43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07377A-6D2C-C9D9-E880-2AC172A6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5D71BE-F8FF-11BE-188E-C1ABB3BD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4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BDBE02-91FF-37F3-E9C9-BEB0B153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62ED8D-7338-CB8A-858C-6AB19CDF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06076C-556B-0694-E64F-A63288D0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35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2A9E1-9F57-4436-162E-0B334C03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A9F90B-4250-B7E1-2D25-32AB367B8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E8FD18-C49E-5A79-B816-5C571292D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7D8CEF-CEEF-CEF5-0E59-0A949C96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6F674-9361-11D8-C28E-F6013CC7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AD58C6-79EC-3A31-D965-2A5D70D6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1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67E19-A29F-3C2D-5C58-69766E6D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9ABEDB-A5F0-A681-864F-40726B49F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B112CD-59AB-094E-77BA-6E2ADFED0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A8AF83-DF95-1A51-5E43-3CB46E43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08F37-3754-9EC9-317D-9D4983170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9F7845-4FF1-6EB6-CDEB-4C74AFD0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8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C7826-8616-6510-8A63-AC061DB5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9E0605-B1DD-B9DA-F6E8-5E03FE201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337C6-43CE-3B19-B2CF-FA3E674D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7D153-59F8-AB47-A4EB-A1699C499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B34EE9-6297-8C48-4E7E-2443949D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28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8EDD18-8087-EB82-4957-39B11040F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800E09-DC90-D0C3-0B75-5A298C336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27BE0-ACD9-7CCD-30CE-A1F38162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E2673-38CD-0664-3EF8-2A56259C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50A86-64CD-A9AB-71B5-742D4EB3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10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89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AC0E01-39BF-F2CA-522F-118D52C5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1D14B4-F714-A501-6DDE-0C6DB565D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8CB4F-00E0-D0CC-1EAE-61B86E736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5DF6D-C372-4E72-B251-FA86E164CA00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226E5-79A3-5D01-BBF2-26A75072E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D1108-204F-638E-D12C-C047394FD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A2DA8-00A1-4E23-BB17-B4A3B0947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197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2894831-84EA-1C89-55A7-3790051F94EF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开题报告按“背景问题 → 现状目标 → 技术路线 → 实验计划”展开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D9F4C4-4B74-BF84-F481-80454193841F}"/>
              </a:ext>
            </a:extLst>
          </p:cNvPr>
          <p:cNvSpPr/>
          <p:nvPr/>
        </p:nvSpPr>
        <p:spPr>
          <a:xfrm>
            <a:off x="3175000" y="1968500"/>
            <a:ext cx="889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379F5-C5F1-3E21-75CA-B798F2286F03}"/>
              </a:ext>
            </a:extLst>
          </p:cNvPr>
          <p:cNvSpPr/>
          <p:nvPr/>
        </p:nvSpPr>
        <p:spPr>
          <a:xfrm>
            <a:off x="4191000" y="1968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4A91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83311C-EC51-286F-0AE3-D3136A9123FF}"/>
              </a:ext>
            </a:extLst>
          </p:cNvPr>
          <p:cNvSpPr/>
          <p:nvPr/>
        </p:nvSpPr>
        <p:spPr>
          <a:xfrm>
            <a:off x="3175000" y="2667000"/>
            <a:ext cx="889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7491A-6E16-5068-E418-6CC88F9FEC33}"/>
              </a:ext>
            </a:extLst>
          </p:cNvPr>
          <p:cNvSpPr/>
          <p:nvPr/>
        </p:nvSpPr>
        <p:spPr>
          <a:xfrm>
            <a:off x="4191000" y="2667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4A91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FB6068-ED99-F0D1-F083-5D1BD1690181}"/>
              </a:ext>
            </a:extLst>
          </p:cNvPr>
          <p:cNvSpPr/>
          <p:nvPr/>
        </p:nvSpPr>
        <p:spPr>
          <a:xfrm>
            <a:off x="3175000" y="3365500"/>
            <a:ext cx="889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4F0334-EF5F-310A-C5E3-85AD32A5DA42}"/>
              </a:ext>
            </a:extLst>
          </p:cNvPr>
          <p:cNvSpPr/>
          <p:nvPr/>
        </p:nvSpPr>
        <p:spPr>
          <a:xfrm>
            <a:off x="4191000" y="3365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4A91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300420-2932-7101-6DD7-639328A83D3E}"/>
              </a:ext>
            </a:extLst>
          </p:cNvPr>
          <p:cNvSpPr/>
          <p:nvPr/>
        </p:nvSpPr>
        <p:spPr>
          <a:xfrm>
            <a:off x="3175000" y="4064000"/>
            <a:ext cx="889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050614-BBA3-FC6A-34F1-A116660BF60D}"/>
              </a:ext>
            </a:extLst>
          </p:cNvPr>
          <p:cNvSpPr/>
          <p:nvPr/>
        </p:nvSpPr>
        <p:spPr>
          <a:xfrm>
            <a:off x="4191000" y="4064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4A91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FBF8B1-E588-4212-20D7-928730387AE6}"/>
              </a:ext>
            </a:extLst>
          </p:cNvPr>
          <p:cNvSpPr/>
          <p:nvPr/>
        </p:nvSpPr>
        <p:spPr>
          <a:xfrm>
            <a:off x="3175000" y="4762500"/>
            <a:ext cx="889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5938B1-2AAF-0247-AB48-5C55684CBB16}"/>
              </a:ext>
            </a:extLst>
          </p:cNvPr>
          <p:cNvSpPr/>
          <p:nvPr/>
        </p:nvSpPr>
        <p:spPr>
          <a:xfrm>
            <a:off x="4191000" y="4762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4A91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11529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A993A8C-6A6F-E26A-A302-5466EA012F0E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225311-2E54-F7FF-107D-8AC0A1AFCA8B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4A91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89629C-C192-3AB0-FD82-43CC990C8946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方向快速扩展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E900C7-9B1D-A24A-8A8E-2DE14D6B913D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失败模式转为研究问题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54B997-A570-E171-9ACD-0446FA791182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本研究先限定结论边界</a:t>
            </a:r>
          </a:p>
        </p:txBody>
      </p:sp>
    </p:spTree>
    <p:extLst>
      <p:ext uri="{BB962C8B-B14F-4D97-AF65-F5344CB8AC3E}">
        <p14:creationId xmlns:p14="http://schemas.microsoft.com/office/powerpoint/2010/main" val="242495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研究背景：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方向快速演进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47338F-3D64-6FAF-9E89-6664ADE9653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2AA4E3-BAE3-E762-5E95-0FD26FE5A6E6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从单次回归点图出发，近两年扩展到匹配、动态、长序列和测试时适配。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DBCD4D-BB1C-53CC-DBFE-F2FC35C2B6BD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
DUSt3R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565D16-573C-0DCC-1F56-B996673A03EE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pose-free
pointmap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41EAEE-3E8F-3E9C-CD18-5EE4F5D675F3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
MASt3R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8AE19DA-3070-A895-3313-E878A5D6C132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0FCBC55-4998-A8B7-A58C-9F8C66817CC1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Fast3R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56FC90E-5750-ABB5-0D46-D46F769DBCB1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657430-08DD-453B-B0BC-21ABCED58F24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660EE3-FD8E-82A9-0812-56A3EFE756B0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video / dynamic
4D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D2DC147-C8E9-8D4F-3E30-6FB69B00BB1E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624A307-D112-5F96-54AF-9A104D40333F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5C26FB-FBE0-F030-6BEB-3809048DC667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A91"/>
                </a:solidFill>
                <a:latin typeface="微软雅黑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4A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1442BC-D5C5-146E-3D7D-4D80A457D637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F2037"/>
                </a:solidFill>
                <a:latin typeface="微软雅黑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862F2D6-D3FC-34AD-85A0-EA168B272F84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4A91"/>
                </a:solidFill>
                <a:latin typeface="微软雅黑" panose="020B0503020204020204" pitchFamily="34" charset="-122"/>
              </a:rPr>
              <a:t>问题不在模型数量，而在比较口径、复现入口和实验记录还没有统一。</a:t>
            </a:r>
          </a:p>
        </p:txBody>
      </p:sp>
    </p:spTree>
    <p:extLst>
      <p:ext uri="{BB962C8B-B14F-4D97-AF65-F5344CB8AC3E}">
        <p14:creationId xmlns:p14="http://schemas.microsoft.com/office/powerpoint/2010/main" val="166066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问题收束：从失败模式到研究问题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406BBE-4EA6-E676-3400-1AE79803D38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895395-B3C0-8233-007A-A3A2C3920286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本文把常见限制收束为四个可研究问题：验证、内存、组合、平台。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64934E-5D99-FCBA-D7A6-F5529B63E276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5E4836-A0EE-AD63-C4D3-B7CC13066F7B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6C2AC4-A3BB-6379-2C03-13E0C709BE4F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5D51F77-9141-C9B0-FC6B-F285C1B881E4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C8E445-B829-871F-4EBB-9E3DEC7B2D57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E4D084-7853-858D-9B9E-746291C50589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074E4B-E689-5E24-03E5-4090F31FF167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BDD6B9B-0D96-75FF-BAA6-51F38952C373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A9CFDF-9D3B-DA88-BD00-14A2200501C2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4A91"/>
                </a:solidFill>
                <a:latin typeface="微软雅黑" panose="020B0503020204020204" pitchFamily="34" charset="-122"/>
              </a:rPr>
              <a:t>研究边界：候选架构不是最终方案；目标是形成可对照、可复用的实验入口。</a:t>
            </a:r>
          </a:p>
        </p:txBody>
      </p:sp>
    </p:spTree>
    <p:extLst>
      <p:ext uri="{BB962C8B-B14F-4D97-AF65-F5344CB8AC3E}">
        <p14:creationId xmlns:p14="http://schemas.microsoft.com/office/powerpoint/2010/main" val="337193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1F2D594-8D51-8B5E-ACB0-12945060AA3D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1EB4A6-D461-C7C5-D9D0-6C2FD8910D78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4A91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66936C-2A46-55D0-4572-C5250862B6AE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用综述矩阵定位缺口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3F6EC7-4146-C7E5-ABB7-FFCEF0EBF6EB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把工具链问题纳入研究对象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53EBFE-86AD-D73E-7D58-C41B67BE746E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明确两大支柱和三条红线</a:t>
            </a:r>
          </a:p>
        </p:txBody>
      </p:sp>
    </p:spTree>
    <p:extLst>
      <p:ext uri="{BB962C8B-B14F-4D97-AF65-F5344CB8AC3E}">
        <p14:creationId xmlns:p14="http://schemas.microsoft.com/office/powerpoint/2010/main" val="251523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研究现状：四轴覆盖矩阵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4E1ABE-0CF4-F348-DCD6-5F4B3E13579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1CA432-F764-1CF2-EE89-F5A2433AAAB5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44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篇文献按四轴整理后，缺口集中在校验反馈、多专家组合和统一平台。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AAE21A-E88E-1BB4-A50C-DD9C59D73EDC}"/>
              </a:ext>
            </a:extLst>
          </p:cNvPr>
          <p:cNvSpPr/>
          <p:nvPr/>
        </p:nvSpPr>
        <p:spPr>
          <a:xfrm>
            <a:off x="889000" y="2032000"/>
            <a:ext cx="3048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核心覆盖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080252-0CD7-0035-9350-86A8D75A6820}"/>
              </a:ext>
            </a:extLst>
          </p:cNvPr>
          <p:cNvSpPr/>
          <p:nvPr/>
        </p:nvSpPr>
        <p:spPr>
          <a:xfrm>
            <a:off x="889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已有明确核心机制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1FA465-8689-E552-DD64-587CD30E9EAF}"/>
              </a:ext>
            </a:extLst>
          </p:cNvPr>
          <p:cNvSpPr/>
          <p:nvPr/>
        </p:nvSpPr>
        <p:spPr>
          <a:xfrm>
            <a:off x="4572000" y="2032000"/>
            <a:ext cx="3048000" cy="431800"/>
          </a:xfrm>
          <a:prstGeom prst="rect">
            <a:avLst/>
          </a:prstGeom>
          <a:solidFill>
            <a:srgbClr val="EB8A2E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局部覆盖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1393C-F103-EF57-70A0-C757A87A4F25}"/>
              </a:ext>
            </a:extLst>
          </p:cNvPr>
          <p:cNvSpPr/>
          <p:nvPr/>
        </p:nvSpPr>
        <p:spPr>
          <a:xfrm>
            <a:off x="4572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11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只在局部环节涉及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77EE5B-88ED-2BDF-362E-28665ABC239B}"/>
              </a:ext>
            </a:extLst>
          </p:cNvPr>
          <p:cNvSpPr/>
          <p:nvPr/>
        </p:nvSpPr>
        <p:spPr>
          <a:xfrm>
            <a:off x="8255000" y="2032000"/>
            <a:ext cx="3048000" cy="431800"/>
          </a:xfrm>
          <a:prstGeom prst="rect">
            <a:avLst/>
          </a:prstGeom>
          <a:solidFill>
            <a:srgbClr val="BE4646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明确缺口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789172-64DA-364A-CCFD-1515D6F34FE9}"/>
              </a:ext>
            </a:extLst>
          </p:cNvPr>
          <p:cNvSpPr/>
          <p:nvPr/>
        </p:nvSpPr>
        <p:spPr>
          <a:xfrm>
            <a:off x="8255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4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项
缺少清晰接口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7E3874-2FEE-DEED-2605-89E259D5C503}"/>
              </a:ext>
            </a:extLst>
          </p:cNvPr>
          <p:cNvSpPr/>
          <p:nvPr/>
        </p:nvSpPr>
        <p:spPr>
          <a:xfrm>
            <a:off x="1206500" y="4635500"/>
            <a:ext cx="9779000" cy="762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3070"/>
                </a:solidFill>
                <a:latin typeface="微软雅黑" panose="020B0503020204020204" pitchFamily="34" charset="-122"/>
              </a:rPr>
              <a:t>结论：本研究不重复做综述，而是把缺口转化为可验证的架构和平台任务。</a:t>
            </a:r>
          </a:p>
        </p:txBody>
      </p:sp>
    </p:spTree>
    <p:extLst>
      <p:ext uri="{BB962C8B-B14F-4D97-AF65-F5344CB8AC3E}">
        <p14:creationId xmlns:p14="http://schemas.microsoft.com/office/powerpoint/2010/main" val="12902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工具链空白：支柱 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的动机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00563A-0023-A6F7-0C26-A9B8B59853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C382E9-0569-6340-07A2-6ECC64065ECF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现有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demo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能跑模型，但难以稳定记录同一输入下的多模型输出。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DA592F-F97F-3F81-2CDA-B4AE5FDDF240}"/>
              </a:ext>
            </a:extLst>
          </p:cNvPr>
          <p:cNvSpPr/>
          <p:nvPr/>
        </p:nvSpPr>
        <p:spPr>
          <a:xfrm>
            <a:off x="1016000" y="19685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模型入口分散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2B7F7F-39EA-0356-EFBC-1F50CE25B945}"/>
              </a:ext>
            </a:extLst>
          </p:cNvPr>
          <p:cNvSpPr/>
          <p:nvPr/>
        </p:nvSpPr>
        <p:spPr>
          <a:xfrm>
            <a:off x="3111500" y="19685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不同仓库、环境与脚本割裂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E68970-5955-FE79-1C1E-DB4133EF42F1}"/>
              </a:ext>
            </a:extLst>
          </p:cNvPr>
          <p:cNvSpPr/>
          <p:nvPr/>
        </p:nvSpPr>
        <p:spPr>
          <a:xfrm>
            <a:off x="1016000" y="30861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输出格式异构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7627D7-417E-F5DB-0A55-D1A5F0BC5CE7}"/>
              </a:ext>
            </a:extLst>
          </p:cNvPr>
          <p:cNvSpPr/>
          <p:nvPr/>
        </p:nvSpPr>
        <p:spPr>
          <a:xfrm>
            <a:off x="3111500" y="30861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pointmap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mesh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、动态轨迹难以横向比较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71B6D5-6D66-87C0-EF53-B6B6492BEA02}"/>
              </a:ext>
            </a:extLst>
          </p:cNvPr>
          <p:cNvSpPr/>
          <p:nvPr/>
        </p:nvSpPr>
        <p:spPr>
          <a:xfrm>
            <a:off x="1016000" y="4203700"/>
            <a:ext cx="1905000" cy="685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日志口径不一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51E334-28F0-FAE1-C5AA-1BECF1EFC8B3}"/>
              </a:ext>
            </a:extLst>
          </p:cNvPr>
          <p:cNvSpPr/>
          <p:nvPr/>
        </p:nvSpPr>
        <p:spPr>
          <a:xfrm>
            <a:off x="3111500" y="42037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耗时、状态、失败原因缺少统一记录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E35340-38F3-112F-B4CD-D4F8337BD465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的定位：把一次性演示变成可复查的实验流程。</a:t>
            </a:r>
          </a:p>
        </p:txBody>
      </p:sp>
    </p:spTree>
    <p:extLst>
      <p:ext uri="{BB962C8B-B14F-4D97-AF65-F5344CB8AC3E}">
        <p14:creationId xmlns:p14="http://schemas.microsoft.com/office/powerpoint/2010/main" val="73054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研究目标：两大支柱与边界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F1E5B6-BDEB-2D6A-CF96-A63E7E9E045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F1A5C4-BAB4-CBD6-3E3E-F4F93D7F0BFF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研究目标不是证明某个模型最强，而是让候选机制可以被对照检验。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CF8156-AF97-9029-23DA-AD7CCB2DDAFE}"/>
              </a:ext>
            </a:extLst>
          </p:cNvPr>
          <p:cNvSpPr/>
          <p:nvPr/>
        </p:nvSpPr>
        <p:spPr>
          <a:xfrm>
            <a:off x="762000" y="1968500"/>
            <a:ext cx="3175000" cy="381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A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4607AB-3F0D-9CBA-2717-6A1D0FC876B7}"/>
              </a:ext>
            </a:extLst>
          </p:cNvPr>
          <p:cNvSpPr/>
          <p:nvPr/>
        </p:nvSpPr>
        <p:spPr>
          <a:xfrm>
            <a:off x="762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X</a:t>
            </a:r>
            <a:endParaRPr lang="zh-CN" altLang="en-US" sz="15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273F25-DD44-83D5-0E6B-99F80598B5AA}"/>
              </a:ext>
            </a:extLst>
          </p:cNvPr>
          <p:cNvSpPr/>
          <p:nvPr/>
        </p:nvSpPr>
        <p:spPr>
          <a:xfrm>
            <a:off x="762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校验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编排 </a:t>
            </a:r>
            <a:r>
              <a:rPr lang="en-US" altLang="zh-CN" sz="15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EC5633-18DC-B35B-7191-D3FAE024F2F9}"/>
              </a:ext>
            </a:extLst>
          </p:cNvPr>
          <p:cNvSpPr/>
          <p:nvPr/>
        </p:nvSpPr>
        <p:spPr>
          <a:xfrm>
            <a:off x="762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消融实验与对照验证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B4EB53-B15F-6E7C-176A-4FE3128EEF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2360856"/>
            <a:ext cx="3683000" cy="20727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CC6FE41-17F8-8169-CA06-00114C0E8947}"/>
              </a:ext>
            </a:extLst>
          </p:cNvPr>
          <p:cNvSpPr/>
          <p:nvPr/>
        </p:nvSpPr>
        <p:spPr>
          <a:xfrm>
            <a:off x="8255000" y="1968500"/>
            <a:ext cx="3175000" cy="381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B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5B0CB1-0D91-10CF-9C6A-DE63D865BD0C}"/>
              </a:ext>
            </a:extLst>
          </p:cNvPr>
          <p:cNvSpPr/>
          <p:nvPr/>
        </p:nvSpPr>
        <p:spPr>
          <a:xfrm>
            <a:off x="8255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统一执行合同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4628D2-1652-B4FB-C3EA-2E01578C8DD4}"/>
              </a:ext>
            </a:extLst>
          </p:cNvPr>
          <p:cNvSpPr/>
          <p:nvPr/>
        </p:nvSpPr>
        <p:spPr>
          <a:xfrm>
            <a:off x="8255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多模型接入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9BB07E-F468-FE80-4625-18B61A9DA099}"/>
              </a:ext>
            </a:extLst>
          </p:cNvPr>
          <p:cNvSpPr/>
          <p:nvPr/>
        </p:nvSpPr>
        <p:spPr>
          <a:xfrm>
            <a:off x="8255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F2037"/>
                </a:solidFill>
                <a:latin typeface="微软雅黑" panose="020B0503020204020204" pitchFamily="34" charset="-122"/>
              </a:rPr>
              <a:t>远端调度与日志记录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2769B3-27B1-9A73-8E5B-5D14016F9EB5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4A91"/>
                </a:solidFill>
                <a:latin typeface="微软雅黑" panose="020B0503020204020204" pitchFamily="34" charset="-122"/>
              </a:rPr>
              <a:t>三条红线：候选不等于结论；不押注单一支线；只报告对照数据。</a:t>
            </a:r>
          </a:p>
        </p:txBody>
      </p:sp>
    </p:spTree>
    <p:extLst>
      <p:ext uri="{BB962C8B-B14F-4D97-AF65-F5344CB8AC3E}">
        <p14:creationId xmlns:p14="http://schemas.microsoft.com/office/powerpoint/2010/main" val="112359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B8B21E2-F32D-7C3F-710F-93C5D2ECFA28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54D73C-D78F-5A26-1FE4-5CA51F8421C4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4A91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234E6-EF19-46E7-E709-03C63BF5A827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X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：把机制放进同一框架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545DD3-E13E-6D49-4B9B-F7FB4667EE4C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平台支柱 </a:t>
            </a:r>
            <a:r>
              <a:rPr lang="en-US" altLang="zh-CN">
                <a:solidFill>
                  <a:srgbClr val="0F2037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：统一执行与记录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38AEB8-5515-A61A-3D07-CD42978AB6DA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每个模块保留退化和替换空间</a:t>
            </a:r>
          </a:p>
        </p:txBody>
      </p:sp>
    </p:spTree>
    <p:extLst>
      <p:ext uri="{BB962C8B-B14F-4D97-AF65-F5344CB8AC3E}">
        <p14:creationId xmlns:p14="http://schemas.microsoft.com/office/powerpoint/2010/main" val="345087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3000" b="1">
                <a:solidFill>
                  <a:srgbClr val="003070"/>
                </a:solidFill>
                <a:latin typeface="微软雅黑" panose="020B0503020204020204" pitchFamily="34" charset="-122"/>
              </a:rPr>
              <a:t>X</a:t>
            </a:r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：整体设计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4B6D93-E989-40F1-CFBB-2A3924075D3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2375DA-D7BB-1E9C-0605-7B728FD68D5A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的作用是组织可检验假设，而不是提前给出最终模型。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C832-92BF-5841-71E7-04F09D0F62A9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E3DB13-1321-5ADA-4D02-803E80EEAFB1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图像序列
单图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图像对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357B32C1-3877-9428-4B9E-2093C32F9905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D37F3-96EE-175A-5064-DF5B44175D77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前馈模型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4F851A-736B-7751-B3A0-253EE179DBA0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DUSt3R
MASt3R
Fast3R</a:t>
            </a:r>
            <a:endParaRPr lang="zh-CN" altLang="en-US" sz="19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54A1A34-E5FA-AC6F-B604-EE62AA539A68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F033B-C311-A4CA-D756-8F52E1D83528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71DC32-B238-7081-80A0-2667C00902D5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几何一致性
失败信号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12FF7EC-016B-79FD-A12F-CC730042DC62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68EF6E-5176-3194-31EA-EDEA10EAC316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ECB681-94B6-18B1-BFAB-85FCB56409D7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选择专家
记录决策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94CAEA4-E051-2D57-A6E6-87739A16DF08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CED425-D1C2-58CB-60CB-B62B5388940A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8955F5-D1FF-69AE-ED1E-7CE5119F1E71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pointmap
mask / mesh</a:t>
            </a:r>
            <a:endParaRPr lang="zh-CN" altLang="en-US" sz="1900">
              <a:solidFill>
                <a:srgbClr val="0F20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1A7091-3E5E-19DA-6862-F69C2BFAAA4B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保留退化路径：任何模块效果不稳定，都可以退回普通前馈模型对照。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8198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校验模块：几何一致性反馈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0C62E9-6A09-85CC-06FB-25FCD720B5E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7AF5BA-8741-48B1-B309-AD3FC7550E65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校验模块把几何一致性作为显式信号，避免只在结果页解释失败。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1AA29B-4BB0-72F2-A83E-84DA6E5AF4E1}"/>
              </a:ext>
            </a:extLst>
          </p:cNvPr>
          <p:cNvSpPr/>
          <p:nvPr/>
        </p:nvSpPr>
        <p:spPr>
          <a:xfrm>
            <a:off x="889000" y="2159000"/>
            <a:ext cx="2667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71386F-C5BE-0FBF-7887-BAD51464E63E}"/>
              </a:ext>
            </a:extLst>
          </p:cNvPr>
          <p:cNvSpPr/>
          <p:nvPr/>
        </p:nvSpPr>
        <p:spPr>
          <a:xfrm>
            <a:off x="889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点图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匹配关系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EF888C4-06C5-5A52-7680-837FA229653E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1E7BF-E38E-4108-12B1-FEC9536A7E14}"/>
              </a:ext>
            </a:extLst>
          </p:cNvPr>
          <p:cNvSpPr/>
          <p:nvPr/>
        </p:nvSpPr>
        <p:spPr>
          <a:xfrm>
            <a:off x="4635500" y="2159000"/>
            <a:ext cx="2921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校验信号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2BCB1B-B1AE-1BF9-6F6C-39529CCF2776}"/>
              </a:ext>
            </a:extLst>
          </p:cNvPr>
          <p:cNvSpPr/>
          <p:nvPr/>
        </p:nvSpPr>
        <p:spPr>
          <a:xfrm>
            <a:off x="4635500" y="2616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重投影误差
深度一致性
动态区域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53E34D9-7CC8-7AAA-7CD9-843D370780F1}"/>
              </a:ext>
            </a:extLst>
          </p:cNvPr>
          <p:cNvSpPr/>
          <p:nvPr/>
        </p:nvSpPr>
        <p:spPr>
          <a:xfrm>
            <a:off x="78105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3A83BB-6B7A-4695-82EB-4848AEF175B3}"/>
              </a:ext>
            </a:extLst>
          </p:cNvPr>
          <p:cNvSpPr/>
          <p:nvPr/>
        </p:nvSpPr>
        <p:spPr>
          <a:xfrm>
            <a:off x="8636000" y="2159000"/>
            <a:ext cx="2667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反馈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755DCC-0C96-F285-504E-BEED3EC460FB}"/>
              </a:ext>
            </a:extLst>
          </p:cNvPr>
          <p:cNvSpPr/>
          <p:nvPr/>
        </p:nvSpPr>
        <p:spPr>
          <a:xfrm>
            <a:off x="8636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继续执行
触发修正
交给编排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A68116-870F-9EB3-7792-4F71DCC6E831}"/>
              </a:ext>
            </a:extLst>
          </p:cNvPr>
          <p:cNvSpPr/>
          <p:nvPr/>
        </p:nvSpPr>
        <p:spPr>
          <a:xfrm>
            <a:off x="1270000" y="4762500"/>
            <a:ext cx="9652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关键点：校验不是后处理说明，而是架构内部的判断入口。</a:t>
            </a:r>
          </a:p>
        </p:txBody>
      </p:sp>
    </p:spTree>
    <p:extLst>
      <p:ext uri="{BB962C8B-B14F-4D97-AF65-F5344CB8AC3E}">
        <p14:creationId xmlns:p14="http://schemas.microsoft.com/office/powerpoint/2010/main" val="40742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编排与记忆：组合机制与长序列状态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F28526-C3E2-3175-29EA-28E59399566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9ECCCA-D253-7346-EE3A-985D34F18AAE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编排负责模型组合，记忆负责长序列状态；两者都需要独立消融。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C0D6A3-7569-BA5F-1551-0B2F25D0FBED}"/>
              </a:ext>
            </a:extLst>
          </p:cNvPr>
          <p:cNvSpPr/>
          <p:nvPr/>
        </p:nvSpPr>
        <p:spPr>
          <a:xfrm>
            <a:off x="889000" y="1968500"/>
            <a:ext cx="457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编排模块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03F098-5A74-D7DA-89FC-949FC810C16F}"/>
              </a:ext>
            </a:extLst>
          </p:cNvPr>
          <p:cNvSpPr/>
          <p:nvPr/>
        </p:nvSpPr>
        <p:spPr>
          <a:xfrm>
            <a:off x="889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按场景和失败信号选择专家
快速模型：控制成本
鲁棒模型：处理困难样本
动态模型：处理运动场景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955779-21AB-965A-DFD3-56F9D4F2AF61}"/>
              </a:ext>
            </a:extLst>
          </p:cNvPr>
          <p:cNvSpPr/>
          <p:nvPr/>
        </p:nvSpPr>
        <p:spPr>
          <a:xfrm>
            <a:off x="6731000" y="1968500"/>
            <a:ext cx="457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069DDC-261E-8163-4D2F-F9E9C9EC69E3}"/>
              </a:ext>
            </a:extLst>
          </p:cNvPr>
          <p:cNvSpPr/>
          <p:nvPr/>
        </p:nvSpPr>
        <p:spPr>
          <a:xfrm>
            <a:off x="6731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维护长序列状态
短期：局部帧间信息
长期：跨片段信息
检索：相似状态补充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8B08D-8F72-0BF8-6576-368C0BE7E2BC}"/>
              </a:ext>
            </a:extLst>
          </p:cNvPr>
          <p:cNvSpPr/>
          <p:nvPr/>
        </p:nvSpPr>
        <p:spPr>
          <a:xfrm>
            <a:off x="1460500" y="5016500"/>
            <a:ext cx="9271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3070"/>
                </a:solidFill>
                <a:latin typeface="微软雅黑" panose="020B0503020204020204" pitchFamily="34" charset="-122"/>
              </a:rPr>
              <a:t>后续判断标准：加入模块后是否在指定场景中稳定改善，而不是只看整体平均分。</a:t>
            </a:r>
          </a:p>
        </p:txBody>
      </p:sp>
    </p:spTree>
    <p:extLst>
      <p:ext uri="{BB962C8B-B14F-4D97-AF65-F5344CB8AC3E}">
        <p14:creationId xmlns:p14="http://schemas.microsoft.com/office/powerpoint/2010/main" val="2038048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平台与合同：统一接入和执行记录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D20D21-08F7-BDB0-344C-C51CCE04FFA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8C2AD6-96CC-027F-F686-DA17DFC93F5C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平台侧统一模型入口、执行状态和结果记录，服务后续横向对比。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4C8E11-11DF-E8D5-021E-7199CEAFAD70}"/>
              </a:ext>
            </a:extLst>
          </p:cNvPr>
          <p:cNvSpPr/>
          <p:nvPr/>
        </p:nvSpPr>
        <p:spPr>
          <a:xfrm>
            <a:off x="1016000" y="19685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桌面前端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4C34E2-859C-766B-2045-73B29E461873}"/>
              </a:ext>
            </a:extLst>
          </p:cNvPr>
          <p:cNvSpPr/>
          <p:nvPr/>
        </p:nvSpPr>
        <p:spPr>
          <a:xfrm>
            <a:off x="3556000" y="19685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提交任务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09BE3E-A7D2-0C0D-0F7F-C48F8EFD3D9E}"/>
              </a:ext>
            </a:extLst>
          </p:cNvPr>
          <p:cNvSpPr/>
          <p:nvPr/>
        </p:nvSpPr>
        <p:spPr>
          <a:xfrm>
            <a:off x="1016000" y="27559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本地后端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49DE3E-E704-9A1C-596F-0609FEC36020}"/>
              </a:ext>
            </a:extLst>
          </p:cNvPr>
          <p:cNvSpPr/>
          <p:nvPr/>
        </p:nvSpPr>
        <p:spPr>
          <a:xfrm>
            <a:off x="3556000" y="27559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参数校验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任务封装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5D11CE-B389-4A0A-C06E-ECD55A0B1E88}"/>
              </a:ext>
            </a:extLst>
          </p:cNvPr>
          <p:cNvSpPr/>
          <p:nvPr/>
        </p:nvSpPr>
        <p:spPr>
          <a:xfrm>
            <a:off x="1016000" y="35433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远端调度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A6197E-C048-6FDC-258C-AF5694D22C06}"/>
              </a:ext>
            </a:extLst>
          </p:cNvPr>
          <p:cNvSpPr/>
          <p:nvPr/>
        </p:nvSpPr>
        <p:spPr>
          <a:xfrm>
            <a:off x="3556000" y="35433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SSH 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日志 </a:t>
            </a:r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2DFF94-7A5B-76BE-8ED0-5C73C6FDE09A}"/>
              </a:ext>
            </a:extLst>
          </p:cNvPr>
          <p:cNvSpPr/>
          <p:nvPr/>
        </p:nvSpPr>
        <p:spPr>
          <a:xfrm>
            <a:off x="1016000" y="4330700"/>
            <a:ext cx="2286000" cy="609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模型执行层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11D02D-88E2-6E09-946F-1BE36A5158A1}"/>
              </a:ext>
            </a:extLst>
          </p:cNvPr>
          <p:cNvSpPr/>
          <p:nvPr/>
        </p:nvSpPr>
        <p:spPr>
          <a:xfrm>
            <a:off x="3556000" y="43307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F2037"/>
                </a:solidFill>
                <a:latin typeface="微软雅黑" panose="020B0503020204020204" pitchFamily="34" charset="-122"/>
              </a:rPr>
              <a:t>DUSt3R / MASt3R / Fast3R </a:t>
            </a:r>
            <a:r>
              <a:rPr lang="zh-CN" altLang="en-US" sz="2000">
                <a:solidFill>
                  <a:srgbClr val="0F2037"/>
                </a:solidFill>
                <a:latin typeface="微软雅黑" panose="020B0503020204020204" pitchFamily="34" charset="-122"/>
              </a:rPr>
              <a:t>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0A8623-5A7A-640A-8E9A-8B0FE9C0D5D7}"/>
              </a:ext>
            </a:extLst>
          </p:cNvPr>
          <p:cNvSpPr/>
          <p:nvPr/>
        </p:nvSpPr>
        <p:spPr>
          <a:xfrm>
            <a:off x="1905000" y="5461000"/>
            <a:ext cx="8382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3070"/>
                </a:solidFill>
                <a:latin typeface="微软雅黑" panose="020B0503020204020204" pitchFamily="34" charset="-122"/>
              </a:rPr>
              <a:t>平台界面暂不展示；待版本稳定后再补充截图。</a:t>
            </a:r>
          </a:p>
        </p:txBody>
      </p:sp>
    </p:spTree>
    <p:extLst>
      <p:ext uri="{BB962C8B-B14F-4D97-AF65-F5344CB8AC3E}">
        <p14:creationId xmlns:p14="http://schemas.microsoft.com/office/powerpoint/2010/main" val="4104638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EB57BC6-3D31-3416-BB3C-4AFAE1163124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AC992A-388B-AB0B-C6CD-7F231829630F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4A91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C944C2-D486-2DFB-0F23-09373AEB550A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先保证可比较，再讨论机制效果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D89DA-D00B-8286-1E74-C6936D736C80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平台进展作为工程证据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7D8B2-76A6-9101-A208-56B823720BBB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0F2037"/>
                </a:solidFill>
                <a:latin typeface="微软雅黑" panose="020B0503020204020204" pitchFamily="34" charset="-122"/>
              </a:rPr>
              <a:t>风险集中在结果解释边界</a:t>
            </a:r>
          </a:p>
        </p:txBody>
      </p:sp>
    </p:spTree>
    <p:extLst>
      <p:ext uri="{BB962C8B-B14F-4D97-AF65-F5344CB8AC3E}">
        <p14:creationId xmlns:p14="http://schemas.microsoft.com/office/powerpoint/2010/main" val="410388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实验设计：三层证据链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B19993-F701-817D-D559-16F0740BBC1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895B1A-A8E7-644D-E5F0-33A3656A5CEE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实验页只回答一个问题：候选机制是否在统一口径下值得保留。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F35F83-91B6-3F3F-2968-5BBD0C429DA1}"/>
              </a:ext>
            </a:extLst>
          </p:cNvPr>
          <p:cNvSpPr/>
          <p:nvPr/>
        </p:nvSpPr>
        <p:spPr>
          <a:xfrm>
            <a:off x="8255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第一层：基线对比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2E635-DFB8-CDB7-7DF7-E2BD750E153A}"/>
              </a:ext>
            </a:extLst>
          </p:cNvPr>
          <p:cNvSpPr/>
          <p:nvPr/>
        </p:nvSpPr>
        <p:spPr>
          <a:xfrm>
            <a:off x="825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同一输入
同一日志
同一输出字段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C2F628-BF44-9A99-663B-2CD36759F75F}"/>
              </a:ext>
            </a:extLst>
          </p:cNvPr>
          <p:cNvSpPr/>
          <p:nvPr/>
        </p:nvSpPr>
        <p:spPr>
          <a:xfrm>
            <a:off x="44450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第二层：模块消融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BA4B9D-690A-EEB2-24C1-2E0D105AE79A}"/>
              </a:ext>
            </a:extLst>
          </p:cNvPr>
          <p:cNvSpPr/>
          <p:nvPr/>
        </p:nvSpPr>
        <p:spPr>
          <a:xfrm>
            <a:off x="44450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无校验
无编排
无记忆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4E8870-9C05-1E5E-1A7B-0CF543E92530}"/>
              </a:ext>
            </a:extLst>
          </p:cNvPr>
          <p:cNvSpPr/>
          <p:nvPr/>
        </p:nvSpPr>
        <p:spPr>
          <a:xfrm>
            <a:off x="8064500" y="2032000"/>
            <a:ext cx="33020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第三层：平台评估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F89109-9805-EBFC-DD13-6005C1A132C7}"/>
              </a:ext>
            </a:extLst>
          </p:cNvPr>
          <p:cNvSpPr/>
          <p:nvPr/>
        </p:nvSpPr>
        <p:spPr>
          <a:xfrm>
            <a:off x="8064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任务提交
状态记录
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CF617E-AB54-A7AC-A155-1ABF236065FE}"/>
              </a:ext>
            </a:extLst>
          </p:cNvPr>
          <p:cNvSpPr/>
          <p:nvPr/>
        </p:nvSpPr>
        <p:spPr>
          <a:xfrm>
            <a:off x="1333500" y="5207000"/>
            <a:ext cx="9525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3070"/>
                </a:solidFill>
                <a:latin typeface="微软雅黑" panose="020B0503020204020204" pitchFamily="34" charset="-122"/>
              </a:rPr>
              <a:t>实验设计先保证可比较，再讨论候选机制是否有效。</a:t>
            </a:r>
          </a:p>
        </p:txBody>
      </p:sp>
    </p:spTree>
    <p:extLst>
      <p:ext uri="{BB962C8B-B14F-4D97-AF65-F5344CB8AC3E}">
        <p14:creationId xmlns:p14="http://schemas.microsoft.com/office/powerpoint/2010/main" val="58345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已有证据：平台测量与模型接入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1162-20E1-A82B-D7E2-B4E1839C3F9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0E95DF-FB74-A25B-A68A-AD53C9408126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平台已有测量说明：统一调度和日志记录不是附属工作，而是实验前提。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621CD1-D97B-C0F8-1CFB-3885EAA2BE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82" y="1714500"/>
            <a:ext cx="7837237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5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进展安排：阶段交付与时间线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C2A233-41EC-C4A2-0ABC-14D0E5A30A2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A845E8-5FFD-1B75-B712-CE04C8266EFC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后续工作按“复现基线 → 模块消融 → 长序列实验 → 论文整理”推进。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1CB6FD-F524-FA2E-0EA8-7C5E2524694C}"/>
              </a:ext>
            </a:extLst>
          </p:cNvPr>
          <p:cNvSpPr/>
          <p:nvPr/>
        </p:nvSpPr>
        <p:spPr>
          <a:xfrm>
            <a:off x="1016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M1-M2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8512E-EA3B-370A-5D4D-C995C31EFF8C}"/>
              </a:ext>
            </a:extLst>
          </p:cNvPr>
          <p:cNvSpPr/>
          <p:nvPr/>
        </p:nvSpPr>
        <p:spPr>
          <a:xfrm>
            <a:off x="1016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基线复现
平台稳定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4A43109-2578-B121-F7E0-43AB479F1585}"/>
              </a:ext>
            </a:extLst>
          </p:cNvPr>
          <p:cNvSpPr/>
          <p:nvPr/>
        </p:nvSpPr>
        <p:spPr>
          <a:xfrm>
            <a:off x="3492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E589F3-118C-2FA0-A39E-1D12E8D66D3A}"/>
              </a:ext>
            </a:extLst>
          </p:cNvPr>
          <p:cNvSpPr/>
          <p:nvPr/>
        </p:nvSpPr>
        <p:spPr>
          <a:xfrm>
            <a:off x="3810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M3-M4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2032D2-1ED3-2FD0-0266-4246A944FD5E}"/>
              </a:ext>
            </a:extLst>
          </p:cNvPr>
          <p:cNvSpPr/>
          <p:nvPr/>
        </p:nvSpPr>
        <p:spPr>
          <a:xfrm>
            <a:off x="3810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模块消融
对照实验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FDBCAC6-A2BE-4C2B-EF03-F866949AE70F}"/>
              </a:ext>
            </a:extLst>
          </p:cNvPr>
          <p:cNvSpPr/>
          <p:nvPr/>
        </p:nvSpPr>
        <p:spPr>
          <a:xfrm>
            <a:off x="6286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7CE337-02E1-8864-8713-D8378D898C5D}"/>
              </a:ext>
            </a:extLst>
          </p:cNvPr>
          <p:cNvSpPr/>
          <p:nvPr/>
        </p:nvSpPr>
        <p:spPr>
          <a:xfrm>
            <a:off x="6604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M5-M6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1297E3-87D5-802E-3651-41885B20B3A1}"/>
              </a:ext>
            </a:extLst>
          </p:cNvPr>
          <p:cNvSpPr/>
          <p:nvPr/>
        </p:nvSpPr>
        <p:spPr>
          <a:xfrm>
            <a:off x="6604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长序列
动态场景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31122DF5-0094-29FC-ACD1-FF78773A9AB9}"/>
              </a:ext>
            </a:extLst>
          </p:cNvPr>
          <p:cNvSpPr/>
          <p:nvPr/>
        </p:nvSpPr>
        <p:spPr>
          <a:xfrm>
            <a:off x="9080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CDE800-8B54-481C-759E-4CD14843F53B}"/>
              </a:ext>
            </a:extLst>
          </p:cNvPr>
          <p:cNvSpPr/>
          <p:nvPr/>
        </p:nvSpPr>
        <p:spPr>
          <a:xfrm>
            <a:off x="9398000" y="2222500"/>
            <a:ext cx="2349500" cy="4318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微软雅黑" panose="020B0503020204020204" pitchFamily="34" charset="-122"/>
              </a:rPr>
              <a:t>M7-M8</a:t>
            </a:r>
            <a:endParaRPr lang="zh-CN" altLang="en-US" sz="1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C13470-BC3B-E6CF-7098-89CFDD88838B}"/>
              </a:ext>
            </a:extLst>
          </p:cNvPr>
          <p:cNvSpPr/>
          <p:nvPr/>
        </p:nvSpPr>
        <p:spPr>
          <a:xfrm>
            <a:off x="9398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F2037"/>
                </a:solidFill>
                <a:latin typeface="微软雅黑" panose="020B0503020204020204" pitchFamily="34" charset="-122"/>
              </a:rPr>
              <a:t>论文整理
系统固化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AC6347-6E6A-C263-8ACB-5D4B31E96CD7}"/>
              </a:ext>
            </a:extLst>
          </p:cNvPr>
          <p:cNvSpPr/>
          <p:nvPr/>
        </p:nvSpPr>
        <p:spPr>
          <a:xfrm>
            <a:off x="1206500" y="4953000"/>
            <a:ext cx="9779000" cy="571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3070"/>
                </a:solidFill>
                <a:latin typeface="微软雅黑" panose="020B0503020204020204" pitchFamily="34" charset="-122"/>
              </a:rPr>
              <a:t>阶段交付物：基线记录、消融结果、长序列评测、平台使用说明。</a:t>
            </a:r>
          </a:p>
        </p:txBody>
      </p:sp>
    </p:spTree>
    <p:extLst>
      <p:ext uri="{BB962C8B-B14F-4D97-AF65-F5344CB8AC3E}">
        <p14:creationId xmlns:p14="http://schemas.microsoft.com/office/powerpoint/2010/main" val="327435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>
                <a:solidFill>
                  <a:srgbClr val="003070"/>
                </a:solidFill>
                <a:latin typeface="微软雅黑" panose="020B0503020204020204" pitchFamily="34" charset="-122"/>
              </a:rPr>
              <a:t>风险与预期成果</a:t>
            </a:r>
            <a:endParaRPr lang="zh-CN" altLang="en-US" sz="3000" b="1" dirty="0">
              <a:solidFill>
                <a:srgbClr val="0030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3899B2-02BC-3664-E04E-3BC2892632D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039C79-4077-9E1F-8CEC-096A9F156FAA}"/>
              </a:ext>
            </a:extLst>
          </p:cNvPr>
          <p:cNvSpPr/>
          <p:nvPr/>
        </p:nvSpPr>
        <p:spPr>
          <a:xfrm>
            <a:off x="431800" y="1168400"/>
            <a:ext cx="11303000" cy="4826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风险主要来自实验波动和表述边界，预期成果必须落到可检查交付物。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4979B3-B660-5DCF-384D-879F7CFCA207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实验风险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5B9322-A351-86FC-6397-1DF86F031E3C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性能波动或提升不稳定
设置强基线与消融组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F2BC8B-B325-3E92-044C-851D28CF1EBB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工程风险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AF3A1A-EEAF-E0FF-F372-4302C83D491A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模型适配与资源受限
保留离线执行方案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CBB7F4D-E05A-58A5-3E11-8802F1779B11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表达风险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8FAA234-F0B3-796F-18C5-DDB59252B205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避免计划写成结果
统一使用候选与评估表述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FEA3DB-F91A-F78E-7880-4336786AB8B6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4A91"/>
          </a:solidFill>
          <a:ln w="12700">
            <a:solidFill>
              <a:srgbClr val="004A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</a:rPr>
              <a:t>预期成果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F4A5B06-50EF-8D6C-4842-1106CD0BDDC5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F2037"/>
                </a:solidFill>
                <a:latin typeface="微软雅黑" panose="020B0503020204020204" pitchFamily="34" charset="-122"/>
              </a:rPr>
              <a:t>对照实验数据
可复用聚合管理平台</a:t>
            </a:r>
          </a:p>
        </p:txBody>
      </p:sp>
    </p:spTree>
    <p:extLst>
      <p:ext uri="{BB962C8B-B14F-4D97-AF65-F5344CB8AC3E}">
        <p14:creationId xmlns:p14="http://schemas.microsoft.com/office/powerpoint/2010/main" val="39396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AD335E-CE08-B8D9-98BF-A4A8B3D7C415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A91"/>
                </a:solidFill>
                <a:latin typeface="微软雅黑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E25153-B0BF-CE87-378A-2694256E5E9D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F2037"/>
                </a:solidFill>
                <a:latin typeface="微软雅黑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F2037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F2037"/>
                </a:solidFill>
                <a:latin typeface="微软雅黑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41858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Microsoft Office PowerPoint</Application>
  <PresentationFormat>宽屏</PresentationFormat>
  <Paragraphs>178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2026-05-17T16:22:42Z</dcterms:created>
  <dcterms:modified xsi:type="dcterms:W3CDTF">2026-05-17T16:22:42Z</dcterms:modified>
</cp:coreProperties>
</file>