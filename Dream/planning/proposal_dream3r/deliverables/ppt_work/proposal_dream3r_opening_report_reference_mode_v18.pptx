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4D4D4-7AED-66E4-E436-8DEEF5D5D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47C5CA-86C8-7018-AC96-EAED67210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02755D-15FE-8D66-5415-53F356E1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9BBCCC-C734-7A93-915C-345A12CC8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CB096-2C81-CC91-5B59-E4EE4DDEF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67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F44A8-735C-B15E-DA7F-BB5C1E774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A6BB98-6886-A4DA-F1B9-E363692E0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604D7F-D343-E14B-FDA0-C88285F3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04520D-718E-AB11-5E47-1B1B53C8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39E8E6-75A3-B54C-F309-6642FDC2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60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A8757-B40B-A1D5-A0E2-62EC4A66F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3FE675-DDA0-406C-F1DE-CDCF87FC0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ED298A-F40F-A8AB-BE5C-46B60B237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F914A-1832-F23E-BC33-204DFA840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18FBB7-8B9C-FAB2-9F8A-DD315CB2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95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6760B-0E95-D579-BA21-0DA1C6494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A5E1D9-9DDA-A854-C727-B2F7BACEF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DCE888-FE84-56B4-3F6F-AB85C9631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CF7E96-1FC2-5CE8-2BF3-466F1578A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83B29C-F156-26F9-7F6F-A3AAA64CE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A46FBF-3CCE-0FE5-258D-B34F7AA7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440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E3996-7DB3-2F9E-4C95-6541C3AB5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41BCDB-0B87-5DCB-A72D-DB6B587D8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628CC2-1EFA-B3BF-69F5-46A319A93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BA0C37-0767-6952-9775-7E55393EB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A8D8CB-CC3D-2B6E-E479-F508CFA31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4D31B30-E19E-F476-0634-D72C9A51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0D9C05-19B2-34DB-CDDF-7F72DF422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8707F3-D3A8-8A11-6089-E1275235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821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6061A-E887-F1E7-48C6-5C58CBF6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64FE5D-F1DB-ADEE-A08B-C85CA0A4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D8DBFD-7B78-E9B5-72FA-73FB1DD4E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4F571E-1487-2D2A-7356-EB5D31C4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778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43FCC5-139A-A56B-D8E5-58736C240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74E211-406C-50EC-6471-4D76F45D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93027C-286B-EDFC-0AB9-D08E5029C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73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E57E1-532C-CF65-FF59-8AEA4A45A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894A82-BD96-377A-7CD8-E369BA302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C9AF35-7233-10DF-FB67-D5EB1BBAA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E57090-8A63-2CDC-DC29-DDCE5154A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09384-016A-2F1D-DD33-7638BABC3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56B930-5A3B-B6E0-6709-FCE244DD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50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54011-19BE-48AC-45E6-F0824216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5A55F8-0CC4-DBD5-F307-96103397A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1D0C26-DF2F-DB64-4B0B-A069C0C62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5F693F-11B3-D4FB-2A70-4DF7DB59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0F7260-81CC-85C5-673A-3E312D93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B50DC1-7635-465B-956F-9939270B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82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FE04C-1B7D-CDF2-DCA0-E7839BAD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CE4053-C453-444A-819D-16CB2FF00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F8856D-E97C-3907-B6B2-1CF19C7A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8AE26E-6697-A9AB-C69F-5001333C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FA70DE-75FA-4ABE-BE38-31726289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507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487441-AED6-0949-0804-3C45B06210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F6AF04-FF13-23AB-FBB8-D624D916E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DE4484-B36A-0620-C29F-F8B4379C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040241-F6C2-4940-7758-079833970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470A0-A02C-6498-4146-BBFD5C23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672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10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D3ED3E-5C05-CE56-3C1A-B77ED14F6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D947A1-E830-FBDE-BC04-D8537BF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9BC41E-DE6B-AECD-893D-B9BC3871E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DF9BA-8551-4A41-B79A-3999C96BB93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3C58B9-4622-81EA-FB4F-5E8BC9F38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58A488-239A-420C-47E7-177A04C4F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91331-D395-43F6-A24D-3B11ACDCE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0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213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213A172-EEDD-E018-7C67-242E9BF44A25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9BE16D-2B35-3024-6435-F1324EACEB86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01EAE3C-C0B0-9283-AF2A-2E338D579807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07298F5F-DB29-5880-80C5-8A763D5DE049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4C079C-006B-5023-2B91-88085B4E0376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B9A50D-AD09-DC49-2F61-F657871B03E1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6282F23-C4A6-BBB4-7C1E-0F678AA0EE46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068228-5362-7881-B62E-D75AE5291AAD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1AE972-68BF-9CB6-BF6A-AF11F790349F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6837071-015B-9614-7FC3-EEBB6798F8C8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ADB6693-7BD2-E441-79E9-B69DFE3FF006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7FB181-D13D-F64C-3AA8-5ABD21334C6B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AF0C403-8426-89ED-BF9E-5F42F66733F7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F98CBE8-D4C4-27CD-DD1C-C87B751C6DC1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0A1C65D-93B9-FF2C-4007-B255D0048506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115F90-E932-7DFA-DC24-407853BD237A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72EC75-8D44-B091-A98F-BFFDC33F68E0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6C405D5-497D-F3E8-EEF4-52384E5CED0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23B28A4-7525-DF31-40B6-52CA72FCC00A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88001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0DB56E-FD5B-20FC-504D-B2A6EFC8CDB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8C34FE-A3D2-A73A-C6A0-2C847138EAC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B69EB0F-E490-1501-A714-9C74A4F92F4A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A95F37E-C247-05E9-58DC-AE29B62A5EA9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1DF323C2-4802-B5D8-4696-68CE21603737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3E546DD6-6E2A-173E-2E14-B221A15F092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F21990A7-FCAF-8F45-9E8C-115F73290B1A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的价值在于统一输入输出；后续问题集中转向长序列、动态场景和结果可靠性。</a:t>
            </a:r>
          </a:p>
        </p:txBody>
      </p:sp>
    </p:spTree>
    <p:extLst>
      <p:ext uri="{BB962C8B-B14F-4D97-AF65-F5344CB8AC3E}">
        <p14:creationId xmlns:p14="http://schemas.microsoft.com/office/powerpoint/2010/main" val="3040674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0493415-0807-4A88-8D07-0805DAD348C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64426F9-B534-95F7-2766-D59F187A883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模型的优势集中在速度、端到端学习、统一输出和特色机制。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BD7B109-711D-EB53-6F5A-75A3E101AF1F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0C4B52-4735-C91A-65CE-9BA2250875E6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6F0506-A6E8-2E70-E772-205A7F3FB556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8B38FCB-B933-E423-E25E-597BFB419736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7268500-9499-F188-36B7-0ADBF8933189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54991F4-97AA-F5AA-A8D6-3735BD1774D3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B22B060-6043-B85D-B2D3-90C134D6F731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46E377-6CC3-33CF-510E-BF096270C4EE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D86CFE0-2698-887C-EE41-F69F49C2A5A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CUT3R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等工作提供了可借鉴的机制来源。</a:t>
            </a:r>
          </a:p>
        </p:txBody>
      </p:sp>
    </p:spTree>
    <p:extLst>
      <p:ext uri="{BB962C8B-B14F-4D97-AF65-F5344CB8AC3E}">
        <p14:creationId xmlns:p14="http://schemas.microsoft.com/office/powerpoint/2010/main" val="74650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5F2566-714E-1D32-F878-14830547F91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87C9E3-251D-CD8D-5969-923E14F0C63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模型在长序列、动态场景、自检查和多模型协同方面仍有短板。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1C1EAA-8430-8001-7DA9-AD2A914EB65E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827618-277F-AB0E-0936-88E433407D40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F3A50F-5968-89E6-D8FC-B219608AD97F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1AC4A8-3690-7ACB-C11E-F5231B2CE9BD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AB0051-F0C6-516B-DBAB-099E74FD3AB2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382840-84BE-C3E3-8FD9-A691E6B3A2B7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608005B-77E4-2677-15FB-96E133394199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4419A21-2CF1-A910-01CC-DDDB1812AF71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01FC70B-F2ED-3DA6-A387-A4D7AB225E23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CBF891-5586-90C2-5060-A2D556D2D43E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B4E0E15-B220-3846-9A6F-B38F7D3D49FA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课题目标由这些短板自然引出：记忆、校验、多专家编排和统一平台。</a:t>
            </a:r>
          </a:p>
        </p:txBody>
      </p:sp>
    </p:spTree>
    <p:extLst>
      <p:ext uri="{BB962C8B-B14F-4D97-AF65-F5344CB8AC3E}">
        <p14:creationId xmlns:p14="http://schemas.microsoft.com/office/powerpoint/2010/main" val="1142180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66EB28-38A4-17BA-D5A2-E7B472F1A64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7295AA-C490-448D-7163-52EE0CA47D3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设计思路分为两步：提取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有效机制，再引入新方法补足短板。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31A581-7F3C-7FBC-7BFC-49C998C3659E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DEC4E0-AEB0-7E3D-FD99-0E37D414EEF9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多模型互补：专家各取所长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277D00BC-11B9-5F5E-D5A5-105C74333F30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54A8E1-C1B4-6862-80AA-521C8A7A1500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215375-AC41-DD30-2998-1E7552709F5D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能力描述符：多专家路由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111F41-BFD5-86F9-B542-34EB5347028D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本课题的架构由这些机制组合自然推出，并通过实验检验各模块作用。</a:t>
            </a:r>
          </a:p>
        </p:txBody>
      </p:sp>
    </p:spTree>
    <p:extLst>
      <p:ext uri="{BB962C8B-B14F-4D97-AF65-F5344CB8AC3E}">
        <p14:creationId xmlns:p14="http://schemas.microsoft.com/office/powerpoint/2010/main" val="3955335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E44643-3ABB-BDD3-3F7B-E9A5C3488BC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D3CA56-D6ED-2D81-4483-C770DA39C55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课题包含新架构设计和聚合管理平台两条主线，二者服务于同一组实验目标。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E1491C-1B01-142F-0682-4D8BF9A19569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18BD5D-0954-35E2-EBD1-84BFD70D703B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多专家编排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D76A05A4-ED61-5DC2-9FD3-11D34A216A56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2F58FA-5260-E6C4-FBCE-AD5DEA70EA0B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252192-D8E6-2AE3-A3D6-F4B395BB5937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EE59C1-C3A7-F9AC-E459-C0E0016EB577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平台提供统一实验条件；新架构完成后可作为新模型接入平台进行同条件比较。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58940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81BF27-2613-ED66-B340-3674FACF10A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5A0A47-A650-5FE4-77E4-117794CD8EE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总体架构以总线为核心，把感知、记忆、动静分离、校验和专家编排串联起来。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4699F7-9A29-0CBD-346B-D22555451E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114CF3-C4D4-46B1-1BCC-24C9ECDED954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268487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E10342-5F0A-D5AA-B0CA-77399526610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7EB3EE-08D0-7793-EFE7-3FB03577096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空间记忆模块把长序列上下文拆成压缩状态、空间锚点和局部滑窗三条路径。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E361A5-B305-C5F2-8F0D-A900B1DFCF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7A9F6AE-D191-5CA2-7382-C5E11BF8C96C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压缩管远程状态，选择管空间锚点，滑窗管当前上下文。</a:t>
            </a:r>
          </a:p>
        </p:txBody>
      </p:sp>
    </p:spTree>
    <p:extLst>
      <p:ext uri="{BB962C8B-B14F-4D97-AF65-F5344CB8AC3E}">
        <p14:creationId xmlns:p14="http://schemas.microsoft.com/office/powerpoint/2010/main" val="176466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8DFEBD-A494-7F52-BA02-7992E6807AE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C787AC-BC18-59E6-A4A5-E008991556A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几何校验模块先聚合冲突信号，再按阈值触发重跑或专家切换。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770008-7246-5F3D-24DC-AD158B3D108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4A81321-8645-4649-5017-FDB6B580DFB2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校验理念来自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，本课题把它接入架构内部的修复动作。</a:t>
            </a:r>
          </a:p>
        </p:txBody>
      </p:sp>
    </p:spTree>
    <p:extLst>
      <p:ext uri="{BB962C8B-B14F-4D97-AF65-F5344CB8AC3E}">
        <p14:creationId xmlns:p14="http://schemas.microsoft.com/office/powerpoint/2010/main" val="2579621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多专家编排模块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9A956A-7B66-68D7-3E5E-4A3BA8538D5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7B8D4E-7FEE-7476-6E59-2BDD7046D8C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多专家编排模块根据输入条件和校验结果在七个模型专家之间切换。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342C7B-C7EF-4075-978B-F658759C80E2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37DC8F-75A8-1484-75FC-C44146D58BD9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0A895D-9343-C588-EBC2-1727E5849F52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815568-DA95-1F88-853E-899E1100D9B7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F0CEF0-9C37-DFF8-5CA5-BB878E2140A8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7E4CA3-4904-3DE0-083B-367BD43EE8D6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9B10A2-A657-ED51-9C8E-4A22D0B5FACB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AA4EFE-D6BE-88B5-45C9-EAC7365C04BE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能力匹配度跨度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C3D9AE61-2634-869B-591A-C00F01AC2450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05053E-47B3-A10F-A158-82F8BB4CED6D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成本调整解析平局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C5019443-1F0B-84CC-845B-372371489D46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5A98A0-2D31-73F4-D01F-5E3D406AD89B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失败退化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E7873D-341A-EEC1-1AFA-327BB65D0AE3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单模型各有优势场景，多专家路由用于提升复杂输入下的适应能力。</a:t>
            </a:r>
          </a:p>
        </p:txBody>
      </p:sp>
    </p:spTree>
    <p:extLst>
      <p:ext uri="{BB962C8B-B14F-4D97-AF65-F5344CB8AC3E}">
        <p14:creationId xmlns:p14="http://schemas.microsoft.com/office/powerpoint/2010/main" val="683797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44CA5D-3122-DBEF-D808-53269A9D5A2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89550C-B7EB-3474-AFB8-D40A1D01A3B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4BE99F-9E2F-3BB1-AC7E-28EFEDD50D7D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DC8F57-FBF9-E3D6-B639-144A451D3177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D4956F-F97A-CCC9-A175-64FF8032647E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FF2219-29C8-23C6-10CB-E23E37B3BD5C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E07290-BD86-FA08-D59E-D9A3CC77E11C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EB86EB-D833-D54D-C017-7F8B6EC69D62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988B38-51FA-CF44-E0E2-1552EB70956D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93CA311-A303-6647-352D-BB897C83B418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716002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560854-5AF2-3744-92D3-9AECB603303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C0C07C-369A-985E-9058-EDBF572E591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多模型对比实验需要统一调度、统一格式和统一结果归集。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6E2B92-A641-B5FD-26DF-C48A70220C11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环境差异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19AF4C-B0F2-F8F0-2C2A-89A6499E1E35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每个模型都有自己的运行环境和依赖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5ADE33-88FC-6857-8A90-341CF0D48C39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格式差异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9E9354-A730-B878-FCFD-5F0B707296BC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输入、输出和结果目录结构各不相同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EC4299-6604-81B2-699B-C0874E7A1787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工具限制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C85A81-A8D9-65FF-5BBA-BEA8C776A530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；商业产品闭源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495129-6862-9EE2-DC95-15057954A5DD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3809CB-98EE-1FB7-D1BA-145A2A7161AB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统一模型调度、结果格式化和多专家对照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CF5C9A-6EC0-6C92-D0EF-C941AFE647CA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聚合平台用于降低多模型实验的人工配置和手动对比成本。</a:t>
            </a:r>
          </a:p>
        </p:txBody>
      </p:sp>
    </p:spTree>
    <p:extLst>
      <p:ext uri="{BB962C8B-B14F-4D97-AF65-F5344CB8AC3E}">
        <p14:creationId xmlns:p14="http://schemas.microsoft.com/office/powerpoint/2010/main" val="2820136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BD7EF7-F140-015A-278C-1A98C4EC686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205C59-3612-6B4B-CE15-86ED2E23036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平台围绕任务提交、状态追踪、结果对比、模型注册和远程调度展开。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4D5DE5-7FDD-112F-5E65-AC54EAD265D4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229E0C-570B-96BA-7D43-CEEB913AA47A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
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4113F8-9432-FF8B-C7FF-FA4BD4995F3E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5E332D-F767-677B-42C6-8B24D96F9B21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
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917C20-E8C6-810A-0CF6-AFEDEE1FFB48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4E2E9D-799F-2D36-C7D2-E1D22392DE12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多模型并排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0F4640-95B0-D4B8-57F3-2B9AF3AED4E4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79E086-E0A6-4DF0-2144-B973FC6EB960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一个执行器
接入新模型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FBB8AF-9022-29DD-FC89-9BB538525CBA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结果归集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74035D-A6B4-9CF4-A0C9-7598E6CC016D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
导出报告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79676F-7F5F-4776-ACEE-9D81D23A7272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功能覆盖任务提交、状态追踪、样本对比、模型注册和结果归集。</a:t>
            </a:r>
          </a:p>
        </p:txBody>
      </p:sp>
    </p:spTree>
    <p:extLst>
      <p:ext uri="{BB962C8B-B14F-4D97-AF65-F5344CB8AC3E}">
        <p14:creationId xmlns:p14="http://schemas.microsoft.com/office/powerpoint/2010/main" val="4233374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55033C-E787-482F-6B5A-B1ABDF3DE14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D2C0AE-17A2-BE3B-F828-72D1F50AD84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5AC7E2-DA19-C6E5-8DA5-AB84E174C0B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76" y="1841500"/>
            <a:ext cx="6431248" cy="3619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78A4CF-68A8-136C-6778-F74829EB70F4}"/>
              </a:ext>
            </a:extLst>
          </p:cNvPr>
          <p:cNvSpPr/>
          <p:nvPr/>
        </p:nvSpPr>
        <p:spPr>
          <a:xfrm>
            <a:off x="1206500" y="5778500"/>
            <a:ext cx="9779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执行器只封装模型差异，平台层保持统一提交、统一跟踪和统一归集。</a:t>
            </a:r>
          </a:p>
        </p:txBody>
      </p:sp>
    </p:spTree>
    <p:extLst>
      <p:ext uri="{BB962C8B-B14F-4D97-AF65-F5344CB8AC3E}">
        <p14:creationId xmlns:p14="http://schemas.microsoft.com/office/powerpoint/2010/main" val="290092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9E2393-82E4-91BC-F4C0-16A3A4B9EB8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8DC619-E148-B912-AED0-1758E7AE686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个模型端到端验证通过，统一输入下的推理耗时差异明显。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BC71C2-D919-7AA7-AB13-C5BBD51ABB18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B9F945-C211-4B88-7B59-DC8DDF062277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687958-372E-C933-9D57-9E7D21EF9052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4D4439-4A43-82DC-5BD5-82776DCE0099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93649C-2529-8B00-A50C-3626AF54182C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5D52EE0-4EB6-8531-77B7-15D0907C03F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6DB2E4A6-D3CE-52A4-1D5A-5D11F22E5A0E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统一输入为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帧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1920×1080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；耗时差异体现统一调度与记录的必要性。</a:t>
            </a:r>
          </a:p>
        </p:txBody>
      </p:sp>
    </p:spTree>
    <p:extLst>
      <p:ext uri="{BB962C8B-B14F-4D97-AF65-F5344CB8AC3E}">
        <p14:creationId xmlns:p14="http://schemas.microsoft.com/office/powerpoint/2010/main" val="3854403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B781D5-63FF-B763-3D0A-70D11BA5380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D14FF6-6B7E-8017-F51E-9883A657298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平台后续将围绕模型验证、对比视图、报告导出和下游接口推进。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E2181A-588A-DD03-4E23-BEC463D1F1A6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22C793-B475-8CDB-6ACD-13C8A9232640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补齐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验证，完善跨模型对比视图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10450C-8CB8-60F4-13B3-5D0A38C47739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B9FC02-A857-686D-9C20-9B7C8E90796A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导出论文表格和图表，设计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层接口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2F6418-F9BD-4D73-BC96-5B226D69EB1C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F94D04-8664-43E7-E77F-557C54A96E6D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初始化、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建模和机器人场景理解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63432B-848C-028E-0E0D-C690EE20AE5E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BDF9F0-5B6D-82A3-6AC1-8E699F35A119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科研实验、模型评估、教学演示</a:t>
            </a:r>
          </a:p>
        </p:txBody>
      </p:sp>
    </p:spTree>
    <p:extLst>
      <p:ext uri="{BB962C8B-B14F-4D97-AF65-F5344CB8AC3E}">
        <p14:creationId xmlns:p14="http://schemas.microsoft.com/office/powerpoint/2010/main" val="1493776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EAD95C-B3BC-95C7-7DE7-055729E6FE0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4A65C5-CC0B-FC17-3CC2-E10C4B66CD3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平台为架构消融提供统一运行环境和结果对比条件。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E77987-AF4B-5CBA-03A3-74686429077F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A0506-910C-0535-3285-130174A593A3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689CD2E5-E6D8-E6F2-2F02-A1E6493C45AE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AB91D2-D573-DD13-398C-5CAA37B951FF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DCA100-2D89-DCE2-FCBF-EC4F83971E73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
统一输出格式
同条件对比
运行数据记录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ECA46A-B1A4-3C36-0D00-955FA0F63E6C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新架构训练完成后可作为新模型接入平台，与现有模型同条件比较。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2016034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C9718A-1A24-85B1-BD9C-2B4BB576B9D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43B497-A684-E2C9-287E-5E7F5D8E268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实验设计分为架构侧实验和平台侧评测两部分。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A987EE-A09D-D9BC-3B2D-1F4C9849F376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架构侧实验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7D5816-C0CE-CE2B-6DA6-740F7FAD495A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消融实验：移除记忆、校验、多专家路由
长序列评测：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10 / 20 / 50 / 100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帧
多专家与单专家对照
六类场景阈值标定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D4B9BF-BB27-377E-E447-9C4DE9CAA800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平台侧评测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195E9E-E208-013A-3DB4-5AD681202510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模型接入覆盖率：目标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7/7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跨模型对比矩阵完整性
新模型接入边际成本
报告导出能力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B6EC21-7250-9FA7-931C-F92E17F6C63F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预算约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1400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小时，按里程碑分批申请。</a:t>
            </a:r>
          </a:p>
        </p:txBody>
      </p:sp>
    </p:spTree>
    <p:extLst>
      <p:ext uri="{BB962C8B-B14F-4D97-AF65-F5344CB8AC3E}">
        <p14:creationId xmlns:p14="http://schemas.microsoft.com/office/powerpoint/2010/main" val="116880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10FC41-9C43-600A-4482-A8AE034E368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10C5FB-DCED-835F-9892-980EDF724F5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创新点围绕几何校验、多专家编排、长序列记忆和聚合平台展开。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BE8ECE-0A3F-879C-E3CF-7103340134A8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C5105F-AC72-C457-2AEC-E44A1CE351D1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3C3FB0-EE5C-AAA4-6C2F-ED50E728B0F4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010BF2-5229-97D3-F7B1-73AA4960F43F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异构多专家组合与路由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4E166D-9256-532F-D16C-6E8023B81D91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436440-5B23-6B43-B004-72E3CC40BE0A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三分支稀疏注意力记忆统一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3DCE41-50D8-0054-BCC6-ABF0C26F626D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E4867F-12A6-8794-F27F-FBA6BE889A29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EAFAFA-6237-1CE6-967C-06B5271DFBB3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各创新点均需通过后续消融和对比实验支撑。</a:t>
            </a:r>
          </a:p>
        </p:txBody>
      </p:sp>
    </p:spTree>
    <p:extLst>
      <p:ext uri="{BB962C8B-B14F-4D97-AF65-F5344CB8AC3E}">
        <p14:creationId xmlns:p14="http://schemas.microsoft.com/office/powerpoint/2010/main" val="2592337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2A589B-985F-D152-4BA2-1E3D5438FDB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09A144-7B36-F96D-D623-4EB4DD27DCC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78BB07-DE19-73B4-0FE8-3375D51C1058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7A89E1-5E2B-47FF-8E90-8F2C23046ADC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9CE309-6FA9-7C9C-D071-C35736137D3F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4D1D7D-5FC2-33D3-BB53-DF5697C627FA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A5059D-BF48-ECA0-F8FF-A5AE5A6BB6CC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3962047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74F8C2-3341-38C2-03D0-23B97CCEFB0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DF2088-E1F1-BE21-9080-072FEE3AA3A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5D7FD0-B1ED-E44B-685E-27A70DB9CCFA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C0FCC0-DC35-D9BC-0FB6-4213FB2D9085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9BA4AD-387B-B0CA-03C2-36F38571EC6F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DE0860-1BA2-5AE6-CD40-6DFD4191C640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485AF8-AA4A-9969-982D-2F45F0AB2F89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9E7161-33F5-5BD6-9D81-53E5055B3D4F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DE17BD-9ECF-32CE-F97A-2E3F5DB162D5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555C04-441C-AF9B-BD79-54D9F6C3F5C8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D7FC2A-D113-A30A-02B9-C3E7EFBE702A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B00D72-2B0E-591D-F53A-829C3E399ABC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EA32CA-FE19-0058-25FC-339FC914CB9A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024FBF-DBDC-3227-6A7A-48A8CF31F472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6D234D-07D5-0655-EF89-E944AF687DC2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2251E6-DB3A-115D-262C-00CF4EAA5B75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C99138-6E0B-FFC7-B02C-430F8BB3F70E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8A6D0D-0932-1DE7-946F-A3E24FB77812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C9CF9C0-8136-CE6C-9060-F6B1E761F7E2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6151CB-7C0E-8EAF-6747-E9E24CCF8289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C9EFB66-17CA-85E2-61A5-376C4A69F111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EF88819-1B08-CAD6-9068-C792E7F71582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51D391E-5904-1F91-02D2-11DEE45B466C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5B5A6F-721B-9E7C-3E8F-95A50E00581A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8CDBEC9-F21E-C7DE-DF28-07AA3DC1F74A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C2DC0E2-3286-FBA1-C29F-4E1B7B17F094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AF0C847-2C25-7272-70EE-44F803917806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D979599-90E3-280E-FFAB-524C6DC1169D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60E90F-6C5E-71D5-9DF4-8D5A88BD3CD7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1D5D15-FD0C-636E-6F2D-B514A6F774AA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0FE8228-C2CF-72BE-F067-6F51BDAB167F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D740997-EDF6-24FE-76E0-9A4C099DAB1B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9458C460-658B-66B9-48B0-A68ADF3532C1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AC95421-3DB0-5FF2-0DD8-5180C758D413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长序列与多专家评测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97BD4BA-5679-FDBA-8DFE-CF13AC43BD82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380A188-A995-F615-7036-1EED1A44C0D6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5922ABA-8AC3-59A9-B28B-F5D9FE339AC4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5B5CEC7-5873-872B-956F-233DE46003AD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534920D-848B-D954-7AD9-92078306DFD0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8C82708-4E63-4B79-32CC-76F2CBDF290B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C10D35A-2B53-8D48-0CE5-310CA33C5B28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3FC679B-82D9-3E7E-32B3-5B3CDFA3919A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2FF3B29F-1972-C98E-F344-9F5A405EEC63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746F201-979D-3FAB-F0A0-4BB830CA290B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F460F40-9578-6DD4-ACBF-678FA6D7FD55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3F01F3D-CA3E-AC3F-E9A1-75B5FD28D292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2F701C9-5206-2A60-8589-941050BCAFAC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B62E4BA-BB3E-E9D6-8F69-CD4AB6C9CDE6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F84EBEF-A616-03AE-8A06-4A1415AAA6E9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B44F878-B649-9656-85CE-5E3E8D453C7F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0D75C37-653E-4395-DC63-8A00D407EBFE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BDDAE99-CE4D-0FEE-EEB7-08E540612188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74B34F1-9C80-F56D-702F-35B5E1772CEA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3A65363-8B89-2036-328E-7589C9EF9A48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C2D599D-6FB9-E878-2536-1C14672016C2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BBCBAEB-1924-FF46-C7AE-F89ECEFB8394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0BCAF69A-1E46-DCEC-0D03-0793FE15CEC8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8D3C917-5CA2-1130-72A6-BE98E9F5A80A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D03CC69-188E-CFF8-5199-B657F83E4635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4FB2888-0E5E-97FB-56A7-E0137E81F6DD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0AC52B2C-8ED1-B60D-6D5C-A7991A27EADC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9EDFE80-B266-3E59-4440-78E314414EB1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8DA843DA-0C17-DCBD-1B7A-4451189F778E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EF308E4-B176-A0EF-C457-B5A8F64B1909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近期完成开题与平台补齐，中期集中做训练消融，后期整理论文并补充实验。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1248664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5F8F9A-EDC3-709C-C76E-D7EFD67D35E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21E89A-7CB5-6203-B164-684ED5DA6C2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主要风险来自训练质量、算力约束、多专家效果和校验标定复杂度。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6C1055-0C18-082D-A87E-7EBE2C4B24E7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02F55B-6E56-654C-8E55-DE926D090964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BAF570-6CB1-8F1F-6EA3-1D00468BF5E2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08541F-6FC3-9580-EAD5-A8A5345C2491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按里程碑分批申请，优先小规模验证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3E9840-8891-E09C-278E-8D8F77BE01A2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50867E-D862-DE27-702C-21F50957BF1A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E2C62C-87A9-315A-FC2B-76A73E80D6BE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456F2F5-A4A1-5556-6664-A624BC6D89BD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E0E2D9F-15C2-1B47-7D32-78EB66FFE989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3880590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28F6B0-EE48-C049-0AAD-BC619FA65915}"/>
              </a:ext>
            </a:extLst>
          </p:cNvPr>
          <p:cNvSpPr/>
          <p:nvPr/>
        </p:nvSpPr>
        <p:spPr>
          <a:xfrm>
            <a:off x="1143000" y="2095500"/>
            <a:ext cx="990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C7BBEF-8ED9-A37F-2E7A-B004FCF21397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模型的优势出发，针对长序列漂移、缺乏校验和单模型局限三个问题，设计融合空间记忆、几何校验和多专家编排的新型架构。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3731916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1626</Words>
  <Application>Microsoft Office PowerPoint</Application>
  <PresentationFormat>宽屏</PresentationFormat>
  <Paragraphs>219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2026-05-18T03:13:55Z</dcterms:created>
  <dcterms:modified xsi:type="dcterms:W3CDTF">2026-05-18T03:13:55Z</dcterms:modified>
</cp:coreProperties>
</file>