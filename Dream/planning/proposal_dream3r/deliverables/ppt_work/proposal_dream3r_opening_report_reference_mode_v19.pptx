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83" r:id="rId2"/>
    <p:sldId id="258" r:id="rId3"/>
    <p:sldId id="327" r:id="rId4"/>
    <p:sldId id="281" r:id="rId5"/>
    <p:sldId id="307" r:id="rId6"/>
    <p:sldId id="328" r:id="rId7"/>
    <p:sldId id="298" r:id="rId8"/>
    <p:sldId id="329" r:id="rId9"/>
    <p:sldId id="330" r:id="rId10"/>
    <p:sldId id="331" r:id="rId11"/>
    <p:sldId id="332" r:id="rId12"/>
    <p:sldId id="333" r:id="rId13"/>
    <p:sldId id="334" r:id="rId14"/>
    <p:sldId id="335" r:id="rId15"/>
    <p:sldId id="336" r:id="rId16"/>
    <p:sldId id="323" r:id="rId17"/>
    <p:sldId id="337" r:id="rId18"/>
    <p:sldId id="338" r:id="rId19"/>
    <p:sldId id="339" r:id="rId20"/>
    <p:sldId id="340" r:id="rId21"/>
    <p:sldId id="341" r:id="rId22"/>
    <p:sldId id="269" r:id="rId23"/>
    <p:sldId id="342" r:id="rId24"/>
    <p:sldId id="294" r:id="rId2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96" y="1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ECCDC92-5C5A-E916-9D02-D36CB8AD12C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9748E1E-DC42-6947-E45B-F6A24F28CA4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9F0755B-2209-0CE1-6A71-E72697C4AA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A509D-DE4D-41C5-BEC2-EA0A6E2B46A4}" type="datetimeFigureOut">
              <a:rPr lang="zh-CN" altLang="en-US" smtClean="0"/>
              <a:t>2026/5/18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502CEB2-6D6C-52CC-B21F-C287222AE4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13B173-014B-79CB-E379-25A3F4BD9F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CE3460-FD07-446A-B2DE-ADAC5F93748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089741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0AB7F62-DDA7-A492-6EC7-D137843025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87B399D-A996-75AC-C01C-F89F525213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B5480DD-B675-3338-D4A6-B4B144BC5E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A509D-DE4D-41C5-BEC2-EA0A6E2B46A4}" type="datetimeFigureOut">
              <a:rPr lang="zh-CN" altLang="en-US" smtClean="0"/>
              <a:t>2026/5/18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6E5F065-3C7E-D607-5C22-B407E1C939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8812489-47E8-84D3-B0AF-3C395792E1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CE3460-FD07-446A-B2DE-ADAC5F93748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380180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EDC3FDE-FECC-ED71-0D89-3C3E3A5F6C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96EF781-F306-A984-E47E-BC6959B01E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47F3646-C797-A625-D769-EC72B5BF23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A509D-DE4D-41C5-BEC2-EA0A6E2B46A4}" type="datetimeFigureOut">
              <a:rPr lang="zh-CN" altLang="en-US" smtClean="0"/>
              <a:t>2026/5/18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B94BEAD-8514-E2F8-5D69-D16A34BFC4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EA846A9-EADF-90DF-25FA-1B75449A74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CE3460-FD07-446A-B2DE-ADAC5F93748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538590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91FD7AB-578B-8EE0-99DC-157B7744F9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CCF8CE5-2CC2-3FDB-4E7A-62B03D46F8F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50C26A00-A02C-F592-BB2F-08AA6A09F31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911244D-0408-FA64-78C4-35E5100A02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A509D-DE4D-41C5-BEC2-EA0A6E2B46A4}" type="datetimeFigureOut">
              <a:rPr lang="zh-CN" altLang="en-US" smtClean="0"/>
              <a:t>2026/5/18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ABC1F90-5C99-3B9F-8798-74B106021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E4B5599-425F-2AF5-4163-03CB85AF2B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CE3460-FD07-446A-B2DE-ADAC5F93748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449529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F9F1640-B2DF-AC01-830C-0603B71017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31A630C-7895-0FC3-8D46-268D765819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A2587F39-6CB8-D0FB-C8FC-176AD0558B3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2524BD50-0928-5286-93F7-80DBD9069DF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6100BB2B-7AAA-251E-BE82-7D03DC53929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7006F2FE-65EE-DB7E-E553-F559A65A82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A509D-DE4D-41C5-BEC2-EA0A6E2B46A4}" type="datetimeFigureOut">
              <a:rPr lang="zh-CN" altLang="en-US" smtClean="0"/>
              <a:t>2026/5/18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4D03F5C9-F8E9-A2E9-F1C2-161184E686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7A59CB79-1485-DB67-E03F-8DB0C2CADC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CE3460-FD07-446A-B2DE-ADAC5F93748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443560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9EA1D25-16ED-2B79-0399-196A4B32F0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BFE6322B-6E3E-1C76-E752-CAA3D3648C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A509D-DE4D-41C5-BEC2-EA0A6E2B46A4}" type="datetimeFigureOut">
              <a:rPr lang="zh-CN" altLang="en-US" smtClean="0"/>
              <a:t>2026/5/18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8586E065-5D1C-9CB1-318A-1BD9409BEB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DC1D8A03-A537-7BA8-1D07-D86C414298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CE3460-FD07-446A-B2DE-ADAC5F93748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837904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502438ED-3410-335F-1F03-C38702B0F0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A509D-DE4D-41C5-BEC2-EA0A6E2B46A4}" type="datetimeFigureOut">
              <a:rPr lang="zh-CN" altLang="en-US" smtClean="0"/>
              <a:t>2026/5/18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B1FB8E4A-AE12-E908-2C2F-ED8BF9193B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F1DC725-E884-995F-62F8-003FD50E81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CE3460-FD07-446A-B2DE-ADAC5F93748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499019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671DFBE-2647-4BEB-BC5B-0A5105F348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3676485-8482-6FF6-CAB9-2BC96C438A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9CC704DB-588C-EFCD-4AFF-EFC1D6811D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4DAFB1B-4B38-F6AA-69FF-F832F5646C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A509D-DE4D-41C5-BEC2-EA0A6E2B46A4}" type="datetimeFigureOut">
              <a:rPr lang="zh-CN" altLang="en-US" smtClean="0"/>
              <a:t>2026/5/18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1CC058B-13A5-8513-198B-1D7BD47870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8F3B885-A28C-CAED-4D57-1A144B9E88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CE3460-FD07-446A-B2DE-ADAC5F93748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77393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A9AF185-C103-F7F3-9DF6-5C2045C885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D616EECB-DBA9-1450-0A8C-FDF8B617FAC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7AFF8CB4-BFA8-BF87-A0FB-49686C7CADD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3B2EC61-2532-CF43-E023-B0A35371D6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A509D-DE4D-41C5-BEC2-EA0A6E2B46A4}" type="datetimeFigureOut">
              <a:rPr lang="zh-CN" altLang="en-US" smtClean="0"/>
              <a:t>2026/5/18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7187CEA-BC28-E1BD-DD18-99F9F7C10B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A24D003-FB77-3A01-B8BA-57D82FF924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CE3460-FD07-446A-B2DE-ADAC5F93748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3913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4AD684A-9EB8-1A8D-1AF8-06E3EDE346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03E3C19-0702-D7AD-9D27-B7CA38D9C92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B78BE6D-BE9B-35B7-7083-57B62714A5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A509D-DE4D-41C5-BEC2-EA0A6E2B46A4}" type="datetimeFigureOut">
              <a:rPr lang="zh-CN" altLang="en-US" smtClean="0"/>
              <a:t>2026/5/18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4AA9B90-FAA4-9EA9-5113-8A1B391DE0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4F86C6E-98C8-9DB9-E028-5D04CCCB09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CE3460-FD07-446A-B2DE-ADAC5F93748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429793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814C4218-218C-50ED-FF48-FCA48C5456E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B0E4CD9-8531-1A6F-045B-BEC7EF0C03A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9D22B01-BB0F-C9DA-E541-83125FC3F2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A509D-DE4D-41C5-BEC2-EA0A6E2B46A4}" type="datetimeFigureOut">
              <a:rPr lang="zh-CN" altLang="en-US" smtClean="0"/>
              <a:t>2026/5/18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ADEBA42-5C8B-4131-D32D-553601C18F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DCA7804-4F4C-06A4-872A-926DF8A5FB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CE3460-FD07-446A-B2DE-ADAC5F93748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5386124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2026/5/18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199844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CA26C74-8EBA-85F5-DA46-576578BB3C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5755E6E-EB52-0122-1AAF-9BC12B1EC6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D1A5BE7-7BB6-248E-C562-D2213D595EA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BFA509D-DE4D-41C5-BEC2-EA0A6E2B46A4}" type="datetimeFigureOut">
              <a:rPr lang="zh-CN" altLang="en-US" smtClean="0"/>
              <a:t>2026/5/18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C8683C4-FFAA-918C-D334-6ADF5DF2E86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0E2995B-BEB8-5939-05F2-C33BD6758D7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CE3460-FD07-446A-B2DE-ADAC5F93748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604754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.jp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A3C712-3CEF-6C6F-815D-BF40CE6AB0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 descr="蓝色的火车在站台旁&#10;&#10;描述已自动生成">
            <a:extLst>
              <a:ext uri="{FF2B5EF4-FFF2-40B4-BE49-F238E27FC236}">
                <a16:creationId xmlns:a16="http://schemas.microsoft.com/office/drawing/2014/main" id="{DC642186-E975-96D8-8408-C4456DEE3F53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51" b="33391"/>
          <a:stretch/>
        </p:blipFill>
        <p:spPr>
          <a:xfrm>
            <a:off x="567" y="1099270"/>
            <a:ext cx="12190866" cy="4060213"/>
          </a:xfrm>
          <a:prstGeom prst="rect">
            <a:avLst/>
          </a:prstGeom>
        </p:spPr>
      </p:pic>
      <p:sp>
        <p:nvSpPr>
          <p:cNvPr id="12" name="矩形 11">
            <a:extLst>
              <a:ext uri="{FF2B5EF4-FFF2-40B4-BE49-F238E27FC236}">
                <a16:creationId xmlns:a16="http://schemas.microsoft.com/office/drawing/2014/main" id="{1C9DA934-52C4-4CB2-4D02-075830AA3AF2}"/>
              </a:ext>
            </a:extLst>
          </p:cNvPr>
          <p:cNvSpPr/>
          <p:nvPr/>
        </p:nvSpPr>
        <p:spPr>
          <a:xfrm>
            <a:off x="9859" y="-1"/>
            <a:ext cx="12191999" cy="5159483"/>
          </a:xfrm>
          <a:prstGeom prst="rect">
            <a:avLst/>
          </a:prstGeom>
          <a:gradFill flip="none" rotWithShape="1">
            <a:gsLst>
              <a:gs pos="49000">
                <a:schemeClr val="bg1"/>
              </a:gs>
              <a:gs pos="100000">
                <a:schemeClr val="accent3">
                  <a:alpha val="20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>
              <a:defRPr/>
            </a:pPr>
            <a:endParaRPr lang="zh-CN" altLang="en-US" b="1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F08D48A3-B931-466F-18C0-A1C304D1FEF8}"/>
              </a:ext>
            </a:extLst>
          </p:cNvPr>
          <p:cNvSpPr txBox="1"/>
          <p:nvPr/>
        </p:nvSpPr>
        <p:spPr>
          <a:xfrm>
            <a:off x="685800" y="1366919"/>
            <a:ext cx="10835640" cy="25769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500"/>
              </a:lnSpc>
              <a:defRPr/>
            </a:pPr>
            <a:r>
              <a:rPr lang="zh-CN" altLang="en-US" sz="4200" b="1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面向前馈式三维重建的
新型架构设计与聚合管理平台</a:t>
            </a:r>
            <a:endParaRPr lang="zh-CN" altLang="en-US" sz="420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矩形: 圆角 2">
            <a:extLst>
              <a:ext uri="{FF2B5EF4-FFF2-40B4-BE49-F238E27FC236}">
                <a16:creationId xmlns:a16="http://schemas.microsoft.com/office/drawing/2014/main" id="{4B2EA678-3420-5C54-B4C3-C8CAD209A7CE}"/>
              </a:ext>
            </a:extLst>
          </p:cNvPr>
          <p:cNvSpPr/>
          <p:nvPr/>
        </p:nvSpPr>
        <p:spPr>
          <a:xfrm>
            <a:off x="4839038" y="4461335"/>
            <a:ext cx="2768614" cy="58477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175" cap="flat" cmpd="sng" algn="ctr">
            <a:solidFill>
              <a:schemeClr val="accent1"/>
            </a:solidFill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36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DA1E6CA0-D601-DDA2-0D66-6669E5F33476}"/>
              </a:ext>
            </a:extLst>
          </p:cNvPr>
          <p:cNvSpPr/>
          <p:nvPr/>
        </p:nvSpPr>
        <p:spPr>
          <a:xfrm>
            <a:off x="3768924" y="4454012"/>
            <a:ext cx="1685122" cy="584776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3175" cap="flat" cmpd="sng" algn="ctr">
            <a:solidFill>
              <a:srgbClr val="0C56AE"/>
            </a:solidFill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algn="ctr">
              <a:defRPr/>
            </a:pPr>
            <a:r>
              <a:rPr lang="zh-CN" altLang="en-US" sz="3200" b="1" kern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汇报人</a:t>
            </a:r>
            <a:endParaRPr lang="zh-CN" altLang="en-US" sz="3200" b="1" kern="0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E592BA2D-3982-DE10-3446-DA44D71D602C}"/>
              </a:ext>
            </a:extLst>
          </p:cNvPr>
          <p:cNvSpPr txBox="1"/>
          <p:nvPr/>
        </p:nvSpPr>
        <p:spPr>
          <a:xfrm>
            <a:off x="5955943" y="4461337"/>
            <a:ext cx="1045478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zh-CN" sz="3200" b="1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XXX</a:t>
            </a:r>
            <a:endParaRPr lang="zh-CN" altLang="en-US" sz="320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任意多边形: 形状 5">
            <a:extLst>
              <a:ext uri="{FF2B5EF4-FFF2-40B4-BE49-F238E27FC236}">
                <a16:creationId xmlns:a16="http://schemas.microsoft.com/office/drawing/2014/main" id="{03437287-155F-B97B-812D-904A5FB34C93}"/>
              </a:ext>
            </a:extLst>
          </p:cNvPr>
          <p:cNvSpPr/>
          <p:nvPr/>
        </p:nvSpPr>
        <p:spPr>
          <a:xfrm>
            <a:off x="2614943" y="-5733"/>
            <a:ext cx="6962115" cy="493598"/>
          </a:xfrm>
          <a:custGeom>
            <a:avLst/>
            <a:gdLst>
              <a:gd name="connsiteX0" fmla="*/ 0 w 8717654"/>
              <a:gd name="connsiteY0" fmla="*/ 0 h 562725"/>
              <a:gd name="connsiteX1" fmla="*/ 1155700 w 8717654"/>
              <a:gd name="connsiteY1" fmla="*/ 0 h 562725"/>
              <a:gd name="connsiteX2" fmla="*/ 7561954 w 8717654"/>
              <a:gd name="connsiteY2" fmla="*/ 0 h 562725"/>
              <a:gd name="connsiteX3" fmla="*/ 8717654 w 8717654"/>
              <a:gd name="connsiteY3" fmla="*/ 0 h 562725"/>
              <a:gd name="connsiteX4" fmla="*/ 8717381 w 8717654"/>
              <a:gd name="connsiteY4" fmla="*/ 1022 h 562725"/>
              <a:gd name="connsiteX5" fmla="*/ 8441286 w 8717654"/>
              <a:gd name="connsiteY5" fmla="*/ 521969 h 562725"/>
              <a:gd name="connsiteX6" fmla="*/ 8383695 w 8717654"/>
              <a:gd name="connsiteY6" fmla="*/ 562725 h 562725"/>
              <a:gd name="connsiteX7" fmla="*/ 7227995 w 8717654"/>
              <a:gd name="connsiteY7" fmla="*/ 562725 h 562725"/>
              <a:gd name="connsiteX8" fmla="*/ 1489659 w 8717654"/>
              <a:gd name="connsiteY8" fmla="*/ 562725 h 562725"/>
              <a:gd name="connsiteX9" fmla="*/ 333959 w 8717654"/>
              <a:gd name="connsiteY9" fmla="*/ 562725 h 562725"/>
              <a:gd name="connsiteX10" fmla="*/ 276368 w 8717654"/>
              <a:gd name="connsiteY10" fmla="*/ 521969 h 562725"/>
              <a:gd name="connsiteX11" fmla="*/ 273 w 8717654"/>
              <a:gd name="connsiteY11" fmla="*/ 1022 h 56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8717654" h="562725">
                <a:moveTo>
                  <a:pt x="0" y="0"/>
                </a:moveTo>
                <a:lnTo>
                  <a:pt x="1155700" y="0"/>
                </a:lnTo>
                <a:lnTo>
                  <a:pt x="7561954" y="0"/>
                </a:lnTo>
                <a:lnTo>
                  <a:pt x="8717654" y="0"/>
                </a:lnTo>
                <a:lnTo>
                  <a:pt x="8717381" y="1022"/>
                </a:lnTo>
                <a:lnTo>
                  <a:pt x="8441286" y="521969"/>
                </a:lnTo>
                <a:cubicBezTo>
                  <a:pt x="8427678" y="547645"/>
                  <a:pt x="8406370" y="562725"/>
                  <a:pt x="8383695" y="562725"/>
                </a:cubicBezTo>
                <a:lnTo>
                  <a:pt x="7227995" y="562725"/>
                </a:lnTo>
                <a:lnTo>
                  <a:pt x="1489659" y="562725"/>
                </a:lnTo>
                <a:lnTo>
                  <a:pt x="333959" y="562725"/>
                </a:lnTo>
                <a:cubicBezTo>
                  <a:pt x="311285" y="562725"/>
                  <a:pt x="289976" y="547645"/>
                  <a:pt x="276368" y="521969"/>
                </a:cubicBezTo>
                <a:lnTo>
                  <a:pt x="273" y="1022"/>
                </a:lnTo>
                <a:close/>
              </a:path>
            </a:pathLst>
          </a:custGeom>
          <a:solidFill>
            <a:schemeClr val="accent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600" b="1" i="0" u="none" strike="noStrike" kern="0" cap="none" spc="0" normalizeH="0" baseline="0" noProof="0" dirty="0">
              <a:ln>
                <a:noFill/>
              </a:ln>
              <a:solidFill>
                <a:srgbClr val="0C56A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FFC05B4F-2BD2-017A-D833-AFB9CBAC897A}"/>
              </a:ext>
            </a:extLst>
          </p:cNvPr>
          <p:cNvSpPr txBox="1"/>
          <p:nvPr/>
        </p:nvSpPr>
        <p:spPr>
          <a:xfrm>
            <a:off x="4464784" y="10234"/>
            <a:ext cx="3262432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zh-CN" altLang="en-US" sz="24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硕士学位论文开题报告</a:t>
            </a:r>
            <a:endParaRPr lang="zh-CN" altLang="en-US" sz="2400" b="1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50993921-4A01-0A89-1E61-7A819B4A1E2F}"/>
              </a:ext>
            </a:extLst>
          </p:cNvPr>
          <p:cNvSpPr txBox="1"/>
          <p:nvPr/>
        </p:nvSpPr>
        <p:spPr>
          <a:xfrm>
            <a:off x="5243046" y="5238426"/>
            <a:ext cx="1705916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zh-CN" sz="2400">
                <a:ln w="0"/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2026</a:t>
            </a:r>
            <a:r>
              <a:rPr lang="zh-CN" altLang="en-US" sz="2400">
                <a:ln w="0"/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年</a:t>
            </a:r>
            <a:r>
              <a:rPr lang="en-US" altLang="zh-CN" sz="2400">
                <a:ln w="0"/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r>
              <a:rPr lang="zh-CN" altLang="en-US" sz="2400">
                <a:ln w="0"/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月</a:t>
            </a:r>
            <a:endParaRPr lang="zh-CN" altLang="en-US" sz="2400" dirty="0">
              <a:ln w="0"/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6A13CF40-C608-8D36-562A-C2261D580099}"/>
              </a:ext>
            </a:extLst>
          </p:cNvPr>
          <p:cNvSpPr/>
          <p:nvPr/>
        </p:nvSpPr>
        <p:spPr>
          <a:xfrm>
            <a:off x="0" y="6632574"/>
            <a:ext cx="12192000" cy="234477"/>
          </a:xfrm>
          <a:prstGeom prst="rect">
            <a:avLst/>
          </a:prstGeom>
          <a:solidFill>
            <a:schemeClr val="accent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FFDD9BF1-26C1-D8B1-4EF4-E6DFBF680AE0}"/>
              </a:ext>
            </a:extLst>
          </p:cNvPr>
          <p:cNvSpPr txBox="1"/>
          <p:nvPr/>
        </p:nvSpPr>
        <p:spPr>
          <a:xfrm>
            <a:off x="4310896" y="5721158"/>
            <a:ext cx="3570209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919251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" name="Picture 89">
            <a:extLst>
              <a:ext uri="{FF2B5EF4-FFF2-40B4-BE49-F238E27FC236}">
                <a16:creationId xmlns:a16="http://schemas.microsoft.com/office/drawing/2014/main" id="{E9CAE631-11B1-6B01-385A-60C92A6A83B3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60000"/>
          </a:blip>
          <a:stretch>
            <a:fillRect/>
          </a:stretch>
        </p:blipFill>
        <p:spPr>
          <a:xfrm rot="10800000">
            <a:off x="-8340" y="1"/>
            <a:ext cx="12200340" cy="2868908"/>
          </a:xfrm>
          <a:prstGeom prst="rect">
            <a:avLst/>
          </a:prstGeom>
        </p:spPr>
      </p:pic>
      <p:pic>
        <p:nvPicPr>
          <p:cNvPr id="45" name="图片 44">
            <a:extLst>
              <a:ext uri="{FF2B5EF4-FFF2-40B4-BE49-F238E27FC236}">
                <a16:creationId xmlns:a16="http://schemas.microsoft.com/office/drawing/2014/main" id="{9C7262D3-C5E7-98B9-085E-5298B67D1C9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16168"/>
          <a:stretch/>
        </p:blipFill>
        <p:spPr>
          <a:xfrm flipH="1">
            <a:off x="0" y="4270329"/>
            <a:ext cx="12192000" cy="2600960"/>
          </a:xfrm>
          <a:prstGeom prst="rect">
            <a:avLst/>
          </a:prstGeom>
        </p:spPr>
      </p:pic>
      <p:sp>
        <p:nvSpPr>
          <p:cNvPr id="47" name="矩形: 圆角 46">
            <a:extLst>
              <a:ext uri="{FF2B5EF4-FFF2-40B4-BE49-F238E27FC236}">
                <a16:creationId xmlns:a16="http://schemas.microsoft.com/office/drawing/2014/main" id="{A03CD020-8E49-BC23-82FE-80B9ABCA3972}"/>
              </a:ext>
            </a:extLst>
          </p:cNvPr>
          <p:cNvSpPr/>
          <p:nvPr/>
        </p:nvSpPr>
        <p:spPr>
          <a:xfrm>
            <a:off x="-100120" y="-79828"/>
            <a:ext cx="4207663" cy="7017657"/>
          </a:xfrm>
          <a:prstGeom prst="roundRect">
            <a:avLst>
              <a:gd name="adj" fmla="val 0"/>
            </a:avLst>
          </a:prstGeom>
          <a:gradFill>
            <a:gsLst>
              <a:gs pos="0">
                <a:schemeClr val="accent1"/>
              </a:gs>
              <a:gs pos="100000">
                <a:schemeClr val="accent2">
                  <a:lumMod val="50000"/>
                </a:schemeClr>
              </a:gs>
            </a:gsLst>
            <a:lin ang="5400000" scaled="1"/>
          </a:gradFill>
          <a:ln w="19050" cap="flat" cmpd="sng" algn="ctr">
            <a:solidFill>
              <a:sysClr val="window" lastClr="FFFFFF"/>
            </a:solidFill>
            <a:prstDash val="solid"/>
            <a:miter lim="800000"/>
          </a:ln>
          <a:effectLst>
            <a:outerShdw blurRad="165100" dist="38100" dir="2700000" algn="tl" rotWithShape="0">
              <a:sysClr val="window" lastClr="FFFFFF">
                <a:lumMod val="85000"/>
                <a:alpha val="35000"/>
              </a:sys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72" name="图片 71">
            <a:extLst>
              <a:ext uri="{FF2B5EF4-FFF2-40B4-BE49-F238E27FC236}">
                <a16:creationId xmlns:a16="http://schemas.microsoft.com/office/drawing/2014/main" id="{9EEBD94C-B44D-2A8B-AC9A-D4C40C3FAC2A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alphaModFix amt="7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460" r="29859"/>
          <a:stretch/>
        </p:blipFill>
        <p:spPr>
          <a:xfrm>
            <a:off x="-79458" y="-79829"/>
            <a:ext cx="4215566" cy="7017657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D9E6C6DB-1208-8BDA-4E82-748017315563}"/>
              </a:ext>
            </a:extLst>
          </p:cNvPr>
          <p:cNvSpPr/>
          <p:nvPr/>
        </p:nvSpPr>
        <p:spPr>
          <a:xfrm>
            <a:off x="3708400" y="1219200"/>
            <a:ext cx="7239000" cy="5080000"/>
          </a:xfrm>
          <a:prstGeom prst="rect">
            <a:avLst/>
          </a:prstGeom>
          <a:solidFill>
            <a:srgbClr val="EBECEE">
              <a:alpha val="92000"/>
            </a:srgbClr>
          </a:solidFill>
          <a:ln>
            <a:solidFill>
              <a:srgbClr val="E6E6E6"/>
            </a:solidFill>
          </a:ln>
          <a:effectLst>
            <a:outerShdw blurRad="101600" dist="37357" dir="2700000" rotWithShape="0">
              <a:scrgbClr r="0" g="0" b="0">
                <a:alpha val="45000"/>
              </a:sc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559670D2-5F7C-DF7E-0568-BC3ABC3004F4}"/>
              </a:ext>
            </a:extLst>
          </p:cNvPr>
          <p:cNvSpPr txBox="1"/>
          <p:nvPr/>
        </p:nvSpPr>
        <p:spPr>
          <a:xfrm>
            <a:off x="1524000" y="2603500"/>
            <a:ext cx="952500" cy="193899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zh-CN" altLang="en-US" sz="3000" b="1">
                <a:solidFill>
                  <a:srgbClr val="FFFFFF"/>
                </a:solidFill>
                <a:latin typeface="Microsoft YaHei" panose="020B0503020204020204" pitchFamily="34" charset="-122"/>
              </a:rPr>
              <a:t>汇
报
提
纲</a:t>
            </a:r>
          </a:p>
        </p:txBody>
      </p:sp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E92CBF0E-078C-57AA-C1C8-3F13FEF34E2D}"/>
              </a:ext>
            </a:extLst>
          </p:cNvPr>
          <p:cNvCxnSpPr/>
          <p:nvPr/>
        </p:nvCxnSpPr>
        <p:spPr>
          <a:xfrm>
            <a:off x="1422400" y="3175000"/>
            <a:ext cx="0" cy="2540000"/>
          </a:xfrm>
          <a:prstGeom prst="line">
            <a:avLst/>
          </a:prstGeom>
          <a:ln w="6350" cap="flat" cmpd="sng" algn="ctr">
            <a:solidFill>
              <a:srgbClr val="D2E1F5">
                <a:alpha val="6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矩形 4">
            <a:extLst>
              <a:ext uri="{FF2B5EF4-FFF2-40B4-BE49-F238E27FC236}">
                <a16:creationId xmlns:a16="http://schemas.microsoft.com/office/drawing/2014/main" id="{9E5F95DA-93BE-2F2D-9182-4C69DAA23300}"/>
              </a:ext>
            </a:extLst>
          </p:cNvPr>
          <p:cNvSpPr/>
          <p:nvPr/>
        </p:nvSpPr>
        <p:spPr>
          <a:xfrm>
            <a:off x="4635500" y="1422400"/>
            <a:ext cx="5842000" cy="7366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90EC7E53-7AFD-D828-7C88-B7EBB1DFD5AC}"/>
              </a:ext>
            </a:extLst>
          </p:cNvPr>
          <p:cNvSpPr txBox="1"/>
          <p:nvPr/>
        </p:nvSpPr>
        <p:spPr>
          <a:xfrm>
            <a:off x="5143500" y="1511300"/>
            <a:ext cx="889000" cy="5078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altLang="zh-CN" sz="2700" b="1">
                <a:solidFill>
                  <a:srgbClr val="FFFFFF"/>
                </a:solidFill>
                <a:latin typeface="Microsoft YaHei" panose="020B0503020204020204" pitchFamily="34" charset="-122"/>
              </a:rPr>
              <a:t>01</a:t>
            </a:r>
            <a:endParaRPr lang="zh-CN" altLang="en-US" sz="2700" b="1">
              <a:solidFill>
                <a:srgbClr val="FFFFFF"/>
              </a:solidFill>
              <a:latin typeface="Microsoft YaHei" panose="020B0503020204020204" pitchFamily="34" charset="-122"/>
            </a:endParaRPr>
          </a:p>
        </p:txBody>
      </p: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0255E7D9-A825-D88A-74A2-D8DBD8BC7AA7}"/>
              </a:ext>
            </a:extLst>
          </p:cNvPr>
          <p:cNvCxnSpPr/>
          <p:nvPr/>
        </p:nvCxnSpPr>
        <p:spPr>
          <a:xfrm>
            <a:off x="6172200" y="1574800"/>
            <a:ext cx="0" cy="431800"/>
          </a:xfrm>
          <a:prstGeom prst="line">
            <a:avLst/>
          </a:prstGeom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本框 7">
            <a:extLst>
              <a:ext uri="{FF2B5EF4-FFF2-40B4-BE49-F238E27FC236}">
                <a16:creationId xmlns:a16="http://schemas.microsoft.com/office/drawing/2014/main" id="{5BF06450-CDFD-CFA7-5F43-E0F7B32F923F}"/>
              </a:ext>
            </a:extLst>
          </p:cNvPr>
          <p:cNvSpPr txBox="1"/>
          <p:nvPr/>
        </p:nvSpPr>
        <p:spPr>
          <a:xfrm>
            <a:off x="6477000" y="1536700"/>
            <a:ext cx="3556000" cy="4770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2500" b="1">
                <a:solidFill>
                  <a:srgbClr val="FFFFFF"/>
                </a:solidFill>
                <a:latin typeface="Microsoft YaHei" panose="020B0503020204020204" pitchFamily="34" charset="-122"/>
              </a:rPr>
              <a:t>研究背景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1314BDFB-6AC1-0008-783D-002E02955FA6}"/>
              </a:ext>
            </a:extLst>
          </p:cNvPr>
          <p:cNvSpPr/>
          <p:nvPr/>
        </p:nvSpPr>
        <p:spPr>
          <a:xfrm>
            <a:off x="4635500" y="2349500"/>
            <a:ext cx="5842000" cy="736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8CBD7806-809C-256B-E875-665649CF9399}"/>
              </a:ext>
            </a:extLst>
          </p:cNvPr>
          <p:cNvSpPr txBox="1"/>
          <p:nvPr/>
        </p:nvSpPr>
        <p:spPr>
          <a:xfrm>
            <a:off x="5143500" y="2438400"/>
            <a:ext cx="889000" cy="5078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altLang="zh-CN" sz="2700" b="1">
                <a:solidFill>
                  <a:srgbClr val="BEBEBE"/>
                </a:solidFill>
                <a:latin typeface="Microsoft YaHei" panose="020B0503020204020204" pitchFamily="34" charset="-122"/>
              </a:rPr>
              <a:t>02</a:t>
            </a:r>
            <a:endParaRPr lang="zh-CN" altLang="en-US" sz="2700" b="1">
              <a:solidFill>
                <a:srgbClr val="BEBEBE"/>
              </a:solidFill>
              <a:latin typeface="Microsoft YaHei" panose="020B0503020204020204" pitchFamily="34" charset="-122"/>
            </a:endParaRPr>
          </a:p>
        </p:txBody>
      </p: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B3782766-BFE2-E5A6-5E67-72D3CED97134}"/>
              </a:ext>
            </a:extLst>
          </p:cNvPr>
          <p:cNvCxnSpPr/>
          <p:nvPr/>
        </p:nvCxnSpPr>
        <p:spPr>
          <a:xfrm>
            <a:off x="6172200" y="2501900"/>
            <a:ext cx="0" cy="431800"/>
          </a:xfrm>
          <a:prstGeom prst="line">
            <a:avLst/>
          </a:prstGeom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文本框 11">
            <a:extLst>
              <a:ext uri="{FF2B5EF4-FFF2-40B4-BE49-F238E27FC236}">
                <a16:creationId xmlns:a16="http://schemas.microsoft.com/office/drawing/2014/main" id="{730DBAC0-0230-E39F-1580-C85B2C66AF08}"/>
              </a:ext>
            </a:extLst>
          </p:cNvPr>
          <p:cNvSpPr txBox="1"/>
          <p:nvPr/>
        </p:nvSpPr>
        <p:spPr>
          <a:xfrm>
            <a:off x="6477000" y="2463800"/>
            <a:ext cx="3556000" cy="4770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2500" b="1">
                <a:solidFill>
                  <a:srgbClr val="BEBEBE"/>
                </a:solidFill>
                <a:latin typeface="Microsoft YaHei" panose="020B0503020204020204" pitchFamily="34" charset="-122"/>
              </a:rPr>
              <a:t>架构设计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3A8F8649-D7CE-5841-B517-EFB685F8756E}"/>
              </a:ext>
            </a:extLst>
          </p:cNvPr>
          <p:cNvSpPr/>
          <p:nvPr/>
        </p:nvSpPr>
        <p:spPr>
          <a:xfrm>
            <a:off x="4635500" y="3276600"/>
            <a:ext cx="5842000" cy="736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95FFB233-FE2C-FC4A-73C5-D159D6A6822F}"/>
              </a:ext>
            </a:extLst>
          </p:cNvPr>
          <p:cNvSpPr txBox="1"/>
          <p:nvPr/>
        </p:nvSpPr>
        <p:spPr>
          <a:xfrm>
            <a:off x="5143500" y="3365500"/>
            <a:ext cx="889000" cy="5078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altLang="zh-CN" sz="2700" b="1">
                <a:solidFill>
                  <a:srgbClr val="BEBEBE"/>
                </a:solidFill>
                <a:latin typeface="Microsoft YaHei" panose="020B0503020204020204" pitchFamily="34" charset="-122"/>
              </a:rPr>
              <a:t>03</a:t>
            </a:r>
            <a:endParaRPr lang="zh-CN" altLang="en-US" sz="2700" b="1">
              <a:solidFill>
                <a:srgbClr val="BEBEBE"/>
              </a:solidFill>
              <a:latin typeface="Microsoft YaHei" panose="020B0503020204020204" pitchFamily="34" charset="-122"/>
            </a:endParaRPr>
          </a:p>
        </p:txBody>
      </p:sp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3C13B03C-1806-83E3-F660-D2DC2EBFAF43}"/>
              </a:ext>
            </a:extLst>
          </p:cNvPr>
          <p:cNvCxnSpPr/>
          <p:nvPr/>
        </p:nvCxnSpPr>
        <p:spPr>
          <a:xfrm>
            <a:off x="6172200" y="3429000"/>
            <a:ext cx="0" cy="431800"/>
          </a:xfrm>
          <a:prstGeom prst="line">
            <a:avLst/>
          </a:prstGeom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文本框 15">
            <a:extLst>
              <a:ext uri="{FF2B5EF4-FFF2-40B4-BE49-F238E27FC236}">
                <a16:creationId xmlns:a16="http://schemas.microsoft.com/office/drawing/2014/main" id="{9A7E0ADD-064E-1B44-FE0E-A25DE4BCAA2F}"/>
              </a:ext>
            </a:extLst>
          </p:cNvPr>
          <p:cNvSpPr txBox="1"/>
          <p:nvPr/>
        </p:nvSpPr>
        <p:spPr>
          <a:xfrm>
            <a:off x="6477000" y="3390900"/>
            <a:ext cx="3556000" cy="4770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2500" b="1">
                <a:solidFill>
                  <a:srgbClr val="BEBEBE"/>
                </a:solidFill>
                <a:latin typeface="Microsoft YaHei" panose="020B0503020204020204" pitchFamily="34" charset="-122"/>
              </a:rPr>
              <a:t>软件平台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F345E88E-E630-F5A6-C369-551A857FC956}"/>
              </a:ext>
            </a:extLst>
          </p:cNvPr>
          <p:cNvSpPr/>
          <p:nvPr/>
        </p:nvSpPr>
        <p:spPr>
          <a:xfrm>
            <a:off x="4635500" y="4203700"/>
            <a:ext cx="5842000" cy="736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32789D1B-E634-9731-18F2-109B913F115F}"/>
              </a:ext>
            </a:extLst>
          </p:cNvPr>
          <p:cNvSpPr txBox="1"/>
          <p:nvPr/>
        </p:nvSpPr>
        <p:spPr>
          <a:xfrm>
            <a:off x="5143500" y="4292600"/>
            <a:ext cx="889000" cy="5078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altLang="zh-CN" sz="2700" b="1">
                <a:solidFill>
                  <a:srgbClr val="BEBEBE"/>
                </a:solidFill>
                <a:latin typeface="Microsoft YaHei" panose="020B0503020204020204" pitchFamily="34" charset="-122"/>
              </a:rPr>
              <a:t>04</a:t>
            </a:r>
            <a:endParaRPr lang="zh-CN" altLang="en-US" sz="2700" b="1">
              <a:solidFill>
                <a:srgbClr val="BEBEBE"/>
              </a:solidFill>
              <a:latin typeface="Microsoft YaHei" panose="020B0503020204020204" pitchFamily="34" charset="-122"/>
            </a:endParaRPr>
          </a:p>
        </p:txBody>
      </p:sp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59020ED3-0C96-41D0-34C1-7CB93C559261}"/>
              </a:ext>
            </a:extLst>
          </p:cNvPr>
          <p:cNvCxnSpPr/>
          <p:nvPr/>
        </p:nvCxnSpPr>
        <p:spPr>
          <a:xfrm>
            <a:off x="6172200" y="4356100"/>
            <a:ext cx="0" cy="431800"/>
          </a:xfrm>
          <a:prstGeom prst="line">
            <a:avLst/>
          </a:prstGeom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文本框 19">
            <a:extLst>
              <a:ext uri="{FF2B5EF4-FFF2-40B4-BE49-F238E27FC236}">
                <a16:creationId xmlns:a16="http://schemas.microsoft.com/office/drawing/2014/main" id="{A90540CF-A579-65E3-8E89-E5A6A39381F4}"/>
              </a:ext>
            </a:extLst>
          </p:cNvPr>
          <p:cNvSpPr txBox="1"/>
          <p:nvPr/>
        </p:nvSpPr>
        <p:spPr>
          <a:xfrm>
            <a:off x="6477000" y="4318000"/>
            <a:ext cx="3556000" cy="4770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2500" b="1">
                <a:solidFill>
                  <a:srgbClr val="BEBEBE"/>
                </a:solidFill>
                <a:latin typeface="Microsoft YaHei" panose="020B0503020204020204" pitchFamily="34" charset="-122"/>
              </a:rPr>
              <a:t>实验计划与总结</a:t>
            </a:r>
          </a:p>
        </p:txBody>
      </p:sp>
    </p:spTree>
    <p:extLst>
      <p:ext uri="{BB962C8B-B14F-4D97-AF65-F5344CB8AC3E}">
        <p14:creationId xmlns:p14="http://schemas.microsoft.com/office/powerpoint/2010/main" val="35790163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16A3DB-04B7-0F28-5E8A-F56BFA60F4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文本框 89">
            <a:extLst>
              <a:ext uri="{FF2B5EF4-FFF2-40B4-BE49-F238E27FC236}">
                <a16:creationId xmlns:a16="http://schemas.microsoft.com/office/drawing/2014/main" id="{7C423CAF-2C04-A115-DAA8-7FE393C84F1F}"/>
              </a:ext>
            </a:extLst>
          </p:cNvPr>
          <p:cNvSpPr txBox="1"/>
          <p:nvPr/>
        </p:nvSpPr>
        <p:spPr>
          <a:xfrm>
            <a:off x="115452" y="243436"/>
            <a:ext cx="7729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chemeClr val="bg1"/>
                </a:solidFill>
              </a:rPr>
              <a:t>01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40D8A0FD-5522-688B-0919-03AA88600BB6}"/>
              </a:ext>
            </a:extLst>
          </p:cNvPr>
          <p:cNvSpPr txBox="1"/>
          <p:nvPr/>
        </p:nvSpPr>
        <p:spPr>
          <a:xfrm>
            <a:off x="946461" y="269201"/>
            <a:ext cx="6440714" cy="5693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100" b="1">
                <a:solidFill>
                  <a:srgbClr val="00285F"/>
                </a:solidFill>
                <a:latin typeface="Microsoft YaHei" panose="020B0503020204020204" pitchFamily="34" charset="-122"/>
              </a:rPr>
              <a:t>三维重建与 </a:t>
            </a:r>
            <a:r>
              <a:rPr lang="en-US" altLang="zh-CN" sz="3100" b="1">
                <a:solidFill>
                  <a:srgbClr val="00285F"/>
                </a:solidFill>
                <a:latin typeface="Microsoft YaHei" panose="020B0503020204020204" pitchFamily="34" charset="-122"/>
              </a:rPr>
              <a:t>3R </a:t>
            </a:r>
            <a:r>
              <a:rPr lang="zh-CN" altLang="en-US" sz="3100" b="1">
                <a:solidFill>
                  <a:srgbClr val="00285F"/>
                </a:solidFill>
                <a:latin typeface="Microsoft YaHei" panose="020B0503020204020204" pitchFamily="34" charset="-122"/>
              </a:rPr>
              <a:t>模型的兴起</a:t>
            </a:r>
            <a:endParaRPr lang="zh-CN" altLang="en-US" sz="3100" b="1" dirty="0">
              <a:solidFill>
                <a:srgbClr val="00285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6480C046-8CBF-4E65-A073-E41ABF326387}"/>
              </a:ext>
            </a:extLst>
          </p:cNvPr>
          <p:cNvSpPr/>
          <p:nvPr/>
        </p:nvSpPr>
        <p:spPr>
          <a:xfrm>
            <a:off x="0" y="1651000"/>
            <a:ext cx="12192000" cy="520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2B66CDDB-48C0-90E6-52B9-F7B6F062E77D}"/>
              </a:ext>
            </a:extLst>
          </p:cNvPr>
          <p:cNvSpPr/>
          <p:nvPr/>
        </p:nvSpPr>
        <p:spPr>
          <a:xfrm>
            <a:off x="431800" y="1168400"/>
            <a:ext cx="11303000" cy="5080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DUSt3R </a:t>
            </a:r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将未标定图像对直接映射为稠密三维点图，是 </a:t>
            </a:r>
            <a:r>
              <a:rPr lang="en-US" altLang="zh-CN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3R </a:t>
            </a:r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路线的代表起点。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6FBF8473-E5C2-F319-33C0-91B9387D095B}"/>
              </a:ext>
            </a:extLst>
          </p:cNvPr>
          <p:cNvSpPr/>
          <p:nvPr/>
        </p:nvSpPr>
        <p:spPr>
          <a:xfrm>
            <a:off x="762000" y="2095500"/>
            <a:ext cx="3175000" cy="4318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 b="1">
                <a:solidFill>
                  <a:srgbClr val="FFFFFF"/>
                </a:solidFill>
                <a:latin typeface="Microsoft YaHei" panose="020B0503020204020204" pitchFamily="34" charset="-122"/>
              </a:rPr>
              <a:t>传统三维重建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B673F060-F5B9-B228-19B6-7855727B5E60}"/>
              </a:ext>
            </a:extLst>
          </p:cNvPr>
          <p:cNvSpPr/>
          <p:nvPr/>
        </p:nvSpPr>
        <p:spPr>
          <a:xfrm>
            <a:off x="762000" y="2552700"/>
            <a:ext cx="3175000" cy="18923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特征提取
特征匹配
位姿估计
三角化与稠密重建</a:t>
            </a:r>
          </a:p>
        </p:txBody>
      </p:sp>
      <p:sp>
        <p:nvSpPr>
          <p:cNvPr id="34" name="箭头: 右 33">
            <a:extLst>
              <a:ext uri="{FF2B5EF4-FFF2-40B4-BE49-F238E27FC236}">
                <a16:creationId xmlns:a16="http://schemas.microsoft.com/office/drawing/2014/main" id="{74868B8A-1742-F108-3ECE-50F875B30E28}"/>
              </a:ext>
            </a:extLst>
          </p:cNvPr>
          <p:cNvSpPr/>
          <p:nvPr/>
        </p:nvSpPr>
        <p:spPr>
          <a:xfrm>
            <a:off x="4127500" y="2984500"/>
            <a:ext cx="508000" cy="304800"/>
          </a:xfrm>
          <a:prstGeom prst="rightArrow">
            <a:avLst/>
          </a:prstGeom>
          <a:solidFill>
            <a:srgbClr val="286FB9"/>
          </a:solidFill>
          <a:ln>
            <a:solidFill>
              <a:srgbClr val="286F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6" name="图片 35">
            <a:extLst>
              <a:ext uri="{FF2B5EF4-FFF2-40B4-BE49-F238E27FC236}">
                <a16:creationId xmlns:a16="http://schemas.microsoft.com/office/drawing/2014/main" id="{4D26E25F-7BC0-9612-E71D-C112F1057FDD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53000" y="1906465"/>
            <a:ext cx="6350000" cy="2930769"/>
          </a:xfrm>
          <a:prstGeom prst="rect">
            <a:avLst/>
          </a:prstGeom>
        </p:spPr>
      </p:pic>
      <p:sp>
        <p:nvSpPr>
          <p:cNvPr id="37" name="矩形 36">
            <a:extLst>
              <a:ext uri="{FF2B5EF4-FFF2-40B4-BE49-F238E27FC236}">
                <a16:creationId xmlns:a16="http://schemas.microsoft.com/office/drawing/2014/main" id="{DD5359C2-A44C-41ED-C1A4-E8C7A5F07F9A}"/>
              </a:ext>
            </a:extLst>
          </p:cNvPr>
          <p:cNvSpPr/>
          <p:nvPr/>
        </p:nvSpPr>
        <p:spPr>
          <a:xfrm>
            <a:off x="1079500" y="5524500"/>
            <a:ext cx="10033000" cy="4826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1700" b="1">
                <a:solidFill>
                  <a:srgbClr val="00285F"/>
                </a:solidFill>
                <a:latin typeface="Microsoft YaHei" panose="020B0503020204020204" pitchFamily="34" charset="-122"/>
              </a:rPr>
              <a:t>3R </a:t>
            </a:r>
            <a:r>
              <a:rPr lang="zh-CN" altLang="en-US" sz="1700" b="1">
                <a:solidFill>
                  <a:srgbClr val="00285F"/>
                </a:solidFill>
                <a:latin typeface="Microsoft YaHei" panose="020B0503020204020204" pitchFamily="34" charset="-122"/>
              </a:rPr>
              <a:t>的价值在于统一输入输出；后续问题集中转向长序列、动态场景和结果可靠性。</a:t>
            </a:r>
          </a:p>
        </p:txBody>
      </p:sp>
    </p:spTree>
    <p:extLst>
      <p:ext uri="{BB962C8B-B14F-4D97-AF65-F5344CB8AC3E}">
        <p14:creationId xmlns:p14="http://schemas.microsoft.com/office/powerpoint/2010/main" val="7406402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E9C1C7-72C6-1029-14A1-14DA57824D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文本框 89">
            <a:extLst>
              <a:ext uri="{FF2B5EF4-FFF2-40B4-BE49-F238E27FC236}">
                <a16:creationId xmlns:a16="http://schemas.microsoft.com/office/drawing/2014/main" id="{92C25290-25CA-9409-7329-785426950541}"/>
              </a:ext>
            </a:extLst>
          </p:cNvPr>
          <p:cNvSpPr txBox="1"/>
          <p:nvPr/>
        </p:nvSpPr>
        <p:spPr>
          <a:xfrm>
            <a:off x="115452" y="243436"/>
            <a:ext cx="7729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chemeClr val="bg1"/>
                </a:solidFill>
              </a:rPr>
              <a:t>02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816D3D87-A82F-7CBB-9ECA-5489B69CC28D}"/>
              </a:ext>
            </a:extLst>
          </p:cNvPr>
          <p:cNvSpPr txBox="1"/>
          <p:nvPr/>
        </p:nvSpPr>
        <p:spPr>
          <a:xfrm>
            <a:off x="946460" y="269201"/>
            <a:ext cx="7626039" cy="5693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3100" b="1">
                <a:solidFill>
                  <a:srgbClr val="00285F"/>
                </a:solidFill>
                <a:latin typeface="Microsoft YaHei" panose="020B0503020204020204" pitchFamily="34" charset="-122"/>
              </a:rPr>
              <a:t>3R </a:t>
            </a:r>
            <a:r>
              <a:rPr lang="zh-CN" altLang="en-US" sz="3100" b="1">
                <a:solidFill>
                  <a:srgbClr val="00285F"/>
                </a:solidFill>
                <a:latin typeface="Microsoft YaHei" panose="020B0503020204020204" pitchFamily="34" charset="-122"/>
              </a:rPr>
              <a:t>模型的优势</a:t>
            </a:r>
            <a:endParaRPr lang="zh-CN" altLang="en-US" sz="3100" b="1" dirty="0">
              <a:solidFill>
                <a:srgbClr val="00285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922DF677-AFD0-4447-62E7-25E287DEA654}"/>
              </a:ext>
            </a:extLst>
          </p:cNvPr>
          <p:cNvSpPr/>
          <p:nvPr/>
        </p:nvSpPr>
        <p:spPr>
          <a:xfrm>
            <a:off x="0" y="1651000"/>
            <a:ext cx="12192000" cy="520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4C4F0942-AB65-1F5F-E366-2FB0F526143E}"/>
              </a:ext>
            </a:extLst>
          </p:cNvPr>
          <p:cNvSpPr/>
          <p:nvPr/>
        </p:nvSpPr>
        <p:spPr>
          <a:xfrm>
            <a:off x="431800" y="1168400"/>
            <a:ext cx="11303000" cy="5080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3R </a:t>
            </a:r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模型的优势集中在速度、端到端学习、统一输出和特色机制。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6CC9AE74-7AAA-C9E7-944F-64C474A38F68}"/>
              </a:ext>
            </a:extLst>
          </p:cNvPr>
          <p:cNvSpPr/>
          <p:nvPr/>
        </p:nvSpPr>
        <p:spPr>
          <a:xfrm>
            <a:off x="762000" y="2095500"/>
            <a:ext cx="2286000" cy="4318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 b="1">
                <a:solidFill>
                  <a:srgbClr val="FFFFFF"/>
                </a:solidFill>
                <a:latin typeface="Microsoft YaHei" panose="020B0503020204020204" pitchFamily="34" charset="-122"/>
              </a:rPr>
              <a:t>速度快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2FAC73BC-2938-9D06-FC24-1B9F1BD96023}"/>
              </a:ext>
            </a:extLst>
          </p:cNvPr>
          <p:cNvSpPr/>
          <p:nvPr/>
        </p:nvSpPr>
        <p:spPr>
          <a:xfrm>
            <a:off x="762000" y="2552700"/>
            <a:ext cx="2286000" cy="14478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单次前向
无需迭代优化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A3535D81-22E1-F812-AF0E-81B311DF3B91}"/>
              </a:ext>
            </a:extLst>
          </p:cNvPr>
          <p:cNvSpPr/>
          <p:nvPr/>
        </p:nvSpPr>
        <p:spPr>
          <a:xfrm>
            <a:off x="3556000" y="2095500"/>
            <a:ext cx="2286000" cy="431800"/>
          </a:xfrm>
          <a:prstGeom prst="rect">
            <a:avLst/>
          </a:prstGeom>
          <a:solidFill>
            <a:srgbClr val="286FB9"/>
          </a:solidFill>
          <a:ln w="12700">
            <a:solidFill>
              <a:srgbClr val="286F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 b="1">
                <a:solidFill>
                  <a:srgbClr val="FFFFFF"/>
                </a:solidFill>
                <a:latin typeface="Microsoft YaHei" panose="020B0503020204020204" pitchFamily="34" charset="-122"/>
              </a:rPr>
              <a:t>端到端学习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4C7FC743-D526-A69A-A3F7-2C894786663D}"/>
              </a:ext>
            </a:extLst>
          </p:cNvPr>
          <p:cNvSpPr/>
          <p:nvPr/>
        </p:nvSpPr>
        <p:spPr>
          <a:xfrm>
            <a:off x="3556000" y="2552700"/>
            <a:ext cx="2286000" cy="1447800"/>
          </a:xfrm>
          <a:prstGeom prst="rect">
            <a:avLst/>
          </a:prstGeom>
          <a:solidFill>
            <a:srgbClr val="FFFFFF"/>
          </a:solidFill>
          <a:ln w="12700">
            <a:solidFill>
              <a:srgbClr val="286F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几何先验
隐式写入权重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35C50AA8-D485-6FD3-0590-B516E1331D87}"/>
              </a:ext>
            </a:extLst>
          </p:cNvPr>
          <p:cNvSpPr/>
          <p:nvPr/>
        </p:nvSpPr>
        <p:spPr>
          <a:xfrm>
            <a:off x="6350000" y="2095500"/>
            <a:ext cx="2286000" cy="431800"/>
          </a:xfrm>
          <a:prstGeom prst="rect">
            <a:avLst/>
          </a:prstGeom>
          <a:solidFill>
            <a:srgbClr val="286FB9"/>
          </a:solidFill>
          <a:ln w="12700">
            <a:solidFill>
              <a:srgbClr val="286F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 b="1">
                <a:solidFill>
                  <a:srgbClr val="FFFFFF"/>
                </a:solidFill>
                <a:latin typeface="Microsoft YaHei" panose="020B0503020204020204" pitchFamily="34" charset="-122"/>
              </a:rPr>
              <a:t>统一输出</a:t>
            </a: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BAAE67CC-C71B-D556-EBAB-520362E574F3}"/>
              </a:ext>
            </a:extLst>
          </p:cNvPr>
          <p:cNvSpPr/>
          <p:nvPr/>
        </p:nvSpPr>
        <p:spPr>
          <a:xfrm>
            <a:off x="6350000" y="2552700"/>
            <a:ext cx="2286000" cy="1447800"/>
          </a:xfrm>
          <a:prstGeom prst="rect">
            <a:avLst/>
          </a:prstGeom>
          <a:solidFill>
            <a:srgbClr val="FFFFFF"/>
          </a:solidFill>
          <a:ln w="12700">
            <a:solidFill>
              <a:srgbClr val="286F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1900">
                <a:solidFill>
                  <a:srgbClr val="081830"/>
                </a:solidFill>
                <a:latin typeface="Microsoft YaHei" panose="020B0503020204020204" pitchFamily="34" charset="-122"/>
              </a:rPr>
              <a:t>pointmap </a:t>
            </a:r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支持
深度 </a:t>
            </a:r>
            <a:r>
              <a:rPr lang="en-US" altLang="zh-CN" sz="1900">
                <a:solidFill>
                  <a:srgbClr val="081830"/>
                </a:solidFill>
                <a:latin typeface="Microsoft YaHei" panose="020B0503020204020204" pitchFamily="34" charset="-122"/>
              </a:rPr>
              <a:t>/ </a:t>
            </a:r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位姿 </a:t>
            </a:r>
            <a:r>
              <a:rPr lang="en-US" altLang="zh-CN" sz="1900">
                <a:solidFill>
                  <a:srgbClr val="081830"/>
                </a:solidFill>
                <a:latin typeface="Microsoft YaHei" panose="020B0503020204020204" pitchFamily="34" charset="-122"/>
              </a:rPr>
              <a:t>/ </a:t>
            </a:r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法线</a:t>
            </a: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CA35918A-0E1A-4070-D7C4-D2A347A09A0A}"/>
              </a:ext>
            </a:extLst>
          </p:cNvPr>
          <p:cNvSpPr/>
          <p:nvPr/>
        </p:nvSpPr>
        <p:spPr>
          <a:xfrm>
            <a:off x="9144000" y="2095500"/>
            <a:ext cx="2286000" cy="4318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 b="1">
                <a:solidFill>
                  <a:srgbClr val="FFFFFF"/>
                </a:solidFill>
                <a:latin typeface="Microsoft YaHei" panose="020B0503020204020204" pitchFamily="34" charset="-122"/>
              </a:rPr>
              <a:t>特色机制</a:t>
            </a: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BFE3E8C7-267C-EEAA-B86F-6A40D33D363A}"/>
              </a:ext>
            </a:extLst>
          </p:cNvPr>
          <p:cNvSpPr/>
          <p:nvPr/>
        </p:nvSpPr>
        <p:spPr>
          <a:xfrm>
            <a:off x="9144000" y="2552700"/>
            <a:ext cx="2286000" cy="14478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记忆、递推
校验、匹配增强</a:t>
            </a: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E5C2FF26-F745-3CF8-9C08-275CB8B36A69}"/>
              </a:ext>
            </a:extLst>
          </p:cNvPr>
          <p:cNvSpPr/>
          <p:nvPr/>
        </p:nvSpPr>
        <p:spPr>
          <a:xfrm>
            <a:off x="1143000" y="4826000"/>
            <a:ext cx="9906000" cy="6604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1900" b="1">
                <a:solidFill>
                  <a:srgbClr val="00285F"/>
                </a:solidFill>
                <a:latin typeface="Microsoft YaHei" panose="020B0503020204020204" pitchFamily="34" charset="-122"/>
              </a:rPr>
              <a:t>Spann3R</a:t>
            </a:r>
            <a:r>
              <a:rPr lang="zh-CN" altLang="en-US" sz="1900" b="1">
                <a:solidFill>
                  <a:srgbClr val="00285F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 sz="1900" b="1">
                <a:solidFill>
                  <a:srgbClr val="00285F"/>
                </a:solidFill>
                <a:latin typeface="Microsoft YaHei" panose="020B0503020204020204" pitchFamily="34" charset="-122"/>
              </a:rPr>
              <a:t>CUT3R</a:t>
            </a:r>
            <a:r>
              <a:rPr lang="zh-CN" altLang="en-US" sz="1900" b="1">
                <a:solidFill>
                  <a:srgbClr val="00285F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 sz="1900" b="1">
                <a:solidFill>
                  <a:srgbClr val="00285F"/>
                </a:solidFill>
                <a:latin typeface="Microsoft YaHei" panose="020B0503020204020204" pitchFamily="34" charset="-122"/>
              </a:rPr>
              <a:t>Test3R</a:t>
            </a:r>
            <a:r>
              <a:rPr lang="zh-CN" altLang="en-US" sz="1900" b="1">
                <a:solidFill>
                  <a:srgbClr val="00285F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 sz="1900" b="1">
                <a:solidFill>
                  <a:srgbClr val="00285F"/>
                </a:solidFill>
                <a:latin typeface="Microsoft YaHei" panose="020B0503020204020204" pitchFamily="34" charset="-122"/>
              </a:rPr>
              <a:t>MASt3R </a:t>
            </a:r>
            <a:r>
              <a:rPr lang="zh-CN" altLang="en-US" sz="1900" b="1">
                <a:solidFill>
                  <a:srgbClr val="00285F"/>
                </a:solidFill>
                <a:latin typeface="Microsoft YaHei" panose="020B0503020204020204" pitchFamily="34" charset="-122"/>
              </a:rPr>
              <a:t>等工作提供了可借鉴的机制来源。</a:t>
            </a:r>
          </a:p>
        </p:txBody>
      </p:sp>
    </p:spTree>
    <p:extLst>
      <p:ext uri="{BB962C8B-B14F-4D97-AF65-F5344CB8AC3E}">
        <p14:creationId xmlns:p14="http://schemas.microsoft.com/office/powerpoint/2010/main" val="17543251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795727-EB63-8B05-C0BA-FC16CEA965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文本框 89">
            <a:extLst>
              <a:ext uri="{FF2B5EF4-FFF2-40B4-BE49-F238E27FC236}">
                <a16:creationId xmlns:a16="http://schemas.microsoft.com/office/drawing/2014/main" id="{746D9152-48D3-E0A8-3FF3-2116404376ED}"/>
              </a:ext>
            </a:extLst>
          </p:cNvPr>
          <p:cNvSpPr txBox="1"/>
          <p:nvPr/>
        </p:nvSpPr>
        <p:spPr>
          <a:xfrm>
            <a:off x="115452" y="243436"/>
            <a:ext cx="7729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chemeClr val="bg1"/>
                </a:solidFill>
              </a:rPr>
              <a:t>03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BF154AD5-A70A-1962-3AC7-43543A030B62}"/>
              </a:ext>
            </a:extLst>
          </p:cNvPr>
          <p:cNvSpPr txBox="1"/>
          <p:nvPr/>
        </p:nvSpPr>
        <p:spPr>
          <a:xfrm>
            <a:off x="946460" y="269201"/>
            <a:ext cx="7626039" cy="5693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3100" b="1">
                <a:solidFill>
                  <a:srgbClr val="00285F"/>
                </a:solidFill>
                <a:latin typeface="Microsoft YaHei" panose="020B0503020204020204" pitchFamily="34" charset="-122"/>
              </a:rPr>
              <a:t>3R </a:t>
            </a:r>
            <a:r>
              <a:rPr lang="zh-CN" altLang="en-US" sz="3100" b="1">
                <a:solidFill>
                  <a:srgbClr val="00285F"/>
                </a:solidFill>
                <a:latin typeface="Microsoft YaHei" panose="020B0503020204020204" pitchFamily="34" charset="-122"/>
              </a:rPr>
              <a:t>模型面临的共性缺陷</a:t>
            </a:r>
            <a:endParaRPr lang="zh-CN" altLang="en-US" sz="3100" b="1" dirty="0">
              <a:solidFill>
                <a:srgbClr val="00285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4" name="任意多边形: 形状 93">
            <a:extLst>
              <a:ext uri="{FF2B5EF4-FFF2-40B4-BE49-F238E27FC236}">
                <a16:creationId xmlns:a16="http://schemas.microsoft.com/office/drawing/2014/main" id="{AF1BF063-7278-CF65-8ADD-CE545C77BE17}"/>
              </a:ext>
            </a:extLst>
          </p:cNvPr>
          <p:cNvSpPr/>
          <p:nvPr/>
        </p:nvSpPr>
        <p:spPr>
          <a:xfrm rot="5400000">
            <a:off x="5590187" y="-4418609"/>
            <a:ext cx="1011626" cy="12192000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2">
                  <a:lumMod val="75000"/>
                </a:schemeClr>
              </a:gs>
            </a:gsLst>
            <a:lin ang="5400000" scaled="1"/>
          </a:gradFill>
          <a:ln w="19050" cap="flat" cmpd="sng" algn="ctr">
            <a:noFill/>
            <a:prstDash val="solid"/>
            <a:miter lim="800000"/>
          </a:ln>
          <a:effectLst>
            <a:outerShdw blurRad="152400" dist="190500" dir="13500000" algn="ctr" rotWithShape="0">
              <a:sysClr val="window" lastClr="FFFFFF">
                <a:alpha val="29000"/>
              </a:sys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2E1E5154-1F0B-FAB9-A6E6-B6F20E24D501}"/>
              </a:ext>
            </a:extLst>
          </p:cNvPr>
          <p:cNvSpPr/>
          <p:nvPr/>
        </p:nvSpPr>
        <p:spPr>
          <a:xfrm>
            <a:off x="0" y="1651000"/>
            <a:ext cx="12192000" cy="520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E99E0A2-93E5-703F-888E-E9BD068FDD1D}"/>
              </a:ext>
            </a:extLst>
          </p:cNvPr>
          <p:cNvSpPr/>
          <p:nvPr/>
        </p:nvSpPr>
        <p:spPr>
          <a:xfrm>
            <a:off x="431800" y="1168400"/>
            <a:ext cx="11303000" cy="5080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现有 </a:t>
            </a:r>
            <a:r>
              <a:rPr lang="en-US" altLang="zh-CN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3R </a:t>
            </a:r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模型在长序列、动态场景、自检查和多模型协同方面仍有短板。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C6640054-D763-A463-BDFA-FF805A9075E2}"/>
              </a:ext>
            </a:extLst>
          </p:cNvPr>
          <p:cNvSpPr/>
          <p:nvPr/>
        </p:nvSpPr>
        <p:spPr>
          <a:xfrm>
            <a:off x="952500" y="1841500"/>
            <a:ext cx="2095500" cy="5080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长序列漂移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C86CC9AF-3DB5-1325-828F-703172A4249D}"/>
              </a:ext>
            </a:extLst>
          </p:cNvPr>
          <p:cNvSpPr/>
          <p:nvPr/>
        </p:nvSpPr>
        <p:spPr>
          <a:xfrm>
            <a:off x="3302000" y="1841500"/>
            <a:ext cx="7874000" cy="50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700">
                <a:solidFill>
                  <a:srgbClr val="00285F"/>
                </a:solidFill>
                <a:latin typeface="Microsoft YaHei" panose="020B0503020204020204" pitchFamily="34" charset="-122"/>
              </a:rPr>
              <a:t>视频长度增加后几何逐渐跑偏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019C3452-95B0-AA4E-CD14-CDBCE820C026}"/>
              </a:ext>
            </a:extLst>
          </p:cNvPr>
          <p:cNvSpPr/>
          <p:nvPr/>
        </p:nvSpPr>
        <p:spPr>
          <a:xfrm>
            <a:off x="952500" y="2540000"/>
            <a:ext cx="2095500" cy="5080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动态场景干扰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ADA0E7A2-6C05-BF4F-639C-C968993EBC70}"/>
              </a:ext>
            </a:extLst>
          </p:cNvPr>
          <p:cNvSpPr/>
          <p:nvPr/>
        </p:nvSpPr>
        <p:spPr>
          <a:xfrm>
            <a:off x="3302000" y="2540000"/>
            <a:ext cx="7874000" cy="5080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700">
                <a:solidFill>
                  <a:srgbClr val="00285F"/>
                </a:solidFill>
                <a:latin typeface="Microsoft YaHei" panose="020B0503020204020204" pitchFamily="34" charset="-122"/>
              </a:rPr>
              <a:t>移动物体破坏静态重建假设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3F118E91-3997-0CEC-402B-EADF2285FE2B}"/>
              </a:ext>
            </a:extLst>
          </p:cNvPr>
          <p:cNvSpPr/>
          <p:nvPr/>
        </p:nvSpPr>
        <p:spPr>
          <a:xfrm>
            <a:off x="952500" y="3238500"/>
            <a:ext cx="2095500" cy="5080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缺乏自检查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B730E64D-311C-0A0E-D538-AB8D0A0615A7}"/>
              </a:ext>
            </a:extLst>
          </p:cNvPr>
          <p:cNvSpPr/>
          <p:nvPr/>
        </p:nvSpPr>
        <p:spPr>
          <a:xfrm>
            <a:off x="3302000" y="3238500"/>
            <a:ext cx="7874000" cy="50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700">
                <a:solidFill>
                  <a:srgbClr val="00285F"/>
                </a:solidFill>
                <a:latin typeface="Microsoft YaHei" panose="020B0503020204020204" pitchFamily="34" charset="-122"/>
              </a:rPr>
              <a:t>结果错误难以及时发现和修复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3C67B259-C0B8-C278-1AF6-2E6EE6AA15E0}"/>
              </a:ext>
            </a:extLst>
          </p:cNvPr>
          <p:cNvSpPr/>
          <p:nvPr/>
        </p:nvSpPr>
        <p:spPr>
          <a:xfrm>
            <a:off x="952500" y="3937000"/>
            <a:ext cx="2095500" cy="5080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单模型上限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18FF0CFE-A756-D074-7BA6-C93D4DA34DF6}"/>
              </a:ext>
            </a:extLst>
          </p:cNvPr>
          <p:cNvSpPr/>
          <p:nvPr/>
        </p:nvSpPr>
        <p:spPr>
          <a:xfrm>
            <a:off x="3302000" y="3937000"/>
            <a:ext cx="7874000" cy="5080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700">
                <a:solidFill>
                  <a:srgbClr val="00285F"/>
                </a:solidFill>
                <a:latin typeface="Microsoft YaHei" panose="020B0503020204020204" pitchFamily="34" charset="-122"/>
              </a:rPr>
              <a:t>弱纹理、镜面、快速运动各有短板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1C792F99-4A17-D622-121D-E6CADF824EBA}"/>
              </a:ext>
            </a:extLst>
          </p:cNvPr>
          <p:cNvSpPr/>
          <p:nvPr/>
        </p:nvSpPr>
        <p:spPr>
          <a:xfrm>
            <a:off x="952500" y="4635500"/>
            <a:ext cx="2095500" cy="5080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模型之间孤立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1259FAE1-560E-4B1E-FC6C-8ABA202E86D9}"/>
              </a:ext>
            </a:extLst>
          </p:cNvPr>
          <p:cNvSpPr/>
          <p:nvPr/>
        </p:nvSpPr>
        <p:spPr>
          <a:xfrm>
            <a:off x="3302000" y="4635500"/>
            <a:ext cx="7874000" cy="50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700">
                <a:solidFill>
                  <a:srgbClr val="00285F"/>
                </a:solidFill>
                <a:latin typeface="Microsoft YaHei" panose="020B0503020204020204" pitchFamily="34" charset="-122"/>
              </a:rPr>
              <a:t>缺少统一对比与组合框架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525D3116-291E-493B-E708-A9050C7745D4}"/>
              </a:ext>
            </a:extLst>
          </p:cNvPr>
          <p:cNvSpPr/>
          <p:nvPr/>
        </p:nvSpPr>
        <p:spPr>
          <a:xfrm>
            <a:off x="1397000" y="5524500"/>
            <a:ext cx="9398000" cy="4826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700" b="1">
                <a:solidFill>
                  <a:srgbClr val="FFFFFF"/>
                </a:solidFill>
                <a:latin typeface="Microsoft YaHei" panose="020B0503020204020204" pitchFamily="34" charset="-122"/>
              </a:rPr>
              <a:t>课题目标由这些短板自然引出：记忆、校验、多专家编排和统一平台。</a:t>
            </a:r>
          </a:p>
        </p:txBody>
      </p:sp>
    </p:spTree>
    <p:extLst>
      <p:ext uri="{BB962C8B-B14F-4D97-AF65-F5344CB8AC3E}">
        <p14:creationId xmlns:p14="http://schemas.microsoft.com/office/powerpoint/2010/main" val="26739616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795727-EB63-8B05-C0BA-FC16CEA965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文本框 89">
            <a:extLst>
              <a:ext uri="{FF2B5EF4-FFF2-40B4-BE49-F238E27FC236}">
                <a16:creationId xmlns:a16="http://schemas.microsoft.com/office/drawing/2014/main" id="{746D9152-48D3-E0A8-3FF3-2116404376ED}"/>
              </a:ext>
            </a:extLst>
          </p:cNvPr>
          <p:cNvSpPr txBox="1"/>
          <p:nvPr/>
        </p:nvSpPr>
        <p:spPr>
          <a:xfrm>
            <a:off x="115452" y="243436"/>
            <a:ext cx="7729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chemeClr val="bg1"/>
                </a:solidFill>
              </a:rPr>
              <a:t>03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BF154AD5-A70A-1962-3AC7-43543A030B62}"/>
              </a:ext>
            </a:extLst>
          </p:cNvPr>
          <p:cNvSpPr txBox="1"/>
          <p:nvPr/>
        </p:nvSpPr>
        <p:spPr>
          <a:xfrm>
            <a:off x="946460" y="269201"/>
            <a:ext cx="7626039" cy="5693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100" b="1">
                <a:solidFill>
                  <a:srgbClr val="00285F"/>
                </a:solidFill>
                <a:latin typeface="Microsoft YaHei" panose="020B0503020204020204" pitchFamily="34" charset="-122"/>
              </a:rPr>
              <a:t>设计思路：学习与补足</a:t>
            </a:r>
            <a:endParaRPr lang="zh-CN" altLang="en-US" sz="3100" b="1" dirty="0">
              <a:solidFill>
                <a:srgbClr val="00285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4" name="任意多边形: 形状 93">
            <a:extLst>
              <a:ext uri="{FF2B5EF4-FFF2-40B4-BE49-F238E27FC236}">
                <a16:creationId xmlns:a16="http://schemas.microsoft.com/office/drawing/2014/main" id="{AF1BF063-7278-CF65-8ADD-CE545C77BE17}"/>
              </a:ext>
            </a:extLst>
          </p:cNvPr>
          <p:cNvSpPr/>
          <p:nvPr/>
        </p:nvSpPr>
        <p:spPr>
          <a:xfrm rot="5400000">
            <a:off x="5590187" y="-4418609"/>
            <a:ext cx="1011626" cy="12192000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2">
                  <a:lumMod val="75000"/>
                </a:schemeClr>
              </a:gs>
            </a:gsLst>
            <a:lin ang="5400000" scaled="1"/>
          </a:gradFill>
          <a:ln w="19050" cap="flat" cmpd="sng" algn="ctr">
            <a:noFill/>
            <a:prstDash val="solid"/>
            <a:miter lim="800000"/>
          </a:ln>
          <a:effectLst>
            <a:outerShdw blurRad="152400" dist="190500" dir="13500000" algn="ctr" rotWithShape="0">
              <a:sysClr val="window" lastClr="FFFFFF">
                <a:alpha val="29000"/>
              </a:sys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CD877E15-B985-D9B3-E86E-78514C004E3F}"/>
              </a:ext>
            </a:extLst>
          </p:cNvPr>
          <p:cNvSpPr/>
          <p:nvPr/>
        </p:nvSpPr>
        <p:spPr>
          <a:xfrm>
            <a:off x="0" y="1651000"/>
            <a:ext cx="12192000" cy="520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8294BA2A-FE32-D09A-1929-0DAACBAC5C99}"/>
              </a:ext>
            </a:extLst>
          </p:cNvPr>
          <p:cNvSpPr/>
          <p:nvPr/>
        </p:nvSpPr>
        <p:spPr>
          <a:xfrm>
            <a:off x="431800" y="1168400"/>
            <a:ext cx="11303000" cy="5080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设计思路分为两步：提取 </a:t>
            </a:r>
            <a:r>
              <a:rPr lang="en-US" altLang="zh-CN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3R </a:t>
            </a:r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有效机制，再引入新方法补足短板。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28D138FF-4BA3-C50D-3BEA-B16C567EE718}"/>
              </a:ext>
            </a:extLst>
          </p:cNvPr>
          <p:cNvSpPr/>
          <p:nvPr/>
        </p:nvSpPr>
        <p:spPr>
          <a:xfrm>
            <a:off x="698500" y="2032000"/>
            <a:ext cx="4953000" cy="4318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 b="1">
                <a:solidFill>
                  <a:srgbClr val="FFFFFF"/>
                </a:solidFill>
                <a:latin typeface="Microsoft YaHei" panose="020B0503020204020204" pitchFamily="34" charset="-122"/>
              </a:rPr>
              <a:t>从 </a:t>
            </a:r>
            <a:r>
              <a:rPr lang="en-US" altLang="zh-CN" sz="1900" b="1">
                <a:solidFill>
                  <a:srgbClr val="FFFFFF"/>
                </a:solidFill>
                <a:latin typeface="Microsoft YaHei" panose="020B0503020204020204" pitchFamily="34" charset="-122"/>
              </a:rPr>
              <a:t>3R </a:t>
            </a:r>
            <a:r>
              <a:rPr lang="zh-CN" altLang="en-US" sz="1900" b="1">
                <a:solidFill>
                  <a:srgbClr val="FFFFFF"/>
                </a:solidFill>
                <a:latin typeface="Microsoft YaHei" panose="020B0503020204020204" pitchFamily="34" charset="-122"/>
              </a:rPr>
              <a:t>中学习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1E96EFDF-F187-291D-979B-88CA74CD6F44}"/>
              </a:ext>
            </a:extLst>
          </p:cNvPr>
          <p:cNvSpPr/>
          <p:nvPr/>
        </p:nvSpPr>
        <p:spPr>
          <a:xfrm>
            <a:off x="698500" y="2489200"/>
            <a:ext cx="4953000" cy="18923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空间记忆：保留已见区域
流式递推：支持长视频
几何校验：推理时自检查
多模型互补：专家各取所长</a:t>
            </a:r>
          </a:p>
        </p:txBody>
      </p:sp>
      <p:sp>
        <p:nvSpPr>
          <p:cNvPr id="10" name="箭头: 右 9">
            <a:extLst>
              <a:ext uri="{FF2B5EF4-FFF2-40B4-BE49-F238E27FC236}">
                <a16:creationId xmlns:a16="http://schemas.microsoft.com/office/drawing/2014/main" id="{02DA1A15-F8C4-7FAC-F33E-84B2422F5EA3}"/>
              </a:ext>
            </a:extLst>
          </p:cNvPr>
          <p:cNvSpPr/>
          <p:nvPr/>
        </p:nvSpPr>
        <p:spPr>
          <a:xfrm>
            <a:off x="5905500" y="2921000"/>
            <a:ext cx="533400" cy="330200"/>
          </a:xfrm>
          <a:prstGeom prst="rightArrow">
            <a:avLst/>
          </a:prstGeom>
          <a:solidFill>
            <a:srgbClr val="286FB9"/>
          </a:solidFill>
          <a:ln>
            <a:solidFill>
              <a:srgbClr val="286F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AC7E71C5-FBC9-3A62-FDB5-42F21916078D}"/>
              </a:ext>
            </a:extLst>
          </p:cNvPr>
          <p:cNvSpPr/>
          <p:nvPr/>
        </p:nvSpPr>
        <p:spPr>
          <a:xfrm>
            <a:off x="6667500" y="2032000"/>
            <a:ext cx="4953000" cy="431800"/>
          </a:xfrm>
          <a:prstGeom prst="rect">
            <a:avLst/>
          </a:prstGeom>
          <a:solidFill>
            <a:srgbClr val="286FB9"/>
          </a:solidFill>
          <a:ln w="12700">
            <a:solidFill>
              <a:srgbClr val="286F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 b="1">
                <a:solidFill>
                  <a:srgbClr val="FFFFFF"/>
                </a:solidFill>
                <a:latin typeface="Microsoft YaHei" panose="020B0503020204020204" pitchFamily="34" charset="-122"/>
              </a:rPr>
              <a:t>用新方法补足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E80F0914-806E-1FB7-2F9A-EC8EDBD47771}"/>
              </a:ext>
            </a:extLst>
          </p:cNvPr>
          <p:cNvSpPr/>
          <p:nvPr/>
        </p:nvSpPr>
        <p:spPr>
          <a:xfrm>
            <a:off x="6667500" y="2489200"/>
            <a:ext cx="4953000" cy="1892300"/>
          </a:xfrm>
          <a:prstGeom prst="rect">
            <a:avLst/>
          </a:prstGeom>
          <a:solidFill>
            <a:srgbClr val="FFFFFF"/>
          </a:solidFill>
          <a:ln w="12700">
            <a:solidFill>
              <a:srgbClr val="286F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稀疏注意力：管理长序列
</a:t>
            </a:r>
            <a:r>
              <a:rPr lang="en-US" altLang="zh-CN" sz="1900">
                <a:solidFill>
                  <a:srgbClr val="081830"/>
                </a:solidFill>
                <a:latin typeface="Microsoft YaHei" panose="020B0503020204020204" pitchFamily="34" charset="-122"/>
              </a:rPr>
              <a:t>Mamba</a:t>
            </a:r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：线性复杂度递推
</a:t>
            </a:r>
            <a:r>
              <a:rPr lang="en-US" altLang="zh-CN" sz="1900">
                <a:solidFill>
                  <a:srgbClr val="081830"/>
                </a:solidFill>
                <a:latin typeface="Microsoft YaHei" panose="020B0503020204020204" pitchFamily="34" charset="-122"/>
              </a:rPr>
              <a:t>Slot Attention</a:t>
            </a:r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：动静分离
能力描述符：多专家路由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5873E498-E369-5A31-F98E-AAFDC6EEF7E4}"/>
              </a:ext>
            </a:extLst>
          </p:cNvPr>
          <p:cNvSpPr/>
          <p:nvPr/>
        </p:nvSpPr>
        <p:spPr>
          <a:xfrm>
            <a:off x="1206500" y="5143500"/>
            <a:ext cx="9779000" cy="5334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b="1">
                <a:solidFill>
                  <a:srgbClr val="00285F"/>
                </a:solidFill>
                <a:latin typeface="Microsoft YaHei" panose="020B0503020204020204" pitchFamily="34" charset="-122"/>
              </a:rPr>
              <a:t>本课题的架构由这些机制组合自然推出，并通过实验检验各模块作用。</a:t>
            </a:r>
          </a:p>
        </p:txBody>
      </p:sp>
    </p:spTree>
    <p:extLst>
      <p:ext uri="{BB962C8B-B14F-4D97-AF65-F5344CB8AC3E}">
        <p14:creationId xmlns:p14="http://schemas.microsoft.com/office/powerpoint/2010/main" val="14266976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6C7F92-9293-B59D-2DE6-2DB6188AD3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文本框 89">
            <a:extLst>
              <a:ext uri="{FF2B5EF4-FFF2-40B4-BE49-F238E27FC236}">
                <a16:creationId xmlns:a16="http://schemas.microsoft.com/office/drawing/2014/main" id="{D974B1A9-EA78-9DDD-0C77-372F5B9CAD76}"/>
              </a:ext>
            </a:extLst>
          </p:cNvPr>
          <p:cNvSpPr txBox="1"/>
          <p:nvPr/>
        </p:nvSpPr>
        <p:spPr>
          <a:xfrm>
            <a:off x="115452" y="243436"/>
            <a:ext cx="7729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chemeClr val="bg1"/>
                </a:solidFill>
              </a:rPr>
              <a:t>08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0F0E9114-BD5E-4531-B04D-1539D4EDDF89}"/>
              </a:ext>
            </a:extLst>
          </p:cNvPr>
          <p:cNvSpPr txBox="1"/>
          <p:nvPr/>
        </p:nvSpPr>
        <p:spPr>
          <a:xfrm>
            <a:off x="946461" y="269201"/>
            <a:ext cx="6440714" cy="5693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100" b="1">
                <a:solidFill>
                  <a:srgbClr val="00285F"/>
                </a:solidFill>
                <a:latin typeface="Microsoft YaHei" panose="020B0503020204020204" pitchFamily="34" charset="-122"/>
              </a:rPr>
              <a:t>设计目标与课题两条主线</a:t>
            </a:r>
            <a:endParaRPr lang="zh-CN" altLang="en-US" sz="3100" b="1" dirty="0">
              <a:solidFill>
                <a:srgbClr val="00285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BE769321-963C-CCE8-F936-7A160A6DFC68}"/>
              </a:ext>
            </a:extLst>
          </p:cNvPr>
          <p:cNvSpPr/>
          <p:nvPr/>
        </p:nvSpPr>
        <p:spPr>
          <a:xfrm>
            <a:off x="0" y="1651000"/>
            <a:ext cx="12192000" cy="520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50E876E2-A335-D698-811B-A1AD4386FCD1}"/>
              </a:ext>
            </a:extLst>
          </p:cNvPr>
          <p:cNvSpPr/>
          <p:nvPr/>
        </p:nvSpPr>
        <p:spPr>
          <a:xfrm>
            <a:off x="431800" y="1168400"/>
            <a:ext cx="11303000" cy="5080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课题包含新架构设计和聚合管理平台两条主线，二者服务于同一组实验目标。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07F15F2D-DBAD-5D74-4737-6D4C98964795}"/>
              </a:ext>
            </a:extLst>
          </p:cNvPr>
          <p:cNvSpPr/>
          <p:nvPr/>
        </p:nvSpPr>
        <p:spPr>
          <a:xfrm>
            <a:off x="889000" y="2095500"/>
            <a:ext cx="4445000" cy="4318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 b="1">
                <a:solidFill>
                  <a:srgbClr val="FFFFFF"/>
                </a:solidFill>
                <a:latin typeface="Microsoft YaHei" panose="020B0503020204020204" pitchFamily="34" charset="-122"/>
              </a:rPr>
              <a:t>主线一：新架构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8C3FC8E6-68BD-1EBC-F9B0-33D20BA65151}"/>
              </a:ext>
            </a:extLst>
          </p:cNvPr>
          <p:cNvSpPr/>
          <p:nvPr/>
        </p:nvSpPr>
        <p:spPr>
          <a:xfrm>
            <a:off x="889000" y="2552700"/>
            <a:ext cx="4445000" cy="17653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空间记忆
几何校验
多专家编排
长序列与动态场景评测</a:t>
            </a:r>
          </a:p>
        </p:txBody>
      </p:sp>
      <p:sp>
        <p:nvSpPr>
          <p:cNvPr id="6" name="箭头: 右 5">
            <a:extLst>
              <a:ext uri="{FF2B5EF4-FFF2-40B4-BE49-F238E27FC236}">
                <a16:creationId xmlns:a16="http://schemas.microsoft.com/office/drawing/2014/main" id="{93233558-9BFE-11B3-BA38-38EE732811DD}"/>
              </a:ext>
            </a:extLst>
          </p:cNvPr>
          <p:cNvSpPr/>
          <p:nvPr/>
        </p:nvSpPr>
        <p:spPr>
          <a:xfrm>
            <a:off x="5715000" y="2921000"/>
            <a:ext cx="635000" cy="381000"/>
          </a:xfrm>
          <a:prstGeom prst="rightArrow">
            <a:avLst/>
          </a:prstGeom>
          <a:solidFill>
            <a:srgbClr val="286FB9"/>
          </a:solidFill>
          <a:ln>
            <a:solidFill>
              <a:srgbClr val="286F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F8EE0A6E-1431-7D71-47CD-502ED1A012D4}"/>
              </a:ext>
            </a:extLst>
          </p:cNvPr>
          <p:cNvSpPr/>
          <p:nvPr/>
        </p:nvSpPr>
        <p:spPr>
          <a:xfrm>
            <a:off x="6858000" y="2095500"/>
            <a:ext cx="4445000" cy="431800"/>
          </a:xfrm>
          <a:prstGeom prst="rect">
            <a:avLst/>
          </a:prstGeom>
          <a:solidFill>
            <a:srgbClr val="286FB9"/>
          </a:solidFill>
          <a:ln w="12700">
            <a:solidFill>
              <a:srgbClr val="286F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 b="1">
                <a:solidFill>
                  <a:srgbClr val="FFFFFF"/>
                </a:solidFill>
                <a:latin typeface="Microsoft YaHei" panose="020B0503020204020204" pitchFamily="34" charset="-122"/>
              </a:rPr>
              <a:t>主线二：管理平台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3ACBCC9-5A8A-C17A-56D2-7CEE5BEA589E}"/>
              </a:ext>
            </a:extLst>
          </p:cNvPr>
          <p:cNvSpPr/>
          <p:nvPr/>
        </p:nvSpPr>
        <p:spPr>
          <a:xfrm>
            <a:off x="6858000" y="2552700"/>
            <a:ext cx="4445000" cy="1765300"/>
          </a:xfrm>
          <a:prstGeom prst="rect">
            <a:avLst/>
          </a:prstGeom>
          <a:solidFill>
            <a:srgbClr val="FFFFFF"/>
          </a:solidFill>
          <a:ln w="12700">
            <a:solidFill>
              <a:srgbClr val="286F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模型统一调度
结果统一归集
跨模型对比
新模型快速接入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2DDEFF78-0402-A5E5-0D12-2E9121286CAF}"/>
              </a:ext>
            </a:extLst>
          </p:cNvPr>
          <p:cNvSpPr/>
          <p:nvPr/>
        </p:nvSpPr>
        <p:spPr>
          <a:xfrm>
            <a:off x="1206500" y="5080000"/>
            <a:ext cx="9779000" cy="6096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b="1">
                <a:solidFill>
                  <a:srgbClr val="00285F"/>
                </a:solidFill>
                <a:latin typeface="Microsoft YaHei" panose="020B0503020204020204" pitchFamily="34" charset="-122"/>
              </a:rPr>
              <a:t>平台提供统一实验条件；新架构完成后可作为新模型接入平台进行同条件比较。</a:t>
            </a:r>
          </a:p>
        </p:txBody>
      </p:sp>
    </p:spTree>
    <p:extLst>
      <p:ext uri="{BB962C8B-B14F-4D97-AF65-F5344CB8AC3E}">
        <p14:creationId xmlns:p14="http://schemas.microsoft.com/office/powerpoint/2010/main" val="6816587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6C7F92-9293-B59D-2DE6-2DB6188AD3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文本框 89">
            <a:extLst>
              <a:ext uri="{FF2B5EF4-FFF2-40B4-BE49-F238E27FC236}">
                <a16:creationId xmlns:a16="http://schemas.microsoft.com/office/drawing/2014/main" id="{D974B1A9-EA78-9DDD-0C77-372F5B9CAD76}"/>
              </a:ext>
            </a:extLst>
          </p:cNvPr>
          <p:cNvSpPr txBox="1"/>
          <p:nvPr/>
        </p:nvSpPr>
        <p:spPr>
          <a:xfrm>
            <a:off x="115452" y="243436"/>
            <a:ext cx="7729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chemeClr val="bg1"/>
                </a:solidFill>
              </a:rPr>
              <a:t>08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0F0E9114-BD5E-4531-B04D-1539D4EDDF89}"/>
              </a:ext>
            </a:extLst>
          </p:cNvPr>
          <p:cNvSpPr txBox="1"/>
          <p:nvPr/>
        </p:nvSpPr>
        <p:spPr>
          <a:xfrm>
            <a:off x="946461" y="269201"/>
            <a:ext cx="6440714" cy="5693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100" b="1">
                <a:solidFill>
                  <a:srgbClr val="00285F"/>
                </a:solidFill>
                <a:latin typeface="Microsoft YaHei" panose="020B0503020204020204" pitchFamily="34" charset="-122"/>
              </a:rPr>
              <a:t>总体架构一览</a:t>
            </a:r>
            <a:endParaRPr lang="zh-CN" altLang="en-US" sz="3100" b="1" dirty="0">
              <a:solidFill>
                <a:srgbClr val="00285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A18C107-B7E6-A953-20A4-7DA17F584046}"/>
              </a:ext>
            </a:extLst>
          </p:cNvPr>
          <p:cNvSpPr/>
          <p:nvPr/>
        </p:nvSpPr>
        <p:spPr>
          <a:xfrm>
            <a:off x="0" y="1651000"/>
            <a:ext cx="12192000" cy="520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D4B8700B-B78F-E956-670B-B85A14A5C75D}"/>
              </a:ext>
            </a:extLst>
          </p:cNvPr>
          <p:cNvSpPr/>
          <p:nvPr/>
        </p:nvSpPr>
        <p:spPr>
          <a:xfrm>
            <a:off x="431800" y="1168400"/>
            <a:ext cx="11303000" cy="5080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总体架构以总线为核心，把感知、记忆、动静分离、校验和专家编排串联起来。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38978121-05A4-9068-91C9-B30155AA9D70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11133" y="1752600"/>
            <a:ext cx="6769734" cy="3810000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8D358739-FF2F-99E7-92FA-F8C082172A51}"/>
              </a:ext>
            </a:extLst>
          </p:cNvPr>
          <p:cNvSpPr/>
          <p:nvPr/>
        </p:nvSpPr>
        <p:spPr>
          <a:xfrm>
            <a:off x="1460500" y="5715000"/>
            <a:ext cx="9271000" cy="4572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700" b="1">
                <a:solidFill>
                  <a:srgbClr val="00285F"/>
                </a:solidFill>
                <a:latin typeface="Microsoft YaHei" panose="020B0503020204020204" pitchFamily="34" charset="-122"/>
              </a:rPr>
              <a:t>输出包括逐帧三维点图、动态掩码和用于复核的中间证据。</a:t>
            </a:r>
          </a:p>
        </p:txBody>
      </p:sp>
    </p:spTree>
    <p:extLst>
      <p:ext uri="{BB962C8B-B14F-4D97-AF65-F5344CB8AC3E}">
        <p14:creationId xmlns:p14="http://schemas.microsoft.com/office/powerpoint/2010/main" val="37728649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6C7F92-9293-B59D-2DE6-2DB6188AD3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文本框 89">
            <a:extLst>
              <a:ext uri="{FF2B5EF4-FFF2-40B4-BE49-F238E27FC236}">
                <a16:creationId xmlns:a16="http://schemas.microsoft.com/office/drawing/2014/main" id="{D974B1A9-EA78-9DDD-0C77-372F5B9CAD76}"/>
              </a:ext>
            </a:extLst>
          </p:cNvPr>
          <p:cNvSpPr txBox="1"/>
          <p:nvPr/>
        </p:nvSpPr>
        <p:spPr>
          <a:xfrm>
            <a:off x="115452" y="243436"/>
            <a:ext cx="7729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chemeClr val="bg1"/>
                </a:solidFill>
              </a:rPr>
              <a:t>08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0F0E9114-BD5E-4531-B04D-1539D4EDDF89}"/>
              </a:ext>
            </a:extLst>
          </p:cNvPr>
          <p:cNvSpPr txBox="1"/>
          <p:nvPr/>
        </p:nvSpPr>
        <p:spPr>
          <a:xfrm>
            <a:off x="946461" y="269201"/>
            <a:ext cx="6440714" cy="5693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100" b="1">
                <a:solidFill>
                  <a:srgbClr val="00285F"/>
                </a:solidFill>
                <a:latin typeface="Microsoft YaHei" panose="020B0503020204020204" pitchFamily="34" charset="-122"/>
              </a:rPr>
              <a:t>空间记忆模块</a:t>
            </a:r>
            <a:endParaRPr lang="zh-CN" altLang="en-US" sz="3100" b="1" dirty="0">
              <a:solidFill>
                <a:srgbClr val="00285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F5B9FD4E-9909-F6FD-9062-DDFAFC90DF39}"/>
              </a:ext>
            </a:extLst>
          </p:cNvPr>
          <p:cNvSpPr/>
          <p:nvPr/>
        </p:nvSpPr>
        <p:spPr>
          <a:xfrm>
            <a:off x="0" y="1651000"/>
            <a:ext cx="12192000" cy="520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33A15ED5-EA1C-5BBF-785D-55B5D90EE948}"/>
              </a:ext>
            </a:extLst>
          </p:cNvPr>
          <p:cNvSpPr/>
          <p:nvPr/>
        </p:nvSpPr>
        <p:spPr>
          <a:xfrm>
            <a:off x="431800" y="1168400"/>
            <a:ext cx="11303000" cy="5080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空间记忆模块把长序列上下文拆成压缩状态、空间锚点和局部滑窗三条路径。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33F8D0C4-6872-57E1-E462-20A1402AAEA2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93205" y="1841500"/>
            <a:ext cx="6205590" cy="3492500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DC4607EF-933A-0520-E6CD-D777D8E03DA3}"/>
              </a:ext>
            </a:extLst>
          </p:cNvPr>
          <p:cNvSpPr/>
          <p:nvPr/>
        </p:nvSpPr>
        <p:spPr>
          <a:xfrm>
            <a:off x="1206500" y="5651500"/>
            <a:ext cx="9779000" cy="4826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700" b="1">
                <a:solidFill>
                  <a:srgbClr val="00285F"/>
                </a:solidFill>
                <a:latin typeface="Microsoft YaHei" panose="020B0503020204020204" pitchFamily="34" charset="-122"/>
              </a:rPr>
              <a:t>压缩管远程状态，选择管空间锚点，滑窗管当前上下文。</a:t>
            </a:r>
          </a:p>
        </p:txBody>
      </p:sp>
    </p:spTree>
    <p:extLst>
      <p:ext uri="{BB962C8B-B14F-4D97-AF65-F5344CB8AC3E}">
        <p14:creationId xmlns:p14="http://schemas.microsoft.com/office/powerpoint/2010/main" val="39437946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6C7F92-9293-B59D-2DE6-2DB6188AD3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文本框 89">
            <a:extLst>
              <a:ext uri="{FF2B5EF4-FFF2-40B4-BE49-F238E27FC236}">
                <a16:creationId xmlns:a16="http://schemas.microsoft.com/office/drawing/2014/main" id="{D974B1A9-EA78-9DDD-0C77-372F5B9CAD76}"/>
              </a:ext>
            </a:extLst>
          </p:cNvPr>
          <p:cNvSpPr txBox="1"/>
          <p:nvPr/>
        </p:nvSpPr>
        <p:spPr>
          <a:xfrm>
            <a:off x="115452" y="243436"/>
            <a:ext cx="7729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chemeClr val="bg1"/>
                </a:solidFill>
              </a:rPr>
              <a:t>08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0F0E9114-BD5E-4531-B04D-1539D4EDDF89}"/>
              </a:ext>
            </a:extLst>
          </p:cNvPr>
          <p:cNvSpPr txBox="1"/>
          <p:nvPr/>
        </p:nvSpPr>
        <p:spPr>
          <a:xfrm>
            <a:off x="946461" y="269201"/>
            <a:ext cx="6440714" cy="5693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100" b="1">
                <a:solidFill>
                  <a:srgbClr val="00285F"/>
                </a:solidFill>
                <a:latin typeface="Microsoft YaHei" panose="020B0503020204020204" pitchFamily="34" charset="-122"/>
              </a:rPr>
              <a:t>几何校验模块</a:t>
            </a:r>
            <a:endParaRPr lang="zh-CN" altLang="en-US" sz="3100" b="1" dirty="0">
              <a:solidFill>
                <a:srgbClr val="00285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40ADC39C-70ED-1254-B6DC-575A4F7766F0}"/>
              </a:ext>
            </a:extLst>
          </p:cNvPr>
          <p:cNvSpPr/>
          <p:nvPr/>
        </p:nvSpPr>
        <p:spPr>
          <a:xfrm>
            <a:off x="0" y="1651000"/>
            <a:ext cx="12192000" cy="520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61D4E07D-9189-F472-285F-312002E73D8D}"/>
              </a:ext>
            </a:extLst>
          </p:cNvPr>
          <p:cNvSpPr/>
          <p:nvPr/>
        </p:nvSpPr>
        <p:spPr>
          <a:xfrm>
            <a:off x="431800" y="1168400"/>
            <a:ext cx="11303000" cy="5080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几何校验模块先聚合冲突信号，再按阈值触发重跑或专家切换。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845F6060-82A1-5167-CC9C-A0B66FBAA21C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9619" y="1905000"/>
            <a:ext cx="6092761" cy="3429000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8761F1E6-7D02-2CA9-22EA-9F9EFB3B2B7C}"/>
              </a:ext>
            </a:extLst>
          </p:cNvPr>
          <p:cNvSpPr/>
          <p:nvPr/>
        </p:nvSpPr>
        <p:spPr>
          <a:xfrm>
            <a:off x="1206500" y="5651500"/>
            <a:ext cx="9779000" cy="4826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700" b="1">
                <a:solidFill>
                  <a:srgbClr val="00285F"/>
                </a:solidFill>
                <a:latin typeface="Microsoft YaHei" panose="020B0503020204020204" pitchFamily="34" charset="-122"/>
              </a:rPr>
              <a:t>校验理念来自 </a:t>
            </a:r>
            <a:r>
              <a:rPr lang="en-US" altLang="zh-CN" sz="1700" b="1">
                <a:solidFill>
                  <a:srgbClr val="00285F"/>
                </a:solidFill>
                <a:latin typeface="Microsoft YaHei" panose="020B0503020204020204" pitchFamily="34" charset="-122"/>
              </a:rPr>
              <a:t>Test3R</a:t>
            </a:r>
            <a:r>
              <a:rPr lang="zh-CN" altLang="en-US" sz="1700" b="1">
                <a:solidFill>
                  <a:srgbClr val="00285F"/>
                </a:solidFill>
                <a:latin typeface="Microsoft YaHei" panose="020B0503020204020204" pitchFamily="34" charset="-122"/>
              </a:rPr>
              <a:t>，本课题把它接入架构内部的修复动作。</a:t>
            </a:r>
          </a:p>
        </p:txBody>
      </p:sp>
    </p:spTree>
    <p:extLst>
      <p:ext uri="{BB962C8B-B14F-4D97-AF65-F5344CB8AC3E}">
        <p14:creationId xmlns:p14="http://schemas.microsoft.com/office/powerpoint/2010/main" val="38022670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6C7F92-9293-B59D-2DE6-2DB6188AD3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文本框 89">
            <a:extLst>
              <a:ext uri="{FF2B5EF4-FFF2-40B4-BE49-F238E27FC236}">
                <a16:creationId xmlns:a16="http://schemas.microsoft.com/office/drawing/2014/main" id="{D974B1A9-EA78-9DDD-0C77-372F5B9CAD76}"/>
              </a:ext>
            </a:extLst>
          </p:cNvPr>
          <p:cNvSpPr txBox="1"/>
          <p:nvPr/>
        </p:nvSpPr>
        <p:spPr>
          <a:xfrm>
            <a:off x="115452" y="243436"/>
            <a:ext cx="7729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chemeClr val="bg1"/>
                </a:solidFill>
              </a:rPr>
              <a:t>08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0F0E9114-BD5E-4531-B04D-1539D4EDDF89}"/>
              </a:ext>
            </a:extLst>
          </p:cNvPr>
          <p:cNvSpPr txBox="1"/>
          <p:nvPr/>
        </p:nvSpPr>
        <p:spPr>
          <a:xfrm>
            <a:off x="946461" y="269201"/>
            <a:ext cx="6440714" cy="5693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100" b="1">
                <a:solidFill>
                  <a:srgbClr val="00285F"/>
                </a:solidFill>
                <a:latin typeface="Microsoft YaHei" panose="020B0503020204020204" pitchFamily="34" charset="-122"/>
              </a:rPr>
              <a:t>多专家编排模块</a:t>
            </a:r>
            <a:endParaRPr lang="zh-CN" altLang="en-US" sz="3100" b="1" dirty="0">
              <a:solidFill>
                <a:srgbClr val="00285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C978F43F-EB52-0B49-0736-1564E61E54FC}"/>
              </a:ext>
            </a:extLst>
          </p:cNvPr>
          <p:cNvSpPr/>
          <p:nvPr/>
        </p:nvSpPr>
        <p:spPr>
          <a:xfrm>
            <a:off x="0" y="1651000"/>
            <a:ext cx="12192000" cy="520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0C3DD714-4246-DD9B-E0D9-32079E80C9EB}"/>
              </a:ext>
            </a:extLst>
          </p:cNvPr>
          <p:cNvSpPr/>
          <p:nvPr/>
        </p:nvSpPr>
        <p:spPr>
          <a:xfrm>
            <a:off x="431800" y="1168400"/>
            <a:ext cx="11303000" cy="5080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多专家编排模块根据输入条件和校验结果在七个模型专家之间切换。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CC2C5387-BD43-08A2-2041-C521BBC47E6F}"/>
              </a:ext>
            </a:extLst>
          </p:cNvPr>
          <p:cNvSpPr/>
          <p:nvPr/>
        </p:nvSpPr>
        <p:spPr>
          <a:xfrm>
            <a:off x="609600" y="1905000"/>
            <a:ext cx="2286000" cy="6350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1500" b="1">
                <a:solidFill>
                  <a:srgbClr val="00285F"/>
                </a:solidFill>
                <a:latin typeface="Microsoft YaHei" panose="020B0503020204020204" pitchFamily="34" charset="-122"/>
              </a:rPr>
              <a:t>MASt3R
</a:t>
            </a:r>
            <a:r>
              <a:rPr lang="zh-CN" altLang="en-US" sz="1500" b="1">
                <a:solidFill>
                  <a:srgbClr val="00285F"/>
                </a:solidFill>
                <a:latin typeface="Microsoft YaHei" panose="020B0503020204020204" pitchFamily="34" charset="-122"/>
              </a:rPr>
              <a:t>静态对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59C01B14-785F-08D1-7D75-6FD3CE4DE470}"/>
              </a:ext>
            </a:extLst>
          </p:cNvPr>
          <p:cNvSpPr/>
          <p:nvPr/>
        </p:nvSpPr>
        <p:spPr>
          <a:xfrm>
            <a:off x="3340100" y="1905000"/>
            <a:ext cx="2286000" cy="6350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1500" b="1">
                <a:solidFill>
                  <a:srgbClr val="00285F"/>
                </a:solidFill>
                <a:latin typeface="Microsoft YaHei" panose="020B0503020204020204" pitchFamily="34" charset="-122"/>
              </a:rPr>
              <a:t>Fast3R
</a:t>
            </a:r>
            <a:r>
              <a:rPr lang="zh-CN" altLang="en-US" sz="1500" b="1">
                <a:solidFill>
                  <a:srgbClr val="00285F"/>
                </a:solidFill>
                <a:latin typeface="Microsoft YaHei" panose="020B0503020204020204" pitchFamily="34" charset="-122"/>
              </a:rPr>
              <a:t>多视图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B7516EC2-9750-F9C6-7E93-C051302E2649}"/>
              </a:ext>
            </a:extLst>
          </p:cNvPr>
          <p:cNvSpPr/>
          <p:nvPr/>
        </p:nvSpPr>
        <p:spPr>
          <a:xfrm>
            <a:off x="6070600" y="1905000"/>
            <a:ext cx="2286000" cy="6350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1500" b="1">
                <a:solidFill>
                  <a:srgbClr val="00285F"/>
                </a:solidFill>
                <a:latin typeface="Microsoft YaHei" panose="020B0503020204020204" pitchFamily="34" charset="-122"/>
              </a:rPr>
              <a:t>Spann3R
</a:t>
            </a:r>
            <a:r>
              <a:rPr lang="zh-CN" altLang="en-US" sz="1500" b="1">
                <a:solidFill>
                  <a:srgbClr val="00285F"/>
                </a:solidFill>
                <a:latin typeface="Microsoft YaHei" panose="020B0503020204020204" pitchFamily="34" charset="-122"/>
              </a:rPr>
              <a:t>流式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BF59D9E7-FAEF-B5CA-9491-054ED0EC897B}"/>
              </a:ext>
            </a:extLst>
          </p:cNvPr>
          <p:cNvSpPr/>
          <p:nvPr/>
        </p:nvSpPr>
        <p:spPr>
          <a:xfrm>
            <a:off x="8801100" y="1905000"/>
            <a:ext cx="2286000" cy="6350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1500" b="1">
                <a:solidFill>
                  <a:srgbClr val="00285F"/>
                </a:solidFill>
                <a:latin typeface="Microsoft YaHei" panose="020B0503020204020204" pitchFamily="34" charset="-122"/>
              </a:rPr>
              <a:t>CUT3R
</a:t>
            </a:r>
            <a:r>
              <a:rPr lang="zh-CN" altLang="en-US" sz="1500" b="1">
                <a:solidFill>
                  <a:srgbClr val="00285F"/>
                </a:solidFill>
                <a:latin typeface="Microsoft YaHei" panose="020B0503020204020204" pitchFamily="34" charset="-122"/>
              </a:rPr>
              <a:t>动态容忍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1A04574C-459B-D1D8-994C-80F1E6BF2A4B}"/>
              </a:ext>
            </a:extLst>
          </p:cNvPr>
          <p:cNvSpPr/>
          <p:nvPr/>
        </p:nvSpPr>
        <p:spPr>
          <a:xfrm>
            <a:off x="609600" y="2857500"/>
            <a:ext cx="2286000" cy="6350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1500" b="1">
                <a:solidFill>
                  <a:srgbClr val="00285F"/>
                </a:solidFill>
                <a:latin typeface="Microsoft YaHei" panose="020B0503020204020204" pitchFamily="34" charset="-122"/>
              </a:rPr>
              <a:t>MoGe-2
</a:t>
            </a:r>
            <a:r>
              <a:rPr lang="zh-CN" altLang="en-US" sz="1500" b="1">
                <a:solidFill>
                  <a:srgbClr val="00285F"/>
                </a:solidFill>
                <a:latin typeface="Microsoft YaHei" panose="020B0503020204020204" pitchFamily="34" charset="-122"/>
              </a:rPr>
              <a:t>单目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C7EF2F9F-7527-004B-C7D9-7643AD033A46}"/>
              </a:ext>
            </a:extLst>
          </p:cNvPr>
          <p:cNvSpPr/>
          <p:nvPr/>
        </p:nvSpPr>
        <p:spPr>
          <a:xfrm>
            <a:off x="3340100" y="2857500"/>
            <a:ext cx="2286000" cy="6350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1500" b="1">
                <a:solidFill>
                  <a:srgbClr val="00285F"/>
                </a:solidFill>
                <a:latin typeface="Microsoft YaHei" panose="020B0503020204020204" pitchFamily="34" charset="-122"/>
              </a:rPr>
              <a:t>DepthAnything
</a:t>
            </a:r>
            <a:r>
              <a:rPr lang="zh-CN" altLang="en-US" sz="1500" b="1">
                <a:solidFill>
                  <a:srgbClr val="00285F"/>
                </a:solidFill>
                <a:latin typeface="Microsoft YaHei" panose="020B0503020204020204" pitchFamily="34" charset="-122"/>
              </a:rPr>
              <a:t>深度先验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B3C549D3-4806-4B37-06C3-1D7436C81C3C}"/>
              </a:ext>
            </a:extLst>
          </p:cNvPr>
          <p:cNvSpPr/>
          <p:nvPr/>
        </p:nvSpPr>
        <p:spPr>
          <a:xfrm>
            <a:off x="6070600" y="2857500"/>
            <a:ext cx="2286000" cy="6350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1500" b="1">
                <a:solidFill>
                  <a:srgbClr val="00285F"/>
                </a:solidFill>
                <a:latin typeface="Microsoft YaHei" panose="020B0503020204020204" pitchFamily="34" charset="-122"/>
              </a:rPr>
              <a:t>Test3R
</a:t>
            </a:r>
            <a:r>
              <a:rPr lang="zh-CN" altLang="en-US" sz="1500" b="1">
                <a:solidFill>
                  <a:srgbClr val="00285F"/>
                </a:solidFill>
                <a:latin typeface="Microsoft YaHei" panose="020B0503020204020204" pitchFamily="34" charset="-122"/>
              </a:rPr>
              <a:t>校验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D9D2169B-29F2-2F9E-DA67-D630499114F7}"/>
              </a:ext>
            </a:extLst>
          </p:cNvPr>
          <p:cNvSpPr/>
          <p:nvPr/>
        </p:nvSpPr>
        <p:spPr>
          <a:xfrm>
            <a:off x="1841500" y="4191000"/>
            <a:ext cx="2667000" cy="7366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b="1">
                <a:solidFill>
                  <a:srgbClr val="00285F"/>
                </a:solidFill>
                <a:latin typeface="Microsoft YaHei" panose="020B0503020204020204" pitchFamily="34" charset="-122"/>
              </a:rPr>
              <a:t>能力匹配度跨度</a:t>
            </a:r>
          </a:p>
        </p:txBody>
      </p:sp>
      <p:sp>
        <p:nvSpPr>
          <p:cNvPr id="12" name="箭头: 右 11">
            <a:extLst>
              <a:ext uri="{FF2B5EF4-FFF2-40B4-BE49-F238E27FC236}">
                <a16:creationId xmlns:a16="http://schemas.microsoft.com/office/drawing/2014/main" id="{0B7E475D-562F-FA44-8024-F936F474429E}"/>
              </a:ext>
            </a:extLst>
          </p:cNvPr>
          <p:cNvSpPr/>
          <p:nvPr/>
        </p:nvSpPr>
        <p:spPr>
          <a:xfrm>
            <a:off x="4635500" y="4419600"/>
            <a:ext cx="508000" cy="304800"/>
          </a:xfrm>
          <a:prstGeom prst="rightArrow">
            <a:avLst/>
          </a:prstGeom>
          <a:solidFill>
            <a:srgbClr val="286FB9"/>
          </a:solidFill>
          <a:ln>
            <a:solidFill>
              <a:srgbClr val="286F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0CEC6A04-36E9-10AA-F72F-A51A4E2EF540}"/>
              </a:ext>
            </a:extLst>
          </p:cNvPr>
          <p:cNvSpPr/>
          <p:nvPr/>
        </p:nvSpPr>
        <p:spPr>
          <a:xfrm>
            <a:off x="5270500" y="4191000"/>
            <a:ext cx="2667000" cy="7366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b="1">
                <a:solidFill>
                  <a:srgbClr val="00285F"/>
                </a:solidFill>
                <a:latin typeface="Microsoft YaHei" panose="020B0503020204020204" pitchFamily="34" charset="-122"/>
              </a:rPr>
              <a:t>成本调整解析平局</a:t>
            </a:r>
          </a:p>
        </p:txBody>
      </p:sp>
      <p:sp>
        <p:nvSpPr>
          <p:cNvPr id="14" name="箭头: 右 13">
            <a:extLst>
              <a:ext uri="{FF2B5EF4-FFF2-40B4-BE49-F238E27FC236}">
                <a16:creationId xmlns:a16="http://schemas.microsoft.com/office/drawing/2014/main" id="{3BB8E196-6C61-C27B-6042-D2E59E660FF8}"/>
              </a:ext>
            </a:extLst>
          </p:cNvPr>
          <p:cNvSpPr/>
          <p:nvPr/>
        </p:nvSpPr>
        <p:spPr>
          <a:xfrm>
            <a:off x="8064500" y="4419600"/>
            <a:ext cx="508000" cy="304800"/>
          </a:xfrm>
          <a:prstGeom prst="rightArrow">
            <a:avLst/>
          </a:prstGeom>
          <a:solidFill>
            <a:srgbClr val="286FB9"/>
          </a:solidFill>
          <a:ln>
            <a:solidFill>
              <a:srgbClr val="286F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D1AFE4F9-B3DC-E27F-DF09-7F214695E661}"/>
              </a:ext>
            </a:extLst>
          </p:cNvPr>
          <p:cNvSpPr/>
          <p:nvPr/>
        </p:nvSpPr>
        <p:spPr>
          <a:xfrm>
            <a:off x="8699500" y="4191000"/>
            <a:ext cx="1905000" cy="7366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b="1">
                <a:solidFill>
                  <a:srgbClr val="00285F"/>
                </a:solidFill>
                <a:latin typeface="Microsoft YaHei" panose="020B0503020204020204" pitchFamily="34" charset="-122"/>
              </a:rPr>
              <a:t>失败退化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ACD812EF-0AEE-AB2F-AEAE-04405613812A}"/>
              </a:ext>
            </a:extLst>
          </p:cNvPr>
          <p:cNvSpPr/>
          <p:nvPr/>
        </p:nvSpPr>
        <p:spPr>
          <a:xfrm>
            <a:off x="1206500" y="5461000"/>
            <a:ext cx="9779000" cy="4826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700" b="1">
                <a:solidFill>
                  <a:srgbClr val="FFFFFF"/>
                </a:solidFill>
                <a:latin typeface="Microsoft YaHei" panose="020B0503020204020204" pitchFamily="34" charset="-122"/>
              </a:rPr>
              <a:t>单模型各有优势场景，多专家路由用于提升复杂输入下的适应能力。</a:t>
            </a:r>
          </a:p>
        </p:txBody>
      </p:sp>
    </p:spTree>
    <p:extLst>
      <p:ext uri="{BB962C8B-B14F-4D97-AF65-F5344CB8AC3E}">
        <p14:creationId xmlns:p14="http://schemas.microsoft.com/office/powerpoint/2010/main" val="375411335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795727-EB63-8B05-C0BA-FC16CEA965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文本框 89">
            <a:extLst>
              <a:ext uri="{FF2B5EF4-FFF2-40B4-BE49-F238E27FC236}">
                <a16:creationId xmlns:a16="http://schemas.microsoft.com/office/drawing/2014/main" id="{746D9152-48D3-E0A8-3FF3-2116404376ED}"/>
              </a:ext>
            </a:extLst>
          </p:cNvPr>
          <p:cNvSpPr txBox="1"/>
          <p:nvPr/>
        </p:nvSpPr>
        <p:spPr>
          <a:xfrm>
            <a:off x="115452" y="243436"/>
            <a:ext cx="7729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chemeClr val="bg1"/>
                </a:solidFill>
              </a:rPr>
              <a:t>03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BF154AD5-A70A-1962-3AC7-43543A030B62}"/>
              </a:ext>
            </a:extLst>
          </p:cNvPr>
          <p:cNvSpPr txBox="1"/>
          <p:nvPr/>
        </p:nvSpPr>
        <p:spPr>
          <a:xfrm>
            <a:off x="946460" y="269201"/>
            <a:ext cx="7626039" cy="5693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100" b="1">
                <a:solidFill>
                  <a:srgbClr val="00285F"/>
                </a:solidFill>
                <a:latin typeface="Microsoft YaHei" panose="020B0503020204020204" pitchFamily="34" charset="-122"/>
              </a:rPr>
              <a:t>当前实现进展</a:t>
            </a:r>
            <a:endParaRPr lang="zh-CN" altLang="en-US" sz="3100" b="1" dirty="0">
              <a:solidFill>
                <a:srgbClr val="00285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4" name="任意多边形: 形状 93">
            <a:extLst>
              <a:ext uri="{FF2B5EF4-FFF2-40B4-BE49-F238E27FC236}">
                <a16:creationId xmlns:a16="http://schemas.microsoft.com/office/drawing/2014/main" id="{AF1BF063-7278-CF65-8ADD-CE545C77BE17}"/>
              </a:ext>
            </a:extLst>
          </p:cNvPr>
          <p:cNvSpPr/>
          <p:nvPr/>
        </p:nvSpPr>
        <p:spPr>
          <a:xfrm rot="5400000">
            <a:off x="5590187" y="-4418609"/>
            <a:ext cx="1011626" cy="12192000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2">
                  <a:lumMod val="75000"/>
                </a:schemeClr>
              </a:gs>
            </a:gsLst>
            <a:lin ang="5400000" scaled="1"/>
          </a:gradFill>
          <a:ln w="19050" cap="flat" cmpd="sng" algn="ctr">
            <a:noFill/>
            <a:prstDash val="solid"/>
            <a:miter lim="800000"/>
          </a:ln>
          <a:effectLst>
            <a:outerShdw blurRad="152400" dist="190500" dir="13500000" algn="ctr" rotWithShape="0">
              <a:sysClr val="window" lastClr="FFFFFF">
                <a:alpha val="29000"/>
              </a:sys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6FFE4528-B5B4-1869-86B9-37C31AD8B89C}"/>
              </a:ext>
            </a:extLst>
          </p:cNvPr>
          <p:cNvSpPr/>
          <p:nvPr/>
        </p:nvSpPr>
        <p:spPr>
          <a:xfrm>
            <a:off x="0" y="1651000"/>
            <a:ext cx="12192000" cy="520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43E722F2-75E7-C53A-4C60-89D58789534D}"/>
              </a:ext>
            </a:extLst>
          </p:cNvPr>
          <p:cNvSpPr/>
          <p:nvPr/>
        </p:nvSpPr>
        <p:spPr>
          <a:xfrm>
            <a:off x="431800" y="1168400"/>
            <a:ext cx="11303000" cy="5080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架构原型 </a:t>
            </a:r>
            <a:r>
              <a:rPr lang="en-US" altLang="zh-CN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v0.3 </a:t>
            </a:r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已跑通端到端流水线，当前为集成验证阶段。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CE36A6FF-D3A2-FE5C-005F-3CA5234B6925}"/>
              </a:ext>
            </a:extLst>
          </p:cNvPr>
          <p:cNvSpPr/>
          <p:nvPr/>
        </p:nvSpPr>
        <p:spPr>
          <a:xfrm>
            <a:off x="1016000" y="1841500"/>
            <a:ext cx="1905000" cy="5588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原型状态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96B3A99A-3983-EDDD-084C-C2F515D265DD}"/>
              </a:ext>
            </a:extLst>
          </p:cNvPr>
          <p:cNvSpPr/>
          <p:nvPr/>
        </p:nvSpPr>
        <p:spPr>
          <a:xfrm>
            <a:off x="3238500" y="1841500"/>
            <a:ext cx="7747000" cy="55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1700">
                <a:solidFill>
                  <a:srgbClr val="081830"/>
                </a:solidFill>
                <a:latin typeface="Microsoft YaHei" panose="020B0503020204020204" pitchFamily="34" charset="-122"/>
              </a:rPr>
              <a:t>v0.3 </a:t>
            </a:r>
            <a:r>
              <a:rPr lang="zh-CN" altLang="en-US" sz="1700">
                <a:solidFill>
                  <a:srgbClr val="081830"/>
                </a:solidFill>
                <a:latin typeface="Microsoft YaHei" panose="020B0503020204020204" pitchFamily="34" charset="-122"/>
              </a:rPr>
              <a:t>端到端流水线已跑通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EADA0518-F8BC-1319-7A32-E7C769204EDD}"/>
              </a:ext>
            </a:extLst>
          </p:cNvPr>
          <p:cNvSpPr/>
          <p:nvPr/>
        </p:nvSpPr>
        <p:spPr>
          <a:xfrm>
            <a:off x="1016000" y="2628900"/>
            <a:ext cx="1905000" cy="5588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技术里程碑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5824D3DB-81EA-DA00-BCC6-E1F1E3101DA6}"/>
              </a:ext>
            </a:extLst>
          </p:cNvPr>
          <p:cNvSpPr/>
          <p:nvPr/>
        </p:nvSpPr>
        <p:spPr>
          <a:xfrm>
            <a:off x="3238500" y="2628900"/>
            <a:ext cx="7747000" cy="5588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1700">
                <a:solidFill>
                  <a:srgbClr val="00285F"/>
                </a:solidFill>
                <a:latin typeface="Microsoft YaHei" panose="020B0503020204020204" pitchFamily="34" charset="-122"/>
              </a:rPr>
              <a:t>18 </a:t>
            </a:r>
            <a:r>
              <a:rPr lang="zh-CN" altLang="en-US" sz="1700">
                <a:solidFill>
                  <a:srgbClr val="00285F"/>
                </a:solidFill>
                <a:latin typeface="Microsoft YaHei" panose="020B0503020204020204" pitchFamily="34" charset="-122"/>
              </a:rPr>
              <a:t>项完成：视觉骨干、三维检索、校验流程、</a:t>
            </a:r>
            <a:r>
              <a:rPr lang="en-US" altLang="zh-CN" sz="1700">
                <a:solidFill>
                  <a:srgbClr val="00285F"/>
                </a:solidFill>
                <a:latin typeface="Microsoft YaHei" panose="020B0503020204020204" pitchFamily="34" charset="-122"/>
              </a:rPr>
              <a:t>Mamba </a:t>
            </a:r>
            <a:r>
              <a:rPr lang="zh-CN" altLang="en-US" sz="1700">
                <a:solidFill>
                  <a:srgbClr val="00285F"/>
                </a:solidFill>
                <a:latin typeface="Microsoft YaHei" panose="020B0503020204020204" pitchFamily="34" charset="-122"/>
              </a:rPr>
              <a:t>循环等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41F54022-6742-9BE5-3FA1-69EC58E67BEA}"/>
              </a:ext>
            </a:extLst>
          </p:cNvPr>
          <p:cNvSpPr/>
          <p:nvPr/>
        </p:nvSpPr>
        <p:spPr>
          <a:xfrm>
            <a:off x="1016000" y="3416300"/>
            <a:ext cx="1905000" cy="5588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KITTI </a:t>
            </a:r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验证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67486643-89DA-1D6F-2E70-4A1FAEF69B2B}"/>
              </a:ext>
            </a:extLst>
          </p:cNvPr>
          <p:cNvSpPr/>
          <p:nvPr/>
        </p:nvSpPr>
        <p:spPr>
          <a:xfrm>
            <a:off x="3238500" y="3416300"/>
            <a:ext cx="7747000" cy="55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700">
                <a:solidFill>
                  <a:srgbClr val="081830"/>
                </a:solidFill>
                <a:latin typeface="Microsoft YaHei" panose="020B0503020204020204" pitchFamily="34" charset="-122"/>
              </a:rPr>
              <a:t>端到端运行无崩溃，点图 </a:t>
            </a:r>
            <a:r>
              <a:rPr lang="en-US" altLang="zh-CN" sz="1700">
                <a:solidFill>
                  <a:srgbClr val="081830"/>
                </a:solidFill>
                <a:latin typeface="Microsoft YaHei" panose="020B0503020204020204" pitchFamily="34" charset="-122"/>
              </a:rPr>
              <a:t>L2 = 20.47</a:t>
            </a:r>
            <a:endParaRPr lang="zh-CN" altLang="en-US" sz="1700">
              <a:solidFill>
                <a:srgbClr val="08183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4F488625-4B1D-B709-55D3-6E358D0425AA}"/>
              </a:ext>
            </a:extLst>
          </p:cNvPr>
          <p:cNvSpPr/>
          <p:nvPr/>
        </p:nvSpPr>
        <p:spPr>
          <a:xfrm>
            <a:off x="1016000" y="4203700"/>
            <a:ext cx="1905000" cy="5588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阶段边界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A7CD1353-D011-A95C-63E2-5944F9B20FCE}"/>
              </a:ext>
            </a:extLst>
          </p:cNvPr>
          <p:cNvSpPr/>
          <p:nvPr/>
        </p:nvSpPr>
        <p:spPr>
          <a:xfrm>
            <a:off x="3238500" y="4203700"/>
            <a:ext cx="7747000" cy="5588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700" b="1">
                <a:solidFill>
                  <a:srgbClr val="00285F"/>
                </a:solidFill>
                <a:latin typeface="Microsoft YaHei" panose="020B0503020204020204" pitchFamily="34" charset="-122"/>
              </a:rPr>
              <a:t>集成验证数据，非训练后质量指标</a:t>
            </a:r>
          </a:p>
        </p:txBody>
      </p:sp>
    </p:spTree>
    <p:extLst>
      <p:ext uri="{BB962C8B-B14F-4D97-AF65-F5344CB8AC3E}">
        <p14:creationId xmlns:p14="http://schemas.microsoft.com/office/powerpoint/2010/main" val="357359943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6C7F92-9293-B59D-2DE6-2DB6188AD3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文本框 89">
            <a:extLst>
              <a:ext uri="{FF2B5EF4-FFF2-40B4-BE49-F238E27FC236}">
                <a16:creationId xmlns:a16="http://schemas.microsoft.com/office/drawing/2014/main" id="{D974B1A9-EA78-9DDD-0C77-372F5B9CAD76}"/>
              </a:ext>
            </a:extLst>
          </p:cNvPr>
          <p:cNvSpPr txBox="1"/>
          <p:nvPr/>
        </p:nvSpPr>
        <p:spPr>
          <a:xfrm>
            <a:off x="115452" y="243436"/>
            <a:ext cx="7729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chemeClr val="bg1"/>
                </a:solidFill>
              </a:rPr>
              <a:t>08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0F0E9114-BD5E-4531-B04D-1539D4EDDF89}"/>
              </a:ext>
            </a:extLst>
          </p:cNvPr>
          <p:cNvSpPr txBox="1"/>
          <p:nvPr/>
        </p:nvSpPr>
        <p:spPr>
          <a:xfrm>
            <a:off x="946461" y="269201"/>
            <a:ext cx="6440714" cy="5693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100" b="1">
                <a:solidFill>
                  <a:srgbClr val="00285F"/>
                </a:solidFill>
                <a:latin typeface="Microsoft YaHei" panose="020B0503020204020204" pitchFamily="34" charset="-122"/>
              </a:rPr>
              <a:t>为什么需要一个聚合平台</a:t>
            </a:r>
            <a:endParaRPr lang="zh-CN" altLang="en-US" sz="3100" b="1" dirty="0">
              <a:solidFill>
                <a:srgbClr val="00285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3448C21B-FC96-5C5B-D979-2DB1B90014ED}"/>
              </a:ext>
            </a:extLst>
          </p:cNvPr>
          <p:cNvSpPr/>
          <p:nvPr/>
        </p:nvSpPr>
        <p:spPr>
          <a:xfrm>
            <a:off x="0" y="1651000"/>
            <a:ext cx="12192000" cy="520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0679BEE8-FC8C-10E4-8631-0A10E311BC35}"/>
              </a:ext>
            </a:extLst>
          </p:cNvPr>
          <p:cNvSpPr/>
          <p:nvPr/>
        </p:nvSpPr>
        <p:spPr>
          <a:xfrm>
            <a:off x="431800" y="1168400"/>
            <a:ext cx="11303000" cy="5080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多模型对比实验需要统一调度、统一格式和统一结果归集。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FCE3AB9C-8823-4F70-2AF5-3EB215A2BB4C}"/>
              </a:ext>
            </a:extLst>
          </p:cNvPr>
          <p:cNvSpPr/>
          <p:nvPr/>
        </p:nvSpPr>
        <p:spPr>
          <a:xfrm>
            <a:off x="1016000" y="1905000"/>
            <a:ext cx="1905000" cy="5588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环境差异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D25E9290-2716-B101-9500-0F0B7BBF6F04}"/>
              </a:ext>
            </a:extLst>
          </p:cNvPr>
          <p:cNvSpPr/>
          <p:nvPr/>
        </p:nvSpPr>
        <p:spPr>
          <a:xfrm>
            <a:off x="3238500" y="1905000"/>
            <a:ext cx="7747000" cy="55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700">
                <a:solidFill>
                  <a:srgbClr val="00285F"/>
                </a:solidFill>
                <a:latin typeface="Microsoft YaHei" panose="020B0503020204020204" pitchFamily="34" charset="-122"/>
              </a:rPr>
              <a:t>每个模型都有自己的运行环境和依赖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4C65ECA0-26E4-C903-DB7C-9432208662FB}"/>
              </a:ext>
            </a:extLst>
          </p:cNvPr>
          <p:cNvSpPr/>
          <p:nvPr/>
        </p:nvSpPr>
        <p:spPr>
          <a:xfrm>
            <a:off x="1016000" y="2692400"/>
            <a:ext cx="1905000" cy="5588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格式差异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76859A1A-61A8-10CE-67A4-147B1DF98F44}"/>
              </a:ext>
            </a:extLst>
          </p:cNvPr>
          <p:cNvSpPr/>
          <p:nvPr/>
        </p:nvSpPr>
        <p:spPr>
          <a:xfrm>
            <a:off x="3238500" y="2692400"/>
            <a:ext cx="7747000" cy="5588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700">
                <a:solidFill>
                  <a:srgbClr val="00285F"/>
                </a:solidFill>
                <a:latin typeface="Microsoft YaHei" panose="020B0503020204020204" pitchFamily="34" charset="-122"/>
              </a:rPr>
              <a:t>输入、输出和结果目录结构各不相同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B36F107D-ECA2-06E3-5CF0-7206CDEF65FC}"/>
              </a:ext>
            </a:extLst>
          </p:cNvPr>
          <p:cNvSpPr/>
          <p:nvPr/>
        </p:nvSpPr>
        <p:spPr>
          <a:xfrm>
            <a:off x="1016000" y="3479800"/>
            <a:ext cx="1905000" cy="5588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工具限制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9250917-3EBC-2448-B43E-80A05C46C0A0}"/>
              </a:ext>
            </a:extLst>
          </p:cNvPr>
          <p:cNvSpPr/>
          <p:nvPr/>
        </p:nvSpPr>
        <p:spPr>
          <a:xfrm>
            <a:off x="3238500" y="3479800"/>
            <a:ext cx="7747000" cy="55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1700">
                <a:solidFill>
                  <a:srgbClr val="00285F"/>
                </a:solidFill>
                <a:latin typeface="Microsoft YaHei" panose="020B0503020204020204" pitchFamily="34" charset="-122"/>
              </a:rPr>
              <a:t>Nerfstudio </a:t>
            </a:r>
            <a:r>
              <a:rPr lang="zh-CN" altLang="en-US" sz="1700">
                <a:solidFill>
                  <a:srgbClr val="00285F"/>
                </a:solidFill>
                <a:latin typeface="Microsoft YaHei" panose="020B0503020204020204" pitchFamily="34" charset="-122"/>
              </a:rPr>
              <a:t>面向 </a:t>
            </a:r>
            <a:r>
              <a:rPr lang="en-US" altLang="zh-CN" sz="1700">
                <a:solidFill>
                  <a:srgbClr val="00285F"/>
                </a:solidFill>
                <a:latin typeface="Microsoft YaHei" panose="020B0503020204020204" pitchFamily="34" charset="-122"/>
              </a:rPr>
              <a:t>NeRF</a:t>
            </a:r>
            <a:r>
              <a:rPr lang="zh-CN" altLang="en-US" sz="1700">
                <a:solidFill>
                  <a:srgbClr val="00285F"/>
                </a:solidFill>
                <a:latin typeface="Microsoft YaHei" panose="020B0503020204020204" pitchFamily="34" charset="-122"/>
              </a:rPr>
              <a:t>；商业产品闭源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9F3CB78-7BEE-D661-6EFB-E09C9207A136}"/>
              </a:ext>
            </a:extLst>
          </p:cNvPr>
          <p:cNvSpPr/>
          <p:nvPr/>
        </p:nvSpPr>
        <p:spPr>
          <a:xfrm>
            <a:off x="1016000" y="4267200"/>
            <a:ext cx="1905000" cy="5588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平台需求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0A23AF3F-D9D4-0BE2-E085-5593F9C1FA47}"/>
              </a:ext>
            </a:extLst>
          </p:cNvPr>
          <p:cNvSpPr/>
          <p:nvPr/>
        </p:nvSpPr>
        <p:spPr>
          <a:xfrm>
            <a:off x="3238500" y="4267200"/>
            <a:ext cx="7747000" cy="5588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700" b="1">
                <a:solidFill>
                  <a:srgbClr val="00285F"/>
                </a:solidFill>
                <a:latin typeface="Microsoft YaHei" panose="020B0503020204020204" pitchFamily="34" charset="-122"/>
              </a:rPr>
              <a:t>统一模型调度、结果格式化和多专家对照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BD889531-0E43-0AD0-1F08-E76812D5BF1C}"/>
              </a:ext>
            </a:extLst>
          </p:cNvPr>
          <p:cNvSpPr/>
          <p:nvPr/>
        </p:nvSpPr>
        <p:spPr>
          <a:xfrm>
            <a:off x="1460500" y="5461000"/>
            <a:ext cx="9271000" cy="4826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700" b="1">
                <a:solidFill>
                  <a:srgbClr val="FFFFFF"/>
                </a:solidFill>
                <a:latin typeface="Microsoft YaHei" panose="020B0503020204020204" pitchFamily="34" charset="-122"/>
              </a:rPr>
              <a:t>聚合平台用于降低多模型实验的人工配置和手动对比成本。</a:t>
            </a:r>
          </a:p>
        </p:txBody>
      </p:sp>
    </p:spTree>
    <p:extLst>
      <p:ext uri="{BB962C8B-B14F-4D97-AF65-F5344CB8AC3E}">
        <p14:creationId xmlns:p14="http://schemas.microsoft.com/office/powerpoint/2010/main" val="117871326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6C7F92-9293-B59D-2DE6-2DB6188AD3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文本框 89">
            <a:extLst>
              <a:ext uri="{FF2B5EF4-FFF2-40B4-BE49-F238E27FC236}">
                <a16:creationId xmlns:a16="http://schemas.microsoft.com/office/drawing/2014/main" id="{D974B1A9-EA78-9DDD-0C77-372F5B9CAD76}"/>
              </a:ext>
            </a:extLst>
          </p:cNvPr>
          <p:cNvSpPr txBox="1"/>
          <p:nvPr/>
        </p:nvSpPr>
        <p:spPr>
          <a:xfrm>
            <a:off x="115452" y="243436"/>
            <a:ext cx="7729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chemeClr val="bg1"/>
                </a:solidFill>
              </a:rPr>
              <a:t>08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0F0E9114-BD5E-4531-B04D-1539D4EDDF89}"/>
              </a:ext>
            </a:extLst>
          </p:cNvPr>
          <p:cNvSpPr txBox="1"/>
          <p:nvPr/>
        </p:nvSpPr>
        <p:spPr>
          <a:xfrm>
            <a:off x="946461" y="269201"/>
            <a:ext cx="6440714" cy="5693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100" b="1">
                <a:solidFill>
                  <a:srgbClr val="00285F"/>
                </a:solidFill>
                <a:latin typeface="Microsoft YaHei" panose="020B0503020204020204" pitchFamily="34" charset="-122"/>
              </a:rPr>
              <a:t>平台核心功能</a:t>
            </a:r>
            <a:endParaRPr lang="zh-CN" altLang="en-US" sz="3100" b="1" dirty="0">
              <a:solidFill>
                <a:srgbClr val="00285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0926D588-E1AD-30C6-081B-395AD8E8102C}"/>
              </a:ext>
            </a:extLst>
          </p:cNvPr>
          <p:cNvSpPr/>
          <p:nvPr/>
        </p:nvSpPr>
        <p:spPr>
          <a:xfrm>
            <a:off x="0" y="1651000"/>
            <a:ext cx="12192000" cy="520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0237940A-32D9-1AF3-2ED0-7C4A0AA2C530}"/>
              </a:ext>
            </a:extLst>
          </p:cNvPr>
          <p:cNvSpPr/>
          <p:nvPr/>
        </p:nvSpPr>
        <p:spPr>
          <a:xfrm>
            <a:off x="431800" y="1168400"/>
            <a:ext cx="11303000" cy="5080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平台围绕任务提交、状态追踪、结果对比、模型注册和远程调度展开。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AE8C20BF-BF7A-84B3-B9E4-5C5311D11E17}"/>
              </a:ext>
            </a:extLst>
          </p:cNvPr>
          <p:cNvSpPr/>
          <p:nvPr/>
        </p:nvSpPr>
        <p:spPr>
          <a:xfrm>
            <a:off x="533400" y="2095500"/>
            <a:ext cx="1841500" cy="4318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 b="1">
                <a:solidFill>
                  <a:srgbClr val="FFFFFF"/>
                </a:solidFill>
                <a:latin typeface="Microsoft YaHei" panose="020B0503020204020204" pitchFamily="34" charset="-122"/>
              </a:rPr>
              <a:t>命令中心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BBC7FA47-9ABB-F449-6945-E64BB0718DE3}"/>
              </a:ext>
            </a:extLst>
          </p:cNvPr>
          <p:cNvSpPr/>
          <p:nvPr/>
        </p:nvSpPr>
        <p:spPr>
          <a:xfrm>
            <a:off x="533400" y="2552700"/>
            <a:ext cx="1841500" cy="13843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提交任务
查看状态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CD1D30A4-2C38-2ECD-F6EE-C76BCD815237}"/>
              </a:ext>
            </a:extLst>
          </p:cNvPr>
          <p:cNvSpPr/>
          <p:nvPr/>
        </p:nvSpPr>
        <p:spPr>
          <a:xfrm>
            <a:off x="2755900" y="2095500"/>
            <a:ext cx="1841500" cy="431800"/>
          </a:xfrm>
          <a:prstGeom prst="rect">
            <a:avLst/>
          </a:prstGeom>
          <a:solidFill>
            <a:srgbClr val="286FB9"/>
          </a:solidFill>
          <a:ln w="12700">
            <a:solidFill>
              <a:srgbClr val="286F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 b="1">
                <a:solidFill>
                  <a:srgbClr val="FFFFFF"/>
                </a:solidFill>
                <a:latin typeface="Microsoft YaHei" panose="020B0503020204020204" pitchFamily="34" charset="-122"/>
              </a:rPr>
              <a:t>任务工作台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3A2FAC6C-943B-DDD1-12B6-44B88522A79A}"/>
              </a:ext>
            </a:extLst>
          </p:cNvPr>
          <p:cNvSpPr/>
          <p:nvPr/>
        </p:nvSpPr>
        <p:spPr>
          <a:xfrm>
            <a:off x="2755900" y="2552700"/>
            <a:ext cx="1841500" cy="1384300"/>
          </a:xfrm>
          <a:prstGeom prst="rect">
            <a:avLst/>
          </a:prstGeom>
          <a:solidFill>
            <a:srgbClr val="FFFFFF"/>
          </a:solidFill>
          <a:ln w="12700">
            <a:solidFill>
              <a:srgbClr val="286F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上传→运行
回传→完成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E89DC74B-E5A6-4026-AAC8-628E079DFABD}"/>
              </a:ext>
            </a:extLst>
          </p:cNvPr>
          <p:cNvSpPr/>
          <p:nvPr/>
        </p:nvSpPr>
        <p:spPr>
          <a:xfrm>
            <a:off x="4978400" y="2095500"/>
            <a:ext cx="1841500" cy="431800"/>
          </a:xfrm>
          <a:prstGeom prst="rect">
            <a:avLst/>
          </a:prstGeom>
          <a:solidFill>
            <a:srgbClr val="286FB9"/>
          </a:solidFill>
          <a:ln w="12700">
            <a:solidFill>
              <a:srgbClr val="286F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 b="1">
                <a:solidFill>
                  <a:srgbClr val="FFFFFF"/>
                </a:solidFill>
                <a:latin typeface="Microsoft YaHei" panose="020B0503020204020204" pitchFamily="34" charset="-122"/>
              </a:rPr>
              <a:t>样本矩阵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AC28CEFA-04CC-924A-8022-31A4EFA3AE9E}"/>
              </a:ext>
            </a:extLst>
          </p:cNvPr>
          <p:cNvSpPr/>
          <p:nvPr/>
        </p:nvSpPr>
        <p:spPr>
          <a:xfrm>
            <a:off x="4978400" y="2552700"/>
            <a:ext cx="1841500" cy="1384300"/>
          </a:xfrm>
          <a:prstGeom prst="rect">
            <a:avLst/>
          </a:prstGeom>
          <a:solidFill>
            <a:srgbClr val="FFFFFF"/>
          </a:solidFill>
          <a:ln w="12700">
            <a:solidFill>
              <a:srgbClr val="286F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同一输入
多模型并排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5BD884A5-D606-BEC9-C99E-13F0E02953B4}"/>
              </a:ext>
            </a:extLst>
          </p:cNvPr>
          <p:cNvSpPr/>
          <p:nvPr/>
        </p:nvSpPr>
        <p:spPr>
          <a:xfrm>
            <a:off x="7200900" y="2095500"/>
            <a:ext cx="1841500" cy="4318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 b="1">
                <a:solidFill>
                  <a:srgbClr val="FFFFFF"/>
                </a:solidFill>
                <a:latin typeface="Microsoft YaHei" panose="020B0503020204020204" pitchFamily="34" charset="-122"/>
              </a:rPr>
              <a:t>模型注册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0D809003-5364-5BF7-B06E-2D821C12F87C}"/>
              </a:ext>
            </a:extLst>
          </p:cNvPr>
          <p:cNvSpPr/>
          <p:nvPr/>
        </p:nvSpPr>
        <p:spPr>
          <a:xfrm>
            <a:off x="7200900" y="2552700"/>
            <a:ext cx="1841500" cy="13843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一个执行器
接入新模型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25F1309E-E130-7A84-5AB5-E9B4F070C196}"/>
              </a:ext>
            </a:extLst>
          </p:cNvPr>
          <p:cNvSpPr/>
          <p:nvPr/>
        </p:nvSpPr>
        <p:spPr>
          <a:xfrm>
            <a:off x="9423400" y="2095500"/>
            <a:ext cx="1841500" cy="431800"/>
          </a:xfrm>
          <a:prstGeom prst="rect">
            <a:avLst/>
          </a:prstGeom>
          <a:solidFill>
            <a:srgbClr val="286FB9"/>
          </a:solidFill>
          <a:ln w="12700">
            <a:solidFill>
              <a:srgbClr val="286F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 b="1">
                <a:solidFill>
                  <a:srgbClr val="FFFFFF"/>
                </a:solidFill>
                <a:latin typeface="Microsoft YaHei" panose="020B0503020204020204" pitchFamily="34" charset="-122"/>
              </a:rPr>
              <a:t>结果归集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33721CA1-FD44-30FB-4EEE-AA9B545CAA34}"/>
              </a:ext>
            </a:extLst>
          </p:cNvPr>
          <p:cNvSpPr/>
          <p:nvPr/>
        </p:nvSpPr>
        <p:spPr>
          <a:xfrm>
            <a:off x="9423400" y="2552700"/>
            <a:ext cx="1841500" cy="1384300"/>
          </a:xfrm>
          <a:prstGeom prst="rect">
            <a:avLst/>
          </a:prstGeom>
          <a:solidFill>
            <a:srgbClr val="FFFFFF"/>
          </a:solidFill>
          <a:ln w="12700">
            <a:solidFill>
              <a:srgbClr val="286F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统一输出
导出报告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A185D684-99B5-6819-7482-32D9F6335A78}"/>
              </a:ext>
            </a:extLst>
          </p:cNvPr>
          <p:cNvSpPr/>
          <p:nvPr/>
        </p:nvSpPr>
        <p:spPr>
          <a:xfrm>
            <a:off x="1143000" y="4826000"/>
            <a:ext cx="9906000" cy="6604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 b="1">
                <a:solidFill>
                  <a:srgbClr val="00285F"/>
                </a:solidFill>
                <a:latin typeface="Microsoft YaHei" panose="020B0503020204020204" pitchFamily="34" charset="-122"/>
              </a:rPr>
              <a:t>功能覆盖任务提交、状态追踪、样本对比、模型注册和结果归集。</a:t>
            </a:r>
          </a:p>
        </p:txBody>
      </p:sp>
    </p:spTree>
    <p:extLst>
      <p:ext uri="{BB962C8B-B14F-4D97-AF65-F5344CB8AC3E}">
        <p14:creationId xmlns:p14="http://schemas.microsoft.com/office/powerpoint/2010/main" val="146148228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6C7F92-9293-B59D-2DE6-2DB6188AD3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文本框 89">
            <a:extLst>
              <a:ext uri="{FF2B5EF4-FFF2-40B4-BE49-F238E27FC236}">
                <a16:creationId xmlns:a16="http://schemas.microsoft.com/office/drawing/2014/main" id="{D974B1A9-EA78-9DDD-0C77-372F5B9CAD76}"/>
              </a:ext>
            </a:extLst>
          </p:cNvPr>
          <p:cNvSpPr txBox="1"/>
          <p:nvPr/>
        </p:nvSpPr>
        <p:spPr>
          <a:xfrm>
            <a:off x="115452" y="243436"/>
            <a:ext cx="7729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chemeClr val="bg1"/>
                </a:solidFill>
              </a:rPr>
              <a:t>08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0F0E9114-BD5E-4531-B04D-1539D4EDDF89}"/>
              </a:ext>
            </a:extLst>
          </p:cNvPr>
          <p:cNvSpPr txBox="1"/>
          <p:nvPr/>
        </p:nvSpPr>
        <p:spPr>
          <a:xfrm>
            <a:off x="946461" y="269201"/>
            <a:ext cx="6440714" cy="5693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100" b="1">
                <a:solidFill>
                  <a:srgbClr val="00285F"/>
                </a:solidFill>
                <a:latin typeface="Microsoft YaHei" panose="020B0503020204020204" pitchFamily="34" charset="-122"/>
              </a:rPr>
              <a:t>技术架构</a:t>
            </a:r>
            <a:endParaRPr lang="zh-CN" altLang="en-US" sz="3100" b="1" dirty="0">
              <a:solidFill>
                <a:srgbClr val="00285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4EED5A48-D199-AD34-FCE8-479D7D2EC99A}"/>
              </a:ext>
            </a:extLst>
          </p:cNvPr>
          <p:cNvSpPr/>
          <p:nvPr/>
        </p:nvSpPr>
        <p:spPr>
          <a:xfrm>
            <a:off x="0" y="1651000"/>
            <a:ext cx="12192000" cy="520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7C4365CF-9523-F3B3-C2A5-958CE6E25294}"/>
              </a:ext>
            </a:extLst>
          </p:cNvPr>
          <p:cNvSpPr/>
          <p:nvPr/>
        </p:nvSpPr>
        <p:spPr>
          <a:xfrm>
            <a:off x="431800" y="1168400"/>
            <a:ext cx="11303000" cy="5080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平台通过统一执行合同，把桌面前端、后端调度和模型执行器连接起来。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6B647C2B-BA41-3098-946D-782A3954509E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80376" y="1841500"/>
            <a:ext cx="6431248" cy="3619500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C78CBF0B-3E8B-7F6C-97E7-854A91BB32C7}"/>
              </a:ext>
            </a:extLst>
          </p:cNvPr>
          <p:cNvSpPr/>
          <p:nvPr/>
        </p:nvSpPr>
        <p:spPr>
          <a:xfrm>
            <a:off x="1206500" y="5778500"/>
            <a:ext cx="9779000" cy="4318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600" b="1">
                <a:solidFill>
                  <a:srgbClr val="FFFFFF"/>
                </a:solidFill>
                <a:latin typeface="Microsoft YaHei" panose="020B0503020204020204" pitchFamily="34" charset="-122"/>
              </a:rPr>
              <a:t>执行器只封装模型差异，平台层保持统一提交、统一跟踪和统一归集。</a:t>
            </a:r>
          </a:p>
        </p:txBody>
      </p:sp>
    </p:spTree>
    <p:extLst>
      <p:ext uri="{BB962C8B-B14F-4D97-AF65-F5344CB8AC3E}">
        <p14:creationId xmlns:p14="http://schemas.microsoft.com/office/powerpoint/2010/main" val="339937370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8993F8-A2A5-B371-B6CC-C97E0D1624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文本框 89">
            <a:extLst>
              <a:ext uri="{FF2B5EF4-FFF2-40B4-BE49-F238E27FC236}">
                <a16:creationId xmlns:a16="http://schemas.microsoft.com/office/drawing/2014/main" id="{284BF616-090D-BA5B-20D4-639B4472D780}"/>
              </a:ext>
            </a:extLst>
          </p:cNvPr>
          <p:cNvSpPr txBox="1"/>
          <p:nvPr/>
        </p:nvSpPr>
        <p:spPr>
          <a:xfrm>
            <a:off x="115452" y="243436"/>
            <a:ext cx="7729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chemeClr val="bg1"/>
                </a:solidFill>
              </a:rPr>
              <a:t>06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FEA574DC-E824-BEBE-8E95-9476D0FC3CF3}"/>
              </a:ext>
            </a:extLst>
          </p:cNvPr>
          <p:cNvSpPr txBox="1"/>
          <p:nvPr/>
        </p:nvSpPr>
        <p:spPr>
          <a:xfrm>
            <a:off x="946460" y="269201"/>
            <a:ext cx="7626039" cy="5693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100" b="1">
                <a:solidFill>
                  <a:srgbClr val="00285F"/>
                </a:solidFill>
                <a:latin typeface="Microsoft YaHei" panose="020B0503020204020204" pitchFamily="34" charset="-122"/>
              </a:rPr>
              <a:t>已接入模型与实测数据</a:t>
            </a:r>
            <a:endParaRPr lang="zh-CN" altLang="en-US" sz="3100" b="1" dirty="0">
              <a:solidFill>
                <a:srgbClr val="00285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F2C6EC04-9316-46BA-74EE-1DA642D7D510}"/>
              </a:ext>
            </a:extLst>
          </p:cNvPr>
          <p:cNvSpPr/>
          <p:nvPr/>
        </p:nvSpPr>
        <p:spPr>
          <a:xfrm>
            <a:off x="0" y="1651000"/>
            <a:ext cx="12192000" cy="520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488ACE7-FEBB-C054-48C4-901D337C863D}"/>
              </a:ext>
            </a:extLst>
          </p:cNvPr>
          <p:cNvSpPr/>
          <p:nvPr/>
        </p:nvSpPr>
        <p:spPr>
          <a:xfrm>
            <a:off x="431800" y="1168400"/>
            <a:ext cx="11303000" cy="5080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6 </a:t>
            </a:r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个模型端到端验证通过，统一输入下的推理耗时差异明显。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18473525-F25F-E14E-6E02-B15DB375EDEE}"/>
              </a:ext>
            </a:extLst>
          </p:cNvPr>
          <p:cNvSpPr/>
          <p:nvPr/>
        </p:nvSpPr>
        <p:spPr>
          <a:xfrm>
            <a:off x="762000" y="1841500"/>
            <a:ext cx="3238500" cy="3810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接入模型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44059DD-7FD8-31FA-576E-FB93FA91E164}"/>
              </a:ext>
            </a:extLst>
          </p:cNvPr>
          <p:cNvSpPr/>
          <p:nvPr/>
        </p:nvSpPr>
        <p:spPr>
          <a:xfrm>
            <a:off x="762000" y="2273300"/>
            <a:ext cx="3238500" cy="5334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r>
              <a:rPr lang="en-US" altLang="zh-CN" sz="1500">
                <a:solidFill>
                  <a:srgbClr val="081830"/>
                </a:solidFill>
                <a:latin typeface="Microsoft YaHei" panose="020B0503020204020204" pitchFamily="34" charset="-122"/>
              </a:rPr>
              <a:t>DUSt3R / MASt3R</a:t>
            </a:r>
            <a:endParaRPr lang="zh-CN" altLang="en-US" sz="1500">
              <a:solidFill>
                <a:srgbClr val="08183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4DEE0FF0-B609-0DBC-B86A-AC22CAC59B49}"/>
              </a:ext>
            </a:extLst>
          </p:cNvPr>
          <p:cNvSpPr/>
          <p:nvPr/>
        </p:nvSpPr>
        <p:spPr>
          <a:xfrm>
            <a:off x="762000" y="2882900"/>
            <a:ext cx="3238500" cy="5334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r>
              <a:rPr lang="en-US" altLang="zh-CN" sz="1500">
                <a:solidFill>
                  <a:srgbClr val="081830"/>
                </a:solidFill>
                <a:latin typeface="Microsoft YaHei" panose="020B0503020204020204" pitchFamily="34" charset="-122"/>
              </a:rPr>
              <a:t>MonST3R / Spann3R</a:t>
            </a:r>
            <a:endParaRPr lang="zh-CN" altLang="en-US" sz="1500">
              <a:solidFill>
                <a:srgbClr val="08183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43B8EC46-BABC-93F2-60A0-0FA177330D65}"/>
              </a:ext>
            </a:extLst>
          </p:cNvPr>
          <p:cNvSpPr/>
          <p:nvPr/>
        </p:nvSpPr>
        <p:spPr>
          <a:xfrm>
            <a:off x="762000" y="3492500"/>
            <a:ext cx="3238500" cy="5334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r>
              <a:rPr lang="en-US" altLang="zh-CN" sz="1500">
                <a:solidFill>
                  <a:srgbClr val="081830"/>
                </a:solidFill>
                <a:latin typeface="Microsoft YaHei" panose="020B0503020204020204" pitchFamily="34" charset="-122"/>
              </a:rPr>
              <a:t>Fast3R / CUT3R</a:t>
            </a:r>
            <a:endParaRPr lang="zh-CN" altLang="en-US" sz="1500">
              <a:solidFill>
                <a:srgbClr val="08183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FB84D35E-C6C8-C9B0-3B2E-EF8E995FC357}"/>
              </a:ext>
            </a:extLst>
          </p:cNvPr>
          <p:cNvSpPr/>
          <p:nvPr/>
        </p:nvSpPr>
        <p:spPr>
          <a:xfrm>
            <a:off x="762000" y="4102100"/>
            <a:ext cx="3238500" cy="5334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r>
              <a:rPr lang="en-US" altLang="zh-CN" sz="1500">
                <a:solidFill>
                  <a:srgbClr val="081830"/>
                </a:solidFill>
                <a:latin typeface="Microsoft YaHei" panose="020B0503020204020204" pitchFamily="34" charset="-122"/>
              </a:rPr>
              <a:t>Align3R </a:t>
            </a:r>
            <a:r>
              <a:rPr lang="zh-CN" altLang="en-US" sz="1500">
                <a:solidFill>
                  <a:srgbClr val="081830"/>
                </a:solidFill>
                <a:latin typeface="Microsoft YaHei" panose="020B0503020204020204" pitchFamily="34" charset="-122"/>
              </a:rPr>
              <a:t>权重待补</a:t>
            </a: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A2B7315C-52D6-3334-56D3-285130CCA804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25211" y="1714500"/>
            <a:ext cx="6316579" cy="3429000"/>
          </a:xfrm>
          <a:prstGeom prst="rect">
            <a:avLst/>
          </a:prstGeom>
        </p:spPr>
      </p:pic>
      <p:sp>
        <p:nvSpPr>
          <p:cNvPr id="13" name="矩形 12">
            <a:extLst>
              <a:ext uri="{FF2B5EF4-FFF2-40B4-BE49-F238E27FC236}">
                <a16:creationId xmlns:a16="http://schemas.microsoft.com/office/drawing/2014/main" id="{5A0BBB15-D531-0505-E57F-1768AAD50C38}"/>
              </a:ext>
            </a:extLst>
          </p:cNvPr>
          <p:cNvSpPr/>
          <p:nvPr/>
        </p:nvSpPr>
        <p:spPr>
          <a:xfrm>
            <a:off x="889000" y="5524500"/>
            <a:ext cx="10414000" cy="4826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700" b="1">
                <a:solidFill>
                  <a:srgbClr val="00285F"/>
                </a:solidFill>
                <a:latin typeface="Microsoft YaHei" panose="020B0503020204020204" pitchFamily="34" charset="-122"/>
              </a:rPr>
              <a:t>统一输入为 </a:t>
            </a:r>
            <a:r>
              <a:rPr lang="en-US" altLang="zh-CN" sz="1700" b="1">
                <a:solidFill>
                  <a:srgbClr val="00285F"/>
                </a:solidFill>
                <a:latin typeface="Microsoft YaHei" panose="020B0503020204020204" pitchFamily="34" charset="-122"/>
              </a:rPr>
              <a:t>13 </a:t>
            </a:r>
            <a:r>
              <a:rPr lang="zh-CN" altLang="en-US" sz="1700" b="1">
                <a:solidFill>
                  <a:srgbClr val="00285F"/>
                </a:solidFill>
                <a:latin typeface="Microsoft YaHei" panose="020B0503020204020204" pitchFamily="34" charset="-122"/>
              </a:rPr>
              <a:t>帧 </a:t>
            </a:r>
            <a:r>
              <a:rPr lang="en-US" altLang="zh-CN" sz="1700" b="1">
                <a:solidFill>
                  <a:srgbClr val="00285F"/>
                </a:solidFill>
                <a:latin typeface="Microsoft YaHei" panose="020B0503020204020204" pitchFamily="34" charset="-122"/>
              </a:rPr>
              <a:t>1920×1080</a:t>
            </a:r>
            <a:r>
              <a:rPr lang="zh-CN" altLang="en-US" sz="1700" b="1">
                <a:solidFill>
                  <a:srgbClr val="00285F"/>
                </a:solidFill>
                <a:latin typeface="Microsoft YaHei" panose="020B0503020204020204" pitchFamily="34" charset="-122"/>
              </a:rPr>
              <a:t>；耗时差异体现统一调度与记录的必要性。</a:t>
            </a:r>
          </a:p>
        </p:txBody>
      </p:sp>
    </p:spTree>
    <p:extLst>
      <p:ext uri="{BB962C8B-B14F-4D97-AF65-F5344CB8AC3E}">
        <p14:creationId xmlns:p14="http://schemas.microsoft.com/office/powerpoint/2010/main" val="65617451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6C7F92-9293-B59D-2DE6-2DB6188AD3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文本框 89">
            <a:extLst>
              <a:ext uri="{FF2B5EF4-FFF2-40B4-BE49-F238E27FC236}">
                <a16:creationId xmlns:a16="http://schemas.microsoft.com/office/drawing/2014/main" id="{D974B1A9-EA78-9DDD-0C77-372F5B9CAD76}"/>
              </a:ext>
            </a:extLst>
          </p:cNvPr>
          <p:cNvSpPr txBox="1"/>
          <p:nvPr/>
        </p:nvSpPr>
        <p:spPr>
          <a:xfrm>
            <a:off x="115452" y="243436"/>
            <a:ext cx="7729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chemeClr val="bg1"/>
                </a:solidFill>
              </a:rPr>
              <a:t>08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0F0E9114-BD5E-4531-B04D-1539D4EDDF89}"/>
              </a:ext>
            </a:extLst>
          </p:cNvPr>
          <p:cNvSpPr txBox="1"/>
          <p:nvPr/>
        </p:nvSpPr>
        <p:spPr>
          <a:xfrm>
            <a:off x="946461" y="269201"/>
            <a:ext cx="6440714" cy="5693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100" b="1">
                <a:solidFill>
                  <a:srgbClr val="00285F"/>
                </a:solidFill>
                <a:latin typeface="Microsoft YaHei" panose="020B0503020204020204" pitchFamily="34" charset="-122"/>
              </a:rPr>
              <a:t>后续更新方向与应用场景</a:t>
            </a:r>
            <a:endParaRPr lang="zh-CN" altLang="en-US" sz="3100" b="1" dirty="0">
              <a:solidFill>
                <a:srgbClr val="00285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96FD55BE-72DF-9B7D-7FC9-64CFE88E6B7F}"/>
              </a:ext>
            </a:extLst>
          </p:cNvPr>
          <p:cNvSpPr/>
          <p:nvPr/>
        </p:nvSpPr>
        <p:spPr>
          <a:xfrm>
            <a:off x="0" y="1651000"/>
            <a:ext cx="12192000" cy="520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81EC0EF2-760E-76E3-326B-D8AC276BA23D}"/>
              </a:ext>
            </a:extLst>
          </p:cNvPr>
          <p:cNvSpPr/>
          <p:nvPr/>
        </p:nvSpPr>
        <p:spPr>
          <a:xfrm>
            <a:off x="431800" y="1168400"/>
            <a:ext cx="11303000" cy="5080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平台后续将围绕模型验证、对比视图、报告导出和下游接口推进。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B896C7EF-24D0-7E1F-4558-7C46F05EA670}"/>
              </a:ext>
            </a:extLst>
          </p:cNvPr>
          <p:cNvSpPr/>
          <p:nvPr/>
        </p:nvSpPr>
        <p:spPr>
          <a:xfrm>
            <a:off x="1143000" y="1905000"/>
            <a:ext cx="1714500" cy="5588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短期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2297AEF-E1F4-36B2-64B2-C21D54283265}"/>
              </a:ext>
            </a:extLst>
          </p:cNvPr>
          <p:cNvSpPr/>
          <p:nvPr/>
        </p:nvSpPr>
        <p:spPr>
          <a:xfrm>
            <a:off x="3175000" y="1905000"/>
            <a:ext cx="7747000" cy="55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700">
                <a:solidFill>
                  <a:srgbClr val="00285F"/>
                </a:solidFill>
                <a:latin typeface="Microsoft YaHei" panose="020B0503020204020204" pitchFamily="34" charset="-122"/>
              </a:rPr>
              <a:t>补齐 </a:t>
            </a:r>
            <a:r>
              <a:rPr lang="en-US" altLang="zh-CN" sz="1700">
                <a:solidFill>
                  <a:srgbClr val="00285F"/>
                </a:solidFill>
                <a:latin typeface="Microsoft YaHei" panose="020B0503020204020204" pitchFamily="34" charset="-122"/>
              </a:rPr>
              <a:t>Align3R </a:t>
            </a:r>
            <a:r>
              <a:rPr lang="zh-CN" altLang="en-US" sz="1700">
                <a:solidFill>
                  <a:srgbClr val="00285F"/>
                </a:solidFill>
                <a:latin typeface="Microsoft YaHei" panose="020B0503020204020204" pitchFamily="34" charset="-122"/>
              </a:rPr>
              <a:t>验证，完善跨模型对比视图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E2B9F333-846C-93C0-7D53-E22EC5A3241C}"/>
              </a:ext>
            </a:extLst>
          </p:cNvPr>
          <p:cNvSpPr/>
          <p:nvPr/>
        </p:nvSpPr>
        <p:spPr>
          <a:xfrm>
            <a:off x="1143000" y="2692400"/>
            <a:ext cx="1714500" cy="5588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中期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F2D13CC2-88C6-B077-0FD5-6F69C2F3F04D}"/>
              </a:ext>
            </a:extLst>
          </p:cNvPr>
          <p:cNvSpPr/>
          <p:nvPr/>
        </p:nvSpPr>
        <p:spPr>
          <a:xfrm>
            <a:off x="3175000" y="2692400"/>
            <a:ext cx="7747000" cy="5588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700">
                <a:solidFill>
                  <a:srgbClr val="00285F"/>
                </a:solidFill>
                <a:latin typeface="Microsoft YaHei" panose="020B0503020204020204" pitchFamily="34" charset="-122"/>
              </a:rPr>
              <a:t>导出论文表格和图表，设计 </a:t>
            </a:r>
            <a:r>
              <a:rPr lang="en-US" altLang="zh-CN" sz="1700">
                <a:solidFill>
                  <a:srgbClr val="00285F"/>
                </a:solidFill>
                <a:latin typeface="Microsoft YaHei" panose="020B0503020204020204" pitchFamily="34" charset="-122"/>
              </a:rPr>
              <a:t>API </a:t>
            </a:r>
            <a:r>
              <a:rPr lang="zh-CN" altLang="en-US" sz="1700">
                <a:solidFill>
                  <a:srgbClr val="00285F"/>
                </a:solidFill>
                <a:latin typeface="Microsoft YaHei" panose="020B0503020204020204" pitchFamily="34" charset="-122"/>
              </a:rPr>
              <a:t>层接口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510F09C-B213-AD4E-2554-B82E60E0C06B}"/>
              </a:ext>
            </a:extLst>
          </p:cNvPr>
          <p:cNvSpPr/>
          <p:nvPr/>
        </p:nvSpPr>
        <p:spPr>
          <a:xfrm>
            <a:off x="1143000" y="3479800"/>
            <a:ext cx="1714500" cy="5588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长期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E692F56-BEFF-8754-8B18-DDA6CDD1D4F6}"/>
              </a:ext>
            </a:extLst>
          </p:cNvPr>
          <p:cNvSpPr/>
          <p:nvPr/>
        </p:nvSpPr>
        <p:spPr>
          <a:xfrm>
            <a:off x="3175000" y="3479800"/>
            <a:ext cx="7747000" cy="55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700">
                <a:solidFill>
                  <a:srgbClr val="00285F"/>
                </a:solidFill>
                <a:latin typeface="Microsoft YaHei" panose="020B0503020204020204" pitchFamily="34" charset="-122"/>
              </a:rPr>
              <a:t>面向 </a:t>
            </a:r>
            <a:r>
              <a:rPr lang="en-US" altLang="zh-CN" sz="1700">
                <a:solidFill>
                  <a:srgbClr val="00285F"/>
                </a:solidFill>
                <a:latin typeface="Microsoft YaHei" panose="020B0503020204020204" pitchFamily="34" charset="-122"/>
              </a:rPr>
              <a:t>SLAM </a:t>
            </a:r>
            <a:r>
              <a:rPr lang="zh-CN" altLang="en-US" sz="1700">
                <a:solidFill>
                  <a:srgbClr val="00285F"/>
                </a:solidFill>
                <a:latin typeface="Microsoft YaHei" panose="020B0503020204020204" pitchFamily="34" charset="-122"/>
              </a:rPr>
              <a:t>初始化、</a:t>
            </a:r>
            <a:r>
              <a:rPr lang="en-US" altLang="zh-CN" sz="1700">
                <a:solidFill>
                  <a:srgbClr val="00285F"/>
                </a:solidFill>
                <a:latin typeface="Microsoft YaHei" panose="020B0503020204020204" pitchFamily="34" charset="-122"/>
              </a:rPr>
              <a:t>AR </a:t>
            </a:r>
            <a:r>
              <a:rPr lang="zh-CN" altLang="en-US" sz="1700">
                <a:solidFill>
                  <a:srgbClr val="00285F"/>
                </a:solidFill>
                <a:latin typeface="Microsoft YaHei" panose="020B0503020204020204" pitchFamily="34" charset="-122"/>
              </a:rPr>
              <a:t>建模和机器人场景理解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CCA45747-DD97-3F92-E082-8C45067BAB51}"/>
              </a:ext>
            </a:extLst>
          </p:cNvPr>
          <p:cNvSpPr/>
          <p:nvPr/>
        </p:nvSpPr>
        <p:spPr>
          <a:xfrm>
            <a:off x="1143000" y="4267200"/>
            <a:ext cx="1714500" cy="5588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应用场景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2585CB8C-0B3E-2ED0-0989-D600D75BAF0F}"/>
              </a:ext>
            </a:extLst>
          </p:cNvPr>
          <p:cNvSpPr/>
          <p:nvPr/>
        </p:nvSpPr>
        <p:spPr>
          <a:xfrm>
            <a:off x="3175000" y="4267200"/>
            <a:ext cx="7747000" cy="5588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700">
                <a:solidFill>
                  <a:srgbClr val="00285F"/>
                </a:solidFill>
                <a:latin typeface="Microsoft YaHei" panose="020B0503020204020204" pitchFamily="34" charset="-122"/>
              </a:rPr>
              <a:t>科研实验、模型评估、教学演示</a:t>
            </a:r>
          </a:p>
        </p:txBody>
      </p:sp>
    </p:spTree>
    <p:extLst>
      <p:ext uri="{BB962C8B-B14F-4D97-AF65-F5344CB8AC3E}">
        <p14:creationId xmlns:p14="http://schemas.microsoft.com/office/powerpoint/2010/main" val="244798854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795727-EB63-8B05-C0BA-FC16CEA965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文本框 89">
            <a:extLst>
              <a:ext uri="{FF2B5EF4-FFF2-40B4-BE49-F238E27FC236}">
                <a16:creationId xmlns:a16="http://schemas.microsoft.com/office/drawing/2014/main" id="{746D9152-48D3-E0A8-3FF3-2116404376ED}"/>
              </a:ext>
            </a:extLst>
          </p:cNvPr>
          <p:cNvSpPr txBox="1"/>
          <p:nvPr/>
        </p:nvSpPr>
        <p:spPr>
          <a:xfrm>
            <a:off x="115452" y="243436"/>
            <a:ext cx="7729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chemeClr val="bg1"/>
                </a:solidFill>
              </a:rPr>
              <a:t>03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BF154AD5-A70A-1962-3AC7-43543A030B62}"/>
              </a:ext>
            </a:extLst>
          </p:cNvPr>
          <p:cNvSpPr txBox="1"/>
          <p:nvPr/>
        </p:nvSpPr>
        <p:spPr>
          <a:xfrm>
            <a:off x="946460" y="269201"/>
            <a:ext cx="7626039" cy="5693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100" b="1">
                <a:solidFill>
                  <a:srgbClr val="00285F"/>
                </a:solidFill>
                <a:latin typeface="Microsoft YaHei" panose="020B0503020204020204" pitchFamily="34" charset="-122"/>
              </a:rPr>
              <a:t>平台如何支撑架构研究</a:t>
            </a:r>
            <a:endParaRPr lang="zh-CN" altLang="en-US" sz="3100" b="1" dirty="0">
              <a:solidFill>
                <a:srgbClr val="00285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4" name="任意多边形: 形状 93">
            <a:extLst>
              <a:ext uri="{FF2B5EF4-FFF2-40B4-BE49-F238E27FC236}">
                <a16:creationId xmlns:a16="http://schemas.microsoft.com/office/drawing/2014/main" id="{AF1BF063-7278-CF65-8ADD-CE545C77BE17}"/>
              </a:ext>
            </a:extLst>
          </p:cNvPr>
          <p:cNvSpPr/>
          <p:nvPr/>
        </p:nvSpPr>
        <p:spPr>
          <a:xfrm rot="5400000">
            <a:off x="5590187" y="-4418609"/>
            <a:ext cx="1011626" cy="12192000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2">
                  <a:lumMod val="75000"/>
                </a:schemeClr>
              </a:gs>
            </a:gsLst>
            <a:lin ang="5400000" scaled="1"/>
          </a:gradFill>
          <a:ln w="19050" cap="flat" cmpd="sng" algn="ctr">
            <a:noFill/>
            <a:prstDash val="solid"/>
            <a:miter lim="800000"/>
          </a:ln>
          <a:effectLst>
            <a:outerShdw blurRad="152400" dist="190500" dir="13500000" algn="ctr" rotWithShape="0">
              <a:sysClr val="window" lastClr="FFFFFF">
                <a:alpha val="29000"/>
              </a:sys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E223B8F6-6D09-7FC2-8ACD-2940C01BDC63}"/>
              </a:ext>
            </a:extLst>
          </p:cNvPr>
          <p:cNvSpPr/>
          <p:nvPr/>
        </p:nvSpPr>
        <p:spPr>
          <a:xfrm>
            <a:off x="0" y="1651000"/>
            <a:ext cx="12192000" cy="520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D910C218-DD12-E97F-7C66-6586243B6548}"/>
              </a:ext>
            </a:extLst>
          </p:cNvPr>
          <p:cNvSpPr/>
          <p:nvPr/>
        </p:nvSpPr>
        <p:spPr>
          <a:xfrm>
            <a:off x="431800" y="1168400"/>
            <a:ext cx="11303000" cy="5080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平台为架构消融提供统一运行环境和结果对比条件。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62AD1915-42CA-370F-8C9E-E0426E674BA7}"/>
              </a:ext>
            </a:extLst>
          </p:cNvPr>
          <p:cNvSpPr/>
          <p:nvPr/>
        </p:nvSpPr>
        <p:spPr>
          <a:xfrm>
            <a:off x="1016000" y="2095500"/>
            <a:ext cx="3810000" cy="4318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 b="1">
                <a:solidFill>
                  <a:srgbClr val="FFFFFF"/>
                </a:solidFill>
                <a:latin typeface="Microsoft YaHei" panose="020B0503020204020204" pitchFamily="34" charset="-122"/>
              </a:rPr>
              <a:t>架构研究需求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E91E1003-C953-7FBB-06B0-E38BE5009520}"/>
              </a:ext>
            </a:extLst>
          </p:cNvPr>
          <p:cNvSpPr/>
          <p:nvPr/>
        </p:nvSpPr>
        <p:spPr>
          <a:xfrm>
            <a:off x="1016000" y="2552700"/>
            <a:ext cx="3810000" cy="15113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多专家对照
模块消融
长序列评测
新架构接入</a:t>
            </a:r>
          </a:p>
        </p:txBody>
      </p:sp>
      <p:sp>
        <p:nvSpPr>
          <p:cNvPr id="10" name="箭头: 右 9">
            <a:extLst>
              <a:ext uri="{FF2B5EF4-FFF2-40B4-BE49-F238E27FC236}">
                <a16:creationId xmlns:a16="http://schemas.microsoft.com/office/drawing/2014/main" id="{0E40D9D1-D6E4-E362-9AEF-34C509F556D9}"/>
              </a:ext>
            </a:extLst>
          </p:cNvPr>
          <p:cNvSpPr/>
          <p:nvPr/>
        </p:nvSpPr>
        <p:spPr>
          <a:xfrm>
            <a:off x="5080000" y="2794000"/>
            <a:ext cx="635000" cy="381000"/>
          </a:xfrm>
          <a:prstGeom prst="rightArrow">
            <a:avLst/>
          </a:prstGeom>
          <a:solidFill>
            <a:srgbClr val="286FB9"/>
          </a:solidFill>
          <a:ln>
            <a:solidFill>
              <a:srgbClr val="286F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C477E499-A0F6-5AE3-3D58-FC2074EFFD44}"/>
              </a:ext>
            </a:extLst>
          </p:cNvPr>
          <p:cNvSpPr/>
          <p:nvPr/>
        </p:nvSpPr>
        <p:spPr>
          <a:xfrm>
            <a:off x="6604000" y="2095500"/>
            <a:ext cx="4064000" cy="431800"/>
          </a:xfrm>
          <a:prstGeom prst="rect">
            <a:avLst/>
          </a:prstGeom>
          <a:solidFill>
            <a:srgbClr val="26915F"/>
          </a:solidFill>
          <a:ln w="12700">
            <a:solidFill>
              <a:srgbClr val="26915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 b="1">
                <a:solidFill>
                  <a:srgbClr val="FFFFFF"/>
                </a:solidFill>
                <a:latin typeface="Microsoft YaHei" panose="020B0503020204020204" pitchFamily="34" charset="-122"/>
              </a:rPr>
              <a:t>平台支撑方式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5DED5918-30E9-52FE-E306-3E503C855BD1}"/>
              </a:ext>
            </a:extLst>
          </p:cNvPr>
          <p:cNvSpPr/>
          <p:nvPr/>
        </p:nvSpPr>
        <p:spPr>
          <a:xfrm>
            <a:off x="6604000" y="2552700"/>
            <a:ext cx="4064000" cy="1511300"/>
          </a:xfrm>
          <a:prstGeom prst="rect">
            <a:avLst/>
          </a:prstGeom>
          <a:solidFill>
            <a:srgbClr val="FFFFFF"/>
          </a:solidFill>
          <a:ln w="12700">
            <a:solidFill>
              <a:srgbClr val="26915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统一调度
统一输出格式
同条件对比
运行数据记录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E3274458-9BBE-B32D-8697-3A876ED4E8A0}"/>
              </a:ext>
            </a:extLst>
          </p:cNvPr>
          <p:cNvSpPr/>
          <p:nvPr/>
        </p:nvSpPr>
        <p:spPr>
          <a:xfrm>
            <a:off x="1206500" y="4953000"/>
            <a:ext cx="9779000" cy="6096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b="1">
                <a:solidFill>
                  <a:srgbClr val="00285F"/>
                </a:solidFill>
                <a:latin typeface="Microsoft YaHei" panose="020B0503020204020204" pitchFamily="34" charset="-122"/>
              </a:rPr>
              <a:t>新架构训练完成后可作为新模型接入平台，与现有模型同条件比较。</a:t>
            </a:r>
          </a:p>
        </p:txBody>
      </p:sp>
    </p:spTree>
    <p:extLst>
      <p:ext uri="{BB962C8B-B14F-4D97-AF65-F5344CB8AC3E}">
        <p14:creationId xmlns:p14="http://schemas.microsoft.com/office/powerpoint/2010/main" val="336951532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6C7F92-9293-B59D-2DE6-2DB6188AD3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文本框 89">
            <a:extLst>
              <a:ext uri="{FF2B5EF4-FFF2-40B4-BE49-F238E27FC236}">
                <a16:creationId xmlns:a16="http://schemas.microsoft.com/office/drawing/2014/main" id="{D974B1A9-EA78-9DDD-0C77-372F5B9CAD76}"/>
              </a:ext>
            </a:extLst>
          </p:cNvPr>
          <p:cNvSpPr txBox="1"/>
          <p:nvPr/>
        </p:nvSpPr>
        <p:spPr>
          <a:xfrm>
            <a:off x="115452" y="243436"/>
            <a:ext cx="7729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chemeClr val="bg1"/>
                </a:solidFill>
              </a:rPr>
              <a:t>08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0F0E9114-BD5E-4531-B04D-1539D4EDDF89}"/>
              </a:ext>
            </a:extLst>
          </p:cNvPr>
          <p:cNvSpPr txBox="1"/>
          <p:nvPr/>
        </p:nvSpPr>
        <p:spPr>
          <a:xfrm>
            <a:off x="946461" y="269201"/>
            <a:ext cx="6440714" cy="5693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100" b="1">
                <a:solidFill>
                  <a:srgbClr val="00285F"/>
                </a:solidFill>
                <a:latin typeface="Microsoft YaHei" panose="020B0503020204020204" pitchFamily="34" charset="-122"/>
              </a:rPr>
              <a:t>实验设计</a:t>
            </a:r>
            <a:endParaRPr lang="zh-CN" altLang="en-US" sz="3100" b="1" dirty="0">
              <a:solidFill>
                <a:srgbClr val="00285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783FA3A9-1488-1DF5-983E-5CD681C22F1D}"/>
              </a:ext>
            </a:extLst>
          </p:cNvPr>
          <p:cNvSpPr/>
          <p:nvPr/>
        </p:nvSpPr>
        <p:spPr>
          <a:xfrm>
            <a:off x="0" y="1651000"/>
            <a:ext cx="12192000" cy="520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9BEE4CEA-09D6-4B6A-4C45-B1A6020FF5EC}"/>
              </a:ext>
            </a:extLst>
          </p:cNvPr>
          <p:cNvSpPr/>
          <p:nvPr/>
        </p:nvSpPr>
        <p:spPr>
          <a:xfrm>
            <a:off x="431800" y="1168400"/>
            <a:ext cx="11303000" cy="5080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实验设计分为架构有效性验证和平台支撑能力验证两部分。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A0FE6418-07E3-08B6-CBC2-BA8B1ED0C40B}"/>
              </a:ext>
            </a:extLst>
          </p:cNvPr>
          <p:cNvSpPr/>
          <p:nvPr/>
        </p:nvSpPr>
        <p:spPr>
          <a:xfrm>
            <a:off x="698500" y="1905000"/>
            <a:ext cx="5080000" cy="4318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 b="1">
                <a:solidFill>
                  <a:srgbClr val="FFFFFF"/>
                </a:solidFill>
                <a:latin typeface="Microsoft YaHei" panose="020B0503020204020204" pitchFamily="34" charset="-122"/>
              </a:rPr>
              <a:t>架构侧验证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C93659C-5D45-C750-BBB1-2B602F8BE1C4}"/>
              </a:ext>
            </a:extLst>
          </p:cNvPr>
          <p:cNvSpPr/>
          <p:nvPr/>
        </p:nvSpPr>
        <p:spPr>
          <a:xfrm>
            <a:off x="698500" y="2362200"/>
            <a:ext cx="5080000" cy="24638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模块消融：记忆 </a:t>
            </a:r>
            <a:r>
              <a:rPr lang="en-US" altLang="zh-CN" sz="1900">
                <a:solidFill>
                  <a:srgbClr val="081830"/>
                </a:solidFill>
                <a:latin typeface="Microsoft YaHei" panose="020B0503020204020204" pitchFamily="34" charset="-122"/>
              </a:rPr>
              <a:t>/ </a:t>
            </a:r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校验 </a:t>
            </a:r>
            <a:r>
              <a:rPr lang="en-US" altLang="zh-CN" sz="1900">
                <a:solidFill>
                  <a:srgbClr val="081830"/>
                </a:solidFill>
                <a:latin typeface="Microsoft YaHei" panose="020B0503020204020204" pitchFamily="34" charset="-122"/>
              </a:rPr>
              <a:t>/ </a:t>
            </a:r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路由
长序列对照：短序列到长序列
专家对照：单模型 </a:t>
            </a:r>
            <a:r>
              <a:rPr lang="en-US" altLang="zh-CN" sz="1900">
                <a:solidFill>
                  <a:srgbClr val="081830"/>
                </a:solidFill>
                <a:latin typeface="Microsoft YaHei" panose="020B0503020204020204" pitchFamily="34" charset="-122"/>
              </a:rPr>
              <a:t>vs </a:t>
            </a:r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多专家
失败场景复核：动态 </a:t>
            </a:r>
            <a:r>
              <a:rPr lang="en-US" altLang="zh-CN" sz="1900">
                <a:solidFill>
                  <a:srgbClr val="081830"/>
                </a:solidFill>
                <a:latin typeface="Microsoft YaHei" panose="020B0503020204020204" pitchFamily="34" charset="-122"/>
              </a:rPr>
              <a:t>/ </a:t>
            </a:r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弱纹理 </a:t>
            </a:r>
            <a:r>
              <a:rPr lang="en-US" altLang="zh-CN" sz="1900">
                <a:solidFill>
                  <a:srgbClr val="081830"/>
                </a:solidFill>
                <a:latin typeface="Microsoft YaHei" panose="020B0503020204020204" pitchFamily="34" charset="-122"/>
              </a:rPr>
              <a:t>/ </a:t>
            </a:r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反射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7342C8E8-BA83-6CD4-FD4E-683C13C6CEB6}"/>
              </a:ext>
            </a:extLst>
          </p:cNvPr>
          <p:cNvSpPr/>
          <p:nvPr/>
        </p:nvSpPr>
        <p:spPr>
          <a:xfrm>
            <a:off x="6413500" y="1905000"/>
            <a:ext cx="5080000" cy="431800"/>
          </a:xfrm>
          <a:prstGeom prst="rect">
            <a:avLst/>
          </a:prstGeom>
          <a:solidFill>
            <a:srgbClr val="286FB9"/>
          </a:solidFill>
          <a:ln w="12700">
            <a:solidFill>
              <a:srgbClr val="286F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 b="1">
                <a:solidFill>
                  <a:srgbClr val="FFFFFF"/>
                </a:solidFill>
                <a:latin typeface="Microsoft YaHei" panose="020B0503020204020204" pitchFamily="34" charset="-122"/>
              </a:rPr>
              <a:t>平台侧验证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EB7F5200-035F-3B1F-ADCA-496F61E18EEC}"/>
              </a:ext>
            </a:extLst>
          </p:cNvPr>
          <p:cNvSpPr/>
          <p:nvPr/>
        </p:nvSpPr>
        <p:spPr>
          <a:xfrm>
            <a:off x="6413500" y="2362200"/>
            <a:ext cx="5080000" cy="2463800"/>
          </a:xfrm>
          <a:prstGeom prst="rect">
            <a:avLst/>
          </a:prstGeom>
          <a:solidFill>
            <a:srgbClr val="FFFFFF"/>
          </a:solidFill>
          <a:ln w="12700">
            <a:solidFill>
              <a:srgbClr val="286F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模型接入是否稳定
任务状态是否可追踪
结果格式是否统一
对比报告是否可导出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2E21F794-44B3-9A4D-7C58-EAACB793B1C8}"/>
              </a:ext>
            </a:extLst>
          </p:cNvPr>
          <p:cNvSpPr/>
          <p:nvPr/>
        </p:nvSpPr>
        <p:spPr>
          <a:xfrm>
            <a:off x="1460500" y="5334000"/>
            <a:ext cx="9271000" cy="4826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700" b="1">
                <a:solidFill>
                  <a:srgbClr val="00285F"/>
                </a:solidFill>
                <a:latin typeface="Microsoft YaHei" panose="020B0503020204020204" pitchFamily="34" charset="-122"/>
              </a:rPr>
              <a:t>先完成小规模可复现实例，再逐步扩展到长序列和多模型对照。</a:t>
            </a:r>
          </a:p>
        </p:txBody>
      </p:sp>
    </p:spTree>
    <p:extLst>
      <p:ext uri="{BB962C8B-B14F-4D97-AF65-F5344CB8AC3E}">
        <p14:creationId xmlns:p14="http://schemas.microsoft.com/office/powerpoint/2010/main" val="174695567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6C7F92-9293-B59D-2DE6-2DB6188AD3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文本框 89">
            <a:extLst>
              <a:ext uri="{FF2B5EF4-FFF2-40B4-BE49-F238E27FC236}">
                <a16:creationId xmlns:a16="http://schemas.microsoft.com/office/drawing/2014/main" id="{D974B1A9-EA78-9DDD-0C77-372F5B9CAD76}"/>
              </a:ext>
            </a:extLst>
          </p:cNvPr>
          <p:cNvSpPr txBox="1"/>
          <p:nvPr/>
        </p:nvSpPr>
        <p:spPr>
          <a:xfrm>
            <a:off x="115452" y="243436"/>
            <a:ext cx="7729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chemeClr val="bg1"/>
                </a:solidFill>
              </a:rPr>
              <a:t>08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0F0E9114-BD5E-4531-B04D-1539D4EDDF89}"/>
              </a:ext>
            </a:extLst>
          </p:cNvPr>
          <p:cNvSpPr txBox="1"/>
          <p:nvPr/>
        </p:nvSpPr>
        <p:spPr>
          <a:xfrm>
            <a:off x="946461" y="269201"/>
            <a:ext cx="6440714" cy="5693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100" b="1">
                <a:solidFill>
                  <a:srgbClr val="00285F"/>
                </a:solidFill>
                <a:latin typeface="Microsoft YaHei" panose="020B0503020204020204" pitchFamily="34" charset="-122"/>
              </a:rPr>
              <a:t>创新点总结</a:t>
            </a:r>
            <a:endParaRPr lang="zh-CN" altLang="en-US" sz="3100" b="1" dirty="0">
              <a:solidFill>
                <a:srgbClr val="00285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ADB514AE-B67E-6266-F32C-D66F1CD52AF8}"/>
              </a:ext>
            </a:extLst>
          </p:cNvPr>
          <p:cNvSpPr/>
          <p:nvPr/>
        </p:nvSpPr>
        <p:spPr>
          <a:xfrm>
            <a:off x="0" y="1651000"/>
            <a:ext cx="12192000" cy="520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E4E1578F-F4FE-BA87-7934-4539DC7D4045}"/>
              </a:ext>
            </a:extLst>
          </p:cNvPr>
          <p:cNvSpPr/>
          <p:nvPr/>
        </p:nvSpPr>
        <p:spPr>
          <a:xfrm>
            <a:off x="431800" y="1168400"/>
            <a:ext cx="11303000" cy="5080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创新点围绕几何校验、多专家编排、长序列记忆和聚合平台展开。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0E68AF3E-F906-B6C2-4CFB-BBC60C4AA857}"/>
              </a:ext>
            </a:extLst>
          </p:cNvPr>
          <p:cNvSpPr/>
          <p:nvPr/>
        </p:nvSpPr>
        <p:spPr>
          <a:xfrm>
            <a:off x="1143000" y="2095500"/>
            <a:ext cx="889000" cy="6604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1</a:t>
            </a:r>
            <a:endParaRPr lang="zh-CN" altLang="en-US" sz="2000" b="1">
              <a:solidFill>
                <a:srgbClr val="FFFF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B301160-A915-4E8E-7E9D-0A5BDACD0F0F}"/>
              </a:ext>
            </a:extLst>
          </p:cNvPr>
          <p:cNvSpPr/>
          <p:nvPr/>
        </p:nvSpPr>
        <p:spPr>
          <a:xfrm>
            <a:off x="2286000" y="2095500"/>
            <a:ext cx="3429000" cy="66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b="1">
                <a:solidFill>
                  <a:srgbClr val="00285F"/>
                </a:solidFill>
                <a:latin typeface="Microsoft YaHei" panose="020B0503020204020204" pitchFamily="34" charset="-122"/>
              </a:rPr>
              <a:t>几何校验作为架构内置组件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00816FC5-F7FC-90D0-C295-B6C5442B0330}"/>
              </a:ext>
            </a:extLst>
          </p:cNvPr>
          <p:cNvSpPr/>
          <p:nvPr/>
        </p:nvSpPr>
        <p:spPr>
          <a:xfrm>
            <a:off x="6350000" y="2095500"/>
            <a:ext cx="889000" cy="6604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2</a:t>
            </a:r>
            <a:endParaRPr lang="zh-CN" altLang="en-US" sz="2000" b="1">
              <a:solidFill>
                <a:srgbClr val="FFFF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142D17EC-4559-E507-8478-4FF7E1E1B878}"/>
              </a:ext>
            </a:extLst>
          </p:cNvPr>
          <p:cNvSpPr/>
          <p:nvPr/>
        </p:nvSpPr>
        <p:spPr>
          <a:xfrm>
            <a:off x="7493000" y="2095500"/>
            <a:ext cx="3429000" cy="6604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b="1">
                <a:solidFill>
                  <a:srgbClr val="00285F"/>
                </a:solidFill>
                <a:latin typeface="Microsoft YaHei" panose="020B0503020204020204" pitchFamily="34" charset="-122"/>
              </a:rPr>
              <a:t>异构多专家组合与路由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9EE8A26-5713-B3F1-8952-0282CE22FC68}"/>
              </a:ext>
            </a:extLst>
          </p:cNvPr>
          <p:cNvSpPr/>
          <p:nvPr/>
        </p:nvSpPr>
        <p:spPr>
          <a:xfrm>
            <a:off x="1143000" y="3517900"/>
            <a:ext cx="889000" cy="6604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3</a:t>
            </a:r>
            <a:endParaRPr lang="zh-CN" altLang="en-US" sz="2000" b="1">
              <a:solidFill>
                <a:srgbClr val="FFFF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A0065825-8103-4BC4-6B6D-A9ACFE2490E4}"/>
              </a:ext>
            </a:extLst>
          </p:cNvPr>
          <p:cNvSpPr/>
          <p:nvPr/>
        </p:nvSpPr>
        <p:spPr>
          <a:xfrm>
            <a:off x="2286000" y="3517900"/>
            <a:ext cx="3429000" cy="66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b="1">
                <a:solidFill>
                  <a:srgbClr val="00285F"/>
                </a:solidFill>
                <a:latin typeface="Microsoft YaHei" panose="020B0503020204020204" pitchFamily="34" charset="-122"/>
              </a:rPr>
              <a:t>三分支稀疏注意力记忆统一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ADC4800D-82FD-4550-3A7E-A76A3D72BC89}"/>
              </a:ext>
            </a:extLst>
          </p:cNvPr>
          <p:cNvSpPr/>
          <p:nvPr/>
        </p:nvSpPr>
        <p:spPr>
          <a:xfrm>
            <a:off x="6350000" y="3517900"/>
            <a:ext cx="889000" cy="6604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4</a:t>
            </a:r>
            <a:endParaRPr lang="zh-CN" altLang="en-US" sz="2000" b="1">
              <a:solidFill>
                <a:srgbClr val="FFFF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EB7E910F-FF00-6B5E-DCF6-B075E44665C3}"/>
              </a:ext>
            </a:extLst>
          </p:cNvPr>
          <p:cNvSpPr/>
          <p:nvPr/>
        </p:nvSpPr>
        <p:spPr>
          <a:xfrm>
            <a:off x="7493000" y="3517900"/>
            <a:ext cx="3429000" cy="6604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b="1">
                <a:solidFill>
                  <a:srgbClr val="00285F"/>
                </a:solidFill>
                <a:latin typeface="Microsoft YaHei" panose="020B0503020204020204" pitchFamily="34" charset="-122"/>
              </a:rPr>
              <a:t>统一 </a:t>
            </a:r>
            <a:r>
              <a:rPr lang="en-US" altLang="zh-CN" b="1">
                <a:solidFill>
                  <a:srgbClr val="00285F"/>
                </a:solidFill>
                <a:latin typeface="Microsoft YaHei" panose="020B0503020204020204" pitchFamily="34" charset="-122"/>
              </a:rPr>
              <a:t>3R </a:t>
            </a:r>
            <a:r>
              <a:rPr lang="zh-CN" altLang="en-US" b="1">
                <a:solidFill>
                  <a:srgbClr val="00285F"/>
                </a:solidFill>
                <a:latin typeface="Microsoft YaHei" panose="020B0503020204020204" pitchFamily="34" charset="-122"/>
              </a:rPr>
              <a:t>模型聚合管理平台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90D1E3A-8895-488F-3278-FF09E0FE92D5}"/>
              </a:ext>
            </a:extLst>
          </p:cNvPr>
          <p:cNvSpPr/>
          <p:nvPr/>
        </p:nvSpPr>
        <p:spPr>
          <a:xfrm>
            <a:off x="1460500" y="5334000"/>
            <a:ext cx="9271000" cy="4826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700" b="1">
                <a:solidFill>
                  <a:srgbClr val="FFFFFF"/>
                </a:solidFill>
                <a:latin typeface="Microsoft YaHei" panose="020B0503020204020204" pitchFamily="34" charset="-122"/>
              </a:rPr>
              <a:t>各创新点均需通过后续消融和对比实验支撑。</a:t>
            </a:r>
          </a:p>
        </p:txBody>
      </p:sp>
    </p:spTree>
    <p:extLst>
      <p:ext uri="{BB962C8B-B14F-4D97-AF65-F5344CB8AC3E}">
        <p14:creationId xmlns:p14="http://schemas.microsoft.com/office/powerpoint/2010/main" val="271664056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795727-EB63-8B05-C0BA-FC16CEA965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文本框 89">
            <a:extLst>
              <a:ext uri="{FF2B5EF4-FFF2-40B4-BE49-F238E27FC236}">
                <a16:creationId xmlns:a16="http://schemas.microsoft.com/office/drawing/2014/main" id="{746D9152-48D3-E0A8-3FF3-2116404376ED}"/>
              </a:ext>
            </a:extLst>
          </p:cNvPr>
          <p:cNvSpPr txBox="1"/>
          <p:nvPr/>
        </p:nvSpPr>
        <p:spPr>
          <a:xfrm>
            <a:off x="115452" y="243436"/>
            <a:ext cx="7729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chemeClr val="bg1"/>
                </a:solidFill>
              </a:rPr>
              <a:t>03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BF154AD5-A70A-1962-3AC7-43543A030B62}"/>
              </a:ext>
            </a:extLst>
          </p:cNvPr>
          <p:cNvSpPr txBox="1"/>
          <p:nvPr/>
        </p:nvSpPr>
        <p:spPr>
          <a:xfrm>
            <a:off x="946460" y="269201"/>
            <a:ext cx="7626039" cy="5693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100" b="1">
                <a:solidFill>
                  <a:srgbClr val="00285F"/>
                </a:solidFill>
                <a:latin typeface="Microsoft YaHei" panose="020B0503020204020204" pitchFamily="34" charset="-122"/>
              </a:rPr>
              <a:t>已完成工作</a:t>
            </a:r>
            <a:endParaRPr lang="zh-CN" altLang="en-US" sz="3100" b="1" dirty="0">
              <a:solidFill>
                <a:srgbClr val="00285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4" name="任意多边形: 形状 93">
            <a:extLst>
              <a:ext uri="{FF2B5EF4-FFF2-40B4-BE49-F238E27FC236}">
                <a16:creationId xmlns:a16="http://schemas.microsoft.com/office/drawing/2014/main" id="{AF1BF063-7278-CF65-8ADD-CE545C77BE17}"/>
              </a:ext>
            </a:extLst>
          </p:cNvPr>
          <p:cNvSpPr/>
          <p:nvPr/>
        </p:nvSpPr>
        <p:spPr>
          <a:xfrm rot="5400000">
            <a:off x="5590187" y="-4418609"/>
            <a:ext cx="1011626" cy="12192000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2">
                  <a:lumMod val="75000"/>
                </a:schemeClr>
              </a:gs>
            </a:gsLst>
            <a:lin ang="5400000" scaled="1"/>
          </a:gradFill>
          <a:ln w="19050" cap="flat" cmpd="sng" algn="ctr">
            <a:noFill/>
            <a:prstDash val="solid"/>
            <a:miter lim="800000"/>
          </a:ln>
          <a:effectLst>
            <a:outerShdw blurRad="152400" dist="190500" dir="13500000" algn="ctr" rotWithShape="0">
              <a:sysClr val="window" lastClr="FFFFFF">
                <a:alpha val="29000"/>
              </a:sys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60C3FD47-635A-2B05-F6F9-65F65AFEBBB3}"/>
              </a:ext>
            </a:extLst>
          </p:cNvPr>
          <p:cNvSpPr/>
          <p:nvPr/>
        </p:nvSpPr>
        <p:spPr>
          <a:xfrm>
            <a:off x="0" y="1651000"/>
            <a:ext cx="12192000" cy="520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E5064781-E2B9-14CA-D708-1E133F2C38C6}"/>
              </a:ext>
            </a:extLst>
          </p:cNvPr>
          <p:cNvSpPr/>
          <p:nvPr/>
        </p:nvSpPr>
        <p:spPr>
          <a:xfrm>
            <a:off x="431800" y="1168400"/>
            <a:ext cx="11303000" cy="5080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当前已完成架构文档、原型验证、平台代码和阶段综述。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222B3640-6FB2-8DF0-8E13-4F0AD87D50B5}"/>
              </a:ext>
            </a:extLst>
          </p:cNvPr>
          <p:cNvSpPr/>
          <p:nvPr/>
        </p:nvSpPr>
        <p:spPr>
          <a:xfrm>
            <a:off x="889000" y="1968500"/>
            <a:ext cx="4826000" cy="4318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 b="1">
                <a:solidFill>
                  <a:srgbClr val="FFFFFF"/>
                </a:solidFill>
                <a:latin typeface="Microsoft YaHei" panose="020B0503020204020204" pitchFamily="34" charset="-122"/>
              </a:rPr>
              <a:t>架构侧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A105A9E9-8844-5923-DC9D-E168ED018FED}"/>
              </a:ext>
            </a:extLst>
          </p:cNvPr>
          <p:cNvSpPr/>
          <p:nvPr/>
        </p:nvSpPr>
        <p:spPr>
          <a:xfrm>
            <a:off x="889000" y="2425700"/>
            <a:ext cx="4826000" cy="20828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1900">
                <a:solidFill>
                  <a:srgbClr val="081830"/>
                </a:solidFill>
                <a:latin typeface="Microsoft YaHei" panose="020B0503020204020204" pitchFamily="34" charset="-122"/>
              </a:rPr>
              <a:t>7 </a:t>
            </a:r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份设计文档
跨模块信号规约 </a:t>
            </a:r>
            <a:r>
              <a:rPr lang="en-US" altLang="zh-CN" sz="1900">
                <a:solidFill>
                  <a:srgbClr val="081830"/>
                </a:solidFill>
                <a:latin typeface="Microsoft YaHei" panose="020B0503020204020204" pitchFamily="34" charset="-122"/>
              </a:rPr>
              <a:t>v2.1
</a:t>
            </a:r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原型 </a:t>
            </a:r>
            <a:r>
              <a:rPr lang="en-US" altLang="zh-CN" sz="1900">
                <a:solidFill>
                  <a:srgbClr val="081830"/>
                </a:solidFill>
                <a:latin typeface="Microsoft YaHei" panose="020B0503020204020204" pitchFamily="34" charset="-122"/>
              </a:rPr>
              <a:t>v0.3 </a:t>
            </a:r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跑通
</a:t>
            </a:r>
            <a:r>
              <a:rPr lang="en-US" altLang="zh-CN" sz="1900">
                <a:solidFill>
                  <a:srgbClr val="081830"/>
                </a:solidFill>
                <a:latin typeface="Microsoft YaHei" panose="020B0503020204020204" pitchFamily="34" charset="-122"/>
              </a:rPr>
              <a:t>18 </a:t>
            </a:r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项技术里程碑完成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86D43C39-4ADE-B722-0EF8-0E9B1F6FA7D7}"/>
              </a:ext>
            </a:extLst>
          </p:cNvPr>
          <p:cNvSpPr/>
          <p:nvPr/>
        </p:nvSpPr>
        <p:spPr>
          <a:xfrm>
            <a:off x="6477000" y="1968500"/>
            <a:ext cx="4826000" cy="431800"/>
          </a:xfrm>
          <a:prstGeom prst="rect">
            <a:avLst/>
          </a:prstGeom>
          <a:solidFill>
            <a:srgbClr val="26915F"/>
          </a:solidFill>
          <a:ln w="12700">
            <a:solidFill>
              <a:srgbClr val="26915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 b="1">
                <a:solidFill>
                  <a:srgbClr val="FFFFFF"/>
                </a:solidFill>
                <a:latin typeface="Microsoft YaHei" panose="020B0503020204020204" pitchFamily="34" charset="-122"/>
              </a:rPr>
              <a:t>平台侧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BE1EE319-A01F-DAFC-9029-D9CA337CBD5C}"/>
              </a:ext>
            </a:extLst>
          </p:cNvPr>
          <p:cNvSpPr/>
          <p:nvPr/>
        </p:nvSpPr>
        <p:spPr>
          <a:xfrm>
            <a:off x="6477000" y="2425700"/>
            <a:ext cx="4826000" cy="2082800"/>
          </a:xfrm>
          <a:prstGeom prst="rect">
            <a:avLst/>
          </a:prstGeom>
          <a:solidFill>
            <a:srgbClr val="FFFFFF"/>
          </a:solidFill>
          <a:ln w="12700">
            <a:solidFill>
              <a:srgbClr val="26915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约 </a:t>
            </a:r>
            <a:r>
              <a:rPr lang="en-US" altLang="zh-CN" sz="1900">
                <a:solidFill>
                  <a:srgbClr val="081830"/>
                </a:solidFill>
                <a:latin typeface="Microsoft YaHei" panose="020B0503020204020204" pitchFamily="34" charset="-122"/>
              </a:rPr>
              <a:t>15000 </a:t>
            </a:r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行代码
</a:t>
            </a:r>
            <a:r>
              <a:rPr lang="en-US" altLang="zh-CN" sz="1900">
                <a:solidFill>
                  <a:srgbClr val="081830"/>
                </a:solidFill>
                <a:latin typeface="Microsoft YaHei" panose="020B0503020204020204" pitchFamily="34" charset="-122"/>
              </a:rPr>
              <a:t>7 </a:t>
            </a:r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个执行器完成
</a:t>
            </a:r>
            <a:r>
              <a:rPr lang="en-US" altLang="zh-CN" sz="1900">
                <a:solidFill>
                  <a:srgbClr val="081830"/>
                </a:solidFill>
                <a:latin typeface="Microsoft YaHei" panose="020B0503020204020204" pitchFamily="34" charset="-122"/>
              </a:rPr>
              <a:t>6 </a:t>
            </a:r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个端到端验证
跨模型对比数据已生成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B66ED455-6764-1A1C-8602-5412CACF9007}"/>
              </a:ext>
            </a:extLst>
          </p:cNvPr>
          <p:cNvSpPr/>
          <p:nvPr/>
        </p:nvSpPr>
        <p:spPr>
          <a:xfrm>
            <a:off x="1460500" y="5270500"/>
            <a:ext cx="9271000" cy="4826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700" b="1">
                <a:solidFill>
                  <a:srgbClr val="00285F"/>
                </a:solidFill>
                <a:latin typeface="Microsoft YaHei" panose="020B0503020204020204" pitchFamily="34" charset="-122"/>
              </a:rPr>
              <a:t>同期完成 </a:t>
            </a:r>
            <a:r>
              <a:rPr lang="en-US" altLang="zh-CN" sz="1700" b="1">
                <a:solidFill>
                  <a:srgbClr val="00285F"/>
                </a:solidFill>
                <a:latin typeface="Microsoft YaHei" panose="020B0503020204020204" pitchFamily="34" charset="-122"/>
              </a:rPr>
              <a:t>18 </a:t>
            </a:r>
            <a:r>
              <a:rPr lang="zh-CN" altLang="en-US" sz="1700" b="1">
                <a:solidFill>
                  <a:srgbClr val="00285F"/>
                </a:solidFill>
                <a:latin typeface="Microsoft YaHei" panose="020B0503020204020204" pitchFamily="34" charset="-122"/>
              </a:rPr>
              <a:t>页中文综述，包含 </a:t>
            </a:r>
            <a:r>
              <a:rPr lang="en-US" altLang="zh-CN" sz="1700" b="1">
                <a:solidFill>
                  <a:srgbClr val="00285F"/>
                </a:solidFill>
                <a:latin typeface="Microsoft YaHei" panose="020B0503020204020204" pitchFamily="34" charset="-122"/>
              </a:rPr>
              <a:t>44 </a:t>
            </a:r>
            <a:r>
              <a:rPr lang="zh-CN" altLang="en-US" sz="1700" b="1">
                <a:solidFill>
                  <a:srgbClr val="00285F"/>
                </a:solidFill>
                <a:latin typeface="Microsoft YaHei" panose="020B0503020204020204" pitchFamily="34" charset="-122"/>
              </a:rPr>
              <a:t>篇引用、</a:t>
            </a:r>
            <a:r>
              <a:rPr lang="en-US" altLang="zh-CN" sz="1700" b="1">
                <a:solidFill>
                  <a:srgbClr val="00285F"/>
                </a:solidFill>
                <a:latin typeface="Microsoft YaHei" panose="020B0503020204020204" pitchFamily="34" charset="-122"/>
              </a:rPr>
              <a:t>6 </a:t>
            </a:r>
            <a:r>
              <a:rPr lang="zh-CN" altLang="en-US" sz="1700" b="1">
                <a:solidFill>
                  <a:srgbClr val="00285F"/>
                </a:solidFill>
                <a:latin typeface="Microsoft YaHei" panose="020B0503020204020204" pitchFamily="34" charset="-122"/>
              </a:rPr>
              <a:t>图和 </a:t>
            </a:r>
            <a:r>
              <a:rPr lang="en-US" altLang="zh-CN" sz="1700" b="1">
                <a:solidFill>
                  <a:srgbClr val="00285F"/>
                </a:solidFill>
                <a:latin typeface="Microsoft YaHei" panose="020B0503020204020204" pitchFamily="34" charset="-122"/>
              </a:rPr>
              <a:t>5 </a:t>
            </a:r>
            <a:r>
              <a:rPr lang="zh-CN" altLang="en-US" sz="1700" b="1">
                <a:solidFill>
                  <a:srgbClr val="00285F"/>
                </a:solidFill>
                <a:latin typeface="Microsoft YaHei" panose="020B0503020204020204" pitchFamily="34" charset="-122"/>
              </a:rPr>
              <a:t>表。</a:t>
            </a:r>
          </a:p>
        </p:txBody>
      </p:sp>
    </p:spTree>
    <p:extLst>
      <p:ext uri="{BB962C8B-B14F-4D97-AF65-F5344CB8AC3E}">
        <p14:creationId xmlns:p14="http://schemas.microsoft.com/office/powerpoint/2010/main" val="402959219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F1AC14-4D81-0B48-547E-7159FB0D64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文本框 89">
            <a:extLst>
              <a:ext uri="{FF2B5EF4-FFF2-40B4-BE49-F238E27FC236}">
                <a16:creationId xmlns:a16="http://schemas.microsoft.com/office/drawing/2014/main" id="{BAF1E447-5F42-9CE3-9E7C-27FABF3FC177}"/>
              </a:ext>
            </a:extLst>
          </p:cNvPr>
          <p:cNvSpPr txBox="1"/>
          <p:nvPr/>
        </p:nvSpPr>
        <p:spPr>
          <a:xfrm>
            <a:off x="115452" y="243436"/>
            <a:ext cx="7729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chemeClr val="bg1"/>
                </a:solidFill>
              </a:rPr>
              <a:t>05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032F2B33-3392-C809-868B-8FB43F2C1232}"/>
              </a:ext>
            </a:extLst>
          </p:cNvPr>
          <p:cNvSpPr txBox="1"/>
          <p:nvPr/>
        </p:nvSpPr>
        <p:spPr>
          <a:xfrm>
            <a:off x="946460" y="269201"/>
            <a:ext cx="7626039" cy="5693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100" b="1">
                <a:solidFill>
                  <a:srgbClr val="00285F"/>
                </a:solidFill>
                <a:latin typeface="Microsoft YaHei" panose="020B0503020204020204" pitchFamily="34" charset="-122"/>
              </a:rPr>
              <a:t>时间安排</a:t>
            </a:r>
            <a:endParaRPr lang="zh-CN" altLang="en-US" sz="3100" b="1" dirty="0">
              <a:solidFill>
                <a:srgbClr val="00285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35C8C469-AB9F-1AC2-727A-062A69B2E728}"/>
              </a:ext>
            </a:extLst>
          </p:cNvPr>
          <p:cNvSpPr/>
          <p:nvPr/>
        </p:nvSpPr>
        <p:spPr>
          <a:xfrm>
            <a:off x="0" y="1651000"/>
            <a:ext cx="12192000" cy="520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E44EF0EA-9063-1633-CC1F-B67D016D7A28}"/>
              </a:ext>
            </a:extLst>
          </p:cNvPr>
          <p:cNvSpPr/>
          <p:nvPr/>
        </p:nvSpPr>
        <p:spPr>
          <a:xfrm>
            <a:off x="431800" y="1168400"/>
            <a:ext cx="11303000" cy="5080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后续时间安排分为近期准备、中期实验和后期论文三个阶段。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E742E746-FC33-0B86-4555-75AD5CA3E7DF}"/>
              </a:ext>
            </a:extLst>
          </p:cNvPr>
          <p:cNvSpPr/>
          <p:nvPr/>
        </p:nvSpPr>
        <p:spPr>
          <a:xfrm>
            <a:off x="2921000" y="1828800"/>
            <a:ext cx="1828800" cy="3556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300" b="1">
                <a:solidFill>
                  <a:srgbClr val="FFFFFF"/>
                </a:solidFill>
                <a:latin typeface="Microsoft YaHei" panose="020B0503020204020204" pitchFamily="34" charset="-122"/>
              </a:rPr>
              <a:t>近期准备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34A0E0AF-5EAC-44E9-51BE-624FDBB5A848}"/>
              </a:ext>
            </a:extLst>
          </p:cNvPr>
          <p:cNvSpPr/>
          <p:nvPr/>
        </p:nvSpPr>
        <p:spPr>
          <a:xfrm>
            <a:off x="4749800" y="1828800"/>
            <a:ext cx="3657600" cy="355600"/>
          </a:xfrm>
          <a:prstGeom prst="rect">
            <a:avLst/>
          </a:prstGeom>
          <a:solidFill>
            <a:srgbClr val="286FB9"/>
          </a:solidFill>
          <a:ln w="12700">
            <a:solidFill>
              <a:srgbClr val="286F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300" b="1">
                <a:solidFill>
                  <a:srgbClr val="FFFFFF"/>
                </a:solidFill>
                <a:latin typeface="Microsoft YaHei" panose="020B0503020204020204" pitchFamily="34" charset="-122"/>
              </a:rPr>
              <a:t>中期实验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B2D9DEB4-89C5-E56E-5E32-895D83DE7750}"/>
              </a:ext>
            </a:extLst>
          </p:cNvPr>
          <p:cNvSpPr/>
          <p:nvPr/>
        </p:nvSpPr>
        <p:spPr>
          <a:xfrm>
            <a:off x="8407400" y="1828800"/>
            <a:ext cx="1828800" cy="3556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300" b="1">
                <a:solidFill>
                  <a:srgbClr val="FFFFFF"/>
                </a:solidFill>
                <a:latin typeface="Microsoft YaHei" panose="020B0503020204020204" pitchFamily="34" charset="-122"/>
              </a:rPr>
              <a:t>后期论文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3C456ADB-8401-BC2F-8C6B-31936444F331}"/>
              </a:ext>
            </a:extLst>
          </p:cNvPr>
          <p:cNvSpPr/>
          <p:nvPr/>
        </p:nvSpPr>
        <p:spPr>
          <a:xfrm>
            <a:off x="2921000" y="2400300"/>
            <a:ext cx="914400" cy="3810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1300" b="1">
                <a:solidFill>
                  <a:srgbClr val="00285F"/>
                </a:solidFill>
                <a:latin typeface="Microsoft YaHei" panose="020B0503020204020204" pitchFamily="34" charset="-122"/>
              </a:rPr>
              <a:t>M1</a:t>
            </a:r>
            <a:endParaRPr lang="zh-CN" altLang="en-US" sz="1300" b="1">
              <a:solidFill>
                <a:srgbClr val="00285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E579EA0F-9CBE-C1ED-61BC-3CECA88EE3BF}"/>
              </a:ext>
            </a:extLst>
          </p:cNvPr>
          <p:cNvSpPr/>
          <p:nvPr/>
        </p:nvSpPr>
        <p:spPr>
          <a:xfrm>
            <a:off x="3835400" y="2400300"/>
            <a:ext cx="914400" cy="3810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1300" b="1">
                <a:solidFill>
                  <a:srgbClr val="00285F"/>
                </a:solidFill>
                <a:latin typeface="Microsoft YaHei" panose="020B0503020204020204" pitchFamily="34" charset="-122"/>
              </a:rPr>
              <a:t>M2</a:t>
            </a:r>
            <a:endParaRPr lang="zh-CN" altLang="en-US" sz="1300" b="1">
              <a:solidFill>
                <a:srgbClr val="00285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9C58C207-A53D-D596-7E6A-67F92A301228}"/>
              </a:ext>
            </a:extLst>
          </p:cNvPr>
          <p:cNvSpPr/>
          <p:nvPr/>
        </p:nvSpPr>
        <p:spPr>
          <a:xfrm>
            <a:off x="4749800" y="2400300"/>
            <a:ext cx="914400" cy="3810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1300" b="1">
                <a:solidFill>
                  <a:srgbClr val="00285F"/>
                </a:solidFill>
                <a:latin typeface="Microsoft YaHei" panose="020B0503020204020204" pitchFamily="34" charset="-122"/>
              </a:rPr>
              <a:t>M3</a:t>
            </a:r>
            <a:endParaRPr lang="zh-CN" altLang="en-US" sz="1300" b="1">
              <a:solidFill>
                <a:srgbClr val="00285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6D94E997-A5D1-6992-119B-0928C7550702}"/>
              </a:ext>
            </a:extLst>
          </p:cNvPr>
          <p:cNvSpPr/>
          <p:nvPr/>
        </p:nvSpPr>
        <p:spPr>
          <a:xfrm>
            <a:off x="5664200" y="2400300"/>
            <a:ext cx="914400" cy="3810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1300" b="1">
                <a:solidFill>
                  <a:srgbClr val="00285F"/>
                </a:solidFill>
                <a:latin typeface="Microsoft YaHei" panose="020B0503020204020204" pitchFamily="34" charset="-122"/>
              </a:rPr>
              <a:t>M4</a:t>
            </a:r>
            <a:endParaRPr lang="zh-CN" altLang="en-US" sz="1300" b="1">
              <a:solidFill>
                <a:srgbClr val="00285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F65C129B-8D59-C6B6-C087-6D9B77BA38CA}"/>
              </a:ext>
            </a:extLst>
          </p:cNvPr>
          <p:cNvSpPr/>
          <p:nvPr/>
        </p:nvSpPr>
        <p:spPr>
          <a:xfrm>
            <a:off x="6578600" y="2400300"/>
            <a:ext cx="914400" cy="3810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1300" b="1">
                <a:solidFill>
                  <a:srgbClr val="00285F"/>
                </a:solidFill>
                <a:latin typeface="Microsoft YaHei" panose="020B0503020204020204" pitchFamily="34" charset="-122"/>
              </a:rPr>
              <a:t>M5</a:t>
            </a:r>
            <a:endParaRPr lang="zh-CN" altLang="en-US" sz="1300" b="1">
              <a:solidFill>
                <a:srgbClr val="00285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05F82661-25D3-2DBE-B1CF-170968456B18}"/>
              </a:ext>
            </a:extLst>
          </p:cNvPr>
          <p:cNvSpPr/>
          <p:nvPr/>
        </p:nvSpPr>
        <p:spPr>
          <a:xfrm>
            <a:off x="7493000" y="2400300"/>
            <a:ext cx="914400" cy="3810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1300" b="1">
                <a:solidFill>
                  <a:srgbClr val="00285F"/>
                </a:solidFill>
                <a:latin typeface="Microsoft YaHei" panose="020B0503020204020204" pitchFamily="34" charset="-122"/>
              </a:rPr>
              <a:t>M6</a:t>
            </a:r>
            <a:endParaRPr lang="zh-CN" altLang="en-US" sz="1300" b="1">
              <a:solidFill>
                <a:srgbClr val="00285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87A012D3-77AE-BE5A-2B18-DA3662926C8D}"/>
              </a:ext>
            </a:extLst>
          </p:cNvPr>
          <p:cNvSpPr/>
          <p:nvPr/>
        </p:nvSpPr>
        <p:spPr>
          <a:xfrm>
            <a:off x="8407400" y="2400300"/>
            <a:ext cx="914400" cy="3810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1300" b="1">
                <a:solidFill>
                  <a:srgbClr val="00285F"/>
                </a:solidFill>
                <a:latin typeface="Microsoft YaHei" panose="020B0503020204020204" pitchFamily="34" charset="-122"/>
              </a:rPr>
              <a:t>M7</a:t>
            </a:r>
            <a:endParaRPr lang="zh-CN" altLang="en-US" sz="1300" b="1">
              <a:solidFill>
                <a:srgbClr val="00285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9AEBDDD5-2D5F-2441-2B3D-D7B95304207E}"/>
              </a:ext>
            </a:extLst>
          </p:cNvPr>
          <p:cNvSpPr/>
          <p:nvPr/>
        </p:nvSpPr>
        <p:spPr>
          <a:xfrm>
            <a:off x="9321800" y="2400300"/>
            <a:ext cx="914400" cy="3810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1300" b="1">
                <a:solidFill>
                  <a:srgbClr val="00285F"/>
                </a:solidFill>
                <a:latin typeface="Microsoft YaHei" panose="020B0503020204020204" pitchFamily="34" charset="-122"/>
              </a:rPr>
              <a:t>M8</a:t>
            </a:r>
            <a:endParaRPr lang="zh-CN" altLang="en-US" sz="1300" b="1">
              <a:solidFill>
                <a:srgbClr val="00285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6121C702-B461-A328-2BA1-F7C75215C74F}"/>
              </a:ext>
            </a:extLst>
          </p:cNvPr>
          <p:cNvSpPr/>
          <p:nvPr/>
        </p:nvSpPr>
        <p:spPr>
          <a:xfrm>
            <a:off x="889000" y="2832100"/>
            <a:ext cx="1905000" cy="3556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200" b="1">
                <a:solidFill>
                  <a:srgbClr val="00285F"/>
                </a:solidFill>
                <a:latin typeface="Microsoft YaHei" panose="020B0503020204020204" pitchFamily="34" charset="-122"/>
              </a:rPr>
              <a:t>开题定稿与平台补充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C4113FD4-9599-00E7-536C-597A5833C15D}"/>
              </a:ext>
            </a:extLst>
          </p:cNvPr>
          <p:cNvSpPr/>
          <p:nvPr/>
        </p:nvSpPr>
        <p:spPr>
          <a:xfrm>
            <a:off x="2921000" y="2832100"/>
            <a:ext cx="914400" cy="355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6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D982AA4C-8514-CA98-8C6C-D629EF1C1703}"/>
              </a:ext>
            </a:extLst>
          </p:cNvPr>
          <p:cNvSpPr/>
          <p:nvPr/>
        </p:nvSpPr>
        <p:spPr>
          <a:xfrm>
            <a:off x="3835400" y="2832100"/>
            <a:ext cx="914400" cy="355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6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5AA18741-5B0B-F687-74C4-78F678B52FA6}"/>
              </a:ext>
            </a:extLst>
          </p:cNvPr>
          <p:cNvSpPr/>
          <p:nvPr/>
        </p:nvSpPr>
        <p:spPr>
          <a:xfrm>
            <a:off x="4749800" y="2832100"/>
            <a:ext cx="914400" cy="355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6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BC2CE3F0-F42D-B042-FA6C-1FD93A759DB0}"/>
              </a:ext>
            </a:extLst>
          </p:cNvPr>
          <p:cNvSpPr/>
          <p:nvPr/>
        </p:nvSpPr>
        <p:spPr>
          <a:xfrm>
            <a:off x="5664200" y="2832100"/>
            <a:ext cx="914400" cy="355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6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0A2C71F2-1737-DBE7-326F-D56637B1B9EE}"/>
              </a:ext>
            </a:extLst>
          </p:cNvPr>
          <p:cNvSpPr/>
          <p:nvPr/>
        </p:nvSpPr>
        <p:spPr>
          <a:xfrm>
            <a:off x="6578600" y="2832100"/>
            <a:ext cx="914400" cy="355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6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8FA81D43-B2C9-1E6F-4704-08C474E2E9D0}"/>
              </a:ext>
            </a:extLst>
          </p:cNvPr>
          <p:cNvSpPr/>
          <p:nvPr/>
        </p:nvSpPr>
        <p:spPr>
          <a:xfrm>
            <a:off x="7493000" y="2832100"/>
            <a:ext cx="914400" cy="355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6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7DE9D293-2607-8DE6-D267-D94371841566}"/>
              </a:ext>
            </a:extLst>
          </p:cNvPr>
          <p:cNvSpPr/>
          <p:nvPr/>
        </p:nvSpPr>
        <p:spPr>
          <a:xfrm>
            <a:off x="8407400" y="2832100"/>
            <a:ext cx="914400" cy="355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6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95E373EE-BF60-2B48-387B-19CCDBFB7DFE}"/>
              </a:ext>
            </a:extLst>
          </p:cNvPr>
          <p:cNvSpPr/>
          <p:nvPr/>
        </p:nvSpPr>
        <p:spPr>
          <a:xfrm>
            <a:off x="9321800" y="2832100"/>
            <a:ext cx="914400" cy="355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6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矩形: 圆角 23">
            <a:extLst>
              <a:ext uri="{FF2B5EF4-FFF2-40B4-BE49-F238E27FC236}">
                <a16:creationId xmlns:a16="http://schemas.microsoft.com/office/drawing/2014/main" id="{71D92F4C-15A0-564C-F95A-046555FEE745}"/>
              </a:ext>
            </a:extLst>
          </p:cNvPr>
          <p:cNvSpPr/>
          <p:nvPr/>
        </p:nvSpPr>
        <p:spPr>
          <a:xfrm>
            <a:off x="3035300" y="2921000"/>
            <a:ext cx="1600200" cy="177800"/>
          </a:xfrm>
          <a:prstGeom prst="roundRect">
            <a:avLst/>
          </a:prstGeom>
          <a:solidFill>
            <a:srgbClr val="00468E"/>
          </a:solidFill>
          <a:ln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0374A724-F4EC-BCBC-85EF-DC7DE846ADCD}"/>
              </a:ext>
            </a:extLst>
          </p:cNvPr>
          <p:cNvSpPr/>
          <p:nvPr/>
        </p:nvSpPr>
        <p:spPr>
          <a:xfrm>
            <a:off x="889000" y="3365500"/>
            <a:ext cx="1905000" cy="3556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200" b="1">
                <a:solidFill>
                  <a:srgbClr val="00285F"/>
                </a:solidFill>
                <a:latin typeface="Microsoft YaHei" panose="020B0503020204020204" pitchFamily="34" charset="-122"/>
              </a:rPr>
              <a:t>校验标定与模块消融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44770D48-1535-2232-D39B-197E66FB4B70}"/>
              </a:ext>
            </a:extLst>
          </p:cNvPr>
          <p:cNvSpPr/>
          <p:nvPr/>
        </p:nvSpPr>
        <p:spPr>
          <a:xfrm>
            <a:off x="2921000" y="3365500"/>
            <a:ext cx="914400" cy="355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6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4982072F-E914-CF0F-BF8C-C1640B3D2C79}"/>
              </a:ext>
            </a:extLst>
          </p:cNvPr>
          <p:cNvSpPr/>
          <p:nvPr/>
        </p:nvSpPr>
        <p:spPr>
          <a:xfrm>
            <a:off x="3835400" y="3365500"/>
            <a:ext cx="914400" cy="355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6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E86642CF-3496-B6BA-C925-B7CB4329C491}"/>
              </a:ext>
            </a:extLst>
          </p:cNvPr>
          <p:cNvSpPr/>
          <p:nvPr/>
        </p:nvSpPr>
        <p:spPr>
          <a:xfrm>
            <a:off x="4749800" y="3365500"/>
            <a:ext cx="914400" cy="355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6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8D722605-85F8-42C2-56BC-603E040432E4}"/>
              </a:ext>
            </a:extLst>
          </p:cNvPr>
          <p:cNvSpPr/>
          <p:nvPr/>
        </p:nvSpPr>
        <p:spPr>
          <a:xfrm>
            <a:off x="5664200" y="3365500"/>
            <a:ext cx="914400" cy="355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6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BD2334D0-6407-2FA0-BC0A-8755169EC11D}"/>
              </a:ext>
            </a:extLst>
          </p:cNvPr>
          <p:cNvSpPr/>
          <p:nvPr/>
        </p:nvSpPr>
        <p:spPr>
          <a:xfrm>
            <a:off x="6578600" y="3365500"/>
            <a:ext cx="914400" cy="355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6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1CB3AC27-1A57-1E94-9211-9F5B3CDB8C03}"/>
              </a:ext>
            </a:extLst>
          </p:cNvPr>
          <p:cNvSpPr/>
          <p:nvPr/>
        </p:nvSpPr>
        <p:spPr>
          <a:xfrm>
            <a:off x="7493000" y="3365500"/>
            <a:ext cx="914400" cy="355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6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B1565D35-FFD0-7C5C-B08A-AEF00468E727}"/>
              </a:ext>
            </a:extLst>
          </p:cNvPr>
          <p:cNvSpPr/>
          <p:nvPr/>
        </p:nvSpPr>
        <p:spPr>
          <a:xfrm>
            <a:off x="8407400" y="3365500"/>
            <a:ext cx="914400" cy="355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6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A013CCB5-95AB-29AF-86C4-94AD9681AF64}"/>
              </a:ext>
            </a:extLst>
          </p:cNvPr>
          <p:cNvSpPr/>
          <p:nvPr/>
        </p:nvSpPr>
        <p:spPr>
          <a:xfrm>
            <a:off x="9321800" y="3365500"/>
            <a:ext cx="914400" cy="355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6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0" name="矩形: 圆角 59">
            <a:extLst>
              <a:ext uri="{FF2B5EF4-FFF2-40B4-BE49-F238E27FC236}">
                <a16:creationId xmlns:a16="http://schemas.microsoft.com/office/drawing/2014/main" id="{00D2D804-1F7C-D3E8-E88F-4D115E9DB368}"/>
              </a:ext>
            </a:extLst>
          </p:cNvPr>
          <p:cNvSpPr/>
          <p:nvPr/>
        </p:nvSpPr>
        <p:spPr>
          <a:xfrm>
            <a:off x="3949700" y="3454400"/>
            <a:ext cx="3429000" cy="177800"/>
          </a:xfrm>
          <a:prstGeom prst="roundRect">
            <a:avLst/>
          </a:prstGeom>
          <a:solidFill>
            <a:srgbClr val="EB8A2E"/>
          </a:solidFill>
          <a:ln>
            <a:solidFill>
              <a:srgbClr val="EB8A2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1" name="矩形 60">
            <a:extLst>
              <a:ext uri="{FF2B5EF4-FFF2-40B4-BE49-F238E27FC236}">
                <a16:creationId xmlns:a16="http://schemas.microsoft.com/office/drawing/2014/main" id="{795625DD-BCFA-17C0-82AF-F6EF8E476BC9}"/>
              </a:ext>
            </a:extLst>
          </p:cNvPr>
          <p:cNvSpPr/>
          <p:nvPr/>
        </p:nvSpPr>
        <p:spPr>
          <a:xfrm>
            <a:off x="889000" y="3898900"/>
            <a:ext cx="1905000" cy="3556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200" b="1">
                <a:solidFill>
                  <a:srgbClr val="00285F"/>
                </a:solidFill>
                <a:latin typeface="Microsoft YaHei" panose="020B0503020204020204" pitchFamily="34" charset="-122"/>
              </a:rPr>
              <a:t>长序列与多专家评测</a:t>
            </a:r>
          </a:p>
        </p:txBody>
      </p:sp>
      <p:sp>
        <p:nvSpPr>
          <p:cNvPr id="62" name="矩形 61">
            <a:extLst>
              <a:ext uri="{FF2B5EF4-FFF2-40B4-BE49-F238E27FC236}">
                <a16:creationId xmlns:a16="http://schemas.microsoft.com/office/drawing/2014/main" id="{730018C9-9707-3A96-2F68-106B49E2A956}"/>
              </a:ext>
            </a:extLst>
          </p:cNvPr>
          <p:cNvSpPr/>
          <p:nvPr/>
        </p:nvSpPr>
        <p:spPr>
          <a:xfrm>
            <a:off x="2921000" y="3898900"/>
            <a:ext cx="914400" cy="355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6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3" name="矩形 62">
            <a:extLst>
              <a:ext uri="{FF2B5EF4-FFF2-40B4-BE49-F238E27FC236}">
                <a16:creationId xmlns:a16="http://schemas.microsoft.com/office/drawing/2014/main" id="{386228D2-CE9D-5D0C-A470-992C679633F6}"/>
              </a:ext>
            </a:extLst>
          </p:cNvPr>
          <p:cNvSpPr/>
          <p:nvPr/>
        </p:nvSpPr>
        <p:spPr>
          <a:xfrm>
            <a:off x="3835400" y="3898900"/>
            <a:ext cx="914400" cy="355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6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4" name="矩形 63">
            <a:extLst>
              <a:ext uri="{FF2B5EF4-FFF2-40B4-BE49-F238E27FC236}">
                <a16:creationId xmlns:a16="http://schemas.microsoft.com/office/drawing/2014/main" id="{56FAF83F-A44E-F0BE-F61C-36DF6EAFF414}"/>
              </a:ext>
            </a:extLst>
          </p:cNvPr>
          <p:cNvSpPr/>
          <p:nvPr/>
        </p:nvSpPr>
        <p:spPr>
          <a:xfrm>
            <a:off x="4749800" y="3898900"/>
            <a:ext cx="914400" cy="355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6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5" name="矩形 64">
            <a:extLst>
              <a:ext uri="{FF2B5EF4-FFF2-40B4-BE49-F238E27FC236}">
                <a16:creationId xmlns:a16="http://schemas.microsoft.com/office/drawing/2014/main" id="{A803BE0A-E622-D812-FB0F-A1FF3BA3E9D9}"/>
              </a:ext>
            </a:extLst>
          </p:cNvPr>
          <p:cNvSpPr/>
          <p:nvPr/>
        </p:nvSpPr>
        <p:spPr>
          <a:xfrm>
            <a:off x="5664200" y="3898900"/>
            <a:ext cx="914400" cy="355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6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6" name="矩形 65">
            <a:extLst>
              <a:ext uri="{FF2B5EF4-FFF2-40B4-BE49-F238E27FC236}">
                <a16:creationId xmlns:a16="http://schemas.microsoft.com/office/drawing/2014/main" id="{9BF58D30-C6D6-7FDB-C4BC-B7294788A390}"/>
              </a:ext>
            </a:extLst>
          </p:cNvPr>
          <p:cNvSpPr/>
          <p:nvPr/>
        </p:nvSpPr>
        <p:spPr>
          <a:xfrm>
            <a:off x="6578600" y="3898900"/>
            <a:ext cx="914400" cy="355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6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7" name="矩形 66">
            <a:extLst>
              <a:ext uri="{FF2B5EF4-FFF2-40B4-BE49-F238E27FC236}">
                <a16:creationId xmlns:a16="http://schemas.microsoft.com/office/drawing/2014/main" id="{4963256A-B425-B8C8-6A67-C76ED37B49AE}"/>
              </a:ext>
            </a:extLst>
          </p:cNvPr>
          <p:cNvSpPr/>
          <p:nvPr/>
        </p:nvSpPr>
        <p:spPr>
          <a:xfrm>
            <a:off x="7493000" y="3898900"/>
            <a:ext cx="914400" cy="355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6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8" name="矩形 67">
            <a:extLst>
              <a:ext uri="{FF2B5EF4-FFF2-40B4-BE49-F238E27FC236}">
                <a16:creationId xmlns:a16="http://schemas.microsoft.com/office/drawing/2014/main" id="{21813FDC-AA53-A73D-AEDB-C61EC8FE3A5B}"/>
              </a:ext>
            </a:extLst>
          </p:cNvPr>
          <p:cNvSpPr/>
          <p:nvPr/>
        </p:nvSpPr>
        <p:spPr>
          <a:xfrm>
            <a:off x="8407400" y="3898900"/>
            <a:ext cx="914400" cy="355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6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9" name="矩形 68">
            <a:extLst>
              <a:ext uri="{FF2B5EF4-FFF2-40B4-BE49-F238E27FC236}">
                <a16:creationId xmlns:a16="http://schemas.microsoft.com/office/drawing/2014/main" id="{D9B8A619-D841-6297-A21B-3969812855FD}"/>
              </a:ext>
            </a:extLst>
          </p:cNvPr>
          <p:cNvSpPr/>
          <p:nvPr/>
        </p:nvSpPr>
        <p:spPr>
          <a:xfrm>
            <a:off x="9321800" y="3898900"/>
            <a:ext cx="914400" cy="355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6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0" name="矩形: 圆角 69">
            <a:extLst>
              <a:ext uri="{FF2B5EF4-FFF2-40B4-BE49-F238E27FC236}">
                <a16:creationId xmlns:a16="http://schemas.microsoft.com/office/drawing/2014/main" id="{D39C442B-1A7C-99BB-CF2E-298242D431A1}"/>
              </a:ext>
            </a:extLst>
          </p:cNvPr>
          <p:cNvSpPr/>
          <p:nvPr/>
        </p:nvSpPr>
        <p:spPr>
          <a:xfrm>
            <a:off x="5778500" y="3987800"/>
            <a:ext cx="2514600" cy="177800"/>
          </a:xfrm>
          <a:prstGeom prst="roundRect">
            <a:avLst/>
          </a:prstGeom>
          <a:solidFill>
            <a:srgbClr val="26915F"/>
          </a:solidFill>
          <a:ln>
            <a:solidFill>
              <a:srgbClr val="26915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1" name="矩形 70">
            <a:extLst>
              <a:ext uri="{FF2B5EF4-FFF2-40B4-BE49-F238E27FC236}">
                <a16:creationId xmlns:a16="http://schemas.microsoft.com/office/drawing/2014/main" id="{BE0A118C-CE87-2999-30FF-CCA2D275A1F0}"/>
              </a:ext>
            </a:extLst>
          </p:cNvPr>
          <p:cNvSpPr/>
          <p:nvPr/>
        </p:nvSpPr>
        <p:spPr>
          <a:xfrm>
            <a:off x="889000" y="4432300"/>
            <a:ext cx="1905000" cy="3556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200" b="1">
                <a:solidFill>
                  <a:srgbClr val="00285F"/>
                </a:solidFill>
                <a:latin typeface="Microsoft YaHei" panose="020B0503020204020204" pitchFamily="34" charset="-122"/>
              </a:rPr>
              <a:t>平台对比视图与报告</a:t>
            </a:r>
          </a:p>
        </p:txBody>
      </p:sp>
      <p:sp>
        <p:nvSpPr>
          <p:cNvPr id="72" name="矩形 71">
            <a:extLst>
              <a:ext uri="{FF2B5EF4-FFF2-40B4-BE49-F238E27FC236}">
                <a16:creationId xmlns:a16="http://schemas.microsoft.com/office/drawing/2014/main" id="{B41014E4-3EC3-BFD0-4A93-DA74C05BAF03}"/>
              </a:ext>
            </a:extLst>
          </p:cNvPr>
          <p:cNvSpPr/>
          <p:nvPr/>
        </p:nvSpPr>
        <p:spPr>
          <a:xfrm>
            <a:off x="2921000" y="4432300"/>
            <a:ext cx="914400" cy="355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6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3" name="矩形 72">
            <a:extLst>
              <a:ext uri="{FF2B5EF4-FFF2-40B4-BE49-F238E27FC236}">
                <a16:creationId xmlns:a16="http://schemas.microsoft.com/office/drawing/2014/main" id="{D02515F0-F89B-3ED9-A141-16E4CDE2990B}"/>
              </a:ext>
            </a:extLst>
          </p:cNvPr>
          <p:cNvSpPr/>
          <p:nvPr/>
        </p:nvSpPr>
        <p:spPr>
          <a:xfrm>
            <a:off x="3835400" y="4432300"/>
            <a:ext cx="914400" cy="355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6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4" name="矩形 73">
            <a:extLst>
              <a:ext uri="{FF2B5EF4-FFF2-40B4-BE49-F238E27FC236}">
                <a16:creationId xmlns:a16="http://schemas.microsoft.com/office/drawing/2014/main" id="{B42AAA9E-243C-5C60-6EDA-BD5984FCCAA0}"/>
              </a:ext>
            </a:extLst>
          </p:cNvPr>
          <p:cNvSpPr/>
          <p:nvPr/>
        </p:nvSpPr>
        <p:spPr>
          <a:xfrm>
            <a:off x="4749800" y="4432300"/>
            <a:ext cx="914400" cy="355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6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5" name="矩形 74">
            <a:extLst>
              <a:ext uri="{FF2B5EF4-FFF2-40B4-BE49-F238E27FC236}">
                <a16:creationId xmlns:a16="http://schemas.microsoft.com/office/drawing/2014/main" id="{38FBCDE3-80F9-44F0-6BD0-08E20927C6A6}"/>
              </a:ext>
            </a:extLst>
          </p:cNvPr>
          <p:cNvSpPr/>
          <p:nvPr/>
        </p:nvSpPr>
        <p:spPr>
          <a:xfrm>
            <a:off x="5664200" y="4432300"/>
            <a:ext cx="914400" cy="355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6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6" name="矩形 75">
            <a:extLst>
              <a:ext uri="{FF2B5EF4-FFF2-40B4-BE49-F238E27FC236}">
                <a16:creationId xmlns:a16="http://schemas.microsoft.com/office/drawing/2014/main" id="{1E23DE39-587D-3000-BB09-CEDEF9360553}"/>
              </a:ext>
            </a:extLst>
          </p:cNvPr>
          <p:cNvSpPr/>
          <p:nvPr/>
        </p:nvSpPr>
        <p:spPr>
          <a:xfrm>
            <a:off x="6578600" y="4432300"/>
            <a:ext cx="914400" cy="355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6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7" name="矩形 76">
            <a:extLst>
              <a:ext uri="{FF2B5EF4-FFF2-40B4-BE49-F238E27FC236}">
                <a16:creationId xmlns:a16="http://schemas.microsoft.com/office/drawing/2014/main" id="{5F4B067E-CCBB-EA27-1030-85CD1650BADE}"/>
              </a:ext>
            </a:extLst>
          </p:cNvPr>
          <p:cNvSpPr/>
          <p:nvPr/>
        </p:nvSpPr>
        <p:spPr>
          <a:xfrm>
            <a:off x="7493000" y="4432300"/>
            <a:ext cx="914400" cy="355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6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8" name="矩形 77">
            <a:extLst>
              <a:ext uri="{FF2B5EF4-FFF2-40B4-BE49-F238E27FC236}">
                <a16:creationId xmlns:a16="http://schemas.microsoft.com/office/drawing/2014/main" id="{642893C7-FDE2-CFD8-FF57-D3F67B8CC049}"/>
              </a:ext>
            </a:extLst>
          </p:cNvPr>
          <p:cNvSpPr/>
          <p:nvPr/>
        </p:nvSpPr>
        <p:spPr>
          <a:xfrm>
            <a:off x="8407400" y="4432300"/>
            <a:ext cx="914400" cy="355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6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9" name="矩形 78">
            <a:extLst>
              <a:ext uri="{FF2B5EF4-FFF2-40B4-BE49-F238E27FC236}">
                <a16:creationId xmlns:a16="http://schemas.microsoft.com/office/drawing/2014/main" id="{1396FC91-43A2-6FC9-D2DC-D8189B14CB9A}"/>
              </a:ext>
            </a:extLst>
          </p:cNvPr>
          <p:cNvSpPr/>
          <p:nvPr/>
        </p:nvSpPr>
        <p:spPr>
          <a:xfrm>
            <a:off x="9321800" y="4432300"/>
            <a:ext cx="914400" cy="355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6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0" name="矩形: 圆角 79">
            <a:extLst>
              <a:ext uri="{FF2B5EF4-FFF2-40B4-BE49-F238E27FC236}">
                <a16:creationId xmlns:a16="http://schemas.microsoft.com/office/drawing/2014/main" id="{B1CE2738-D2B9-D4BD-51A5-F898CF216A0F}"/>
              </a:ext>
            </a:extLst>
          </p:cNvPr>
          <p:cNvSpPr/>
          <p:nvPr/>
        </p:nvSpPr>
        <p:spPr>
          <a:xfrm>
            <a:off x="3949700" y="4521200"/>
            <a:ext cx="4343400" cy="177800"/>
          </a:xfrm>
          <a:prstGeom prst="roundRect">
            <a:avLst/>
          </a:prstGeom>
          <a:solidFill>
            <a:srgbClr val="286FB9"/>
          </a:solidFill>
          <a:ln>
            <a:solidFill>
              <a:srgbClr val="286F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1" name="矩形 80">
            <a:extLst>
              <a:ext uri="{FF2B5EF4-FFF2-40B4-BE49-F238E27FC236}">
                <a16:creationId xmlns:a16="http://schemas.microsoft.com/office/drawing/2014/main" id="{F9BD7CB5-B17E-F9CD-388F-4B18301D962E}"/>
              </a:ext>
            </a:extLst>
          </p:cNvPr>
          <p:cNvSpPr/>
          <p:nvPr/>
        </p:nvSpPr>
        <p:spPr>
          <a:xfrm>
            <a:off x="889000" y="4965700"/>
            <a:ext cx="1905000" cy="3556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200" b="1">
                <a:solidFill>
                  <a:srgbClr val="00285F"/>
                </a:solidFill>
                <a:latin typeface="Microsoft YaHei" panose="020B0503020204020204" pitchFamily="34" charset="-122"/>
              </a:rPr>
              <a:t>论文整理与系统固化</a:t>
            </a:r>
          </a:p>
        </p:txBody>
      </p:sp>
      <p:sp>
        <p:nvSpPr>
          <p:cNvPr id="82" name="矩形 81">
            <a:extLst>
              <a:ext uri="{FF2B5EF4-FFF2-40B4-BE49-F238E27FC236}">
                <a16:creationId xmlns:a16="http://schemas.microsoft.com/office/drawing/2014/main" id="{8F8A9230-1FA7-327C-B2AE-178CD4FA26BE}"/>
              </a:ext>
            </a:extLst>
          </p:cNvPr>
          <p:cNvSpPr/>
          <p:nvPr/>
        </p:nvSpPr>
        <p:spPr>
          <a:xfrm>
            <a:off x="2921000" y="4965700"/>
            <a:ext cx="914400" cy="355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6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3" name="矩形 82">
            <a:extLst>
              <a:ext uri="{FF2B5EF4-FFF2-40B4-BE49-F238E27FC236}">
                <a16:creationId xmlns:a16="http://schemas.microsoft.com/office/drawing/2014/main" id="{E344DA2B-0DFA-E6DD-AB49-D8908FFCBDAE}"/>
              </a:ext>
            </a:extLst>
          </p:cNvPr>
          <p:cNvSpPr/>
          <p:nvPr/>
        </p:nvSpPr>
        <p:spPr>
          <a:xfrm>
            <a:off x="3835400" y="4965700"/>
            <a:ext cx="914400" cy="355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6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4" name="矩形 83">
            <a:extLst>
              <a:ext uri="{FF2B5EF4-FFF2-40B4-BE49-F238E27FC236}">
                <a16:creationId xmlns:a16="http://schemas.microsoft.com/office/drawing/2014/main" id="{D8476C3A-EF7C-3E21-6FEA-78ACB5D9AFC8}"/>
              </a:ext>
            </a:extLst>
          </p:cNvPr>
          <p:cNvSpPr/>
          <p:nvPr/>
        </p:nvSpPr>
        <p:spPr>
          <a:xfrm>
            <a:off x="4749800" y="4965700"/>
            <a:ext cx="914400" cy="355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6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5" name="矩形 84">
            <a:extLst>
              <a:ext uri="{FF2B5EF4-FFF2-40B4-BE49-F238E27FC236}">
                <a16:creationId xmlns:a16="http://schemas.microsoft.com/office/drawing/2014/main" id="{4353EBDE-D799-EB35-C50C-3903A58B5303}"/>
              </a:ext>
            </a:extLst>
          </p:cNvPr>
          <p:cNvSpPr/>
          <p:nvPr/>
        </p:nvSpPr>
        <p:spPr>
          <a:xfrm>
            <a:off x="5664200" y="4965700"/>
            <a:ext cx="914400" cy="355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6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6" name="矩形 85">
            <a:extLst>
              <a:ext uri="{FF2B5EF4-FFF2-40B4-BE49-F238E27FC236}">
                <a16:creationId xmlns:a16="http://schemas.microsoft.com/office/drawing/2014/main" id="{D1090E9D-0F67-A8AD-2406-F716F9793AEE}"/>
              </a:ext>
            </a:extLst>
          </p:cNvPr>
          <p:cNvSpPr/>
          <p:nvPr/>
        </p:nvSpPr>
        <p:spPr>
          <a:xfrm>
            <a:off x="6578600" y="4965700"/>
            <a:ext cx="914400" cy="355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6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7" name="矩形 86">
            <a:extLst>
              <a:ext uri="{FF2B5EF4-FFF2-40B4-BE49-F238E27FC236}">
                <a16:creationId xmlns:a16="http://schemas.microsoft.com/office/drawing/2014/main" id="{1F7A09DF-75C1-F074-FBAD-2F6BD37484C1}"/>
              </a:ext>
            </a:extLst>
          </p:cNvPr>
          <p:cNvSpPr/>
          <p:nvPr/>
        </p:nvSpPr>
        <p:spPr>
          <a:xfrm>
            <a:off x="7493000" y="4965700"/>
            <a:ext cx="914400" cy="355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6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8" name="矩形 87">
            <a:extLst>
              <a:ext uri="{FF2B5EF4-FFF2-40B4-BE49-F238E27FC236}">
                <a16:creationId xmlns:a16="http://schemas.microsoft.com/office/drawing/2014/main" id="{C64329D4-8035-EDB3-AE60-1D82C688608A}"/>
              </a:ext>
            </a:extLst>
          </p:cNvPr>
          <p:cNvSpPr/>
          <p:nvPr/>
        </p:nvSpPr>
        <p:spPr>
          <a:xfrm>
            <a:off x="8407400" y="4965700"/>
            <a:ext cx="914400" cy="355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6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9" name="矩形 88">
            <a:extLst>
              <a:ext uri="{FF2B5EF4-FFF2-40B4-BE49-F238E27FC236}">
                <a16:creationId xmlns:a16="http://schemas.microsoft.com/office/drawing/2014/main" id="{C14354C4-23E9-F5BF-D7E4-68CBC5A1DD46}"/>
              </a:ext>
            </a:extLst>
          </p:cNvPr>
          <p:cNvSpPr/>
          <p:nvPr/>
        </p:nvSpPr>
        <p:spPr>
          <a:xfrm>
            <a:off x="9321800" y="4965700"/>
            <a:ext cx="914400" cy="355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6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1" name="矩形: 圆角 90">
            <a:extLst>
              <a:ext uri="{FF2B5EF4-FFF2-40B4-BE49-F238E27FC236}">
                <a16:creationId xmlns:a16="http://schemas.microsoft.com/office/drawing/2014/main" id="{6E1FA180-4ACC-7935-BF83-96DC8EB9395B}"/>
              </a:ext>
            </a:extLst>
          </p:cNvPr>
          <p:cNvSpPr/>
          <p:nvPr/>
        </p:nvSpPr>
        <p:spPr>
          <a:xfrm>
            <a:off x="8521700" y="5054600"/>
            <a:ext cx="1600200" cy="177800"/>
          </a:xfrm>
          <a:prstGeom prst="roundRect">
            <a:avLst/>
          </a:prstGeom>
          <a:solidFill>
            <a:srgbClr val="205291"/>
          </a:solidFill>
          <a:ln>
            <a:solidFill>
              <a:srgbClr val="20529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3" name="矩形 92">
            <a:extLst>
              <a:ext uri="{FF2B5EF4-FFF2-40B4-BE49-F238E27FC236}">
                <a16:creationId xmlns:a16="http://schemas.microsoft.com/office/drawing/2014/main" id="{1C85157A-09AE-2AFD-D14E-9ABB009B8C5C}"/>
              </a:ext>
            </a:extLst>
          </p:cNvPr>
          <p:cNvSpPr/>
          <p:nvPr/>
        </p:nvSpPr>
        <p:spPr>
          <a:xfrm>
            <a:off x="1143000" y="5588000"/>
            <a:ext cx="9906000" cy="5080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700" b="1">
                <a:solidFill>
                  <a:srgbClr val="00285F"/>
                </a:solidFill>
                <a:latin typeface="Microsoft YaHei" panose="020B0503020204020204" pitchFamily="34" charset="-122"/>
              </a:rPr>
              <a:t>近期完成开题与平台补齐，中期集中做训练消融，后期整理论文并补充实验。</a:t>
            </a:r>
          </a:p>
        </p:txBody>
      </p:sp>
    </p:spTree>
    <p:extLst>
      <p:ext uri="{BB962C8B-B14F-4D97-AF65-F5344CB8AC3E}">
        <p14:creationId xmlns:p14="http://schemas.microsoft.com/office/powerpoint/2010/main" val="176234099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795727-EB63-8B05-C0BA-FC16CEA965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文本框 89">
            <a:extLst>
              <a:ext uri="{FF2B5EF4-FFF2-40B4-BE49-F238E27FC236}">
                <a16:creationId xmlns:a16="http://schemas.microsoft.com/office/drawing/2014/main" id="{746D9152-48D3-E0A8-3FF3-2116404376ED}"/>
              </a:ext>
            </a:extLst>
          </p:cNvPr>
          <p:cNvSpPr txBox="1"/>
          <p:nvPr/>
        </p:nvSpPr>
        <p:spPr>
          <a:xfrm>
            <a:off x="115452" y="243436"/>
            <a:ext cx="7729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chemeClr val="bg1"/>
                </a:solidFill>
              </a:rPr>
              <a:t>03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BF154AD5-A70A-1962-3AC7-43543A030B62}"/>
              </a:ext>
            </a:extLst>
          </p:cNvPr>
          <p:cNvSpPr txBox="1"/>
          <p:nvPr/>
        </p:nvSpPr>
        <p:spPr>
          <a:xfrm>
            <a:off x="946460" y="269201"/>
            <a:ext cx="7626039" cy="5693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100" b="1">
                <a:solidFill>
                  <a:srgbClr val="00285F"/>
                </a:solidFill>
                <a:latin typeface="Microsoft YaHei" panose="020B0503020204020204" pitchFamily="34" charset="-122"/>
              </a:rPr>
              <a:t>风险与应对</a:t>
            </a:r>
            <a:endParaRPr lang="zh-CN" altLang="en-US" sz="3100" b="1" dirty="0">
              <a:solidFill>
                <a:srgbClr val="00285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4" name="任意多边形: 形状 93">
            <a:extLst>
              <a:ext uri="{FF2B5EF4-FFF2-40B4-BE49-F238E27FC236}">
                <a16:creationId xmlns:a16="http://schemas.microsoft.com/office/drawing/2014/main" id="{AF1BF063-7278-CF65-8ADD-CE545C77BE17}"/>
              </a:ext>
            </a:extLst>
          </p:cNvPr>
          <p:cNvSpPr/>
          <p:nvPr/>
        </p:nvSpPr>
        <p:spPr>
          <a:xfrm rot="5400000">
            <a:off x="5590187" y="-4418609"/>
            <a:ext cx="1011626" cy="12192000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2">
                  <a:lumMod val="75000"/>
                </a:schemeClr>
              </a:gs>
            </a:gsLst>
            <a:lin ang="5400000" scaled="1"/>
          </a:gradFill>
          <a:ln w="19050" cap="flat" cmpd="sng" algn="ctr">
            <a:noFill/>
            <a:prstDash val="solid"/>
            <a:miter lim="800000"/>
          </a:ln>
          <a:effectLst>
            <a:outerShdw blurRad="152400" dist="190500" dir="13500000" algn="ctr" rotWithShape="0">
              <a:sysClr val="window" lastClr="FFFFFF">
                <a:alpha val="29000"/>
              </a:sys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84609D6D-BB21-4B99-B338-E61C76AC82C9}"/>
              </a:ext>
            </a:extLst>
          </p:cNvPr>
          <p:cNvSpPr/>
          <p:nvPr/>
        </p:nvSpPr>
        <p:spPr>
          <a:xfrm>
            <a:off x="0" y="1651000"/>
            <a:ext cx="12192000" cy="520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DF627D15-2B0B-0C32-386F-4830E9A0ADF3}"/>
              </a:ext>
            </a:extLst>
          </p:cNvPr>
          <p:cNvSpPr/>
          <p:nvPr/>
        </p:nvSpPr>
        <p:spPr>
          <a:xfrm>
            <a:off x="431800" y="1168400"/>
            <a:ext cx="11303000" cy="5080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主要风险来自训练质量、算力约束、多专家效果和校验标定复杂度。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1B8414AB-97AA-1825-21B4-6BF7AD172C2B}"/>
              </a:ext>
            </a:extLst>
          </p:cNvPr>
          <p:cNvSpPr/>
          <p:nvPr/>
        </p:nvSpPr>
        <p:spPr>
          <a:xfrm>
            <a:off x="889000" y="1905000"/>
            <a:ext cx="2413000" cy="6096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训练质量未知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09A3F44B-4BBC-5214-C5CD-44FBB5846081}"/>
              </a:ext>
            </a:extLst>
          </p:cNvPr>
          <p:cNvSpPr/>
          <p:nvPr/>
        </p:nvSpPr>
        <p:spPr>
          <a:xfrm>
            <a:off x="3619500" y="1905000"/>
            <a:ext cx="7493000" cy="6096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700">
                <a:solidFill>
                  <a:srgbClr val="00285F"/>
                </a:solidFill>
                <a:latin typeface="Microsoft YaHei" panose="020B0503020204020204" pitchFamily="34" charset="-122"/>
              </a:rPr>
              <a:t>消融实验逐步推进，每一步保留独立结论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A705C9A9-9841-DB76-CF57-04F19C8746AB}"/>
              </a:ext>
            </a:extLst>
          </p:cNvPr>
          <p:cNvSpPr/>
          <p:nvPr/>
        </p:nvSpPr>
        <p:spPr>
          <a:xfrm>
            <a:off x="889000" y="2768600"/>
            <a:ext cx="2413000" cy="6096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GPU </a:t>
            </a:r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算力限制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6044D800-588C-B0DF-68CB-8A64552DCC30}"/>
              </a:ext>
            </a:extLst>
          </p:cNvPr>
          <p:cNvSpPr/>
          <p:nvPr/>
        </p:nvSpPr>
        <p:spPr>
          <a:xfrm>
            <a:off x="3619500" y="2768600"/>
            <a:ext cx="7493000" cy="6096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700">
                <a:solidFill>
                  <a:srgbClr val="00285F"/>
                </a:solidFill>
                <a:latin typeface="Microsoft YaHei" panose="020B0503020204020204" pitchFamily="34" charset="-122"/>
              </a:rPr>
              <a:t>优先小规模验证，按阶段逐步扩展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2C4B2800-5957-3BEB-8B28-1F1BEB4DD444}"/>
              </a:ext>
            </a:extLst>
          </p:cNvPr>
          <p:cNvSpPr/>
          <p:nvPr/>
        </p:nvSpPr>
        <p:spPr>
          <a:xfrm>
            <a:off x="889000" y="3632200"/>
            <a:ext cx="2413000" cy="6096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多专家收益不稳定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23A98C78-8D27-10CC-652D-95B1139F3633}"/>
              </a:ext>
            </a:extLst>
          </p:cNvPr>
          <p:cNvSpPr/>
          <p:nvPr/>
        </p:nvSpPr>
        <p:spPr>
          <a:xfrm>
            <a:off x="3619500" y="3632200"/>
            <a:ext cx="7493000" cy="6096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700">
                <a:solidFill>
                  <a:srgbClr val="00285F"/>
                </a:solidFill>
                <a:latin typeface="Microsoft YaHei" panose="020B0503020204020204" pitchFamily="34" charset="-122"/>
              </a:rPr>
              <a:t>保留单模型 </a:t>
            </a:r>
            <a:r>
              <a:rPr lang="en-US" altLang="zh-CN" sz="1700">
                <a:solidFill>
                  <a:srgbClr val="00285F"/>
                </a:solidFill>
                <a:latin typeface="Microsoft YaHei" panose="020B0503020204020204" pitchFamily="34" charset="-122"/>
              </a:rPr>
              <a:t>baseline </a:t>
            </a:r>
            <a:r>
              <a:rPr lang="zh-CN" altLang="en-US" sz="1700">
                <a:solidFill>
                  <a:srgbClr val="00285F"/>
                </a:solidFill>
                <a:latin typeface="Microsoft YaHei" panose="020B0503020204020204" pitchFamily="34" charset="-122"/>
              </a:rPr>
              <a:t>作为对照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575B6BBC-D03B-362A-6853-6CFB6D70A3CC}"/>
              </a:ext>
            </a:extLst>
          </p:cNvPr>
          <p:cNvSpPr/>
          <p:nvPr/>
        </p:nvSpPr>
        <p:spPr>
          <a:xfrm>
            <a:off x="889000" y="4495800"/>
            <a:ext cx="2413000" cy="6096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阈值标定复杂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F5A5627D-44F3-6D2C-8DB1-D028DB909129}"/>
              </a:ext>
            </a:extLst>
          </p:cNvPr>
          <p:cNvSpPr/>
          <p:nvPr/>
        </p:nvSpPr>
        <p:spPr>
          <a:xfrm>
            <a:off x="3619500" y="4495800"/>
            <a:ext cx="7493000" cy="6096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700">
                <a:solidFill>
                  <a:srgbClr val="00285F"/>
                </a:solidFill>
                <a:latin typeface="Microsoft YaHei" panose="020B0503020204020204" pitchFamily="34" charset="-122"/>
              </a:rPr>
              <a:t>先标定主要失败模式，再逐步扩展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950AD122-7150-F2AC-84E5-D9DA6293A3BC}"/>
              </a:ext>
            </a:extLst>
          </p:cNvPr>
          <p:cNvSpPr/>
          <p:nvPr/>
        </p:nvSpPr>
        <p:spPr>
          <a:xfrm>
            <a:off x="1460500" y="5461000"/>
            <a:ext cx="9271000" cy="4826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700" b="1">
                <a:solidFill>
                  <a:srgbClr val="FFFFFF"/>
                </a:solidFill>
                <a:latin typeface="Microsoft YaHei" panose="020B0503020204020204" pitchFamily="34" charset="-122"/>
              </a:rPr>
              <a:t>后续按优先级推进，确保每个阶段都有可复核产出。</a:t>
            </a:r>
          </a:p>
        </p:txBody>
      </p:sp>
    </p:spTree>
    <p:extLst>
      <p:ext uri="{BB962C8B-B14F-4D97-AF65-F5344CB8AC3E}">
        <p14:creationId xmlns:p14="http://schemas.microsoft.com/office/powerpoint/2010/main" val="56325554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248A6D-C6EE-964D-6C1A-BE3EC5A39D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 descr="蓝色的火车在站台旁&#10;&#10;描述已自动生成">
            <a:extLst>
              <a:ext uri="{FF2B5EF4-FFF2-40B4-BE49-F238E27FC236}">
                <a16:creationId xmlns:a16="http://schemas.microsoft.com/office/drawing/2014/main" id="{47CB2ABF-6C6A-A145-CBD3-5D4863BE40CD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51" b="33391"/>
          <a:stretch/>
        </p:blipFill>
        <p:spPr>
          <a:xfrm>
            <a:off x="567" y="1099270"/>
            <a:ext cx="12190866" cy="4060213"/>
          </a:xfrm>
          <a:prstGeom prst="rect">
            <a:avLst/>
          </a:prstGeom>
        </p:spPr>
      </p:pic>
      <p:sp>
        <p:nvSpPr>
          <p:cNvPr id="12" name="矩形 11">
            <a:extLst>
              <a:ext uri="{FF2B5EF4-FFF2-40B4-BE49-F238E27FC236}">
                <a16:creationId xmlns:a16="http://schemas.microsoft.com/office/drawing/2014/main" id="{6DAA6598-060B-09AF-69C5-C131F0EE830A}"/>
              </a:ext>
            </a:extLst>
          </p:cNvPr>
          <p:cNvSpPr/>
          <p:nvPr/>
        </p:nvSpPr>
        <p:spPr>
          <a:xfrm>
            <a:off x="9859" y="-1"/>
            <a:ext cx="12191999" cy="5159483"/>
          </a:xfrm>
          <a:prstGeom prst="rect">
            <a:avLst/>
          </a:prstGeom>
          <a:gradFill flip="none" rotWithShape="1">
            <a:gsLst>
              <a:gs pos="49000">
                <a:schemeClr val="bg1"/>
              </a:gs>
              <a:gs pos="100000">
                <a:schemeClr val="accent3">
                  <a:alpha val="20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>
              <a:defRPr/>
            </a:pPr>
            <a:endParaRPr lang="zh-CN" altLang="en-US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8B7BF0E7-40A8-7FA0-2CDB-5543790FC811}"/>
              </a:ext>
            </a:extLst>
          </p:cNvPr>
          <p:cNvGrpSpPr/>
          <p:nvPr/>
        </p:nvGrpSpPr>
        <p:grpSpPr>
          <a:xfrm>
            <a:off x="9859" y="1239674"/>
            <a:ext cx="12172282" cy="2928257"/>
            <a:chOff x="442611" y="2016251"/>
            <a:chExt cx="10694619" cy="2228850"/>
          </a:xfrm>
          <a:gradFill>
            <a:gsLst>
              <a:gs pos="0">
                <a:schemeClr val="bg1">
                  <a:alpha val="0"/>
                </a:schemeClr>
              </a:gs>
              <a:gs pos="50000">
                <a:schemeClr val="bg1">
                  <a:lumMod val="95000"/>
                </a:schemeClr>
              </a:gs>
              <a:gs pos="100000">
                <a:schemeClr val="bg1">
                  <a:alpha val="0"/>
                </a:schemeClr>
              </a:gs>
            </a:gsLst>
            <a:lin ang="0" scaled="1"/>
          </a:gradFill>
        </p:grpSpPr>
        <p:grpSp>
          <p:nvGrpSpPr>
            <p:cNvPr id="14" name="组合 13">
              <a:extLst>
                <a:ext uri="{FF2B5EF4-FFF2-40B4-BE49-F238E27FC236}">
                  <a16:creationId xmlns:a16="http://schemas.microsoft.com/office/drawing/2014/main" id="{F970E494-61EE-587D-4574-8858E921DFBB}"/>
                </a:ext>
              </a:extLst>
            </p:cNvPr>
            <p:cNvGrpSpPr/>
            <p:nvPr/>
          </p:nvGrpSpPr>
          <p:grpSpPr>
            <a:xfrm>
              <a:off x="442611" y="2016251"/>
              <a:ext cx="10694619" cy="2228849"/>
              <a:chOff x="442611" y="2016251"/>
              <a:chExt cx="10694619" cy="2228849"/>
            </a:xfrm>
            <a:grpFill/>
          </p:grpSpPr>
          <p:sp>
            <p:nvSpPr>
              <p:cNvPr id="16" name="矩形 15">
                <a:extLst>
                  <a:ext uri="{FF2B5EF4-FFF2-40B4-BE49-F238E27FC236}">
                    <a16:creationId xmlns:a16="http://schemas.microsoft.com/office/drawing/2014/main" id="{4B88A2BA-CB61-B07D-37EF-4D0FB144C24D}"/>
                  </a:ext>
                </a:extLst>
              </p:cNvPr>
              <p:cNvSpPr/>
              <p:nvPr/>
            </p:nvSpPr>
            <p:spPr>
              <a:xfrm>
                <a:off x="442611" y="2016251"/>
                <a:ext cx="10694619" cy="2228849"/>
              </a:xfrm>
              <a:prstGeom prst="rect">
                <a:avLst/>
              </a:prstGeom>
              <a:grpFill/>
              <a:ln w="9525">
                <a:noFill/>
              </a:ln>
              <a:effectLst>
                <a:outerShdw blurRad="190500" dist="38100" dir="5400000" algn="t" rotWithShape="0">
                  <a:schemeClr val="bg1">
                    <a:lumMod val="75000"/>
                    <a:alpha val="17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>
                  <a:lnSpc>
                    <a:spcPct val="150000"/>
                  </a:lnSpc>
                  <a:defRPr/>
                </a:pPr>
                <a:endParaRPr lang="zh-CN" altLang="en-US" sz="1200" b="1" dirty="0">
                  <a:solidFill>
                    <a:srgbClr val="03654E"/>
                  </a:solidFill>
                </a:endParaRPr>
              </a:p>
            </p:txBody>
          </p:sp>
          <p:cxnSp>
            <p:nvCxnSpPr>
              <p:cNvPr id="17" name="直接连接符 16">
                <a:extLst>
                  <a:ext uri="{FF2B5EF4-FFF2-40B4-BE49-F238E27FC236}">
                    <a16:creationId xmlns:a16="http://schemas.microsoft.com/office/drawing/2014/main" id="{158E00CD-2609-D798-C0FA-987A012BEC4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049461" y="2016251"/>
                <a:ext cx="8093075" cy="0"/>
              </a:xfrm>
              <a:prstGeom prst="line">
                <a:avLst/>
              </a:prstGeom>
              <a:grpFill/>
              <a:ln w="12700">
                <a:gradFill flip="none" rotWithShape="1">
                  <a:gsLst>
                    <a:gs pos="0">
                      <a:schemeClr val="accent6">
                        <a:alpha val="0"/>
                      </a:schemeClr>
                    </a:gs>
                    <a:gs pos="50000">
                      <a:schemeClr val="accent6"/>
                    </a:gs>
                    <a:gs pos="100000">
                      <a:schemeClr val="accent6">
                        <a:alpha val="0"/>
                      </a:schemeClr>
                    </a:gs>
                  </a:gsLst>
                  <a:lin ang="0" scaled="1"/>
                  <a:tileRect/>
                </a:gradFill>
              </a:ln>
              <a:effectLst>
                <a:outerShdw blurRad="50800" dist="38100" dir="7200000" algn="t" rotWithShape="0">
                  <a:schemeClr val="bg1">
                    <a:lumMod val="65000"/>
                    <a:alpha val="42000"/>
                  </a:schemeClr>
                </a:outerShdw>
              </a:effec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5" name="直接连接符 14">
              <a:extLst>
                <a:ext uri="{FF2B5EF4-FFF2-40B4-BE49-F238E27FC236}">
                  <a16:creationId xmlns:a16="http://schemas.microsoft.com/office/drawing/2014/main" id="{9A5C04A5-7A49-3B7C-BC7F-3E42593659C0}"/>
                </a:ext>
              </a:extLst>
            </p:cNvPr>
            <p:cNvCxnSpPr>
              <a:cxnSpLocks/>
            </p:cNvCxnSpPr>
            <p:nvPr/>
          </p:nvCxnSpPr>
          <p:spPr>
            <a:xfrm>
              <a:off x="2049461" y="4245101"/>
              <a:ext cx="8093075" cy="0"/>
            </a:xfrm>
            <a:prstGeom prst="line">
              <a:avLst/>
            </a:prstGeom>
            <a:grpFill/>
            <a:ln w="12700">
              <a:gradFill flip="none" rotWithShape="1">
                <a:gsLst>
                  <a:gs pos="0">
                    <a:schemeClr val="accent6">
                      <a:alpha val="0"/>
                    </a:schemeClr>
                  </a:gs>
                  <a:gs pos="50000">
                    <a:schemeClr val="accent6"/>
                  </a:gs>
                  <a:gs pos="100000">
                    <a:schemeClr val="accent6">
                      <a:alpha val="0"/>
                    </a:schemeClr>
                  </a:gs>
                </a:gsLst>
                <a:lin ang="0" scaled="1"/>
                <a:tileRect/>
              </a:gradFill>
            </a:ln>
            <a:effectLst>
              <a:outerShdw blurRad="50800" dist="38100" dir="7200000" algn="t" rotWithShape="0">
                <a:schemeClr val="bg1">
                  <a:lumMod val="85000"/>
                  <a:alpha val="42000"/>
                </a:scheme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文本框 1">
            <a:extLst>
              <a:ext uri="{FF2B5EF4-FFF2-40B4-BE49-F238E27FC236}">
                <a16:creationId xmlns:a16="http://schemas.microsoft.com/office/drawing/2014/main" id="{A88CC83B-3930-EC30-7D36-3B736667F610}"/>
              </a:ext>
            </a:extLst>
          </p:cNvPr>
          <p:cNvSpPr txBox="1"/>
          <p:nvPr/>
        </p:nvSpPr>
        <p:spPr>
          <a:xfrm>
            <a:off x="0" y="1366919"/>
            <a:ext cx="12192000" cy="13463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500"/>
              </a:lnSpc>
              <a:defRPr/>
            </a:pPr>
            <a:endParaRPr lang="zh-CN" altLang="en-US" sz="800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任意多边形: 形状 5">
            <a:extLst>
              <a:ext uri="{FF2B5EF4-FFF2-40B4-BE49-F238E27FC236}">
                <a16:creationId xmlns:a16="http://schemas.microsoft.com/office/drawing/2014/main" id="{AD3FB004-3B93-3E9F-C7A6-53529A5C2DC6}"/>
              </a:ext>
            </a:extLst>
          </p:cNvPr>
          <p:cNvSpPr/>
          <p:nvPr/>
        </p:nvSpPr>
        <p:spPr>
          <a:xfrm>
            <a:off x="2614943" y="-5733"/>
            <a:ext cx="6962115" cy="493598"/>
          </a:xfrm>
          <a:custGeom>
            <a:avLst/>
            <a:gdLst>
              <a:gd name="connsiteX0" fmla="*/ 0 w 8717654"/>
              <a:gd name="connsiteY0" fmla="*/ 0 h 562725"/>
              <a:gd name="connsiteX1" fmla="*/ 1155700 w 8717654"/>
              <a:gd name="connsiteY1" fmla="*/ 0 h 562725"/>
              <a:gd name="connsiteX2" fmla="*/ 7561954 w 8717654"/>
              <a:gd name="connsiteY2" fmla="*/ 0 h 562725"/>
              <a:gd name="connsiteX3" fmla="*/ 8717654 w 8717654"/>
              <a:gd name="connsiteY3" fmla="*/ 0 h 562725"/>
              <a:gd name="connsiteX4" fmla="*/ 8717381 w 8717654"/>
              <a:gd name="connsiteY4" fmla="*/ 1022 h 562725"/>
              <a:gd name="connsiteX5" fmla="*/ 8441286 w 8717654"/>
              <a:gd name="connsiteY5" fmla="*/ 521969 h 562725"/>
              <a:gd name="connsiteX6" fmla="*/ 8383695 w 8717654"/>
              <a:gd name="connsiteY6" fmla="*/ 562725 h 562725"/>
              <a:gd name="connsiteX7" fmla="*/ 7227995 w 8717654"/>
              <a:gd name="connsiteY7" fmla="*/ 562725 h 562725"/>
              <a:gd name="connsiteX8" fmla="*/ 1489659 w 8717654"/>
              <a:gd name="connsiteY8" fmla="*/ 562725 h 562725"/>
              <a:gd name="connsiteX9" fmla="*/ 333959 w 8717654"/>
              <a:gd name="connsiteY9" fmla="*/ 562725 h 562725"/>
              <a:gd name="connsiteX10" fmla="*/ 276368 w 8717654"/>
              <a:gd name="connsiteY10" fmla="*/ 521969 h 562725"/>
              <a:gd name="connsiteX11" fmla="*/ 273 w 8717654"/>
              <a:gd name="connsiteY11" fmla="*/ 1022 h 56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8717654" h="562725">
                <a:moveTo>
                  <a:pt x="0" y="0"/>
                </a:moveTo>
                <a:lnTo>
                  <a:pt x="1155700" y="0"/>
                </a:lnTo>
                <a:lnTo>
                  <a:pt x="7561954" y="0"/>
                </a:lnTo>
                <a:lnTo>
                  <a:pt x="8717654" y="0"/>
                </a:lnTo>
                <a:lnTo>
                  <a:pt x="8717381" y="1022"/>
                </a:lnTo>
                <a:lnTo>
                  <a:pt x="8441286" y="521969"/>
                </a:lnTo>
                <a:cubicBezTo>
                  <a:pt x="8427678" y="547645"/>
                  <a:pt x="8406370" y="562725"/>
                  <a:pt x="8383695" y="562725"/>
                </a:cubicBezTo>
                <a:lnTo>
                  <a:pt x="7227995" y="562725"/>
                </a:lnTo>
                <a:lnTo>
                  <a:pt x="1489659" y="562725"/>
                </a:lnTo>
                <a:lnTo>
                  <a:pt x="333959" y="562725"/>
                </a:lnTo>
                <a:cubicBezTo>
                  <a:pt x="311285" y="562725"/>
                  <a:pt x="289976" y="547645"/>
                  <a:pt x="276368" y="521969"/>
                </a:cubicBezTo>
                <a:lnTo>
                  <a:pt x="273" y="1022"/>
                </a:lnTo>
                <a:close/>
              </a:path>
            </a:pathLst>
          </a:custGeom>
          <a:solidFill>
            <a:schemeClr val="accent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600" b="0" i="0" u="none" strike="noStrike" kern="0" cap="none" spc="0" normalizeH="0" baseline="0" noProof="0" dirty="0">
              <a:ln>
                <a:noFill/>
              </a:ln>
              <a:solidFill>
                <a:srgbClr val="0C56A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4903C5D8-B02C-615F-5E7C-1D735477DD28}"/>
              </a:ext>
            </a:extLst>
          </p:cNvPr>
          <p:cNvSpPr txBox="1"/>
          <p:nvPr/>
        </p:nvSpPr>
        <p:spPr>
          <a:xfrm>
            <a:off x="6003634" y="10234"/>
            <a:ext cx="184731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endParaRPr lang="zh-CN" altLang="en-US" sz="240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82FF6B3-E791-92AE-46CC-5FB429465CB0}"/>
              </a:ext>
            </a:extLst>
          </p:cNvPr>
          <p:cNvSpPr/>
          <p:nvPr/>
        </p:nvSpPr>
        <p:spPr>
          <a:xfrm>
            <a:off x="0" y="6632574"/>
            <a:ext cx="12192000" cy="234477"/>
          </a:xfrm>
          <a:prstGeom prst="rect">
            <a:avLst/>
          </a:prstGeom>
          <a:solidFill>
            <a:schemeClr val="accent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BB1EDB7-90B4-12FF-7168-DD60F0ED51AC}"/>
              </a:ext>
            </a:extLst>
          </p:cNvPr>
          <p:cNvSpPr/>
          <p:nvPr/>
        </p:nvSpPr>
        <p:spPr>
          <a:xfrm>
            <a:off x="1143000" y="1638106"/>
            <a:ext cx="9906000" cy="134639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3400" b="1" dirty="0">
                <a:solidFill>
                  <a:srgbClr val="00468E"/>
                </a:solidFill>
                <a:latin typeface="Microsoft YaHei" panose="020B0503020204020204" pitchFamily="34" charset="-122"/>
              </a:rPr>
              <a:t>
敬请批评指正！</a:t>
            </a:r>
          </a:p>
          <a:p>
            <a:pPr algn="ctr"/>
            <a:endParaRPr lang="zh-CN" altLang="en-US" sz="3400" b="1" dirty="0">
              <a:solidFill>
                <a:srgbClr val="00468E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0B564CBD-0E78-458F-E156-E452B5FAF8DB}"/>
              </a:ext>
            </a:extLst>
          </p:cNvPr>
          <p:cNvSpPr/>
          <p:nvPr/>
        </p:nvSpPr>
        <p:spPr>
          <a:xfrm>
            <a:off x="1905000" y="3492500"/>
            <a:ext cx="838200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b="1" dirty="0">
                <a:solidFill>
                  <a:srgbClr val="081830"/>
                </a:solidFill>
                <a:latin typeface="Microsoft YaHei" panose="020B0503020204020204" pitchFamily="34" charset="-122"/>
              </a:rPr>
              <a:t>本课题从 </a:t>
            </a:r>
            <a:r>
              <a:rPr lang="en-US" altLang="zh-CN" b="1" dirty="0">
                <a:solidFill>
                  <a:srgbClr val="081830"/>
                </a:solidFill>
                <a:latin typeface="Microsoft YaHei" panose="020B0503020204020204" pitchFamily="34" charset="-122"/>
              </a:rPr>
              <a:t>3R </a:t>
            </a:r>
            <a:r>
              <a:rPr lang="zh-CN" altLang="en-US" b="1" dirty="0">
                <a:solidFill>
                  <a:srgbClr val="081830"/>
                </a:solidFill>
                <a:latin typeface="Microsoft YaHei" panose="020B0503020204020204" pitchFamily="34" charset="-122"/>
              </a:rPr>
              <a:t>模型的优势出发，针对长序列漂移、缺乏校验和单模型局限三个问题，设计融合空间记忆、几何校验和多专家编排的新型架构。
同时开发聚合管理平台，支撑多模型对比实验和后续架构评测。</a:t>
            </a:r>
          </a:p>
        </p:txBody>
      </p:sp>
    </p:spTree>
    <p:extLst>
      <p:ext uri="{BB962C8B-B14F-4D97-AF65-F5344CB8AC3E}">
        <p14:creationId xmlns:p14="http://schemas.microsoft.com/office/powerpoint/2010/main" val="19297125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1633</Words>
  <Application>Microsoft Office PowerPoint</Application>
  <PresentationFormat>宽屏</PresentationFormat>
  <Paragraphs>219</Paragraphs>
  <Slides>24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24</vt:i4>
      </vt:variant>
    </vt:vector>
  </HeadingPairs>
  <TitlesOfParts>
    <vt:vector size="30" baseType="lpstr">
      <vt:lpstr>等线</vt:lpstr>
      <vt:lpstr>等线 Light</vt:lpstr>
      <vt:lpstr>Microsoft YaHei</vt:lpstr>
      <vt:lpstr>Microsoft YaHei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Xe L</dc:creator>
  <cp:lastModifiedBy>Xe L</cp:lastModifiedBy>
  <cp:revision>2</cp:revision>
  <dcterms:created xsi:type="dcterms:W3CDTF">2026-05-18T03:21:27Z</dcterms:created>
  <dcterms:modified xsi:type="dcterms:W3CDTF">2026-05-18T03:25:21Z</dcterms:modified>
</cp:coreProperties>
</file>