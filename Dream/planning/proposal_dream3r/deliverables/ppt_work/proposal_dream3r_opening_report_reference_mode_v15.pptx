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327" r:id="rId4"/>
    <p:sldId id="281" r:id="rId5"/>
    <p:sldId id="307" r:id="rId6"/>
    <p:sldId id="328" r:id="rId7"/>
    <p:sldId id="29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23" r:id="rId17"/>
    <p:sldId id="337" r:id="rId18"/>
    <p:sldId id="338" r:id="rId19"/>
    <p:sldId id="339" r:id="rId20"/>
    <p:sldId id="340" r:id="rId21"/>
    <p:sldId id="341" r:id="rId22"/>
    <p:sldId id="269" r:id="rId23"/>
    <p:sldId id="342" r:id="rId24"/>
    <p:sldId id="29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A0231-5C94-72E4-70D8-888F4191A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751A353-17EC-3BB1-2334-DDD9ABC50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035584-E8C1-E0A6-69F8-BAFE096A8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9D189-50B8-449C-97F2-3DC493D1C6A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E2D395-CEC1-ECFF-7049-3E81848DD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415100-12C4-8FAB-9C5B-3C2D89AC8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3625-DFF5-4913-B404-96C7D9ED17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011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8989A-18C1-E0B8-D521-B48D47C7B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33FA00-445F-D385-340A-7F93C6927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D43801-555C-B2D5-B0F1-F94D0A1C8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9D189-50B8-449C-97F2-3DC493D1C6A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FBC35A-DBEB-7A9A-F401-B890705A4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B55AA3-A320-1E72-87C1-E79E8414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3625-DFF5-4913-B404-96C7D9ED17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539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75BBA-E66A-FFAF-C7CE-05E6CD0D4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849E63-F5FA-FA05-3C08-CF64EE752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3F5DAB-63CB-0FE9-57E7-172C5E75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9D189-50B8-449C-97F2-3DC493D1C6A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83F588-A452-DF22-A191-CC801CEAB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17F121-8EE0-683A-C122-5378FA259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3625-DFF5-4913-B404-96C7D9ED17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82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1AF4E-52B6-28BA-16DC-489EC6361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893427-9896-5B9F-A1C1-1FC5155036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D80B8E-AA51-8917-DD6D-F8F1787C1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A3D6EA-66E7-42FA-B630-6F1F52FF8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9D189-50B8-449C-97F2-3DC493D1C6A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33C157-5F02-CAC0-7CA8-3627199D6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3D0070-10A4-767F-AB43-8D6B20DA8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3625-DFF5-4913-B404-96C7D9ED17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677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EB64D-F108-7E22-E727-08519451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2B7AAB-95F1-3C34-D9C1-DEB994043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11857D-A1E8-C325-474B-A9EAA423D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2203DD-AB25-277C-6113-D99D2DC30A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DA1AF2-D574-8246-53F6-2635274D1B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A3E9573-B049-FF5C-1782-22EE5BEE2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9D189-50B8-449C-97F2-3DC493D1C6A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03F597-AC69-BDBC-0304-80F570161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63B9C44-3F80-5DD6-D0D9-AC2A8FD5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3625-DFF5-4913-B404-96C7D9ED17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86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0B975B-7893-0FAD-B911-438472D0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AE980A-DE93-CF7D-2D61-961219475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9D189-50B8-449C-97F2-3DC493D1C6A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0C1CD5C-8430-02C5-CA10-C8FD0286F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620DD5-67DD-07C2-2096-03178987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3625-DFF5-4913-B404-96C7D9ED17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5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88F86A-F6A7-5F80-A25E-AA2AED995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9D189-50B8-449C-97F2-3DC493D1C6A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B52989D-C9A1-8946-0652-C1D536ACA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9C3AE3-1863-E409-52E1-96C65FC3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3625-DFF5-4913-B404-96C7D9ED17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784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A39992-2FE7-C7A6-8D98-B61E69DA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82405B-1B7D-62C9-F6DD-19423A5A4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FC59DF-1148-CF17-B10B-301B7E077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5DC6AF-CF31-591D-6C7F-67C424B68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9D189-50B8-449C-97F2-3DC493D1C6A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5DE8FE-7B47-994F-643D-641A9B985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4C68C1-6808-528F-95C8-4E4ECA79D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3625-DFF5-4913-B404-96C7D9ED17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48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680B2-668D-30B7-73AD-F10C9E2B6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EE4B2D-C214-386C-9FE7-E9F921708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52095B-24F5-518A-1896-FF83889DB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792B54-7A2D-6D15-2114-4FADC676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9D189-50B8-449C-97F2-3DC493D1C6A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B4F357-BB9F-4CB2-492D-A08707BB2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9EAD39-65F1-501B-30E3-24A035113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3625-DFF5-4913-B404-96C7D9ED17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088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1EF94F-8D41-2DCF-DCC0-97A3974E6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B6EC3C-22FA-E97A-1C06-84B68716B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DB0C77-74D4-F0C6-4760-8378D096F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9D189-50B8-449C-97F2-3DC493D1C6A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80A0EB-D734-86F4-3720-8C618839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B14E42-1537-F56C-1FAB-01BFF351F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3625-DFF5-4913-B404-96C7D9ED17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24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432F93-05E9-A58B-A281-0A564FAFE4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02C486-5480-FFBA-594E-7BBE703BD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43FC1B-F18A-B809-D7A1-B3532F0B3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9D189-50B8-449C-97F2-3DC493D1C6A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DD503A-BD04-F22D-884B-CB857D8A6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324875-6103-8268-B005-DD79B27FA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73625-DFF5-4913-B404-96C7D9ED17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52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236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09A4465-FC51-2774-6C3C-60995E205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7591BA-FDCF-4528-818F-0965617F7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C18184-4D8E-DFE9-B16E-B679AB1AFA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9D189-50B8-449C-97F2-3DC493D1C6A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D05E46-10E6-3864-6520-105975F6A5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38C708-B6C2-25BE-2EE8-C2DEBE0D8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73625-DFF5-4913-B404-96C7D9ED17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31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新型架构设计与聚合管理平台</a:t>
            </a:r>
            <a:endParaRPr lang="zh-CN" alt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955943" y="4461337"/>
            <a:ext cx="10454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464784" y="10234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硕士学位论文开题报告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6" y="5238426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75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C9F74BA-6B2D-0CFA-20EF-BFA742712596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8FEAE3-1955-E971-263B-C7FBC1873887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F6C9AB9-D27D-0202-6FB1-7BA4B878443E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B175DDAB-BA4E-7AE7-F8E6-9604074456C8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4554D8-80EB-3515-1180-DE5FE16C6A29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79FC280-8A33-E16E-EBFB-32E5296F079A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4A01F75-E969-65FA-53E0-9D26B82C2415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C85A11-B825-6362-58AC-41C31E3E8611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FC6210-7D76-624B-B815-E3D0EFD058FE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19196F0-60B3-F947-F0D3-2B019F1EC402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BA18813-B441-B2F1-E463-718FB7CD70AE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架构设计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BADEE04-D963-8269-7450-912479A21E84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24BB6C4-696F-BCAE-18D6-9868EB6D9DB5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A1C1CC3-B1FF-3BD0-2B3E-3735566A53DA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2E07D13-4D77-0D34-3F12-1639BBF86305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D7B6DD0-0068-13FC-1464-E6CB7E57571A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7202AB0-1593-415B-6521-645686EB113D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FF3CE38-8CC0-4206-C7BD-1DE6BFC156A6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D1E0B78-20CC-AD87-9D5B-616E646CC9D1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3157255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三维重建与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模型的兴起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B95CFD-2186-C8D8-C604-72E8273464E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D8F035-685A-0FFC-1D7B-8971F27472D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将多步三维重建流程压缩为一次网络前向推理。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BBD0506-B5E7-ABC7-5B67-3DF04E8AB64E}"/>
              </a:ext>
            </a:extLst>
          </p:cNvPr>
          <p:cNvSpPr/>
          <p:nvPr/>
        </p:nvSpPr>
        <p:spPr>
          <a:xfrm>
            <a:off x="889000" y="2159000"/>
            <a:ext cx="330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传统三维重建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57784C6-B6A4-41D6-EA96-5B587F58053C}"/>
              </a:ext>
            </a:extLst>
          </p:cNvPr>
          <p:cNvSpPr/>
          <p:nvPr/>
        </p:nvSpPr>
        <p:spPr>
          <a:xfrm>
            <a:off x="889000" y="2616200"/>
            <a:ext cx="33020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特征提取
特征匹配
位姿估计
稠密重建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6CBEB000-5F28-38BB-0B85-0ED5F3067228}"/>
              </a:ext>
            </a:extLst>
          </p:cNvPr>
          <p:cNvSpPr/>
          <p:nvPr/>
        </p:nvSpPr>
        <p:spPr>
          <a:xfrm>
            <a:off x="4445000" y="2984500"/>
            <a:ext cx="609600" cy="3556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F81F419-7A51-A9BD-DA9E-7D3D4F344883}"/>
              </a:ext>
            </a:extLst>
          </p:cNvPr>
          <p:cNvSpPr/>
          <p:nvPr/>
        </p:nvSpPr>
        <p:spPr>
          <a:xfrm>
            <a:off x="5334000" y="2159000"/>
            <a:ext cx="3302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前馈式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3R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F5372EF-F0DD-4A8B-E909-5E1FFA608340}"/>
              </a:ext>
            </a:extLst>
          </p:cNvPr>
          <p:cNvSpPr/>
          <p:nvPr/>
        </p:nvSpPr>
        <p:spPr>
          <a:xfrm>
            <a:off x="5334000" y="2616200"/>
            <a:ext cx="33020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输入图像对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序列
一次前向推理
输出三维点图</a:t>
            </a: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37BD9F21-2ADE-083F-C75C-925DED4CFBB6}"/>
              </a:ext>
            </a:extLst>
          </p:cNvPr>
          <p:cNvSpPr/>
          <p:nvPr/>
        </p:nvSpPr>
        <p:spPr>
          <a:xfrm>
            <a:off x="8890000" y="2984500"/>
            <a:ext cx="609600" cy="3556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27338FA-8175-EC42-3C4D-0E6AA2EACBAF}"/>
              </a:ext>
            </a:extLst>
          </p:cNvPr>
          <p:cNvSpPr/>
          <p:nvPr/>
        </p:nvSpPr>
        <p:spPr>
          <a:xfrm>
            <a:off x="9652000" y="2159000"/>
            <a:ext cx="1651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代表起点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5B6E36D-7E38-D97B-E397-8DDB60973D93}"/>
              </a:ext>
            </a:extLst>
          </p:cNvPr>
          <p:cNvSpPr/>
          <p:nvPr/>
        </p:nvSpPr>
        <p:spPr>
          <a:xfrm>
            <a:off x="9652000" y="2616200"/>
            <a:ext cx="16510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DUSt3R
2024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后续快速发展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181A838-62DF-D369-E256-C2E7B1B0313C}"/>
              </a:ext>
            </a:extLst>
          </p:cNvPr>
          <p:cNvSpPr/>
          <p:nvPr/>
        </p:nvSpPr>
        <p:spPr>
          <a:xfrm>
            <a:off x="1079500" y="5016500"/>
            <a:ext cx="1003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前馈式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提供了新的重建入口，也带来了长序列和动态场景中的新问题。</a:t>
            </a:r>
          </a:p>
        </p:txBody>
      </p:sp>
    </p:spTree>
    <p:extLst>
      <p:ext uri="{BB962C8B-B14F-4D97-AF65-F5344CB8AC3E}">
        <p14:creationId xmlns:p14="http://schemas.microsoft.com/office/powerpoint/2010/main" val="1467423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模型的优势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C98887A-BA46-D385-2956-3F73DAD6BBB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74B9835-C70C-DD8A-5F11-F1994CB1165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模型的优势集中在速度、端到端学习、统一输出和特色机制。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1736FB3-60A6-5228-A7D1-C6CB465D1E8E}"/>
              </a:ext>
            </a:extLst>
          </p:cNvPr>
          <p:cNvSpPr/>
          <p:nvPr/>
        </p:nvSpPr>
        <p:spPr>
          <a:xfrm>
            <a:off x="762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速度快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C44D385-4B42-ABB7-7575-CE7B36B29D74}"/>
              </a:ext>
            </a:extLst>
          </p:cNvPr>
          <p:cNvSpPr/>
          <p:nvPr/>
        </p:nvSpPr>
        <p:spPr>
          <a:xfrm>
            <a:off x="762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单次前向
无需迭代优化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177A900-98AE-6A14-2F38-10D7E3B83EA1}"/>
              </a:ext>
            </a:extLst>
          </p:cNvPr>
          <p:cNvSpPr/>
          <p:nvPr/>
        </p:nvSpPr>
        <p:spPr>
          <a:xfrm>
            <a:off x="3556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端到端学习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C297F11-7F70-8817-7E74-66C91A1D9DA6}"/>
              </a:ext>
            </a:extLst>
          </p:cNvPr>
          <p:cNvSpPr/>
          <p:nvPr/>
        </p:nvSpPr>
        <p:spPr>
          <a:xfrm>
            <a:off x="3556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几何先验
隐式写入权重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28C2D4A-F7F0-23B0-E450-CABA3413B123}"/>
              </a:ext>
            </a:extLst>
          </p:cNvPr>
          <p:cNvSpPr/>
          <p:nvPr/>
        </p:nvSpPr>
        <p:spPr>
          <a:xfrm>
            <a:off x="6350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统一输出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E64E8C4-A832-D592-E461-39659BE76B2C}"/>
              </a:ext>
            </a:extLst>
          </p:cNvPr>
          <p:cNvSpPr/>
          <p:nvPr/>
        </p:nvSpPr>
        <p:spPr>
          <a:xfrm>
            <a:off x="6350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支持
深度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位姿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法线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EDC0C3D-B052-D4F6-2983-53C66780A17F}"/>
              </a:ext>
            </a:extLst>
          </p:cNvPr>
          <p:cNvSpPr/>
          <p:nvPr/>
        </p:nvSpPr>
        <p:spPr>
          <a:xfrm>
            <a:off x="9144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特色机制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AF2D261-865E-EB1F-6D15-B812C74493D2}"/>
              </a:ext>
            </a:extLst>
          </p:cNvPr>
          <p:cNvSpPr/>
          <p:nvPr/>
        </p:nvSpPr>
        <p:spPr>
          <a:xfrm>
            <a:off x="9144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记忆、递推
校验、匹配增强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92EBB31-2399-EDD6-CAF8-9BE16A2128C8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CUT3R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 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等工作提供了可借鉴的机制来源。</a:t>
            </a:r>
          </a:p>
        </p:txBody>
      </p:sp>
    </p:spTree>
    <p:extLst>
      <p:ext uri="{BB962C8B-B14F-4D97-AF65-F5344CB8AC3E}">
        <p14:creationId xmlns:p14="http://schemas.microsoft.com/office/powerpoint/2010/main" val="1359137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模型面临的共性缺陷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6EF569-F14F-B53D-297C-13F09AFB5BC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9D1ABE-F4EA-023D-BFDE-07982B2B035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现有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模型在长序列、动态场景、自检查和多模型协同方面仍有短板。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550EDE-D28E-D13F-A192-5E839A7F958E}"/>
              </a:ext>
            </a:extLst>
          </p:cNvPr>
          <p:cNvSpPr/>
          <p:nvPr/>
        </p:nvSpPr>
        <p:spPr>
          <a:xfrm>
            <a:off x="952500" y="1841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长序列漂移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281660-7C03-503D-CFCF-F268937098A6}"/>
              </a:ext>
            </a:extLst>
          </p:cNvPr>
          <p:cNvSpPr/>
          <p:nvPr/>
        </p:nvSpPr>
        <p:spPr>
          <a:xfrm>
            <a:off x="3302000" y="1841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视频长度增加后几何逐渐跑偏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CF6FA8B-8286-9E47-BB06-5EB01BEB27E7}"/>
              </a:ext>
            </a:extLst>
          </p:cNvPr>
          <p:cNvSpPr/>
          <p:nvPr/>
        </p:nvSpPr>
        <p:spPr>
          <a:xfrm>
            <a:off x="952500" y="2540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动态场景干扰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5D99AE-4FB7-1B28-24EB-0B62F4C6A65E}"/>
              </a:ext>
            </a:extLst>
          </p:cNvPr>
          <p:cNvSpPr/>
          <p:nvPr/>
        </p:nvSpPr>
        <p:spPr>
          <a:xfrm>
            <a:off x="3302000" y="2540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移动物体破坏静态重建假设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96D19D-173A-51E9-3CA8-6EAAF4330CB8}"/>
              </a:ext>
            </a:extLst>
          </p:cNvPr>
          <p:cNvSpPr/>
          <p:nvPr/>
        </p:nvSpPr>
        <p:spPr>
          <a:xfrm>
            <a:off x="952500" y="3238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缺乏自检查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D8A515-966F-C613-1FC9-CC9DBE31F962}"/>
              </a:ext>
            </a:extLst>
          </p:cNvPr>
          <p:cNvSpPr/>
          <p:nvPr/>
        </p:nvSpPr>
        <p:spPr>
          <a:xfrm>
            <a:off x="3302000" y="3238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结果错误难以及时发现和修复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4FB111-812D-5BCA-88FD-07D8A56EC036}"/>
              </a:ext>
            </a:extLst>
          </p:cNvPr>
          <p:cNvSpPr/>
          <p:nvPr/>
        </p:nvSpPr>
        <p:spPr>
          <a:xfrm>
            <a:off x="952500" y="3937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单模型上限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5BC161A-B612-7A9F-68FE-A34F3C70DC91}"/>
              </a:ext>
            </a:extLst>
          </p:cNvPr>
          <p:cNvSpPr/>
          <p:nvPr/>
        </p:nvSpPr>
        <p:spPr>
          <a:xfrm>
            <a:off x="3302000" y="3937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弱纹理、镜面、快速运动各有短板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10C23E0-218C-C435-5514-B02D70E0B37D}"/>
              </a:ext>
            </a:extLst>
          </p:cNvPr>
          <p:cNvSpPr/>
          <p:nvPr/>
        </p:nvSpPr>
        <p:spPr>
          <a:xfrm>
            <a:off x="952500" y="4635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模型之间孤立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BFFB401-2662-396C-8F09-89FEDFB792D2}"/>
              </a:ext>
            </a:extLst>
          </p:cNvPr>
          <p:cNvSpPr/>
          <p:nvPr/>
        </p:nvSpPr>
        <p:spPr>
          <a:xfrm>
            <a:off x="3302000" y="4635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缺少统一对比与组合框架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0E3D513-28E1-44DC-2384-DD91EB18E250}"/>
              </a:ext>
            </a:extLst>
          </p:cNvPr>
          <p:cNvSpPr/>
          <p:nvPr/>
        </p:nvSpPr>
        <p:spPr>
          <a:xfrm>
            <a:off x="1397000" y="5524500"/>
            <a:ext cx="9398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课题目标由这些短板自然引出：记忆、校验、多专家编排和统一平台。</a:t>
            </a:r>
          </a:p>
        </p:txBody>
      </p:sp>
    </p:spTree>
    <p:extLst>
      <p:ext uri="{BB962C8B-B14F-4D97-AF65-F5344CB8AC3E}">
        <p14:creationId xmlns:p14="http://schemas.microsoft.com/office/powerpoint/2010/main" val="4061315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设计思路：学习与补足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B3EE96-B7BE-48D6-A32D-34C0B789410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5DE3E4-88A8-DE02-1AAC-E3EE6F99C15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设计思路分为两步：提取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有效机制，再引入新方法补足短板。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0831CC-3522-666B-50C3-447093F9A031}"/>
              </a:ext>
            </a:extLst>
          </p:cNvPr>
          <p:cNvSpPr/>
          <p:nvPr/>
        </p:nvSpPr>
        <p:spPr>
          <a:xfrm>
            <a:off x="698500" y="2032000"/>
            <a:ext cx="4953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中学习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9CACF5-CE6A-755A-D68A-1B5CB2BEE710}"/>
              </a:ext>
            </a:extLst>
          </p:cNvPr>
          <p:cNvSpPr/>
          <p:nvPr/>
        </p:nvSpPr>
        <p:spPr>
          <a:xfrm>
            <a:off x="698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空间记忆：保留已见区域
流式递推：支持长视频
几何校验：推理时自检查
多模型互补：专家各取所长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86031C4B-5ABF-6053-7102-CA33DD52816B}"/>
              </a:ext>
            </a:extLst>
          </p:cNvPr>
          <p:cNvSpPr/>
          <p:nvPr/>
        </p:nvSpPr>
        <p:spPr>
          <a:xfrm>
            <a:off x="59055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994BE5-801D-4B4A-DC4F-B95D2EB01705}"/>
              </a:ext>
            </a:extLst>
          </p:cNvPr>
          <p:cNvSpPr/>
          <p:nvPr/>
        </p:nvSpPr>
        <p:spPr>
          <a:xfrm>
            <a:off x="6667500" y="2032000"/>
            <a:ext cx="4953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用新方法补足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9C775B-F872-6A41-2F53-D612351E482F}"/>
              </a:ext>
            </a:extLst>
          </p:cNvPr>
          <p:cNvSpPr/>
          <p:nvPr/>
        </p:nvSpPr>
        <p:spPr>
          <a:xfrm>
            <a:off x="6667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稀疏注意力：管理长序列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Mamba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：线性复杂度递推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Slot Attention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：动静分离
能力描述符：多专家路由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1136F1-773C-2336-A300-9DF4C275FE33}"/>
              </a:ext>
            </a:extLst>
          </p:cNvPr>
          <p:cNvSpPr/>
          <p:nvPr/>
        </p:nvSpPr>
        <p:spPr>
          <a:xfrm>
            <a:off x="1206500" y="5143500"/>
            <a:ext cx="9779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本课题的架构由这些机制组合自然推出，并通过实验检验各模块作用。</a:t>
            </a:r>
          </a:p>
        </p:txBody>
      </p:sp>
    </p:spTree>
    <p:extLst>
      <p:ext uri="{BB962C8B-B14F-4D97-AF65-F5344CB8AC3E}">
        <p14:creationId xmlns:p14="http://schemas.microsoft.com/office/powerpoint/2010/main" val="409738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设计目标与课题两条主线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A1C45B-898F-C8A2-6C36-BC86CA2F19E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949F7EE-1098-E1A8-2D07-2D80F2D504B7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课题包含新架构设计和聚合管理平台两条主线，二者服务于同一组实验目标。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9EFEA2-F7B4-3C25-2EE5-FB2C77060F54}"/>
              </a:ext>
            </a:extLst>
          </p:cNvPr>
          <p:cNvSpPr/>
          <p:nvPr/>
        </p:nvSpPr>
        <p:spPr>
          <a:xfrm>
            <a:off x="889000" y="2095500"/>
            <a:ext cx="444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主线一：新架构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214753-8884-D74F-FE77-AB2C8FDA808F}"/>
              </a:ext>
            </a:extLst>
          </p:cNvPr>
          <p:cNvSpPr/>
          <p:nvPr/>
        </p:nvSpPr>
        <p:spPr>
          <a:xfrm>
            <a:off x="889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
几何校验
多专家编排
长序列与动态场景评测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AB45F089-558E-BF00-A336-3543DF59343F}"/>
              </a:ext>
            </a:extLst>
          </p:cNvPr>
          <p:cNvSpPr/>
          <p:nvPr/>
        </p:nvSpPr>
        <p:spPr>
          <a:xfrm>
            <a:off x="5715000" y="2921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331E39-4976-180A-5ECD-29C1F2B7DBC2}"/>
              </a:ext>
            </a:extLst>
          </p:cNvPr>
          <p:cNvSpPr/>
          <p:nvPr/>
        </p:nvSpPr>
        <p:spPr>
          <a:xfrm>
            <a:off x="6858000" y="2095500"/>
            <a:ext cx="4445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主线二：管理平台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3EA966-728F-E894-0A0A-60FA3DED96BB}"/>
              </a:ext>
            </a:extLst>
          </p:cNvPr>
          <p:cNvSpPr/>
          <p:nvPr/>
        </p:nvSpPr>
        <p:spPr>
          <a:xfrm>
            <a:off x="6858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模型统一调度
结果统一归集
跨模型对比
新模型快速接入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1876C6-B409-1852-B9AB-BF9D7BBB8457}"/>
              </a:ext>
            </a:extLst>
          </p:cNvPr>
          <p:cNvSpPr/>
          <p:nvPr/>
        </p:nvSpPr>
        <p:spPr>
          <a:xfrm>
            <a:off x="1206500" y="5080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平台提供统一实验条件；新架构完成后作为第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8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个模型接入平台进行同条件比较。</a:t>
            </a:r>
          </a:p>
        </p:txBody>
      </p:sp>
    </p:spTree>
    <p:extLst>
      <p:ext uri="{BB962C8B-B14F-4D97-AF65-F5344CB8AC3E}">
        <p14:creationId xmlns:p14="http://schemas.microsoft.com/office/powerpoint/2010/main" val="181774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总体架构一览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EABA29-A54D-7447-3F0B-7069E82604D2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9D4FF7-E0B8-E7D8-F078-A400C9630C67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输入图像序列后，六个模块依次完成感知、记忆、动静分离、校验和编排。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FF346B-D262-68D3-4423-26CB5FB1E485}"/>
              </a:ext>
            </a:extLst>
          </p:cNvPr>
          <p:cNvSpPr/>
          <p:nvPr/>
        </p:nvSpPr>
        <p:spPr>
          <a:xfrm>
            <a:off x="4445000" y="2984500"/>
            <a:ext cx="3302000" cy="1041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MemoryBus
CR-1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至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CR-6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类型化交接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373E2F-5D46-52B4-A110-27501A393F66}"/>
              </a:ext>
            </a:extLst>
          </p:cNvPr>
          <p:cNvSpPr/>
          <p:nvPr/>
        </p:nvSpPr>
        <p:spPr>
          <a:xfrm>
            <a:off x="889000" y="1905000"/>
            <a:ext cx="3175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Perceiver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576522-B80C-2DE7-33EB-815F66C1791D}"/>
              </a:ext>
            </a:extLst>
          </p:cNvPr>
          <p:cNvSpPr/>
          <p:nvPr/>
        </p:nvSpPr>
        <p:spPr>
          <a:xfrm>
            <a:off x="889000" y="2286000"/>
            <a:ext cx="3175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视觉骨干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特征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token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35388A-1C17-51BE-4BBA-6836A52B3976}"/>
              </a:ext>
            </a:extLst>
          </p:cNvPr>
          <p:cNvSpPr/>
          <p:nvPr/>
        </p:nvSpPr>
        <p:spPr>
          <a:xfrm>
            <a:off x="8128000" y="1905000"/>
            <a:ext cx="3175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SpatialMemory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42FB4F-9BE1-1717-B52D-26E00FE64180}"/>
              </a:ext>
            </a:extLst>
          </p:cNvPr>
          <p:cNvSpPr/>
          <p:nvPr/>
        </p:nvSpPr>
        <p:spPr>
          <a:xfrm>
            <a:off x="8128000" y="2286000"/>
            <a:ext cx="3175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三分支注意力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空间锚点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9C1531-41DF-C2B7-C19E-C73077548E9D}"/>
              </a:ext>
            </a:extLst>
          </p:cNvPr>
          <p:cNvSpPr/>
          <p:nvPr/>
        </p:nvSpPr>
        <p:spPr>
          <a:xfrm>
            <a:off x="889000" y="4318000"/>
            <a:ext cx="3175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Critic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F08223-FA88-A5D1-7A95-9211229B4D30}"/>
              </a:ext>
            </a:extLst>
          </p:cNvPr>
          <p:cNvSpPr/>
          <p:nvPr/>
        </p:nvSpPr>
        <p:spPr>
          <a:xfrm>
            <a:off x="889000" y="4699000"/>
            <a:ext cx="3175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几何冲突检测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修复动作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8320C9-5EE8-3DB7-D001-5EDDBAB4E1C6}"/>
              </a:ext>
            </a:extLst>
          </p:cNvPr>
          <p:cNvSpPr/>
          <p:nvPr/>
        </p:nvSpPr>
        <p:spPr>
          <a:xfrm>
            <a:off x="8128000" y="4318000"/>
            <a:ext cx="3175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Composer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28FF8B-1D57-533E-6336-7A9C7BF23622}"/>
              </a:ext>
            </a:extLst>
          </p:cNvPr>
          <p:cNvSpPr/>
          <p:nvPr/>
        </p:nvSpPr>
        <p:spPr>
          <a:xfrm>
            <a:off x="8128000" y="4699000"/>
            <a:ext cx="3175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专家池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能力路由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7196F2-5EEE-53FC-206F-DD2EA8301CA5}"/>
              </a:ext>
            </a:extLst>
          </p:cNvPr>
          <p:cNvSpPr/>
          <p:nvPr/>
        </p:nvSpPr>
        <p:spPr>
          <a:xfrm>
            <a:off x="4635500" y="4635500"/>
            <a:ext cx="2921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Permanence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6AA874-A956-65C4-5617-7A15441EFDFE}"/>
              </a:ext>
            </a:extLst>
          </p:cNvPr>
          <p:cNvSpPr/>
          <p:nvPr/>
        </p:nvSpPr>
        <p:spPr>
          <a:xfrm>
            <a:off x="4635500" y="5016500"/>
            <a:ext cx="2921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对象身份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动静分离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CC838CA-0F3E-BA25-C7E7-E7A4D454D209}"/>
              </a:ext>
            </a:extLst>
          </p:cNvPr>
          <p:cNvCxnSpPr/>
          <p:nvPr/>
        </p:nvCxnSpPr>
        <p:spPr>
          <a:xfrm>
            <a:off x="4000500" y="2540000"/>
            <a:ext cx="444500" cy="7620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79C2FA3-DFD8-5FF7-9717-46D714268ECF}"/>
              </a:ext>
            </a:extLst>
          </p:cNvPr>
          <p:cNvCxnSpPr/>
          <p:nvPr/>
        </p:nvCxnSpPr>
        <p:spPr>
          <a:xfrm flipH="1">
            <a:off x="7747000" y="2540000"/>
            <a:ext cx="444500" cy="7620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3A87E31-75FA-9760-3E23-B6B939DF7C3D}"/>
              </a:ext>
            </a:extLst>
          </p:cNvPr>
          <p:cNvCxnSpPr/>
          <p:nvPr/>
        </p:nvCxnSpPr>
        <p:spPr>
          <a:xfrm flipV="1">
            <a:off x="4000500" y="3708400"/>
            <a:ext cx="444500" cy="9906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D22A7E7-6136-193B-6F51-0F38815C70DE}"/>
              </a:ext>
            </a:extLst>
          </p:cNvPr>
          <p:cNvCxnSpPr/>
          <p:nvPr/>
        </p:nvCxnSpPr>
        <p:spPr>
          <a:xfrm flipH="1" flipV="1">
            <a:off x="7747000" y="3708400"/>
            <a:ext cx="444500" cy="9906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AECC4C5-C174-E2C7-1CF1-9A8F8A32A318}"/>
              </a:ext>
            </a:extLst>
          </p:cNvPr>
          <p:cNvCxnSpPr/>
          <p:nvPr/>
        </p:nvCxnSpPr>
        <p:spPr>
          <a:xfrm flipV="1">
            <a:off x="6096000" y="4025900"/>
            <a:ext cx="0" cy="6096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73D5B506-11E4-C536-C03D-0638092B1798}"/>
              </a:ext>
            </a:extLst>
          </p:cNvPr>
          <p:cNvSpPr/>
          <p:nvPr/>
        </p:nvSpPr>
        <p:spPr>
          <a:xfrm>
            <a:off x="1524000" y="5588000"/>
            <a:ext cx="914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输出包括逐帧三维点图、动态掩码和用于复核的中间证据。</a:t>
            </a:r>
          </a:p>
        </p:txBody>
      </p:sp>
    </p:spTree>
    <p:extLst>
      <p:ext uri="{BB962C8B-B14F-4D97-AF65-F5344CB8AC3E}">
        <p14:creationId xmlns:p14="http://schemas.microsoft.com/office/powerpoint/2010/main" val="3945737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空间记忆模块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B08FEA-9B19-9288-8E60-9317EF0A12F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66B388-0F49-AA1B-CF8E-786FBD907A9F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空间记忆模块用三条分支同时处理远程记忆、精确回忆和当前上下文。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231B1E-DCEA-4185-6FAE-3439AD511A7A}"/>
              </a:ext>
            </a:extLst>
          </p:cNvPr>
          <p:cNvSpPr/>
          <p:nvPr/>
        </p:nvSpPr>
        <p:spPr>
          <a:xfrm>
            <a:off x="762000" y="2095500"/>
            <a:ext cx="304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压缩分支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A1782C-FE67-2E69-8541-8908952635DE}"/>
              </a:ext>
            </a:extLst>
          </p:cNvPr>
          <p:cNvSpPr/>
          <p:nvPr/>
        </p:nvSpPr>
        <p:spPr>
          <a:xfrm>
            <a:off x="762000" y="2552700"/>
            <a:ext cx="304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固定长度状态
学习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CUT3R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递推思路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AB102C09-E510-6187-358F-4114CACF72B8}"/>
              </a:ext>
            </a:extLst>
          </p:cNvPr>
          <p:cNvSpPr/>
          <p:nvPr/>
        </p:nvSpPr>
        <p:spPr>
          <a:xfrm>
            <a:off x="3937000" y="27940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82EE79-06F1-6D2F-362F-E96F94523E9A}"/>
              </a:ext>
            </a:extLst>
          </p:cNvPr>
          <p:cNvSpPr/>
          <p:nvPr/>
        </p:nvSpPr>
        <p:spPr>
          <a:xfrm>
            <a:off x="4572000" y="2095500"/>
            <a:ext cx="3048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选择分支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48BB28D-EB54-5B9E-B304-6DA4AE58969F}"/>
              </a:ext>
            </a:extLst>
          </p:cNvPr>
          <p:cNvSpPr/>
          <p:nvPr/>
        </p:nvSpPr>
        <p:spPr>
          <a:xfrm>
            <a:off x="4572000" y="2552700"/>
            <a:ext cx="304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空间锚点存储
学习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Spann3R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记忆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B3C99B39-8A26-7AC2-DA71-8720F50E9356}"/>
              </a:ext>
            </a:extLst>
          </p:cNvPr>
          <p:cNvSpPr/>
          <p:nvPr/>
        </p:nvSpPr>
        <p:spPr>
          <a:xfrm>
            <a:off x="7747000" y="27940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6753ED-CB28-B336-AB82-C000CDC86911}"/>
              </a:ext>
            </a:extLst>
          </p:cNvPr>
          <p:cNvSpPr/>
          <p:nvPr/>
        </p:nvSpPr>
        <p:spPr>
          <a:xfrm>
            <a:off x="8382000" y="2095500"/>
            <a:ext cx="304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滑窗分支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A4FA9FC-8FEC-4548-DDF1-069C1BF89334}"/>
              </a:ext>
            </a:extLst>
          </p:cNvPr>
          <p:cNvSpPr/>
          <p:nvPr/>
        </p:nvSpPr>
        <p:spPr>
          <a:xfrm>
            <a:off x="8382000" y="2552700"/>
            <a:ext cx="304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Mamba + Transformer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兼顾效率与精度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EFAF0EB-AE28-CFAF-1FA3-0775BB3B5694}"/>
              </a:ext>
            </a:extLst>
          </p:cNvPr>
          <p:cNvSpPr/>
          <p:nvPr/>
        </p:nvSpPr>
        <p:spPr>
          <a:xfrm>
            <a:off x="1206500" y="4635500"/>
            <a:ext cx="9779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压缩管远，选择管精，滑窗管近；后续实验检验三者贡献。</a:t>
            </a:r>
          </a:p>
        </p:txBody>
      </p:sp>
    </p:spTree>
    <p:extLst>
      <p:ext uri="{BB962C8B-B14F-4D97-AF65-F5344CB8AC3E}">
        <p14:creationId xmlns:p14="http://schemas.microsoft.com/office/powerpoint/2010/main" val="2606383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7CCA6E-7515-0AC0-3344-1E56580D68F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B92FC7-A68D-7953-3149-A95684BC76F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几何校验模块用三类信号检测错误，并按冲突强度选择修复动作。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370139-A6D9-0CC4-6F87-193AA230736B}"/>
              </a:ext>
            </a:extLst>
          </p:cNvPr>
          <p:cNvSpPr/>
          <p:nvPr/>
        </p:nvSpPr>
        <p:spPr>
          <a:xfrm>
            <a:off x="952500" y="2222500"/>
            <a:ext cx="2667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输入信号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59A5F6-F82A-A073-86A2-6805A6636C28}"/>
              </a:ext>
            </a:extLst>
          </p:cNvPr>
          <p:cNvSpPr/>
          <p:nvPr/>
        </p:nvSpPr>
        <p:spPr>
          <a:xfrm>
            <a:off x="952500" y="2679700"/>
            <a:ext cx="2667000" cy="119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点图对
置信度
共视关系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AAD54BD2-48BF-FD6C-78BA-204523848457}"/>
              </a:ext>
            </a:extLst>
          </p:cNvPr>
          <p:cNvSpPr/>
          <p:nvPr/>
        </p:nvSpPr>
        <p:spPr>
          <a:xfrm>
            <a:off x="3810000" y="2857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7B087D-24EB-0961-1E4F-23601DE4D897}"/>
              </a:ext>
            </a:extLst>
          </p:cNvPr>
          <p:cNvSpPr/>
          <p:nvPr/>
        </p:nvSpPr>
        <p:spPr>
          <a:xfrm>
            <a:off x="4635500" y="1968500"/>
            <a:ext cx="2921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Critic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72D074-0F73-957B-D377-80ED533E0755}"/>
              </a:ext>
            </a:extLst>
          </p:cNvPr>
          <p:cNvSpPr/>
          <p:nvPr/>
        </p:nvSpPr>
        <p:spPr>
          <a:xfrm>
            <a:off x="4635500" y="2425700"/>
            <a:ext cx="29210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Sampson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残差
深度一致性
共视冲突
冲突评分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FF68F51C-E1BB-ADF5-F16D-1CA386AA7389}"/>
              </a:ext>
            </a:extLst>
          </p:cNvPr>
          <p:cNvSpPr/>
          <p:nvPr/>
        </p:nvSpPr>
        <p:spPr>
          <a:xfrm>
            <a:off x="7747000" y="2857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D0580B-7C99-0DE1-3E2A-0701E6CB0F60}"/>
              </a:ext>
            </a:extLst>
          </p:cNvPr>
          <p:cNvSpPr/>
          <p:nvPr/>
        </p:nvSpPr>
        <p:spPr>
          <a:xfrm>
            <a:off x="8572500" y="2222500"/>
            <a:ext cx="2667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修复动作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0808DD-2CCF-5291-0733-BCF02CC2B060}"/>
              </a:ext>
            </a:extLst>
          </p:cNvPr>
          <p:cNvSpPr/>
          <p:nvPr/>
        </p:nvSpPr>
        <p:spPr>
          <a:xfrm>
            <a:off x="8572500" y="2679700"/>
            <a:ext cx="2667000" cy="119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不修复
局部重跑
全窗口重跑
路由切换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D67062A-DDAE-0264-95F5-BF14646EA741}"/>
              </a:ext>
            </a:extLst>
          </p:cNvPr>
          <p:cNvSpPr/>
          <p:nvPr/>
        </p:nvSpPr>
        <p:spPr>
          <a:xfrm>
            <a:off x="1206500" y="4889500"/>
            <a:ext cx="9779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校验理念来自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Test3R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，本课题将其纳入架构内部并连接修复动作。</a:t>
            </a:r>
          </a:p>
        </p:txBody>
      </p:sp>
    </p:spTree>
    <p:extLst>
      <p:ext uri="{BB962C8B-B14F-4D97-AF65-F5344CB8AC3E}">
        <p14:creationId xmlns:p14="http://schemas.microsoft.com/office/powerpoint/2010/main" val="221183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多专家编排模块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A4E361-2271-74CB-3587-4DC3F3BBDA3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46387E-5834-65EF-1E29-DD7F72F99BD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多专家编排模块根据输入条件和校验结果在七个模型专家之间切换。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6F33E5-0F38-49FD-4765-228F86B3069E}"/>
              </a:ext>
            </a:extLst>
          </p:cNvPr>
          <p:cNvSpPr/>
          <p:nvPr/>
        </p:nvSpPr>
        <p:spPr>
          <a:xfrm>
            <a:off x="609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静态对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A07C3E-3980-6F36-2D4E-5F888ECE04BE}"/>
              </a:ext>
            </a:extLst>
          </p:cNvPr>
          <p:cNvSpPr/>
          <p:nvPr/>
        </p:nvSpPr>
        <p:spPr>
          <a:xfrm>
            <a:off x="3340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Fast3R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多视图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8F8651-A86D-6048-352A-E9BF1337DCB0}"/>
              </a:ext>
            </a:extLst>
          </p:cNvPr>
          <p:cNvSpPr/>
          <p:nvPr/>
        </p:nvSpPr>
        <p:spPr>
          <a:xfrm>
            <a:off x="6070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流式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6457A-33AA-3201-7D4E-15BF38B1C533}"/>
              </a:ext>
            </a:extLst>
          </p:cNvPr>
          <p:cNvSpPr/>
          <p:nvPr/>
        </p:nvSpPr>
        <p:spPr>
          <a:xfrm>
            <a:off x="8801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CUT3R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动态容忍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2EC4F7-7987-8439-759C-4602A82B38D4}"/>
              </a:ext>
            </a:extLst>
          </p:cNvPr>
          <p:cNvSpPr/>
          <p:nvPr/>
        </p:nvSpPr>
        <p:spPr>
          <a:xfrm>
            <a:off x="609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MoGe-2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单目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AFC569-2BDF-75FC-B1AD-5AC5366FE6E9}"/>
              </a:ext>
            </a:extLst>
          </p:cNvPr>
          <p:cNvSpPr/>
          <p:nvPr/>
        </p:nvSpPr>
        <p:spPr>
          <a:xfrm>
            <a:off x="3340100" y="28575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DepthAnything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深度先验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9EDE49-5234-5C5B-42F1-AE97E2576170}"/>
              </a:ext>
            </a:extLst>
          </p:cNvPr>
          <p:cNvSpPr/>
          <p:nvPr/>
        </p:nvSpPr>
        <p:spPr>
          <a:xfrm>
            <a:off x="6070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F4D3376-1501-1E64-9E38-4BC76BA4F03B}"/>
              </a:ext>
            </a:extLst>
          </p:cNvPr>
          <p:cNvSpPr/>
          <p:nvPr/>
        </p:nvSpPr>
        <p:spPr>
          <a:xfrm>
            <a:off x="1841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能力匹配度跨度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B16A13FB-C47A-1B2E-8E0A-D39E62126C0C}"/>
              </a:ext>
            </a:extLst>
          </p:cNvPr>
          <p:cNvSpPr/>
          <p:nvPr/>
        </p:nvSpPr>
        <p:spPr>
          <a:xfrm>
            <a:off x="4635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634F08-CE91-D76E-ECBA-CAF85C551BCC}"/>
              </a:ext>
            </a:extLst>
          </p:cNvPr>
          <p:cNvSpPr/>
          <p:nvPr/>
        </p:nvSpPr>
        <p:spPr>
          <a:xfrm>
            <a:off x="5270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成本调整解析平局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C4BCBF5B-43AC-76A6-DF9B-31A2A5431C07}"/>
              </a:ext>
            </a:extLst>
          </p:cNvPr>
          <p:cNvSpPr/>
          <p:nvPr/>
        </p:nvSpPr>
        <p:spPr>
          <a:xfrm>
            <a:off x="8064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E03A95-F58D-A723-60FD-7BF8FE92CC8C}"/>
              </a:ext>
            </a:extLst>
          </p:cNvPr>
          <p:cNvSpPr/>
          <p:nvPr/>
        </p:nvSpPr>
        <p:spPr>
          <a:xfrm>
            <a:off x="8699500" y="4191000"/>
            <a:ext cx="1905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失败退化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7DFE76E-F43D-25C2-0859-07D611CBC3A9}"/>
              </a:ext>
            </a:extLst>
          </p:cNvPr>
          <p:cNvSpPr/>
          <p:nvPr/>
        </p:nvSpPr>
        <p:spPr>
          <a:xfrm>
            <a:off x="1206500" y="5461000"/>
            <a:ext cx="9779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单模型各有优势场景，多专家路由用于提升复杂输入下的适应能力。</a:t>
            </a:r>
          </a:p>
        </p:txBody>
      </p:sp>
    </p:spTree>
    <p:extLst>
      <p:ext uri="{BB962C8B-B14F-4D97-AF65-F5344CB8AC3E}">
        <p14:creationId xmlns:p14="http://schemas.microsoft.com/office/powerpoint/2010/main" val="3308089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当前实现进展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1CDA9B-E737-4DF8-9FFA-A86610EBAA2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102ADD-03C4-865A-E479-36AD0379CD8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架构原型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已跑通端到端流水线，当前为集成验证阶段。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05D922-0E3E-7398-D953-FB7EE1B6C29C}"/>
              </a:ext>
            </a:extLst>
          </p:cNvPr>
          <p:cNvSpPr/>
          <p:nvPr/>
        </p:nvSpPr>
        <p:spPr>
          <a:xfrm>
            <a:off x="1016000" y="18415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原型状态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6EC74F-AE5B-C451-0D02-433A2BF5E5B8}"/>
              </a:ext>
            </a:extLst>
          </p:cNvPr>
          <p:cNvSpPr/>
          <p:nvPr/>
        </p:nvSpPr>
        <p:spPr>
          <a:xfrm>
            <a:off x="3238500" y="18415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端到端流水线已跑通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4E27B3D-0499-57B5-11FE-08220ED6C0DE}"/>
              </a:ext>
            </a:extLst>
          </p:cNvPr>
          <p:cNvSpPr/>
          <p:nvPr/>
        </p:nvSpPr>
        <p:spPr>
          <a:xfrm>
            <a:off x="1016000" y="26289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技术里程碑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421135-DA63-9812-1948-8822DB4F32D2}"/>
              </a:ext>
            </a:extLst>
          </p:cNvPr>
          <p:cNvSpPr/>
          <p:nvPr/>
        </p:nvSpPr>
        <p:spPr>
          <a:xfrm>
            <a:off x="3238500" y="26289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项完成：视觉骨干、三维检索、校验流程、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Mamba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循环等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6E318D9-D999-2033-E8BD-9712A0EE023D}"/>
              </a:ext>
            </a:extLst>
          </p:cNvPr>
          <p:cNvSpPr/>
          <p:nvPr/>
        </p:nvSpPr>
        <p:spPr>
          <a:xfrm>
            <a:off x="1016000" y="34163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6DB426-E5F6-F296-DC2E-A7017278CDC1}"/>
              </a:ext>
            </a:extLst>
          </p:cNvPr>
          <p:cNvSpPr/>
          <p:nvPr/>
        </p:nvSpPr>
        <p:spPr>
          <a:xfrm>
            <a:off x="3238500" y="34163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端到端运行无崩溃，点图 </a:t>
            </a:r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L2 = 20.47</a:t>
            </a:r>
            <a:endParaRPr lang="zh-CN" altLang="en-US" sz="17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00B01E-460A-DDE9-E283-800C161C0862}"/>
              </a:ext>
            </a:extLst>
          </p:cNvPr>
          <p:cNvSpPr/>
          <p:nvPr/>
        </p:nvSpPr>
        <p:spPr>
          <a:xfrm>
            <a:off x="1016000" y="42037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阶段边界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9BF67E1-D5E2-E859-0656-83BB8BFB128B}"/>
              </a:ext>
            </a:extLst>
          </p:cNvPr>
          <p:cNvSpPr/>
          <p:nvPr/>
        </p:nvSpPr>
        <p:spPr>
          <a:xfrm>
            <a:off x="3238500" y="42037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集成验证数据，非训练后质量指标</a:t>
            </a:r>
          </a:p>
        </p:txBody>
      </p:sp>
    </p:spTree>
    <p:extLst>
      <p:ext uri="{BB962C8B-B14F-4D97-AF65-F5344CB8AC3E}">
        <p14:creationId xmlns:p14="http://schemas.microsoft.com/office/powerpoint/2010/main" val="1493939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为什么需要一个聚合平台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438F9A-B38E-BBC6-1FA5-139F45BA800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41A9CE-F2EC-4FA7-4A68-ED918E61752F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多模型对比实验需要统一调度、统一格式和统一结果归集。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0B3F80-99A0-DA2A-65C1-C1AD090BD328}"/>
              </a:ext>
            </a:extLst>
          </p:cNvPr>
          <p:cNvSpPr/>
          <p:nvPr/>
        </p:nvSpPr>
        <p:spPr>
          <a:xfrm>
            <a:off x="1016000" y="19050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环境差异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EC59D0-6736-8247-A6D1-850127A8F557}"/>
              </a:ext>
            </a:extLst>
          </p:cNvPr>
          <p:cNvSpPr/>
          <p:nvPr/>
        </p:nvSpPr>
        <p:spPr>
          <a:xfrm>
            <a:off x="32385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每个模型都有自己的运行环境和依赖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386A8C-A825-DDF0-3835-BB29F331A7F8}"/>
              </a:ext>
            </a:extLst>
          </p:cNvPr>
          <p:cNvSpPr/>
          <p:nvPr/>
        </p:nvSpPr>
        <p:spPr>
          <a:xfrm>
            <a:off x="1016000" y="26924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格式差异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78F20C-1F6C-C363-12A2-A9C1897B0FC2}"/>
              </a:ext>
            </a:extLst>
          </p:cNvPr>
          <p:cNvSpPr/>
          <p:nvPr/>
        </p:nvSpPr>
        <p:spPr>
          <a:xfrm>
            <a:off x="32385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输入、输出和结果目录结构各不相同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67624E-6291-F443-A772-8D0E976C3DD8}"/>
              </a:ext>
            </a:extLst>
          </p:cNvPr>
          <p:cNvSpPr/>
          <p:nvPr/>
        </p:nvSpPr>
        <p:spPr>
          <a:xfrm>
            <a:off x="1016000" y="34798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工具限制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16A1A0-EEE4-3E4E-C6DE-B4A06A0E6ECA}"/>
              </a:ext>
            </a:extLst>
          </p:cNvPr>
          <p:cNvSpPr/>
          <p:nvPr/>
        </p:nvSpPr>
        <p:spPr>
          <a:xfrm>
            <a:off x="32385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Nerfstudio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；商业产品闭源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334646-7D9E-9D78-C6BA-176D5BFC8D5A}"/>
              </a:ext>
            </a:extLst>
          </p:cNvPr>
          <p:cNvSpPr/>
          <p:nvPr/>
        </p:nvSpPr>
        <p:spPr>
          <a:xfrm>
            <a:off x="1016000" y="42672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平台需求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991BCC-83F1-50DE-87F6-60917D3EDDBA}"/>
              </a:ext>
            </a:extLst>
          </p:cNvPr>
          <p:cNvSpPr/>
          <p:nvPr/>
        </p:nvSpPr>
        <p:spPr>
          <a:xfrm>
            <a:off x="32385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统一模型调度、结果格式化和多专家对照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70B9A08-BF10-4A11-F192-89F7C3D2065E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聚合平台用于降低多模型实验的人工配置和手动对比成本。</a:t>
            </a:r>
          </a:p>
        </p:txBody>
      </p:sp>
    </p:spTree>
    <p:extLst>
      <p:ext uri="{BB962C8B-B14F-4D97-AF65-F5344CB8AC3E}">
        <p14:creationId xmlns:p14="http://schemas.microsoft.com/office/powerpoint/2010/main" val="272030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平台核心功能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3547F2-AEA3-D0E3-7849-67435DD8070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214416-8266-8975-BCFB-30D4FEB4AC4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平台围绕任务提交、状态追踪、结果对比、模型注册和远程调度展开。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24E4CE-D19D-43C0-C9C5-56AE1A64E37A}"/>
              </a:ext>
            </a:extLst>
          </p:cNvPr>
          <p:cNvSpPr/>
          <p:nvPr/>
        </p:nvSpPr>
        <p:spPr>
          <a:xfrm>
            <a:off x="5334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命令中心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AA602D-ACA5-8970-88CE-325E0B53D89A}"/>
              </a:ext>
            </a:extLst>
          </p:cNvPr>
          <p:cNvSpPr/>
          <p:nvPr/>
        </p:nvSpPr>
        <p:spPr>
          <a:xfrm>
            <a:off x="53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提交任务
查看状态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6EE8E6-41FE-C389-2E56-1F84AC34E146}"/>
              </a:ext>
            </a:extLst>
          </p:cNvPr>
          <p:cNvSpPr/>
          <p:nvPr/>
        </p:nvSpPr>
        <p:spPr>
          <a:xfrm>
            <a:off x="27559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任务工作台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AA3ECE-45C0-D29F-9E60-BA847AD1E3A1}"/>
              </a:ext>
            </a:extLst>
          </p:cNvPr>
          <p:cNvSpPr/>
          <p:nvPr/>
        </p:nvSpPr>
        <p:spPr>
          <a:xfrm>
            <a:off x="2755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上传→运行
回传→完成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C77B23-5CF7-1F88-1C94-A467893B254F}"/>
              </a:ext>
            </a:extLst>
          </p:cNvPr>
          <p:cNvSpPr/>
          <p:nvPr/>
        </p:nvSpPr>
        <p:spPr>
          <a:xfrm>
            <a:off x="4978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样本矩阵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E32E5B-B609-2DF7-936C-8042D619E32E}"/>
              </a:ext>
            </a:extLst>
          </p:cNvPr>
          <p:cNvSpPr/>
          <p:nvPr/>
        </p:nvSpPr>
        <p:spPr>
          <a:xfrm>
            <a:off x="4978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同一输入
多模型并排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2BB3FC-77F1-62CD-9AA8-7E5BD320267A}"/>
              </a:ext>
            </a:extLst>
          </p:cNvPr>
          <p:cNvSpPr/>
          <p:nvPr/>
        </p:nvSpPr>
        <p:spPr>
          <a:xfrm>
            <a:off x="72009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模型注册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F61890-DBDB-56F9-B867-7754FFA25656}"/>
              </a:ext>
            </a:extLst>
          </p:cNvPr>
          <p:cNvSpPr/>
          <p:nvPr/>
        </p:nvSpPr>
        <p:spPr>
          <a:xfrm>
            <a:off x="7200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一个执行器
接入新模型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E344B8-EA80-3BC7-EB1A-A1062CFB91E9}"/>
              </a:ext>
            </a:extLst>
          </p:cNvPr>
          <p:cNvSpPr/>
          <p:nvPr/>
        </p:nvSpPr>
        <p:spPr>
          <a:xfrm>
            <a:off x="9423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结果归集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A209841-B8D9-2DF2-FF10-5AD83436AA6A}"/>
              </a:ext>
            </a:extLst>
          </p:cNvPr>
          <p:cNvSpPr/>
          <p:nvPr/>
        </p:nvSpPr>
        <p:spPr>
          <a:xfrm>
            <a:off x="942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统一输出
导出报告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6AF37C-908D-FFA5-0A80-D652E6C7D4B2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 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UI 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截图待用户补充；本版先用功能框图说明系统能力。</a:t>
            </a:r>
          </a:p>
        </p:txBody>
      </p:sp>
    </p:spTree>
    <p:extLst>
      <p:ext uri="{BB962C8B-B14F-4D97-AF65-F5344CB8AC3E}">
        <p14:creationId xmlns:p14="http://schemas.microsoft.com/office/powerpoint/2010/main" val="1292145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技术架构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E7ED57-85D9-AA6A-B82A-6177D91E281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043DF7-EB87-AE37-3FE2-AAEA0D06ADE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平台采用桌面端、调度服务和远端执行器分层解耦。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4A125F-64A9-7C67-93FC-A800B4EAC6C1}"/>
              </a:ext>
            </a:extLst>
          </p:cNvPr>
          <p:cNvSpPr/>
          <p:nvPr/>
        </p:nvSpPr>
        <p:spPr>
          <a:xfrm>
            <a:off x="889000" y="1905000"/>
            <a:ext cx="2857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桌面应用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AF2626-7B95-8C91-E09A-87FA6753C785}"/>
              </a:ext>
            </a:extLst>
          </p:cNvPr>
          <p:cNvSpPr/>
          <p:nvPr/>
        </p:nvSpPr>
        <p:spPr>
          <a:xfrm>
            <a:off x="889000" y="2362200"/>
            <a:ext cx="2857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Tauri 2 + React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命令中心
任务工作台
样本矩阵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D642D-63F2-BB81-4305-10621D3A8053}"/>
              </a:ext>
            </a:extLst>
          </p:cNvPr>
          <p:cNvSpPr/>
          <p:nvPr/>
        </p:nvSpPr>
        <p:spPr>
          <a:xfrm>
            <a:off x="4635500" y="1905000"/>
            <a:ext cx="2857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本地服务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E7980C-E1AD-9A23-4450-0B604D30A1E9}"/>
              </a:ext>
            </a:extLst>
          </p:cNvPr>
          <p:cNvSpPr/>
          <p:nvPr/>
        </p:nvSpPr>
        <p:spPr>
          <a:xfrm>
            <a:off x="4635500" y="2362200"/>
            <a:ext cx="2857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FastAPI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模型注册
任务队列
状态管理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3AD25D-124D-B2B6-706D-5B13CBC8115F}"/>
              </a:ext>
            </a:extLst>
          </p:cNvPr>
          <p:cNvSpPr/>
          <p:nvPr/>
        </p:nvSpPr>
        <p:spPr>
          <a:xfrm>
            <a:off x="8382000" y="1905000"/>
            <a:ext cx="2857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远端执行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AD3883-C7CD-DBDE-DEFF-82CAD729E5CA}"/>
              </a:ext>
            </a:extLst>
          </p:cNvPr>
          <p:cNvSpPr/>
          <p:nvPr/>
        </p:nvSpPr>
        <p:spPr>
          <a:xfrm>
            <a:off x="8382000" y="2362200"/>
            <a:ext cx="2857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SSH / SCP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进程启动
日志监听
结果回传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472BD38-2877-2D67-E93B-23D4CE76C598}"/>
              </a:ext>
            </a:extLst>
          </p:cNvPr>
          <p:cNvSpPr/>
          <p:nvPr/>
        </p:nvSpPr>
        <p:spPr>
          <a:xfrm>
            <a:off x="3937000" y="2603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88B4E3C0-45D9-B5C7-FEE4-367D0CC6B124}"/>
              </a:ext>
            </a:extLst>
          </p:cNvPr>
          <p:cNvSpPr/>
          <p:nvPr/>
        </p:nvSpPr>
        <p:spPr>
          <a:xfrm>
            <a:off x="7683500" y="2603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63F420-E698-9007-00F4-48024B57DBF8}"/>
              </a:ext>
            </a:extLst>
          </p:cNvPr>
          <p:cNvSpPr/>
          <p:nvPr/>
        </p:nvSpPr>
        <p:spPr>
          <a:xfrm>
            <a:off x="1397000" y="4216400"/>
            <a:ext cx="9398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统一执行合同：</a:t>
            </a:r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task.json 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任务描述  </a:t>
            </a:r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/  status.json 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状态文件  </a:t>
            </a:r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/  output.json 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输出元数据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655097-FDD7-70F4-44D1-88ACF80543E5}"/>
              </a:ext>
            </a:extLst>
          </p:cNvPr>
          <p:cNvSpPr/>
          <p:nvPr/>
        </p:nvSpPr>
        <p:spPr>
          <a:xfrm>
            <a:off x="1460500" y="5016500"/>
            <a:ext cx="116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DUSt3R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A5D9CD-CCAC-BB90-8BE6-495A4A184991}"/>
              </a:ext>
            </a:extLst>
          </p:cNvPr>
          <p:cNvSpPr/>
          <p:nvPr/>
        </p:nvSpPr>
        <p:spPr>
          <a:xfrm>
            <a:off x="2921000" y="5016500"/>
            <a:ext cx="116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6E502C6-97F8-3863-DB88-832DB4F06853}"/>
              </a:ext>
            </a:extLst>
          </p:cNvPr>
          <p:cNvSpPr/>
          <p:nvPr/>
        </p:nvSpPr>
        <p:spPr>
          <a:xfrm>
            <a:off x="4381500" y="5016500"/>
            <a:ext cx="116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MonST3R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5B13DC5-FB03-A900-C408-01685904835D}"/>
              </a:ext>
            </a:extLst>
          </p:cNvPr>
          <p:cNvSpPr/>
          <p:nvPr/>
        </p:nvSpPr>
        <p:spPr>
          <a:xfrm>
            <a:off x="5842000" y="5016500"/>
            <a:ext cx="116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1106544-95EF-4988-A9AE-660EB1608457}"/>
              </a:ext>
            </a:extLst>
          </p:cNvPr>
          <p:cNvSpPr/>
          <p:nvPr/>
        </p:nvSpPr>
        <p:spPr>
          <a:xfrm>
            <a:off x="7302500" y="5016500"/>
            <a:ext cx="116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Fast3R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4BC8F91-9262-8400-EF4E-C5BD3FBCCED9}"/>
              </a:ext>
            </a:extLst>
          </p:cNvPr>
          <p:cNvSpPr/>
          <p:nvPr/>
        </p:nvSpPr>
        <p:spPr>
          <a:xfrm>
            <a:off x="8763000" y="5016500"/>
            <a:ext cx="116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CUT3R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716791-7B49-0B77-7844-77B4798184EC}"/>
              </a:ext>
            </a:extLst>
          </p:cNvPr>
          <p:cNvSpPr/>
          <p:nvPr/>
        </p:nvSpPr>
        <p:spPr>
          <a:xfrm>
            <a:off x="10223500" y="5016500"/>
            <a:ext cx="116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Align3R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0B17C57-46C3-6B39-CCAE-5310896B2459}"/>
              </a:ext>
            </a:extLst>
          </p:cNvPr>
          <p:cNvSpPr/>
          <p:nvPr/>
        </p:nvSpPr>
        <p:spPr>
          <a:xfrm>
            <a:off x="1206500" y="5778500"/>
            <a:ext cx="9779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执行器只封装模型差异，平台层保持统一提交、统一跟踪和统一归集。</a:t>
            </a:r>
          </a:p>
        </p:txBody>
      </p:sp>
    </p:spTree>
    <p:extLst>
      <p:ext uri="{BB962C8B-B14F-4D97-AF65-F5344CB8AC3E}">
        <p14:creationId xmlns:p14="http://schemas.microsoft.com/office/powerpoint/2010/main" val="3427165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06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已接入模型与实测数据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41932D-E46C-7041-2B6C-EE12FFD2F7A2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9732FEB-E355-2D14-6715-462862D68C2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个模型端到端验证通过，统一输入下的推理耗时差异明显。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AC3B608-E7ED-C7FF-FA88-9E5F3F34061F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接入模型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3ADA1A-C033-D3E7-B281-CD2A1FF2C404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20B360-BC22-5F6C-FAA2-9699E79B1A2C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MonST3R / Spann3R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742AA8-FCE8-91B4-098B-3752ACAD5161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Fast3R / CUT3R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F793AA-40E8-D8C6-46E5-F7D4B244CAF5}"/>
              </a:ext>
            </a:extLst>
          </p:cNvPr>
          <p:cNvSpPr/>
          <p:nvPr/>
        </p:nvSpPr>
        <p:spPr>
          <a:xfrm>
            <a:off x="762000" y="41021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权重待补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F66C533-64E5-F916-5645-ABEDC1AF17D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77886E1-F744-6382-93E8-3309AFA51DE1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统一输入为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帧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1920×1080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；耗时差异说明统一调度的必要性。</a:t>
            </a:r>
          </a:p>
        </p:txBody>
      </p:sp>
    </p:spTree>
    <p:extLst>
      <p:ext uri="{BB962C8B-B14F-4D97-AF65-F5344CB8AC3E}">
        <p14:creationId xmlns:p14="http://schemas.microsoft.com/office/powerpoint/2010/main" val="2630899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后续更新方向与应用场景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3B49F7-DA9C-64A9-3FBA-2325EBA759A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514AE0-2328-5C7A-1049-E209D80AB79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平台后续将围绕模型验证、对比视图、报告导出和下游接口推进。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7EDBF5-9CB5-07A0-AA02-402889ECB533}"/>
              </a:ext>
            </a:extLst>
          </p:cNvPr>
          <p:cNvSpPr/>
          <p:nvPr/>
        </p:nvSpPr>
        <p:spPr>
          <a:xfrm>
            <a:off x="1143000" y="19050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EB8F82-348B-5BCB-3B17-9BAD71E7A8EC}"/>
              </a:ext>
            </a:extLst>
          </p:cNvPr>
          <p:cNvSpPr/>
          <p:nvPr/>
        </p:nvSpPr>
        <p:spPr>
          <a:xfrm>
            <a:off x="31750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补齐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验证，完善跨模型对比视图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F5BFB0-AE0F-4855-D596-D3890430E8D5}"/>
              </a:ext>
            </a:extLst>
          </p:cNvPr>
          <p:cNvSpPr/>
          <p:nvPr/>
        </p:nvSpPr>
        <p:spPr>
          <a:xfrm>
            <a:off x="1143000" y="26924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C27F3B3-04AF-73D5-C081-0A282780FBF9}"/>
              </a:ext>
            </a:extLst>
          </p:cNvPr>
          <p:cNvSpPr/>
          <p:nvPr/>
        </p:nvSpPr>
        <p:spPr>
          <a:xfrm>
            <a:off x="31750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导出论文表格和图表，设计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层接口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EB85BA-E88C-69D6-4A86-703C045D0AEB}"/>
              </a:ext>
            </a:extLst>
          </p:cNvPr>
          <p:cNvSpPr/>
          <p:nvPr/>
        </p:nvSpPr>
        <p:spPr>
          <a:xfrm>
            <a:off x="1143000" y="34798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FFE8B9-47C3-B643-D565-4893120E1B97}"/>
              </a:ext>
            </a:extLst>
          </p:cNvPr>
          <p:cNvSpPr/>
          <p:nvPr/>
        </p:nvSpPr>
        <p:spPr>
          <a:xfrm>
            <a:off x="31750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SLAM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初始化、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建模和机器人场景理解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EAA143-6365-617B-7221-EE436E3337E2}"/>
              </a:ext>
            </a:extLst>
          </p:cNvPr>
          <p:cNvSpPr/>
          <p:nvPr/>
        </p:nvSpPr>
        <p:spPr>
          <a:xfrm>
            <a:off x="1143000" y="42672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应用场景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019761-5DE4-D958-7F14-00A8259FE661}"/>
              </a:ext>
            </a:extLst>
          </p:cNvPr>
          <p:cNvSpPr/>
          <p:nvPr/>
        </p:nvSpPr>
        <p:spPr>
          <a:xfrm>
            <a:off x="31750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科研实验、模型评估、教学演示</a:t>
            </a:r>
          </a:p>
        </p:txBody>
      </p:sp>
    </p:spTree>
    <p:extLst>
      <p:ext uri="{BB962C8B-B14F-4D97-AF65-F5344CB8AC3E}">
        <p14:creationId xmlns:p14="http://schemas.microsoft.com/office/powerpoint/2010/main" val="2396314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平台如何支撑架构研究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610EF9-F36B-2574-2124-6939E157918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86E4C5-28B5-1A39-7C3D-0321F9EF5B27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平台为架构消融提供统一运行环境和结果对比条件。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9CBDB7-BB50-B29C-914A-5580D5EC113E}"/>
              </a:ext>
            </a:extLst>
          </p:cNvPr>
          <p:cNvSpPr/>
          <p:nvPr/>
        </p:nvSpPr>
        <p:spPr>
          <a:xfrm>
            <a:off x="1016000" y="2095500"/>
            <a:ext cx="381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架构研究需求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F235A93-248E-D8B3-3123-30FB926618E1}"/>
              </a:ext>
            </a:extLst>
          </p:cNvPr>
          <p:cNvSpPr/>
          <p:nvPr/>
        </p:nvSpPr>
        <p:spPr>
          <a:xfrm>
            <a:off x="1016000" y="2552700"/>
            <a:ext cx="3810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多专家对照
模块消融
长序列评测
新架构接入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EE77380E-7189-8B4E-0CDE-FE48835A541D}"/>
              </a:ext>
            </a:extLst>
          </p:cNvPr>
          <p:cNvSpPr/>
          <p:nvPr/>
        </p:nvSpPr>
        <p:spPr>
          <a:xfrm>
            <a:off x="5080000" y="2794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782FFF-7231-2B39-EC42-757D298F9E7E}"/>
              </a:ext>
            </a:extLst>
          </p:cNvPr>
          <p:cNvSpPr/>
          <p:nvPr/>
        </p:nvSpPr>
        <p:spPr>
          <a:xfrm>
            <a:off x="6604000" y="2095500"/>
            <a:ext cx="4064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2FF5DE-0E31-364B-DF22-C7B9B2A386DE}"/>
              </a:ext>
            </a:extLst>
          </p:cNvPr>
          <p:cNvSpPr/>
          <p:nvPr/>
        </p:nvSpPr>
        <p:spPr>
          <a:xfrm>
            <a:off x="6604000" y="2552700"/>
            <a:ext cx="4064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统一调度
统一输出格式
同条件对比
运行数据记录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A6301E-8400-B3F7-C799-EA54BDD832A1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新架构训练完成后可作为第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8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个模型接入平台，与现有模型同条件比较。</a:t>
            </a:r>
          </a:p>
        </p:txBody>
      </p:sp>
    </p:spTree>
    <p:extLst>
      <p:ext uri="{BB962C8B-B14F-4D97-AF65-F5344CB8AC3E}">
        <p14:creationId xmlns:p14="http://schemas.microsoft.com/office/powerpoint/2010/main" val="1410159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D3440F-CDB1-7664-F8B3-CD055C4645F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2DBC1E-E201-E42A-23E3-477DFF4CFA4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实验设计分为架构侧实验和平台侧评测两部分。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32DB30-32EF-5160-6B1F-4EC3ADB314A2}"/>
              </a:ext>
            </a:extLst>
          </p:cNvPr>
          <p:cNvSpPr/>
          <p:nvPr/>
        </p:nvSpPr>
        <p:spPr>
          <a:xfrm>
            <a:off x="698500" y="1905000"/>
            <a:ext cx="508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架构侧实验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12F942-C762-340C-EE96-C3BAA34D6842}"/>
              </a:ext>
            </a:extLst>
          </p:cNvPr>
          <p:cNvSpPr/>
          <p:nvPr/>
        </p:nvSpPr>
        <p:spPr>
          <a:xfrm>
            <a:off x="698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消融实验：移除记忆、校验、多专家路由
长序列评测：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10 / 20 / 50 / 100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帧
多专家与单专家对照
六类场景阈值标定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783F5A-88F4-D8A9-25B1-508F8B926F6D}"/>
              </a:ext>
            </a:extLst>
          </p:cNvPr>
          <p:cNvSpPr/>
          <p:nvPr/>
        </p:nvSpPr>
        <p:spPr>
          <a:xfrm>
            <a:off x="6413500" y="1905000"/>
            <a:ext cx="5080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平台侧评测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F5DA8B-18A9-F703-3594-FB5948E0E1D4}"/>
              </a:ext>
            </a:extLst>
          </p:cNvPr>
          <p:cNvSpPr/>
          <p:nvPr/>
        </p:nvSpPr>
        <p:spPr>
          <a:xfrm>
            <a:off x="6413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模型接入覆盖率：目标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7/7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跨模型对比矩阵完整性
新模型接入边际成本
报告导出能力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C0D292-1013-8E79-446B-0A75366F139F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预算约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1400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小时，按里程碑分批申请。</a:t>
            </a:r>
          </a:p>
        </p:txBody>
      </p:sp>
    </p:spTree>
    <p:extLst>
      <p:ext uri="{BB962C8B-B14F-4D97-AF65-F5344CB8AC3E}">
        <p14:creationId xmlns:p14="http://schemas.microsoft.com/office/powerpoint/2010/main" val="1801619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创新点总结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093A2B-56E6-3283-46CC-714B12246FC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24862C-75EF-DFAF-D9B1-2BA80FD529D6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创新点围绕几何校验、多专家编排、长序列记忆和聚合平台展开。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6E6D25-70EE-E65C-687A-021A4B7E4FDC}"/>
              </a:ext>
            </a:extLst>
          </p:cNvPr>
          <p:cNvSpPr/>
          <p:nvPr/>
        </p:nvSpPr>
        <p:spPr>
          <a:xfrm>
            <a:off x="1143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8C3BE3-2D9E-6D6D-F07F-8E1D6367332E}"/>
              </a:ext>
            </a:extLst>
          </p:cNvPr>
          <p:cNvSpPr/>
          <p:nvPr/>
        </p:nvSpPr>
        <p:spPr>
          <a:xfrm>
            <a:off x="2286000" y="20955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几何校验作为架构内置组件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82AD6A-F9B2-A889-E157-825DEF10CF48}"/>
              </a:ext>
            </a:extLst>
          </p:cNvPr>
          <p:cNvSpPr/>
          <p:nvPr/>
        </p:nvSpPr>
        <p:spPr>
          <a:xfrm>
            <a:off x="6350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74EE48-7F60-3B6E-88D2-47225533028F}"/>
              </a:ext>
            </a:extLst>
          </p:cNvPr>
          <p:cNvSpPr/>
          <p:nvPr/>
        </p:nvSpPr>
        <p:spPr>
          <a:xfrm>
            <a:off x="7493000" y="20955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异构多专家组合与路由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E52B9F-D896-2605-F1BF-1507074DCB55}"/>
              </a:ext>
            </a:extLst>
          </p:cNvPr>
          <p:cNvSpPr/>
          <p:nvPr/>
        </p:nvSpPr>
        <p:spPr>
          <a:xfrm>
            <a:off x="1143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3FDB51-CB0B-4D3C-E820-B071354432BB}"/>
              </a:ext>
            </a:extLst>
          </p:cNvPr>
          <p:cNvSpPr/>
          <p:nvPr/>
        </p:nvSpPr>
        <p:spPr>
          <a:xfrm>
            <a:off x="2286000" y="35179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三分支稀疏注意力记忆统一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6E9435-2C2A-2B72-CC70-9F565A806019}"/>
              </a:ext>
            </a:extLst>
          </p:cNvPr>
          <p:cNvSpPr/>
          <p:nvPr/>
        </p:nvSpPr>
        <p:spPr>
          <a:xfrm>
            <a:off x="6350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6EF389-B6E9-39A8-5451-F49FE2237A13}"/>
              </a:ext>
            </a:extLst>
          </p:cNvPr>
          <p:cNvSpPr/>
          <p:nvPr/>
        </p:nvSpPr>
        <p:spPr>
          <a:xfrm>
            <a:off x="7493000" y="35179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统一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模型聚合管理平台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DDD56B-2EE8-3236-154B-11DA5A77D726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各创新点均需通过后续消融和对比实验支撑。</a:t>
            </a:r>
          </a:p>
        </p:txBody>
      </p:sp>
    </p:spTree>
    <p:extLst>
      <p:ext uri="{BB962C8B-B14F-4D97-AF65-F5344CB8AC3E}">
        <p14:creationId xmlns:p14="http://schemas.microsoft.com/office/powerpoint/2010/main" val="3748083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已完成工作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82704F-3846-A423-5573-9A513E2F1CC4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7B4B10-69C1-4AFC-D57C-DA7738D90AE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当前已完成架构文档、原型验证、平台代码和阶段综述。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A31A13-5931-3E9B-41B5-F98F206BB005}"/>
              </a:ext>
            </a:extLst>
          </p:cNvPr>
          <p:cNvSpPr/>
          <p:nvPr/>
        </p:nvSpPr>
        <p:spPr>
          <a:xfrm>
            <a:off x="889000" y="1968500"/>
            <a:ext cx="482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6F1AD2-7A64-1B77-D7C8-FB3DF64F05EB}"/>
              </a:ext>
            </a:extLst>
          </p:cNvPr>
          <p:cNvSpPr/>
          <p:nvPr/>
        </p:nvSpPr>
        <p:spPr>
          <a:xfrm>
            <a:off x="889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份设计文档
跨模块信号规约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v2.1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原型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跑通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项技术里程碑完成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A4319DB-4785-BCC6-534D-6A7ECB118944}"/>
              </a:ext>
            </a:extLst>
          </p:cNvPr>
          <p:cNvSpPr/>
          <p:nvPr/>
        </p:nvSpPr>
        <p:spPr>
          <a:xfrm>
            <a:off x="6477000" y="1968500"/>
            <a:ext cx="4826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CCBA6E-D19D-4AC1-3FAB-CC7855FA6FB9}"/>
              </a:ext>
            </a:extLst>
          </p:cNvPr>
          <p:cNvSpPr/>
          <p:nvPr/>
        </p:nvSpPr>
        <p:spPr>
          <a:xfrm>
            <a:off x="6477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15000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行代码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个执行器完成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个端到端验证
跨模型对比数据已生成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3E7EE4C-8FC6-5C7E-0E0E-4D6B7E58D51A}"/>
              </a:ext>
            </a:extLst>
          </p:cNvPr>
          <p:cNvSpPr/>
          <p:nvPr/>
        </p:nvSpPr>
        <p:spPr>
          <a:xfrm>
            <a:off x="1460500" y="5270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同期完成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页中文综述，包含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44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篇引用、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图和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5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表。</a:t>
            </a:r>
          </a:p>
        </p:txBody>
      </p:sp>
    </p:spTree>
    <p:extLst>
      <p:ext uri="{BB962C8B-B14F-4D97-AF65-F5344CB8AC3E}">
        <p14:creationId xmlns:p14="http://schemas.microsoft.com/office/powerpoint/2010/main" val="2479098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时间安排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18849B-518C-0884-3255-2C97780AD4D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3DB250-279B-1252-FCB9-868260657E77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后续时间安排分为近期准备、中期实验和后期论文三个阶段。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295A49-F4EA-4A03-6356-A3D4FDBACD6B}"/>
              </a:ext>
            </a:extLst>
          </p:cNvPr>
          <p:cNvSpPr/>
          <p:nvPr/>
        </p:nvSpPr>
        <p:spPr>
          <a:xfrm>
            <a:off x="29210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近期准备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BD51E8-59B2-7CA4-C772-80A090F62CCC}"/>
              </a:ext>
            </a:extLst>
          </p:cNvPr>
          <p:cNvSpPr/>
          <p:nvPr/>
        </p:nvSpPr>
        <p:spPr>
          <a:xfrm>
            <a:off x="4749800" y="1828800"/>
            <a:ext cx="3657600" cy="3556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A39C7C-A49C-B482-8B4B-AE879BDE13FC}"/>
              </a:ext>
            </a:extLst>
          </p:cNvPr>
          <p:cNvSpPr/>
          <p:nvPr/>
        </p:nvSpPr>
        <p:spPr>
          <a:xfrm>
            <a:off x="84074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后期论文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FB40E7-541B-629D-18A8-907489BDB246}"/>
              </a:ext>
            </a:extLst>
          </p:cNvPr>
          <p:cNvSpPr/>
          <p:nvPr/>
        </p:nvSpPr>
        <p:spPr>
          <a:xfrm>
            <a:off x="2921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M1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DE8FC9-F80B-ADE0-989B-4D98A1131DCC}"/>
              </a:ext>
            </a:extLst>
          </p:cNvPr>
          <p:cNvSpPr/>
          <p:nvPr/>
        </p:nvSpPr>
        <p:spPr>
          <a:xfrm>
            <a:off x="3835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M2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704EAE-1DA6-81E7-7DB0-30A9D3584738}"/>
              </a:ext>
            </a:extLst>
          </p:cNvPr>
          <p:cNvSpPr/>
          <p:nvPr/>
        </p:nvSpPr>
        <p:spPr>
          <a:xfrm>
            <a:off x="4749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M3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193B4D-FBD2-1C96-B6F9-1F4C08A43417}"/>
              </a:ext>
            </a:extLst>
          </p:cNvPr>
          <p:cNvSpPr/>
          <p:nvPr/>
        </p:nvSpPr>
        <p:spPr>
          <a:xfrm>
            <a:off x="56642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M4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E1948B5-90A9-41BD-145C-C4B5D44D8E49}"/>
              </a:ext>
            </a:extLst>
          </p:cNvPr>
          <p:cNvSpPr/>
          <p:nvPr/>
        </p:nvSpPr>
        <p:spPr>
          <a:xfrm>
            <a:off x="65786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M5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7CCF44-1301-E09D-5BFF-03A815E2FE53}"/>
              </a:ext>
            </a:extLst>
          </p:cNvPr>
          <p:cNvSpPr/>
          <p:nvPr/>
        </p:nvSpPr>
        <p:spPr>
          <a:xfrm>
            <a:off x="7493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M6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AF3948-5802-86C4-13FF-06E40C692F66}"/>
              </a:ext>
            </a:extLst>
          </p:cNvPr>
          <p:cNvSpPr/>
          <p:nvPr/>
        </p:nvSpPr>
        <p:spPr>
          <a:xfrm>
            <a:off x="8407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M7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25E6D0E-B225-C345-8C04-98F712E81675}"/>
              </a:ext>
            </a:extLst>
          </p:cNvPr>
          <p:cNvSpPr/>
          <p:nvPr/>
        </p:nvSpPr>
        <p:spPr>
          <a:xfrm>
            <a:off x="9321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M8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2069CF-2695-EE2C-776F-1FC9E5DABE1B}"/>
              </a:ext>
            </a:extLst>
          </p:cNvPr>
          <p:cNvSpPr/>
          <p:nvPr/>
        </p:nvSpPr>
        <p:spPr>
          <a:xfrm>
            <a:off x="889000" y="28321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开题定稿与平台补充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E80687B-8DDF-04C3-E937-9406CACC0E4C}"/>
              </a:ext>
            </a:extLst>
          </p:cNvPr>
          <p:cNvSpPr/>
          <p:nvPr/>
        </p:nvSpPr>
        <p:spPr>
          <a:xfrm>
            <a:off x="2921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E5BC73A-8974-8F27-E382-D9F31410C4E8}"/>
              </a:ext>
            </a:extLst>
          </p:cNvPr>
          <p:cNvSpPr/>
          <p:nvPr/>
        </p:nvSpPr>
        <p:spPr>
          <a:xfrm>
            <a:off x="3835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345BABF-D488-21A6-F127-75F3A03A58DF}"/>
              </a:ext>
            </a:extLst>
          </p:cNvPr>
          <p:cNvSpPr/>
          <p:nvPr/>
        </p:nvSpPr>
        <p:spPr>
          <a:xfrm>
            <a:off x="4749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3DC0646-F8E8-5F0A-DD9B-C10D71B687B0}"/>
              </a:ext>
            </a:extLst>
          </p:cNvPr>
          <p:cNvSpPr/>
          <p:nvPr/>
        </p:nvSpPr>
        <p:spPr>
          <a:xfrm>
            <a:off x="56642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45415E8-AF3D-2D20-B3D2-01ECB7B5887F}"/>
              </a:ext>
            </a:extLst>
          </p:cNvPr>
          <p:cNvSpPr/>
          <p:nvPr/>
        </p:nvSpPr>
        <p:spPr>
          <a:xfrm>
            <a:off x="65786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A30ACB-898F-AB40-8B5C-78A0EE2CFC86}"/>
              </a:ext>
            </a:extLst>
          </p:cNvPr>
          <p:cNvSpPr/>
          <p:nvPr/>
        </p:nvSpPr>
        <p:spPr>
          <a:xfrm>
            <a:off x="7493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8D8A984-D70D-75AE-749E-61E23A1C2738}"/>
              </a:ext>
            </a:extLst>
          </p:cNvPr>
          <p:cNvSpPr/>
          <p:nvPr/>
        </p:nvSpPr>
        <p:spPr>
          <a:xfrm>
            <a:off x="8407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1C0EEEE-F316-D8F8-E89B-DA8CE0CE1127}"/>
              </a:ext>
            </a:extLst>
          </p:cNvPr>
          <p:cNvSpPr/>
          <p:nvPr/>
        </p:nvSpPr>
        <p:spPr>
          <a:xfrm>
            <a:off x="9321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CC71CF6-E239-B4F4-E78E-2A4C074B1349}"/>
              </a:ext>
            </a:extLst>
          </p:cNvPr>
          <p:cNvSpPr/>
          <p:nvPr/>
        </p:nvSpPr>
        <p:spPr>
          <a:xfrm>
            <a:off x="3035300" y="2921000"/>
            <a:ext cx="1600200" cy="177800"/>
          </a:xfrm>
          <a:prstGeom prst="roundRect">
            <a:avLst/>
          </a:prstGeom>
          <a:solidFill>
            <a:srgbClr val="00468E"/>
          </a:solidFill>
          <a:ln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308CC2E-C5F9-F37D-1D50-6EB69F3106D0}"/>
              </a:ext>
            </a:extLst>
          </p:cNvPr>
          <p:cNvSpPr/>
          <p:nvPr/>
        </p:nvSpPr>
        <p:spPr>
          <a:xfrm>
            <a:off x="889000" y="33655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校验标定与模块消融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362F651-54F1-D123-5325-CE410AD0FE9F}"/>
              </a:ext>
            </a:extLst>
          </p:cNvPr>
          <p:cNvSpPr/>
          <p:nvPr/>
        </p:nvSpPr>
        <p:spPr>
          <a:xfrm>
            <a:off x="2921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6DDA697-3F4F-727D-C57E-57153EEF7549}"/>
              </a:ext>
            </a:extLst>
          </p:cNvPr>
          <p:cNvSpPr/>
          <p:nvPr/>
        </p:nvSpPr>
        <p:spPr>
          <a:xfrm>
            <a:off x="3835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9A77F90-C7FB-EC3D-FAAA-DED54558325D}"/>
              </a:ext>
            </a:extLst>
          </p:cNvPr>
          <p:cNvSpPr/>
          <p:nvPr/>
        </p:nvSpPr>
        <p:spPr>
          <a:xfrm>
            <a:off x="4749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4676232-FDB3-CF42-DB21-6DC5A9566B73}"/>
              </a:ext>
            </a:extLst>
          </p:cNvPr>
          <p:cNvSpPr/>
          <p:nvPr/>
        </p:nvSpPr>
        <p:spPr>
          <a:xfrm>
            <a:off x="56642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45C62A7-6397-1106-6516-6AF68CAE14D5}"/>
              </a:ext>
            </a:extLst>
          </p:cNvPr>
          <p:cNvSpPr/>
          <p:nvPr/>
        </p:nvSpPr>
        <p:spPr>
          <a:xfrm>
            <a:off x="65786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EF12377-C6CE-4054-FC62-2A7566E05DCD}"/>
              </a:ext>
            </a:extLst>
          </p:cNvPr>
          <p:cNvSpPr/>
          <p:nvPr/>
        </p:nvSpPr>
        <p:spPr>
          <a:xfrm>
            <a:off x="7493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577BC65-1E95-1E94-4C69-1D27C9E33830}"/>
              </a:ext>
            </a:extLst>
          </p:cNvPr>
          <p:cNvSpPr/>
          <p:nvPr/>
        </p:nvSpPr>
        <p:spPr>
          <a:xfrm>
            <a:off x="8407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9CD6DC4-C42F-7DC4-0CF4-C5A63E71523F}"/>
              </a:ext>
            </a:extLst>
          </p:cNvPr>
          <p:cNvSpPr/>
          <p:nvPr/>
        </p:nvSpPr>
        <p:spPr>
          <a:xfrm>
            <a:off x="9321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3E1143B6-D564-72F8-B932-D5CBB39E6094}"/>
              </a:ext>
            </a:extLst>
          </p:cNvPr>
          <p:cNvSpPr/>
          <p:nvPr/>
        </p:nvSpPr>
        <p:spPr>
          <a:xfrm>
            <a:off x="3949700" y="3454400"/>
            <a:ext cx="3429000" cy="177800"/>
          </a:xfrm>
          <a:prstGeom prst="roundRect">
            <a:avLst/>
          </a:prstGeom>
          <a:solidFill>
            <a:srgbClr val="EB8A2E"/>
          </a:solidFill>
          <a:ln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07B3D08-B12A-A198-C9A5-9A2FD11D9DAA}"/>
              </a:ext>
            </a:extLst>
          </p:cNvPr>
          <p:cNvSpPr/>
          <p:nvPr/>
        </p:nvSpPr>
        <p:spPr>
          <a:xfrm>
            <a:off x="889000" y="38989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长序列与多专家评测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968D79B-08DD-FF63-650D-38AE94C79C20}"/>
              </a:ext>
            </a:extLst>
          </p:cNvPr>
          <p:cNvSpPr/>
          <p:nvPr/>
        </p:nvSpPr>
        <p:spPr>
          <a:xfrm>
            <a:off x="2921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F71A20F-B04D-3229-6E24-D7E645EDEBEE}"/>
              </a:ext>
            </a:extLst>
          </p:cNvPr>
          <p:cNvSpPr/>
          <p:nvPr/>
        </p:nvSpPr>
        <p:spPr>
          <a:xfrm>
            <a:off x="3835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B433997-A4A9-454F-AB70-C7C865C16CF6}"/>
              </a:ext>
            </a:extLst>
          </p:cNvPr>
          <p:cNvSpPr/>
          <p:nvPr/>
        </p:nvSpPr>
        <p:spPr>
          <a:xfrm>
            <a:off x="4749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478D291-90E5-5B90-F900-5530EFCEF558}"/>
              </a:ext>
            </a:extLst>
          </p:cNvPr>
          <p:cNvSpPr/>
          <p:nvPr/>
        </p:nvSpPr>
        <p:spPr>
          <a:xfrm>
            <a:off x="56642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6EF0F412-7962-494B-90F5-7E6775DC4D09}"/>
              </a:ext>
            </a:extLst>
          </p:cNvPr>
          <p:cNvSpPr/>
          <p:nvPr/>
        </p:nvSpPr>
        <p:spPr>
          <a:xfrm>
            <a:off x="65786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04F0BD9-CA45-C2D0-2AA2-86EB39DE7165}"/>
              </a:ext>
            </a:extLst>
          </p:cNvPr>
          <p:cNvSpPr/>
          <p:nvPr/>
        </p:nvSpPr>
        <p:spPr>
          <a:xfrm>
            <a:off x="7493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4BBB48C-D20A-1685-A749-FA122D74B14A}"/>
              </a:ext>
            </a:extLst>
          </p:cNvPr>
          <p:cNvSpPr/>
          <p:nvPr/>
        </p:nvSpPr>
        <p:spPr>
          <a:xfrm>
            <a:off x="8407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871593E-FAF5-EAA4-B36A-A3F95C5198D3}"/>
              </a:ext>
            </a:extLst>
          </p:cNvPr>
          <p:cNvSpPr/>
          <p:nvPr/>
        </p:nvSpPr>
        <p:spPr>
          <a:xfrm>
            <a:off x="9321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98678F1F-0E81-CA8E-792E-E0B554BA29EB}"/>
              </a:ext>
            </a:extLst>
          </p:cNvPr>
          <p:cNvSpPr/>
          <p:nvPr/>
        </p:nvSpPr>
        <p:spPr>
          <a:xfrm>
            <a:off x="5778500" y="3987800"/>
            <a:ext cx="2514600" cy="177800"/>
          </a:xfrm>
          <a:prstGeom prst="roundRect">
            <a:avLst/>
          </a:prstGeom>
          <a:solidFill>
            <a:srgbClr val="26915F"/>
          </a:solidFill>
          <a:ln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32592D8-CAF9-B2B2-A220-CDA08707D0B5}"/>
              </a:ext>
            </a:extLst>
          </p:cNvPr>
          <p:cNvSpPr/>
          <p:nvPr/>
        </p:nvSpPr>
        <p:spPr>
          <a:xfrm>
            <a:off x="889000" y="44323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平台对比视图与报告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74E36343-FFB0-D542-09F2-9C2D256F0C33}"/>
              </a:ext>
            </a:extLst>
          </p:cNvPr>
          <p:cNvSpPr/>
          <p:nvPr/>
        </p:nvSpPr>
        <p:spPr>
          <a:xfrm>
            <a:off x="2921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93A77EA-9608-3A5F-1F4F-4493BA639052}"/>
              </a:ext>
            </a:extLst>
          </p:cNvPr>
          <p:cNvSpPr/>
          <p:nvPr/>
        </p:nvSpPr>
        <p:spPr>
          <a:xfrm>
            <a:off x="3835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BDEB058-17DC-CC64-8DC2-5B90CA2E8A53}"/>
              </a:ext>
            </a:extLst>
          </p:cNvPr>
          <p:cNvSpPr/>
          <p:nvPr/>
        </p:nvSpPr>
        <p:spPr>
          <a:xfrm>
            <a:off x="4749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B628DD27-50C2-A7D1-BAFC-F9BBB6D7EDDD}"/>
              </a:ext>
            </a:extLst>
          </p:cNvPr>
          <p:cNvSpPr/>
          <p:nvPr/>
        </p:nvSpPr>
        <p:spPr>
          <a:xfrm>
            <a:off x="56642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D70FA25-F49E-F74B-9433-7F64A5F6E3BB}"/>
              </a:ext>
            </a:extLst>
          </p:cNvPr>
          <p:cNvSpPr/>
          <p:nvPr/>
        </p:nvSpPr>
        <p:spPr>
          <a:xfrm>
            <a:off x="65786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EB2046C-3537-64CD-019B-5F4DCC02963C}"/>
              </a:ext>
            </a:extLst>
          </p:cNvPr>
          <p:cNvSpPr/>
          <p:nvPr/>
        </p:nvSpPr>
        <p:spPr>
          <a:xfrm>
            <a:off x="7493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4216B990-C9FC-09BB-849D-0AA8B6EC9C0D}"/>
              </a:ext>
            </a:extLst>
          </p:cNvPr>
          <p:cNvSpPr/>
          <p:nvPr/>
        </p:nvSpPr>
        <p:spPr>
          <a:xfrm>
            <a:off x="8407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0BE0F5C5-E390-BB3E-B809-C0A10EE94AB9}"/>
              </a:ext>
            </a:extLst>
          </p:cNvPr>
          <p:cNvSpPr/>
          <p:nvPr/>
        </p:nvSpPr>
        <p:spPr>
          <a:xfrm>
            <a:off x="9321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9365BFE0-0C27-9BE6-6D22-60CE97ECE34C}"/>
              </a:ext>
            </a:extLst>
          </p:cNvPr>
          <p:cNvSpPr/>
          <p:nvPr/>
        </p:nvSpPr>
        <p:spPr>
          <a:xfrm>
            <a:off x="3949700" y="4521200"/>
            <a:ext cx="4343400" cy="177800"/>
          </a:xfrm>
          <a:prstGeom prst="roundRect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415E0BAA-3C0A-5EB5-65EF-0808A9A0E63F}"/>
              </a:ext>
            </a:extLst>
          </p:cNvPr>
          <p:cNvSpPr/>
          <p:nvPr/>
        </p:nvSpPr>
        <p:spPr>
          <a:xfrm>
            <a:off x="889000" y="49657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论文整理与系统固化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9B9018A1-CEBC-E06B-B9AE-EF90B52D1CE8}"/>
              </a:ext>
            </a:extLst>
          </p:cNvPr>
          <p:cNvSpPr/>
          <p:nvPr/>
        </p:nvSpPr>
        <p:spPr>
          <a:xfrm>
            <a:off x="2921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E155C44-A784-8D65-881C-F91530C3E310}"/>
              </a:ext>
            </a:extLst>
          </p:cNvPr>
          <p:cNvSpPr/>
          <p:nvPr/>
        </p:nvSpPr>
        <p:spPr>
          <a:xfrm>
            <a:off x="3835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197A100-F724-47B2-005E-203F3648B60B}"/>
              </a:ext>
            </a:extLst>
          </p:cNvPr>
          <p:cNvSpPr/>
          <p:nvPr/>
        </p:nvSpPr>
        <p:spPr>
          <a:xfrm>
            <a:off x="4749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1CC8D5BB-4D71-FF2C-00E5-5386917EB17E}"/>
              </a:ext>
            </a:extLst>
          </p:cNvPr>
          <p:cNvSpPr/>
          <p:nvPr/>
        </p:nvSpPr>
        <p:spPr>
          <a:xfrm>
            <a:off x="56642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E4F7F829-6FD2-E518-DA11-89480AF9681F}"/>
              </a:ext>
            </a:extLst>
          </p:cNvPr>
          <p:cNvSpPr/>
          <p:nvPr/>
        </p:nvSpPr>
        <p:spPr>
          <a:xfrm>
            <a:off x="65786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4B67BF3-4E0F-7AD0-4B2B-08D5B2EDB251}"/>
              </a:ext>
            </a:extLst>
          </p:cNvPr>
          <p:cNvSpPr/>
          <p:nvPr/>
        </p:nvSpPr>
        <p:spPr>
          <a:xfrm>
            <a:off x="7493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5AFE6660-E775-FA7D-16C6-3F357EDE1624}"/>
              </a:ext>
            </a:extLst>
          </p:cNvPr>
          <p:cNvSpPr/>
          <p:nvPr/>
        </p:nvSpPr>
        <p:spPr>
          <a:xfrm>
            <a:off x="8407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8BBB786D-A48D-A33F-EF8C-3BADB8F1205A}"/>
              </a:ext>
            </a:extLst>
          </p:cNvPr>
          <p:cNvSpPr/>
          <p:nvPr/>
        </p:nvSpPr>
        <p:spPr>
          <a:xfrm>
            <a:off x="9321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5AC9475B-487C-E03A-835C-106F61737A14}"/>
              </a:ext>
            </a:extLst>
          </p:cNvPr>
          <p:cNvSpPr/>
          <p:nvPr/>
        </p:nvSpPr>
        <p:spPr>
          <a:xfrm>
            <a:off x="8521700" y="5054600"/>
            <a:ext cx="1600200" cy="177800"/>
          </a:xfrm>
          <a:prstGeom prst="roundRect">
            <a:avLst/>
          </a:prstGeom>
          <a:solidFill>
            <a:srgbClr val="205291"/>
          </a:solidFill>
          <a:ln>
            <a:solidFill>
              <a:srgbClr val="2052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2CA8C03C-658F-CDF7-1635-EEB6E76FCE01}"/>
              </a:ext>
            </a:extLst>
          </p:cNvPr>
          <p:cNvSpPr/>
          <p:nvPr/>
        </p:nvSpPr>
        <p:spPr>
          <a:xfrm>
            <a:off x="1143000" y="5588000"/>
            <a:ext cx="9906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近期完成开题与平台补齐，中期集中做训练消融，后期整理论文并补充实验。</a:t>
            </a:r>
          </a:p>
        </p:txBody>
      </p:sp>
    </p:spTree>
    <p:extLst>
      <p:ext uri="{BB962C8B-B14F-4D97-AF65-F5344CB8AC3E}">
        <p14:creationId xmlns:p14="http://schemas.microsoft.com/office/powerpoint/2010/main" val="498380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风险与应对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B91F74-B9D1-D097-6DF3-15BE3B45476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A229E7-ED0F-6E8A-7904-1FDAF448B33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主要风险来自训练质量、算力约束、多专家效果和校验标定复杂度。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B157D0-AFE9-4B9A-E4DB-101056302C3E}"/>
              </a:ext>
            </a:extLst>
          </p:cNvPr>
          <p:cNvSpPr/>
          <p:nvPr/>
        </p:nvSpPr>
        <p:spPr>
          <a:xfrm>
            <a:off x="889000" y="19050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训练质量未知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59A2B36-8293-0297-9996-59D3E9D459A9}"/>
              </a:ext>
            </a:extLst>
          </p:cNvPr>
          <p:cNvSpPr/>
          <p:nvPr/>
        </p:nvSpPr>
        <p:spPr>
          <a:xfrm>
            <a:off x="3619500" y="19050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消融实验逐步推进，每一步保留独立结论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8FA63B-1EA8-F711-9F47-72CC2309F292}"/>
              </a:ext>
            </a:extLst>
          </p:cNvPr>
          <p:cNvSpPr/>
          <p:nvPr/>
        </p:nvSpPr>
        <p:spPr>
          <a:xfrm>
            <a:off x="889000" y="27686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算力限制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86D9F95-AEEC-540B-8E38-6E0927D25FC7}"/>
              </a:ext>
            </a:extLst>
          </p:cNvPr>
          <p:cNvSpPr/>
          <p:nvPr/>
        </p:nvSpPr>
        <p:spPr>
          <a:xfrm>
            <a:off x="3619500" y="27686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按里程碑分批申请，优先小规模验证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CE7FF1C-78B0-8848-D572-ABD3C71A2002}"/>
              </a:ext>
            </a:extLst>
          </p:cNvPr>
          <p:cNvSpPr/>
          <p:nvPr/>
        </p:nvSpPr>
        <p:spPr>
          <a:xfrm>
            <a:off x="889000" y="36322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多专家收益不稳定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9EAB756-F629-5067-461D-3E1551E0FA3F}"/>
              </a:ext>
            </a:extLst>
          </p:cNvPr>
          <p:cNvSpPr/>
          <p:nvPr/>
        </p:nvSpPr>
        <p:spPr>
          <a:xfrm>
            <a:off x="3619500" y="36322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保留单模型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baseline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作为对照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3B8AF34-C022-485F-1F1E-1BBE0C673DA3}"/>
              </a:ext>
            </a:extLst>
          </p:cNvPr>
          <p:cNvSpPr/>
          <p:nvPr/>
        </p:nvSpPr>
        <p:spPr>
          <a:xfrm>
            <a:off x="889000" y="44958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阈值标定复杂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BD76903-0CB0-D065-5247-87DB78C6F3F2}"/>
              </a:ext>
            </a:extLst>
          </p:cNvPr>
          <p:cNvSpPr/>
          <p:nvPr/>
        </p:nvSpPr>
        <p:spPr>
          <a:xfrm>
            <a:off x="3619500" y="44958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先标定主要失败模式，再逐步扩展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476AC49-BA5B-E40E-2DB8-92A788335FEF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后续按优先级推进，确保每个阶段都有可复核产出。</a:t>
            </a:r>
          </a:p>
        </p:txBody>
      </p:sp>
    </p:spTree>
    <p:extLst>
      <p:ext uri="{BB962C8B-B14F-4D97-AF65-F5344CB8AC3E}">
        <p14:creationId xmlns:p14="http://schemas.microsoft.com/office/powerpoint/2010/main" val="3613552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7BD9E8-35E3-A101-DC72-91E2C1055C4E}"/>
              </a:ext>
            </a:extLst>
          </p:cNvPr>
          <p:cNvSpPr/>
          <p:nvPr/>
        </p:nvSpPr>
        <p:spPr>
          <a:xfrm>
            <a:off x="1143000" y="2095500"/>
            <a:ext cx="9906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>
                <a:solidFill>
                  <a:srgbClr val="00468E"/>
                </a:solidFill>
                <a:latin typeface="Microsoft YaHei" panose="020B0503020204020204" pitchFamily="34" charset="-122"/>
              </a:rPr>
              <a:t>总结致谢
敬请批评指正！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B803EB-B7C0-01C3-A7F6-E429870026F1}"/>
              </a:ext>
            </a:extLst>
          </p:cNvPr>
          <p:cNvSpPr/>
          <p:nvPr/>
        </p:nvSpPr>
        <p:spPr>
          <a:xfrm>
            <a:off x="1905000" y="3492500"/>
            <a:ext cx="838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本课题从 </a:t>
            </a:r>
            <a:r>
              <a:rPr lang="en-US" altLang="zh-CN" b="1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模型的优势出发，针对长序列漂移、缺乏校验和单模型局限三个问题，设计融合空间记忆、几何校验和多专家编排的新型架构。
同时开发聚合管理平台，支撑多模型对比实验和后续架构评测。</a:t>
            </a:r>
          </a:p>
        </p:txBody>
      </p:sp>
    </p:spTree>
    <p:extLst>
      <p:ext uri="{BB962C8B-B14F-4D97-AF65-F5344CB8AC3E}">
        <p14:creationId xmlns:p14="http://schemas.microsoft.com/office/powerpoint/2010/main" val="2963931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1829</Words>
  <Application>Microsoft Office PowerPoint</Application>
  <PresentationFormat>宽屏</PresentationFormat>
  <Paragraphs>260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1</cp:revision>
  <dcterms:created xsi:type="dcterms:W3CDTF">2026-05-18T02:51:14Z</dcterms:created>
  <dcterms:modified xsi:type="dcterms:W3CDTF">2026-05-18T02:51:14Z</dcterms:modified>
</cp:coreProperties>
</file>