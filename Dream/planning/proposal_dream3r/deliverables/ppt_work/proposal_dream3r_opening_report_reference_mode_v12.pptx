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8" r:id="rId3"/>
    <p:sldId id="327" r:id="rId4"/>
    <p:sldId id="281" r:id="rId5"/>
    <p:sldId id="307" r:id="rId6"/>
    <p:sldId id="328" r:id="rId7"/>
    <p:sldId id="29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37" r:id="rId17"/>
    <p:sldId id="338" r:id="rId18"/>
    <p:sldId id="339" r:id="rId19"/>
    <p:sldId id="340" r:id="rId20"/>
    <p:sldId id="341" r:id="rId21"/>
    <p:sldId id="342" r:id="rId22"/>
    <p:sldId id="323" r:id="rId23"/>
    <p:sldId id="343" r:id="rId24"/>
    <p:sldId id="344" r:id="rId25"/>
    <p:sldId id="269" r:id="rId26"/>
    <p:sldId id="345" r:id="rId27"/>
    <p:sldId id="294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B3EE96-D12C-8955-8666-3BDB2B8AB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A8AAEE2-3CED-FC11-49BD-D05F546597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1A97CA-3DB4-DBE8-C277-D216A78C7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5629A-2ADA-433A-93AF-DF26E006DE3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0EC62-081E-6CCB-31C7-644620ECB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0BC161-675C-FF86-41F1-F2DE1C165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4EDA-C473-47D5-96AF-D8168F86D6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35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D58048-A7E1-7136-FAC1-52EC982FD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E49266-DE07-C3B7-99DC-5C8C4FD03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8BD7B5-61E7-2392-7D01-577311A2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5629A-2ADA-433A-93AF-DF26E006DE3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01EA85-22B3-8544-3785-554103713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DFBAF2-373B-8115-5368-8C2085075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4EDA-C473-47D5-96AF-D8168F86D6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744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570F69-72CD-D11D-DD81-1AC9742EB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CEB8B2-680E-765D-562B-81FB882AA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23A8B1-8652-CF26-7D35-BEA5EC11B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5629A-2ADA-433A-93AF-DF26E006DE3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EB85C2-2FF8-B73F-3E70-D2ED67119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FE0493-FE61-8F67-43A5-E005D35D1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4EDA-C473-47D5-96AF-D8168F86D6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4362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E1ABC1-F4E2-41CB-040F-EF16799FB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1B2C13-50DD-CF99-0296-6060FDDC3A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EFB4B9-BFEC-4310-0055-4734EA075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C0EC1E-2142-6620-AA60-6F2B9141F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5629A-2ADA-433A-93AF-DF26E006DE3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1CBC9B-FA38-250F-4060-92E6575BF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0DB0FD-D465-F726-6FA7-1EB71133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4EDA-C473-47D5-96AF-D8168F86D6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050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AB0525-D2AB-EE8D-E5C9-E399BC6D6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81AF37-A327-1161-451B-4FF789954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3AC613-5A7D-C8C6-2513-78674EE8C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4625AE7-02AC-BD20-E32D-5077F3274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0AECC6-5536-DD04-7BED-2651664CCB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B8B70C6-3247-FF20-5AF2-4F617DBB6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5629A-2ADA-433A-93AF-DF26E006DE3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EB795EC-16CE-1F07-836A-40F6F8751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031E15D-3194-1984-45A5-D50D577BA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4EDA-C473-47D5-96AF-D8168F86D6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483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C9C8A8-29A2-DDA0-E496-62C2382BB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9AA5A98-5D02-D82E-5DD0-208E43515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5629A-2ADA-433A-93AF-DF26E006DE3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993D00-65E2-95B9-7EAC-D5A1ADF61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FC1FD9-4D75-4F9C-7CDD-F27A73F8F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4EDA-C473-47D5-96AF-D8168F86D6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890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96C9C37-721B-152E-9DB8-FC3E775EC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5629A-2ADA-433A-93AF-DF26E006DE3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BC5642-3442-2ED6-C5F5-C11DF94D2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093F0D-2036-CD66-3B4A-1B0FAFA73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4EDA-C473-47D5-96AF-D8168F86D6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70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2D0A13-9E8A-AF55-AA96-FF0358CF0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C13851-B05B-DEDC-B353-333A49F8A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4003DF-775A-1C20-2C2A-6D3CF7C955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AAB368-A9EB-2774-E07B-52DC2D6B3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5629A-2ADA-433A-93AF-DF26E006DE3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1D926C-466A-3745-458A-EA74A05C7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A3A939-97B8-D24D-49A8-1B50FEE02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4EDA-C473-47D5-96AF-D8168F86D6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106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CB6C06-D85E-9B50-C017-77653FDBB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26FE448-1E51-2DBC-13B5-B7D1F1AA99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5D2457-BDCF-EB1F-2FCB-9023B049A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A7FE35-63D4-FCF7-44F2-859F4FF0E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5629A-2ADA-433A-93AF-DF26E006DE3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ADE8B9-71CC-BE2F-3683-E752EEAC9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565DDC-171D-43EB-5A37-8278464FB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4EDA-C473-47D5-96AF-D8168F86D6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914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B0EA38-6E75-34E3-96C3-CDD1C6DC2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4B42073-2FBF-8388-168E-85708BC77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6C8C78-31BB-00EF-7D4B-D36D1133E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5629A-2ADA-433A-93AF-DF26E006DE3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9130C3-DEA4-AE12-BC5C-9229B1BC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9E8331-FB68-FA44-4B51-E285CDB64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4EDA-C473-47D5-96AF-D8168F86D6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223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CF2D2A9-9D67-70D0-F107-5F48DF1ED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945EF5-FAEF-1E52-D505-1CCDBBEEAC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525C67-4687-3CC8-9823-DB426962E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5629A-2ADA-433A-93AF-DF26E006DE3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FBC3CF-D875-BE06-74DB-EEE0F1419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37D73A-40DB-37BE-1111-F8B4E666B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4EDA-C473-47D5-96AF-D8168F86D6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5792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988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2DE668D-130D-0107-088B-15E75AA5E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580E7D-B8E7-F9E6-E0E7-9DEAE7281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020A5A-D6A8-95DB-3D08-E0545DC627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5629A-2ADA-433A-93AF-DF26E006DE3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EE6FC5-899D-50E6-AB0F-45E8D0AE16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792087-E34C-A327-F251-9ABF5B143E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44EDA-C473-47D5-96AF-D8168F86D6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704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DC642186-E975-96D8-8408-C4456DEE3F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C9DA934-52C4-4CB2-4D02-075830AA3AF2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685800" y="1366919"/>
            <a:ext cx="10835640" cy="2576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4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候选架构设计与统一聚合管理平台</a:t>
            </a:r>
            <a:endParaRPr lang="zh-CN" altLang="en-US" sz="4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4839038" y="4461335"/>
            <a:ext cx="2768614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4454012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endParaRPr lang="zh-CN" altLang="en-US" sz="32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5955943" y="4461337"/>
            <a:ext cx="10454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4464784" y="10234"/>
            <a:ext cx="32624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硕士学位论文开题报告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5243046" y="5238426"/>
            <a:ext cx="17059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2400" dirty="0">
              <a:ln w="0"/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4310896" y="5721158"/>
            <a:ext cx="3570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938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05E829C-38AE-0F9F-18F4-745DC24EF226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F5628D-AFCC-9C6C-8069-B5CE9A7D4683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21EF7EA-4E8C-2D7A-F058-115D79231E73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8A195AB7-D1AB-AD5E-849C-A5B3B6C81F54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9C431A6-3D5F-F5E6-9832-2336AEC105E7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8F82760-0691-B459-D95C-DD0A4FA38CD3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30E7C96-C833-E93A-1648-78D8956AF409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背景与现状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50F1302-5ABC-401F-3364-3719DA135162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0E9E3F-1581-5C8C-B594-2053031AAC91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642C8D1-DDB8-489A-4618-44EAFA5AFC3F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2031762-43CC-4987-34E2-356239EE44EB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候选架构研究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545046-ADBF-52E6-CF96-56D4F184D99B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3C17C55-1BE2-E33E-3D4C-658138E9F9DF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F11AD54-FDA4-DC58-46F4-E179672E5D62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3BC4B75B-81D3-E28D-971A-F0407E3053E3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软件平台建设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96BEBE5-0573-B55A-E191-8876A795B68D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E78C5D7-E368-C2B9-B800-2222F5513971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D1484CD-C671-E727-2CA3-3FEBB9F7D1DE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65B1D209-1525-ACA4-D7A8-AB22C3ADA678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</p:spTree>
    <p:extLst>
      <p:ext uri="{BB962C8B-B14F-4D97-AF65-F5344CB8AC3E}">
        <p14:creationId xmlns:p14="http://schemas.microsoft.com/office/powerpoint/2010/main" val="378558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A3DB-04B7-0F28-5E8A-F56BFA60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C423CAF-2C04-A115-DAA8-7FE393C84F1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0D8A0FD-5522-688B-0919-03AA88600BB6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研究背景：从传统几何到前馈式 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A5AC5E2-93E5-6055-9FD2-27DC8EBA228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1F89365-AE57-49A2-10B0-8098325F81B2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前馈式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将传统几何流程中的多个阶段压缩到神经网络前向推理中。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5E0FFCC-308D-42B6-B693-1027E31E6E5A}"/>
              </a:ext>
            </a:extLst>
          </p:cNvPr>
          <p:cNvSpPr/>
          <p:nvPr/>
        </p:nvSpPr>
        <p:spPr>
          <a:xfrm>
            <a:off x="1016000" y="2095500"/>
            <a:ext cx="2921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传统流程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C017CE9-2430-7BED-59C7-DB165989B1F8}"/>
              </a:ext>
            </a:extLst>
          </p:cNvPr>
          <p:cNvSpPr/>
          <p:nvPr/>
        </p:nvSpPr>
        <p:spPr>
          <a:xfrm>
            <a:off x="1016000" y="2552700"/>
            <a:ext cx="29210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特征匹配
位姿估计
三角化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MVS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973576C7-D6FE-4707-BE04-2DCCE2C5E652}"/>
              </a:ext>
            </a:extLst>
          </p:cNvPr>
          <p:cNvSpPr/>
          <p:nvPr/>
        </p:nvSpPr>
        <p:spPr>
          <a:xfrm>
            <a:off x="4089400" y="29210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35EDB17-0983-E4EA-F6A6-B693CE139E53}"/>
              </a:ext>
            </a:extLst>
          </p:cNvPr>
          <p:cNvSpPr/>
          <p:nvPr/>
        </p:nvSpPr>
        <p:spPr>
          <a:xfrm>
            <a:off x="4699000" y="2095500"/>
            <a:ext cx="2921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表示变化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17FE6C0-EF9F-BA23-47C2-0BD74840A1A5}"/>
              </a:ext>
            </a:extLst>
          </p:cNvPr>
          <p:cNvSpPr/>
          <p:nvPr/>
        </p:nvSpPr>
        <p:spPr>
          <a:xfrm>
            <a:off x="4699000" y="2552700"/>
            <a:ext cx="29210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稠密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pointmap
confidence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相机参数</a:t>
            </a:r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4B8B38CA-38B4-9C9B-12CD-692552FCF7FF}"/>
              </a:ext>
            </a:extLst>
          </p:cNvPr>
          <p:cNvSpPr/>
          <p:nvPr/>
        </p:nvSpPr>
        <p:spPr>
          <a:xfrm>
            <a:off x="7772400" y="29210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0DB99A8-5AA9-E8EE-C909-5E5B83999E3A}"/>
              </a:ext>
            </a:extLst>
          </p:cNvPr>
          <p:cNvSpPr/>
          <p:nvPr/>
        </p:nvSpPr>
        <p:spPr>
          <a:xfrm>
            <a:off x="8382000" y="2095500"/>
            <a:ext cx="2921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方法特点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19A57D3-3479-570F-2D7B-8AAC6993DF46}"/>
              </a:ext>
            </a:extLst>
          </p:cNvPr>
          <p:cNvSpPr/>
          <p:nvPr/>
        </p:nvSpPr>
        <p:spPr>
          <a:xfrm>
            <a:off x="8382000" y="2552700"/>
            <a:ext cx="29210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弱化显式标定
减少级联误差
便于端到端训练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6D0928B-EA88-F4FC-2E3A-484324B8B418}"/>
              </a:ext>
            </a:extLst>
          </p:cNvPr>
          <p:cNvSpPr/>
          <p:nvPr/>
        </p:nvSpPr>
        <p:spPr>
          <a:xfrm>
            <a:off x="1206500" y="4953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研究背景：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范式提供了新的重建入口，但尺度一致性、动态干扰和长序列漂移仍需专门机制。</a:t>
            </a:r>
          </a:p>
        </p:txBody>
      </p:sp>
    </p:spTree>
    <p:extLst>
      <p:ext uri="{BB962C8B-B14F-4D97-AF65-F5344CB8AC3E}">
        <p14:creationId xmlns:p14="http://schemas.microsoft.com/office/powerpoint/2010/main" val="1591685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代表模型：能力谱系与方法特点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1F1D462-08EB-DA33-3E86-2C4DF68B9825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9AAF589-E6E8-91A3-8CC4-204441535DC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现有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研究已经形成多条分支，但每条分支解决的问题并不相同。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A144451-3353-E9EF-1436-BE4DC2E8423D}"/>
              </a:ext>
            </a:extLst>
          </p:cNvPr>
          <p:cNvSpPr/>
          <p:nvPr/>
        </p:nvSpPr>
        <p:spPr>
          <a:xfrm>
            <a:off x="762000" y="20320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DUSt3R / MASt3R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CD7B351-0868-8ABA-BBD9-5CD4FEEC36AD}"/>
              </a:ext>
            </a:extLst>
          </p:cNvPr>
          <p:cNvSpPr/>
          <p:nvPr/>
        </p:nvSpPr>
        <p:spPr>
          <a:xfrm>
            <a:off x="762000" y="2489200"/>
            <a:ext cx="2286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点图重建
三维匹配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30A8360-23AB-553B-51AB-E25CB3F5556E}"/>
              </a:ext>
            </a:extLst>
          </p:cNvPr>
          <p:cNvSpPr/>
          <p:nvPr/>
        </p:nvSpPr>
        <p:spPr>
          <a:xfrm>
            <a:off x="3556000" y="20320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Fast3R / VGGT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9FF6F4A-8E27-A972-FCC2-4AC3C0E63068}"/>
              </a:ext>
            </a:extLst>
          </p:cNvPr>
          <p:cNvSpPr/>
          <p:nvPr/>
        </p:nvSpPr>
        <p:spPr>
          <a:xfrm>
            <a:off x="3556000" y="2489200"/>
            <a:ext cx="2286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多视角前馈
统一几何预测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7A9E2B1-7997-8A05-1EE9-3AFF23CE8832}"/>
              </a:ext>
            </a:extLst>
          </p:cNvPr>
          <p:cNvSpPr/>
          <p:nvPr/>
        </p:nvSpPr>
        <p:spPr>
          <a:xfrm>
            <a:off x="6350000" y="20320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MonST3R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9043FDA-2529-C1A5-9581-3612CD33A1D1}"/>
              </a:ext>
            </a:extLst>
          </p:cNvPr>
          <p:cNvSpPr/>
          <p:nvPr/>
        </p:nvSpPr>
        <p:spPr>
          <a:xfrm>
            <a:off x="6350000" y="2489200"/>
            <a:ext cx="2286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动态场景
运动干扰处理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3DDC55F-1102-CA2A-5094-34C1F65594F7}"/>
              </a:ext>
            </a:extLst>
          </p:cNvPr>
          <p:cNvSpPr/>
          <p:nvPr/>
        </p:nvSpPr>
        <p:spPr>
          <a:xfrm>
            <a:off x="9144000" y="20320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CUT3R / Spann3R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87437A9-8273-5A5F-147B-8295995AC9B6}"/>
              </a:ext>
            </a:extLst>
          </p:cNvPr>
          <p:cNvSpPr/>
          <p:nvPr/>
        </p:nvSpPr>
        <p:spPr>
          <a:xfrm>
            <a:off x="9144000" y="2489200"/>
            <a:ext cx="2286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状态递推
长序列记忆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A319674-7369-2D84-48D2-2446EAA1F4BA}"/>
              </a:ext>
            </a:extLst>
          </p:cNvPr>
          <p:cNvSpPr/>
          <p:nvPr/>
        </p:nvSpPr>
        <p:spPr>
          <a:xfrm>
            <a:off x="1143000" y="4699000"/>
            <a:ext cx="9906000" cy="685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研究现状说明：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能力正在扩展，但点图、记忆、动态处理和测试时校验仍多以分散形式出现。</a:t>
            </a:r>
          </a:p>
        </p:txBody>
      </p:sp>
    </p:spTree>
    <p:extLst>
      <p:ext uri="{BB962C8B-B14F-4D97-AF65-F5344CB8AC3E}">
        <p14:creationId xmlns:p14="http://schemas.microsoft.com/office/powerpoint/2010/main" val="4013144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研究动机：从模型扩展到系统问题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CC7ED2-B7CC-F688-B64A-2F2D613E3285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0AAA689-4ECE-E774-3AFE-0D5F02FB860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本课题从“模型能力扩展”进一步转向“机制组织与实验支撑”两个系统问题。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AE2802-C59C-D91E-6F84-CA2F12DFB095}"/>
              </a:ext>
            </a:extLst>
          </p:cNvPr>
          <p:cNvSpPr/>
          <p:nvPr/>
        </p:nvSpPr>
        <p:spPr>
          <a:xfrm>
            <a:off x="698500" y="1841500"/>
            <a:ext cx="17145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机制分散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7C97D39-CE94-4E74-E32D-DC58BCA0EA70}"/>
              </a:ext>
            </a:extLst>
          </p:cNvPr>
          <p:cNvSpPr/>
          <p:nvPr/>
        </p:nvSpPr>
        <p:spPr>
          <a:xfrm>
            <a:off x="2603500" y="1841500"/>
            <a:ext cx="5778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记忆、校验、动态处理与专家路由缺少统一接口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C3A06CE-0929-A9AE-064C-35CBEEB28A20}"/>
              </a:ext>
            </a:extLst>
          </p:cNvPr>
          <p:cNvSpPr/>
          <p:nvPr/>
        </p:nvSpPr>
        <p:spPr>
          <a:xfrm>
            <a:off x="8572500" y="1841500"/>
            <a:ext cx="2794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候选架构研究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36179D8-4664-1301-8F85-194671E9D7A3}"/>
              </a:ext>
            </a:extLst>
          </p:cNvPr>
          <p:cNvSpPr/>
          <p:nvPr/>
        </p:nvSpPr>
        <p:spPr>
          <a:xfrm>
            <a:off x="698500" y="2679700"/>
            <a:ext cx="17145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证据不足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763F8F-11E5-51FA-BA46-DAE108B2FDDD}"/>
              </a:ext>
            </a:extLst>
          </p:cNvPr>
          <p:cNvSpPr/>
          <p:nvPr/>
        </p:nvSpPr>
        <p:spPr>
          <a:xfrm>
            <a:off x="2603500" y="2679700"/>
            <a:ext cx="5778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模块收益需要通过可退化、可消融实验判断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2AC48ED-CE63-E2DD-E8B3-0EF2A7EE8528}"/>
              </a:ext>
            </a:extLst>
          </p:cNvPr>
          <p:cNvSpPr/>
          <p:nvPr/>
        </p:nvSpPr>
        <p:spPr>
          <a:xfrm>
            <a:off x="8572500" y="2679700"/>
            <a:ext cx="2794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实验协议设计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02740FD-59E8-F9BE-435D-A8C504FDB2AE}"/>
              </a:ext>
            </a:extLst>
          </p:cNvPr>
          <p:cNvSpPr/>
          <p:nvPr/>
        </p:nvSpPr>
        <p:spPr>
          <a:xfrm>
            <a:off x="698500" y="3517900"/>
            <a:ext cx="17145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工程割裂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3D5F9EE-8AF5-2720-2F10-E682F1E534D1}"/>
              </a:ext>
            </a:extLst>
          </p:cNvPr>
          <p:cNvSpPr/>
          <p:nvPr/>
        </p:nvSpPr>
        <p:spPr>
          <a:xfrm>
            <a:off x="2603500" y="3517900"/>
            <a:ext cx="5778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模型仓库、环境、参数和输出格式难以统一比较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0DDDC65-F0B5-8B02-42AA-6261D1BF1C30}"/>
              </a:ext>
            </a:extLst>
          </p:cNvPr>
          <p:cNvSpPr/>
          <p:nvPr/>
        </p:nvSpPr>
        <p:spPr>
          <a:xfrm>
            <a:off x="8572500" y="3517900"/>
            <a:ext cx="2794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聚合管理平台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1C9DE7B-86D9-A7B2-7F2C-3FDEC6EB68CE}"/>
              </a:ext>
            </a:extLst>
          </p:cNvPr>
          <p:cNvSpPr/>
          <p:nvPr/>
        </p:nvSpPr>
        <p:spPr>
          <a:xfrm>
            <a:off x="698500" y="4356100"/>
            <a:ext cx="17145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展示受限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9004648-C25F-1DDB-6114-445767FC91FC}"/>
              </a:ext>
            </a:extLst>
          </p:cNvPr>
          <p:cNvSpPr/>
          <p:nvPr/>
        </p:nvSpPr>
        <p:spPr>
          <a:xfrm>
            <a:off x="2603500" y="4356100"/>
            <a:ext cx="5778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真实平台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UI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尚未定型，先以流程与合同说明系统能力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041041-0052-D5DD-9F5E-858F10AE58F6}"/>
              </a:ext>
            </a:extLst>
          </p:cNvPr>
          <p:cNvSpPr/>
          <p:nvPr/>
        </p:nvSpPr>
        <p:spPr>
          <a:xfrm>
            <a:off x="8572500" y="4356100"/>
            <a:ext cx="2794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后续界面补充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44FC2B8-91BE-BE17-83CB-75D195A39F7F}"/>
              </a:ext>
            </a:extLst>
          </p:cNvPr>
          <p:cNvSpPr/>
          <p:nvPr/>
        </p:nvSpPr>
        <p:spPr>
          <a:xfrm>
            <a:off x="1270000" y="5461000"/>
            <a:ext cx="9652000" cy="533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Microsoft YaHei" panose="020B0503020204020204" pitchFamily="34" charset="-122"/>
              </a:rPr>
              <a:t>开题定位：以候选架构和平台建设两条线共同支撑后续论文实验。</a:t>
            </a:r>
          </a:p>
        </p:txBody>
      </p:sp>
    </p:spTree>
    <p:extLst>
      <p:ext uri="{BB962C8B-B14F-4D97-AF65-F5344CB8AC3E}">
        <p14:creationId xmlns:p14="http://schemas.microsoft.com/office/powerpoint/2010/main" val="2713157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B081201-48A7-74C4-A177-99E4C2E3D38E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29C1F7B-87FC-DA7D-139A-93A63ECC2949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D416E7C-278A-868C-A8F9-F22B2F8FA9EA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77C4402B-E1F6-822F-0ECE-B85E4ECE4334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D8F141-702D-ACDC-DAAC-6C135F680ED7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E5A52E1-9C90-4224-6709-2A53BAD6CC2E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EE04F68C-083B-A073-D719-2018F4BB3755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背景与现状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40DED4B-FD94-FC68-805B-3252701DDDB7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CCEB54A-663F-6344-E20E-B1BC268E2782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184A4E0-C8FC-6F26-184D-6DCA90DDD55E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9D2A6212-4DEB-1DCE-1C53-9E6C4D25AA5B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候选架构研究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124D1A5-60E8-58A9-EC4C-37D54879DDD5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4276A7F-2B9F-F1FB-D16B-A9A4938BEA9D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7213D0A-94E0-D589-E0A1-E33B30DBD33B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CF92A54D-5086-B420-C79D-39B11D19D155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软件平台建设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8C1C9DF-E2D1-30EC-2412-CA1E8C6D3B7C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E34F3DA-A57E-C303-FEC9-91867BD34F0F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0DD23D9-BD14-212D-4627-230AD39DA652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89772CE3-8901-0BF1-6533-62626A0892AF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</p:spTree>
    <p:extLst>
      <p:ext uri="{BB962C8B-B14F-4D97-AF65-F5344CB8AC3E}">
        <p14:creationId xmlns:p14="http://schemas.microsoft.com/office/powerpoint/2010/main" val="3358293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研究流程：从机制到实现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EADAB9-D7E5-51E0-928D-E1E45837772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824D676-EE5B-6D4B-B3AD-B3AF8A56B9C3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Dream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项目的研究流程从资料进入机制提炼，再进入可验证的实现计划。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73532F-A3FD-171A-8ED3-3DF9D760B774}"/>
              </a:ext>
            </a:extLst>
          </p:cNvPr>
          <p:cNvSpPr/>
          <p:nvPr/>
        </p:nvSpPr>
        <p:spPr>
          <a:xfrm>
            <a:off x="4445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资料输入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304556-2458-9FE8-649E-B13F15975978}"/>
              </a:ext>
            </a:extLst>
          </p:cNvPr>
          <p:cNvSpPr/>
          <p:nvPr/>
        </p:nvSpPr>
        <p:spPr>
          <a:xfrm>
            <a:off x="4445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论文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仓库
模型输出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8A10FD24-5F83-9201-540F-1FE4D956A9EC}"/>
              </a:ext>
            </a:extLst>
          </p:cNvPr>
          <p:cNvSpPr/>
          <p:nvPr/>
        </p:nvSpPr>
        <p:spPr>
          <a:xfrm>
            <a:off x="2374900" y="2819400"/>
            <a:ext cx="431800" cy="254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B72797-8A51-4207-A0CC-14C4EB6FBF18}"/>
              </a:ext>
            </a:extLst>
          </p:cNvPr>
          <p:cNvSpPr/>
          <p:nvPr/>
        </p:nvSpPr>
        <p:spPr>
          <a:xfrm>
            <a:off x="27051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机制提炼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3B2F0DC-FBF3-0C9E-07E4-DF6D559EA9B3}"/>
              </a:ext>
            </a:extLst>
          </p:cNvPr>
          <p:cNvSpPr/>
          <p:nvPr/>
        </p:nvSpPr>
        <p:spPr>
          <a:xfrm>
            <a:off x="27051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记忆
校验
路由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E5516F64-39DB-6F02-182A-47E883890C3D}"/>
              </a:ext>
            </a:extLst>
          </p:cNvPr>
          <p:cNvSpPr/>
          <p:nvPr/>
        </p:nvSpPr>
        <p:spPr>
          <a:xfrm>
            <a:off x="4635500" y="2819400"/>
            <a:ext cx="431800" cy="254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AFEC689-989D-F18E-D866-A71221A185C0}"/>
              </a:ext>
            </a:extLst>
          </p:cNvPr>
          <p:cNvSpPr/>
          <p:nvPr/>
        </p:nvSpPr>
        <p:spPr>
          <a:xfrm>
            <a:off x="49657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转化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3E38583-6000-2A8B-AE2F-C143FD782924}"/>
              </a:ext>
            </a:extLst>
          </p:cNvPr>
          <p:cNvSpPr/>
          <p:nvPr/>
        </p:nvSpPr>
        <p:spPr>
          <a:xfrm>
            <a:off x="49657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对应重建瓶颈
形成假设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AE4E6094-2755-F061-6357-4143C719CB19}"/>
              </a:ext>
            </a:extLst>
          </p:cNvPr>
          <p:cNvSpPr/>
          <p:nvPr/>
        </p:nvSpPr>
        <p:spPr>
          <a:xfrm>
            <a:off x="6896100" y="2819400"/>
            <a:ext cx="431800" cy="254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BA742DC-A736-6B33-8774-FD4FD3B09FC3}"/>
              </a:ext>
            </a:extLst>
          </p:cNvPr>
          <p:cNvSpPr/>
          <p:nvPr/>
        </p:nvSpPr>
        <p:spPr>
          <a:xfrm>
            <a:off x="72263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研究单元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4A4DD6D-47F0-781A-858C-9A502A188364}"/>
              </a:ext>
            </a:extLst>
          </p:cNvPr>
          <p:cNvSpPr/>
          <p:nvPr/>
        </p:nvSpPr>
        <p:spPr>
          <a:xfrm>
            <a:off x="72263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定义最小实验
记录证据边界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C6C86340-2160-BDB6-5284-5D2CCBA4D192}"/>
              </a:ext>
            </a:extLst>
          </p:cNvPr>
          <p:cNvSpPr/>
          <p:nvPr/>
        </p:nvSpPr>
        <p:spPr>
          <a:xfrm>
            <a:off x="9156700" y="2819400"/>
            <a:ext cx="431800" cy="254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434C00-23F1-245A-4845-F3934FA10076}"/>
              </a:ext>
            </a:extLst>
          </p:cNvPr>
          <p:cNvSpPr/>
          <p:nvPr/>
        </p:nvSpPr>
        <p:spPr>
          <a:xfrm>
            <a:off x="94869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实现验证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B6DF764-39CA-E005-5459-7786B74D61F3}"/>
              </a:ext>
            </a:extLst>
          </p:cNvPr>
          <p:cNvSpPr/>
          <p:nvPr/>
        </p:nvSpPr>
        <p:spPr>
          <a:xfrm>
            <a:off x="9486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原型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平台
评测报告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35E467-5E7D-0B69-6257-482A039A2B06}"/>
              </a:ext>
            </a:extLst>
          </p:cNvPr>
          <p:cNvSpPr/>
          <p:nvPr/>
        </p:nvSpPr>
        <p:spPr>
          <a:xfrm>
            <a:off x="1016000" y="4762500"/>
            <a:ext cx="102235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该流程用于避免从论文综述直接跳到复现，将每个想法落到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瓶颈、证据级别和下一步实验。</a:t>
            </a:r>
          </a:p>
        </p:txBody>
      </p:sp>
    </p:spTree>
    <p:extLst>
      <p:ext uri="{BB962C8B-B14F-4D97-AF65-F5344CB8AC3E}">
        <p14:creationId xmlns:p14="http://schemas.microsoft.com/office/powerpoint/2010/main" val="1076613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总体架构：总线驱动控制图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2A7272-5DCB-8462-1AE8-65DB0D44EA2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0A47428-AE51-9977-F71E-D4A9D330DCB2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候选架构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被组织为总线驱动控制图，各模块通过显式信号协同。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A5C002-2817-2511-E241-DFCD88E0683E}"/>
              </a:ext>
            </a:extLst>
          </p:cNvPr>
          <p:cNvSpPr/>
          <p:nvPr/>
        </p:nvSpPr>
        <p:spPr>
          <a:xfrm>
            <a:off x="4445000" y="2984500"/>
            <a:ext cx="3302000" cy="1041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MemoryBus
CR-1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至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CR-6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类型化交接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268D54-42A5-F2C8-82CC-7D6C7393DF83}"/>
              </a:ext>
            </a:extLst>
          </p:cNvPr>
          <p:cNvSpPr/>
          <p:nvPr/>
        </p:nvSpPr>
        <p:spPr>
          <a:xfrm>
            <a:off x="1079500" y="1905000"/>
            <a:ext cx="29210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Perceiver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11658B-4345-CB21-C2A4-A6B1F1D4EC51}"/>
              </a:ext>
            </a:extLst>
          </p:cNvPr>
          <p:cNvSpPr/>
          <p:nvPr/>
        </p:nvSpPr>
        <p:spPr>
          <a:xfrm>
            <a:off x="1079500" y="2286000"/>
            <a:ext cx="29210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帧特征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点图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置信度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A396EF-5190-ADC6-D49D-D254D4F3FFA3}"/>
              </a:ext>
            </a:extLst>
          </p:cNvPr>
          <p:cNvSpPr/>
          <p:nvPr/>
        </p:nvSpPr>
        <p:spPr>
          <a:xfrm>
            <a:off x="8191500" y="1905000"/>
            <a:ext cx="29210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SpatialMemory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1DE6FA-C642-EB1F-F02E-A51B777E6395}"/>
              </a:ext>
            </a:extLst>
          </p:cNvPr>
          <p:cNvSpPr/>
          <p:nvPr/>
        </p:nvSpPr>
        <p:spPr>
          <a:xfrm>
            <a:off x="8191500" y="2286000"/>
            <a:ext cx="29210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状态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token /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空间键值库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8F4C37F-04C2-9A58-3D1E-F52026BF0664}"/>
              </a:ext>
            </a:extLst>
          </p:cNvPr>
          <p:cNvSpPr/>
          <p:nvPr/>
        </p:nvSpPr>
        <p:spPr>
          <a:xfrm>
            <a:off x="1079500" y="4318000"/>
            <a:ext cx="29210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Critic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E1CF03-1B47-56F6-7A1B-E1A12074BC44}"/>
              </a:ext>
            </a:extLst>
          </p:cNvPr>
          <p:cNvSpPr/>
          <p:nvPr/>
        </p:nvSpPr>
        <p:spPr>
          <a:xfrm>
            <a:off x="1079500" y="4699000"/>
            <a:ext cx="29210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冲突分数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修复动作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0D0F732-DD49-B30D-7AD0-B8ED8755EC06}"/>
              </a:ext>
            </a:extLst>
          </p:cNvPr>
          <p:cNvSpPr/>
          <p:nvPr/>
        </p:nvSpPr>
        <p:spPr>
          <a:xfrm>
            <a:off x="8191500" y="4318000"/>
            <a:ext cx="29210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Composer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25CA0C7-88D2-B575-9E9E-C4887A32CEC0}"/>
              </a:ext>
            </a:extLst>
          </p:cNvPr>
          <p:cNvSpPr/>
          <p:nvPr/>
        </p:nvSpPr>
        <p:spPr>
          <a:xfrm>
            <a:off x="8191500" y="4699000"/>
            <a:ext cx="29210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专家路由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模型适配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B652FCD-A65B-3CBE-30DF-12DBA06CDCB3}"/>
              </a:ext>
            </a:extLst>
          </p:cNvPr>
          <p:cNvSpPr/>
          <p:nvPr/>
        </p:nvSpPr>
        <p:spPr>
          <a:xfrm>
            <a:off x="4635500" y="4635500"/>
            <a:ext cx="29210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Permanence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B1BE2A7-2BFF-1C93-36F1-FDD14A8CF07F}"/>
              </a:ext>
            </a:extLst>
          </p:cNvPr>
          <p:cNvSpPr/>
          <p:nvPr/>
        </p:nvSpPr>
        <p:spPr>
          <a:xfrm>
            <a:off x="4635500" y="5016500"/>
            <a:ext cx="29210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对象槽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动态抑制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D959B2B-C072-BA19-C247-41A7ADDEB40B}"/>
              </a:ext>
            </a:extLst>
          </p:cNvPr>
          <p:cNvCxnSpPr/>
          <p:nvPr/>
        </p:nvCxnSpPr>
        <p:spPr>
          <a:xfrm>
            <a:off x="4000500" y="2540000"/>
            <a:ext cx="444500" cy="762000"/>
          </a:xfrm>
          <a:prstGeom prst="line">
            <a:avLst/>
          </a:prstGeom>
          <a:ln w="25400">
            <a:solidFill>
              <a:srgbClr val="286F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C5AA3DE-C483-4C4D-174A-07DCFA9885F6}"/>
              </a:ext>
            </a:extLst>
          </p:cNvPr>
          <p:cNvCxnSpPr/>
          <p:nvPr/>
        </p:nvCxnSpPr>
        <p:spPr>
          <a:xfrm flipH="1">
            <a:off x="7747000" y="2540000"/>
            <a:ext cx="444500" cy="762000"/>
          </a:xfrm>
          <a:prstGeom prst="line">
            <a:avLst/>
          </a:prstGeom>
          <a:ln w="25400">
            <a:solidFill>
              <a:srgbClr val="286F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4B1E4DC-DFF0-0868-9C89-67B45BE36BF5}"/>
              </a:ext>
            </a:extLst>
          </p:cNvPr>
          <p:cNvCxnSpPr/>
          <p:nvPr/>
        </p:nvCxnSpPr>
        <p:spPr>
          <a:xfrm flipV="1">
            <a:off x="4000500" y="3708400"/>
            <a:ext cx="444500" cy="990600"/>
          </a:xfrm>
          <a:prstGeom prst="line">
            <a:avLst/>
          </a:prstGeom>
          <a:ln w="25400">
            <a:solidFill>
              <a:srgbClr val="286F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AD37B6C-E150-DE9F-A53D-12BA97E1A8E3}"/>
              </a:ext>
            </a:extLst>
          </p:cNvPr>
          <p:cNvCxnSpPr/>
          <p:nvPr/>
        </p:nvCxnSpPr>
        <p:spPr>
          <a:xfrm flipH="1" flipV="1">
            <a:off x="7747000" y="3708400"/>
            <a:ext cx="444500" cy="990600"/>
          </a:xfrm>
          <a:prstGeom prst="line">
            <a:avLst/>
          </a:prstGeom>
          <a:ln w="25400">
            <a:solidFill>
              <a:srgbClr val="286F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2D9023F-B80B-3C10-7BE3-B64294109AA6}"/>
              </a:ext>
            </a:extLst>
          </p:cNvPr>
          <p:cNvCxnSpPr/>
          <p:nvPr/>
        </p:nvCxnSpPr>
        <p:spPr>
          <a:xfrm flipV="1">
            <a:off x="6096000" y="4025900"/>
            <a:ext cx="0" cy="609600"/>
          </a:xfrm>
          <a:prstGeom prst="line">
            <a:avLst/>
          </a:prstGeom>
          <a:ln w="25400">
            <a:solidFill>
              <a:srgbClr val="286F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3BB73FB7-BCDE-7E6D-D97B-DD2107F444B0}"/>
              </a:ext>
            </a:extLst>
          </p:cNvPr>
          <p:cNvSpPr/>
          <p:nvPr/>
        </p:nvSpPr>
        <p:spPr>
          <a:xfrm>
            <a:off x="1524000" y="5588000"/>
            <a:ext cx="9144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架构重点：重建不再是单一黑箱调用，而是由可记录信号驱动的模块协同过程。</a:t>
            </a:r>
          </a:p>
        </p:txBody>
      </p:sp>
    </p:spTree>
    <p:extLst>
      <p:ext uri="{BB962C8B-B14F-4D97-AF65-F5344CB8AC3E}">
        <p14:creationId xmlns:p14="http://schemas.microsoft.com/office/powerpoint/2010/main" val="995518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统一表示：点图、置信度与证据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EB3850B-B6C8-0FBC-75B5-48828F1E3E45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05B79C-F5BD-05DA-C852-C0313D20B30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统一表示层把不同模型的输出整理为后续模块可以读取的共同语言。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65A8A5-C2B2-221C-AA57-9C82D44A4101}"/>
              </a:ext>
            </a:extLst>
          </p:cNvPr>
          <p:cNvSpPr/>
          <p:nvPr/>
        </p:nvSpPr>
        <p:spPr>
          <a:xfrm>
            <a:off x="8255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点图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EEE1483-9DE2-616D-EF74-9D389AE6138C}"/>
              </a:ext>
            </a:extLst>
          </p:cNvPr>
          <p:cNvSpPr/>
          <p:nvPr/>
        </p:nvSpPr>
        <p:spPr>
          <a:xfrm>
            <a:off x="825500" y="2552700"/>
            <a:ext cx="2286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pointmap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三维几何主表示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F456A4-FCA3-A033-C5F8-CDEB0F1B2CF6}"/>
              </a:ext>
            </a:extLst>
          </p:cNvPr>
          <p:cNvSpPr/>
          <p:nvPr/>
        </p:nvSpPr>
        <p:spPr>
          <a:xfrm>
            <a:off x="3556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置信度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45A5D7-A949-5705-6278-DFB3589F8D2D}"/>
              </a:ext>
            </a:extLst>
          </p:cNvPr>
          <p:cNvSpPr/>
          <p:nvPr/>
        </p:nvSpPr>
        <p:spPr>
          <a:xfrm>
            <a:off x="3556000" y="2552700"/>
            <a:ext cx="2286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confidence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筛除不可靠区域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897224-5FD5-A1E9-7183-AAD44D4C960E}"/>
              </a:ext>
            </a:extLst>
          </p:cNvPr>
          <p:cNvSpPr/>
          <p:nvPr/>
        </p:nvSpPr>
        <p:spPr>
          <a:xfrm>
            <a:off x="62865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证据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token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6FB4148-779D-3009-0B5D-1F851679489B}"/>
              </a:ext>
            </a:extLst>
          </p:cNvPr>
          <p:cNvSpPr/>
          <p:nvPr/>
        </p:nvSpPr>
        <p:spPr>
          <a:xfrm>
            <a:off x="6286500" y="2552700"/>
            <a:ext cx="2286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evidence tokens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记录局部观测依据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7052F6-9CF8-214A-3C6D-55171A1C93C4}"/>
              </a:ext>
            </a:extLst>
          </p:cNvPr>
          <p:cNvSpPr/>
          <p:nvPr/>
        </p:nvSpPr>
        <p:spPr>
          <a:xfrm>
            <a:off x="9017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元数据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C64C65-DACF-CBCA-2077-C220889B9AE7}"/>
              </a:ext>
            </a:extLst>
          </p:cNvPr>
          <p:cNvSpPr/>
          <p:nvPr/>
        </p:nvSpPr>
        <p:spPr>
          <a:xfrm>
            <a:off x="9017000" y="2552700"/>
            <a:ext cx="2286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camera / scale
runtime / source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843460E-3C88-4D6D-EE8C-7324ACA98D27}"/>
              </a:ext>
            </a:extLst>
          </p:cNvPr>
          <p:cNvSpPr/>
          <p:nvPr/>
        </p:nvSpPr>
        <p:spPr>
          <a:xfrm>
            <a:off x="1206500" y="4889500"/>
            <a:ext cx="9779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统一接口的目的不是掩盖模型差异，而是让差异进入同一校验、记忆和平台记录流程。</a:t>
            </a:r>
          </a:p>
        </p:txBody>
      </p:sp>
    </p:spTree>
    <p:extLst>
      <p:ext uri="{BB962C8B-B14F-4D97-AF65-F5344CB8AC3E}">
        <p14:creationId xmlns:p14="http://schemas.microsoft.com/office/powerpoint/2010/main" val="234223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记忆核心：状态与空间键值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0954EE-0DE6-AFB4-3D76-860C6C50794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78E030-A3B2-7149-C89F-72828F1559A3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C2 Memory v0.3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采用状态递推、空间键值记忆和总线门控写入的混合方案。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474B7E-F57F-6504-4309-41165AFC4492}"/>
              </a:ext>
            </a:extLst>
          </p:cNvPr>
          <p:cNvSpPr/>
          <p:nvPr/>
        </p:nvSpPr>
        <p:spPr>
          <a:xfrm>
            <a:off x="1016000" y="2032000"/>
            <a:ext cx="3175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短期状态通道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3E496A5-E748-5085-ACF8-700E93CDC9AF}"/>
              </a:ext>
            </a:extLst>
          </p:cNvPr>
          <p:cNvSpPr/>
          <p:nvPr/>
        </p:nvSpPr>
        <p:spPr>
          <a:xfrm>
            <a:off x="1016000" y="2603500"/>
            <a:ext cx="3175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>
                <a:solidFill>
                  <a:srgbClr val="081830"/>
                </a:solidFill>
                <a:latin typeface="Microsoft YaHei" panose="020B0503020204020204" pitchFamily="34" charset="-122"/>
              </a:rPr>
              <a:t>CUT3R </a:t>
            </a:r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类状态 </a:t>
            </a:r>
            <a:r>
              <a:rPr lang="en-US" altLang="zh-CN">
                <a:solidFill>
                  <a:srgbClr val="081830"/>
                </a:solidFill>
                <a:latin typeface="Microsoft YaHei" panose="020B0503020204020204" pitchFamily="34" charset="-122"/>
              </a:rPr>
              <a:t>token </a:t>
            </a:r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递推
保留跨窗口连续信息
适合近期上下文更新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6558C7-64D9-C0AF-B2BD-8569BCE492BE}"/>
              </a:ext>
            </a:extLst>
          </p:cNvPr>
          <p:cNvSpPr/>
          <p:nvPr/>
        </p:nvSpPr>
        <p:spPr>
          <a:xfrm>
            <a:off x="8001000" y="2032000"/>
            <a:ext cx="3175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长期空间通道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24B00E-08BC-30BB-3DF8-9EB4F83409EC}"/>
              </a:ext>
            </a:extLst>
          </p:cNvPr>
          <p:cNvSpPr/>
          <p:nvPr/>
        </p:nvSpPr>
        <p:spPr>
          <a:xfrm>
            <a:off x="8001000" y="2603500"/>
            <a:ext cx="3175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>
                <a:solidFill>
                  <a:srgbClr val="081830"/>
                </a:solidFill>
                <a:latin typeface="Microsoft YaHei" panose="020B0503020204020204" pitchFamily="34" charset="-122"/>
              </a:rPr>
              <a:t>Spann3R </a:t>
            </a:r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类空间键值库
保留可检索场景锚点
适合回环与重访线索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F1D01D-2721-14D8-2AA8-E4A4B4A94E55}"/>
              </a:ext>
            </a:extLst>
          </p:cNvPr>
          <p:cNvSpPr/>
          <p:nvPr/>
        </p:nvSpPr>
        <p:spPr>
          <a:xfrm>
            <a:off x="4635500" y="2413000"/>
            <a:ext cx="2921000" cy="1422400"/>
          </a:xfrm>
          <a:prstGeom prst="rect">
            <a:avLst/>
          </a:prstGeom>
          <a:solidFill>
            <a:srgbClr val="E8F2FB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V3 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混合方案
状态 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token + 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空间键值库
总线门控写入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A5D84B66-7E78-6B57-74DD-04C826182BA2}"/>
              </a:ext>
            </a:extLst>
          </p:cNvPr>
          <p:cNvSpPr/>
          <p:nvPr/>
        </p:nvSpPr>
        <p:spPr>
          <a:xfrm>
            <a:off x="4191000" y="2984500"/>
            <a:ext cx="4445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9C506AF8-C038-F6BD-402C-8AAC01150C9D}"/>
              </a:ext>
            </a:extLst>
          </p:cNvPr>
          <p:cNvSpPr/>
          <p:nvPr/>
        </p:nvSpPr>
        <p:spPr>
          <a:xfrm>
            <a:off x="7556500" y="2984500"/>
            <a:ext cx="4445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6E1FEA-43A1-C14F-59AD-B0730CAF696A}"/>
              </a:ext>
            </a:extLst>
          </p:cNvPr>
          <p:cNvSpPr/>
          <p:nvPr/>
        </p:nvSpPr>
        <p:spPr>
          <a:xfrm>
            <a:off x="1079500" y="4889500"/>
            <a:ext cx="10033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研究问题：长序列重建中，哪些信息应短期递推，哪些应作为空间锚点长期保留。</a:t>
            </a:r>
          </a:p>
        </p:txBody>
      </p:sp>
    </p:spTree>
    <p:extLst>
      <p:ext uri="{BB962C8B-B14F-4D97-AF65-F5344CB8AC3E}">
        <p14:creationId xmlns:p14="http://schemas.microsoft.com/office/powerpoint/2010/main" val="3307516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长序列机制：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NSA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Mamba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6C0EB0F-E991-5CB4-8A17-288A5EFF15EE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AC367D-ACD7-C1BC-0808-C2CE8CC0C519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长序列机制不只依赖更大注意力窗口，而是结合稀疏注意力和状态空间递推。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18093A-EAC7-EA6B-2560-3AD03E7EF3AB}"/>
              </a:ext>
            </a:extLst>
          </p:cNvPr>
          <p:cNvSpPr/>
          <p:nvPr/>
        </p:nvSpPr>
        <p:spPr>
          <a:xfrm>
            <a:off x="889000" y="2095500"/>
            <a:ext cx="304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NSA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三分支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F017A98-92F5-71DF-FAEC-E02F667B1252}"/>
              </a:ext>
            </a:extLst>
          </p:cNvPr>
          <p:cNvSpPr/>
          <p:nvPr/>
        </p:nvSpPr>
        <p:spPr>
          <a:xfrm>
            <a:off x="889000" y="2552700"/>
            <a:ext cx="3048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compressed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：状态记忆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selected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：锚点检索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sliding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：近期窗口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758BFED6-D698-B55E-1641-E2FD4D1AC8B8}"/>
              </a:ext>
            </a:extLst>
          </p:cNvPr>
          <p:cNvSpPr/>
          <p:nvPr/>
        </p:nvSpPr>
        <p:spPr>
          <a:xfrm>
            <a:off x="4191000" y="2819400"/>
            <a:ext cx="5588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4DC32F-FE69-F2E1-8AE9-8D4FD6CD3D43}"/>
              </a:ext>
            </a:extLst>
          </p:cNvPr>
          <p:cNvSpPr/>
          <p:nvPr/>
        </p:nvSpPr>
        <p:spPr>
          <a:xfrm>
            <a:off x="4953000" y="2095500"/>
            <a:ext cx="2667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Mamba Hybrid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1A57E1-37E6-C56B-7EA6-308C7ED916A4}"/>
              </a:ext>
            </a:extLst>
          </p:cNvPr>
          <p:cNvSpPr/>
          <p:nvPr/>
        </p:nvSpPr>
        <p:spPr>
          <a:xfrm>
            <a:off x="4953000" y="2552700"/>
            <a:ext cx="2667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线性递推状态
跨窗口稳定传递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768524A1-B915-F216-03F7-C5D34292E26C}"/>
              </a:ext>
            </a:extLst>
          </p:cNvPr>
          <p:cNvSpPr/>
          <p:nvPr/>
        </p:nvSpPr>
        <p:spPr>
          <a:xfrm>
            <a:off x="7874000" y="2819400"/>
            <a:ext cx="5588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F86713-796C-F22F-2E69-977752ADD421}"/>
              </a:ext>
            </a:extLst>
          </p:cNvPr>
          <p:cNvSpPr/>
          <p:nvPr/>
        </p:nvSpPr>
        <p:spPr>
          <a:xfrm>
            <a:off x="8636000" y="2095500"/>
            <a:ext cx="2794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实验验证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55D88C3-D509-8658-041D-122DC861CC80}"/>
              </a:ext>
            </a:extLst>
          </p:cNvPr>
          <p:cNvSpPr/>
          <p:nvPr/>
        </p:nvSpPr>
        <p:spPr>
          <a:xfrm>
            <a:off x="8636000" y="2552700"/>
            <a:ext cx="2794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on/off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消融
误差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开销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漂移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AEC7872-7943-1876-F4F6-E74669A734F3}"/>
              </a:ext>
            </a:extLst>
          </p:cNvPr>
          <p:cNvSpPr/>
          <p:nvPr/>
        </p:nvSpPr>
        <p:spPr>
          <a:xfrm>
            <a:off x="1206500" y="4889500"/>
            <a:ext cx="9779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该页强调后续待验证机制，不把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NSA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或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Mamba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写成已证明能提升重建质量的结论。</a:t>
            </a:r>
          </a:p>
        </p:txBody>
      </p:sp>
    </p:spTree>
    <p:extLst>
      <p:ext uri="{BB962C8B-B14F-4D97-AF65-F5344CB8AC3E}">
        <p14:creationId xmlns:p14="http://schemas.microsoft.com/office/powerpoint/2010/main" val="1906843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校验模块：几何自检查与修复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2ABBE3C-8E13-B937-A9D2-4DAB37E8CC5B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682354-E987-C45A-BE7C-D923BB936F2F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校验模块把几何一致性转化为可记录信号，用于检测失败并触发修复。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B6F3BB-296F-52E5-9858-7204C7D1FD56}"/>
              </a:ext>
            </a:extLst>
          </p:cNvPr>
          <p:cNvSpPr/>
          <p:nvPr/>
        </p:nvSpPr>
        <p:spPr>
          <a:xfrm>
            <a:off x="952500" y="2222500"/>
            <a:ext cx="2667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输入信号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F2D386-5BF5-057D-0B31-4C42A3EC4206}"/>
              </a:ext>
            </a:extLst>
          </p:cNvPr>
          <p:cNvSpPr/>
          <p:nvPr/>
        </p:nvSpPr>
        <p:spPr>
          <a:xfrm>
            <a:off x="952500" y="2679700"/>
            <a:ext cx="2667000" cy="119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点图对
置信度
共视关系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4D1BE8F1-9D2B-8251-B075-E4F94523B965}"/>
              </a:ext>
            </a:extLst>
          </p:cNvPr>
          <p:cNvSpPr/>
          <p:nvPr/>
        </p:nvSpPr>
        <p:spPr>
          <a:xfrm>
            <a:off x="3810000" y="2857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68F2D7-D846-5DC9-A3CE-0C8D5DF165F5}"/>
              </a:ext>
            </a:extLst>
          </p:cNvPr>
          <p:cNvSpPr/>
          <p:nvPr/>
        </p:nvSpPr>
        <p:spPr>
          <a:xfrm>
            <a:off x="4635500" y="1968500"/>
            <a:ext cx="2921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几何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Critic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3092AE-44D8-08AC-E16E-D69089C045E9}"/>
              </a:ext>
            </a:extLst>
          </p:cNvPr>
          <p:cNvSpPr/>
          <p:nvPr/>
        </p:nvSpPr>
        <p:spPr>
          <a:xfrm>
            <a:off x="4635500" y="2425700"/>
            <a:ext cx="2921000" cy="170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Sampson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距离
深度一致性
共视冲突
冲突分数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4CDC4BAA-AB6C-D694-4FE8-1199C24B63B2}"/>
              </a:ext>
            </a:extLst>
          </p:cNvPr>
          <p:cNvSpPr/>
          <p:nvPr/>
        </p:nvSpPr>
        <p:spPr>
          <a:xfrm>
            <a:off x="7747000" y="2857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350258-3B7D-3C99-6C5F-E2C19A7D71D2}"/>
              </a:ext>
            </a:extLst>
          </p:cNvPr>
          <p:cNvSpPr/>
          <p:nvPr/>
        </p:nvSpPr>
        <p:spPr>
          <a:xfrm>
            <a:off x="8572500" y="2222500"/>
            <a:ext cx="2667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修复响应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3980B44-28EB-1785-AE90-670B32E286FC}"/>
              </a:ext>
            </a:extLst>
          </p:cNvPr>
          <p:cNvSpPr/>
          <p:nvPr/>
        </p:nvSpPr>
        <p:spPr>
          <a:xfrm>
            <a:off x="8572500" y="2679700"/>
            <a:ext cx="2667000" cy="119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局部重跑
窗口重跑
专家切换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09547A-A45E-303D-4B2F-86B25E81793B}"/>
              </a:ext>
            </a:extLst>
          </p:cNvPr>
          <p:cNvSpPr/>
          <p:nvPr/>
        </p:nvSpPr>
        <p:spPr>
          <a:xfrm>
            <a:off x="3810000" y="4381500"/>
            <a:ext cx="4572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记录字段：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conflict score / repair action / geometry logs</a:t>
            </a:r>
            <a:endParaRPr lang="zh-CN" altLang="en-US" sz="17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DC7352-FB9D-4412-49E6-64938C74C12D}"/>
              </a:ext>
            </a:extLst>
          </p:cNvPr>
          <p:cNvSpPr/>
          <p:nvPr/>
        </p:nvSpPr>
        <p:spPr>
          <a:xfrm>
            <a:off x="1333500" y="5461000"/>
            <a:ext cx="9525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验证指标：失败检出率、修复后误差和额外计算开销。</a:t>
            </a:r>
          </a:p>
        </p:txBody>
      </p:sp>
    </p:spTree>
    <p:extLst>
      <p:ext uri="{BB962C8B-B14F-4D97-AF65-F5344CB8AC3E}">
        <p14:creationId xmlns:p14="http://schemas.microsoft.com/office/powerpoint/2010/main" val="77133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永久性模块：对象槽与动态抑制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8B3B2A-EF3C-FE21-7534-4A82B5A8A8D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4A16B6-5106-39F2-1FFB-9B79BD0718B9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永久性模块用于区分稳定结构、动态对象和不确定区域，避免错误写入长期记忆。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8EDEBA3-F5D2-354E-AD16-C7D25D27D1A7}"/>
              </a:ext>
            </a:extLst>
          </p:cNvPr>
          <p:cNvSpPr/>
          <p:nvPr/>
        </p:nvSpPr>
        <p:spPr>
          <a:xfrm>
            <a:off x="889000" y="1968500"/>
            <a:ext cx="2032000" cy="5842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稳定结构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86A485A-3DCF-81EE-2E0E-7222D23AFC51}"/>
              </a:ext>
            </a:extLst>
          </p:cNvPr>
          <p:cNvSpPr/>
          <p:nvPr/>
        </p:nvSpPr>
        <p:spPr>
          <a:xfrm>
            <a:off x="3175000" y="1968500"/>
            <a:ext cx="7747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允许写入稳定锚点；作为长期空间记忆的主要来源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DB01F9-A594-48B7-061B-9523AE523153}"/>
              </a:ext>
            </a:extLst>
          </p:cNvPr>
          <p:cNvSpPr/>
          <p:nvPr/>
        </p:nvSpPr>
        <p:spPr>
          <a:xfrm>
            <a:off x="889000" y="2921000"/>
            <a:ext cx="2032000" cy="5842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动态对象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AC9AA0-9194-CF6E-57D4-C43638146BF2}"/>
              </a:ext>
            </a:extLst>
          </p:cNvPr>
          <p:cNvSpPr/>
          <p:nvPr/>
        </p:nvSpPr>
        <p:spPr>
          <a:xfrm>
            <a:off x="3175000" y="2921000"/>
            <a:ext cx="7747000" cy="584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进入对象槽跟踪；通过动态抑制降低错误写入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E8AEB5B-822C-9EA5-CF0B-E049B5E93A60}"/>
              </a:ext>
            </a:extLst>
          </p:cNvPr>
          <p:cNvSpPr/>
          <p:nvPr/>
        </p:nvSpPr>
        <p:spPr>
          <a:xfrm>
            <a:off x="889000" y="3873500"/>
            <a:ext cx="2032000" cy="5842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不确定区域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E6A3BB-94D2-3E98-DBE0-7D6D4835B9EC}"/>
              </a:ext>
            </a:extLst>
          </p:cNvPr>
          <p:cNvSpPr/>
          <p:nvPr/>
        </p:nvSpPr>
        <p:spPr>
          <a:xfrm>
            <a:off x="3175000" y="3873500"/>
            <a:ext cx="7747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暂缓写入或隔离；等待后续帧和 </a:t>
            </a:r>
            <a:r>
              <a:rPr lang="en-US" altLang="zh-CN">
                <a:solidFill>
                  <a:srgbClr val="081830"/>
                </a:solidFill>
                <a:latin typeface="Microsoft YaHei" panose="020B0503020204020204" pitchFamily="34" charset="-122"/>
              </a:rPr>
              <a:t>Critic </a:t>
            </a:r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信号确认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0AA2D01-1CDC-6870-01C6-F891BEDDE391}"/>
              </a:ext>
            </a:extLst>
          </p:cNvPr>
          <p:cNvSpPr/>
          <p:nvPr/>
        </p:nvSpPr>
        <p:spPr>
          <a:xfrm>
            <a:off x="4254500" y="4851400"/>
            <a:ext cx="3683000" cy="533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对象槽 </a:t>
            </a:r>
            <a:r>
              <a:rPr lang="en-US" altLang="zh-CN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槽参考位姿 </a:t>
            </a:r>
            <a:r>
              <a:rPr lang="en-US" altLang="zh-CN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动态抑制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D683FB6-AA10-55ED-0F27-5790776C6058}"/>
              </a:ext>
            </a:extLst>
          </p:cNvPr>
          <p:cNvSpPr/>
          <p:nvPr/>
        </p:nvSpPr>
        <p:spPr>
          <a:xfrm>
            <a:off x="1206500" y="5588000"/>
            <a:ext cx="9779000" cy="457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该模块连接动态场景研究和记忆写入策略，是长期记忆质量的前置条件。</a:t>
            </a:r>
          </a:p>
        </p:txBody>
      </p:sp>
    </p:spTree>
    <p:extLst>
      <p:ext uri="{BB962C8B-B14F-4D97-AF65-F5344CB8AC3E}">
        <p14:creationId xmlns:p14="http://schemas.microsoft.com/office/powerpoint/2010/main" val="3789776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融合编排：专家路由与组合评估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CE927AC-6261-5AE8-DA50-F0DC3378B43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C34030-931B-157A-30FE-BBCF304AFD13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融合编排是候选架构的最后一环：将专家能力、失败信号和成本约束统一评估。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67874F-B7B4-B0E0-5EDC-E6B38C03D96A}"/>
              </a:ext>
            </a:extLst>
          </p:cNvPr>
          <p:cNvSpPr/>
          <p:nvPr/>
        </p:nvSpPr>
        <p:spPr>
          <a:xfrm>
            <a:off x="762000" y="2032000"/>
            <a:ext cx="2921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专家池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46F24A-1446-F557-FB5B-B1D117A65577}"/>
              </a:ext>
            </a:extLst>
          </p:cNvPr>
          <p:cNvSpPr/>
          <p:nvPr/>
        </p:nvSpPr>
        <p:spPr>
          <a:xfrm>
            <a:off x="762000" y="2489200"/>
            <a:ext cx="2921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pt-BR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MASt3R / Fast3R
Spann3R / CUT3R
MonST3R / Test3R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2311B5E4-30A4-2CA2-EF84-E0835FD79C9C}"/>
              </a:ext>
            </a:extLst>
          </p:cNvPr>
          <p:cNvSpPr/>
          <p:nvPr/>
        </p:nvSpPr>
        <p:spPr>
          <a:xfrm>
            <a:off x="3873500" y="2794000"/>
            <a:ext cx="5588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31FD70F-A3D8-96BB-7B50-99DBBAA23CCC}"/>
              </a:ext>
            </a:extLst>
          </p:cNvPr>
          <p:cNvSpPr/>
          <p:nvPr/>
        </p:nvSpPr>
        <p:spPr>
          <a:xfrm>
            <a:off x="4635500" y="2032000"/>
            <a:ext cx="3048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路由依据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4FF882-5F15-3CD5-22FB-0B816AD4E9ED}"/>
              </a:ext>
            </a:extLst>
          </p:cNvPr>
          <p:cNvSpPr/>
          <p:nvPr/>
        </p:nvSpPr>
        <p:spPr>
          <a:xfrm>
            <a:off x="4635500" y="2489200"/>
            <a:ext cx="3048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能力匹配
成本修正匹配
路由后悔值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AA0476B4-E851-4833-23A2-CF8CB681FB43}"/>
              </a:ext>
            </a:extLst>
          </p:cNvPr>
          <p:cNvSpPr/>
          <p:nvPr/>
        </p:nvSpPr>
        <p:spPr>
          <a:xfrm>
            <a:off x="7874000" y="2794000"/>
            <a:ext cx="5588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051D8BD-E230-9160-8C61-1D56513E28E2}"/>
              </a:ext>
            </a:extLst>
          </p:cNvPr>
          <p:cNvSpPr/>
          <p:nvPr/>
        </p:nvSpPr>
        <p:spPr>
          <a:xfrm>
            <a:off x="8636000" y="2032000"/>
            <a:ext cx="2794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组合评估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2235F1B-C169-E6C3-C688-667CB5C0136C}"/>
              </a:ext>
            </a:extLst>
          </p:cNvPr>
          <p:cNvSpPr/>
          <p:nvPr/>
        </p:nvSpPr>
        <p:spPr>
          <a:xfrm>
            <a:off x="8636000" y="2489200"/>
            <a:ext cx="2794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单专家对照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best-of-N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消融分组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2E29E81-5282-48E9-5E9E-963854258C5D}"/>
              </a:ext>
            </a:extLst>
          </p:cNvPr>
          <p:cNvSpPr/>
          <p:nvPr/>
        </p:nvSpPr>
        <p:spPr>
          <a:xfrm>
            <a:off x="1079500" y="4889500"/>
            <a:ext cx="10033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该模块解决“怎样融合”的问题：先记录选择依据，再用实验判断组合是否稳定优于单一路线。</a:t>
            </a:r>
          </a:p>
        </p:txBody>
      </p:sp>
    </p:spTree>
    <p:extLst>
      <p:ext uri="{BB962C8B-B14F-4D97-AF65-F5344CB8AC3E}">
        <p14:creationId xmlns:p14="http://schemas.microsoft.com/office/powerpoint/2010/main" val="973634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信号总线：跨模块合同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3F3A76B-931B-C9E0-1287-79443A960CB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1120BE-2BCC-E289-0BBB-0F7D266641B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跨模块信号合同用于把架构思路落实为可执行、可审计的数据字段。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98A176-EBA8-A9DD-6E38-2BA607C66392}"/>
              </a:ext>
            </a:extLst>
          </p:cNvPr>
          <p:cNvSpPr/>
          <p:nvPr/>
        </p:nvSpPr>
        <p:spPr>
          <a:xfrm>
            <a:off x="4445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CR-1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BB20DA-8969-152C-56C5-8ECD48BCB59B}"/>
              </a:ext>
            </a:extLst>
          </p:cNvPr>
          <p:cNvSpPr/>
          <p:nvPr/>
        </p:nvSpPr>
        <p:spPr>
          <a:xfrm>
            <a:off x="444500" y="2552700"/>
            <a:ext cx="1841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fr-FR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Composer </a:t>
            </a:r>
            <a:r>
              <a:rPr lang="zh-CN" altLang="fr-FR" sz="1900">
                <a:solidFill>
                  <a:srgbClr val="081830"/>
                </a:solidFill>
                <a:latin typeface="Microsoft YaHei" panose="020B0503020204020204" pitchFamily="34" charset="-122"/>
              </a:rPr>
              <a:t>路由
能力匹配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688112-4AC6-8A67-53CC-10FD7B9ECD53}"/>
              </a:ext>
            </a:extLst>
          </p:cNvPr>
          <p:cNvSpPr/>
          <p:nvPr/>
        </p:nvSpPr>
        <p:spPr>
          <a:xfrm>
            <a:off x="27051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CR-2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154BEE-59A8-9E08-9FF2-BD95F87453BF}"/>
              </a:ext>
            </a:extLst>
          </p:cNvPr>
          <p:cNvSpPr/>
          <p:nvPr/>
        </p:nvSpPr>
        <p:spPr>
          <a:xfrm>
            <a:off x="2705100" y="2552700"/>
            <a:ext cx="1841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Permanence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动态抑制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4EA1BE-529A-F5DD-F809-8EE47AEBB78C}"/>
              </a:ext>
            </a:extLst>
          </p:cNvPr>
          <p:cNvSpPr/>
          <p:nvPr/>
        </p:nvSpPr>
        <p:spPr>
          <a:xfrm>
            <a:off x="49657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CR-3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47DE12A-3A1D-6B0A-0656-C03BB1182085}"/>
              </a:ext>
            </a:extLst>
          </p:cNvPr>
          <p:cNvSpPr/>
          <p:nvPr/>
        </p:nvSpPr>
        <p:spPr>
          <a:xfrm>
            <a:off x="4965700" y="2552700"/>
            <a:ext cx="1841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Memory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写入
稳定锚点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C816A9B-680A-3BFE-3592-9502574AC87A}"/>
              </a:ext>
            </a:extLst>
          </p:cNvPr>
          <p:cNvSpPr/>
          <p:nvPr/>
        </p:nvSpPr>
        <p:spPr>
          <a:xfrm>
            <a:off x="72263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CR-4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3DE97B-21DD-7E90-3703-AD6991DCB410}"/>
              </a:ext>
            </a:extLst>
          </p:cNvPr>
          <p:cNvSpPr/>
          <p:nvPr/>
        </p:nvSpPr>
        <p:spPr>
          <a:xfrm>
            <a:off x="7226300" y="2552700"/>
            <a:ext cx="1841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Critic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冲突
修复动作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4E489EE-7C35-4BEC-A26C-BEFAA537C50A}"/>
              </a:ext>
            </a:extLst>
          </p:cNvPr>
          <p:cNvSpPr/>
          <p:nvPr/>
        </p:nvSpPr>
        <p:spPr>
          <a:xfrm>
            <a:off x="94869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CR-5/6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8F61D99-DBD8-BADF-4740-42101232AA3D}"/>
              </a:ext>
            </a:extLst>
          </p:cNvPr>
          <p:cNvSpPr/>
          <p:nvPr/>
        </p:nvSpPr>
        <p:spPr>
          <a:xfrm>
            <a:off x="9486900" y="2552700"/>
            <a:ext cx="1841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成本约束
回退策略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4467A4-98C6-ABD4-E318-7E6938614109}"/>
              </a:ext>
            </a:extLst>
          </p:cNvPr>
          <p:cNvSpPr/>
          <p:nvPr/>
        </p:nvSpPr>
        <p:spPr>
          <a:xfrm>
            <a:off x="952500" y="4889500"/>
            <a:ext cx="10414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信号合同使平台能够记录每次任务的模型选择、失败原因、修复动作和运行成本。</a:t>
            </a:r>
          </a:p>
        </p:txBody>
      </p:sp>
    </p:spTree>
    <p:extLst>
      <p:ext uri="{BB962C8B-B14F-4D97-AF65-F5344CB8AC3E}">
        <p14:creationId xmlns:p14="http://schemas.microsoft.com/office/powerpoint/2010/main" val="2042787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实现基础：进展与边界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E4A4D39-D1F8-EF77-361B-DBC1592E2CD2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08439F-A29C-20CA-377B-73546361A6DF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当前进展以集成与可运行性为主，后续仍需真实数据消融验证。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4267BE-9CD1-D83C-D82E-6B145A655B3D}"/>
              </a:ext>
            </a:extLst>
          </p:cNvPr>
          <p:cNvSpPr/>
          <p:nvPr/>
        </p:nvSpPr>
        <p:spPr>
          <a:xfrm>
            <a:off x="952500" y="1778000"/>
            <a:ext cx="18415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已有基础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B41438-2B46-0FF8-834F-92A8BD343355}"/>
              </a:ext>
            </a:extLst>
          </p:cNvPr>
          <p:cNvSpPr/>
          <p:nvPr/>
        </p:nvSpPr>
        <p:spPr>
          <a:xfrm>
            <a:off x="3111500" y="1778000"/>
            <a:ext cx="7937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模块框架、总线合同、</a:t>
            </a:r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Mamba path</a:t>
            </a:r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KITTI smoke</a:t>
            </a:r>
            <a:endParaRPr lang="zh-CN" altLang="en-US" sz="17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9CF57B3-3C9F-26F0-7988-E02CB204BF3F}"/>
              </a:ext>
            </a:extLst>
          </p:cNvPr>
          <p:cNvSpPr/>
          <p:nvPr/>
        </p:nvSpPr>
        <p:spPr>
          <a:xfrm>
            <a:off x="952500" y="2616200"/>
            <a:ext cx="18415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已接入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F06E51-E167-6419-BAA7-B13129821D6B}"/>
              </a:ext>
            </a:extLst>
          </p:cNvPr>
          <p:cNvSpPr/>
          <p:nvPr/>
        </p:nvSpPr>
        <p:spPr>
          <a:xfrm>
            <a:off x="3111500" y="2616200"/>
            <a:ext cx="79375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MASt3R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Spann3R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真实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adapter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；部分模型为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fallback</a:t>
            </a:r>
            <a:endParaRPr lang="zh-CN" altLang="en-US" sz="170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AA30FB-FA66-779A-8199-3826D2198863}"/>
              </a:ext>
            </a:extLst>
          </p:cNvPr>
          <p:cNvSpPr/>
          <p:nvPr/>
        </p:nvSpPr>
        <p:spPr>
          <a:xfrm>
            <a:off x="952500" y="3454400"/>
            <a:ext cx="18415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待验证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F0B76C1-6552-64E2-03C6-D89463A01BBD}"/>
              </a:ext>
            </a:extLst>
          </p:cNvPr>
          <p:cNvSpPr/>
          <p:nvPr/>
        </p:nvSpPr>
        <p:spPr>
          <a:xfrm>
            <a:off x="3111500" y="3454400"/>
            <a:ext cx="7937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记忆质量、路由收益、校验阈值、真实数据质量提升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A3F6C71-C195-5FF7-FB2C-E1602575C800}"/>
              </a:ext>
            </a:extLst>
          </p:cNvPr>
          <p:cNvSpPr/>
          <p:nvPr/>
        </p:nvSpPr>
        <p:spPr>
          <a:xfrm>
            <a:off x="952500" y="4292600"/>
            <a:ext cx="18415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结论边界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6BE9703-E9D2-98B4-05FF-F0A31675A5F9}"/>
              </a:ext>
            </a:extLst>
          </p:cNvPr>
          <p:cNvSpPr/>
          <p:nvPr/>
        </p:nvSpPr>
        <p:spPr>
          <a:xfrm>
            <a:off x="3111500" y="4292600"/>
            <a:ext cx="79375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当前是实现与集成证据，不是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SOTA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质量结论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2532F78-B8D7-6214-7078-0053EE08713F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开题报告应呈现可验证路径，避免把计划性内容写成已经完成的结果。</a:t>
            </a:r>
          </a:p>
        </p:txBody>
      </p:sp>
    </p:spTree>
    <p:extLst>
      <p:ext uri="{BB962C8B-B14F-4D97-AF65-F5344CB8AC3E}">
        <p14:creationId xmlns:p14="http://schemas.microsoft.com/office/powerpoint/2010/main" val="4116249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340DFAD-902F-9956-6F32-B9AF8CA312E3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0DF52D-9F04-8FEE-CBC2-5AA6F0102C5B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78748EE-DB06-AD90-9E22-191F2F2C34CE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9D3C2323-8272-4F29-1CB8-CE4B7B0322EA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7A7EF5-57C2-D89E-D887-4D160AC63324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ED0209A-0C59-9919-532A-F47BCB7D38BB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3FB1761-87C6-B2A6-9EB4-7F374207D606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背景与现状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22FAA4E-B300-4088-B93E-3FBE1D3B6251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BAAAE45-88AA-0AF8-007F-7593B747BFB9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F1597F9-BB88-CEB4-31EB-1E7D92CFBF69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058025F-B7E6-47EF-E8D8-BB251D6A8C33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候选架构研究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8B9D598-652A-8E30-3129-FBFD599AE96E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72D0A2A-3C01-0152-29EA-DACF8DE61D8D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EC31BE3-4100-06C6-4F34-9C2F862CE36E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7418D267-53F1-4505-BD15-4230A503025B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软件平台建设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658E4FD-2F1F-FF0B-0DED-E26497824BF1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1860357-6AB1-D425-D079-E386D2DDAA97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1FEF7DB-ACCA-20F3-CBCF-47DF8A63A2F7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4CB2D888-0599-D25A-1972-14D2E7F918AF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</p:spTree>
    <p:extLst>
      <p:ext uri="{BB962C8B-B14F-4D97-AF65-F5344CB8AC3E}">
        <p14:creationId xmlns:p14="http://schemas.microsoft.com/office/powerpoint/2010/main" val="1350821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平台定位：研究工作台与实验入口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A7C3FD-7A7B-0A40-F15A-1D42D1BED83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D058A1-1A5E-8167-A43F-5D387A94BE39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平台作为第二主体，服务于多模型实验的执行、记录、比较和后续扩展。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B44FEC-B5FE-863F-62BF-9A73E8FF3293}"/>
              </a:ext>
            </a:extLst>
          </p:cNvPr>
          <p:cNvSpPr/>
          <p:nvPr/>
        </p:nvSpPr>
        <p:spPr>
          <a:xfrm>
            <a:off x="1016000" y="2032000"/>
            <a:ext cx="2794000" cy="292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研究工作台
资料索引
研究单元
实验计划
论文材料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01991FE1-F1B5-1724-8AAC-F773C790CFAB}"/>
              </a:ext>
            </a:extLst>
          </p:cNvPr>
          <p:cNvSpPr/>
          <p:nvPr/>
        </p:nvSpPr>
        <p:spPr>
          <a:xfrm>
            <a:off x="4127500" y="3175000"/>
            <a:ext cx="609600" cy="3556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964F19-F775-49CC-6928-EE2FD2D9ACDE}"/>
              </a:ext>
            </a:extLst>
          </p:cNvPr>
          <p:cNvSpPr/>
          <p:nvPr/>
        </p:nvSpPr>
        <p:spPr>
          <a:xfrm>
            <a:off x="5143500" y="1905000"/>
            <a:ext cx="2667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模型执行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A9E7C9-5D2B-508B-C30B-AE297DFCC5A2}"/>
              </a:ext>
            </a:extLst>
          </p:cNvPr>
          <p:cNvSpPr/>
          <p:nvPr/>
        </p:nvSpPr>
        <p:spPr>
          <a:xfrm>
            <a:off x="5143500" y="2362200"/>
            <a:ext cx="2667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脚本配置
环境隔离
远端运行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695301B-75F7-79C9-5CBE-D524643162D9}"/>
              </a:ext>
            </a:extLst>
          </p:cNvPr>
          <p:cNvSpPr/>
          <p:nvPr/>
        </p:nvSpPr>
        <p:spPr>
          <a:xfrm>
            <a:off x="5143500" y="3683000"/>
            <a:ext cx="2667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结果沉淀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47A907-2A0D-0725-FD5D-527547A4E0F4}"/>
              </a:ext>
            </a:extLst>
          </p:cNvPr>
          <p:cNvSpPr/>
          <p:nvPr/>
        </p:nvSpPr>
        <p:spPr>
          <a:xfrm>
            <a:off x="5143500" y="4140200"/>
            <a:ext cx="2667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状态回传
结果对比
报告导出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76860C16-4BB7-C2CC-ED63-9925885C3F1E}"/>
              </a:ext>
            </a:extLst>
          </p:cNvPr>
          <p:cNvSpPr/>
          <p:nvPr/>
        </p:nvSpPr>
        <p:spPr>
          <a:xfrm>
            <a:off x="8064500" y="3175000"/>
            <a:ext cx="609600" cy="3556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4BCE38-B9EA-BA9E-594D-CF14D7B5A029}"/>
              </a:ext>
            </a:extLst>
          </p:cNvPr>
          <p:cNvSpPr/>
          <p:nvPr/>
        </p:nvSpPr>
        <p:spPr>
          <a:xfrm>
            <a:off x="9017000" y="2222500"/>
            <a:ext cx="2032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统一证据链
任务
日志
指标
图表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D3FFD0B-9A24-AA09-A38A-64C5C3F98ADE}"/>
              </a:ext>
            </a:extLst>
          </p:cNvPr>
          <p:cNvSpPr/>
          <p:nvPr/>
        </p:nvSpPr>
        <p:spPr>
          <a:xfrm>
            <a:off x="1206500" y="5334000"/>
            <a:ext cx="9779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平台不是展示用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UI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，而是把研究流程、模型执行和证据记录串起来的工作台。</a:t>
            </a:r>
          </a:p>
        </p:txBody>
      </p:sp>
    </p:spTree>
    <p:extLst>
      <p:ext uri="{BB962C8B-B14F-4D97-AF65-F5344CB8AC3E}">
        <p14:creationId xmlns:p14="http://schemas.microsoft.com/office/powerpoint/2010/main" val="717640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平台功能：多模型管理闭环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86DC030-3E17-C8A4-BECB-4BF1AA4E3F39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0033E5-E56A-B708-2762-E4D9B36A68B9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平台建设围绕任务管理、模型管理、结果管理和评测管理四类功能展开。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55B312-98FA-7E22-80CB-453356BE5F18}"/>
              </a:ext>
            </a:extLst>
          </p:cNvPr>
          <p:cNvSpPr/>
          <p:nvPr/>
        </p:nvSpPr>
        <p:spPr>
          <a:xfrm>
            <a:off x="889000" y="18415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任务管理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88A35F-0153-1B65-5068-4BAA584C4A19}"/>
              </a:ext>
            </a:extLst>
          </p:cNvPr>
          <p:cNvSpPr/>
          <p:nvPr/>
        </p:nvSpPr>
        <p:spPr>
          <a:xfrm>
            <a:off x="3111500" y="1841500"/>
            <a:ext cx="7874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样本选择 </a:t>
            </a:r>
            <a:r>
              <a:rPr lang="en-US" altLang="zh-CN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参数配置 </a:t>
            </a:r>
            <a:r>
              <a:rPr lang="en-US" altLang="zh-CN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状态追踪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711F2F-C6D5-F0DC-98FF-D4F51A02278B}"/>
              </a:ext>
            </a:extLst>
          </p:cNvPr>
          <p:cNvSpPr/>
          <p:nvPr/>
        </p:nvSpPr>
        <p:spPr>
          <a:xfrm>
            <a:off x="889000" y="26797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模型管理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1DB509-2287-8812-0A81-907DB68B57D8}"/>
              </a:ext>
            </a:extLst>
          </p:cNvPr>
          <p:cNvSpPr/>
          <p:nvPr/>
        </p:nvSpPr>
        <p:spPr>
          <a:xfrm>
            <a:off x="3111500" y="2679700"/>
            <a:ext cx="7874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0285F"/>
                </a:solidFill>
                <a:latin typeface="Microsoft YaHei" panose="020B0503020204020204" pitchFamily="34" charset="-122"/>
              </a:rPr>
              <a:t>注册表 </a:t>
            </a:r>
            <a:r>
              <a:rPr lang="en-US" altLang="zh-CN">
                <a:solidFill>
                  <a:srgbClr val="00285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0285F"/>
                </a:solidFill>
                <a:latin typeface="Microsoft YaHei" panose="020B0503020204020204" pitchFamily="34" charset="-122"/>
              </a:rPr>
              <a:t>执行器 </a:t>
            </a:r>
            <a:r>
              <a:rPr lang="en-US" altLang="zh-CN">
                <a:solidFill>
                  <a:srgbClr val="00285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0285F"/>
                </a:solidFill>
                <a:latin typeface="Microsoft YaHei" panose="020B0503020204020204" pitchFamily="34" charset="-122"/>
              </a:rPr>
              <a:t>环境隔离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D89E1E-EE84-315F-F299-EFB13B24C84F}"/>
              </a:ext>
            </a:extLst>
          </p:cNvPr>
          <p:cNvSpPr/>
          <p:nvPr/>
        </p:nvSpPr>
        <p:spPr>
          <a:xfrm>
            <a:off x="889000" y="35179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结果管理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11E018-9E1C-AAA0-8614-014AA480966C}"/>
              </a:ext>
            </a:extLst>
          </p:cNvPr>
          <p:cNvSpPr/>
          <p:nvPr/>
        </p:nvSpPr>
        <p:spPr>
          <a:xfrm>
            <a:off x="3111500" y="3517900"/>
            <a:ext cx="7874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产物回传 </a:t>
            </a:r>
            <a:r>
              <a:rPr lang="en-US" altLang="zh-CN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元数据归档 </a:t>
            </a:r>
            <a:r>
              <a:rPr lang="en-US" altLang="zh-CN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日志查询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2B1B95-C96D-24DE-84CC-AA4020480721}"/>
              </a:ext>
            </a:extLst>
          </p:cNvPr>
          <p:cNvSpPr/>
          <p:nvPr/>
        </p:nvSpPr>
        <p:spPr>
          <a:xfrm>
            <a:off x="889000" y="43561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评测管理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ED30DD2-FBF8-9282-092B-57B405C68E5A}"/>
              </a:ext>
            </a:extLst>
          </p:cNvPr>
          <p:cNvSpPr/>
          <p:nvPr/>
        </p:nvSpPr>
        <p:spPr>
          <a:xfrm>
            <a:off x="3111500" y="4356100"/>
            <a:ext cx="7874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0285F"/>
                </a:solidFill>
                <a:latin typeface="Microsoft YaHei" panose="020B0503020204020204" pitchFamily="34" charset="-122"/>
              </a:rPr>
              <a:t>自动指标 </a:t>
            </a:r>
            <a:r>
              <a:rPr lang="en-US" altLang="zh-CN">
                <a:solidFill>
                  <a:srgbClr val="00285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0285F"/>
                </a:solidFill>
                <a:latin typeface="Microsoft YaHei" panose="020B0503020204020204" pitchFamily="34" charset="-122"/>
              </a:rPr>
              <a:t>对比矩阵 </a:t>
            </a:r>
            <a:r>
              <a:rPr lang="en-US" altLang="zh-CN">
                <a:solidFill>
                  <a:srgbClr val="00285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0285F"/>
                </a:solidFill>
                <a:latin typeface="Microsoft YaHei" panose="020B0503020204020204" pitchFamily="34" charset="-122"/>
              </a:rPr>
              <a:t>报告入口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4EFA45D-1E42-4063-E87C-4AD4B47A347E}"/>
              </a:ext>
            </a:extLst>
          </p:cNvPr>
          <p:cNvSpPr/>
          <p:nvPr/>
        </p:nvSpPr>
        <p:spPr>
          <a:xfrm>
            <a:off x="1460500" y="5461000"/>
            <a:ext cx="9271000" cy="457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本阶段重点说明功能闭环，界面展示不作为平台评价依据。</a:t>
            </a:r>
          </a:p>
        </p:txBody>
      </p:sp>
    </p:spTree>
    <p:extLst>
      <p:ext uri="{BB962C8B-B14F-4D97-AF65-F5344CB8AC3E}">
        <p14:creationId xmlns:p14="http://schemas.microsoft.com/office/powerpoint/2010/main" val="518176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软件架构：桌面端到远端执行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C24401-EF61-5F49-3F11-6D53A1566BD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CE26AB-5E19-C814-AC1B-06EEDB62F9B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软件平台采用桌面端交互、本地服务封装、远端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执行的分离架构。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8B487F-6A51-E179-CCE2-B1EB0A8C1CD7}"/>
              </a:ext>
            </a:extLst>
          </p:cNvPr>
          <p:cNvSpPr/>
          <p:nvPr/>
        </p:nvSpPr>
        <p:spPr>
          <a:xfrm>
            <a:off x="1270000" y="1841500"/>
            <a:ext cx="9652000" cy="584200"/>
          </a:xfrm>
          <a:prstGeom prst="rect">
            <a:avLst/>
          </a:prstGeom>
          <a:solidFill>
            <a:srgbClr val="00468E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Microsoft YaHei" panose="020B0503020204020204" pitchFamily="34" charset="-122"/>
              </a:rPr>
              <a:t>桌面交互层    </a:t>
            </a:r>
            <a:r>
              <a:rPr lang="en-US" altLang="zh-CN" b="1">
                <a:solidFill>
                  <a:srgbClr val="FFFFFF"/>
                </a:solidFill>
                <a:latin typeface="Microsoft YaHei" panose="020B0503020204020204" pitchFamily="34" charset="-122"/>
              </a:rPr>
              <a:t>Tauri 2 + React</a:t>
            </a:r>
            <a:r>
              <a:rPr lang="zh-CN" altLang="en-US" b="1">
                <a:solidFill>
                  <a:srgbClr val="FFFFFF"/>
                </a:solidFill>
                <a:latin typeface="Microsoft YaHei" panose="020B0503020204020204" pitchFamily="34" charset="-122"/>
              </a:rPr>
              <a:t>：任务提交、状态查看、结果入口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ACBCE0E1-2292-B73E-D248-F6C0B48116E9}"/>
              </a:ext>
            </a:extLst>
          </p:cNvPr>
          <p:cNvSpPr/>
          <p:nvPr/>
        </p:nvSpPr>
        <p:spPr>
          <a:xfrm>
            <a:off x="5842000" y="2463800"/>
            <a:ext cx="431800" cy="254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72C0E4-5817-F075-550C-03724FF9C622}"/>
              </a:ext>
            </a:extLst>
          </p:cNvPr>
          <p:cNvSpPr/>
          <p:nvPr/>
        </p:nvSpPr>
        <p:spPr>
          <a:xfrm>
            <a:off x="1270000" y="2667000"/>
            <a:ext cx="9652000" cy="584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本地服务层   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FastAPI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：参数校验、任务合同生成、路径管理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6D0901CB-364E-0083-B6A0-E41E852A1543}"/>
              </a:ext>
            </a:extLst>
          </p:cNvPr>
          <p:cNvSpPr/>
          <p:nvPr/>
        </p:nvSpPr>
        <p:spPr>
          <a:xfrm>
            <a:off x="5842000" y="3289300"/>
            <a:ext cx="431800" cy="254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72D9C8E-1F00-24CB-6346-1A0A07B7D591}"/>
              </a:ext>
            </a:extLst>
          </p:cNvPr>
          <p:cNvSpPr/>
          <p:nvPr/>
        </p:nvSpPr>
        <p:spPr>
          <a:xfrm>
            <a:off x="1270000" y="3492500"/>
            <a:ext cx="9652000" cy="584200"/>
          </a:xfrm>
          <a:prstGeom prst="rect">
            <a:avLst/>
          </a:prstGeom>
          <a:solidFill>
            <a:srgbClr val="286FB9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Microsoft YaHei" panose="020B0503020204020204" pitchFamily="34" charset="-122"/>
              </a:rPr>
              <a:t>远端调度层    </a:t>
            </a:r>
            <a:r>
              <a:rPr lang="en-US" altLang="zh-CN" b="1">
                <a:solidFill>
                  <a:srgbClr val="FFFFFF"/>
                </a:solidFill>
                <a:latin typeface="Microsoft YaHei" panose="020B0503020204020204" pitchFamily="34" charset="-122"/>
              </a:rPr>
              <a:t>SSH / SCP</a:t>
            </a:r>
            <a:r>
              <a:rPr lang="zh-CN" altLang="en-US" b="1">
                <a:solidFill>
                  <a:srgbClr val="FFFFFF"/>
                </a:solidFill>
                <a:latin typeface="Microsoft YaHei" panose="020B0503020204020204" pitchFamily="34" charset="-122"/>
              </a:rPr>
              <a:t>：启动任务、监听日志、同步产物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C2B54347-23D4-A98F-047F-229FC4903148}"/>
              </a:ext>
            </a:extLst>
          </p:cNvPr>
          <p:cNvSpPr/>
          <p:nvPr/>
        </p:nvSpPr>
        <p:spPr>
          <a:xfrm>
            <a:off x="5842000" y="4114800"/>
            <a:ext cx="431800" cy="254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326F482-E8FF-0C09-D08F-666F5B1E1EC6}"/>
              </a:ext>
            </a:extLst>
          </p:cNvPr>
          <p:cNvSpPr/>
          <p:nvPr/>
        </p:nvSpPr>
        <p:spPr>
          <a:xfrm>
            <a:off x="1270000" y="4318000"/>
            <a:ext cx="9652000" cy="584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模型执行层   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执行器：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DUSt3R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MASt3R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Spann3R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31EC63-F57D-933C-DE7F-ED433D2EEA73}"/>
              </a:ext>
            </a:extLst>
          </p:cNvPr>
          <p:cNvSpPr/>
          <p:nvPr/>
        </p:nvSpPr>
        <p:spPr>
          <a:xfrm>
            <a:off x="1460500" y="55245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分离设计降低本地交互与远端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环境之间的耦合。</a:t>
            </a:r>
          </a:p>
        </p:txBody>
      </p:sp>
    </p:spTree>
    <p:extLst>
      <p:ext uri="{BB962C8B-B14F-4D97-AF65-F5344CB8AC3E}">
        <p14:creationId xmlns:p14="http://schemas.microsoft.com/office/powerpoint/2010/main" val="2155306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任务合同：执行、状态与结果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014C985-D090-1E46-E0A8-08CD05A4A3E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A754BA-7C0D-1652-0F7D-A61DEAFBD2E9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一次平台任务被拆成合同生成、远端执行、状态回传和结果入库四个环节。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A8FA1B-3E77-7893-1E2E-A521220EF09C}"/>
              </a:ext>
            </a:extLst>
          </p:cNvPr>
          <p:cNvSpPr/>
          <p:nvPr/>
        </p:nvSpPr>
        <p:spPr>
          <a:xfrm>
            <a:off x="698500" y="2032000"/>
            <a:ext cx="2349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1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提交任务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0DEB8C-4A00-EC0B-2AD2-6CC527F3BEF3}"/>
              </a:ext>
            </a:extLst>
          </p:cNvPr>
          <p:cNvSpPr/>
          <p:nvPr/>
        </p:nvSpPr>
        <p:spPr>
          <a:xfrm>
            <a:off x="698500" y="2489200"/>
            <a:ext cx="2349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选择模型
输入样本
设置参数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2B5534D6-9BF8-3C93-87BA-CD3724E66E92}"/>
              </a:ext>
            </a:extLst>
          </p:cNvPr>
          <p:cNvSpPr/>
          <p:nvPr/>
        </p:nvSpPr>
        <p:spPr>
          <a:xfrm>
            <a:off x="3175000" y="2730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072D90-CDB5-6A71-3108-248188412542}"/>
              </a:ext>
            </a:extLst>
          </p:cNvPr>
          <p:cNvSpPr/>
          <p:nvPr/>
        </p:nvSpPr>
        <p:spPr>
          <a:xfrm>
            <a:off x="3492500" y="2032000"/>
            <a:ext cx="2349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2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生成合同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56E5B5-C59C-B8B9-1381-A3CE0BF0242B}"/>
              </a:ext>
            </a:extLst>
          </p:cNvPr>
          <p:cNvSpPr/>
          <p:nvPr/>
        </p:nvSpPr>
        <p:spPr>
          <a:xfrm>
            <a:off x="3492500" y="2489200"/>
            <a:ext cx="2349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任务描述文件
输出目录
运行约束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66C0567D-A4B6-14F1-600E-438412AE2208}"/>
              </a:ext>
            </a:extLst>
          </p:cNvPr>
          <p:cNvSpPr/>
          <p:nvPr/>
        </p:nvSpPr>
        <p:spPr>
          <a:xfrm>
            <a:off x="5969000" y="2730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29857CE-3116-A6F0-D20B-A5F9E9BA6446}"/>
              </a:ext>
            </a:extLst>
          </p:cNvPr>
          <p:cNvSpPr/>
          <p:nvPr/>
        </p:nvSpPr>
        <p:spPr>
          <a:xfrm>
            <a:off x="6286500" y="2032000"/>
            <a:ext cx="2349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远端执行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4C28AD-28A6-ACB9-4D61-5AF004201BF6}"/>
              </a:ext>
            </a:extLst>
          </p:cNvPr>
          <p:cNvSpPr/>
          <p:nvPr/>
        </p:nvSpPr>
        <p:spPr>
          <a:xfrm>
            <a:off x="6286500" y="2489200"/>
            <a:ext cx="2349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SSH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启动
日志监听
状态轮询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01E831B4-86C2-38FB-9A61-943CF054014B}"/>
              </a:ext>
            </a:extLst>
          </p:cNvPr>
          <p:cNvSpPr/>
          <p:nvPr/>
        </p:nvSpPr>
        <p:spPr>
          <a:xfrm>
            <a:off x="8763000" y="2730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CDE74F-72CB-2C99-45C1-34818037F41B}"/>
              </a:ext>
            </a:extLst>
          </p:cNvPr>
          <p:cNvSpPr/>
          <p:nvPr/>
        </p:nvSpPr>
        <p:spPr>
          <a:xfrm>
            <a:off x="9080500" y="2032000"/>
            <a:ext cx="2349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4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结果回传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34AC540-7DA3-3C71-AB0F-EC9C974EBE18}"/>
              </a:ext>
            </a:extLst>
          </p:cNvPr>
          <p:cNvSpPr/>
          <p:nvPr/>
        </p:nvSpPr>
        <p:spPr>
          <a:xfrm>
            <a:off x="9080500" y="2489200"/>
            <a:ext cx="2349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产物同步
状态归档
指标入口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C07A67-0CFB-9F0E-F077-FF63876E6395}"/>
              </a:ext>
            </a:extLst>
          </p:cNvPr>
          <p:cNvSpPr/>
          <p:nvPr/>
        </p:nvSpPr>
        <p:spPr>
          <a:xfrm>
            <a:off x="1206500" y="4762500"/>
            <a:ext cx="977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关键点：平台通过执行器和合同把异构模型纳入统一流程，不直接重写模型代码。</a:t>
            </a:r>
          </a:p>
        </p:txBody>
      </p:sp>
    </p:spTree>
    <p:extLst>
      <p:ext uri="{BB962C8B-B14F-4D97-AF65-F5344CB8AC3E}">
        <p14:creationId xmlns:p14="http://schemas.microsoft.com/office/powerpoint/2010/main" val="1654776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06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平台进展：模型接入与工程证据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AC8C66-4866-FD30-367C-F5098C94622B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732D47-AFF3-F8A6-BC4A-A903A6098097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已有平台验证说明统一调度是必要前提，但不把耗时结果解释为模型质量排序。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777FBE0-63D5-81CF-5A49-8A275FC2DA3A}"/>
              </a:ext>
            </a:extLst>
          </p:cNvPr>
          <p:cNvSpPr/>
          <p:nvPr/>
        </p:nvSpPr>
        <p:spPr>
          <a:xfrm>
            <a:off x="762000" y="1841500"/>
            <a:ext cx="3238500" cy="381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平台进展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A183F6-A7D6-2534-F3B5-6CDF6AE5DFBC}"/>
              </a:ext>
            </a:extLst>
          </p:cNvPr>
          <p:cNvSpPr/>
          <p:nvPr/>
        </p:nvSpPr>
        <p:spPr>
          <a:xfrm>
            <a:off x="762000" y="22733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个模型已注册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907E24-FA7F-79A3-DE93-9BF89F99AF9E}"/>
              </a:ext>
            </a:extLst>
          </p:cNvPr>
          <p:cNvSpPr/>
          <p:nvPr/>
        </p:nvSpPr>
        <p:spPr>
          <a:xfrm>
            <a:off x="762000" y="28829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个完成端到端验证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04CEAB-F359-7BB8-FC27-43529D4F8C02}"/>
              </a:ext>
            </a:extLst>
          </p:cNvPr>
          <p:cNvSpPr/>
          <p:nvPr/>
        </p:nvSpPr>
        <p:spPr>
          <a:xfrm>
            <a:off x="762000" y="34925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待权重补充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A848D51-A307-C2D3-02E5-806E4B9A107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211" y="1714500"/>
            <a:ext cx="6316579" cy="34290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200B45ED-1D7B-D891-E660-2C9E0FD2E1F3}"/>
              </a:ext>
            </a:extLst>
          </p:cNvPr>
          <p:cNvSpPr/>
          <p:nvPr/>
        </p:nvSpPr>
        <p:spPr>
          <a:xfrm>
            <a:off x="889000" y="5524500"/>
            <a:ext cx="10414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实测耗时用于说明跨模型调度和结果记录的必要性，不作为重建质量结论。</a:t>
            </a:r>
          </a:p>
        </p:txBody>
      </p:sp>
    </p:spTree>
    <p:extLst>
      <p:ext uri="{BB962C8B-B14F-4D97-AF65-F5344CB8AC3E}">
        <p14:creationId xmlns:p14="http://schemas.microsoft.com/office/powerpoint/2010/main" val="61127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发展路径：从实验管理到研究工作台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D96B384-2B20-95B3-1992-3D840D8FAB8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8BD0C8B-E01C-E1FE-B975-9E0DDF67C582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后续平台将从实验管理继续扩展为研究工作台，但界面方案待进一步补充。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EE0D94-A9DC-02A8-6DAE-468A653C9F05}"/>
              </a:ext>
            </a:extLst>
          </p:cNvPr>
          <p:cNvSpPr/>
          <p:nvPr/>
        </p:nvSpPr>
        <p:spPr>
          <a:xfrm>
            <a:off x="1333500" y="2095500"/>
            <a:ext cx="18415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短期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E7001DE-4DF8-E738-94EA-D0C98382D91B}"/>
              </a:ext>
            </a:extLst>
          </p:cNvPr>
          <p:cNvSpPr/>
          <p:nvPr/>
        </p:nvSpPr>
        <p:spPr>
          <a:xfrm>
            <a:off x="3492500" y="2095500"/>
            <a:ext cx="7366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补齐模型执行合同、对比矩阵和报告导出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C156C5-83B0-B647-8F40-34E7F13E2FAE}"/>
              </a:ext>
            </a:extLst>
          </p:cNvPr>
          <p:cNvSpPr/>
          <p:nvPr/>
        </p:nvSpPr>
        <p:spPr>
          <a:xfrm>
            <a:off x="1333500" y="3086100"/>
            <a:ext cx="18415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DF28A5-191D-4864-EE25-153F4F9D76BC}"/>
              </a:ext>
            </a:extLst>
          </p:cNvPr>
          <p:cNvSpPr/>
          <p:nvPr/>
        </p:nvSpPr>
        <p:spPr>
          <a:xfrm>
            <a:off x="3492500" y="3086100"/>
            <a:ext cx="736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接入研究单元、资料索引和实验证据链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4699FEC-879A-605D-AF5C-0FCD74A7888C}"/>
              </a:ext>
            </a:extLst>
          </p:cNvPr>
          <p:cNvSpPr/>
          <p:nvPr/>
        </p:nvSpPr>
        <p:spPr>
          <a:xfrm>
            <a:off x="1333500" y="4076700"/>
            <a:ext cx="18415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AB70BB2-3D6E-E145-EFEB-A9EA966817EB}"/>
              </a:ext>
            </a:extLst>
          </p:cNvPr>
          <p:cNvSpPr/>
          <p:nvPr/>
        </p:nvSpPr>
        <p:spPr>
          <a:xfrm>
            <a:off x="3492500" y="4076700"/>
            <a:ext cx="7366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形成论文材料、演示材料和模型验证的一体化入口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114DD07-B59C-0CE1-DD77-221884F47DAD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 </a:t>
            </a:r>
            <a:r>
              <a:rPr lang="en-US" altLang="zh-CN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UI </a:t>
            </a:r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截图暂不放入本版，待界面优化后作为真实系统证据补充。</a:t>
            </a:r>
          </a:p>
        </p:txBody>
      </p:sp>
    </p:spTree>
    <p:extLst>
      <p:ext uri="{BB962C8B-B14F-4D97-AF65-F5344CB8AC3E}">
        <p14:creationId xmlns:p14="http://schemas.microsoft.com/office/powerpoint/2010/main" val="41121391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50ECA0E-AD61-7827-F3A7-D3F7C9EADCFB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F3DEF40-E7F9-3144-607F-2D83AAE64649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BC39418-CB09-CD32-7C9C-C123768C8C77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9D264A4C-6A50-19F6-C9EE-E417841D2BED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CA6AD56-E1C0-8EF2-401B-C07092A7DFA4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34D7D5F-2797-D6FA-BFBB-E8C000FFFCD1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6430356-2D90-8662-3DFC-36A7EBF78EFB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背景与现状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420FA6-0F0F-0C84-F168-1015B8743D39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9CBB189-62CF-3AB9-8556-AA6013E0065E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283C7D5-B3B5-28E2-F334-EF4DFB096663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DCBCC3C7-52D8-8876-8440-DD743B1BE5B2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候选架构研究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50F0FDC-A3C6-D8AA-6D69-B900B61CCDEA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8927C84-FA81-1EAC-5391-8D1E88006B32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AB3A382-842C-8E4A-3140-17F78AEFF63F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B12616AC-B11D-9B04-AC2C-F6A1C3A2B7FD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软件平台建设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A0FA554-3F49-CCB9-7DAF-12A7EB1344F5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AA8AD9D-F40D-9931-9C84-EB6DD28E669E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B98BAAF-5B63-7644-7D37-670FDAD674F2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ECD5DAA5-381C-77F6-D77E-D699B50C82F1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</p:spTree>
    <p:extLst>
      <p:ext uri="{BB962C8B-B14F-4D97-AF65-F5344CB8AC3E}">
        <p14:creationId xmlns:p14="http://schemas.microsoft.com/office/powerpoint/2010/main" val="16997518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05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实验设计：两条证据链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7B9DE2-3240-45C9-8F87-A11D1439341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569E36-55FF-44A2-5520-F03092F84FC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实验设计分为架构研究和软件平台两条证据链，最终共同支撑开题目标。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A1BC4C-EEFE-F9B3-F6F2-44279BC3DE73}"/>
              </a:ext>
            </a:extLst>
          </p:cNvPr>
          <p:cNvSpPr/>
          <p:nvPr/>
        </p:nvSpPr>
        <p:spPr>
          <a:xfrm>
            <a:off x="889000" y="2032000"/>
            <a:ext cx="4572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架构证据链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E5C3807-95EC-B784-3FEB-096A939AC898}"/>
              </a:ext>
            </a:extLst>
          </p:cNvPr>
          <p:cNvSpPr/>
          <p:nvPr/>
        </p:nvSpPr>
        <p:spPr>
          <a:xfrm>
            <a:off x="889000" y="2489200"/>
            <a:ext cx="4572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基线复现
记忆与稀疏注意力消融
校验与编排模块对照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89376D-6AA0-AA6F-7DC8-1B9A6C2CBCA1}"/>
              </a:ext>
            </a:extLst>
          </p:cNvPr>
          <p:cNvSpPr/>
          <p:nvPr/>
        </p:nvSpPr>
        <p:spPr>
          <a:xfrm>
            <a:off x="6731000" y="2032000"/>
            <a:ext cx="4572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平台证据链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D16DA1-5DF6-27F2-DF6C-6902BDC7BCE4}"/>
              </a:ext>
            </a:extLst>
          </p:cNvPr>
          <p:cNvSpPr/>
          <p:nvPr/>
        </p:nvSpPr>
        <p:spPr>
          <a:xfrm>
            <a:off x="6731000" y="2489200"/>
            <a:ext cx="4572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合同覆盖率
跨模型对比矩阵
新模型接入边际成本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D7B4EA4-49FA-5F30-42C6-60C5BFAFBCB3}"/>
              </a:ext>
            </a:extLst>
          </p:cNvPr>
          <p:cNvSpPr/>
          <p:nvPr/>
        </p:nvSpPr>
        <p:spPr>
          <a:xfrm>
            <a:off x="1460500" y="5016500"/>
            <a:ext cx="9271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实验结论只针对指定协议成立，不写成候选架构的总体优越性声明。</a:t>
            </a:r>
          </a:p>
        </p:txBody>
      </p:sp>
    </p:spTree>
    <p:extLst>
      <p:ext uri="{BB962C8B-B14F-4D97-AF65-F5344CB8AC3E}">
        <p14:creationId xmlns:p14="http://schemas.microsoft.com/office/powerpoint/2010/main" val="16624495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计划风险：阶段交付与边界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CB451B-8EDB-9794-9711-2A6E5CCB7D8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E95066-4973-2ED5-AADD-72BE79EAC88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后续工作按架构验证、平台完善和论文整理三条线并行推进。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AE1AE16-FEE9-E0E2-3A20-B0FE5051166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842" y="1651000"/>
            <a:ext cx="7486316" cy="40640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3AD48E3-93BE-9AA5-E9EF-CD3B39401758}"/>
              </a:ext>
            </a:extLst>
          </p:cNvPr>
          <p:cNvSpPr/>
          <p:nvPr/>
        </p:nvSpPr>
        <p:spPr>
          <a:xfrm>
            <a:off x="1016000" y="5778500"/>
            <a:ext cx="10160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风险控制：标定、消融、工程依赖和结论边界均按阶段验证，不在开题阶段提前关闭。</a:t>
            </a:r>
          </a:p>
        </p:txBody>
      </p:sp>
    </p:spTree>
    <p:extLst>
      <p:ext uri="{BB962C8B-B14F-4D97-AF65-F5344CB8AC3E}">
        <p14:creationId xmlns:p14="http://schemas.microsoft.com/office/powerpoint/2010/main" val="26739141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8A6D-C6EE-964D-6C1A-BE3EC5A3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47CB2ABF-6C6A-A145-CBD3-5D4863BE40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DAA6598-060B-09AF-69C5-C131F0EE830A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7BF0E7-40A8-7FA0-2CDB-5543790FC811}"/>
              </a:ext>
            </a:extLst>
          </p:cNvPr>
          <p:cNvGrpSpPr/>
          <p:nvPr/>
        </p:nvGrpSpPr>
        <p:grpSpPr>
          <a:xfrm>
            <a:off x="9859" y="1239674"/>
            <a:ext cx="12172282" cy="2928257"/>
            <a:chOff x="442611" y="2016251"/>
            <a:chExt cx="10694619" cy="2228850"/>
          </a:xfr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70E494-61EE-587D-4574-8858E921DFBB}"/>
                </a:ext>
              </a:extLst>
            </p:cNvPr>
            <p:cNvGrpSpPr/>
            <p:nvPr/>
          </p:nvGrpSpPr>
          <p:grpSpPr>
            <a:xfrm>
              <a:off x="442611" y="2016251"/>
              <a:ext cx="10694619" cy="2228849"/>
              <a:chOff x="442611" y="2016251"/>
              <a:chExt cx="10694619" cy="2228849"/>
            </a:xfrm>
            <a:grpFill/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88A2BA-CB61-B07D-37EF-4D0FB144C24D}"/>
                  </a:ext>
                </a:extLst>
              </p:cNvPr>
              <p:cNvSpPr/>
              <p:nvPr/>
            </p:nvSpPr>
            <p:spPr>
              <a:xfrm>
                <a:off x="442611" y="2016251"/>
                <a:ext cx="10694619" cy="2228849"/>
              </a:xfrm>
              <a:prstGeom prst="rect">
                <a:avLst/>
              </a:prstGeom>
              <a:grpFill/>
              <a:ln w="9525">
                <a:noFill/>
              </a:ln>
              <a:effectLst>
                <a:outerShdw blurRad="190500" dist="38100" dir="5400000" algn="t" rotWithShape="0">
                  <a:schemeClr val="bg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defRPr/>
                </a:pPr>
                <a:endParaRPr lang="zh-CN" altLang="en-US" sz="1200" b="1" dirty="0">
                  <a:solidFill>
                    <a:srgbClr val="03654E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58E00CD-2609-D798-C0FA-987A012BE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9461" y="2016251"/>
                <a:ext cx="8093075" cy="0"/>
              </a:xfrm>
              <a:prstGeom prst="line">
                <a:avLst/>
              </a:prstGeom>
              <a:grpFill/>
              <a:ln w="12700">
                <a:gradFill flip="none" rotWithShape="1">
                  <a:gsLst>
                    <a:gs pos="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7200000" algn="t" rotWithShape="0">
                  <a:schemeClr val="bg1">
                    <a:lumMod val="65000"/>
                    <a:alpha val="42000"/>
                  </a:scheme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A5C04A5-7A49-3B7C-BC7F-3E425936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4245101"/>
              <a:ext cx="8093075" cy="0"/>
            </a:xfrm>
            <a:prstGeom prst="line">
              <a:avLst/>
            </a:prstGeom>
            <a:grpFill/>
            <a:ln w="12700"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  <a:effectLst>
              <a:outerShdw blurRad="50800" dist="38100" dir="7200000" algn="t" rotWithShape="0">
                <a:schemeClr val="bg1">
                  <a:lumMod val="85000"/>
                  <a:alpha val="42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8CC83B-3930-EC30-7D36-3B736667F610}"/>
              </a:ext>
            </a:extLst>
          </p:cNvPr>
          <p:cNvSpPr txBox="1"/>
          <p:nvPr/>
        </p:nvSpPr>
        <p:spPr>
          <a:xfrm>
            <a:off x="0" y="1366919"/>
            <a:ext cx="1219200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D3FB004-3B93-3E9F-C7A6-53529A5C2DC6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03C5D8-B02C-615F-5E7C-1D735477DD28}"/>
              </a:ext>
            </a:extLst>
          </p:cNvPr>
          <p:cNvSpPr txBox="1"/>
          <p:nvPr/>
        </p:nvSpPr>
        <p:spPr>
          <a:xfrm>
            <a:off x="6003634" y="10234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FF6B3-E791-92AE-46CC-5FB429465CB0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B23F30-00CD-7FD1-941D-4C853ACCEC57}"/>
              </a:ext>
            </a:extLst>
          </p:cNvPr>
          <p:cNvSpPr/>
          <p:nvPr/>
        </p:nvSpPr>
        <p:spPr>
          <a:xfrm>
            <a:off x="1143000" y="2349500"/>
            <a:ext cx="9906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3400" b="1">
                <a:solidFill>
                  <a:srgbClr val="00468E"/>
                </a:solidFill>
                <a:latin typeface="Microsoft YaHei" panose="020B0503020204020204" pitchFamily="34" charset="-122"/>
              </a:rPr>
              <a:t>总结与致谢
敬请批评指正！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DF2311-BBDE-A014-3F7C-780945CBCF77}"/>
              </a:ext>
            </a:extLst>
          </p:cNvPr>
          <p:cNvSpPr/>
          <p:nvPr/>
        </p:nvSpPr>
        <p:spPr>
          <a:xfrm>
            <a:off x="2159000" y="3937000"/>
            <a:ext cx="7874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本研究以候选架构 </a:t>
            </a:r>
            <a:r>
              <a:rPr lang="en-US" altLang="zh-CN" b="1">
                <a:solidFill>
                  <a:srgbClr val="081830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与聚合管理平台为两大支柱，面向前馈式三维重建提供可对照、可复用的研究框架。</a:t>
            </a:r>
          </a:p>
        </p:txBody>
      </p:sp>
    </p:spTree>
    <p:extLst>
      <p:ext uri="{BB962C8B-B14F-4D97-AF65-F5344CB8AC3E}">
        <p14:creationId xmlns:p14="http://schemas.microsoft.com/office/powerpoint/2010/main" val="3300074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2029</Words>
  <Application>Microsoft Office PowerPoint</Application>
  <PresentationFormat>宽屏</PresentationFormat>
  <Paragraphs>271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3" baseType="lpstr">
      <vt:lpstr>等线</vt:lpstr>
      <vt:lpstr>等线 Light</vt:lpstr>
      <vt:lpstr>微软雅黑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1</cp:revision>
  <dcterms:created xsi:type="dcterms:W3CDTF">2026-05-17T18:11:33Z</dcterms:created>
  <dcterms:modified xsi:type="dcterms:W3CDTF">2026-05-17T18:11:33Z</dcterms:modified>
</cp:coreProperties>
</file>