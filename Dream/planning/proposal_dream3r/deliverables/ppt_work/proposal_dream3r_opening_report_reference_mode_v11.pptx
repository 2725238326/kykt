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23" r:id="rId23"/>
    <p:sldId id="343" r:id="rId24"/>
    <p:sldId id="344" r:id="rId25"/>
    <p:sldId id="269" r:id="rId26"/>
    <p:sldId id="345" r:id="rId27"/>
    <p:sldId id="29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9E981-5E12-E18C-EBF0-241465C88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9A7702-B53E-F110-DBAE-668ACB099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FF8EA8-CFA2-EF4A-E918-D025A62F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D94EB-F9C8-2D6E-8A7D-C631878C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8EF6C-3E1E-5AC0-27E7-521840F6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8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50924-B53A-1596-649F-2A90FF69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B35DC1-E5BE-CB2A-4C31-172E29C0B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D15A11-987D-15D3-8556-60B37496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52CF8-E108-295D-8114-9FE834F0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5343D5-ECF4-92F5-69ED-190959D8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2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05959-A62F-65EF-FED9-928BF689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9CE60-BCC8-AA97-3E8C-B642443AE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12720-8189-7B87-FF2C-61A60702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DBFBAD-1FED-2807-EABC-C151CE90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38A02-2ABF-7AF1-3983-CE6186E6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0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D033C-54AE-B41E-5449-085D37F5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EC5C95-7AAD-F7A0-BE17-3FB348514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8103EF-1570-46C6-4562-0B618E60C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CAF489-0C5B-7486-D306-7A3DC545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6397DB-5131-97A4-7C64-80152879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B3EE9-9413-0F4E-5A1C-999F078D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80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B43E3-DC08-A158-DB2F-627F5D8B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5E34BB-24CA-B094-7087-39573D51A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0E198E-D162-9D37-E8FD-74A1CDB5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71AD8F-A535-C9F4-9776-D5ADEEEA3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1D5FD8-29F2-7519-6791-B4E92B2C0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B3CDF8-E7FD-36AD-A09B-189E10EB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A10670-CAA0-EC8A-351A-65EEA7AE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6D2D65-EE40-426D-BD53-14B46123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88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C9043-D6C4-AF18-6D8D-D6B28ADE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E04CC1-5B1E-98FB-35C9-7E5E3A03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8EA190-5524-1475-BE5E-FEA2B515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EB1981-4953-6B1D-BAA7-10A48795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58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011416-A601-8634-6693-53C899F1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B924A1-17EE-9149-4FF4-A906CE73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CE040-51E4-16EC-5E3D-14EC279A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F6EB1-1143-6776-F7DA-E6E44A77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938B9-C051-F375-67B6-96B99DA77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8D0E2-7CC7-C60D-E0B1-56157848C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EBB4E-26E1-11DA-E370-5BB185C7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B9C8D-BD1B-6DBF-9E48-E13D80B8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F86699-84E3-C4E4-0554-CF8A5675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A7F7E-D0FE-DD70-BB5E-0CF0A44B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0AE6EC-4C04-8FEA-E1C6-70800BBAA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03478B-2E47-3FD0-E24E-0C341A3E6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7822FF-2C19-805A-8156-F6683C3A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EF289-BE8C-60F1-1D96-787DCD88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6DE50F-080A-784E-1CBF-60C3A125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39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219F9-4CB4-9B61-1A7F-9C27A6B8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603492-E8D6-7C2F-E14B-F4241CDDA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D2473-0E4C-0962-42F9-124F5625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5575BE-B1CF-AA7B-DFBC-DD52A63F0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EF2A1-6267-5D39-BF26-35971F7C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71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FEC044-D8EB-1971-F2BB-035508A93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CF69DA-37B7-6893-2F2F-C2F25A813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9580D-408E-1D3D-4707-BAF89CC6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F6E423-CDD5-D212-9D9F-61FB1D27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8677F-AA82-C6EC-E6C4-587CA39E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12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6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A64FEB-EB22-3688-0FD0-533119EF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A96699-1DD2-AF26-4A91-C4FBC3063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FC0DA-0DB9-6B34-1ECE-BDE0A0F04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FA148-DCCB-4377-82E0-7B04DA5699A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856A8-302D-2678-EA48-6CE2207F9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D02F25-C084-C935-CB52-CC0E3D0BA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0A1F8-D1AC-4EAA-AFE5-938AA83A9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45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5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07F49E2-B98B-D4B6-1300-7283AEC5C3C0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2E4686-0297-2045-2A92-2DD1C892F1C3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42BA3DF-8AC8-D463-8115-71312576DCAF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F4DA93F3-DAE6-027B-7C5C-C5A83BB5667E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2D92B2-8D87-5043-6FAD-206C52A7AE30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98D4AA-E2BC-492F-1EB2-038AE231C765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915B9BE-61AB-0221-5C3C-8A436CD7B9C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21CB89-D1EB-4538-0282-96BEA9371F61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9F2074-1F79-C2FE-AB6A-E6ACF3965A31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5DC3661-4FC0-3332-6A8C-863E3098B871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79B35F7-5E45-5661-897E-4D1035B98EA9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7C510C-38E3-3909-02AB-322D6535D3D6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445FFD-FF29-DE0C-84D4-5F9C43842B02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4EA38F4-E760-159E-C2F0-A473482AE657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FE9-9308-E06D-585A-1461FCFCC2ED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EB6961-57C4-5EEF-1468-3B871911DECC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74DE-2C1B-D7E4-509A-72F65BE1C86B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28BF29B-3A5C-346D-1C5A-1F38FC75DDD7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E9FC540-B4C5-C8A0-84E3-983BE193A8C7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25785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研究背景：从传统几何到前馈式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CDE934-9E5A-D235-368F-07F8E344202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B2586A-6446-DE1E-3F70-0D33AE2B989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将传统几何流程中的多个阶段压缩到神经网络前向推理中。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0089DCA-8F94-8152-F369-C9890867ED58}"/>
              </a:ext>
            </a:extLst>
          </p:cNvPr>
          <p:cNvSpPr/>
          <p:nvPr/>
        </p:nvSpPr>
        <p:spPr>
          <a:xfrm>
            <a:off x="1016000" y="20955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8C95AC9-2E70-67BA-A4BE-AE30710DD991}"/>
              </a:ext>
            </a:extLst>
          </p:cNvPr>
          <p:cNvSpPr/>
          <p:nvPr/>
        </p:nvSpPr>
        <p:spPr>
          <a:xfrm>
            <a:off x="1016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特征匹配
位姿估计
三角化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MVS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B841DE3-2EFB-4E59-BD42-A782ECFEEA7D}"/>
              </a:ext>
            </a:extLst>
          </p:cNvPr>
          <p:cNvSpPr/>
          <p:nvPr/>
        </p:nvSpPr>
        <p:spPr>
          <a:xfrm>
            <a:off x="4089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A84D49B-D9A1-742C-9652-666686BFE5C7}"/>
              </a:ext>
            </a:extLst>
          </p:cNvPr>
          <p:cNvSpPr/>
          <p:nvPr/>
        </p:nvSpPr>
        <p:spPr>
          <a:xfrm>
            <a:off x="4699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表示变化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C4D07F9-0395-9C9E-C95F-FFFC377F9C50}"/>
              </a:ext>
            </a:extLst>
          </p:cNvPr>
          <p:cNvSpPr/>
          <p:nvPr/>
        </p:nvSpPr>
        <p:spPr>
          <a:xfrm>
            <a:off x="4699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稠密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相机参数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F428ED87-DB7F-066D-671B-7F7E78E85321}"/>
              </a:ext>
            </a:extLst>
          </p:cNvPr>
          <p:cNvSpPr/>
          <p:nvPr/>
        </p:nvSpPr>
        <p:spPr>
          <a:xfrm>
            <a:off x="7772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495C0F-76EB-559A-1D12-B46B6F30579A}"/>
              </a:ext>
            </a:extLst>
          </p:cNvPr>
          <p:cNvSpPr/>
          <p:nvPr/>
        </p:nvSpPr>
        <p:spPr>
          <a:xfrm>
            <a:off x="8382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方法特点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0E8B23-10B2-2237-723C-890BF54D0096}"/>
              </a:ext>
            </a:extLst>
          </p:cNvPr>
          <p:cNvSpPr/>
          <p:nvPr/>
        </p:nvSpPr>
        <p:spPr>
          <a:xfrm>
            <a:off x="8382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弱化显式标定
减少级联误差
便于端到端训练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349DB5D-0FAB-F72E-9B16-C7B7F43A3AB8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范式提供了新的重建入口，但尺度一致性、动态干扰和长序列漂移仍需专门机制。</a:t>
            </a:r>
          </a:p>
        </p:txBody>
      </p:sp>
    </p:spTree>
    <p:extLst>
      <p:ext uri="{BB962C8B-B14F-4D97-AF65-F5344CB8AC3E}">
        <p14:creationId xmlns:p14="http://schemas.microsoft.com/office/powerpoint/2010/main" val="195248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代表模型：能力谱系与方法特点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5E9E2A-3929-6F56-E758-F8CF1BFE03C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21791D-437F-7096-C9C7-9F4CC280505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研究已经形成多条分支，但每条分支解决的问题并不相同。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711D9F1-6624-CF38-30EF-B7D78C06B94A}"/>
              </a:ext>
            </a:extLst>
          </p:cNvPr>
          <p:cNvSpPr/>
          <p:nvPr/>
        </p:nvSpPr>
        <p:spPr>
          <a:xfrm>
            <a:off x="762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AFC6E2-C349-1E27-6EBC-C3E846965AAA}"/>
              </a:ext>
            </a:extLst>
          </p:cNvPr>
          <p:cNvSpPr/>
          <p:nvPr/>
        </p:nvSpPr>
        <p:spPr>
          <a:xfrm>
            <a:off x="762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点图重建
三维匹配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44B6B9-625E-D79C-2179-127C9BB96039}"/>
              </a:ext>
            </a:extLst>
          </p:cNvPr>
          <p:cNvSpPr/>
          <p:nvPr/>
        </p:nvSpPr>
        <p:spPr>
          <a:xfrm>
            <a:off x="3556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Fast3R / VGGT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5A2793-24E8-67D1-029F-9599BFE1EF4B}"/>
              </a:ext>
            </a:extLst>
          </p:cNvPr>
          <p:cNvSpPr/>
          <p:nvPr/>
        </p:nvSpPr>
        <p:spPr>
          <a:xfrm>
            <a:off x="3556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多视角前馈
统一几何预测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620797-C43C-71F4-37D0-AEA6B07EC336}"/>
              </a:ext>
            </a:extLst>
          </p:cNvPr>
          <p:cNvSpPr/>
          <p:nvPr/>
        </p:nvSpPr>
        <p:spPr>
          <a:xfrm>
            <a:off x="6350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MonST3R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9B113A7-D514-FC6E-BA3A-623E0408520A}"/>
              </a:ext>
            </a:extLst>
          </p:cNvPr>
          <p:cNvSpPr/>
          <p:nvPr/>
        </p:nvSpPr>
        <p:spPr>
          <a:xfrm>
            <a:off x="6350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动态场景
运动干扰处理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5DD214-F88B-F0A6-3D02-FADC3038A346}"/>
              </a:ext>
            </a:extLst>
          </p:cNvPr>
          <p:cNvSpPr/>
          <p:nvPr/>
        </p:nvSpPr>
        <p:spPr>
          <a:xfrm>
            <a:off x="9144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CUT3R / Spann3R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154F086-4ED6-6C50-6B1D-68489959580F}"/>
              </a:ext>
            </a:extLst>
          </p:cNvPr>
          <p:cNvSpPr/>
          <p:nvPr/>
        </p:nvSpPr>
        <p:spPr>
          <a:xfrm>
            <a:off x="9144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状态递推
长序列记忆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9A6550-7D66-A664-C36E-9061E9B51513}"/>
              </a:ext>
            </a:extLst>
          </p:cNvPr>
          <p:cNvSpPr/>
          <p:nvPr/>
        </p:nvSpPr>
        <p:spPr>
          <a:xfrm>
            <a:off x="1143000" y="4699000"/>
            <a:ext cx="9906000" cy="685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研究现状说明：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能力正在扩展，但点图、记忆、动态处理和测试时校验仍多以分散形式出现。</a:t>
            </a:r>
          </a:p>
        </p:txBody>
      </p:sp>
    </p:spTree>
    <p:extLst>
      <p:ext uri="{BB962C8B-B14F-4D97-AF65-F5344CB8AC3E}">
        <p14:creationId xmlns:p14="http://schemas.microsoft.com/office/powerpoint/2010/main" val="190504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研究动机：从模型扩展到系统问题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21006A-8EE2-7C4E-0A2D-F71E9B9119D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2A97D5-4583-DB51-9EE4-0F85E19B9A1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本课题从“模型能力扩展”进一步转向“机制组织与实验支撑”两个系统问题。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CAFD71-9ACC-224D-9145-629BEE3639D6}"/>
              </a:ext>
            </a:extLst>
          </p:cNvPr>
          <p:cNvSpPr/>
          <p:nvPr/>
        </p:nvSpPr>
        <p:spPr>
          <a:xfrm>
            <a:off x="698500" y="18415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机制分散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C9BA62-CCBD-93F7-45A5-845B8FAA6897}"/>
              </a:ext>
            </a:extLst>
          </p:cNvPr>
          <p:cNvSpPr/>
          <p:nvPr/>
        </p:nvSpPr>
        <p:spPr>
          <a:xfrm>
            <a:off x="2603500" y="18415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记忆、校验、动态处理与专家路由缺少统一接口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98E5C2-3DEF-257E-D164-30DE005E4A4C}"/>
              </a:ext>
            </a:extLst>
          </p:cNvPr>
          <p:cNvSpPr/>
          <p:nvPr/>
        </p:nvSpPr>
        <p:spPr>
          <a:xfrm>
            <a:off x="8572500" y="18415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F0AC4C-4805-61EE-CE64-1F46A913CEF9}"/>
              </a:ext>
            </a:extLst>
          </p:cNvPr>
          <p:cNvSpPr/>
          <p:nvPr/>
        </p:nvSpPr>
        <p:spPr>
          <a:xfrm>
            <a:off x="698500" y="26797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证据不足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92C008-49AB-55B3-A81E-D9C37FB330C7}"/>
              </a:ext>
            </a:extLst>
          </p:cNvPr>
          <p:cNvSpPr/>
          <p:nvPr/>
        </p:nvSpPr>
        <p:spPr>
          <a:xfrm>
            <a:off x="2603500" y="26797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模块收益需要通过可退化、可消融实验判断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FC8695-9741-F561-48B1-0D13D4BBF6D7}"/>
              </a:ext>
            </a:extLst>
          </p:cNvPr>
          <p:cNvSpPr/>
          <p:nvPr/>
        </p:nvSpPr>
        <p:spPr>
          <a:xfrm>
            <a:off x="8572500" y="26797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实验协议设计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EE36A0-270A-93C2-1DCF-2288CEFCD247}"/>
              </a:ext>
            </a:extLst>
          </p:cNvPr>
          <p:cNvSpPr/>
          <p:nvPr/>
        </p:nvSpPr>
        <p:spPr>
          <a:xfrm>
            <a:off x="698500" y="35179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工程割裂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FD2C6E-501E-6A5E-7760-1611A11BDBA6}"/>
              </a:ext>
            </a:extLst>
          </p:cNvPr>
          <p:cNvSpPr/>
          <p:nvPr/>
        </p:nvSpPr>
        <p:spPr>
          <a:xfrm>
            <a:off x="2603500" y="35179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模型仓库、环境、参数和输出格式难以统一比较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6A7FFD-EF8D-A2B5-B559-EC873B72AD3B}"/>
              </a:ext>
            </a:extLst>
          </p:cNvPr>
          <p:cNvSpPr/>
          <p:nvPr/>
        </p:nvSpPr>
        <p:spPr>
          <a:xfrm>
            <a:off x="8572500" y="35179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聚合管理平台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2BDC3C4-7CD5-3E79-684E-113EF6491561}"/>
              </a:ext>
            </a:extLst>
          </p:cNvPr>
          <p:cNvSpPr/>
          <p:nvPr/>
        </p:nvSpPr>
        <p:spPr>
          <a:xfrm>
            <a:off x="698500" y="43561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展示受限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229147-BFD9-C872-73FF-EFC7BD2A3841}"/>
              </a:ext>
            </a:extLst>
          </p:cNvPr>
          <p:cNvSpPr/>
          <p:nvPr/>
        </p:nvSpPr>
        <p:spPr>
          <a:xfrm>
            <a:off x="2603500" y="43561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真实平台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尚未定型，先以流程与合同说明系统能力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32269D-16D6-CC02-FF5F-7EFB2DF64AA8}"/>
              </a:ext>
            </a:extLst>
          </p:cNvPr>
          <p:cNvSpPr/>
          <p:nvPr/>
        </p:nvSpPr>
        <p:spPr>
          <a:xfrm>
            <a:off x="8572500" y="43561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后续界面补充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26C36-391C-0D77-9D94-34A760A2BAFE}"/>
              </a:ext>
            </a:extLst>
          </p:cNvPr>
          <p:cNvSpPr/>
          <p:nvPr/>
        </p:nvSpPr>
        <p:spPr>
          <a:xfrm>
            <a:off x="1270000" y="5461000"/>
            <a:ext cx="9652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开题定位：以候选架构和平台建设两条线共同支撑后续论文实验。</a:t>
            </a:r>
          </a:p>
        </p:txBody>
      </p:sp>
    </p:spTree>
    <p:extLst>
      <p:ext uri="{BB962C8B-B14F-4D97-AF65-F5344CB8AC3E}">
        <p14:creationId xmlns:p14="http://schemas.microsoft.com/office/powerpoint/2010/main" val="25229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A0423B3-2901-7A07-DD29-976A72FC613F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66C590-D4B7-26EB-A307-C0FB44CF4D12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8F2AA31-2AAC-9EA2-DAF9-795B9520C83C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D3B32E9-4F33-8523-7305-314438BC451B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B2BA0C-E669-479F-F1BB-00DF903762C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9223436-2DEF-5558-E43B-92BAF3CBD9E2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DD13042-42B0-DB6A-90D4-DA26D0B4EEBC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006AAD-3090-7CE1-34E2-8F98EA5C7889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4E1852-DCB4-5EAC-3410-14A8AE914D70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675BF3C-6096-2D13-B1C5-6C0FF767DF2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1E48D60-CC7E-560B-762F-78CDF23FD03F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52F499-A23D-8A43-F66E-91EEF7B2FCE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9D88F3-CE93-5CD2-3F25-10DC70C244C9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89248AA-998B-4FBB-2360-EAF2EC8E3549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1985B51-F03C-2B89-B0C0-3177B8B7CBD1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C0078E-CC04-FA9B-82CC-8B23101EB3BE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8C0D49-7E07-E60F-689B-9427DCEAC6B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A34F787-AB41-497D-B110-E8D6C2844B24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4B3BAAB-C095-DBB2-1039-0C232323CF22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202162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研究流程：从机制到实现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82A469-601F-A28D-B1C0-D55662B8509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FF763A-1B13-ED02-0136-82036632D4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Dream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项目的研究流程从资料进入机制提炼，再进入可验证的实现计划。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FCB56-08F8-B97C-2AAD-CBB34DC561FE}"/>
              </a:ext>
            </a:extLst>
          </p:cNvPr>
          <p:cNvSpPr/>
          <p:nvPr/>
        </p:nvSpPr>
        <p:spPr>
          <a:xfrm>
            <a:off x="4445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资料输入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D8D5FE-18B8-0465-90D9-DB2F8A464B65}"/>
              </a:ext>
            </a:extLst>
          </p:cNvPr>
          <p:cNvSpPr/>
          <p:nvPr/>
        </p:nvSpPr>
        <p:spPr>
          <a:xfrm>
            <a:off x="4445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论文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仓库
模型输出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4CA1615-982E-06E9-53D9-A7A006A933B0}"/>
              </a:ext>
            </a:extLst>
          </p:cNvPr>
          <p:cNvSpPr/>
          <p:nvPr/>
        </p:nvSpPr>
        <p:spPr>
          <a:xfrm>
            <a:off x="23749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730E1B-3E91-EE7F-8932-4863526BA5E3}"/>
              </a:ext>
            </a:extLst>
          </p:cNvPr>
          <p:cNvSpPr/>
          <p:nvPr/>
        </p:nvSpPr>
        <p:spPr>
          <a:xfrm>
            <a:off x="27051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机制提炼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D0AE81-9F01-3A96-650E-2E45F37A84D6}"/>
              </a:ext>
            </a:extLst>
          </p:cNvPr>
          <p:cNvSpPr/>
          <p:nvPr/>
        </p:nvSpPr>
        <p:spPr>
          <a:xfrm>
            <a:off x="27051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
校验
路由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36E44E5-BCDC-92A8-C229-2B495084427B}"/>
              </a:ext>
            </a:extLst>
          </p:cNvPr>
          <p:cNvSpPr/>
          <p:nvPr/>
        </p:nvSpPr>
        <p:spPr>
          <a:xfrm>
            <a:off x="46355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5EB9C2-6C49-8D40-4B3D-B8FD71BC761B}"/>
              </a:ext>
            </a:extLst>
          </p:cNvPr>
          <p:cNvSpPr/>
          <p:nvPr/>
        </p:nvSpPr>
        <p:spPr>
          <a:xfrm>
            <a:off x="49657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转化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C34D99-ED17-AC19-2C85-487F26B5E231}"/>
              </a:ext>
            </a:extLst>
          </p:cNvPr>
          <p:cNvSpPr/>
          <p:nvPr/>
        </p:nvSpPr>
        <p:spPr>
          <a:xfrm>
            <a:off x="49657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对应重建瓶颈
形成假设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610C66A-E3E6-0E6B-4B2A-127531965695}"/>
              </a:ext>
            </a:extLst>
          </p:cNvPr>
          <p:cNvSpPr/>
          <p:nvPr/>
        </p:nvSpPr>
        <p:spPr>
          <a:xfrm>
            <a:off x="68961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86AAED-E0DB-9D10-36F9-8F6F979DBDB2}"/>
              </a:ext>
            </a:extLst>
          </p:cNvPr>
          <p:cNvSpPr/>
          <p:nvPr/>
        </p:nvSpPr>
        <p:spPr>
          <a:xfrm>
            <a:off x="72263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研究单元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1226AF-314F-FB88-3486-8E8EADB603D7}"/>
              </a:ext>
            </a:extLst>
          </p:cNvPr>
          <p:cNvSpPr/>
          <p:nvPr/>
        </p:nvSpPr>
        <p:spPr>
          <a:xfrm>
            <a:off x="72263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定义最小实验
记录证据边界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B2BB9E03-C2C9-9802-AB11-29A681FBEC5E}"/>
              </a:ext>
            </a:extLst>
          </p:cNvPr>
          <p:cNvSpPr/>
          <p:nvPr/>
        </p:nvSpPr>
        <p:spPr>
          <a:xfrm>
            <a:off x="9156700" y="28194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C30AA4-7304-5C33-6E92-6C80737B17C6}"/>
              </a:ext>
            </a:extLst>
          </p:cNvPr>
          <p:cNvSpPr/>
          <p:nvPr/>
        </p:nvSpPr>
        <p:spPr>
          <a:xfrm>
            <a:off x="9486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实现验证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9C6395-E79E-747F-19CE-9A2540AD06E6}"/>
              </a:ext>
            </a:extLst>
          </p:cNvPr>
          <p:cNvSpPr/>
          <p:nvPr/>
        </p:nvSpPr>
        <p:spPr>
          <a:xfrm>
            <a:off x="9486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平台
评测报告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70E3E3-5898-06C6-B3A7-7EA3AE39B0C8}"/>
              </a:ext>
            </a:extLst>
          </p:cNvPr>
          <p:cNvSpPr/>
          <p:nvPr/>
        </p:nvSpPr>
        <p:spPr>
          <a:xfrm>
            <a:off x="1016000" y="4762500"/>
            <a:ext cx="10223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该流程用于避免从论文综述直接跳到复现，将每个想法落到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瓶颈、证据级别和下一步实验。</a:t>
            </a:r>
          </a:p>
        </p:txBody>
      </p:sp>
    </p:spTree>
    <p:extLst>
      <p:ext uri="{BB962C8B-B14F-4D97-AF65-F5344CB8AC3E}">
        <p14:creationId xmlns:p14="http://schemas.microsoft.com/office/powerpoint/2010/main" val="405151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总体架构：总线驱动控制图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A8F038-E41D-93AC-18F1-596334EF574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AE8E04-3DC1-CA32-ECF5-48CD0166A37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被组织为总线驱动控制图，各模块通过显式信号协同。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BD19D4-8A9A-7AA3-9E8D-0DD6FC1FD4C9}"/>
              </a:ext>
            </a:extLst>
          </p:cNvPr>
          <p:cNvSpPr/>
          <p:nvPr/>
        </p:nvSpPr>
        <p:spPr>
          <a:xfrm>
            <a:off x="889000" y="1752600"/>
            <a:ext cx="2222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Perceiver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EE8DF9-37E6-64CA-5485-79287E0FF070}"/>
              </a:ext>
            </a:extLst>
          </p:cNvPr>
          <p:cNvSpPr/>
          <p:nvPr/>
        </p:nvSpPr>
        <p:spPr>
          <a:xfrm>
            <a:off x="3365500" y="1752600"/>
            <a:ext cx="7429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帧特征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点图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置信度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证据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6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B6FB1F-D9C8-C9DB-F762-006E4936A790}"/>
              </a:ext>
            </a:extLst>
          </p:cNvPr>
          <p:cNvSpPr/>
          <p:nvPr/>
        </p:nvSpPr>
        <p:spPr>
          <a:xfrm>
            <a:off x="889000" y="2451100"/>
            <a:ext cx="2222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SpatialMemory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924978-9E7D-2B70-B4B7-99CF257F28FA}"/>
              </a:ext>
            </a:extLst>
          </p:cNvPr>
          <p:cNvSpPr/>
          <p:nvPr/>
        </p:nvSpPr>
        <p:spPr>
          <a:xfrm>
            <a:off x="3365500" y="2451100"/>
            <a:ext cx="74295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状态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token /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空间键值库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稳定锚点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212F85-A34A-3538-A228-C67997D63421}"/>
              </a:ext>
            </a:extLst>
          </p:cNvPr>
          <p:cNvSpPr/>
          <p:nvPr/>
        </p:nvSpPr>
        <p:spPr>
          <a:xfrm>
            <a:off x="889000" y="3149600"/>
            <a:ext cx="2222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Permanence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BE5C5C-0280-81A9-5117-FEF51E229FB5}"/>
              </a:ext>
            </a:extLst>
          </p:cNvPr>
          <p:cNvSpPr/>
          <p:nvPr/>
        </p:nvSpPr>
        <p:spPr>
          <a:xfrm>
            <a:off x="3365500" y="3149600"/>
            <a:ext cx="7429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对象槽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动态抑制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槽参考位姿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B645AE-AE45-E98D-7280-682D4D0814EB}"/>
              </a:ext>
            </a:extLst>
          </p:cNvPr>
          <p:cNvSpPr/>
          <p:nvPr/>
        </p:nvSpPr>
        <p:spPr>
          <a:xfrm>
            <a:off x="889000" y="3848100"/>
            <a:ext cx="2222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EAD64-0BCB-75A3-1C6C-3840F13E03CC}"/>
              </a:ext>
            </a:extLst>
          </p:cNvPr>
          <p:cNvSpPr/>
          <p:nvPr/>
        </p:nvSpPr>
        <p:spPr>
          <a:xfrm>
            <a:off x="3365500" y="3848100"/>
            <a:ext cx="74295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冲突分数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修复动作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几何日志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4A7F5F-C9E3-EF50-A9F8-21420D270B61}"/>
              </a:ext>
            </a:extLst>
          </p:cNvPr>
          <p:cNvSpPr/>
          <p:nvPr/>
        </p:nvSpPr>
        <p:spPr>
          <a:xfrm>
            <a:off x="889000" y="4546600"/>
            <a:ext cx="2222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Composer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7F30DD-47AF-0769-EF15-B7A5486BA4B9}"/>
              </a:ext>
            </a:extLst>
          </p:cNvPr>
          <p:cNvSpPr/>
          <p:nvPr/>
        </p:nvSpPr>
        <p:spPr>
          <a:xfrm>
            <a:off x="3365500" y="4546600"/>
            <a:ext cx="7429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专家能力路由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模型适配入口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EB6A32-EA52-52A2-2124-F80A003797F5}"/>
              </a:ext>
            </a:extLst>
          </p:cNvPr>
          <p:cNvSpPr/>
          <p:nvPr/>
        </p:nvSpPr>
        <p:spPr>
          <a:xfrm>
            <a:off x="1841500" y="5461000"/>
            <a:ext cx="8509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MemoryBus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负责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CR-1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CR-6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的类型化交接，使模块输出可以被记录、比较和消融。</a:t>
            </a:r>
          </a:p>
        </p:txBody>
      </p:sp>
    </p:spTree>
    <p:extLst>
      <p:ext uri="{BB962C8B-B14F-4D97-AF65-F5344CB8AC3E}">
        <p14:creationId xmlns:p14="http://schemas.microsoft.com/office/powerpoint/2010/main" val="228326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统一表示：点图、置信度与证据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48C284-E6D0-8566-7A9A-F8149E3728A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BEBBD3-13CF-77E7-D548-93FBF3BD5B8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统一表示层把不同模型的输出整理为后续模块可以读取的共同语言。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BFED42-74D7-9D86-A77E-5D894C5A3F7F}"/>
              </a:ext>
            </a:extLst>
          </p:cNvPr>
          <p:cNvSpPr/>
          <p:nvPr/>
        </p:nvSpPr>
        <p:spPr>
          <a:xfrm>
            <a:off x="8255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点图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DE37C-309A-5D7C-A544-EF00669D951E}"/>
              </a:ext>
            </a:extLst>
          </p:cNvPr>
          <p:cNvSpPr/>
          <p:nvPr/>
        </p:nvSpPr>
        <p:spPr>
          <a:xfrm>
            <a:off x="8255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三维几何主表示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2FF85A-085D-68C6-2E6F-3FC75273F5CD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置信度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D46BBD-8372-DAD3-FBAB-539F3BBE4D7A}"/>
              </a:ext>
            </a:extLst>
          </p:cNvPr>
          <p:cNvSpPr/>
          <p:nvPr/>
        </p:nvSpPr>
        <p:spPr>
          <a:xfrm>
            <a:off x="35560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筛除不可靠区域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B94E71-EC93-1D6F-CFF5-2AE63CF444DA}"/>
              </a:ext>
            </a:extLst>
          </p:cNvPr>
          <p:cNvSpPr/>
          <p:nvPr/>
        </p:nvSpPr>
        <p:spPr>
          <a:xfrm>
            <a:off x="62865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证据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7C92F-9485-1361-AB21-3F78D649F059}"/>
              </a:ext>
            </a:extLst>
          </p:cNvPr>
          <p:cNvSpPr/>
          <p:nvPr/>
        </p:nvSpPr>
        <p:spPr>
          <a:xfrm>
            <a:off x="62865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evidence tokens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记录局部观测依据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4D027C-18F7-62A8-3BC7-3F2B76B18B22}"/>
              </a:ext>
            </a:extLst>
          </p:cNvPr>
          <p:cNvSpPr/>
          <p:nvPr/>
        </p:nvSpPr>
        <p:spPr>
          <a:xfrm>
            <a:off x="9017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元数据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D16F1-11C6-0BAA-7137-2082B973F2CA}"/>
              </a:ext>
            </a:extLst>
          </p:cNvPr>
          <p:cNvSpPr/>
          <p:nvPr/>
        </p:nvSpPr>
        <p:spPr>
          <a:xfrm>
            <a:off x="9017000" y="25527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camera / scale
runtime / source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AF93D2-6FBE-0005-24C1-4F0FC2873D30}"/>
              </a:ext>
            </a:extLst>
          </p:cNvPr>
          <p:cNvSpPr/>
          <p:nvPr/>
        </p:nvSpPr>
        <p:spPr>
          <a:xfrm>
            <a:off x="1206500" y="4889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统一接口的目的不是掩盖模型差异，而是让差异进入同一校验、记忆和平台记录流程。</a:t>
            </a:r>
          </a:p>
        </p:txBody>
      </p:sp>
    </p:spTree>
    <p:extLst>
      <p:ext uri="{BB962C8B-B14F-4D97-AF65-F5344CB8AC3E}">
        <p14:creationId xmlns:p14="http://schemas.microsoft.com/office/powerpoint/2010/main" val="354870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记忆核心：状态与空间键值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64E6BD-6CA7-A0B6-17A9-1E43B9170EE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ED949-102E-67FA-FEFB-89DEE42AC7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C2 Memory 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采用状态递推、空间键值记忆和总线门控写入的混合方案。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E53B36-2823-FF68-AC2C-A273E494F68E}"/>
              </a:ext>
            </a:extLst>
          </p:cNvPr>
          <p:cNvSpPr/>
          <p:nvPr/>
        </p:nvSpPr>
        <p:spPr>
          <a:xfrm>
            <a:off x="1016000" y="2032000"/>
            <a:ext cx="2857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V1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19F079-69F9-5F4C-E977-FBB9C4EE527B}"/>
              </a:ext>
            </a:extLst>
          </p:cNvPr>
          <p:cNvSpPr/>
          <p:nvPr/>
        </p:nvSpPr>
        <p:spPr>
          <a:xfrm>
            <a:off x="1016000" y="2489200"/>
            <a:ext cx="2857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类
空间键值库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91AD15-61CE-9FB5-9774-DB7EFB1BFED5}"/>
              </a:ext>
            </a:extLst>
          </p:cNvPr>
          <p:cNvSpPr/>
          <p:nvPr/>
        </p:nvSpPr>
        <p:spPr>
          <a:xfrm>
            <a:off x="4635500" y="2032000"/>
            <a:ext cx="2857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V2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状态递推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880D79-3483-FA7F-E71E-5A9B0F48AD9B}"/>
              </a:ext>
            </a:extLst>
          </p:cNvPr>
          <p:cNvSpPr/>
          <p:nvPr/>
        </p:nvSpPr>
        <p:spPr>
          <a:xfrm>
            <a:off x="4635500" y="2489200"/>
            <a:ext cx="2857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类
状态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token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递推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22BA5E-1107-362E-42D6-B50ABA23BF7E}"/>
              </a:ext>
            </a:extLst>
          </p:cNvPr>
          <p:cNvSpPr/>
          <p:nvPr/>
        </p:nvSpPr>
        <p:spPr>
          <a:xfrm>
            <a:off x="8255000" y="2032000"/>
            <a:ext cx="2857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V3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混合方案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BA0C5D-A41D-41E0-B8D7-CEA716B723B6}"/>
              </a:ext>
            </a:extLst>
          </p:cNvPr>
          <p:cNvSpPr/>
          <p:nvPr/>
        </p:nvSpPr>
        <p:spPr>
          <a:xfrm>
            <a:off x="8255000" y="2489200"/>
            <a:ext cx="2857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token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空间键值库
总线门控写入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8449FE-54DF-E1AF-6BFB-13D8961E02FA}"/>
              </a:ext>
            </a:extLst>
          </p:cNvPr>
          <p:cNvSpPr/>
          <p:nvPr/>
        </p:nvSpPr>
        <p:spPr>
          <a:xfrm>
            <a:off x="1079500" y="4889500"/>
            <a:ext cx="10033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研究问题：长序列重建中，哪些信息应短期递推，哪些应作为空间锚点长期保留。</a:t>
            </a:r>
          </a:p>
        </p:txBody>
      </p:sp>
    </p:spTree>
    <p:extLst>
      <p:ext uri="{BB962C8B-B14F-4D97-AF65-F5344CB8AC3E}">
        <p14:creationId xmlns:p14="http://schemas.microsoft.com/office/powerpoint/2010/main" val="12228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长序列机制：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Mamba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C04CEA-E441-5E80-5209-4EF917B1797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4843A8-7DF2-14B8-B72C-F3C6033C7CB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长序列机制不只依赖更大注意力窗口，而是结合稀疏注意力和状态空间递推。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3FF067-4EDC-FA77-6A23-CC0CA3DE00D4}"/>
              </a:ext>
            </a:extLst>
          </p:cNvPr>
          <p:cNvSpPr/>
          <p:nvPr/>
        </p:nvSpPr>
        <p:spPr>
          <a:xfrm>
            <a:off x="889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三分支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DE308F-DCAC-5378-1593-47D8E8E5951B}"/>
              </a:ext>
            </a:extLst>
          </p:cNvPr>
          <p:cNvSpPr/>
          <p:nvPr/>
        </p:nvSpPr>
        <p:spPr>
          <a:xfrm>
            <a:off x="889000" y="25527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compressed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：状态记忆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selected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：锚点检索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sliding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：近期窗口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2289F4B-0C88-9BAE-2730-AC7FFCAF9349}"/>
              </a:ext>
            </a:extLst>
          </p:cNvPr>
          <p:cNvSpPr/>
          <p:nvPr/>
        </p:nvSpPr>
        <p:spPr>
          <a:xfrm>
            <a:off x="4191000" y="28194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F64FD0-1DB7-819F-B98A-A1D919DA7A48}"/>
              </a:ext>
            </a:extLst>
          </p:cNvPr>
          <p:cNvSpPr/>
          <p:nvPr/>
        </p:nvSpPr>
        <p:spPr>
          <a:xfrm>
            <a:off x="4953000" y="20955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Mamba Hybrid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E4AD97-EBB9-727C-508F-2A6BB20F9156}"/>
              </a:ext>
            </a:extLst>
          </p:cNvPr>
          <p:cNvSpPr/>
          <p:nvPr/>
        </p:nvSpPr>
        <p:spPr>
          <a:xfrm>
            <a:off x="4953000" y="2552700"/>
            <a:ext cx="2667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线性递推状态
跨窗口稳定传递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119A127-3E5F-3CB9-923C-5D7FD68E4005}"/>
              </a:ext>
            </a:extLst>
          </p:cNvPr>
          <p:cNvSpPr/>
          <p:nvPr/>
        </p:nvSpPr>
        <p:spPr>
          <a:xfrm>
            <a:off x="7874000" y="28194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993BAA-3F55-2371-AE74-6BE138436CD7}"/>
              </a:ext>
            </a:extLst>
          </p:cNvPr>
          <p:cNvSpPr/>
          <p:nvPr/>
        </p:nvSpPr>
        <p:spPr>
          <a:xfrm>
            <a:off x="8636000" y="2095500"/>
            <a:ext cx="2794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32C77A-8E86-D734-4599-5439BCB6BAE9}"/>
              </a:ext>
            </a:extLst>
          </p:cNvPr>
          <p:cNvSpPr/>
          <p:nvPr/>
        </p:nvSpPr>
        <p:spPr>
          <a:xfrm>
            <a:off x="8636000" y="2552700"/>
            <a:ext cx="2794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on/off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
误差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开销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漂移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8D8FE6-784F-3965-9A09-4FDC1E8349A5}"/>
              </a:ext>
            </a:extLst>
          </p:cNvPr>
          <p:cNvSpPr/>
          <p:nvPr/>
        </p:nvSpPr>
        <p:spPr>
          <a:xfrm>
            <a:off x="1206500" y="4889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该页强调后续待验证机制，不把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写成已证明能提升重建质量的结论。</a:t>
            </a:r>
          </a:p>
        </p:txBody>
      </p:sp>
    </p:spTree>
    <p:extLst>
      <p:ext uri="{BB962C8B-B14F-4D97-AF65-F5344CB8AC3E}">
        <p14:creationId xmlns:p14="http://schemas.microsoft.com/office/powerpoint/2010/main" val="2424329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校验模块：几何自检查与修复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215381-2D49-76BC-4E80-C1D082A9045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931C54-FBB8-A600-0AF9-8346C40525B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校验模块把几何一致性转化为可记录信号，用于检测失败并触发修复。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660CBC-2BE7-54EA-667B-CF0CC7DC417F}"/>
              </a:ext>
            </a:extLst>
          </p:cNvPr>
          <p:cNvSpPr/>
          <p:nvPr/>
        </p:nvSpPr>
        <p:spPr>
          <a:xfrm>
            <a:off x="1016000" y="18415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3277B7-DB3F-1EA3-B877-5507770D0172}"/>
              </a:ext>
            </a:extLst>
          </p:cNvPr>
          <p:cNvSpPr/>
          <p:nvPr/>
        </p:nvSpPr>
        <p:spPr>
          <a:xfrm>
            <a:off x="3048000" y="18415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点图对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置信度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共视关系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0C19CD-9B83-034C-1F4C-7C57C6CC1CF5}"/>
              </a:ext>
            </a:extLst>
          </p:cNvPr>
          <p:cNvSpPr/>
          <p:nvPr/>
        </p:nvSpPr>
        <p:spPr>
          <a:xfrm>
            <a:off x="1016000" y="26797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3917C3-4291-5630-7D7F-99350F14DA0E}"/>
              </a:ext>
            </a:extLst>
          </p:cNvPr>
          <p:cNvSpPr/>
          <p:nvPr/>
        </p:nvSpPr>
        <p:spPr>
          <a:xfrm>
            <a:off x="3048000" y="26797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Sampson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距离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深度一致性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covisibility</a:t>
            </a:r>
            <a:endParaRPr lang="zh-CN" altLang="en-US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0BE78D-C3B5-C351-9E3A-1082E669365E}"/>
              </a:ext>
            </a:extLst>
          </p:cNvPr>
          <p:cNvSpPr/>
          <p:nvPr/>
        </p:nvSpPr>
        <p:spPr>
          <a:xfrm>
            <a:off x="1016000" y="35179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A950BD-E20B-7C8C-5849-CB41EFEE7439}"/>
              </a:ext>
            </a:extLst>
          </p:cNvPr>
          <p:cNvSpPr/>
          <p:nvPr/>
        </p:nvSpPr>
        <p:spPr>
          <a:xfrm>
            <a:off x="3048000" y="35179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conflict score / repair action logits 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日志字段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94A579-BEA3-4FD2-FD75-86D8DCB0E3F0}"/>
              </a:ext>
            </a:extLst>
          </p:cNvPr>
          <p:cNvSpPr/>
          <p:nvPr/>
        </p:nvSpPr>
        <p:spPr>
          <a:xfrm>
            <a:off x="1016000" y="43561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59D06D-CDE3-4BAF-3D71-CC0E69EB65EB}"/>
              </a:ext>
            </a:extLst>
          </p:cNvPr>
          <p:cNvSpPr/>
          <p:nvPr/>
        </p:nvSpPr>
        <p:spPr>
          <a:xfrm>
            <a:off x="3048000" y="43561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失败检出率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修复后误差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额外开销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276CF4-41B2-C7CE-E2D6-7B191100602A}"/>
              </a:ext>
            </a:extLst>
          </p:cNvPr>
          <p:cNvSpPr/>
          <p:nvPr/>
        </p:nvSpPr>
        <p:spPr>
          <a:xfrm>
            <a:off x="1333500" y="5461000"/>
            <a:ext cx="9525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校验模块的价值由后续错误检出和修复效果决定，不以示意图替代实验结论。</a:t>
            </a:r>
          </a:p>
        </p:txBody>
      </p:sp>
    </p:spTree>
    <p:extLst>
      <p:ext uri="{BB962C8B-B14F-4D97-AF65-F5344CB8AC3E}">
        <p14:creationId xmlns:p14="http://schemas.microsoft.com/office/powerpoint/2010/main" val="748583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永久性模块：对象槽与动态抑制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A2C53F-2708-24BD-0357-5F4A42C8219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C0BC3E-D76A-9D3C-0487-86E5426B3FA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永久性模块用于区分稳定结构、动态对象和不确定区域，避免错误写入长期记忆。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A343A2-EDBD-32D4-FB36-ADE75F5B6B42}"/>
              </a:ext>
            </a:extLst>
          </p:cNvPr>
          <p:cNvSpPr/>
          <p:nvPr/>
        </p:nvSpPr>
        <p:spPr>
          <a:xfrm>
            <a:off x="762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对象槽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0852B2-CC0D-611F-6090-E09B4EAE311C}"/>
              </a:ext>
            </a:extLst>
          </p:cNvPr>
          <p:cNvSpPr/>
          <p:nvPr/>
        </p:nvSpPr>
        <p:spPr>
          <a:xfrm>
            <a:off x="762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identity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跨帧匹配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0DC5E9-1F1F-AE6C-6856-320FB3516772}"/>
              </a:ext>
            </a:extLst>
          </p:cNvPr>
          <p:cNvSpPr/>
          <p:nvPr/>
        </p:nvSpPr>
        <p:spPr>
          <a:xfrm>
            <a:off x="3556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参考位姿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92C820-B618-1079-CEAE-4316B79CFF21}"/>
              </a:ext>
            </a:extLst>
          </p:cNvPr>
          <p:cNvSpPr/>
          <p:nvPr/>
        </p:nvSpPr>
        <p:spPr>
          <a:xfrm>
            <a:off x="3556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ISA-style
slot reference poses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D8CA94-D442-6A8A-BB55-DFA4B41455B9}"/>
              </a:ext>
            </a:extLst>
          </p:cNvPr>
          <p:cNvSpPr/>
          <p:nvPr/>
        </p:nvSpPr>
        <p:spPr>
          <a:xfrm>
            <a:off x="6350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动态抑制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3EB80-3E6C-70E8-010B-E0310317EAC2}"/>
              </a:ext>
            </a:extLst>
          </p:cNvPr>
          <p:cNvSpPr/>
          <p:nvPr/>
        </p:nvSpPr>
        <p:spPr>
          <a:xfrm>
            <a:off x="6350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dynamic ratio
write suppression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63FF1E-9DB2-AE87-393C-B0252569614B}"/>
              </a:ext>
            </a:extLst>
          </p:cNvPr>
          <p:cNvSpPr/>
          <p:nvPr/>
        </p:nvSpPr>
        <p:spPr>
          <a:xfrm>
            <a:off x="9144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冲突隔离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FF9652-E100-CBAD-CD9D-3E78F6E98C42}"/>
              </a:ext>
            </a:extLst>
          </p:cNvPr>
          <p:cNvSpPr/>
          <p:nvPr/>
        </p:nvSpPr>
        <p:spPr>
          <a:xfrm>
            <a:off x="9144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quarantine
uncertain anchors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80BA6F-DE8B-9BAD-E89A-E09F09F9D218}"/>
              </a:ext>
            </a:extLst>
          </p:cNvPr>
          <p:cNvSpPr/>
          <p:nvPr/>
        </p:nvSpPr>
        <p:spPr>
          <a:xfrm>
            <a:off x="1206500" y="4889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这部分连接动态场景研究和记忆写入策略，是架构中“能不能长期记住”的前置条件。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873410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融合编排：专家路由与组合评估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F6D8D7-7A49-9FE3-FFBA-3FA0C850208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EF6437-1D70-64F9-F099-5E9B856DFB8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融合编排是候选架构的最后一环：将专家能力、失败信号和成本约束统一评估。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97131A-6CBB-BC68-B8E9-EC7786832786}"/>
              </a:ext>
            </a:extLst>
          </p:cNvPr>
          <p:cNvSpPr/>
          <p:nvPr/>
        </p:nvSpPr>
        <p:spPr>
          <a:xfrm>
            <a:off x="762000" y="20320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1E8B56-3CE2-0160-2CD1-DC08AAACFE42}"/>
              </a:ext>
            </a:extLst>
          </p:cNvPr>
          <p:cNvSpPr/>
          <p:nvPr/>
        </p:nvSpPr>
        <p:spPr>
          <a:xfrm>
            <a:off x="762000" y="2489200"/>
            <a:ext cx="2921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MASt3R / Fast3R
Spann3R / CUT3R
MonST3R / Test3R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6823752F-87A3-72BD-2D07-9940A184DAE2}"/>
              </a:ext>
            </a:extLst>
          </p:cNvPr>
          <p:cNvSpPr/>
          <p:nvPr/>
        </p:nvSpPr>
        <p:spPr>
          <a:xfrm>
            <a:off x="38735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D0D90-8FC4-A609-8FB9-B0FCC392F9D6}"/>
              </a:ext>
            </a:extLst>
          </p:cNvPr>
          <p:cNvSpPr/>
          <p:nvPr/>
        </p:nvSpPr>
        <p:spPr>
          <a:xfrm>
            <a:off x="4635500" y="2032000"/>
            <a:ext cx="3048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路由依据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AFD4FB-7AD0-8755-2C3C-18A8879B49D2}"/>
              </a:ext>
            </a:extLst>
          </p:cNvPr>
          <p:cNvSpPr/>
          <p:nvPr/>
        </p:nvSpPr>
        <p:spPr>
          <a:xfrm>
            <a:off x="4635500" y="2489200"/>
            <a:ext cx="3048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能力匹配
成本修正匹配
路由后悔值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A021824-8689-8527-53D9-EA0DB7B38050}"/>
              </a:ext>
            </a:extLst>
          </p:cNvPr>
          <p:cNvSpPr/>
          <p:nvPr/>
        </p:nvSpPr>
        <p:spPr>
          <a:xfrm>
            <a:off x="78740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2E67A-962F-FA72-875D-4F0D12A5413F}"/>
              </a:ext>
            </a:extLst>
          </p:cNvPr>
          <p:cNvSpPr/>
          <p:nvPr/>
        </p:nvSpPr>
        <p:spPr>
          <a:xfrm>
            <a:off x="8636000" y="2032000"/>
            <a:ext cx="2794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组合评估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81E029-3EF7-7719-632A-1684D13FFCD8}"/>
              </a:ext>
            </a:extLst>
          </p:cNvPr>
          <p:cNvSpPr/>
          <p:nvPr/>
        </p:nvSpPr>
        <p:spPr>
          <a:xfrm>
            <a:off x="8636000" y="2489200"/>
            <a:ext cx="279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单专家对照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best-of-N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消融分组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A66584-D9C6-A912-BBEE-05018E0FCB20}"/>
              </a:ext>
            </a:extLst>
          </p:cNvPr>
          <p:cNvSpPr/>
          <p:nvPr/>
        </p:nvSpPr>
        <p:spPr>
          <a:xfrm>
            <a:off x="1079500" y="4889500"/>
            <a:ext cx="10033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该模块解决“怎样融合”的问题：先记录选择依据，再用实验判断组合是否稳定优于单一路线。</a:t>
            </a:r>
          </a:p>
        </p:txBody>
      </p:sp>
    </p:spTree>
    <p:extLst>
      <p:ext uri="{BB962C8B-B14F-4D97-AF65-F5344CB8AC3E}">
        <p14:creationId xmlns:p14="http://schemas.microsoft.com/office/powerpoint/2010/main" val="4210374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信号总线：跨模块合同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79CD47-8BA7-612D-1720-96899AEBDAA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317FD2-210D-90A6-99EB-02D7DA0DF10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跨模块信号合同用于把架构思路落实为可执行、可审计的数据字段。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3600C5-FFBB-1ABE-7473-1DD7E887B132}"/>
              </a:ext>
            </a:extLst>
          </p:cNvPr>
          <p:cNvSpPr/>
          <p:nvPr/>
        </p:nvSpPr>
        <p:spPr>
          <a:xfrm>
            <a:off x="4445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CR-1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E0FD0E-241E-20D0-0F6D-22992CFC683F}"/>
              </a:ext>
            </a:extLst>
          </p:cNvPr>
          <p:cNvSpPr/>
          <p:nvPr/>
        </p:nvSpPr>
        <p:spPr>
          <a:xfrm>
            <a:off x="4445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fr-F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Composer </a:t>
            </a:r>
            <a:r>
              <a:rPr lang="zh-CN" altLang="fr-FR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能力匹配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3E5B01-C19A-9F04-C727-4B96F30658DE}"/>
              </a:ext>
            </a:extLst>
          </p:cNvPr>
          <p:cNvSpPr/>
          <p:nvPr/>
        </p:nvSpPr>
        <p:spPr>
          <a:xfrm>
            <a:off x="27051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CR-2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38777E-E8A2-585C-452F-234E02E8D692}"/>
              </a:ext>
            </a:extLst>
          </p:cNvPr>
          <p:cNvSpPr/>
          <p:nvPr/>
        </p:nvSpPr>
        <p:spPr>
          <a:xfrm>
            <a:off x="27051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Permanence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动态抑制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FEEEA8-15D9-B89A-45FC-DB2A4CB5B8EC}"/>
              </a:ext>
            </a:extLst>
          </p:cNvPr>
          <p:cNvSpPr/>
          <p:nvPr/>
        </p:nvSpPr>
        <p:spPr>
          <a:xfrm>
            <a:off x="49657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CR-3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4B6846-BFA0-E1FB-E438-9A77D10C746D}"/>
              </a:ext>
            </a:extLst>
          </p:cNvPr>
          <p:cNvSpPr/>
          <p:nvPr/>
        </p:nvSpPr>
        <p:spPr>
          <a:xfrm>
            <a:off x="49657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Memory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写入
稳定锚点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BE946B-849F-E597-5730-92E91D51B22B}"/>
              </a:ext>
            </a:extLst>
          </p:cNvPr>
          <p:cNvSpPr/>
          <p:nvPr/>
        </p:nvSpPr>
        <p:spPr>
          <a:xfrm>
            <a:off x="72263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CR-4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86A31D-13C8-D348-96FB-CDCE4BDA0857}"/>
              </a:ext>
            </a:extLst>
          </p:cNvPr>
          <p:cNvSpPr/>
          <p:nvPr/>
        </p:nvSpPr>
        <p:spPr>
          <a:xfrm>
            <a:off x="72263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Critic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冲突
修复动作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63F2D6-5843-36FC-B355-A9597BE167D5}"/>
              </a:ext>
            </a:extLst>
          </p:cNvPr>
          <p:cNvSpPr/>
          <p:nvPr/>
        </p:nvSpPr>
        <p:spPr>
          <a:xfrm>
            <a:off x="9486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CR-5/6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E90400-B6FA-DB3D-9AA3-49E8A4DA367C}"/>
              </a:ext>
            </a:extLst>
          </p:cNvPr>
          <p:cNvSpPr/>
          <p:nvPr/>
        </p:nvSpPr>
        <p:spPr>
          <a:xfrm>
            <a:off x="94869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成本约束
回退策略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25B920-DAA9-7C9C-ED6B-A2C2ED92B820}"/>
              </a:ext>
            </a:extLst>
          </p:cNvPr>
          <p:cNvSpPr/>
          <p:nvPr/>
        </p:nvSpPr>
        <p:spPr>
          <a:xfrm>
            <a:off x="952500" y="4889500"/>
            <a:ext cx="10414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信号合同使平台能够记录每次任务的模型选择、失败原因、修复动作和运行成本。</a:t>
            </a:r>
          </a:p>
        </p:txBody>
      </p:sp>
    </p:spTree>
    <p:extLst>
      <p:ext uri="{BB962C8B-B14F-4D97-AF65-F5344CB8AC3E}">
        <p14:creationId xmlns:p14="http://schemas.microsoft.com/office/powerpoint/2010/main" val="126130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实现基础：进展与边界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5E200A-D039-6DDF-E003-285675D5556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4AF7A-B641-05C9-EE2D-AB4E74E143A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当前进展以集成与可运行性为主，后续仍需真实数据消融验证。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32E394-9529-38D8-BE43-1121AD9C7399}"/>
              </a:ext>
            </a:extLst>
          </p:cNvPr>
          <p:cNvSpPr/>
          <p:nvPr/>
        </p:nvSpPr>
        <p:spPr>
          <a:xfrm>
            <a:off x="952500" y="17780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F5C338-35B5-F13D-D731-09B2D32D40E1}"/>
              </a:ext>
            </a:extLst>
          </p:cNvPr>
          <p:cNvSpPr/>
          <p:nvPr/>
        </p:nvSpPr>
        <p:spPr>
          <a:xfrm>
            <a:off x="3111500" y="17780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模块框架、总线合同、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Mamba path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KITTI smoke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04CD0B-B18D-3E31-48E4-82F3B0A798F7}"/>
              </a:ext>
            </a:extLst>
          </p:cNvPr>
          <p:cNvSpPr/>
          <p:nvPr/>
        </p:nvSpPr>
        <p:spPr>
          <a:xfrm>
            <a:off x="952500" y="26162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已接入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6963ED-946B-55E5-457C-7BAC155D1B8D}"/>
              </a:ext>
            </a:extLst>
          </p:cNvPr>
          <p:cNvSpPr/>
          <p:nvPr/>
        </p:nvSpPr>
        <p:spPr>
          <a:xfrm>
            <a:off x="3111500" y="26162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真实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adapter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；部分模型为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fallback</a:t>
            </a:r>
            <a:endParaRPr lang="zh-CN" altLang="en-US" sz="170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2975BB-6EC1-63AE-953C-B3757117624C}"/>
              </a:ext>
            </a:extLst>
          </p:cNvPr>
          <p:cNvSpPr/>
          <p:nvPr/>
        </p:nvSpPr>
        <p:spPr>
          <a:xfrm>
            <a:off x="952500" y="34544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待验证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CC427E-2A45-4503-3A92-955DB281A5D1}"/>
              </a:ext>
            </a:extLst>
          </p:cNvPr>
          <p:cNvSpPr/>
          <p:nvPr/>
        </p:nvSpPr>
        <p:spPr>
          <a:xfrm>
            <a:off x="3111500" y="3454400"/>
            <a:ext cx="793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记忆质量、路由收益、校验阈值、真实数据质量提升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70F597-ADB9-4D1E-0FD7-BE3F58BCA678}"/>
              </a:ext>
            </a:extLst>
          </p:cNvPr>
          <p:cNvSpPr/>
          <p:nvPr/>
        </p:nvSpPr>
        <p:spPr>
          <a:xfrm>
            <a:off x="952500" y="4292600"/>
            <a:ext cx="1841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结论边界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996F92-F846-0C53-92E2-261EB5CDD874}"/>
              </a:ext>
            </a:extLst>
          </p:cNvPr>
          <p:cNvSpPr/>
          <p:nvPr/>
        </p:nvSpPr>
        <p:spPr>
          <a:xfrm>
            <a:off x="3111500" y="4292600"/>
            <a:ext cx="79375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当前是实现与集成证据，不是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SOTA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质量结论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BCB668-BB35-E530-D6CF-9C1ACEE6E7D3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开题报告应呈现可验证路径，避免把计划性内容写成已经完成的结果。</a:t>
            </a:r>
          </a:p>
        </p:txBody>
      </p:sp>
    </p:spTree>
    <p:extLst>
      <p:ext uri="{BB962C8B-B14F-4D97-AF65-F5344CB8AC3E}">
        <p14:creationId xmlns:p14="http://schemas.microsoft.com/office/powerpoint/2010/main" val="1966725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8D8D7C-56D6-5BC5-5D4D-555D57B7894C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8FCFA4-43E9-B077-F38F-D5294DFBE067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C2E7A6-1112-2E6B-04BC-2E0F9C305E49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C78CABD-E8CD-EC59-D74D-6E76A674F8BD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0B7BCA-6F60-F40F-87A5-517304DCE945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9F870E5-CD39-9C5E-9F05-6CDB2A94DDEF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DBC5D77-F663-5FDF-A54E-CB897DD0E85B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C8A7B0-F396-C98E-6DB9-2748B15425AA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9D1FBC-DB3F-96ED-DCA5-5590F0195A50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27DF664-7F86-56DE-B0D9-9C77884F32E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BA486B9-9B68-DBEF-C233-15C6AC5998FD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F92741-6F2F-195C-C460-7903A024C8A4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3A3B71-B6BD-F256-413A-71DF2B59CCEA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4521D4C-1C2F-E7ED-DC79-88401EBCDFC1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D8835FC-CB6C-F191-7B0B-2A72D4DBC255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C4220D-CCEC-7497-5D98-49EADC9422C7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A9C264-F568-F837-7601-0C8FB3D01BFD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53B6CE0-89A7-5104-EF40-5EB8B16CF225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7C4165D-B109-A514-8DEE-D11CBDF35F6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037782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平台定位：研究工作台与实验入口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CEFF09-5B30-B37B-3DAD-6BB28D756B2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D7BDC4-DFDE-168A-6E44-705F574ECFC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平台作为第二主体，服务于多模型实验的执行、记录、比较和后续扩展。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FBFB1-1DEE-37B6-C288-0A767A51B185}"/>
              </a:ext>
            </a:extLst>
          </p:cNvPr>
          <p:cNvSpPr/>
          <p:nvPr/>
        </p:nvSpPr>
        <p:spPr>
          <a:xfrm>
            <a:off x="825500" y="2095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B9DBA-02EF-48E1-BCF6-58B51D37B334}"/>
              </a:ext>
            </a:extLst>
          </p:cNvPr>
          <p:cNvSpPr/>
          <p:nvPr/>
        </p:nvSpPr>
        <p:spPr>
          <a:xfrm>
            <a:off x="825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资料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
任务组织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B93660-0A8B-A8C0-9C18-3B913AC408C7}"/>
              </a:ext>
            </a:extLst>
          </p:cNvPr>
          <p:cNvSpPr/>
          <p:nvPr/>
        </p:nvSpPr>
        <p:spPr>
          <a:xfrm>
            <a:off x="3619500" y="2095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复现入口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1452EB-1FB2-873C-246A-67229142114F}"/>
              </a:ext>
            </a:extLst>
          </p:cNvPr>
          <p:cNvSpPr/>
          <p:nvPr/>
        </p:nvSpPr>
        <p:spPr>
          <a:xfrm>
            <a:off x="3619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脚本配置
环境隔离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B58E76-0ACF-2210-DE58-819820676C73}"/>
              </a:ext>
            </a:extLst>
          </p:cNvPr>
          <p:cNvSpPr/>
          <p:nvPr/>
        </p:nvSpPr>
        <p:spPr>
          <a:xfrm>
            <a:off x="6413500" y="20955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实验入口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94505C-4D4A-F643-BB77-333ED88969E8}"/>
              </a:ext>
            </a:extLst>
          </p:cNvPr>
          <p:cNvSpPr/>
          <p:nvPr/>
        </p:nvSpPr>
        <p:spPr>
          <a:xfrm>
            <a:off x="6413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远端执行
状态回传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8E33E5-6475-62FC-63D7-9C086CE0E120}"/>
              </a:ext>
            </a:extLst>
          </p:cNvPr>
          <p:cNvSpPr/>
          <p:nvPr/>
        </p:nvSpPr>
        <p:spPr>
          <a:xfrm>
            <a:off x="9207500" y="20955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报告入口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48A5C-12A5-C609-E212-CD9D4B8B764A}"/>
              </a:ext>
            </a:extLst>
          </p:cNvPr>
          <p:cNvSpPr/>
          <p:nvPr/>
        </p:nvSpPr>
        <p:spPr>
          <a:xfrm>
            <a:off x="9207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结果对比
材料沉淀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87089A-556A-F720-BFC0-454BDEE2B513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平台不是展示用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UI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，而是把研究流程、模型执行和证据记录串起来的工作台。</a:t>
            </a:r>
          </a:p>
        </p:txBody>
      </p:sp>
    </p:spTree>
    <p:extLst>
      <p:ext uri="{BB962C8B-B14F-4D97-AF65-F5344CB8AC3E}">
        <p14:creationId xmlns:p14="http://schemas.microsoft.com/office/powerpoint/2010/main" val="293950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平台功能：多模型管理闭环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471D62-5402-CE78-6E68-DE9587D0B9B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5AF9F5-A7DA-EC78-9993-88F524B6CCA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平台建设围绕任务管理、模型管理、结果管理和评测管理四类功能展开。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B431DE-F549-0237-8C43-B408D5282953}"/>
              </a:ext>
            </a:extLst>
          </p:cNvPr>
          <p:cNvSpPr/>
          <p:nvPr/>
        </p:nvSpPr>
        <p:spPr>
          <a:xfrm>
            <a:off x="8890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861BCE-B53A-BDA8-22F2-8454B430C3A3}"/>
              </a:ext>
            </a:extLst>
          </p:cNvPr>
          <p:cNvSpPr/>
          <p:nvPr/>
        </p:nvSpPr>
        <p:spPr>
          <a:xfrm>
            <a:off x="3111500" y="18415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样本选择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参数配置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状态追踪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F9AC18-073B-2CEC-9BAB-249E3BF77F1D}"/>
              </a:ext>
            </a:extLst>
          </p:cNvPr>
          <p:cNvSpPr/>
          <p:nvPr/>
        </p:nvSpPr>
        <p:spPr>
          <a:xfrm>
            <a:off x="8890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4A8D15-904D-0421-7FAF-3F9F75CAEC88}"/>
              </a:ext>
            </a:extLst>
          </p:cNvPr>
          <p:cNvSpPr/>
          <p:nvPr/>
        </p:nvSpPr>
        <p:spPr>
          <a:xfrm>
            <a:off x="3111500" y="26797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注册表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执行器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环境隔离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36BD68-1BDF-1DF8-B49C-ABFB2659D2D3}"/>
              </a:ext>
            </a:extLst>
          </p:cNvPr>
          <p:cNvSpPr/>
          <p:nvPr/>
        </p:nvSpPr>
        <p:spPr>
          <a:xfrm>
            <a:off x="8890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64C903-4BED-D1C0-EFBF-2E6217C256E6}"/>
              </a:ext>
            </a:extLst>
          </p:cNvPr>
          <p:cNvSpPr/>
          <p:nvPr/>
        </p:nvSpPr>
        <p:spPr>
          <a:xfrm>
            <a:off x="3111500" y="35179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产物回传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元数据归档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日志查询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3AA1EF-7176-FD0C-273F-9E68D8C7A435}"/>
              </a:ext>
            </a:extLst>
          </p:cNvPr>
          <p:cNvSpPr/>
          <p:nvPr/>
        </p:nvSpPr>
        <p:spPr>
          <a:xfrm>
            <a:off x="8890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评测管理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451039-7C81-C210-8B88-084023079E78}"/>
              </a:ext>
            </a:extLst>
          </p:cNvPr>
          <p:cNvSpPr/>
          <p:nvPr/>
        </p:nvSpPr>
        <p:spPr>
          <a:xfrm>
            <a:off x="3111500" y="43561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自动指标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对比矩阵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报告入口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670994-3246-65CB-5BC5-6FFCFBD117C1}"/>
              </a:ext>
            </a:extLst>
          </p:cNvPr>
          <p:cNvSpPr/>
          <p:nvPr/>
        </p:nvSpPr>
        <p:spPr>
          <a:xfrm>
            <a:off x="1460500" y="5461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本阶段重点说明功能闭环，界面展示不作为平台评价依据。</a:t>
            </a:r>
          </a:p>
        </p:txBody>
      </p:sp>
    </p:spTree>
    <p:extLst>
      <p:ext uri="{BB962C8B-B14F-4D97-AF65-F5344CB8AC3E}">
        <p14:creationId xmlns:p14="http://schemas.microsoft.com/office/powerpoint/2010/main" val="1603666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软件架构：桌面端到远端执行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0CE31B-14EF-BA8F-C504-8493F816A57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7312E7-A8F1-A759-F271-998BFE18B20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软件平台采用桌面端交互、本地服务封装、远端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执行的分离架构。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4D481C-B474-BF49-A9E3-036B0DBABD23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3D99A-84FE-9C61-18B6-FCA08999E58A}"/>
              </a:ext>
            </a:extLst>
          </p:cNvPr>
          <p:cNvSpPr/>
          <p:nvPr/>
        </p:nvSpPr>
        <p:spPr>
          <a:xfrm>
            <a:off x="2794000" y="1841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Tauri 2 + React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CC3F55-8B56-37D2-E472-E0BF8E3EE534}"/>
              </a:ext>
            </a:extLst>
          </p:cNvPr>
          <p:cNvSpPr/>
          <p:nvPr/>
        </p:nvSpPr>
        <p:spPr>
          <a:xfrm>
            <a:off x="5651500" y="1841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任务提交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状态查看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678F4F-C5B3-C684-C6CA-EB4FD6C334F7}"/>
              </a:ext>
            </a:extLst>
          </p:cNvPr>
          <p:cNvSpPr/>
          <p:nvPr/>
        </p:nvSpPr>
        <p:spPr>
          <a:xfrm>
            <a:off x="698500" y="2730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本地后端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2D8E3-2E87-FCE9-4905-4114BE244E06}"/>
              </a:ext>
            </a:extLst>
          </p:cNvPr>
          <p:cNvSpPr/>
          <p:nvPr/>
        </p:nvSpPr>
        <p:spPr>
          <a:xfrm>
            <a:off x="2794000" y="2730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0C93E8-E817-A7DA-5661-226C5305E5EE}"/>
              </a:ext>
            </a:extLst>
          </p:cNvPr>
          <p:cNvSpPr/>
          <p:nvPr/>
        </p:nvSpPr>
        <p:spPr>
          <a:xfrm>
            <a:off x="5651500" y="2730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参数校验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合同生成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447442-1FE7-CC42-1BE8-1796BC6C9836}"/>
              </a:ext>
            </a:extLst>
          </p:cNvPr>
          <p:cNvSpPr/>
          <p:nvPr/>
        </p:nvSpPr>
        <p:spPr>
          <a:xfrm>
            <a:off x="698500" y="3619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737720-250B-A439-8CCA-82162D62EA3C}"/>
              </a:ext>
            </a:extLst>
          </p:cNvPr>
          <p:cNvSpPr/>
          <p:nvPr/>
        </p:nvSpPr>
        <p:spPr>
          <a:xfrm>
            <a:off x="2794000" y="3619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SSH / SCP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FBD90-57B5-4A72-6D7D-AC155247A69E}"/>
              </a:ext>
            </a:extLst>
          </p:cNvPr>
          <p:cNvSpPr/>
          <p:nvPr/>
        </p:nvSpPr>
        <p:spPr>
          <a:xfrm>
            <a:off x="5651500" y="3619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日志回传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E7E044-EFD4-3C37-72DF-B4BF4AD1C7A9}"/>
              </a:ext>
            </a:extLst>
          </p:cNvPr>
          <p:cNvSpPr/>
          <p:nvPr/>
        </p:nvSpPr>
        <p:spPr>
          <a:xfrm>
            <a:off x="698500" y="4508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F7E66E-00C3-DCE7-6F48-9F9F0F399887}"/>
              </a:ext>
            </a:extLst>
          </p:cNvPr>
          <p:cNvSpPr/>
          <p:nvPr/>
        </p:nvSpPr>
        <p:spPr>
          <a:xfrm>
            <a:off x="2794000" y="4508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3E4B40-1CB8-D20F-BE1A-4EA0063E07AC}"/>
              </a:ext>
            </a:extLst>
          </p:cNvPr>
          <p:cNvSpPr/>
          <p:nvPr/>
        </p:nvSpPr>
        <p:spPr>
          <a:xfrm>
            <a:off x="5651500" y="4508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778A5E-3D99-DFE4-BD51-04E4EC69DC27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分离设计降低本地交互与远端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环境之间的耦合。</a:t>
            </a:r>
          </a:p>
        </p:txBody>
      </p:sp>
    </p:spTree>
    <p:extLst>
      <p:ext uri="{BB962C8B-B14F-4D97-AF65-F5344CB8AC3E}">
        <p14:creationId xmlns:p14="http://schemas.microsoft.com/office/powerpoint/2010/main" val="3367867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任务合同：执行、状态与结果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2FA4BD-C73C-89BE-3608-9D9446919BD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8599B7-E39B-A85C-FD0E-01B72D6C3C6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一次平台任务被拆成合同生成、远端执行、状态回传和结果入库四个环节。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1F131B-B7B9-12E0-D80F-829CFC5402D4}"/>
              </a:ext>
            </a:extLst>
          </p:cNvPr>
          <p:cNvSpPr/>
          <p:nvPr/>
        </p:nvSpPr>
        <p:spPr>
          <a:xfrm>
            <a:off x="6985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提交任务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58B6FD-8DF3-34FD-1A57-AC8A8D8531BB}"/>
              </a:ext>
            </a:extLst>
          </p:cNvPr>
          <p:cNvSpPr/>
          <p:nvPr/>
        </p:nvSpPr>
        <p:spPr>
          <a:xfrm>
            <a:off x="698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选择模型
输入样本
设置参数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08227A9-BDD0-502E-0C68-6E302A114770}"/>
              </a:ext>
            </a:extLst>
          </p:cNvPr>
          <p:cNvSpPr/>
          <p:nvPr/>
        </p:nvSpPr>
        <p:spPr>
          <a:xfrm>
            <a:off x="3175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260447-8215-5B80-087F-157B4EE30EB4}"/>
              </a:ext>
            </a:extLst>
          </p:cNvPr>
          <p:cNvSpPr/>
          <p:nvPr/>
        </p:nvSpPr>
        <p:spPr>
          <a:xfrm>
            <a:off x="3492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生成合同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FCB582-C3DE-8113-8CE0-4B3EC0BC1AF3}"/>
              </a:ext>
            </a:extLst>
          </p:cNvPr>
          <p:cNvSpPr/>
          <p:nvPr/>
        </p:nvSpPr>
        <p:spPr>
          <a:xfrm>
            <a:off x="3492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任务描述文件
输出目录
运行约束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F13432A-8B27-81EF-3429-ABE20A934E00}"/>
              </a:ext>
            </a:extLst>
          </p:cNvPr>
          <p:cNvSpPr/>
          <p:nvPr/>
        </p:nvSpPr>
        <p:spPr>
          <a:xfrm>
            <a:off x="5969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2CC61F-EA00-C74F-2F27-6D36608B5998}"/>
              </a:ext>
            </a:extLst>
          </p:cNvPr>
          <p:cNvSpPr/>
          <p:nvPr/>
        </p:nvSpPr>
        <p:spPr>
          <a:xfrm>
            <a:off x="6286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1AA6E6-B60E-5018-B057-5F12AE119425}"/>
              </a:ext>
            </a:extLst>
          </p:cNvPr>
          <p:cNvSpPr/>
          <p:nvPr/>
        </p:nvSpPr>
        <p:spPr>
          <a:xfrm>
            <a:off x="6286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SSH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启动
日志监听
状态轮询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496C642-6F8E-CFDB-4D32-2B0739B07798}"/>
              </a:ext>
            </a:extLst>
          </p:cNvPr>
          <p:cNvSpPr/>
          <p:nvPr/>
        </p:nvSpPr>
        <p:spPr>
          <a:xfrm>
            <a:off x="8763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036CE7-E117-F4E1-4224-998499120D1A}"/>
              </a:ext>
            </a:extLst>
          </p:cNvPr>
          <p:cNvSpPr/>
          <p:nvPr/>
        </p:nvSpPr>
        <p:spPr>
          <a:xfrm>
            <a:off x="9080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6FDEEF-C9C8-14E0-A994-F2CB4088256C}"/>
              </a:ext>
            </a:extLst>
          </p:cNvPr>
          <p:cNvSpPr/>
          <p:nvPr/>
        </p:nvSpPr>
        <p:spPr>
          <a:xfrm>
            <a:off x="9080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
状态归档
指标入口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D9DE90-DF2F-0444-9322-86C6B95C18CB}"/>
              </a:ext>
            </a:extLst>
          </p:cNvPr>
          <p:cNvSpPr/>
          <p:nvPr/>
        </p:nvSpPr>
        <p:spPr>
          <a:xfrm>
            <a:off x="1206500" y="4762500"/>
            <a:ext cx="977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关键点：平台通过执行器和合同把异构模型纳入统一流程，不直接重写模型代码。</a:t>
            </a:r>
          </a:p>
        </p:txBody>
      </p:sp>
    </p:spTree>
    <p:extLst>
      <p:ext uri="{BB962C8B-B14F-4D97-AF65-F5344CB8AC3E}">
        <p14:creationId xmlns:p14="http://schemas.microsoft.com/office/powerpoint/2010/main" val="3920875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平台进展：模型接入与工程证据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92C82F-6C0B-3C55-8CA4-120A57D7CED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14B8D8-1995-318E-0A92-797DA837331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已有平台验证说明统一调度是必要前提，但不把耗时结果解释为模型质量排序。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F845BA-3E9A-73BC-0E64-EC7FB7F0D6C6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平台进展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425C54-24F0-E212-80B3-A77D9DDDAD16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个模型已注册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588AC0-AA93-A76F-BF68-8CAA7E8B9EF1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个完成端到端验证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D68880-380F-70BD-6060-0174EF4D840A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待权重补充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C3D689A-A5E6-B3B3-4EE1-5AFB3EC944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BE4518-546F-1EA8-F00A-B9398393CC19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实测耗时用于说明跨模型调度和结果记录的必要性，不作为重建质量结论。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3484979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发展路径：从实验管理到研究工作台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723B78-672F-28C7-A5D9-5ED12A15584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C6AA62-5A17-B8EC-BAFE-DB4A91A02C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后续平台将从实验管理继续扩展为研究工作台，但界面方案待进一步补充。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FB0534-8DE6-3BAF-8926-68F5C861AABA}"/>
              </a:ext>
            </a:extLst>
          </p:cNvPr>
          <p:cNvSpPr/>
          <p:nvPr/>
        </p:nvSpPr>
        <p:spPr>
          <a:xfrm>
            <a:off x="1333500" y="20955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25AAE7-2AE3-6000-1F7E-1A36BA2B9CBE}"/>
              </a:ext>
            </a:extLst>
          </p:cNvPr>
          <p:cNvSpPr/>
          <p:nvPr/>
        </p:nvSpPr>
        <p:spPr>
          <a:xfrm>
            <a:off x="3492500" y="20955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补齐模型执行合同、对比矩阵和报告导出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69FDA5-10E8-9B6D-A147-8D3EF0F940F3}"/>
              </a:ext>
            </a:extLst>
          </p:cNvPr>
          <p:cNvSpPr/>
          <p:nvPr/>
        </p:nvSpPr>
        <p:spPr>
          <a:xfrm>
            <a:off x="1333500" y="30861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730898-7B31-8FCF-704C-7CB983DDFA7D}"/>
              </a:ext>
            </a:extLst>
          </p:cNvPr>
          <p:cNvSpPr/>
          <p:nvPr/>
        </p:nvSpPr>
        <p:spPr>
          <a:xfrm>
            <a:off x="3492500" y="3086100"/>
            <a:ext cx="736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接入研究单元、资料索引和实验证据链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23B991-F543-D5D9-FE44-A1B24E2C9B04}"/>
              </a:ext>
            </a:extLst>
          </p:cNvPr>
          <p:cNvSpPr/>
          <p:nvPr/>
        </p:nvSpPr>
        <p:spPr>
          <a:xfrm>
            <a:off x="1333500" y="4076700"/>
            <a:ext cx="18415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5EDD4F-6F6F-5DA8-7B9B-950FE2380578}"/>
              </a:ext>
            </a:extLst>
          </p:cNvPr>
          <p:cNvSpPr/>
          <p:nvPr/>
        </p:nvSpPr>
        <p:spPr>
          <a:xfrm>
            <a:off x="3492500" y="40767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形成论文材料、演示材料和模型验证的一体化入口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0B1113-1F72-430C-5BC6-6932F5746CE9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截图暂不放入本版，待界面优化后作为真实系统证据补充。</a:t>
            </a:r>
          </a:p>
        </p:txBody>
      </p:sp>
    </p:spTree>
    <p:extLst>
      <p:ext uri="{BB962C8B-B14F-4D97-AF65-F5344CB8AC3E}">
        <p14:creationId xmlns:p14="http://schemas.microsoft.com/office/powerpoint/2010/main" val="3772734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15B43CA-6701-A81C-502D-492EC267201B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744C27-244F-F705-9FBA-47D36CA3F74B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F78334F-46AB-D45D-A593-B414C1CC9972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447324E-5B6D-AF66-2997-8ED8DFA59E0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0D96BB-268B-07AB-0464-92DF092D4121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E988DEF-3555-D173-31CF-0C493BEEE1DF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6FE8E1A-0850-9421-A14D-8BFA6547D5FA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0CFB9-2987-ECE3-1A1D-AF499BD85F20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F7AA46-BD91-7CE5-E5C2-8A6F7DF9399C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0FD37FB-FC23-3870-D5C5-6B7039D84B1C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BAEFEFD-8C04-A370-F6A2-A99E644218F1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6E01E4-82BC-C839-795D-3F496DBFE4DF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6E5D8E-D7C2-35E8-7F8B-66497A97E0F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62B5311-D3AD-B5F2-6359-6BC9949A725E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860B041-DAFE-9942-0DF2-0AC5F2CAB74D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64F2F5-A90F-B67C-8364-B7262B0EF2B3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FFD054-5B24-66DB-D15D-154330A62E37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F9782D1-901A-3CA8-164A-78D6FE1351FF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4100AF2-1370-EF22-FA6A-0495E5A034D6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2357055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实验设计：两条证据链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68C1D1-7479-917F-2766-453866A8157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6540BB-EFB0-B132-603E-CE4EBB39756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实验设计分为架构研究和软件平台两条证据链，最终共同支撑开题目标。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F86306-2143-2FDF-7B41-E10BCC2D5B67}"/>
              </a:ext>
            </a:extLst>
          </p:cNvPr>
          <p:cNvSpPr/>
          <p:nvPr/>
        </p:nvSpPr>
        <p:spPr>
          <a:xfrm>
            <a:off x="889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架构证据链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7BCC97-5F11-FC10-F873-D8B052F872DA}"/>
              </a:ext>
            </a:extLst>
          </p:cNvPr>
          <p:cNvSpPr/>
          <p:nvPr/>
        </p:nvSpPr>
        <p:spPr>
          <a:xfrm>
            <a:off x="889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基线复现
记忆与稀疏注意力消融
校验与编排模块对照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8595B8-FA6F-61A0-B0FA-F9EFE5BDEE74}"/>
              </a:ext>
            </a:extLst>
          </p:cNvPr>
          <p:cNvSpPr/>
          <p:nvPr/>
        </p:nvSpPr>
        <p:spPr>
          <a:xfrm>
            <a:off x="6731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平台证据链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975410-79F5-21A2-A23B-3C518C9AF4F1}"/>
              </a:ext>
            </a:extLst>
          </p:cNvPr>
          <p:cNvSpPr/>
          <p:nvPr/>
        </p:nvSpPr>
        <p:spPr>
          <a:xfrm>
            <a:off x="6731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合同覆盖率
跨模型对比矩阵
新模型接入边际成本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52EFFE-0BE4-D0ED-DD5A-70A8095049CD}"/>
              </a:ext>
            </a:extLst>
          </p:cNvPr>
          <p:cNvSpPr/>
          <p:nvPr/>
        </p:nvSpPr>
        <p:spPr>
          <a:xfrm>
            <a:off x="1460500" y="5016500"/>
            <a:ext cx="927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实验结论只针对指定协议成立，不写成候选架构的总体优越性声明。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3021496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计划风险：阶段交付与边界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973BD6-74A4-5531-4CFC-F5C9BD50FCD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FEA238-7BF5-B97F-2E1D-A387C2D4900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后续工作按架构验证、平台完善和论文整理三条线并行推进。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A758A8-915E-B1AD-A12E-D35D02A432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842" y="1651000"/>
            <a:ext cx="7486316" cy="4064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EDE3781-BAAD-8723-2367-C0021647A289}"/>
              </a:ext>
            </a:extLst>
          </p:cNvPr>
          <p:cNvSpPr/>
          <p:nvPr/>
        </p:nvSpPr>
        <p:spPr>
          <a:xfrm>
            <a:off x="1016000" y="5778500"/>
            <a:ext cx="10160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风险控制：标定、消融、工程依赖和结论边界均按阶段验证，不在开题阶段提前关闭。</a:t>
            </a:r>
          </a:p>
        </p:txBody>
      </p:sp>
    </p:spTree>
    <p:extLst>
      <p:ext uri="{BB962C8B-B14F-4D97-AF65-F5344CB8AC3E}">
        <p14:creationId xmlns:p14="http://schemas.microsoft.com/office/powerpoint/2010/main" val="3683461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3E3775-7300-A3B1-A54F-15307D32E073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5C195-D0DF-8C7E-D619-CDFA8468EC92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18440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Microsoft Office PowerPoint</Application>
  <PresentationFormat>宽屏</PresentationFormat>
  <Paragraphs>283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2026-05-17T18:05:43Z</dcterms:created>
  <dcterms:modified xsi:type="dcterms:W3CDTF">2026-05-17T18:05:43Z</dcterms:modified>
</cp:coreProperties>
</file>