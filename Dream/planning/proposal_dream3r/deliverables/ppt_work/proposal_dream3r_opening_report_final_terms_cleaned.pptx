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58" r:id="rId3"/>
    <p:sldId id="327" r:id="rId4"/>
    <p:sldId id="281" r:id="rId5"/>
    <p:sldId id="307" r:id="rId6"/>
    <p:sldId id="328" r:id="rId7"/>
    <p:sldId id="298" r:id="rId8"/>
    <p:sldId id="329" r:id="rId9"/>
    <p:sldId id="330" r:id="rId10"/>
    <p:sldId id="331" r:id="rId11"/>
    <p:sldId id="332" r:id="rId12"/>
    <p:sldId id="333" r:id="rId13"/>
    <p:sldId id="334" r:id="rId14"/>
    <p:sldId id="335" r:id="rId15"/>
    <p:sldId id="336" r:id="rId16"/>
    <p:sldId id="323" r:id="rId17"/>
    <p:sldId id="337" r:id="rId18"/>
    <p:sldId id="338" r:id="rId19"/>
    <p:sldId id="339" r:id="rId20"/>
    <p:sldId id="340" r:id="rId21"/>
    <p:sldId id="341" r:id="rId22"/>
    <p:sldId id="269" r:id="rId23"/>
    <p:sldId id="342" r:id="rId24"/>
    <p:sldId id="294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28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CCDC92-5C5A-E916-9D02-D36CB8AD12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9748E1E-DC42-6947-E45B-F6A24F28CA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F0755B-2209-0CE1-6A71-E72697C4A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02CEB2-6D6C-52CC-B21F-C287222AE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13B173-014B-79CB-E379-25A3F4BD9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8974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AB7F62-DDA7-A492-6EC7-D13784302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7B399D-A996-75AC-C01C-F89F52521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5480DD-B675-3338-D4A6-B4B144BC5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E5F065-3C7E-D607-5C22-B407E1C93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812489-47E8-84D3-B0AF-3C395792E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8018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DC3FDE-FECC-ED71-0D89-3C3E3A5F6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6EF781-F306-A984-E47E-BC6959B01E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7F3646-C797-A625-D769-EC72B5BF2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94BEAD-8514-E2F8-5D69-D16A34BFC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A846A9-EADF-90DF-25FA-1B75449A7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3859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1FD7AB-578B-8EE0-99DC-157B7744F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CF8CE5-2CC2-3FDB-4E7A-62B03D46F8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C26A00-A02C-F592-BB2F-08AA6A09F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911244D-0408-FA64-78C4-35E5100A0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ABC1F90-5C99-3B9F-8798-74B106021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E4B5599-425F-2AF5-4163-03CB85AF2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4952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9F1640-B2DF-AC01-830C-0603B7101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31A630C-7895-0FC3-8D46-268D76581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2587F39-6CB8-D0FB-C8FC-176AD0558B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524BD50-0928-5286-93F7-80DBD9069D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100BB2B-7AAA-251E-BE82-7D03DC5392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006F2FE-65EE-DB7E-E553-F559A65A8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D03F5C9-F8E9-A2E9-F1C2-161184E68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A59CB79-1485-DB67-E03F-8DB0C2CAD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4356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EA1D25-16ED-2B79-0399-196A4B32F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FE6322B-6E3E-1C76-E752-CAA3D3648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586E065-5D1C-9CB1-318A-1BD9409BE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C1D8A03-A537-7BA8-1D07-D86C41429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3790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02438ED-3410-335F-1F03-C38702B0F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1FB8E4A-AE12-E908-2C2F-ED8BF9193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1DC725-E884-995F-62F8-003FD50E8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9901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71DFBE-2647-4BEB-BC5B-0A5105F34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676485-8482-6FF6-CAB9-2BC96C438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CC704DB-588C-EFCD-4AFF-EFC1D6811D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4DAFB1B-4B38-F6AA-69FF-F832F5646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1CC058B-13A5-8513-198B-1D7BD4787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8F3B885-A28C-CAED-4D57-1A144B9E8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739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9AF185-C103-F7F3-9DF6-5C2045C88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616EECB-DBA9-1450-0A8C-FDF8B617FA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AFF8CB4-BFA8-BF87-A0FB-49686C7CAD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3B2EC61-2532-CF43-E023-B0A35371D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7187CEA-BC28-E1BD-DD18-99F9F7C10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A24D003-FB77-3A01-B8BA-57D82FF92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91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AD684A-9EB8-1A8D-1AF8-06E3EDE34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03E3C19-0702-D7AD-9D27-B7CA38D9C9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78BE6D-BE9B-35B7-7083-57B62714A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AA9B90-FAA4-9EA9-5113-8A1B391DE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F86C6E-98C8-9DB9-E028-5D04CCCB0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2979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14C4218-218C-50ED-FF48-FCA48C5456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B0E4CD9-8531-1A6F-045B-BEC7EF0C03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D22B01-BB0F-C9DA-E541-83125FC3F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DEBA42-5C8B-4131-D32D-553601C18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CA7804-4F4C-06A4-872A-926DF8A5F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3861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9984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CA26C74-8EBA-85F5-DA46-576578BB3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5755E6E-EB52-0122-1AAF-9BC12B1EC6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1A5BE7-7BB6-248E-C562-D2213D595E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8683C4-FFAA-918C-D334-6ADF5DF2E8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E2995B-BEB8-5939-05F2-C33BD6758D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475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3C712-3CEF-6C6F-815D-BF40CE6AB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封面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F08D48A3-B931-466F-18C0-A1C304D1FEF8}"/>
              </a:ext>
            </a:extLst>
          </p:cNvPr>
          <p:cNvSpPr txBox="1"/>
          <p:nvPr/>
        </p:nvSpPr>
        <p:spPr>
          <a:xfrm>
            <a:off x="678180" y="371074"/>
            <a:ext cx="10835640" cy="2576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500"/>
              </a:lnSpc>
              <a:defRPr/>
            </a:pPr>
            <a:r>
              <a:rPr lang="zh-CN" altLang="en-US" sz="42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面向前馈式三维重建的
新型架构设计与聚合管理平台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4B2EA678-3420-5C54-B4C3-C8CAD209A7CE}"/>
              </a:ext>
            </a:extLst>
          </p:cNvPr>
          <p:cNvSpPr/>
          <p:nvPr/>
        </p:nvSpPr>
        <p:spPr>
          <a:xfrm>
            <a:off x="3768924" y="5288908"/>
            <a:ext cx="4703820" cy="58477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DA1E6CA0-D601-DDA2-0D66-6669E5F33476}"/>
              </a:ext>
            </a:extLst>
          </p:cNvPr>
          <p:cNvSpPr/>
          <p:nvPr/>
        </p:nvSpPr>
        <p:spPr>
          <a:xfrm>
            <a:off x="3768924" y="5288909"/>
            <a:ext cx="1685122" cy="58477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3175" cap="flat" cmpd="sng" algn="ctr">
            <a:solidFill>
              <a:srgbClr val="0C56AE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algn="ctr">
              <a:defRPr/>
            </a:pPr>
            <a:r>
              <a:rPr lang="zh-CN" altLang="en-US" sz="32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592BA2D-3982-DE10-3446-DA44D71D602C}"/>
              </a:ext>
            </a:extLst>
          </p:cNvPr>
          <p:cNvSpPr txBox="1"/>
          <p:nvPr/>
        </p:nvSpPr>
        <p:spPr>
          <a:xfrm>
            <a:off x="4518671" y="5266355"/>
            <a:ext cx="386516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32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崔昊喆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32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纪博闻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03437287-155F-B97B-812D-904A5FB34C93}"/>
              </a:ext>
            </a:extLst>
          </p:cNvPr>
          <p:cNvSpPr/>
          <p:nvPr/>
        </p:nvSpPr>
        <p:spPr>
          <a:xfrm>
            <a:off x="2614943" y="-5733"/>
            <a:ext cx="6962115" cy="493598"/>
          </a:xfrm>
          <a:custGeom>
            <a:avLst/>
            <a:gdLst>
              <a:gd name="connsiteX0" fmla="*/ 0 w 8717654"/>
              <a:gd name="connsiteY0" fmla="*/ 0 h 562725"/>
              <a:gd name="connsiteX1" fmla="*/ 1155700 w 8717654"/>
              <a:gd name="connsiteY1" fmla="*/ 0 h 562725"/>
              <a:gd name="connsiteX2" fmla="*/ 7561954 w 8717654"/>
              <a:gd name="connsiteY2" fmla="*/ 0 h 562725"/>
              <a:gd name="connsiteX3" fmla="*/ 8717654 w 8717654"/>
              <a:gd name="connsiteY3" fmla="*/ 0 h 562725"/>
              <a:gd name="connsiteX4" fmla="*/ 8717381 w 8717654"/>
              <a:gd name="connsiteY4" fmla="*/ 1022 h 562725"/>
              <a:gd name="connsiteX5" fmla="*/ 8441286 w 8717654"/>
              <a:gd name="connsiteY5" fmla="*/ 521969 h 562725"/>
              <a:gd name="connsiteX6" fmla="*/ 8383695 w 8717654"/>
              <a:gd name="connsiteY6" fmla="*/ 562725 h 562725"/>
              <a:gd name="connsiteX7" fmla="*/ 7227995 w 8717654"/>
              <a:gd name="connsiteY7" fmla="*/ 562725 h 562725"/>
              <a:gd name="connsiteX8" fmla="*/ 1489659 w 8717654"/>
              <a:gd name="connsiteY8" fmla="*/ 562725 h 562725"/>
              <a:gd name="connsiteX9" fmla="*/ 333959 w 8717654"/>
              <a:gd name="connsiteY9" fmla="*/ 562725 h 562725"/>
              <a:gd name="connsiteX10" fmla="*/ 276368 w 8717654"/>
              <a:gd name="connsiteY10" fmla="*/ 521969 h 562725"/>
              <a:gd name="connsiteX11" fmla="*/ 273 w 8717654"/>
              <a:gd name="connsiteY11" fmla="*/ 1022 h 56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17654" h="562725">
                <a:moveTo>
                  <a:pt x="0" y="0"/>
                </a:moveTo>
                <a:lnTo>
                  <a:pt x="1155700" y="0"/>
                </a:lnTo>
                <a:lnTo>
                  <a:pt x="7561954" y="0"/>
                </a:lnTo>
                <a:lnTo>
                  <a:pt x="8717654" y="0"/>
                </a:lnTo>
                <a:lnTo>
                  <a:pt x="8717381" y="1022"/>
                </a:lnTo>
                <a:lnTo>
                  <a:pt x="8441286" y="521969"/>
                </a:lnTo>
                <a:cubicBezTo>
                  <a:pt x="8427678" y="547645"/>
                  <a:pt x="8406370" y="562725"/>
                  <a:pt x="8383695" y="562725"/>
                </a:cubicBezTo>
                <a:lnTo>
                  <a:pt x="7227995" y="562725"/>
                </a:lnTo>
                <a:lnTo>
                  <a:pt x="1489659" y="562725"/>
                </a:lnTo>
                <a:lnTo>
                  <a:pt x="333959" y="562725"/>
                </a:lnTo>
                <a:cubicBezTo>
                  <a:pt x="311285" y="562725"/>
                  <a:pt x="289976" y="547645"/>
                  <a:pt x="276368" y="521969"/>
                </a:cubicBezTo>
                <a:lnTo>
                  <a:pt x="273" y="1022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0C56A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FC05B4F-2BD2-017A-D833-AFB9CBAC897A}"/>
              </a:ext>
            </a:extLst>
          </p:cNvPr>
          <p:cNvSpPr txBox="1"/>
          <p:nvPr/>
        </p:nvSpPr>
        <p:spPr>
          <a:xfrm>
            <a:off x="4086476" y="10234"/>
            <a:ext cx="401905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年春科研课堂开题报告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0993921-4A01-0A89-1E61-7A819B4A1E2F}"/>
              </a:ext>
            </a:extLst>
          </p:cNvPr>
          <p:cNvSpPr txBox="1"/>
          <p:nvPr/>
        </p:nvSpPr>
        <p:spPr>
          <a:xfrm>
            <a:off x="5243042" y="5957723"/>
            <a:ext cx="170591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400" dirty="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2400" dirty="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400" dirty="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dirty="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A13CF40-C608-8D36-562A-C2261D580099}"/>
              </a:ext>
            </a:extLst>
          </p:cNvPr>
          <p:cNvSpPr/>
          <p:nvPr/>
        </p:nvSpPr>
        <p:spPr>
          <a:xfrm>
            <a:off x="0" y="6632574"/>
            <a:ext cx="12192000" cy="234477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FDD9BF1-26C1-D8B1-4EF4-E6DFBF680AE0}"/>
              </a:ext>
            </a:extLst>
          </p:cNvPr>
          <p:cNvSpPr txBox="1"/>
          <p:nvPr/>
        </p:nvSpPr>
        <p:spPr>
          <a:xfrm>
            <a:off x="4310896" y="5721158"/>
            <a:ext cx="357020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1925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89">
            <a:extLst>
              <a:ext uri="{FF2B5EF4-FFF2-40B4-BE49-F238E27FC236}">
                <a16:creationId xmlns:a16="http://schemas.microsoft.com/office/drawing/2014/main" id="{E9CAE631-11B1-6B01-385A-60C92A6A83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>
            <a:off x="-8340" y="1"/>
            <a:ext cx="12200340" cy="2868908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9C7262D3-C5E7-98B9-085E-5298B67D1C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6168"/>
          <a:stretch/>
        </p:blipFill>
        <p:spPr>
          <a:xfrm flipH="1">
            <a:off x="0" y="4270329"/>
            <a:ext cx="12192000" cy="2600960"/>
          </a:xfrm>
          <a:prstGeom prst="rect">
            <a:avLst/>
          </a:prstGeom>
        </p:spPr>
      </p:pic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03CD020-8E49-BC23-82FE-80B9ABCA3972}"/>
              </a:ext>
            </a:extLst>
          </p:cNvPr>
          <p:cNvSpPr/>
          <p:nvPr/>
        </p:nvSpPr>
        <p:spPr>
          <a:xfrm>
            <a:off x="-100120" y="-79828"/>
            <a:ext cx="4207663" cy="7017657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165100" dist="38100" dir="2700000" algn="tl" rotWithShape="0">
              <a:sysClr val="window" lastClr="FFFFFF">
                <a:lumMod val="85000"/>
                <a:alpha val="35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9EEBD94C-B44D-2A8B-AC9A-D4C40C3FAC2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60" r="29859"/>
          <a:stretch/>
        </p:blipFill>
        <p:spPr>
          <a:xfrm>
            <a:off x="-79458" y="-79829"/>
            <a:ext cx="4215566" cy="7017657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9E6C6DB-1208-8BDA-4E82-748017315563}"/>
              </a:ext>
            </a:extLst>
          </p:cNvPr>
          <p:cNvSpPr/>
          <p:nvPr/>
        </p:nvSpPr>
        <p:spPr>
          <a:xfrm>
            <a:off x="3708400" y="1219200"/>
            <a:ext cx="7239000" cy="5080000"/>
          </a:xfrm>
          <a:prstGeom prst="rect">
            <a:avLst/>
          </a:prstGeom>
          <a:solidFill>
            <a:srgbClr val="EBECEE">
              <a:alpha val="92000"/>
            </a:srgbClr>
          </a:solidFill>
          <a:ln>
            <a:solidFill>
              <a:srgbClr val="E6E6E6"/>
            </a:solidFill>
          </a:ln>
          <a:effectLst>
            <a:outerShdw blurRad="101600" dist="37357" dir="2700000" rotWithShape="0">
              <a:scrgbClr r="0" g="0" b="0">
                <a:alpha val="45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59670D2-5F7C-DF7E-0568-BC3ABC3004F4}"/>
              </a:ext>
            </a:extLst>
          </p:cNvPr>
          <p:cNvSpPr txBox="1"/>
          <p:nvPr/>
        </p:nvSpPr>
        <p:spPr>
          <a:xfrm>
            <a:off x="1524000" y="2603500"/>
            <a:ext cx="952500" cy="193899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3000" b="1">
                <a:solidFill>
                  <a:srgbClr val="FFFFFF"/>
                </a:solidFill>
                <a:latin typeface="Microsoft YaHei" panose="020B0503020204020204" pitchFamily="34" charset="-122"/>
              </a:rPr>
              <a:t>汇
报
提
纲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92CBF0E-078C-57AA-C1C8-3F13FEF34E2D}"/>
              </a:ext>
            </a:extLst>
          </p:cNvPr>
          <p:cNvCxnSpPr/>
          <p:nvPr/>
        </p:nvCxnSpPr>
        <p:spPr>
          <a:xfrm>
            <a:off x="1422400" y="3175000"/>
            <a:ext cx="0" cy="2540000"/>
          </a:xfrm>
          <a:prstGeom prst="line">
            <a:avLst/>
          </a:prstGeom>
          <a:ln w="6350" cap="flat" cmpd="sng" algn="ctr">
            <a:solidFill>
              <a:srgbClr val="D2E1F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9E5F95DA-93BE-2F2D-9182-4C69DAA23300}"/>
              </a:ext>
            </a:extLst>
          </p:cNvPr>
          <p:cNvSpPr/>
          <p:nvPr/>
        </p:nvSpPr>
        <p:spPr>
          <a:xfrm>
            <a:off x="4635500" y="1422400"/>
            <a:ext cx="5842000" cy="736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0EC7E53-7AFD-D828-7C88-B7EBB1DFD5AC}"/>
              </a:ext>
            </a:extLst>
          </p:cNvPr>
          <p:cNvSpPr txBox="1"/>
          <p:nvPr/>
        </p:nvSpPr>
        <p:spPr>
          <a:xfrm>
            <a:off x="5143500" y="15113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7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0255E7D9-A825-D88A-74A2-D8DBD8BC7AA7}"/>
              </a:ext>
            </a:extLst>
          </p:cNvPr>
          <p:cNvCxnSpPr/>
          <p:nvPr/>
        </p:nvCxnSpPr>
        <p:spPr>
          <a:xfrm>
            <a:off x="6172200" y="1574800"/>
            <a:ext cx="0" cy="4318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5BF06450-CDFD-CFA7-5F43-E0F7B32F923F}"/>
              </a:ext>
            </a:extLst>
          </p:cNvPr>
          <p:cNvSpPr txBox="1"/>
          <p:nvPr/>
        </p:nvSpPr>
        <p:spPr>
          <a:xfrm>
            <a:off x="6477000" y="15367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FFFFFF"/>
                </a:solidFill>
                <a:latin typeface="Microsoft YaHei" panose="020B0503020204020204" pitchFamily="34" charset="-122"/>
              </a:rPr>
              <a:t>研究背景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314BDFB-6AC1-0008-783D-002E02955FA6}"/>
              </a:ext>
            </a:extLst>
          </p:cNvPr>
          <p:cNvSpPr/>
          <p:nvPr/>
        </p:nvSpPr>
        <p:spPr>
          <a:xfrm>
            <a:off x="4635500" y="23495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CBD7806-809C-256B-E875-665649CF9399}"/>
              </a:ext>
            </a:extLst>
          </p:cNvPr>
          <p:cNvSpPr txBox="1"/>
          <p:nvPr/>
        </p:nvSpPr>
        <p:spPr>
          <a:xfrm>
            <a:off x="5143500" y="24384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B3782766-BFE2-E5A6-5E67-72D3CED97134}"/>
              </a:ext>
            </a:extLst>
          </p:cNvPr>
          <p:cNvCxnSpPr/>
          <p:nvPr/>
        </p:nvCxnSpPr>
        <p:spPr>
          <a:xfrm>
            <a:off x="6172200" y="25019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730DBAC0-0230-E39F-1580-C85B2C66AF08}"/>
              </a:ext>
            </a:extLst>
          </p:cNvPr>
          <p:cNvSpPr txBox="1"/>
          <p:nvPr/>
        </p:nvSpPr>
        <p:spPr>
          <a:xfrm>
            <a:off x="6477000" y="24638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架构设计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A8F8649-D7CE-5841-B517-EFB685F8756E}"/>
              </a:ext>
            </a:extLst>
          </p:cNvPr>
          <p:cNvSpPr/>
          <p:nvPr/>
        </p:nvSpPr>
        <p:spPr>
          <a:xfrm>
            <a:off x="4635500" y="32766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5FFB233-FE2C-FC4A-73C5-D159D6A6822F}"/>
              </a:ext>
            </a:extLst>
          </p:cNvPr>
          <p:cNvSpPr txBox="1"/>
          <p:nvPr/>
        </p:nvSpPr>
        <p:spPr>
          <a:xfrm>
            <a:off x="5143500" y="33655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3C13B03C-1806-83E3-F660-D2DC2EBFAF43}"/>
              </a:ext>
            </a:extLst>
          </p:cNvPr>
          <p:cNvCxnSpPr/>
          <p:nvPr/>
        </p:nvCxnSpPr>
        <p:spPr>
          <a:xfrm>
            <a:off x="6172200" y="34290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9A7E0ADD-064E-1B44-FE0E-A25DE4BCAA2F}"/>
              </a:ext>
            </a:extLst>
          </p:cNvPr>
          <p:cNvSpPr txBox="1"/>
          <p:nvPr/>
        </p:nvSpPr>
        <p:spPr>
          <a:xfrm>
            <a:off x="6477000" y="33909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软件平台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345E88E-E630-F5A6-C369-551A857FC956}"/>
              </a:ext>
            </a:extLst>
          </p:cNvPr>
          <p:cNvSpPr/>
          <p:nvPr/>
        </p:nvSpPr>
        <p:spPr>
          <a:xfrm>
            <a:off x="4635500" y="42037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2789D1B-E634-9731-18F2-109B913F115F}"/>
              </a:ext>
            </a:extLst>
          </p:cNvPr>
          <p:cNvSpPr txBox="1"/>
          <p:nvPr/>
        </p:nvSpPr>
        <p:spPr>
          <a:xfrm>
            <a:off x="5143500" y="42926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59020ED3-0C96-41D0-34C1-7CB93C559261}"/>
              </a:ext>
            </a:extLst>
          </p:cNvPr>
          <p:cNvCxnSpPr/>
          <p:nvPr/>
        </p:nvCxnSpPr>
        <p:spPr>
          <a:xfrm>
            <a:off x="6172200" y="43561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A90540CF-A579-65E3-8E89-E5A6A39381F4}"/>
              </a:ext>
            </a:extLst>
          </p:cNvPr>
          <p:cNvSpPr txBox="1"/>
          <p:nvPr/>
        </p:nvSpPr>
        <p:spPr>
          <a:xfrm>
            <a:off x="6477000" y="43180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实验计划与总结</a:t>
            </a:r>
          </a:p>
        </p:txBody>
      </p:sp>
    </p:spTree>
    <p:extLst>
      <p:ext uri="{BB962C8B-B14F-4D97-AF65-F5344CB8AC3E}">
        <p14:creationId xmlns:p14="http://schemas.microsoft.com/office/powerpoint/2010/main" val="3579016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6A3DB-04B7-0F28-5E8A-F56BFA60F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C423CAF-2C04-A115-DAA8-7FE393C84F1F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01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40D8A0FD-5522-688B-0919-03AA88600BB6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三维重建与 </a:t>
            </a:r>
            <a:r>
              <a:rPr lang="en-US" altLang="zh-CN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模型的兴起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480C046-8CBF-4E65-A073-E41ABF326387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B66CDDB-48C0-90E6-52B9-F7B6F062E77D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DUSt3R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将未标定图像对直接映射为稠密三维点图，是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路线的代表起点。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FBF8473-E5C2-F319-33C0-91B9387D095B}"/>
              </a:ext>
            </a:extLst>
          </p:cNvPr>
          <p:cNvSpPr/>
          <p:nvPr/>
        </p:nvSpPr>
        <p:spPr>
          <a:xfrm>
            <a:off x="762000" y="2095500"/>
            <a:ext cx="3175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传统三维重建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673F060-F5B9-B228-19B6-7855727B5E60}"/>
              </a:ext>
            </a:extLst>
          </p:cNvPr>
          <p:cNvSpPr/>
          <p:nvPr/>
        </p:nvSpPr>
        <p:spPr>
          <a:xfrm>
            <a:off x="762000" y="2552700"/>
            <a:ext cx="3175000" cy="189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特征提取
特征匹配
位姿估计
三角化与稠密重建</a:t>
            </a:r>
          </a:p>
        </p:txBody>
      </p:sp>
      <p:sp>
        <p:nvSpPr>
          <p:cNvPr id="34" name="箭头: 右 33">
            <a:extLst>
              <a:ext uri="{FF2B5EF4-FFF2-40B4-BE49-F238E27FC236}">
                <a16:creationId xmlns:a16="http://schemas.microsoft.com/office/drawing/2014/main" id="{74868B8A-1742-F108-3ECE-50F875B30E28}"/>
              </a:ext>
            </a:extLst>
          </p:cNvPr>
          <p:cNvSpPr/>
          <p:nvPr/>
        </p:nvSpPr>
        <p:spPr>
          <a:xfrm>
            <a:off x="4127500" y="2984500"/>
            <a:ext cx="5080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4D26E25F-7BC0-9612-E71D-C112F1057FD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0" y="1906465"/>
            <a:ext cx="6350000" cy="2930769"/>
          </a:xfrm>
          <a:prstGeom prst="rect">
            <a:avLst/>
          </a:prstGeom>
        </p:spPr>
      </p:pic>
      <p:sp>
        <p:nvSpPr>
          <p:cNvPr id="37" name="矩形 36">
            <a:extLst>
              <a:ext uri="{FF2B5EF4-FFF2-40B4-BE49-F238E27FC236}">
                <a16:creationId xmlns:a16="http://schemas.microsoft.com/office/drawing/2014/main" id="{DD5359C2-A44C-41ED-C1A4-E8C7A5F07F9A}"/>
              </a:ext>
            </a:extLst>
          </p:cNvPr>
          <p:cNvSpPr/>
          <p:nvPr/>
        </p:nvSpPr>
        <p:spPr>
          <a:xfrm>
            <a:off x="1079500" y="5524500"/>
            <a:ext cx="10033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3R 统一输入输出，待解决长序列与可靠性</a:t>
            </a:r>
          </a:p>
        </p:txBody>
      </p:sp>
    </p:spTree>
    <p:extLst>
      <p:ext uri="{BB962C8B-B14F-4D97-AF65-F5344CB8AC3E}">
        <p14:creationId xmlns:p14="http://schemas.microsoft.com/office/powerpoint/2010/main" val="740640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9C1C7-72C6-1029-14A1-14DA57824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92C25290-25CA-9409-7329-785426950541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01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816D3D87-A82F-7CBB-9ECA-5489B69CC28D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模型的优势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22DF677-AFD0-4447-62E7-25E287DEA654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C4F0942-AB65-1F5F-E366-2FB0F526143E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用一次推理替代多步级联，后续工作沉淀出可复用的技术线索。</a:t>
            </a:r>
            <a:endParaRPr lang="en-US" altLang="zh-CN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CC9AE74-7AAA-C9E7-944F-64C474A38F68}"/>
              </a:ext>
            </a:extLst>
          </p:cNvPr>
          <p:cNvSpPr/>
          <p:nvPr/>
        </p:nvSpPr>
        <p:spPr>
          <a:xfrm>
            <a:off x="762000" y="2095500"/>
            <a:ext cx="2286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速度快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FAC73BC-2938-9D06-FC24-1B9F1BD96023}"/>
              </a:ext>
            </a:extLst>
          </p:cNvPr>
          <p:cNvSpPr/>
          <p:nvPr/>
        </p:nvSpPr>
        <p:spPr>
          <a:xfrm>
            <a:off x="762000" y="2552700"/>
            <a:ext cx="2286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单次前向
无需迭代优化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3535D81-22E1-F812-AF0E-81B311DF3B91}"/>
              </a:ext>
            </a:extLst>
          </p:cNvPr>
          <p:cNvSpPr/>
          <p:nvPr/>
        </p:nvSpPr>
        <p:spPr>
          <a:xfrm>
            <a:off x="3556000" y="2095500"/>
            <a:ext cx="2286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端到端学习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C7FC743-D526-A69A-A3F7-2C894786663D}"/>
              </a:ext>
            </a:extLst>
          </p:cNvPr>
          <p:cNvSpPr/>
          <p:nvPr/>
        </p:nvSpPr>
        <p:spPr>
          <a:xfrm>
            <a:off x="3556000" y="2552700"/>
            <a:ext cx="2286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几何先验
隐式写入权重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5C50AA8-D485-6FD3-0590-B516E1331D87}"/>
              </a:ext>
            </a:extLst>
          </p:cNvPr>
          <p:cNvSpPr/>
          <p:nvPr/>
        </p:nvSpPr>
        <p:spPr>
          <a:xfrm>
            <a:off x="6350000" y="2095500"/>
            <a:ext cx="2286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统一输出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AAE67CC-C71B-D556-EBAB-520362E574F3}"/>
              </a:ext>
            </a:extLst>
          </p:cNvPr>
          <p:cNvSpPr/>
          <p:nvPr/>
        </p:nvSpPr>
        <p:spPr>
          <a:xfrm>
            <a:off x="6350000" y="2552700"/>
            <a:ext cx="2286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点图表示
支持深度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位姿扩展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A35918A-0E1A-4070-D7C4-D2A347A09A0A}"/>
              </a:ext>
            </a:extLst>
          </p:cNvPr>
          <p:cNvSpPr/>
          <p:nvPr/>
        </p:nvSpPr>
        <p:spPr>
          <a:xfrm>
            <a:off x="9144000" y="2095500"/>
            <a:ext cx="2286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可复用线索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FE3E8C7-267C-EEAA-B86F-6A40D33D363A}"/>
              </a:ext>
            </a:extLst>
          </p:cNvPr>
          <p:cNvSpPr/>
          <p:nvPr/>
        </p:nvSpPr>
        <p:spPr>
          <a:xfrm>
            <a:off x="9144000" y="2552700"/>
            <a:ext cx="2286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记忆、递推
校验、匹配增强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5C2FF26-F745-3CF8-9C08-275CB8B36A69}"/>
              </a:ext>
            </a:extLst>
          </p:cNvPr>
          <p:cNvSpPr/>
          <p:nvPr/>
        </p:nvSpPr>
        <p:spPr>
          <a:xfrm>
            <a:off x="1143000" y="4826000"/>
            <a:ext cx="99060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这些技术线索为候选架构提供直接参考</a:t>
            </a:r>
            <a:endParaRPr lang="en-US" altLang="zh-CN" sz="19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54325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01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模型面临的共性缺陷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E1E5154-1F0B-FAB9-A6E6-B6F20E24D501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E99E0A2-93E5-703F-888E-E9BD068FDD1D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速度和统一性解决了，但长序列、动态场景和结果可靠性问题依然突出。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6640054-D763-A463-BDFA-FF805A9075E2}"/>
              </a:ext>
            </a:extLst>
          </p:cNvPr>
          <p:cNvSpPr/>
          <p:nvPr/>
        </p:nvSpPr>
        <p:spPr>
          <a:xfrm>
            <a:off x="952500" y="1841500"/>
            <a:ext cx="2095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长序列漂移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86CC9AF-3DB5-1325-828F-703172A4249D}"/>
              </a:ext>
            </a:extLst>
          </p:cNvPr>
          <p:cNvSpPr/>
          <p:nvPr/>
        </p:nvSpPr>
        <p:spPr>
          <a:xfrm>
            <a:off x="3302000" y="1841500"/>
            <a:ext cx="78740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视频长度增加后几何逐渐跑偏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19C3452-95B0-AA4E-CD14-CDBCE820C026}"/>
              </a:ext>
            </a:extLst>
          </p:cNvPr>
          <p:cNvSpPr/>
          <p:nvPr/>
        </p:nvSpPr>
        <p:spPr>
          <a:xfrm>
            <a:off x="952500" y="2540000"/>
            <a:ext cx="2095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动态场景干扰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DA0E7A2-6C05-BF4F-639C-C968993EBC70}"/>
              </a:ext>
            </a:extLst>
          </p:cNvPr>
          <p:cNvSpPr/>
          <p:nvPr/>
        </p:nvSpPr>
        <p:spPr>
          <a:xfrm>
            <a:off x="3302000" y="2540000"/>
            <a:ext cx="7874000" cy="508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移动物体破坏静态重建假设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F118E91-3997-0CEC-402B-EADF2285FE2B}"/>
              </a:ext>
            </a:extLst>
          </p:cNvPr>
          <p:cNvSpPr/>
          <p:nvPr/>
        </p:nvSpPr>
        <p:spPr>
          <a:xfrm>
            <a:off x="952500" y="3238500"/>
            <a:ext cx="2095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缺乏自检查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730E64D-311C-0A0E-D538-AB8D0A0615A7}"/>
              </a:ext>
            </a:extLst>
          </p:cNvPr>
          <p:cNvSpPr/>
          <p:nvPr/>
        </p:nvSpPr>
        <p:spPr>
          <a:xfrm>
            <a:off x="3302000" y="3238500"/>
            <a:ext cx="78740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结果错误难以及时发现和修复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C67B259-C0B8-C278-1AF6-2E6EE6AA15E0}"/>
              </a:ext>
            </a:extLst>
          </p:cNvPr>
          <p:cNvSpPr/>
          <p:nvPr/>
        </p:nvSpPr>
        <p:spPr>
          <a:xfrm>
            <a:off x="952500" y="3937000"/>
            <a:ext cx="2095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单模型上限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8FF0CFE-A756-D074-7BA6-C93D4DA34DF6}"/>
              </a:ext>
            </a:extLst>
          </p:cNvPr>
          <p:cNvSpPr/>
          <p:nvPr/>
        </p:nvSpPr>
        <p:spPr>
          <a:xfrm>
            <a:off x="3302000" y="3937000"/>
            <a:ext cx="7874000" cy="508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弱纹理、镜面、快速运动各有短板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C792F99-4A17-D622-121D-E6CADF824EBA}"/>
              </a:ext>
            </a:extLst>
          </p:cNvPr>
          <p:cNvSpPr/>
          <p:nvPr/>
        </p:nvSpPr>
        <p:spPr>
          <a:xfrm>
            <a:off x="952500" y="4635500"/>
            <a:ext cx="2095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模型之间孤立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259FAE1-560E-4B1E-FC6C-8ABA202E86D9}"/>
              </a:ext>
            </a:extLst>
          </p:cNvPr>
          <p:cNvSpPr/>
          <p:nvPr/>
        </p:nvSpPr>
        <p:spPr>
          <a:xfrm>
            <a:off x="3302000" y="4635500"/>
            <a:ext cx="78740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缺少统一对比与组合框架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25D3116-291E-493B-E708-A9050C7745D4}"/>
              </a:ext>
            </a:extLst>
          </p:cNvPr>
          <p:cNvSpPr/>
          <p:nvPr/>
        </p:nvSpPr>
        <p:spPr>
          <a:xfrm>
            <a:off x="1397000" y="5524500"/>
            <a:ext cx="9398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五类短板引出四个设计方向</a:t>
            </a:r>
          </a:p>
        </p:txBody>
      </p:sp>
    </p:spTree>
    <p:extLst>
      <p:ext uri="{BB962C8B-B14F-4D97-AF65-F5344CB8AC3E}">
        <p14:creationId xmlns:p14="http://schemas.microsoft.com/office/powerpoint/2010/main" val="2673961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设计思路：学习与补足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D877E15-B985-D9B3-E86E-78514C004E3F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294BA2A-FE32-D09A-1929-0DAACBAC5C99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先从已有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工作中提炼可用机制，再用本课题设计补足未解决的问题。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8D138FF-4BA3-C50D-3BEA-B16C567EE718}"/>
              </a:ext>
            </a:extLst>
          </p:cNvPr>
          <p:cNvSpPr/>
          <p:nvPr/>
        </p:nvSpPr>
        <p:spPr>
          <a:xfrm>
            <a:off x="698500" y="2032000"/>
            <a:ext cx="4953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已有技术线索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E96EFDF-F187-291D-979B-88CA74CD6F44}"/>
              </a:ext>
            </a:extLst>
          </p:cNvPr>
          <p:cNvSpPr/>
          <p:nvPr/>
        </p:nvSpPr>
        <p:spPr>
          <a:xfrm>
            <a:off x="698500" y="2489200"/>
            <a:ext cx="4953000" cy="189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空间记忆：保留已见区域
流式递推：支持长视频
几何校验：推理时自检查
多模型互补：模型各取所长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02DA1A15-F8C4-7FAC-F33E-84B2422F5EA3}"/>
              </a:ext>
            </a:extLst>
          </p:cNvPr>
          <p:cNvSpPr/>
          <p:nvPr/>
        </p:nvSpPr>
        <p:spPr>
          <a:xfrm>
            <a:off x="5905500" y="2921000"/>
            <a:ext cx="533400" cy="3302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C7E71C5-FBC9-3A62-FDB5-42F21916078D}"/>
              </a:ext>
            </a:extLst>
          </p:cNvPr>
          <p:cNvSpPr/>
          <p:nvPr/>
        </p:nvSpPr>
        <p:spPr>
          <a:xfrm>
            <a:off x="6667500" y="2032000"/>
            <a:ext cx="4953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本课题补足设计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80F0914-806E-1FB7-2F9A-EC8EDBD47771}"/>
              </a:ext>
            </a:extLst>
          </p:cNvPr>
          <p:cNvSpPr/>
          <p:nvPr/>
        </p:nvSpPr>
        <p:spPr>
          <a:xfrm>
            <a:off x="6667500" y="2489200"/>
            <a:ext cx="4953000" cy="189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稀疏注意力：管理长序列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Mamba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：线性复杂度递推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Slot Attention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：动静分离
能力描述符：多模型路由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873E498-E369-5A31-F98E-AAFDC6EEF7E4}"/>
              </a:ext>
            </a:extLst>
          </p:cNvPr>
          <p:cNvSpPr/>
          <p:nvPr/>
        </p:nvSpPr>
        <p:spPr>
          <a:xfrm>
            <a:off x="1206500" y="5143500"/>
            <a:ext cx="9779000" cy="533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既有机制借鉴 </a:t>
            </a:r>
            <a:r>
              <a:rPr lang="en-US" altLang="zh-CN" b="1">
                <a:solidFill>
                  <a:srgbClr val="00285F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四项补足设计 → 候选架构方案</a:t>
            </a:r>
          </a:p>
        </p:txBody>
      </p:sp>
    </p:spTree>
    <p:extLst>
      <p:ext uri="{BB962C8B-B14F-4D97-AF65-F5344CB8AC3E}">
        <p14:creationId xmlns:p14="http://schemas.microsoft.com/office/powerpoint/2010/main" val="1426697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设计目标与课题两条主线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E769321-963C-CCE8-F936-7A160A6DFC68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0E876E2-A335-D698-811B-A1AD4386FCD1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架构负责出方案，平台负责跑实验和做对比。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7F15F2D-DBAD-5D74-4737-6D4C98964795}"/>
              </a:ext>
            </a:extLst>
          </p:cNvPr>
          <p:cNvSpPr/>
          <p:nvPr/>
        </p:nvSpPr>
        <p:spPr>
          <a:xfrm>
            <a:off x="889000" y="2095500"/>
            <a:ext cx="4445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主线一：新架构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C3FC8E6-68BD-1EBC-F9B0-33D20BA65151}"/>
              </a:ext>
            </a:extLst>
          </p:cNvPr>
          <p:cNvSpPr/>
          <p:nvPr/>
        </p:nvSpPr>
        <p:spPr>
          <a:xfrm>
            <a:off x="889000" y="2552700"/>
            <a:ext cx="4445000" cy="176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空间记忆
几何校验
多模型编排
长序列与动态场景评测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93233558-9BFE-11B3-BA38-38EE732811DD}"/>
              </a:ext>
            </a:extLst>
          </p:cNvPr>
          <p:cNvSpPr/>
          <p:nvPr/>
        </p:nvSpPr>
        <p:spPr>
          <a:xfrm>
            <a:off x="5715000" y="2921000"/>
            <a:ext cx="635000" cy="3810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8EE0A6E-1431-7D71-47CD-502ED1A012D4}"/>
              </a:ext>
            </a:extLst>
          </p:cNvPr>
          <p:cNvSpPr/>
          <p:nvPr/>
        </p:nvSpPr>
        <p:spPr>
          <a:xfrm>
            <a:off x="6858000" y="2095500"/>
            <a:ext cx="4445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主线二：管理平台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3ACBCC9-5A8A-C17A-56D2-7CEE5BEA589E}"/>
              </a:ext>
            </a:extLst>
          </p:cNvPr>
          <p:cNvSpPr/>
          <p:nvPr/>
        </p:nvSpPr>
        <p:spPr>
          <a:xfrm>
            <a:off x="6858000" y="2552700"/>
            <a:ext cx="4445000" cy="176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模型统一调度
结果统一归集
跨模型对比
新模型快速接入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DDEFF78-0402-A5E5-0D12-2E9121286CAF}"/>
              </a:ext>
            </a:extLst>
          </p:cNvPr>
          <p:cNvSpPr/>
          <p:nvPr/>
        </p:nvSpPr>
        <p:spPr>
          <a:xfrm>
            <a:off x="1206500" y="5080000"/>
            <a:ext cx="9779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架构提出候选方案，平台提供统一实验条件</a:t>
            </a:r>
          </a:p>
        </p:txBody>
      </p:sp>
    </p:spTree>
    <p:extLst>
      <p:ext uri="{BB962C8B-B14F-4D97-AF65-F5344CB8AC3E}">
        <p14:creationId xmlns:p14="http://schemas.microsoft.com/office/powerpoint/2010/main" val="681658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总体架构一览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A18C107-B7E6-A953-20A4-7DA17F584046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4B8700B-B78F-E956-670B-B85A14A5C75D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五个核心模块由总线模块协调，形成从特征提取到校验输出的完整链路。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D358739-FF2F-99E7-92FA-F8C082172A51}"/>
              </a:ext>
            </a:extLst>
          </p:cNvPr>
          <p:cNvSpPr/>
          <p:nvPr/>
        </p:nvSpPr>
        <p:spPr>
          <a:xfrm>
            <a:off x="1460500" y="5715000"/>
            <a:ext cx="9271000" cy="4572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输出包括三维点图、动态掩码和可复核中间证据。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FC3F2889-EB92-9572-42EC-43C41F3ED1E7}"/>
              </a:ext>
            </a:extLst>
          </p:cNvPr>
          <p:cNvSpPr/>
          <p:nvPr/>
        </p:nvSpPr>
        <p:spPr>
          <a:xfrm>
            <a:off x="825500" y="2349500"/>
            <a:ext cx="1397000" cy="1041400"/>
          </a:xfrm>
          <a:prstGeom prst="roundRect">
            <a:avLst/>
          </a:prstGeom>
          <a:solidFill>
            <a:srgbClr val="E2EEF9"/>
          </a:solidFill>
          <a:ln w="15240">
            <a:solidFill>
              <a:srgbClr val="2B6B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zh-CN" altLang="en-US" sz="1300">
                <a:solidFill>
                  <a:srgbClr val="052346"/>
                </a:solidFill>
                <a:latin typeface="微软雅黑" panose="020B0503020204020204" pitchFamily="34" charset="-122"/>
              </a:rPr>
              <a:t>输入
图像序列
单图 </a:t>
            </a:r>
            <a:r>
              <a:rPr lang="en-US" altLang="zh-CN" sz="1300">
                <a:solidFill>
                  <a:srgbClr val="052346"/>
                </a:solidFill>
                <a:latin typeface="微软雅黑" panose="020B0503020204020204" pitchFamily="34" charset="-122"/>
              </a:rPr>
              <a:t>/ </a:t>
            </a:r>
            <a:r>
              <a:rPr lang="zh-CN" altLang="en-US" sz="1300">
                <a:solidFill>
                  <a:srgbClr val="052346"/>
                </a:solidFill>
                <a:latin typeface="微软雅黑" panose="020B0503020204020204" pitchFamily="34" charset="-122"/>
              </a:rPr>
              <a:t>图像对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975FD0B4-A2F4-DD68-D922-E5FD5E7722F5}"/>
              </a:ext>
            </a:extLst>
          </p:cNvPr>
          <p:cNvCxnSpPr/>
          <p:nvPr/>
        </p:nvCxnSpPr>
        <p:spPr>
          <a:xfrm>
            <a:off x="2247900" y="2870200"/>
            <a:ext cx="127000" cy="0"/>
          </a:xfrm>
          <a:prstGeom prst="line">
            <a:avLst/>
          </a:prstGeom>
          <a:ln w="25400">
            <a:solidFill>
              <a:srgbClr val="2E77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2C22EB52-7529-6AFB-1F32-8854737712F6}"/>
              </a:ext>
            </a:extLst>
          </p:cNvPr>
          <p:cNvSpPr/>
          <p:nvPr/>
        </p:nvSpPr>
        <p:spPr>
          <a:xfrm>
            <a:off x="2476500" y="2349500"/>
            <a:ext cx="1397000" cy="1041400"/>
          </a:xfrm>
          <a:prstGeom prst="roundRect">
            <a:avLst/>
          </a:prstGeom>
          <a:solidFill>
            <a:srgbClr val="E2EEF9"/>
          </a:solidFill>
          <a:ln w="15240">
            <a:solidFill>
              <a:srgbClr val="2B6B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zh-CN" altLang="en-US" sz="1300" b="1">
                <a:solidFill>
                  <a:srgbClr val="052346"/>
                </a:solidFill>
                <a:latin typeface="微软雅黑" panose="020B0503020204020204" pitchFamily="34" charset="-122"/>
              </a:rPr>
              <a:t>感知模块
提取视觉特征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39A5D852-7ADE-9C6A-75DB-28A5D8BAE168}"/>
              </a:ext>
            </a:extLst>
          </p:cNvPr>
          <p:cNvCxnSpPr/>
          <p:nvPr/>
        </p:nvCxnSpPr>
        <p:spPr>
          <a:xfrm>
            <a:off x="3898900" y="2870200"/>
            <a:ext cx="127000" cy="0"/>
          </a:xfrm>
          <a:prstGeom prst="line">
            <a:avLst/>
          </a:prstGeom>
          <a:ln w="25400">
            <a:solidFill>
              <a:srgbClr val="2E77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877E7CB-963B-BA6B-9A73-DD95329F42FD}"/>
              </a:ext>
            </a:extLst>
          </p:cNvPr>
          <p:cNvSpPr/>
          <p:nvPr/>
        </p:nvSpPr>
        <p:spPr>
          <a:xfrm>
            <a:off x="4127500" y="2349500"/>
            <a:ext cx="1397000" cy="1041400"/>
          </a:xfrm>
          <a:prstGeom prst="roundRect">
            <a:avLst/>
          </a:prstGeom>
          <a:solidFill>
            <a:srgbClr val="E2EEF9"/>
          </a:solidFill>
          <a:ln w="15240">
            <a:solidFill>
              <a:srgbClr val="2B6B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zh-CN" altLang="en-US" sz="1300" b="1">
                <a:solidFill>
                  <a:srgbClr val="052346"/>
                </a:solidFill>
                <a:latin typeface="微软雅黑" panose="020B0503020204020204" pitchFamily="34" charset="-122"/>
              </a:rPr>
              <a:t>记忆模块
维护长序列上下文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4E107A7-92C2-F65B-8738-373937F70788}"/>
              </a:ext>
            </a:extLst>
          </p:cNvPr>
          <p:cNvCxnSpPr/>
          <p:nvPr/>
        </p:nvCxnSpPr>
        <p:spPr>
          <a:xfrm>
            <a:off x="5549900" y="2870200"/>
            <a:ext cx="127000" cy="0"/>
          </a:xfrm>
          <a:prstGeom prst="line">
            <a:avLst/>
          </a:prstGeom>
          <a:ln w="25400">
            <a:solidFill>
              <a:srgbClr val="2E77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0292362-F4FE-1025-8F06-281C0F4B8D42}"/>
              </a:ext>
            </a:extLst>
          </p:cNvPr>
          <p:cNvSpPr/>
          <p:nvPr/>
        </p:nvSpPr>
        <p:spPr>
          <a:xfrm>
            <a:off x="5778500" y="2349500"/>
            <a:ext cx="1397000" cy="1041400"/>
          </a:xfrm>
          <a:prstGeom prst="roundRect">
            <a:avLst/>
          </a:prstGeom>
          <a:solidFill>
            <a:srgbClr val="E7F4ED"/>
          </a:solidFill>
          <a:ln w="15240">
            <a:solidFill>
              <a:srgbClr val="2687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zh-CN" altLang="en-US" sz="1300" b="1">
                <a:solidFill>
                  <a:srgbClr val="052346"/>
                </a:solidFill>
                <a:latin typeface="微软雅黑" panose="020B0503020204020204" pitchFamily="34" charset="-122"/>
              </a:rPr>
              <a:t>永久性模块
区分静态结构
与动态对象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7A543FD0-A5E8-F123-62E6-7A5E379D6037}"/>
              </a:ext>
            </a:extLst>
          </p:cNvPr>
          <p:cNvCxnSpPr/>
          <p:nvPr/>
        </p:nvCxnSpPr>
        <p:spPr>
          <a:xfrm>
            <a:off x="7200900" y="2870200"/>
            <a:ext cx="127000" cy="0"/>
          </a:xfrm>
          <a:prstGeom prst="line">
            <a:avLst/>
          </a:prstGeom>
          <a:ln w="25400">
            <a:solidFill>
              <a:srgbClr val="2E77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FB39723-C7A9-347A-29BC-75418374EE6C}"/>
              </a:ext>
            </a:extLst>
          </p:cNvPr>
          <p:cNvSpPr/>
          <p:nvPr/>
        </p:nvSpPr>
        <p:spPr>
          <a:xfrm>
            <a:off x="7429500" y="2349500"/>
            <a:ext cx="1397000" cy="1041400"/>
          </a:xfrm>
          <a:prstGeom prst="roundRect">
            <a:avLst/>
          </a:prstGeom>
          <a:solidFill>
            <a:srgbClr val="FFF0E1"/>
          </a:solidFill>
          <a:ln w="15240">
            <a:solidFill>
              <a:srgbClr val="DC61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zh-CN" altLang="en-US" sz="1300" b="1">
                <a:solidFill>
                  <a:srgbClr val="052346"/>
                </a:solidFill>
                <a:latin typeface="微软雅黑" panose="020B0503020204020204" pitchFamily="34" charset="-122"/>
              </a:rPr>
              <a:t>校验模块
形成冲突评分
给出修复动作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1FC0DD09-B971-F084-859C-66133A199998}"/>
              </a:ext>
            </a:extLst>
          </p:cNvPr>
          <p:cNvCxnSpPr/>
          <p:nvPr/>
        </p:nvCxnSpPr>
        <p:spPr>
          <a:xfrm>
            <a:off x="8851900" y="2870200"/>
            <a:ext cx="127000" cy="0"/>
          </a:xfrm>
          <a:prstGeom prst="line">
            <a:avLst/>
          </a:prstGeom>
          <a:ln w="25400">
            <a:solidFill>
              <a:srgbClr val="2E77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27EEAA9E-20CE-A057-90EF-E68E1885A72D}"/>
              </a:ext>
            </a:extLst>
          </p:cNvPr>
          <p:cNvSpPr/>
          <p:nvPr/>
        </p:nvSpPr>
        <p:spPr>
          <a:xfrm>
            <a:off x="9080500" y="2349500"/>
            <a:ext cx="1397000" cy="1041400"/>
          </a:xfrm>
          <a:prstGeom prst="roundRect">
            <a:avLst/>
          </a:prstGeom>
          <a:solidFill>
            <a:srgbClr val="E2EEF9"/>
          </a:solidFill>
          <a:ln w="15240">
            <a:solidFill>
              <a:srgbClr val="2B6B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zh-CN" altLang="en-US" sz="1300" b="1">
                <a:solidFill>
                  <a:srgbClr val="052346"/>
                </a:solidFill>
                <a:latin typeface="微软雅黑" panose="020B0503020204020204" pitchFamily="34" charset="-122"/>
              </a:rPr>
              <a:t>编排模块
选择或切换
候选模型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D6997BF3-7AC3-A3CA-387A-F48A4BB5ADBC}"/>
              </a:ext>
            </a:extLst>
          </p:cNvPr>
          <p:cNvSpPr/>
          <p:nvPr/>
        </p:nvSpPr>
        <p:spPr>
          <a:xfrm>
            <a:off x="2794000" y="4254500"/>
            <a:ext cx="6604000" cy="58420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96A0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zh-CN" altLang="en-US" sz="1600" b="1">
                <a:solidFill>
                  <a:srgbClr val="052346"/>
                </a:solidFill>
                <a:latin typeface="微软雅黑" panose="020B0503020204020204" pitchFamily="34" charset="-122"/>
              </a:rPr>
              <a:t>总线模块：统一信号传递、修复动作与模型切换规则</a:t>
            </a: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44F29C4C-F7C3-803D-4C14-002C3AAEAFA8}"/>
              </a:ext>
            </a:extLst>
          </p:cNvPr>
          <p:cNvCxnSpPr/>
          <p:nvPr/>
        </p:nvCxnSpPr>
        <p:spPr>
          <a:xfrm flipV="1">
            <a:off x="3175000" y="3619500"/>
            <a:ext cx="0" cy="635000"/>
          </a:xfrm>
          <a:prstGeom prst="line">
            <a:avLst/>
          </a:prstGeom>
          <a:ln w="17780">
            <a:solidFill>
              <a:srgbClr val="78828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D2D9B847-D7DC-81AA-4E38-FDDAD66F2BC3}"/>
              </a:ext>
            </a:extLst>
          </p:cNvPr>
          <p:cNvCxnSpPr/>
          <p:nvPr/>
        </p:nvCxnSpPr>
        <p:spPr>
          <a:xfrm flipV="1">
            <a:off x="4826000" y="3619500"/>
            <a:ext cx="0" cy="635000"/>
          </a:xfrm>
          <a:prstGeom prst="line">
            <a:avLst/>
          </a:prstGeom>
          <a:ln w="17780">
            <a:solidFill>
              <a:srgbClr val="78828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A70CC930-4601-8E09-71B1-84A2C31C92D6}"/>
              </a:ext>
            </a:extLst>
          </p:cNvPr>
          <p:cNvCxnSpPr/>
          <p:nvPr/>
        </p:nvCxnSpPr>
        <p:spPr>
          <a:xfrm flipV="1">
            <a:off x="6477000" y="3619500"/>
            <a:ext cx="0" cy="635000"/>
          </a:xfrm>
          <a:prstGeom prst="line">
            <a:avLst/>
          </a:prstGeom>
          <a:ln w="17780">
            <a:solidFill>
              <a:srgbClr val="78828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BF36D3FF-C36B-B0A6-9FED-59A0EECB8897}"/>
              </a:ext>
            </a:extLst>
          </p:cNvPr>
          <p:cNvCxnSpPr/>
          <p:nvPr/>
        </p:nvCxnSpPr>
        <p:spPr>
          <a:xfrm flipV="1">
            <a:off x="8128000" y="3619500"/>
            <a:ext cx="0" cy="635000"/>
          </a:xfrm>
          <a:prstGeom prst="line">
            <a:avLst/>
          </a:prstGeom>
          <a:ln w="17780">
            <a:solidFill>
              <a:srgbClr val="78828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2864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>
                <a:solidFill>
                  <a:srgbClr val="00285F"/>
                </a:solidFill>
                <a:latin typeface="Microsoft YaHei" panose="020B0503020204020204" pitchFamily="34" charset="-122"/>
              </a:rPr>
              <a:t>记忆模块</a:t>
            </a:r>
            <a:endParaRPr lang="zh-CN" altLang="en-US" sz="28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5B9FD4E-9909-F6FD-9062-DDFAFC90DF39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3A15ED5-EA1C-5BBF-785D-55B5D90EE948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长序列记忆分为压缩、检索和滑窗三条支路，分别处理远程状态、空间锚点和近邻上下文。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C4607EF-933A-0520-E6CD-D777D8E03DA3}"/>
              </a:ext>
            </a:extLst>
          </p:cNvPr>
          <p:cNvSpPr/>
          <p:nvPr/>
        </p:nvSpPr>
        <p:spPr>
          <a:xfrm>
            <a:off x="1206500" y="5651500"/>
            <a:ext cx="9779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压缩分支保留远程状态，选择分支检索空间锚点，滑窗分支保留近邻上下文。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711D2EC7-0044-167E-7866-B47706B3E735}"/>
              </a:ext>
            </a:extLst>
          </p:cNvPr>
          <p:cNvSpPr/>
          <p:nvPr/>
        </p:nvSpPr>
        <p:spPr>
          <a:xfrm>
            <a:off x="889000" y="2819400"/>
            <a:ext cx="1651000" cy="69850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2B6B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zh-CN" altLang="en-US" sz="1600" b="1">
                <a:solidFill>
                  <a:srgbClr val="052346"/>
                </a:solidFill>
                <a:latin typeface="微软雅黑" panose="020B0503020204020204" pitchFamily="34" charset="-122"/>
              </a:rPr>
              <a:t>当前帧特征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FB346530-12F4-58D9-EA11-832E16EFC460}"/>
              </a:ext>
            </a:extLst>
          </p:cNvPr>
          <p:cNvSpPr/>
          <p:nvPr/>
        </p:nvSpPr>
        <p:spPr>
          <a:xfrm>
            <a:off x="3302000" y="1905000"/>
            <a:ext cx="2349500" cy="1117600"/>
          </a:xfrm>
          <a:prstGeom prst="roundRect">
            <a:avLst/>
          </a:prstGeom>
          <a:solidFill>
            <a:srgbClr val="E2EEF9"/>
          </a:solidFill>
          <a:ln w="15240">
            <a:solidFill>
              <a:srgbClr val="0054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zh-CN" altLang="en-US" sz="1300" b="1">
                <a:solidFill>
                  <a:srgbClr val="052346"/>
                </a:solidFill>
                <a:latin typeface="微软雅黑" panose="020B0503020204020204" pitchFamily="34" charset="-122"/>
              </a:rPr>
              <a:t>压缩分支
压缩历史特征
递推状态
状态记忆向量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0EF89852-DD9E-210D-C4A0-1F0CBA0020D6}"/>
              </a:ext>
            </a:extLst>
          </p:cNvPr>
          <p:cNvCxnSpPr/>
          <p:nvPr/>
        </p:nvCxnSpPr>
        <p:spPr>
          <a:xfrm flipV="1">
            <a:off x="2540000" y="2463800"/>
            <a:ext cx="660400" cy="711200"/>
          </a:xfrm>
          <a:prstGeom prst="line">
            <a:avLst/>
          </a:prstGeom>
          <a:ln w="25400">
            <a:solidFill>
              <a:srgbClr val="2E77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5A61591A-95DB-7F35-F36E-668663E86DF6}"/>
              </a:ext>
            </a:extLst>
          </p:cNvPr>
          <p:cNvCxnSpPr/>
          <p:nvPr/>
        </p:nvCxnSpPr>
        <p:spPr>
          <a:xfrm>
            <a:off x="5689600" y="2463800"/>
            <a:ext cx="1231900" cy="711200"/>
          </a:xfrm>
          <a:prstGeom prst="line">
            <a:avLst/>
          </a:prstGeom>
          <a:ln w="25400">
            <a:solidFill>
              <a:srgbClr val="2E77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8AD2655-BDB1-8A69-5C88-FC7D3F2B0486}"/>
              </a:ext>
            </a:extLst>
          </p:cNvPr>
          <p:cNvSpPr/>
          <p:nvPr/>
        </p:nvSpPr>
        <p:spPr>
          <a:xfrm>
            <a:off x="3302000" y="3276600"/>
            <a:ext cx="2349500" cy="1117600"/>
          </a:xfrm>
          <a:prstGeom prst="roundRect">
            <a:avLst/>
          </a:prstGeom>
          <a:solidFill>
            <a:srgbClr val="E7F4ED"/>
          </a:solidFill>
          <a:ln w="15240">
            <a:solidFill>
              <a:srgbClr val="2687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zh-CN" altLang="en-US" sz="1300" b="1">
                <a:solidFill>
                  <a:srgbClr val="052346"/>
                </a:solidFill>
                <a:latin typeface="微软雅黑" panose="020B0503020204020204" pitchFamily="34" charset="-122"/>
              </a:rPr>
              <a:t>选择分支
空间锚点检索
锚点库（容量可调）
相关锚点检索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CAC588F1-3598-58DB-E912-0BF8C75F488A}"/>
              </a:ext>
            </a:extLst>
          </p:cNvPr>
          <p:cNvCxnSpPr/>
          <p:nvPr/>
        </p:nvCxnSpPr>
        <p:spPr>
          <a:xfrm>
            <a:off x="2540000" y="3175000"/>
            <a:ext cx="660400" cy="660400"/>
          </a:xfrm>
          <a:prstGeom prst="line">
            <a:avLst/>
          </a:prstGeom>
          <a:ln w="25400">
            <a:solidFill>
              <a:srgbClr val="2E77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8EB260A4-3B0F-6749-CC6D-944FE2737943}"/>
              </a:ext>
            </a:extLst>
          </p:cNvPr>
          <p:cNvCxnSpPr/>
          <p:nvPr/>
        </p:nvCxnSpPr>
        <p:spPr>
          <a:xfrm flipV="1">
            <a:off x="5689600" y="3175000"/>
            <a:ext cx="1231900" cy="660400"/>
          </a:xfrm>
          <a:prstGeom prst="line">
            <a:avLst/>
          </a:prstGeom>
          <a:ln w="25400">
            <a:solidFill>
              <a:srgbClr val="2E77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0ADA30A8-4CD4-63FC-2E24-0B6F1D67EC07}"/>
              </a:ext>
            </a:extLst>
          </p:cNvPr>
          <p:cNvSpPr/>
          <p:nvPr/>
        </p:nvSpPr>
        <p:spPr>
          <a:xfrm>
            <a:off x="3302000" y="4648200"/>
            <a:ext cx="2349500" cy="1117600"/>
          </a:xfrm>
          <a:prstGeom prst="roundRect">
            <a:avLst/>
          </a:prstGeom>
          <a:solidFill>
            <a:srgbClr val="E6F8FA"/>
          </a:solidFill>
          <a:ln w="15240">
            <a:solidFill>
              <a:srgbClr val="2896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zh-CN" altLang="en-US" sz="1300" b="1">
                <a:solidFill>
                  <a:srgbClr val="052346"/>
                </a:solidFill>
                <a:latin typeface="微软雅黑" panose="020B0503020204020204" pitchFamily="34" charset="-122"/>
              </a:rPr>
              <a:t>滑窗分支
近邻帧局部特征
局部直接注意力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2766792F-28D4-EC11-28CC-8B99D4F2F565}"/>
              </a:ext>
            </a:extLst>
          </p:cNvPr>
          <p:cNvCxnSpPr/>
          <p:nvPr/>
        </p:nvCxnSpPr>
        <p:spPr>
          <a:xfrm>
            <a:off x="2540000" y="3175000"/>
            <a:ext cx="660400" cy="2032000"/>
          </a:xfrm>
          <a:prstGeom prst="line">
            <a:avLst/>
          </a:prstGeom>
          <a:ln w="25400">
            <a:solidFill>
              <a:srgbClr val="2E77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75F0A353-6D3D-C5CC-A4E4-398127134CE0}"/>
              </a:ext>
            </a:extLst>
          </p:cNvPr>
          <p:cNvCxnSpPr/>
          <p:nvPr/>
        </p:nvCxnSpPr>
        <p:spPr>
          <a:xfrm flipV="1">
            <a:off x="5689600" y="3175000"/>
            <a:ext cx="1231900" cy="2032000"/>
          </a:xfrm>
          <a:prstGeom prst="line">
            <a:avLst/>
          </a:prstGeom>
          <a:ln w="25400">
            <a:solidFill>
              <a:srgbClr val="2E77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3302D7AC-A524-F4BD-7875-75B52C1F721E}"/>
              </a:ext>
            </a:extLst>
          </p:cNvPr>
          <p:cNvSpPr/>
          <p:nvPr/>
        </p:nvSpPr>
        <p:spPr>
          <a:xfrm>
            <a:off x="7048500" y="2603500"/>
            <a:ext cx="1651000" cy="1143000"/>
          </a:xfrm>
          <a:prstGeom prst="roundRect">
            <a:avLst/>
          </a:prstGeom>
          <a:solidFill>
            <a:srgbClr val="0054A0"/>
          </a:solidFill>
          <a:ln w="15240">
            <a:solidFill>
              <a:srgbClr val="0054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微软雅黑" panose="020B0503020204020204" pitchFamily="34" charset="-122"/>
              </a:rPr>
              <a:t>注意力融合
多源记忆合并</a:t>
            </a: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2016ABE-827E-510B-C299-9769C59667C1}"/>
              </a:ext>
            </a:extLst>
          </p:cNvPr>
          <p:cNvCxnSpPr/>
          <p:nvPr/>
        </p:nvCxnSpPr>
        <p:spPr>
          <a:xfrm>
            <a:off x="8699500" y="3175000"/>
            <a:ext cx="952500" cy="0"/>
          </a:xfrm>
          <a:prstGeom prst="line">
            <a:avLst/>
          </a:prstGeom>
          <a:ln w="25400">
            <a:solidFill>
              <a:srgbClr val="2E77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168F58ED-09AF-A635-FF96-322361CE7BD9}"/>
              </a:ext>
            </a:extLst>
          </p:cNvPr>
          <p:cNvSpPr/>
          <p:nvPr/>
        </p:nvSpPr>
        <p:spPr>
          <a:xfrm>
            <a:off x="9779000" y="2438400"/>
            <a:ext cx="1651000" cy="147320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2B6B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zh-CN" altLang="en-US" sz="1400" b="1">
                <a:solidFill>
                  <a:srgbClr val="052346"/>
                </a:solidFill>
                <a:latin typeface="微软雅黑" panose="020B0503020204020204" pitchFamily="34" charset="-122"/>
              </a:rPr>
              <a:t>输出
长序列几何上下文
隐空间漂移监测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8FDC40C9-B147-FD71-0D75-AC587904C06D}"/>
              </a:ext>
            </a:extLst>
          </p:cNvPr>
          <p:cNvSpPr/>
          <p:nvPr/>
        </p:nvSpPr>
        <p:spPr>
          <a:xfrm>
            <a:off x="7239000" y="4445000"/>
            <a:ext cx="2667000" cy="50800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96A0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zh-CN" altLang="en-US" sz="1400" b="1">
                <a:solidFill>
                  <a:srgbClr val="052346"/>
                </a:solidFill>
                <a:latin typeface="微软雅黑" panose="020B0503020204020204" pitchFamily="34" charset="-122"/>
              </a:rPr>
              <a:t>记忆缓存管理：控制保留、压缩与删除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39E76025-249E-F1EE-2D2F-297F350DC4DF}"/>
              </a:ext>
            </a:extLst>
          </p:cNvPr>
          <p:cNvCxnSpPr/>
          <p:nvPr/>
        </p:nvCxnSpPr>
        <p:spPr>
          <a:xfrm flipV="1">
            <a:off x="8572500" y="3784600"/>
            <a:ext cx="0" cy="660400"/>
          </a:xfrm>
          <a:prstGeom prst="line">
            <a:avLst/>
          </a:prstGeom>
          <a:ln w="17780">
            <a:solidFill>
              <a:srgbClr val="78828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37946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几何校验模块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0ADC39C-70ED-1254-B6DC-575A4F7766F0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1D4E07D-9189-F472-285F-312002E73D8D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校验模块把几何不一致转成冲突评分，再决定通过、局部重跑或模型切换。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761F1E6-7D02-2CA9-22EA-9F9EFB3B2B7C}"/>
              </a:ext>
            </a:extLst>
          </p:cNvPr>
          <p:cNvSpPr/>
          <p:nvPr/>
        </p:nvSpPr>
        <p:spPr>
          <a:xfrm>
            <a:off x="1206500" y="5651500"/>
            <a:ext cx="9779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校验思路源自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Test3R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，本课题将其嵌入架构内部，支持在线复核与修复。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D853539E-129A-42F5-7ED5-322D51429699}"/>
              </a:ext>
            </a:extLst>
          </p:cNvPr>
          <p:cNvSpPr/>
          <p:nvPr/>
        </p:nvSpPr>
        <p:spPr>
          <a:xfrm>
            <a:off x="1079500" y="2222500"/>
            <a:ext cx="1968500" cy="914400"/>
          </a:xfrm>
          <a:prstGeom prst="roundRect">
            <a:avLst/>
          </a:prstGeom>
          <a:solidFill>
            <a:srgbClr val="E2EEF9"/>
          </a:solidFill>
          <a:ln w="15240">
            <a:solidFill>
              <a:srgbClr val="2B6B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zh-CN" sz="1400" b="1">
                <a:solidFill>
                  <a:srgbClr val="052346"/>
                </a:solidFill>
                <a:latin typeface="微软雅黑" panose="020B0503020204020204" pitchFamily="34" charset="-122"/>
              </a:rPr>
              <a:t>Sampson </a:t>
            </a:r>
            <a:r>
              <a:rPr lang="zh-CN" altLang="en-US" sz="1400" b="1">
                <a:solidFill>
                  <a:srgbClr val="052346"/>
                </a:solidFill>
                <a:latin typeface="微软雅黑" panose="020B0503020204020204" pitchFamily="34" charset="-122"/>
              </a:rPr>
              <a:t>残差
对极几何一致性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BA955B5F-AADD-21F7-588C-49A0F560EEE6}"/>
              </a:ext>
            </a:extLst>
          </p:cNvPr>
          <p:cNvCxnSpPr/>
          <p:nvPr/>
        </p:nvCxnSpPr>
        <p:spPr>
          <a:xfrm>
            <a:off x="3048000" y="2679700"/>
            <a:ext cx="6159500" cy="0"/>
          </a:xfrm>
          <a:prstGeom prst="line">
            <a:avLst/>
          </a:prstGeom>
          <a:ln w="25400">
            <a:solidFill>
              <a:srgbClr val="2E77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79E881A6-944D-7201-02C0-A93AC5FFE194}"/>
              </a:ext>
            </a:extLst>
          </p:cNvPr>
          <p:cNvSpPr/>
          <p:nvPr/>
        </p:nvSpPr>
        <p:spPr>
          <a:xfrm>
            <a:off x="3873500" y="2222500"/>
            <a:ext cx="1968500" cy="914400"/>
          </a:xfrm>
          <a:prstGeom prst="roundRect">
            <a:avLst/>
          </a:prstGeom>
          <a:solidFill>
            <a:srgbClr val="E2EEF9"/>
          </a:solidFill>
          <a:ln w="15240">
            <a:solidFill>
              <a:srgbClr val="2B6B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zh-CN" altLang="en-US" sz="1400" b="1">
                <a:solidFill>
                  <a:srgbClr val="052346"/>
                </a:solidFill>
                <a:latin typeface="微软雅黑" panose="020B0503020204020204" pitchFamily="34" charset="-122"/>
              </a:rPr>
              <a:t>深度一致性
相邻帧尺度检查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2882B725-4D0D-ADB6-EB8F-7DA8CFA6B847}"/>
              </a:ext>
            </a:extLst>
          </p:cNvPr>
          <p:cNvCxnSpPr/>
          <p:nvPr/>
        </p:nvCxnSpPr>
        <p:spPr>
          <a:xfrm>
            <a:off x="5842000" y="2679700"/>
            <a:ext cx="3365500" cy="0"/>
          </a:xfrm>
          <a:prstGeom prst="line">
            <a:avLst/>
          </a:prstGeom>
          <a:ln w="25400">
            <a:solidFill>
              <a:srgbClr val="2E77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57714BB-71B6-B5A5-0833-12B74AFDA41D}"/>
              </a:ext>
            </a:extLst>
          </p:cNvPr>
          <p:cNvSpPr/>
          <p:nvPr/>
        </p:nvSpPr>
        <p:spPr>
          <a:xfrm>
            <a:off x="6667500" y="2222500"/>
            <a:ext cx="1968500" cy="914400"/>
          </a:xfrm>
          <a:prstGeom prst="roundRect">
            <a:avLst/>
          </a:prstGeom>
          <a:solidFill>
            <a:srgbClr val="E2EEF9"/>
          </a:solidFill>
          <a:ln w="15240">
            <a:solidFill>
              <a:srgbClr val="2B6B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zh-CN" altLang="en-US" sz="1400" b="1">
                <a:solidFill>
                  <a:srgbClr val="052346"/>
                </a:solidFill>
                <a:latin typeface="微软雅黑" panose="020B0503020204020204" pitchFamily="34" charset="-122"/>
              </a:rPr>
              <a:t>共视冲突
多帧可见区域对照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6CBA53B6-D5CE-FD47-5084-8502F29533E3}"/>
              </a:ext>
            </a:extLst>
          </p:cNvPr>
          <p:cNvCxnSpPr/>
          <p:nvPr/>
        </p:nvCxnSpPr>
        <p:spPr>
          <a:xfrm>
            <a:off x="8636000" y="2679700"/>
            <a:ext cx="571500" cy="0"/>
          </a:xfrm>
          <a:prstGeom prst="line">
            <a:avLst/>
          </a:prstGeom>
          <a:ln w="25400">
            <a:solidFill>
              <a:srgbClr val="2E77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E8E79F4-90B9-C048-3ACC-184DA4BC5EFF}"/>
              </a:ext>
            </a:extLst>
          </p:cNvPr>
          <p:cNvSpPr/>
          <p:nvPr/>
        </p:nvSpPr>
        <p:spPr>
          <a:xfrm>
            <a:off x="9207500" y="2159000"/>
            <a:ext cx="1651000" cy="1041400"/>
          </a:xfrm>
          <a:prstGeom prst="roundRect">
            <a:avLst/>
          </a:prstGeom>
          <a:solidFill>
            <a:srgbClr val="FFF0E1"/>
          </a:solidFill>
          <a:ln w="15240">
            <a:solidFill>
              <a:srgbClr val="DC61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zh-CN" altLang="en-US" sz="1600" b="1">
                <a:solidFill>
                  <a:srgbClr val="052346"/>
                </a:solidFill>
                <a:latin typeface="微软雅黑" panose="020B0503020204020204" pitchFamily="34" charset="-122"/>
              </a:rPr>
              <a:t>冲突评分
低 </a:t>
            </a:r>
            <a:r>
              <a:rPr lang="en-US" altLang="zh-CN" sz="1600" b="1">
                <a:solidFill>
                  <a:srgbClr val="052346"/>
                </a:solidFill>
                <a:latin typeface="微软雅黑" panose="020B0503020204020204" pitchFamily="34" charset="-122"/>
              </a:rPr>
              <a:t>/ </a:t>
            </a:r>
            <a:r>
              <a:rPr lang="zh-CN" altLang="en-US" sz="1600" b="1">
                <a:solidFill>
                  <a:srgbClr val="052346"/>
                </a:solidFill>
                <a:latin typeface="微软雅黑" panose="020B0503020204020204" pitchFamily="34" charset="-122"/>
              </a:rPr>
              <a:t>中 </a:t>
            </a:r>
            <a:r>
              <a:rPr lang="en-US" altLang="zh-CN" sz="1600" b="1">
                <a:solidFill>
                  <a:srgbClr val="052346"/>
                </a:solidFill>
                <a:latin typeface="微软雅黑" panose="020B0503020204020204" pitchFamily="34" charset="-122"/>
              </a:rPr>
              <a:t>/ </a:t>
            </a:r>
            <a:r>
              <a:rPr lang="zh-CN" altLang="en-US" sz="1600" b="1">
                <a:solidFill>
                  <a:srgbClr val="052346"/>
                </a:solidFill>
                <a:latin typeface="微软雅黑" panose="020B0503020204020204" pitchFamily="34" charset="-122"/>
              </a:rPr>
              <a:t>高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909A0E2F-79B7-70F4-78F0-B89DB7EAB642}"/>
              </a:ext>
            </a:extLst>
          </p:cNvPr>
          <p:cNvCxnSpPr/>
          <p:nvPr/>
        </p:nvCxnSpPr>
        <p:spPr>
          <a:xfrm>
            <a:off x="10033000" y="3200400"/>
            <a:ext cx="0" cy="609600"/>
          </a:xfrm>
          <a:prstGeom prst="line">
            <a:avLst/>
          </a:prstGeom>
          <a:ln w="22860">
            <a:solidFill>
              <a:srgbClr val="DC611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B182B6D3-B6E7-8379-1B2B-72E01A5C8010}"/>
              </a:ext>
            </a:extLst>
          </p:cNvPr>
          <p:cNvCxnSpPr/>
          <p:nvPr/>
        </p:nvCxnSpPr>
        <p:spPr>
          <a:xfrm>
            <a:off x="2984500" y="3810000"/>
            <a:ext cx="6667500" cy="0"/>
          </a:xfrm>
          <a:prstGeom prst="line">
            <a:avLst/>
          </a:prstGeom>
          <a:ln w="22860">
            <a:solidFill>
              <a:srgbClr val="DC611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8A15A89E-91D7-ABAC-56C5-F094D7B1267B}"/>
              </a:ext>
            </a:extLst>
          </p:cNvPr>
          <p:cNvSpPr/>
          <p:nvPr/>
        </p:nvSpPr>
        <p:spPr>
          <a:xfrm>
            <a:off x="2222500" y="4127500"/>
            <a:ext cx="1587500" cy="73660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2B6B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zh-CN" altLang="en-US" sz="1300" b="1">
                <a:solidFill>
                  <a:srgbClr val="052346"/>
                </a:solidFill>
                <a:latin typeface="微软雅黑" panose="020B0503020204020204" pitchFamily="34" charset="-122"/>
              </a:rPr>
              <a:t>低冲突
通过并保留</a:t>
            </a: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67B06866-EB6D-20E9-77CE-07B4C6D9E6D5}"/>
              </a:ext>
            </a:extLst>
          </p:cNvPr>
          <p:cNvCxnSpPr/>
          <p:nvPr/>
        </p:nvCxnSpPr>
        <p:spPr>
          <a:xfrm>
            <a:off x="3016250" y="3810000"/>
            <a:ext cx="0" cy="292100"/>
          </a:xfrm>
          <a:prstGeom prst="line">
            <a:avLst/>
          </a:prstGeom>
          <a:ln w="17780">
            <a:solidFill>
              <a:srgbClr val="DC611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FC7CBBB-E243-47C1-83F3-A21BB37F342B}"/>
              </a:ext>
            </a:extLst>
          </p:cNvPr>
          <p:cNvSpPr/>
          <p:nvPr/>
        </p:nvSpPr>
        <p:spPr>
          <a:xfrm>
            <a:off x="4381500" y="4127500"/>
            <a:ext cx="1587500" cy="73660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2B6B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zh-CN" altLang="en-US" sz="1300" b="1">
                <a:solidFill>
                  <a:srgbClr val="052346"/>
                </a:solidFill>
                <a:latin typeface="微软雅黑" panose="020B0503020204020204" pitchFamily="34" charset="-122"/>
              </a:rPr>
              <a:t>局部冲突
重跑问题区域</a:t>
            </a: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1719F468-90BE-2227-9669-40C7FECA1370}"/>
              </a:ext>
            </a:extLst>
          </p:cNvPr>
          <p:cNvCxnSpPr/>
          <p:nvPr/>
        </p:nvCxnSpPr>
        <p:spPr>
          <a:xfrm>
            <a:off x="5175250" y="3810000"/>
            <a:ext cx="0" cy="292100"/>
          </a:xfrm>
          <a:prstGeom prst="line">
            <a:avLst/>
          </a:prstGeom>
          <a:ln w="17780">
            <a:solidFill>
              <a:srgbClr val="DC611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AF7194E3-B1F8-A112-342D-D5E3AE412719}"/>
              </a:ext>
            </a:extLst>
          </p:cNvPr>
          <p:cNvSpPr/>
          <p:nvPr/>
        </p:nvSpPr>
        <p:spPr>
          <a:xfrm>
            <a:off x="6540500" y="4127500"/>
            <a:ext cx="1587500" cy="73660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2B6B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zh-CN" altLang="en-US" sz="1300" b="1">
                <a:solidFill>
                  <a:srgbClr val="052346"/>
                </a:solidFill>
                <a:latin typeface="微软雅黑" panose="020B0503020204020204" pitchFamily="34" charset="-122"/>
              </a:rPr>
              <a:t>全局冲突
整窗口重跑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577BB574-632D-9A58-179F-24E4BAE4B8A6}"/>
              </a:ext>
            </a:extLst>
          </p:cNvPr>
          <p:cNvCxnSpPr/>
          <p:nvPr/>
        </p:nvCxnSpPr>
        <p:spPr>
          <a:xfrm>
            <a:off x="7334250" y="3810000"/>
            <a:ext cx="0" cy="292100"/>
          </a:xfrm>
          <a:prstGeom prst="line">
            <a:avLst/>
          </a:prstGeom>
          <a:ln w="17780">
            <a:solidFill>
              <a:srgbClr val="DC611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810B346A-6800-E149-A4DE-AB42FA279CC9}"/>
              </a:ext>
            </a:extLst>
          </p:cNvPr>
          <p:cNvSpPr/>
          <p:nvPr/>
        </p:nvSpPr>
        <p:spPr>
          <a:xfrm>
            <a:off x="8699500" y="4127500"/>
            <a:ext cx="1587500" cy="73660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2B6B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zh-CN" altLang="en-US" sz="1300" b="1">
                <a:solidFill>
                  <a:srgbClr val="052346"/>
                </a:solidFill>
                <a:latin typeface="微软雅黑" panose="020B0503020204020204" pitchFamily="34" charset="-122"/>
              </a:rPr>
              <a:t>模型不匹配
交给编排模块</a:t>
            </a: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BB83C89A-C15F-B800-1953-E9D7E4916330}"/>
              </a:ext>
            </a:extLst>
          </p:cNvPr>
          <p:cNvCxnSpPr/>
          <p:nvPr/>
        </p:nvCxnSpPr>
        <p:spPr>
          <a:xfrm>
            <a:off x="9493250" y="3810000"/>
            <a:ext cx="0" cy="292100"/>
          </a:xfrm>
          <a:prstGeom prst="line">
            <a:avLst/>
          </a:prstGeom>
          <a:ln w="17780">
            <a:solidFill>
              <a:srgbClr val="DC611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22670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多模型编排模块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978F43F-EB52-0B49-0736-1564E61E54FC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C3DD714-4246-DD9B-E0D9-32079E80C9EB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多模型编排模块根据输入条件和校验结果在七个候选模型之间切换。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C2C5387-BD43-08A2-2041-C521BBC47E6F}"/>
              </a:ext>
            </a:extLst>
          </p:cNvPr>
          <p:cNvSpPr/>
          <p:nvPr/>
        </p:nvSpPr>
        <p:spPr>
          <a:xfrm>
            <a:off x="609600" y="1905000"/>
            <a:ext cx="2286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MASt3R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静态对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9C01B14-785F-08D1-7D75-6FD3CE4DE470}"/>
              </a:ext>
            </a:extLst>
          </p:cNvPr>
          <p:cNvSpPr/>
          <p:nvPr/>
        </p:nvSpPr>
        <p:spPr>
          <a:xfrm>
            <a:off x="3340100" y="1905000"/>
            <a:ext cx="2286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Fast3R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多视图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7516EC2-9750-F9C6-7E93-C051302E2649}"/>
              </a:ext>
            </a:extLst>
          </p:cNvPr>
          <p:cNvSpPr/>
          <p:nvPr/>
        </p:nvSpPr>
        <p:spPr>
          <a:xfrm>
            <a:off x="6070600" y="1905000"/>
            <a:ext cx="2286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Spann3R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流式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F59D9E7-FAEF-B5CA-9491-054ED0EC897B}"/>
              </a:ext>
            </a:extLst>
          </p:cNvPr>
          <p:cNvSpPr/>
          <p:nvPr/>
        </p:nvSpPr>
        <p:spPr>
          <a:xfrm>
            <a:off x="8801100" y="1905000"/>
            <a:ext cx="2286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CUT3R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动态容忍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A04574C-459B-D1D8-994C-80F1E6BF2A4B}"/>
              </a:ext>
            </a:extLst>
          </p:cNvPr>
          <p:cNvSpPr/>
          <p:nvPr/>
        </p:nvSpPr>
        <p:spPr>
          <a:xfrm>
            <a:off x="609600" y="2857500"/>
            <a:ext cx="2286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MoGe-2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单目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7EF2F9F-7527-004B-C7D9-7643AD033A46}"/>
              </a:ext>
            </a:extLst>
          </p:cNvPr>
          <p:cNvSpPr/>
          <p:nvPr/>
        </p:nvSpPr>
        <p:spPr>
          <a:xfrm>
            <a:off x="3340100" y="2857500"/>
            <a:ext cx="2286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DepthAnything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深度先验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3C549D3-4806-4B37-06C3-1D7436C81C3C}"/>
              </a:ext>
            </a:extLst>
          </p:cNvPr>
          <p:cNvSpPr/>
          <p:nvPr/>
        </p:nvSpPr>
        <p:spPr>
          <a:xfrm>
            <a:off x="6070600" y="2857500"/>
            <a:ext cx="2286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Test3R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校验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9D2169B-29F2-2F9E-DA67-D630499114F7}"/>
              </a:ext>
            </a:extLst>
          </p:cNvPr>
          <p:cNvSpPr/>
          <p:nvPr/>
        </p:nvSpPr>
        <p:spPr>
          <a:xfrm>
            <a:off x="1841500" y="4191000"/>
            <a:ext cx="2667000" cy="736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能力匹配</a:t>
            </a: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0B7E475D-562F-FA44-8024-F936F474429E}"/>
              </a:ext>
            </a:extLst>
          </p:cNvPr>
          <p:cNvSpPr/>
          <p:nvPr/>
        </p:nvSpPr>
        <p:spPr>
          <a:xfrm>
            <a:off x="4635500" y="4419600"/>
            <a:ext cx="5080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CEC6A04-36E9-10AA-F72F-A51A4E2EF540}"/>
              </a:ext>
            </a:extLst>
          </p:cNvPr>
          <p:cNvSpPr/>
          <p:nvPr/>
        </p:nvSpPr>
        <p:spPr>
          <a:xfrm>
            <a:off x="5270500" y="4191000"/>
            <a:ext cx="2667000" cy="736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成本约束</a:t>
            </a: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3BB8E196-6C61-C27B-6042-D2E59E660FF8}"/>
              </a:ext>
            </a:extLst>
          </p:cNvPr>
          <p:cNvSpPr/>
          <p:nvPr/>
        </p:nvSpPr>
        <p:spPr>
          <a:xfrm>
            <a:off x="8064500" y="4419600"/>
            <a:ext cx="5080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1AFE4F9-B3DC-E27F-DF09-7F214695E661}"/>
              </a:ext>
            </a:extLst>
          </p:cNvPr>
          <p:cNvSpPr/>
          <p:nvPr/>
        </p:nvSpPr>
        <p:spPr>
          <a:xfrm>
            <a:off x="8699500" y="4191000"/>
            <a:ext cx="1905000" cy="736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失败回退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CD812EF-0AEE-AB2F-AEAE-04405613812A}"/>
              </a:ext>
            </a:extLst>
          </p:cNvPr>
          <p:cNvSpPr/>
          <p:nvPr/>
        </p:nvSpPr>
        <p:spPr>
          <a:xfrm>
            <a:off x="1206500" y="5461000"/>
            <a:ext cx="9779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按场景、预算和校验结果选择合适模型</a:t>
            </a:r>
          </a:p>
        </p:txBody>
      </p:sp>
    </p:spTree>
    <p:extLst>
      <p:ext uri="{BB962C8B-B14F-4D97-AF65-F5344CB8AC3E}">
        <p14:creationId xmlns:p14="http://schemas.microsoft.com/office/powerpoint/2010/main" val="37541133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当前实现进展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FFE4528-B5B4-1869-86B9-37C31AD8B89C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3E722F2-75E7-C53A-4C60-89D58789534D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架构原型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v0.3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已跑通端到端流水线，当前为集成验证阶段。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E36A6FF-D3A2-FE5C-005F-3CA5234B6925}"/>
              </a:ext>
            </a:extLst>
          </p:cNvPr>
          <p:cNvSpPr/>
          <p:nvPr/>
        </p:nvSpPr>
        <p:spPr>
          <a:xfrm>
            <a:off x="1016000" y="18415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原型状态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6B3A99A-3983-EDDD-084C-C2F515D265DD}"/>
              </a:ext>
            </a:extLst>
          </p:cNvPr>
          <p:cNvSpPr/>
          <p:nvPr/>
        </p:nvSpPr>
        <p:spPr>
          <a:xfrm>
            <a:off x="3238500" y="18415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>
                <a:solidFill>
                  <a:srgbClr val="081830"/>
                </a:solidFill>
                <a:latin typeface="Microsoft YaHei" panose="020B0503020204020204" pitchFamily="34" charset="-122"/>
              </a:rPr>
              <a:t>v0.3 </a:t>
            </a:r>
            <a:r>
              <a:rPr lang="zh-CN" altLang="en-US" sz="1700">
                <a:solidFill>
                  <a:srgbClr val="081830"/>
                </a:solidFill>
                <a:latin typeface="Microsoft YaHei" panose="020B0503020204020204" pitchFamily="34" charset="-122"/>
              </a:rPr>
              <a:t>端到端流水线已跑通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ADA0518-F8BC-1319-7A32-E7C769204EDD}"/>
              </a:ext>
            </a:extLst>
          </p:cNvPr>
          <p:cNvSpPr/>
          <p:nvPr/>
        </p:nvSpPr>
        <p:spPr>
          <a:xfrm>
            <a:off x="1016000" y="26289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技术里程碑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824D3DB-81EA-DA00-BCC6-E1F1E3101DA6}"/>
              </a:ext>
            </a:extLst>
          </p:cNvPr>
          <p:cNvSpPr/>
          <p:nvPr/>
        </p:nvSpPr>
        <p:spPr>
          <a:xfrm>
            <a:off x="3238500" y="26289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18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项完成：视觉骨干、三维检索、校验流程、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Mamba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循环等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1F54022-6742-9BE5-3FA1-69EC58E67BEA}"/>
              </a:ext>
            </a:extLst>
          </p:cNvPr>
          <p:cNvSpPr/>
          <p:nvPr/>
        </p:nvSpPr>
        <p:spPr>
          <a:xfrm>
            <a:off x="1016000" y="34163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KITTI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验证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7486643-89DA-1D6F-2E70-4A1FAEF69B2B}"/>
              </a:ext>
            </a:extLst>
          </p:cNvPr>
          <p:cNvSpPr/>
          <p:nvPr/>
        </p:nvSpPr>
        <p:spPr>
          <a:xfrm>
            <a:off x="3238500" y="34163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81830"/>
                </a:solidFill>
                <a:latin typeface="Microsoft YaHei" panose="020B0503020204020204" pitchFamily="34" charset="-122"/>
              </a:rPr>
              <a:t>端到端运行无崩溃，点图误差指标完成初步接入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F488625-4B1D-B709-55D3-6E358D0425AA}"/>
              </a:ext>
            </a:extLst>
          </p:cNvPr>
          <p:cNvSpPr/>
          <p:nvPr/>
        </p:nvSpPr>
        <p:spPr>
          <a:xfrm>
            <a:off x="1016000" y="42037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阶段边界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7CD1353-D011-A95C-63E2-5944F9B20FCE}"/>
              </a:ext>
            </a:extLst>
          </p:cNvPr>
          <p:cNvSpPr/>
          <p:nvPr/>
        </p:nvSpPr>
        <p:spPr>
          <a:xfrm>
            <a:off x="3238500" y="42037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集成验证数据，非训练后质量指标</a:t>
            </a:r>
          </a:p>
        </p:txBody>
      </p:sp>
    </p:spTree>
    <p:extLst>
      <p:ext uri="{BB962C8B-B14F-4D97-AF65-F5344CB8AC3E}">
        <p14:creationId xmlns:p14="http://schemas.microsoft.com/office/powerpoint/2010/main" val="35735994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为什么需要一个聚合平台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448C21B-FC96-5C5B-D979-2DB1B90014ED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679BEE8-FC8C-10E4-8631-0A10E311BC35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模型缺少统一的部署、对比和调用基础设施，实验效率和应用落地都受限。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CE3AB9C-8823-4F70-2AF5-3EB215A2BB4C}"/>
              </a:ext>
            </a:extLst>
          </p:cNvPr>
          <p:cNvSpPr/>
          <p:nvPr/>
        </p:nvSpPr>
        <p:spPr>
          <a:xfrm>
            <a:off x="1016000" y="19050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部署成本高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25E9290-2716-B101-9500-0F0B7BBF6F04}"/>
              </a:ext>
            </a:extLst>
          </p:cNvPr>
          <p:cNvSpPr/>
          <p:nvPr/>
        </p:nvSpPr>
        <p:spPr>
          <a:xfrm>
            <a:off x="3238500" y="19050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每个模型各有环境和依赖，部署一次耗时长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C65ECA0-26E4-C903-DB7C-9432208662FB}"/>
              </a:ext>
            </a:extLst>
          </p:cNvPr>
          <p:cNvSpPr/>
          <p:nvPr/>
        </p:nvSpPr>
        <p:spPr>
          <a:xfrm>
            <a:off x="1016000" y="26924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对比困难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6859A1A-61A8-10CE-67A4-147B1DF98F44}"/>
              </a:ext>
            </a:extLst>
          </p:cNvPr>
          <p:cNvSpPr/>
          <p:nvPr/>
        </p:nvSpPr>
        <p:spPr>
          <a:xfrm>
            <a:off x="3238500" y="26924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输入输出格式不统一，横向比较需大量手动对齐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36F107D-ECA2-06E3-5CF0-7206CDEF65FC}"/>
              </a:ext>
            </a:extLst>
          </p:cNvPr>
          <p:cNvSpPr/>
          <p:nvPr/>
        </p:nvSpPr>
        <p:spPr>
          <a:xfrm>
            <a:off x="1016000" y="34798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现有工具不适用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9250917-3EBC-2448-B43E-80A05C46C0A0}"/>
              </a:ext>
            </a:extLst>
          </p:cNvPr>
          <p:cNvSpPr/>
          <p:nvPr/>
        </p:nvSpPr>
        <p:spPr>
          <a:xfrm>
            <a:off x="3238500" y="34798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Nerfstudio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面向 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NeRF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，商业产品闭源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9F3CB78-7BEE-D661-6EFB-E09C9207A136}"/>
              </a:ext>
            </a:extLst>
          </p:cNvPr>
          <p:cNvSpPr/>
          <p:nvPr/>
        </p:nvSpPr>
        <p:spPr>
          <a:xfrm>
            <a:off x="1016000" y="42672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下游无法调用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A23AF3F-D9D4-0BE2-E085-5593F9C1FA47}"/>
              </a:ext>
            </a:extLst>
          </p:cNvPr>
          <p:cNvSpPr/>
          <p:nvPr/>
        </p:nvSpPr>
        <p:spPr>
          <a:xfrm>
            <a:off x="3238500" y="42672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模型能力停留在脚本级，缺少标准接口供应用集成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D889531-0E43-0AD0-1F08-E76812D5BF1C}"/>
              </a:ext>
            </a:extLst>
          </p:cNvPr>
          <p:cNvSpPr/>
          <p:nvPr/>
        </p:nvSpPr>
        <p:spPr>
          <a:xfrm>
            <a:off x="1460500" y="5461000"/>
            <a:ext cx="9271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统一部署、统一对比、标准化输出与 </a:t>
            </a:r>
            <a:r>
              <a:rPr lang="en-US" altLang="zh-CN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API </a:t>
            </a:r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封装</a:t>
            </a:r>
          </a:p>
        </p:txBody>
      </p:sp>
    </p:spTree>
    <p:extLst>
      <p:ext uri="{BB962C8B-B14F-4D97-AF65-F5344CB8AC3E}">
        <p14:creationId xmlns:p14="http://schemas.microsoft.com/office/powerpoint/2010/main" val="1178713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平台核心功能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926D588-E1AD-30C6-081B-395AD8E8102C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237940A-32D9-1AF3-2ED0-7C4A0AA2C530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平台覆盖从模型部署、实验运行到能力输出的完整链路。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E8C20BF-BF7A-84B3-B9E4-5C5311D11E17}"/>
              </a:ext>
            </a:extLst>
          </p:cNvPr>
          <p:cNvSpPr/>
          <p:nvPr/>
        </p:nvSpPr>
        <p:spPr>
          <a:xfrm>
            <a:off x="533400" y="2095500"/>
            <a:ext cx="18415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命令中心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BC7FA47-9ABB-F449-6945-E64BB0718DE3}"/>
              </a:ext>
            </a:extLst>
          </p:cNvPr>
          <p:cNvSpPr/>
          <p:nvPr/>
        </p:nvSpPr>
        <p:spPr>
          <a:xfrm>
            <a:off x="5334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一键部署</a:t>
            </a:r>
          </a:p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提交任务</a:t>
            </a:r>
          </a:p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查看状态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D1D30A4-2C38-2ECD-F6EE-C76BCD815237}"/>
              </a:ext>
            </a:extLst>
          </p:cNvPr>
          <p:cNvSpPr/>
          <p:nvPr/>
        </p:nvSpPr>
        <p:spPr>
          <a:xfrm>
            <a:off x="2755900" y="2095500"/>
            <a:ext cx="1841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任务工作台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A2FAC6C-943B-DDD1-12B6-44B88522A79A}"/>
              </a:ext>
            </a:extLst>
          </p:cNvPr>
          <p:cNvSpPr/>
          <p:nvPr/>
        </p:nvSpPr>
        <p:spPr>
          <a:xfrm>
            <a:off x="27559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上传→运行</a:t>
            </a:r>
          </a:p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回传→完成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89DC74B-E5A6-4026-AAC8-628E079DFABD}"/>
              </a:ext>
            </a:extLst>
          </p:cNvPr>
          <p:cNvSpPr/>
          <p:nvPr/>
        </p:nvSpPr>
        <p:spPr>
          <a:xfrm>
            <a:off x="4978400" y="2095500"/>
            <a:ext cx="1841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样本矩阵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C28CEFA-04CC-924A-8022-31A4EFA3AE9E}"/>
              </a:ext>
            </a:extLst>
          </p:cNvPr>
          <p:cNvSpPr/>
          <p:nvPr/>
        </p:nvSpPr>
        <p:spPr>
          <a:xfrm>
            <a:off x="49784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同一输入</a:t>
            </a:r>
          </a:p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多模型并排对比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BD884A5-D606-BEC9-C99E-13F0E02953B4}"/>
              </a:ext>
            </a:extLst>
          </p:cNvPr>
          <p:cNvSpPr/>
          <p:nvPr/>
        </p:nvSpPr>
        <p:spPr>
          <a:xfrm>
            <a:off x="7200900" y="2095500"/>
            <a:ext cx="18415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模型注册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D809003-5364-5BF7-B06E-2D821C12F87C}"/>
              </a:ext>
            </a:extLst>
          </p:cNvPr>
          <p:cNvSpPr/>
          <p:nvPr/>
        </p:nvSpPr>
        <p:spPr>
          <a:xfrm>
            <a:off x="72009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标准接口</a:t>
            </a:r>
          </a:p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新模型快速上线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5F1309E-E130-7A84-5AB5-E9B4F070C196}"/>
              </a:ext>
            </a:extLst>
          </p:cNvPr>
          <p:cNvSpPr/>
          <p:nvPr/>
        </p:nvSpPr>
        <p:spPr>
          <a:xfrm>
            <a:off x="9423400" y="2095500"/>
            <a:ext cx="1841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能力输出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3721CA1-FD44-30FB-4EEE-AA9B545CAA34}"/>
              </a:ext>
            </a:extLst>
          </p:cNvPr>
          <p:cNvSpPr/>
          <p:nvPr/>
        </p:nvSpPr>
        <p:spPr>
          <a:xfrm>
            <a:off x="94234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统一格式导出</a:t>
            </a:r>
          </a:p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API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封装调用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185D684-99B5-6819-7482-32D9F6335A78}"/>
              </a:ext>
            </a:extLst>
          </p:cNvPr>
          <p:cNvSpPr/>
          <p:nvPr/>
        </p:nvSpPr>
        <p:spPr>
          <a:xfrm>
            <a:off x="1143000" y="4826000"/>
            <a:ext cx="99060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部署→实验→对比→输出，覆盖研究到应用的完整路径</a:t>
            </a:r>
          </a:p>
        </p:txBody>
      </p:sp>
    </p:spTree>
    <p:extLst>
      <p:ext uri="{BB962C8B-B14F-4D97-AF65-F5344CB8AC3E}">
        <p14:creationId xmlns:p14="http://schemas.microsoft.com/office/powerpoint/2010/main" val="14614822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技术架构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EED5A48-D199-AD34-FCE8-479D7D2EC99A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C4365CF-9523-F3B3-C2A5-958CE6E25294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平台通过统一执行合同，把桌面前端、后端调度和模型执行器连接起来。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B647C2B-BA41-3098-946D-782A3954509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928" y="2011680"/>
            <a:ext cx="5074920" cy="285292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C78CBF0B-3E8B-7F6C-97E7-854A91BB32C7}"/>
              </a:ext>
            </a:extLst>
          </p:cNvPr>
          <p:cNvSpPr/>
          <p:nvPr/>
        </p:nvSpPr>
        <p:spPr>
          <a:xfrm>
            <a:off x="1206500" y="5870448"/>
            <a:ext cx="9779000" cy="384048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latin typeface="Microsoft YaHei" panose="020B0503020204020204" pitchFamily="34" charset="-122"/>
              </a:rPr>
              <a:t>执行器封装模型差异，平台层统一提交和归集，顶层预留 </a:t>
            </a:r>
            <a:r>
              <a:rPr lang="en-US" altLang="zh-CN" sz="1600" b="1">
                <a:solidFill>
                  <a:srgbClr val="FFFFFF"/>
                </a:solidFill>
                <a:latin typeface="Microsoft YaHei" panose="020B0503020204020204" pitchFamily="34" charset="-122"/>
              </a:rPr>
              <a:t>API </a:t>
            </a:r>
            <a:r>
              <a:rPr lang="zh-CN" altLang="en-US" sz="1600" b="1">
                <a:solidFill>
                  <a:srgbClr val="FFFFFF"/>
                </a:solidFill>
                <a:latin typeface="Microsoft YaHei" panose="020B0503020204020204" pitchFamily="34" charset="-122"/>
              </a:rPr>
              <a:t>导出接口。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66928" y="1746504"/>
            <a:ext cx="219456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00468E"/>
                </a:solidFill>
                <a:latin typeface="Microsoft YaHei"/>
              </a:rPr>
              <a:t>平台执行架构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172200" y="1746504"/>
            <a:ext cx="274320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00468E"/>
                </a:solidFill>
                <a:latin typeface="Microsoft YaHei"/>
              </a:rPr>
              <a:t>KYKT Vision：任务面板</a:t>
            </a:r>
          </a:p>
        </p:txBody>
      </p:sp>
      <p:pic>
        <p:nvPicPr>
          <p:cNvPr id="95" name="Picture 94" descr="software_screenshot_dashboard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993392"/>
            <a:ext cx="5440680" cy="1901952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6172200" y="4096512"/>
            <a:ext cx="292608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00468E"/>
                </a:solidFill>
                <a:latin typeface="Microsoft YaHei"/>
              </a:rPr>
              <a:t>KYKT Vision：模型路线</a:t>
            </a:r>
          </a:p>
        </p:txBody>
      </p:sp>
      <p:pic>
        <p:nvPicPr>
          <p:cNvPr id="97" name="Picture 96" descr="software_screenshot_models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4343400"/>
            <a:ext cx="5440680" cy="1325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3737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993F8-A2A5-B371-B6CC-C97E0D162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284BF616-090D-BA5B-20D4-639B4472D780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FEA574DC-E824-BEBE-8E95-9476D0FC3CF3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已接入模型与实测数据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2C6EC04-9316-46BA-74EE-1DA642D7D510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88ACE7-FEBB-C054-48C4-901D337C863D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6 个模型端到端验证通过，同一输入下最快与最慢相差约 9 倍。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8473525-F25F-E14E-6E02-B15DB375EDEE}"/>
              </a:ext>
            </a:extLst>
          </p:cNvPr>
          <p:cNvSpPr/>
          <p:nvPr/>
        </p:nvSpPr>
        <p:spPr>
          <a:xfrm>
            <a:off x="762000" y="1841500"/>
            <a:ext cx="3238500" cy="381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接入模型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44059DD-7FD8-31FA-576E-FB93FA91E164}"/>
              </a:ext>
            </a:extLst>
          </p:cNvPr>
          <p:cNvSpPr/>
          <p:nvPr/>
        </p:nvSpPr>
        <p:spPr>
          <a:xfrm>
            <a:off x="762000" y="22733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DUSt3R / MASt3R</a:t>
            </a:r>
            <a:endParaRPr lang="zh-CN" altLang="en-US" sz="15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DEE0FF0-B609-0DBC-B86A-AC22CAC59B49}"/>
              </a:ext>
            </a:extLst>
          </p:cNvPr>
          <p:cNvSpPr/>
          <p:nvPr/>
        </p:nvSpPr>
        <p:spPr>
          <a:xfrm>
            <a:off x="762000" y="28829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MonST3R / Spann3R</a:t>
            </a:r>
            <a:endParaRPr lang="zh-CN" altLang="en-US" sz="15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3B8EC46-BABC-93F2-60A0-0FA177330D65}"/>
              </a:ext>
            </a:extLst>
          </p:cNvPr>
          <p:cNvSpPr/>
          <p:nvPr/>
        </p:nvSpPr>
        <p:spPr>
          <a:xfrm>
            <a:off x="762000" y="34925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Fast3R / CUT3R</a:t>
            </a:r>
            <a:endParaRPr lang="zh-CN" altLang="en-US" sz="15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B84D35E-C6C8-C9B0-3B2E-EF8E995FC357}"/>
              </a:ext>
            </a:extLst>
          </p:cNvPr>
          <p:cNvSpPr/>
          <p:nvPr/>
        </p:nvSpPr>
        <p:spPr>
          <a:xfrm>
            <a:off x="762000" y="41021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Align3R </a:t>
            </a:r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权重待补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A2B7315C-52D6-3334-56D3-285130CCA80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5211" y="1714500"/>
            <a:ext cx="6316579" cy="342900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5A0BBB15-D531-0505-E57F-1768AAD50C38}"/>
              </a:ext>
            </a:extLst>
          </p:cNvPr>
          <p:cNvSpPr/>
          <p:nvPr/>
        </p:nvSpPr>
        <p:spPr>
          <a:xfrm>
            <a:off x="889000" y="5524500"/>
            <a:ext cx="10414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统一条件下耗时差异显著</a:t>
            </a:r>
          </a:p>
        </p:txBody>
      </p:sp>
    </p:spTree>
    <p:extLst>
      <p:ext uri="{BB962C8B-B14F-4D97-AF65-F5344CB8AC3E}">
        <p14:creationId xmlns:p14="http://schemas.microsoft.com/office/powerpoint/2010/main" val="6561745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后续更新方向与应用场景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6FD55BE-72DF-9B7D-7FC9-64CFE88E6B7F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1EC0EF2-760E-76E3-326B-D8AC276BA23D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从辅助实验到快速部署，再到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API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化服务下游应用。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896C7EF-24D0-7E1F-4558-7C46F05EA670}"/>
              </a:ext>
            </a:extLst>
          </p:cNvPr>
          <p:cNvSpPr/>
          <p:nvPr/>
        </p:nvSpPr>
        <p:spPr>
          <a:xfrm>
            <a:off x="1143000" y="1905000"/>
            <a:ext cx="17145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短期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2297AEF-E1F4-36B2-64B2-C21D54283265}"/>
              </a:ext>
            </a:extLst>
          </p:cNvPr>
          <p:cNvSpPr/>
          <p:nvPr/>
        </p:nvSpPr>
        <p:spPr>
          <a:xfrm>
            <a:off x="3175000" y="19050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辅助实验：完善对比视图，支撑消融和对照实验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2B9F333-846C-93C0-7D53-E22EC5A3241C}"/>
              </a:ext>
            </a:extLst>
          </p:cNvPr>
          <p:cNvSpPr/>
          <p:nvPr/>
        </p:nvSpPr>
        <p:spPr>
          <a:xfrm>
            <a:off x="1143000" y="2692400"/>
            <a:ext cx="17145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中期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D13CC2-88C6-B077-0FD5-6F69C2F3F04D}"/>
              </a:ext>
            </a:extLst>
          </p:cNvPr>
          <p:cNvSpPr/>
          <p:nvPr/>
        </p:nvSpPr>
        <p:spPr>
          <a:xfrm>
            <a:off x="3175000" y="26924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快速部署：新模型一键接入、即时对比，结果直接导出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510F09C-B213-AD4E-2554-B82E60E0C06B}"/>
              </a:ext>
            </a:extLst>
          </p:cNvPr>
          <p:cNvSpPr/>
          <p:nvPr/>
        </p:nvSpPr>
        <p:spPr>
          <a:xfrm>
            <a:off x="1143000" y="3479800"/>
            <a:ext cx="17145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长期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E692F56-BEFF-8754-8B18-DDA6CDD1D4F6}"/>
              </a:ext>
            </a:extLst>
          </p:cNvPr>
          <p:cNvSpPr/>
          <p:nvPr/>
        </p:nvSpPr>
        <p:spPr>
          <a:xfrm>
            <a:off x="3175000" y="34798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API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服务：封装模型为标准接口，供 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SLAM / AR /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机器人调用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CA45747-DD97-3F92-E082-8C45067BAB51}"/>
              </a:ext>
            </a:extLst>
          </p:cNvPr>
          <p:cNvSpPr/>
          <p:nvPr/>
        </p:nvSpPr>
        <p:spPr>
          <a:xfrm>
            <a:off x="1143000" y="4267200"/>
            <a:ext cx="17145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应用场景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585CB8C-0B3E-2ED0-0989-D600D75BAF0F}"/>
              </a:ext>
            </a:extLst>
          </p:cNvPr>
          <p:cNvSpPr/>
          <p:nvPr/>
        </p:nvSpPr>
        <p:spPr>
          <a:xfrm>
            <a:off x="3175000" y="42672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科研实验 → 模型评估 → 下游应用集成</a:t>
            </a:r>
          </a:p>
        </p:txBody>
      </p:sp>
    </p:spTree>
    <p:extLst>
      <p:ext uri="{BB962C8B-B14F-4D97-AF65-F5344CB8AC3E}">
        <p14:creationId xmlns:p14="http://schemas.microsoft.com/office/powerpoint/2010/main" val="24479885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平台如何支撑架构研究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223B8F6-6D09-7FC2-8ACD-2940C01BDC63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910C218-DD12-E97F-7C66-6586243B6548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平台支撑架构验证，验证通过的模型能力可进一步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API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化输出。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2AD1915-42CA-370F-8C9E-E0426E674BA7}"/>
              </a:ext>
            </a:extLst>
          </p:cNvPr>
          <p:cNvSpPr/>
          <p:nvPr/>
        </p:nvSpPr>
        <p:spPr>
          <a:xfrm>
            <a:off x="1016000" y="2095500"/>
            <a:ext cx="3810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架构研究需求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91E1003-C953-7FBB-06B0-E38BE5009520}"/>
              </a:ext>
            </a:extLst>
          </p:cNvPr>
          <p:cNvSpPr/>
          <p:nvPr/>
        </p:nvSpPr>
        <p:spPr>
          <a:xfrm>
            <a:off x="1016000" y="2552700"/>
            <a:ext cx="3810000" cy="1511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多模型对照
模块消融
长序列评测
新架构接入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0E40D9D1-D6E4-E362-9AEF-34C509F556D9}"/>
              </a:ext>
            </a:extLst>
          </p:cNvPr>
          <p:cNvSpPr/>
          <p:nvPr/>
        </p:nvSpPr>
        <p:spPr>
          <a:xfrm>
            <a:off x="5080000" y="2794000"/>
            <a:ext cx="635000" cy="3810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477E499-A0F6-5AE3-3D58-FC2074EFFD44}"/>
              </a:ext>
            </a:extLst>
          </p:cNvPr>
          <p:cNvSpPr/>
          <p:nvPr/>
        </p:nvSpPr>
        <p:spPr>
          <a:xfrm>
            <a:off x="6604000" y="2095500"/>
            <a:ext cx="4064000" cy="431800"/>
          </a:xfrm>
          <a:prstGeom prst="rect">
            <a:avLst/>
          </a:prstGeom>
          <a:solidFill>
            <a:srgbClr val="26915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平台支撑方式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DED5918-30E9-52FE-E306-3E503C855BD1}"/>
              </a:ext>
            </a:extLst>
          </p:cNvPr>
          <p:cNvSpPr/>
          <p:nvPr/>
        </p:nvSpPr>
        <p:spPr>
          <a:xfrm>
            <a:off x="6604000" y="2552700"/>
            <a:ext cx="4064000" cy="1511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统一调度</a:t>
            </a:r>
          </a:p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统一输出格式</a:t>
            </a:r>
          </a:p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同条件对比</a:t>
            </a:r>
          </a:p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运行数据记录</a:t>
            </a:r>
          </a:p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API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导出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3274458-9BBE-B32D-8697-3A876ED4E8A0}"/>
              </a:ext>
            </a:extLst>
          </p:cNvPr>
          <p:cNvSpPr/>
          <p:nvPr/>
        </p:nvSpPr>
        <p:spPr>
          <a:xfrm>
            <a:off x="1206500" y="4953000"/>
            <a:ext cx="9779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平台支撑验证，验证通过的架构可进一步封装为 </a:t>
            </a:r>
            <a:r>
              <a:rPr lang="en-US" altLang="zh-CN" b="1">
                <a:solidFill>
                  <a:srgbClr val="00285F"/>
                </a:solidFill>
                <a:latin typeface="Microsoft YaHei" panose="020B0503020204020204" pitchFamily="34" charset="-122"/>
              </a:rPr>
              <a:t>API </a:t>
            </a:r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对外输出</a:t>
            </a:r>
          </a:p>
        </p:txBody>
      </p:sp>
    </p:spTree>
    <p:extLst>
      <p:ext uri="{BB962C8B-B14F-4D97-AF65-F5344CB8AC3E}">
        <p14:creationId xmlns:p14="http://schemas.microsoft.com/office/powerpoint/2010/main" val="33695153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04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实验设计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83FA3A9-1488-1DF5-983E-5CD681C22F1D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BEE4CEA-09D6-4B6A-4C45-B1A6020FF5EC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架构侧验证模块是否有用，平台侧验证流程是否跑得通。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0FE6418-07E3-08B6-CBC2-BA8B1ED0C40B}"/>
              </a:ext>
            </a:extLst>
          </p:cNvPr>
          <p:cNvSpPr/>
          <p:nvPr/>
        </p:nvSpPr>
        <p:spPr>
          <a:xfrm>
            <a:off x="698500" y="1905000"/>
            <a:ext cx="5080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架构侧验证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93659C-5D45-C750-BBB1-2B602F8BE1C4}"/>
              </a:ext>
            </a:extLst>
          </p:cNvPr>
          <p:cNvSpPr/>
          <p:nvPr/>
        </p:nvSpPr>
        <p:spPr>
          <a:xfrm>
            <a:off x="698500" y="2362200"/>
            <a:ext cx="5080000" cy="2463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模块消融：记忆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校验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路由
长序列对照：短序列到长序列
模型对照：单模型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vs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多模型
失败场景复核：动态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弱纹理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反射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342C8E8-BA83-6CD4-FD4E-683C13C6CEB6}"/>
              </a:ext>
            </a:extLst>
          </p:cNvPr>
          <p:cNvSpPr/>
          <p:nvPr/>
        </p:nvSpPr>
        <p:spPr>
          <a:xfrm>
            <a:off x="6413500" y="1905000"/>
            <a:ext cx="5080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平台侧验证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B7F5200-035F-3B1F-ADCA-496F61E18EEC}"/>
              </a:ext>
            </a:extLst>
          </p:cNvPr>
          <p:cNvSpPr/>
          <p:nvPr/>
        </p:nvSpPr>
        <p:spPr>
          <a:xfrm>
            <a:off x="6413500" y="2362200"/>
            <a:ext cx="5080000" cy="2463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模型接入是否稳定
任务状态是否可追踪
结果格式是否统一
对比报告是否可导出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E21F794-44B3-9A4D-7C58-EAACB793B1C8}"/>
              </a:ext>
            </a:extLst>
          </p:cNvPr>
          <p:cNvSpPr/>
          <p:nvPr/>
        </p:nvSpPr>
        <p:spPr>
          <a:xfrm>
            <a:off x="1460500" y="5334000"/>
            <a:ext cx="9271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先完成小规模可复现实例，再逐步扩展到长序列和多模型对照。</a:t>
            </a:r>
          </a:p>
        </p:txBody>
      </p:sp>
    </p:spTree>
    <p:extLst>
      <p:ext uri="{BB962C8B-B14F-4D97-AF65-F5344CB8AC3E}">
        <p14:creationId xmlns:p14="http://schemas.microsoft.com/office/powerpoint/2010/main" val="17469556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04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创新点总结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DB514AE-B67E-6266-F32C-D66F1CD52AF8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4E1578F-F4FE-BA87-7934-4539DC7D4045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四个创新点分别回应前面提出的主要问题。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E68AF3E-F906-B6C2-4CFB-BBC60C4AA857}"/>
              </a:ext>
            </a:extLst>
          </p:cNvPr>
          <p:cNvSpPr/>
          <p:nvPr/>
        </p:nvSpPr>
        <p:spPr>
          <a:xfrm>
            <a:off x="1143000" y="2095500"/>
            <a:ext cx="8890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1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B301160-A915-4E8E-7E9D-0A5BDACD0F0F}"/>
              </a:ext>
            </a:extLst>
          </p:cNvPr>
          <p:cNvSpPr/>
          <p:nvPr/>
        </p:nvSpPr>
        <p:spPr>
          <a:xfrm>
            <a:off x="2286000" y="2095500"/>
            <a:ext cx="34290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几何校验作为架构内置组件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0816FC5-F7FC-90D0-C295-B6C5442B0330}"/>
              </a:ext>
            </a:extLst>
          </p:cNvPr>
          <p:cNvSpPr/>
          <p:nvPr/>
        </p:nvSpPr>
        <p:spPr>
          <a:xfrm>
            <a:off x="6350000" y="2095500"/>
            <a:ext cx="8890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2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42D17EC-4559-E507-8478-4FF7E1E1B878}"/>
              </a:ext>
            </a:extLst>
          </p:cNvPr>
          <p:cNvSpPr/>
          <p:nvPr/>
        </p:nvSpPr>
        <p:spPr>
          <a:xfrm>
            <a:off x="7493000" y="2095500"/>
            <a:ext cx="34290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异构多模型组合与路由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9EE8A26-5713-B3F1-8952-0282CE22FC68}"/>
              </a:ext>
            </a:extLst>
          </p:cNvPr>
          <p:cNvSpPr/>
          <p:nvPr/>
        </p:nvSpPr>
        <p:spPr>
          <a:xfrm>
            <a:off x="1143000" y="3517900"/>
            <a:ext cx="8890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0065825-8103-4BC4-6B6D-A9ACFE2490E4}"/>
              </a:ext>
            </a:extLst>
          </p:cNvPr>
          <p:cNvSpPr/>
          <p:nvPr/>
        </p:nvSpPr>
        <p:spPr>
          <a:xfrm>
            <a:off x="2286000" y="3517900"/>
            <a:ext cx="34290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三分支稀疏注意力记忆模块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DC4800D-82FD-4550-3A7E-A76A3D72BC89}"/>
              </a:ext>
            </a:extLst>
          </p:cNvPr>
          <p:cNvSpPr/>
          <p:nvPr/>
        </p:nvSpPr>
        <p:spPr>
          <a:xfrm>
            <a:off x="6350000" y="3517900"/>
            <a:ext cx="8890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4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B7E910F-FF00-6B5E-DCF6-B075E44665C3}"/>
              </a:ext>
            </a:extLst>
          </p:cNvPr>
          <p:cNvSpPr/>
          <p:nvPr/>
        </p:nvSpPr>
        <p:spPr>
          <a:xfrm>
            <a:off x="7493000" y="3517900"/>
            <a:ext cx="34290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统一 </a:t>
            </a:r>
            <a:r>
              <a:rPr lang="en-US" altLang="zh-CN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模型聚合管理平台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90D1E3A-8895-488F-3278-FF09E0FE92D5}"/>
              </a:ext>
            </a:extLst>
          </p:cNvPr>
          <p:cNvSpPr/>
          <p:nvPr/>
        </p:nvSpPr>
        <p:spPr>
          <a:xfrm>
            <a:off x="1460500" y="5334000"/>
            <a:ext cx="9271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每个创新点都有对应的验证实验。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286000" y="2761488"/>
            <a:ext cx="342900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>
                <a:solidFill>
                  <a:srgbClr val="566880"/>
                </a:solidFill>
                <a:latin typeface="Microsoft YaHei"/>
              </a:rPr>
              <a:t>支持在线检测与修复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488936" y="2761488"/>
            <a:ext cx="342900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>
                <a:solidFill>
                  <a:srgbClr val="566880"/>
                </a:solidFill>
                <a:latin typeface="Microsoft YaHei"/>
              </a:rPr>
              <a:t>按场景按需调用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286000" y="4187952"/>
            <a:ext cx="342900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>
                <a:solidFill>
                  <a:srgbClr val="566880"/>
                </a:solidFill>
                <a:latin typeface="Microsoft YaHei"/>
              </a:rPr>
              <a:t>覆盖远程/检索/局部时间尺度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488936" y="4187952"/>
            <a:ext cx="1673535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en-US" altLang="zh-CN" sz="1200">
                <a:solidFill>
                  <a:srgbClr val="566880"/>
                </a:solidFill>
                <a:latin typeface="Microsoft YaHei"/>
              </a:rPr>
              <a:t>6 </a:t>
            </a:r>
            <a:r>
              <a:rPr lang="zh-CN" altLang="en-US" sz="1200">
                <a:solidFill>
                  <a:srgbClr val="566880"/>
                </a:solidFill>
                <a:latin typeface="Microsoft YaHei"/>
              </a:rPr>
              <a:t>个模型完成端到端验证</a:t>
            </a:r>
            <a:endParaRPr sz="1200">
              <a:solidFill>
                <a:srgbClr val="566880"/>
              </a:solidFill>
              <a:latin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7166405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04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已完成工作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0C3FD47-635A-2B05-F6F9-65F65AFEBBB3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5064781-E2B9-14CA-D708-1E133F2C38C6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当前已完成架构文档、原型验证、平台代码和阶段综述。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22B3640-6FB2-8DF0-8E13-4F0AD87D50B5}"/>
              </a:ext>
            </a:extLst>
          </p:cNvPr>
          <p:cNvSpPr/>
          <p:nvPr/>
        </p:nvSpPr>
        <p:spPr>
          <a:xfrm>
            <a:off x="889000" y="1968500"/>
            <a:ext cx="4826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架构侧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105A9E9-8844-5923-DC9D-E168ED018FED}"/>
              </a:ext>
            </a:extLst>
          </p:cNvPr>
          <p:cNvSpPr/>
          <p:nvPr/>
        </p:nvSpPr>
        <p:spPr>
          <a:xfrm>
            <a:off x="889000" y="2425700"/>
            <a:ext cx="4826000" cy="208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7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份设计文档
跨模块信号契约完成
原型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v0.3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跑通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18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项技术里程碑完成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6D43C39-4ADE-B722-0EF8-0E9B1F6FA7D7}"/>
              </a:ext>
            </a:extLst>
          </p:cNvPr>
          <p:cNvSpPr/>
          <p:nvPr/>
        </p:nvSpPr>
        <p:spPr>
          <a:xfrm>
            <a:off x="6477000" y="1968500"/>
            <a:ext cx="4826000" cy="431800"/>
          </a:xfrm>
          <a:prstGeom prst="rect">
            <a:avLst/>
          </a:prstGeom>
          <a:solidFill>
            <a:srgbClr val="26915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平台侧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E1EE319-A01F-DAFC-9029-D9CA337CBD5C}"/>
              </a:ext>
            </a:extLst>
          </p:cNvPr>
          <p:cNvSpPr/>
          <p:nvPr/>
        </p:nvSpPr>
        <p:spPr>
          <a:xfrm>
            <a:off x="6477000" y="2425700"/>
            <a:ext cx="4826000" cy="208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约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15000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行代码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7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个执行器完成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6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个端到端验证
跨模型对比数据已生成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66ED455-6764-1A1C-8602-5412CACF9007}"/>
              </a:ext>
            </a:extLst>
          </p:cNvPr>
          <p:cNvSpPr/>
          <p:nvPr/>
        </p:nvSpPr>
        <p:spPr>
          <a:xfrm>
            <a:off x="1460500" y="5270500"/>
            <a:ext cx="9271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同期完成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18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页中文综述，包含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44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篇引用、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6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图和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5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表。</a:t>
            </a:r>
          </a:p>
        </p:txBody>
      </p:sp>
    </p:spTree>
    <p:extLst>
      <p:ext uri="{BB962C8B-B14F-4D97-AF65-F5344CB8AC3E}">
        <p14:creationId xmlns:p14="http://schemas.microsoft.com/office/powerpoint/2010/main" val="40295921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1AC14-4D81-0B48-547E-7159FB0D6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BAF1E447-5F42-9CE3-9E7C-27FABF3FC177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04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32F2B33-3392-C809-868B-8FB43F2C123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时间安排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5C8C469-AB9F-1AC2-727A-062A69B2E728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44EF0EA-9063-1633-CC1F-B67D016D7A28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后续时间安排分为近期准备、中期实验和后期论文三个阶段。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742E746-FC33-0B86-4555-75AD5CA3E7DF}"/>
              </a:ext>
            </a:extLst>
          </p:cNvPr>
          <p:cNvSpPr/>
          <p:nvPr/>
        </p:nvSpPr>
        <p:spPr>
          <a:xfrm>
            <a:off x="2921000" y="1828800"/>
            <a:ext cx="1828800" cy="355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Microsoft YaHei" panose="020B0503020204020204" pitchFamily="34" charset="-122"/>
              </a:rPr>
              <a:t>近期准备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4A0E0AF-5EAC-44E9-51BE-624FDBB5A848}"/>
              </a:ext>
            </a:extLst>
          </p:cNvPr>
          <p:cNvSpPr/>
          <p:nvPr/>
        </p:nvSpPr>
        <p:spPr>
          <a:xfrm>
            <a:off x="4749800" y="1828800"/>
            <a:ext cx="3657600" cy="3556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Microsoft YaHei" panose="020B0503020204020204" pitchFamily="34" charset="-122"/>
              </a:rPr>
              <a:t>中期实验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2D9DEB4-89C5-E56E-5E32-895D83DE7750}"/>
              </a:ext>
            </a:extLst>
          </p:cNvPr>
          <p:cNvSpPr/>
          <p:nvPr/>
        </p:nvSpPr>
        <p:spPr>
          <a:xfrm>
            <a:off x="8407400" y="1828800"/>
            <a:ext cx="1828800" cy="355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Microsoft YaHei" panose="020B0503020204020204" pitchFamily="34" charset="-122"/>
              </a:rPr>
              <a:t>后期论文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C456ADB-8401-BC2F-8C6B-31936444F331}"/>
              </a:ext>
            </a:extLst>
          </p:cNvPr>
          <p:cNvSpPr/>
          <p:nvPr/>
        </p:nvSpPr>
        <p:spPr>
          <a:xfrm>
            <a:off x="29210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M1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579EA0F-9CBE-C1ED-61BC-3CECA88EE3BF}"/>
              </a:ext>
            </a:extLst>
          </p:cNvPr>
          <p:cNvSpPr/>
          <p:nvPr/>
        </p:nvSpPr>
        <p:spPr>
          <a:xfrm>
            <a:off x="38354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M2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C58C207-A53D-D596-7E6A-67F92A301228}"/>
              </a:ext>
            </a:extLst>
          </p:cNvPr>
          <p:cNvSpPr/>
          <p:nvPr/>
        </p:nvSpPr>
        <p:spPr>
          <a:xfrm>
            <a:off x="47498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M3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D94E997-A5D1-6992-119B-0928C7550702}"/>
              </a:ext>
            </a:extLst>
          </p:cNvPr>
          <p:cNvSpPr/>
          <p:nvPr/>
        </p:nvSpPr>
        <p:spPr>
          <a:xfrm>
            <a:off x="56642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M4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65C129B-8D59-C6B6-C087-6D9B77BA38CA}"/>
              </a:ext>
            </a:extLst>
          </p:cNvPr>
          <p:cNvSpPr/>
          <p:nvPr/>
        </p:nvSpPr>
        <p:spPr>
          <a:xfrm>
            <a:off x="65786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M5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5F82661-25D3-2DBE-B1CF-170968456B18}"/>
              </a:ext>
            </a:extLst>
          </p:cNvPr>
          <p:cNvSpPr/>
          <p:nvPr/>
        </p:nvSpPr>
        <p:spPr>
          <a:xfrm>
            <a:off x="74930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M6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7A012D3-77AE-BE5A-2B18-DA3662926C8D}"/>
              </a:ext>
            </a:extLst>
          </p:cNvPr>
          <p:cNvSpPr/>
          <p:nvPr/>
        </p:nvSpPr>
        <p:spPr>
          <a:xfrm>
            <a:off x="84074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M7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AEBDDD5-2D5F-2441-2B3D-D7B95304207E}"/>
              </a:ext>
            </a:extLst>
          </p:cNvPr>
          <p:cNvSpPr/>
          <p:nvPr/>
        </p:nvSpPr>
        <p:spPr>
          <a:xfrm>
            <a:off x="93218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M8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121C702-B461-A328-2BA1-F7C75215C74F}"/>
              </a:ext>
            </a:extLst>
          </p:cNvPr>
          <p:cNvSpPr/>
          <p:nvPr/>
        </p:nvSpPr>
        <p:spPr>
          <a:xfrm>
            <a:off x="889000" y="2832100"/>
            <a:ext cx="1905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200" b="1">
                <a:solidFill>
                  <a:srgbClr val="00285F"/>
                </a:solidFill>
                <a:latin typeface="Microsoft YaHei" panose="020B0503020204020204" pitchFamily="34" charset="-122"/>
              </a:rPr>
              <a:t>开题定稿与平台补充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4113FD4-9599-00E7-536C-597A5833C15D}"/>
              </a:ext>
            </a:extLst>
          </p:cNvPr>
          <p:cNvSpPr/>
          <p:nvPr/>
        </p:nvSpPr>
        <p:spPr>
          <a:xfrm>
            <a:off x="29210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982AA4C-8514-CA98-8C6C-D629EF1C1703}"/>
              </a:ext>
            </a:extLst>
          </p:cNvPr>
          <p:cNvSpPr/>
          <p:nvPr/>
        </p:nvSpPr>
        <p:spPr>
          <a:xfrm>
            <a:off x="38354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AA18741-5B0B-F687-74C4-78F678B52FA6}"/>
              </a:ext>
            </a:extLst>
          </p:cNvPr>
          <p:cNvSpPr/>
          <p:nvPr/>
        </p:nvSpPr>
        <p:spPr>
          <a:xfrm>
            <a:off x="47498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C2CE3F0-F42D-B042-FA6C-1FD93A759DB0}"/>
              </a:ext>
            </a:extLst>
          </p:cNvPr>
          <p:cNvSpPr/>
          <p:nvPr/>
        </p:nvSpPr>
        <p:spPr>
          <a:xfrm>
            <a:off x="56642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A2C71F2-1737-DBE7-326F-D56637B1B9EE}"/>
              </a:ext>
            </a:extLst>
          </p:cNvPr>
          <p:cNvSpPr/>
          <p:nvPr/>
        </p:nvSpPr>
        <p:spPr>
          <a:xfrm>
            <a:off x="65786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FA81D43-B2C9-1E6F-4704-08C474E2E9D0}"/>
              </a:ext>
            </a:extLst>
          </p:cNvPr>
          <p:cNvSpPr/>
          <p:nvPr/>
        </p:nvSpPr>
        <p:spPr>
          <a:xfrm>
            <a:off x="74930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DE9D293-2607-8DE6-D267-D94371841566}"/>
              </a:ext>
            </a:extLst>
          </p:cNvPr>
          <p:cNvSpPr/>
          <p:nvPr/>
        </p:nvSpPr>
        <p:spPr>
          <a:xfrm>
            <a:off x="84074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5E373EE-BF60-2B48-387B-19CCDBFB7DFE}"/>
              </a:ext>
            </a:extLst>
          </p:cNvPr>
          <p:cNvSpPr/>
          <p:nvPr/>
        </p:nvSpPr>
        <p:spPr>
          <a:xfrm>
            <a:off x="93218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71D92F4C-15A0-564C-F95A-046555FEE745}"/>
              </a:ext>
            </a:extLst>
          </p:cNvPr>
          <p:cNvSpPr/>
          <p:nvPr/>
        </p:nvSpPr>
        <p:spPr>
          <a:xfrm>
            <a:off x="3035300" y="2921000"/>
            <a:ext cx="1600200" cy="177800"/>
          </a:xfrm>
          <a:prstGeom prst="roundRect">
            <a:avLst/>
          </a:prstGeom>
          <a:solidFill>
            <a:srgbClr val="00468E"/>
          </a:solidFill>
          <a:ln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374A724-F4EC-BCBC-85EF-DC7DE846ADCD}"/>
              </a:ext>
            </a:extLst>
          </p:cNvPr>
          <p:cNvSpPr/>
          <p:nvPr/>
        </p:nvSpPr>
        <p:spPr>
          <a:xfrm>
            <a:off x="889000" y="3365500"/>
            <a:ext cx="1905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200" b="1">
                <a:solidFill>
                  <a:srgbClr val="00285F"/>
                </a:solidFill>
                <a:latin typeface="Microsoft YaHei" panose="020B0503020204020204" pitchFamily="34" charset="-122"/>
              </a:rPr>
              <a:t>校验标定与模块消融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4770D48-1535-2232-D39B-197E66FB4B70}"/>
              </a:ext>
            </a:extLst>
          </p:cNvPr>
          <p:cNvSpPr/>
          <p:nvPr/>
        </p:nvSpPr>
        <p:spPr>
          <a:xfrm>
            <a:off x="29210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982072F-E914-CF0F-BF8C-C1640B3D2C79}"/>
              </a:ext>
            </a:extLst>
          </p:cNvPr>
          <p:cNvSpPr/>
          <p:nvPr/>
        </p:nvSpPr>
        <p:spPr>
          <a:xfrm>
            <a:off x="38354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86642CF-3496-B6BA-C925-B7CB4329C491}"/>
              </a:ext>
            </a:extLst>
          </p:cNvPr>
          <p:cNvSpPr/>
          <p:nvPr/>
        </p:nvSpPr>
        <p:spPr>
          <a:xfrm>
            <a:off x="47498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D722605-85F8-42C2-56BC-603E040432E4}"/>
              </a:ext>
            </a:extLst>
          </p:cNvPr>
          <p:cNvSpPr/>
          <p:nvPr/>
        </p:nvSpPr>
        <p:spPr>
          <a:xfrm>
            <a:off x="56642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D2334D0-6407-2FA0-BC0A-8755169EC11D}"/>
              </a:ext>
            </a:extLst>
          </p:cNvPr>
          <p:cNvSpPr/>
          <p:nvPr/>
        </p:nvSpPr>
        <p:spPr>
          <a:xfrm>
            <a:off x="65786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CB3AC27-1A57-1E94-9211-9F5B3CDB8C03}"/>
              </a:ext>
            </a:extLst>
          </p:cNvPr>
          <p:cNvSpPr/>
          <p:nvPr/>
        </p:nvSpPr>
        <p:spPr>
          <a:xfrm>
            <a:off x="74930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1565D35-FFD0-7C5C-B08A-AEF00468E727}"/>
              </a:ext>
            </a:extLst>
          </p:cNvPr>
          <p:cNvSpPr/>
          <p:nvPr/>
        </p:nvSpPr>
        <p:spPr>
          <a:xfrm>
            <a:off x="84074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013CCB5-95AB-29AF-86C4-94AD9681AF64}"/>
              </a:ext>
            </a:extLst>
          </p:cNvPr>
          <p:cNvSpPr/>
          <p:nvPr/>
        </p:nvSpPr>
        <p:spPr>
          <a:xfrm>
            <a:off x="93218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00D2D804-1F7C-D3E8-E88F-4D115E9DB368}"/>
              </a:ext>
            </a:extLst>
          </p:cNvPr>
          <p:cNvSpPr/>
          <p:nvPr/>
        </p:nvSpPr>
        <p:spPr>
          <a:xfrm>
            <a:off x="3949700" y="3454400"/>
            <a:ext cx="3429000" cy="177800"/>
          </a:xfrm>
          <a:prstGeom prst="roundRect">
            <a:avLst/>
          </a:prstGeom>
          <a:solidFill>
            <a:srgbClr val="EB8A2E"/>
          </a:solidFill>
          <a:ln>
            <a:solidFill>
              <a:srgbClr val="EB8A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795625DD-BCFA-17C0-82AF-F6EF8E476BC9}"/>
              </a:ext>
            </a:extLst>
          </p:cNvPr>
          <p:cNvSpPr/>
          <p:nvPr/>
        </p:nvSpPr>
        <p:spPr>
          <a:xfrm>
            <a:off x="889000" y="3898900"/>
            <a:ext cx="1905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200" b="1">
                <a:solidFill>
                  <a:srgbClr val="00285F"/>
                </a:solidFill>
                <a:latin typeface="Microsoft YaHei" panose="020B0503020204020204" pitchFamily="34" charset="-122"/>
              </a:rPr>
              <a:t>长序列与多模型评测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730018C9-9707-3A96-2F68-106B49E2A956}"/>
              </a:ext>
            </a:extLst>
          </p:cNvPr>
          <p:cNvSpPr/>
          <p:nvPr/>
        </p:nvSpPr>
        <p:spPr>
          <a:xfrm>
            <a:off x="29210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386228D2-CE9D-5D0C-A470-992C679633F6}"/>
              </a:ext>
            </a:extLst>
          </p:cNvPr>
          <p:cNvSpPr/>
          <p:nvPr/>
        </p:nvSpPr>
        <p:spPr>
          <a:xfrm>
            <a:off x="38354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56FAF83F-A44E-F0BE-F61C-36DF6EAFF414}"/>
              </a:ext>
            </a:extLst>
          </p:cNvPr>
          <p:cNvSpPr/>
          <p:nvPr/>
        </p:nvSpPr>
        <p:spPr>
          <a:xfrm>
            <a:off x="47498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A803BE0A-E622-D812-FB0F-A1FF3BA3E9D9}"/>
              </a:ext>
            </a:extLst>
          </p:cNvPr>
          <p:cNvSpPr/>
          <p:nvPr/>
        </p:nvSpPr>
        <p:spPr>
          <a:xfrm>
            <a:off x="56642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9BF58D30-C6D6-7FDB-C4BC-B7294788A390}"/>
              </a:ext>
            </a:extLst>
          </p:cNvPr>
          <p:cNvSpPr/>
          <p:nvPr/>
        </p:nvSpPr>
        <p:spPr>
          <a:xfrm>
            <a:off x="65786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4963256A-B425-B8C8-6A67-C76ED37B49AE}"/>
              </a:ext>
            </a:extLst>
          </p:cNvPr>
          <p:cNvSpPr/>
          <p:nvPr/>
        </p:nvSpPr>
        <p:spPr>
          <a:xfrm>
            <a:off x="74930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21813FDC-AA53-A73D-AEDB-C61EC8FE3A5B}"/>
              </a:ext>
            </a:extLst>
          </p:cNvPr>
          <p:cNvSpPr/>
          <p:nvPr/>
        </p:nvSpPr>
        <p:spPr>
          <a:xfrm>
            <a:off x="84074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D9B8A619-D841-6297-A21B-3969812855FD}"/>
              </a:ext>
            </a:extLst>
          </p:cNvPr>
          <p:cNvSpPr/>
          <p:nvPr/>
        </p:nvSpPr>
        <p:spPr>
          <a:xfrm>
            <a:off x="93218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D39C442B-1A7C-99BB-CF2E-298242D431A1}"/>
              </a:ext>
            </a:extLst>
          </p:cNvPr>
          <p:cNvSpPr/>
          <p:nvPr/>
        </p:nvSpPr>
        <p:spPr>
          <a:xfrm>
            <a:off x="5778500" y="3987800"/>
            <a:ext cx="2514600" cy="177800"/>
          </a:xfrm>
          <a:prstGeom prst="roundRect">
            <a:avLst/>
          </a:prstGeom>
          <a:solidFill>
            <a:srgbClr val="26915F"/>
          </a:solidFill>
          <a:ln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BE0A118C-CE87-2999-30FF-CCA2D275A1F0}"/>
              </a:ext>
            </a:extLst>
          </p:cNvPr>
          <p:cNvSpPr/>
          <p:nvPr/>
        </p:nvSpPr>
        <p:spPr>
          <a:xfrm>
            <a:off x="889000" y="4432300"/>
            <a:ext cx="1905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200" b="1">
                <a:solidFill>
                  <a:srgbClr val="00285F"/>
                </a:solidFill>
                <a:latin typeface="Microsoft YaHei" panose="020B0503020204020204" pitchFamily="34" charset="-122"/>
              </a:rPr>
              <a:t>平台对比视图与报告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B41014E4-3EC3-BFD0-4A93-DA74C05BAF03}"/>
              </a:ext>
            </a:extLst>
          </p:cNvPr>
          <p:cNvSpPr/>
          <p:nvPr/>
        </p:nvSpPr>
        <p:spPr>
          <a:xfrm>
            <a:off x="29210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D02515F0-F89B-3ED9-A141-16E4CDE2990B}"/>
              </a:ext>
            </a:extLst>
          </p:cNvPr>
          <p:cNvSpPr/>
          <p:nvPr/>
        </p:nvSpPr>
        <p:spPr>
          <a:xfrm>
            <a:off x="38354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B42AAA9E-243C-5C60-6EDA-BD5984FCCAA0}"/>
              </a:ext>
            </a:extLst>
          </p:cNvPr>
          <p:cNvSpPr/>
          <p:nvPr/>
        </p:nvSpPr>
        <p:spPr>
          <a:xfrm>
            <a:off x="47498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38FBCDE3-80F9-44F0-6BD0-08E20927C6A6}"/>
              </a:ext>
            </a:extLst>
          </p:cNvPr>
          <p:cNvSpPr/>
          <p:nvPr/>
        </p:nvSpPr>
        <p:spPr>
          <a:xfrm>
            <a:off x="56642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1E23DE39-587D-3000-BB09-CEDEF9360553}"/>
              </a:ext>
            </a:extLst>
          </p:cNvPr>
          <p:cNvSpPr/>
          <p:nvPr/>
        </p:nvSpPr>
        <p:spPr>
          <a:xfrm>
            <a:off x="65786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5F4B067E-CCBB-EA27-1030-85CD1650BADE}"/>
              </a:ext>
            </a:extLst>
          </p:cNvPr>
          <p:cNvSpPr/>
          <p:nvPr/>
        </p:nvSpPr>
        <p:spPr>
          <a:xfrm>
            <a:off x="74930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642893C7-FDE2-CFD8-FF57-D3F67B8CC049}"/>
              </a:ext>
            </a:extLst>
          </p:cNvPr>
          <p:cNvSpPr/>
          <p:nvPr/>
        </p:nvSpPr>
        <p:spPr>
          <a:xfrm>
            <a:off x="84074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1396FC91-43A2-6FC9-D2DC-D8189B14CB9A}"/>
              </a:ext>
            </a:extLst>
          </p:cNvPr>
          <p:cNvSpPr/>
          <p:nvPr/>
        </p:nvSpPr>
        <p:spPr>
          <a:xfrm>
            <a:off x="93218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B1CE2738-D2B9-D4BD-51A5-F898CF216A0F}"/>
              </a:ext>
            </a:extLst>
          </p:cNvPr>
          <p:cNvSpPr/>
          <p:nvPr/>
        </p:nvSpPr>
        <p:spPr>
          <a:xfrm>
            <a:off x="3949700" y="4521200"/>
            <a:ext cx="4343400" cy="177800"/>
          </a:xfrm>
          <a:prstGeom prst="roundRect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F9BD7CB5-B17E-F9CD-388F-4B18301D962E}"/>
              </a:ext>
            </a:extLst>
          </p:cNvPr>
          <p:cNvSpPr/>
          <p:nvPr/>
        </p:nvSpPr>
        <p:spPr>
          <a:xfrm>
            <a:off x="889000" y="4965700"/>
            <a:ext cx="1905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200" b="1">
                <a:solidFill>
                  <a:srgbClr val="00285F"/>
                </a:solidFill>
                <a:latin typeface="Microsoft YaHei" panose="020B0503020204020204" pitchFamily="34" charset="-122"/>
              </a:rPr>
              <a:t>论文整理与系统固化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8F8A9230-1FA7-327C-B2AE-178CD4FA26BE}"/>
              </a:ext>
            </a:extLst>
          </p:cNvPr>
          <p:cNvSpPr/>
          <p:nvPr/>
        </p:nvSpPr>
        <p:spPr>
          <a:xfrm>
            <a:off x="29210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E344DA2B-0DFA-E6DD-AB49-D8908FFCBDAE}"/>
              </a:ext>
            </a:extLst>
          </p:cNvPr>
          <p:cNvSpPr/>
          <p:nvPr/>
        </p:nvSpPr>
        <p:spPr>
          <a:xfrm>
            <a:off x="38354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D8476C3A-EF7C-3E21-6FEA-78ACB5D9AFC8}"/>
              </a:ext>
            </a:extLst>
          </p:cNvPr>
          <p:cNvSpPr/>
          <p:nvPr/>
        </p:nvSpPr>
        <p:spPr>
          <a:xfrm>
            <a:off x="47498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4353EBDE-D799-EB35-C50C-3903A58B5303}"/>
              </a:ext>
            </a:extLst>
          </p:cNvPr>
          <p:cNvSpPr/>
          <p:nvPr/>
        </p:nvSpPr>
        <p:spPr>
          <a:xfrm>
            <a:off x="56642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D1090E9D-0F67-A8AD-2406-F716F9793AEE}"/>
              </a:ext>
            </a:extLst>
          </p:cNvPr>
          <p:cNvSpPr/>
          <p:nvPr/>
        </p:nvSpPr>
        <p:spPr>
          <a:xfrm>
            <a:off x="65786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1F7A09DF-75C1-F074-FBAD-2F6BD37484C1}"/>
              </a:ext>
            </a:extLst>
          </p:cNvPr>
          <p:cNvSpPr/>
          <p:nvPr/>
        </p:nvSpPr>
        <p:spPr>
          <a:xfrm>
            <a:off x="74930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C64329D4-8035-EDB3-AE60-1D82C688608A}"/>
              </a:ext>
            </a:extLst>
          </p:cNvPr>
          <p:cNvSpPr/>
          <p:nvPr/>
        </p:nvSpPr>
        <p:spPr>
          <a:xfrm>
            <a:off x="84074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C14354C4-23E9-F5BF-D7E4-68CBC5A1DD46}"/>
              </a:ext>
            </a:extLst>
          </p:cNvPr>
          <p:cNvSpPr/>
          <p:nvPr/>
        </p:nvSpPr>
        <p:spPr>
          <a:xfrm>
            <a:off x="93218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: 圆角 90">
            <a:extLst>
              <a:ext uri="{FF2B5EF4-FFF2-40B4-BE49-F238E27FC236}">
                <a16:creationId xmlns:a16="http://schemas.microsoft.com/office/drawing/2014/main" id="{6E1FA180-4ACC-7935-BF83-96DC8EB9395B}"/>
              </a:ext>
            </a:extLst>
          </p:cNvPr>
          <p:cNvSpPr/>
          <p:nvPr/>
        </p:nvSpPr>
        <p:spPr>
          <a:xfrm>
            <a:off x="8521700" y="5054600"/>
            <a:ext cx="1600200" cy="177800"/>
          </a:xfrm>
          <a:prstGeom prst="roundRect">
            <a:avLst/>
          </a:prstGeom>
          <a:solidFill>
            <a:srgbClr val="205291"/>
          </a:solidFill>
          <a:ln>
            <a:solidFill>
              <a:srgbClr val="2052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1C85157A-09AE-2AFD-D14E-9ABB009B8C5C}"/>
              </a:ext>
            </a:extLst>
          </p:cNvPr>
          <p:cNvSpPr/>
          <p:nvPr/>
        </p:nvSpPr>
        <p:spPr>
          <a:xfrm>
            <a:off x="1143000" y="5588000"/>
            <a:ext cx="9906000" cy="508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近期完成开题与平台补齐，中期集中做模块消融，后期整理论文并补充实验。</a:t>
            </a:r>
          </a:p>
        </p:txBody>
      </p:sp>
    </p:spTree>
    <p:extLst>
      <p:ext uri="{BB962C8B-B14F-4D97-AF65-F5344CB8AC3E}">
        <p14:creationId xmlns:p14="http://schemas.microsoft.com/office/powerpoint/2010/main" val="17623409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04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风险与应对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4609D6D-BB21-4B99-B338-E61C76AC82C9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F627D15-2B0B-0C32-386F-4830E9A0ADF3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四个主要风险，每个都有对应的退路和分阶段应对策略。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B8414AB-97AA-1825-21B4-6BF7AD172C2B}"/>
              </a:ext>
            </a:extLst>
          </p:cNvPr>
          <p:cNvSpPr/>
          <p:nvPr/>
        </p:nvSpPr>
        <p:spPr>
          <a:xfrm>
            <a:off x="889000" y="1905000"/>
            <a:ext cx="2413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训练质量未知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9A3F44B-4BBC-5214-C5CD-44FBB5846081}"/>
              </a:ext>
            </a:extLst>
          </p:cNvPr>
          <p:cNvSpPr/>
          <p:nvPr/>
        </p:nvSpPr>
        <p:spPr>
          <a:xfrm>
            <a:off x="3619500" y="1905000"/>
            <a:ext cx="7493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消融实验逐步推进，每一步保留独立结论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705C9A9-9841-DB76-CF57-04F19C8746AB}"/>
              </a:ext>
            </a:extLst>
          </p:cNvPr>
          <p:cNvSpPr/>
          <p:nvPr/>
        </p:nvSpPr>
        <p:spPr>
          <a:xfrm>
            <a:off x="889000" y="2768600"/>
            <a:ext cx="2413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GPU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算力限制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044D800-588C-B0DF-68CB-8A64552DCC30}"/>
              </a:ext>
            </a:extLst>
          </p:cNvPr>
          <p:cNvSpPr/>
          <p:nvPr/>
        </p:nvSpPr>
        <p:spPr>
          <a:xfrm>
            <a:off x="3619500" y="2768600"/>
            <a:ext cx="7493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优先小规模验证，按阶段逐步扩展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C4B2800-5957-3BEB-8B28-1F1BEB4DD444}"/>
              </a:ext>
            </a:extLst>
          </p:cNvPr>
          <p:cNvSpPr/>
          <p:nvPr/>
        </p:nvSpPr>
        <p:spPr>
          <a:xfrm>
            <a:off x="889000" y="3632200"/>
            <a:ext cx="2413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多模型收益不稳定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3A98C78-8D27-10CC-652D-95B1139F3633}"/>
              </a:ext>
            </a:extLst>
          </p:cNvPr>
          <p:cNvSpPr/>
          <p:nvPr/>
        </p:nvSpPr>
        <p:spPr>
          <a:xfrm>
            <a:off x="3619500" y="3632200"/>
            <a:ext cx="7493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保留单模型 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baseline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作为对照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75B6BBC-D03B-362A-6853-6CFB6D70A3CC}"/>
              </a:ext>
            </a:extLst>
          </p:cNvPr>
          <p:cNvSpPr/>
          <p:nvPr/>
        </p:nvSpPr>
        <p:spPr>
          <a:xfrm>
            <a:off x="889000" y="4495800"/>
            <a:ext cx="2413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阈值标定复杂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5A5627D-44F3-6D2C-8DB1-D028DB909129}"/>
              </a:ext>
            </a:extLst>
          </p:cNvPr>
          <p:cNvSpPr/>
          <p:nvPr/>
        </p:nvSpPr>
        <p:spPr>
          <a:xfrm>
            <a:off x="3619500" y="4495800"/>
            <a:ext cx="7493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先标定主要失败模式，再逐步扩展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50AD122-7150-F2AC-84E5-D9DA6293A3BC}"/>
              </a:ext>
            </a:extLst>
          </p:cNvPr>
          <p:cNvSpPr/>
          <p:nvPr/>
        </p:nvSpPr>
        <p:spPr>
          <a:xfrm>
            <a:off x="1460500" y="5461000"/>
            <a:ext cx="9271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后续按优先级推进，确保每个阶段都有可复核产出。</a:t>
            </a:r>
          </a:p>
        </p:txBody>
      </p:sp>
    </p:spTree>
    <p:extLst>
      <p:ext uri="{BB962C8B-B14F-4D97-AF65-F5344CB8AC3E}">
        <p14:creationId xmlns:p14="http://schemas.microsoft.com/office/powerpoint/2010/main" val="5632555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48A6D-C6EE-964D-6C1A-BE3EC5A39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封面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3" name="组合 12">
            <a:extLst>
              <a:ext uri="{FF2B5EF4-FFF2-40B4-BE49-F238E27FC236}">
                <a16:creationId xmlns:a16="http://schemas.microsoft.com/office/drawing/2014/main" id="{8B7BF0E7-40A8-7FA0-2CDB-5543790FC811}"/>
              </a:ext>
            </a:extLst>
          </p:cNvPr>
          <p:cNvGrpSpPr/>
          <p:nvPr/>
        </p:nvGrpSpPr>
        <p:grpSpPr>
          <a:xfrm>
            <a:off x="9859" y="1239674"/>
            <a:ext cx="12172282" cy="2928257"/>
            <a:chOff x="442611" y="2016251"/>
            <a:chExt cx="10694619" cy="2228850"/>
          </a:xfrm>
          <a:gradFill>
            <a:gsLst>
              <a:gs pos="0">
                <a:schemeClr val="bg1">
                  <a:alpha val="0"/>
                </a:schemeClr>
              </a:gs>
              <a:gs pos="50000">
                <a:schemeClr val="bg1">
                  <a:lumMod val="9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F970E494-61EE-587D-4574-8858E921DFBB}"/>
                </a:ext>
              </a:extLst>
            </p:cNvPr>
            <p:cNvGrpSpPr/>
            <p:nvPr/>
          </p:nvGrpSpPr>
          <p:grpSpPr>
            <a:xfrm>
              <a:off x="442611" y="2016251"/>
              <a:ext cx="10694619" cy="2228849"/>
              <a:chOff x="442611" y="2016251"/>
              <a:chExt cx="10694619" cy="2228849"/>
            </a:xfrm>
            <a:grpFill/>
          </p:grpSpPr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4B88A2BA-CB61-B07D-37EF-4D0FB144C24D}"/>
                  </a:ext>
                </a:extLst>
              </p:cNvPr>
              <p:cNvSpPr/>
              <p:nvPr/>
            </p:nvSpPr>
            <p:spPr>
              <a:xfrm>
                <a:off x="442611" y="2016251"/>
                <a:ext cx="10694619" cy="2228849"/>
              </a:xfrm>
              <a:prstGeom prst="rect">
                <a:avLst/>
              </a:prstGeom>
              <a:grpFill/>
              <a:ln w="9525">
                <a:noFill/>
              </a:ln>
              <a:effectLst>
                <a:outerShdw blurRad="190500" dist="38100" dir="5400000" algn="t" rotWithShape="0">
                  <a:schemeClr val="bg1">
                    <a:lumMod val="75000"/>
                    <a:alpha val="17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50000"/>
                  </a:lnSpc>
                  <a:defRPr/>
                </a:pPr>
                <a:endParaRPr lang="zh-CN" altLang="en-US" sz="1200" b="1" dirty="0">
                  <a:solidFill>
                    <a:srgbClr val="03654E"/>
                  </a:solidFill>
                </a:endParaRPr>
              </a:p>
            </p:txBody>
          </p: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158E00CD-2609-D798-C0FA-987A012BEC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49461" y="2016251"/>
                <a:ext cx="8093075" cy="0"/>
              </a:xfrm>
              <a:prstGeom prst="line">
                <a:avLst/>
              </a:prstGeom>
              <a:grpFill/>
              <a:ln w="12700">
                <a:gradFill flip="none" rotWithShape="1">
                  <a:gsLst>
                    <a:gs pos="0">
                      <a:schemeClr val="accent6">
                        <a:alpha val="0"/>
                      </a:schemeClr>
                    </a:gs>
                    <a:gs pos="50000">
                      <a:schemeClr val="accent6"/>
                    </a:gs>
                    <a:gs pos="100000">
                      <a:schemeClr val="accent6">
                        <a:alpha val="0"/>
                      </a:schemeClr>
                    </a:gs>
                  </a:gsLst>
                  <a:lin ang="0" scaled="1"/>
                  <a:tileRect/>
                </a:gradFill>
              </a:ln>
              <a:effectLst>
                <a:outerShdw blurRad="50800" dist="38100" dir="7200000" algn="t" rotWithShape="0">
                  <a:schemeClr val="bg1">
                    <a:lumMod val="65000"/>
                    <a:alpha val="42000"/>
                  </a:scheme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9A5C04A5-7A49-3B7C-BC7F-3E42593659C0}"/>
                </a:ext>
              </a:extLst>
            </p:cNvPr>
            <p:cNvCxnSpPr>
              <a:cxnSpLocks/>
            </p:cNvCxnSpPr>
            <p:nvPr/>
          </p:nvCxnSpPr>
          <p:spPr>
            <a:xfrm>
              <a:off x="2049461" y="4245101"/>
              <a:ext cx="8093075" cy="0"/>
            </a:xfrm>
            <a:prstGeom prst="line">
              <a:avLst/>
            </a:prstGeom>
            <a:grpFill/>
            <a:ln w="12700">
              <a:gradFill flip="none" rotWithShape="1">
                <a:gsLst>
                  <a:gs pos="0">
                    <a:schemeClr val="accent6">
                      <a:alpha val="0"/>
                    </a:schemeClr>
                  </a:gs>
                  <a:gs pos="50000">
                    <a:schemeClr val="accent6"/>
                  </a:gs>
                  <a:gs pos="100000">
                    <a:schemeClr val="accent6">
                      <a:alpha val="0"/>
                    </a:schemeClr>
                  </a:gs>
                </a:gsLst>
                <a:lin ang="0" scaled="1"/>
                <a:tileRect/>
              </a:gradFill>
            </a:ln>
            <a:effectLst>
              <a:outerShdw blurRad="50800" dist="38100" dir="7200000" algn="t" rotWithShape="0">
                <a:schemeClr val="bg1">
                  <a:lumMod val="85000"/>
                  <a:alpha val="42000"/>
                </a:scheme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A88CC83B-3930-EC30-7D36-3B736667F610}"/>
              </a:ext>
            </a:extLst>
          </p:cNvPr>
          <p:cNvSpPr txBox="1"/>
          <p:nvPr/>
        </p:nvSpPr>
        <p:spPr>
          <a:xfrm>
            <a:off x="0" y="1366919"/>
            <a:ext cx="12192000" cy="1346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500"/>
              </a:lnSpc>
              <a:defRPr/>
            </a:pPr>
            <a:endParaRPr lang="zh-CN" altLang="en-US" sz="8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AD3FB004-3B93-3E9F-C7A6-53529A5C2DC6}"/>
              </a:ext>
            </a:extLst>
          </p:cNvPr>
          <p:cNvSpPr/>
          <p:nvPr/>
        </p:nvSpPr>
        <p:spPr>
          <a:xfrm>
            <a:off x="2614943" y="-5733"/>
            <a:ext cx="6962115" cy="493598"/>
          </a:xfrm>
          <a:custGeom>
            <a:avLst/>
            <a:gdLst>
              <a:gd name="connsiteX0" fmla="*/ 0 w 8717654"/>
              <a:gd name="connsiteY0" fmla="*/ 0 h 562725"/>
              <a:gd name="connsiteX1" fmla="*/ 1155700 w 8717654"/>
              <a:gd name="connsiteY1" fmla="*/ 0 h 562725"/>
              <a:gd name="connsiteX2" fmla="*/ 7561954 w 8717654"/>
              <a:gd name="connsiteY2" fmla="*/ 0 h 562725"/>
              <a:gd name="connsiteX3" fmla="*/ 8717654 w 8717654"/>
              <a:gd name="connsiteY3" fmla="*/ 0 h 562725"/>
              <a:gd name="connsiteX4" fmla="*/ 8717381 w 8717654"/>
              <a:gd name="connsiteY4" fmla="*/ 1022 h 562725"/>
              <a:gd name="connsiteX5" fmla="*/ 8441286 w 8717654"/>
              <a:gd name="connsiteY5" fmla="*/ 521969 h 562725"/>
              <a:gd name="connsiteX6" fmla="*/ 8383695 w 8717654"/>
              <a:gd name="connsiteY6" fmla="*/ 562725 h 562725"/>
              <a:gd name="connsiteX7" fmla="*/ 7227995 w 8717654"/>
              <a:gd name="connsiteY7" fmla="*/ 562725 h 562725"/>
              <a:gd name="connsiteX8" fmla="*/ 1489659 w 8717654"/>
              <a:gd name="connsiteY8" fmla="*/ 562725 h 562725"/>
              <a:gd name="connsiteX9" fmla="*/ 333959 w 8717654"/>
              <a:gd name="connsiteY9" fmla="*/ 562725 h 562725"/>
              <a:gd name="connsiteX10" fmla="*/ 276368 w 8717654"/>
              <a:gd name="connsiteY10" fmla="*/ 521969 h 562725"/>
              <a:gd name="connsiteX11" fmla="*/ 273 w 8717654"/>
              <a:gd name="connsiteY11" fmla="*/ 1022 h 56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17654" h="562725">
                <a:moveTo>
                  <a:pt x="0" y="0"/>
                </a:moveTo>
                <a:lnTo>
                  <a:pt x="1155700" y="0"/>
                </a:lnTo>
                <a:lnTo>
                  <a:pt x="7561954" y="0"/>
                </a:lnTo>
                <a:lnTo>
                  <a:pt x="8717654" y="0"/>
                </a:lnTo>
                <a:lnTo>
                  <a:pt x="8717381" y="1022"/>
                </a:lnTo>
                <a:lnTo>
                  <a:pt x="8441286" y="521969"/>
                </a:lnTo>
                <a:cubicBezTo>
                  <a:pt x="8427678" y="547645"/>
                  <a:pt x="8406370" y="562725"/>
                  <a:pt x="8383695" y="562725"/>
                </a:cubicBezTo>
                <a:lnTo>
                  <a:pt x="7227995" y="562725"/>
                </a:lnTo>
                <a:lnTo>
                  <a:pt x="1489659" y="562725"/>
                </a:lnTo>
                <a:lnTo>
                  <a:pt x="333959" y="562725"/>
                </a:lnTo>
                <a:cubicBezTo>
                  <a:pt x="311285" y="562725"/>
                  <a:pt x="289976" y="547645"/>
                  <a:pt x="276368" y="521969"/>
                </a:cubicBezTo>
                <a:lnTo>
                  <a:pt x="273" y="1022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C56A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903C5D8-B02C-615F-5E7C-1D735477DD28}"/>
              </a:ext>
            </a:extLst>
          </p:cNvPr>
          <p:cNvSpPr txBox="1"/>
          <p:nvPr/>
        </p:nvSpPr>
        <p:spPr>
          <a:xfrm>
            <a:off x="6003634" y="10234"/>
            <a:ext cx="18473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endParaRPr lang="zh-CN" altLang="en-US" sz="24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82FF6B3-E791-92AE-46CC-5FB429465CB0}"/>
              </a:ext>
            </a:extLst>
          </p:cNvPr>
          <p:cNvSpPr/>
          <p:nvPr/>
        </p:nvSpPr>
        <p:spPr>
          <a:xfrm>
            <a:off x="0" y="6632574"/>
            <a:ext cx="12192000" cy="234477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BB1EDB7-90B4-12FF-7168-DD60F0ED51AC}"/>
              </a:ext>
            </a:extLst>
          </p:cNvPr>
          <p:cNvSpPr/>
          <p:nvPr/>
        </p:nvSpPr>
        <p:spPr>
          <a:xfrm>
            <a:off x="1143000" y="1638106"/>
            <a:ext cx="9906000" cy="134639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3400" b="1" dirty="0">
                <a:solidFill>
                  <a:srgbClr val="00468E"/>
                </a:solidFill>
                <a:latin typeface="Microsoft YaHei" panose="020B0503020204020204" pitchFamily="34" charset="-122"/>
              </a:rPr>
              <a:t>
敬请批评指正！</a:t>
            </a:r>
          </a:p>
          <a:p>
            <a:pPr algn="ctr"/>
            <a:endParaRPr lang="zh-CN" altLang="en-US" sz="3400" b="1" dirty="0">
              <a:solidFill>
                <a:srgbClr val="00468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B564CBD-0E78-458F-E156-E452B5FAF8DB}"/>
              </a:ext>
            </a:extLst>
          </p:cNvPr>
          <p:cNvSpPr/>
          <p:nvPr/>
        </p:nvSpPr>
        <p:spPr>
          <a:xfrm>
            <a:off x="1905000" y="3492500"/>
            <a:ext cx="83820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 dirty="0">
                <a:solidFill>
                  <a:srgbClr val="081830"/>
                </a:solidFill>
                <a:latin typeface="Microsoft YaHei" panose="020B0503020204020204" pitchFamily="34" charset="-122"/>
              </a:rPr>
              <a:t>本课题从 </a:t>
            </a:r>
            <a:r>
              <a:rPr lang="en-US" altLang="zh-CN" b="1" dirty="0">
                <a:solidFill>
                  <a:srgbClr val="081830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b="1" dirty="0">
                <a:solidFill>
                  <a:srgbClr val="081830"/>
                </a:solidFill>
                <a:latin typeface="Microsoft YaHei" panose="020B0503020204020204" pitchFamily="34" charset="-122"/>
              </a:rPr>
              <a:t>模型的优势出发，针对长序列漂移、缺乏校验和单模型局限三个问题，设计融合空间记忆、几何校验和多模型编排的新型架构。
同时开发聚合管理平台，支撑多模型对比实验和后续架构评测。</a:t>
            </a:r>
          </a:p>
        </p:txBody>
      </p:sp>
    </p:spTree>
    <p:extLst>
      <p:ext uri="{BB962C8B-B14F-4D97-AF65-F5344CB8AC3E}">
        <p14:creationId xmlns:p14="http://schemas.microsoft.com/office/powerpoint/2010/main" val="1929712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1793</Words>
  <Application>Microsoft Office PowerPoint</Application>
  <PresentationFormat>宽屏</PresentationFormat>
  <Paragraphs>258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0" baseType="lpstr">
      <vt:lpstr>等线</vt:lpstr>
      <vt:lpstr>等线 Light</vt:lpstr>
      <vt:lpstr>微软雅黑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Xe L</dc:creator>
  <cp:lastModifiedBy>Xe L</cp:lastModifiedBy>
  <cp:revision>7</cp:revision>
  <dcterms:created xsi:type="dcterms:W3CDTF">2026-05-18T03:21:27Z</dcterms:created>
  <dcterms:modified xsi:type="dcterms:W3CDTF">2026-05-18T09:44:28Z</dcterms:modified>
</cp:coreProperties>
</file>