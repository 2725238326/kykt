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3" r:id="rId2"/>
    <p:sldId id="284" r:id="rId3"/>
    <p:sldId id="327" r:id="rId4"/>
    <p:sldId id="281" r:id="rId5"/>
    <p:sldId id="328" r:id="rId6"/>
    <p:sldId id="307" r:id="rId7"/>
    <p:sldId id="269" r:id="rId8"/>
    <p:sldId id="329" r:id="rId9"/>
    <p:sldId id="298" r:id="rId10"/>
    <p:sldId id="330" r:id="rId11"/>
    <p:sldId id="331" r:id="rId12"/>
    <p:sldId id="332" r:id="rId13"/>
    <p:sldId id="333" r:id="rId14"/>
    <p:sldId id="334" r:id="rId15"/>
    <p:sldId id="335" r:id="rId16"/>
    <p:sldId id="336" r:id="rId17"/>
    <p:sldId id="337" r:id="rId18"/>
    <p:sldId id="338" r:id="rId19"/>
    <p:sldId id="339" r:id="rId20"/>
    <p:sldId id="340" r:id="rId21"/>
    <p:sldId id="341" r:id="rId22"/>
    <p:sldId id="323" r:id="rId23"/>
    <p:sldId id="342" r:id="rId24"/>
    <p:sldId id="343" r:id="rId25"/>
    <p:sldId id="344" r:id="rId26"/>
    <p:sldId id="294" r:id="rId2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96" y="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C33DDC-805D-CAC1-93B2-596619FA78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47B0D81-8C83-7589-8532-08D427C8E2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701CDC-5373-87C5-3C98-E8FCCB3DE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E482C-5F45-4D75-A8F5-379F3E44F79F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58EC11-CD3A-7726-B560-600760893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3DE0D38-56D7-645C-1B8A-D85919739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1F0A7-9A33-48A6-8C03-659BA2A49C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7204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5D0744-E801-7606-EF9F-7FA3F1B7B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BC89BDD-A5BE-6C80-A12A-D6712A6F4C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A54516-CEFD-91DA-BB36-586517F86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E482C-5F45-4D75-A8F5-379F3E44F79F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285C7E-21E6-B23D-70B6-F369861B2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E7E7BE3-39C6-4BB2-43D8-A2CA566B9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1F0A7-9A33-48A6-8C03-659BA2A49C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3313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7BBAAF-FF84-517E-578B-A00F79DC3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60ED1D1-8218-8B63-2166-DDEF7D160A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EEE34B0-F16F-A397-C07D-B5B3EB642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E482C-5F45-4D75-A8F5-379F3E44F79F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325983-8294-2EF1-7B67-CF0C70778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889B39A-0987-DEAD-9064-7529F9387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1F0A7-9A33-48A6-8C03-659BA2A49C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80624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593272-8635-A9ED-D872-8D87A4C1A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2EB32D1-383F-0A31-AAAD-38F2236948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65D7AF2-ECB3-815E-1B16-7AF597FBB5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E4A39CA-0AE2-700F-55DB-54C8B0863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E482C-5F45-4D75-A8F5-379F3E44F79F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2CAE01F-CF0A-CFE6-D36C-3577E5BCE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80E3E21-728F-D81A-3E71-74E6EA9D8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1F0A7-9A33-48A6-8C03-659BA2A49C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0574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029E43-46F7-EDAF-855D-4B9911A05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0DD24D7-C23A-4F5F-06C0-9AFD643FAD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3438008-8200-40E1-6539-F337C3EEF6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80918DA-8D4F-68B5-1838-8817410FC4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3033962-8687-BE74-5FFE-3CF1EF9ADC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EC79836-8E59-0CD9-7F72-60048AB64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E482C-5F45-4D75-A8F5-379F3E44F79F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3C1DF33-FF3A-FEC3-1C49-0FAF4E242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B6969E1-DD29-09DA-D400-94BF4CCA3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1F0A7-9A33-48A6-8C03-659BA2A49C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05416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AAEA5E-FDB2-9ECD-D9FE-801BF53F8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EA7E7E6-95E5-E182-C4B6-851EA27BD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E482C-5F45-4D75-A8F5-379F3E44F79F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8672756-9BD5-670A-41F8-477273723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57C5EFB-642F-3EAA-9F3B-DABB2F685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1F0A7-9A33-48A6-8C03-659BA2A49C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1326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F17EA6E-B120-3839-2219-EE4BA1DAF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E482C-5F45-4D75-A8F5-379F3E44F79F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99BFD87-3925-42F5-F87E-145A1FB55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0FAD6DD-F6F9-2FEC-C5FF-F6642DAD5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1F0A7-9A33-48A6-8C03-659BA2A49C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4096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8C6A5A-BE00-82C9-9F0F-6A902BFE0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8A39FE6-3728-961C-977B-EB0B813E63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9F94191-2181-D9F4-DDDD-46753AE3D8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37A8351-6AAB-4A13-A8D9-77F74B11D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E482C-5F45-4D75-A8F5-379F3E44F79F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4D060A6-6D2F-7D74-A4CD-460AD2BEB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5D687EF-8FB1-3D44-6273-7FF865FF0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1F0A7-9A33-48A6-8C03-659BA2A49C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8714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B546B6-F7A5-60BC-B44C-99890D0CE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249CFC5-6BC1-8D06-C595-64B5A8E9D6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DF70C0E-98EF-3F18-E139-6882C813F3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8B8E1DA-4A28-FEDB-B03B-DAD7F13C9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E482C-5F45-4D75-A8F5-379F3E44F79F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BF80CEE-F544-FCCE-1B08-CDEA17501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D4796AE-578B-2DDF-F386-ED1403BEF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1F0A7-9A33-48A6-8C03-659BA2A49C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13920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2A29DE-A696-21D2-9D10-D09F51B2D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3CB6A62-555A-C340-DFA4-A0D1AE58A5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EB44A3-EFB6-3435-D54E-92D707304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E482C-5F45-4D75-A8F5-379F3E44F79F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3983C54-83A7-DA20-F03D-F5EAAF1AA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CD61A1-C778-221B-DCE9-3A16300FD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1F0A7-9A33-48A6-8C03-659BA2A49C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65900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28AE064-92A9-785B-C57F-880CE22C53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331150A-1799-65B4-06BF-70CCF9DEEC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0581A3-12A1-5A9E-E7DF-B43E873C9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E482C-5F45-4D75-A8F5-379F3E44F79F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4E62ECB-1038-2932-BA06-F2DD5B194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35194A8-9BFA-A0F0-8344-913398EC3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1F0A7-9A33-48A6-8C03-659BA2A49C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83248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6262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BEA81F4-54FE-8A99-5C17-42E566DDB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4996D68-758D-F73F-212D-72E4FB8B4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6659D21-F03E-C621-E126-99E7D835C7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EE482C-5F45-4D75-A8F5-379F3E44F79F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38E5A34-9BE7-A184-DE6F-229F065CA8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BB985A-AF6E-D2AD-0945-64395BF630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21F0A7-9A33-48A6-8C03-659BA2A49C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8100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3C712-3CEF-6C6F-815D-BF40CE6AB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蓝色的火车在站台旁&#10;&#10;描述已自动生成">
            <a:extLst>
              <a:ext uri="{FF2B5EF4-FFF2-40B4-BE49-F238E27FC236}">
                <a16:creationId xmlns:a16="http://schemas.microsoft.com/office/drawing/2014/main" id="{DC642186-E975-96D8-8408-C4456DEE3F5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1" b="33391"/>
          <a:stretch/>
        </p:blipFill>
        <p:spPr>
          <a:xfrm>
            <a:off x="567" y="1099270"/>
            <a:ext cx="12190866" cy="4060213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1C9DA934-52C4-4CB2-4D02-075830AA3AF2}"/>
              </a:ext>
            </a:extLst>
          </p:cNvPr>
          <p:cNvSpPr/>
          <p:nvPr/>
        </p:nvSpPr>
        <p:spPr>
          <a:xfrm>
            <a:off x="9859" y="-1"/>
            <a:ext cx="12191999" cy="5159483"/>
          </a:xfrm>
          <a:prstGeom prst="rect">
            <a:avLst/>
          </a:prstGeom>
          <a:gradFill flip="none" rotWithShape="1">
            <a:gsLst>
              <a:gs pos="49000">
                <a:schemeClr val="bg1"/>
              </a:gs>
              <a:gs pos="100000">
                <a:schemeClr val="accent3">
                  <a:alpha val="2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defRPr/>
            </a:pPr>
            <a:endParaRPr lang="zh-CN" altLang="en-US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08D48A3-B931-466F-18C0-A1C304D1FEF8}"/>
              </a:ext>
            </a:extLst>
          </p:cNvPr>
          <p:cNvSpPr txBox="1"/>
          <p:nvPr/>
        </p:nvSpPr>
        <p:spPr>
          <a:xfrm>
            <a:off x="685800" y="1366919"/>
            <a:ext cx="10835640" cy="2576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500"/>
              </a:lnSpc>
              <a:defRPr/>
            </a:pPr>
            <a:r>
              <a:rPr lang="zh-CN" altLang="en-US" sz="42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面向前馈式三维重建的
候选架构设计与统一聚合管理平台</a:t>
            </a:r>
            <a:endParaRPr lang="zh-CN" altLang="en-US" sz="42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4B2EA678-3420-5C54-B4C3-C8CAD209A7CE}"/>
              </a:ext>
            </a:extLst>
          </p:cNvPr>
          <p:cNvSpPr/>
          <p:nvPr/>
        </p:nvSpPr>
        <p:spPr>
          <a:xfrm>
            <a:off x="4839038" y="4461335"/>
            <a:ext cx="2768614" cy="58477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DA1E6CA0-D601-DDA2-0D66-6669E5F33476}"/>
              </a:ext>
            </a:extLst>
          </p:cNvPr>
          <p:cNvSpPr/>
          <p:nvPr/>
        </p:nvSpPr>
        <p:spPr>
          <a:xfrm>
            <a:off x="3768924" y="4454012"/>
            <a:ext cx="1685122" cy="58477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3175" cap="flat" cmpd="sng" algn="ctr">
            <a:solidFill>
              <a:srgbClr val="0C56AE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algn="ctr">
              <a:defRPr/>
            </a:pPr>
            <a:r>
              <a:rPr lang="zh-CN" altLang="en-US" sz="3200" b="1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汇报人</a:t>
            </a:r>
            <a:endParaRPr lang="zh-CN" altLang="en-US" sz="3200" b="1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592BA2D-3982-DE10-3446-DA44D71D602C}"/>
              </a:ext>
            </a:extLst>
          </p:cNvPr>
          <p:cNvSpPr txBox="1"/>
          <p:nvPr/>
        </p:nvSpPr>
        <p:spPr>
          <a:xfrm>
            <a:off x="5955943" y="4461337"/>
            <a:ext cx="104547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32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endParaRPr lang="zh-CN" altLang="en-US" sz="32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03437287-155F-B97B-812D-904A5FB34C93}"/>
              </a:ext>
            </a:extLst>
          </p:cNvPr>
          <p:cNvSpPr/>
          <p:nvPr/>
        </p:nvSpPr>
        <p:spPr>
          <a:xfrm>
            <a:off x="2614943" y="-5733"/>
            <a:ext cx="6962115" cy="493598"/>
          </a:xfrm>
          <a:custGeom>
            <a:avLst/>
            <a:gdLst>
              <a:gd name="connsiteX0" fmla="*/ 0 w 8717654"/>
              <a:gd name="connsiteY0" fmla="*/ 0 h 562725"/>
              <a:gd name="connsiteX1" fmla="*/ 1155700 w 8717654"/>
              <a:gd name="connsiteY1" fmla="*/ 0 h 562725"/>
              <a:gd name="connsiteX2" fmla="*/ 7561954 w 8717654"/>
              <a:gd name="connsiteY2" fmla="*/ 0 h 562725"/>
              <a:gd name="connsiteX3" fmla="*/ 8717654 w 8717654"/>
              <a:gd name="connsiteY3" fmla="*/ 0 h 562725"/>
              <a:gd name="connsiteX4" fmla="*/ 8717381 w 8717654"/>
              <a:gd name="connsiteY4" fmla="*/ 1022 h 562725"/>
              <a:gd name="connsiteX5" fmla="*/ 8441286 w 8717654"/>
              <a:gd name="connsiteY5" fmla="*/ 521969 h 562725"/>
              <a:gd name="connsiteX6" fmla="*/ 8383695 w 8717654"/>
              <a:gd name="connsiteY6" fmla="*/ 562725 h 562725"/>
              <a:gd name="connsiteX7" fmla="*/ 7227995 w 8717654"/>
              <a:gd name="connsiteY7" fmla="*/ 562725 h 562725"/>
              <a:gd name="connsiteX8" fmla="*/ 1489659 w 8717654"/>
              <a:gd name="connsiteY8" fmla="*/ 562725 h 562725"/>
              <a:gd name="connsiteX9" fmla="*/ 333959 w 8717654"/>
              <a:gd name="connsiteY9" fmla="*/ 562725 h 562725"/>
              <a:gd name="connsiteX10" fmla="*/ 276368 w 8717654"/>
              <a:gd name="connsiteY10" fmla="*/ 521969 h 562725"/>
              <a:gd name="connsiteX11" fmla="*/ 273 w 8717654"/>
              <a:gd name="connsiteY11" fmla="*/ 1022 h 56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717654" h="562725">
                <a:moveTo>
                  <a:pt x="0" y="0"/>
                </a:moveTo>
                <a:lnTo>
                  <a:pt x="1155700" y="0"/>
                </a:lnTo>
                <a:lnTo>
                  <a:pt x="7561954" y="0"/>
                </a:lnTo>
                <a:lnTo>
                  <a:pt x="8717654" y="0"/>
                </a:lnTo>
                <a:lnTo>
                  <a:pt x="8717381" y="1022"/>
                </a:lnTo>
                <a:lnTo>
                  <a:pt x="8441286" y="521969"/>
                </a:lnTo>
                <a:cubicBezTo>
                  <a:pt x="8427678" y="547645"/>
                  <a:pt x="8406370" y="562725"/>
                  <a:pt x="8383695" y="562725"/>
                </a:cubicBezTo>
                <a:lnTo>
                  <a:pt x="7227995" y="562725"/>
                </a:lnTo>
                <a:lnTo>
                  <a:pt x="1489659" y="562725"/>
                </a:lnTo>
                <a:lnTo>
                  <a:pt x="333959" y="562725"/>
                </a:lnTo>
                <a:cubicBezTo>
                  <a:pt x="311285" y="562725"/>
                  <a:pt x="289976" y="547645"/>
                  <a:pt x="276368" y="521969"/>
                </a:cubicBezTo>
                <a:lnTo>
                  <a:pt x="273" y="1022"/>
                </a:lnTo>
                <a:close/>
              </a:path>
            </a:pathLst>
          </a:cu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0C56A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FC05B4F-2BD2-017A-D833-AFB9CBAC897A}"/>
              </a:ext>
            </a:extLst>
          </p:cNvPr>
          <p:cNvSpPr txBox="1"/>
          <p:nvPr/>
        </p:nvSpPr>
        <p:spPr>
          <a:xfrm>
            <a:off x="4464784" y="10234"/>
            <a:ext cx="326243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24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硕士学位论文开题报告</a:t>
            </a:r>
            <a:endParaRPr lang="zh-CN" altLang="en-US" sz="24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0993921-4A01-0A89-1E61-7A819B4A1E2F}"/>
              </a:ext>
            </a:extLst>
          </p:cNvPr>
          <p:cNvSpPr txBox="1"/>
          <p:nvPr/>
        </p:nvSpPr>
        <p:spPr>
          <a:xfrm>
            <a:off x="5243046" y="5238426"/>
            <a:ext cx="170591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400">
                <a:ln w="0"/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</a:t>
            </a:r>
            <a:r>
              <a:rPr lang="zh-CN" altLang="en-US" sz="2400">
                <a:ln w="0"/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2400">
                <a:ln w="0"/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400">
                <a:ln w="0"/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endParaRPr lang="zh-CN" altLang="en-US" sz="2400" dirty="0">
              <a:ln w="0"/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A13CF40-C608-8D36-562A-C2261D580099}"/>
              </a:ext>
            </a:extLst>
          </p:cNvPr>
          <p:cNvSpPr/>
          <p:nvPr/>
        </p:nvSpPr>
        <p:spPr>
          <a:xfrm>
            <a:off x="0" y="6632574"/>
            <a:ext cx="12192000" cy="234477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FDD9BF1-26C1-D8B1-4EF4-E6DFBF680AE0}"/>
              </a:ext>
            </a:extLst>
          </p:cNvPr>
          <p:cNvSpPr txBox="1"/>
          <p:nvPr/>
        </p:nvSpPr>
        <p:spPr>
          <a:xfrm>
            <a:off x="4310896" y="5721158"/>
            <a:ext cx="357020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5644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89">
            <a:extLst>
              <a:ext uri="{FF2B5EF4-FFF2-40B4-BE49-F238E27FC236}">
                <a16:creationId xmlns:a16="http://schemas.microsoft.com/office/drawing/2014/main" id="{E9CAE631-11B1-6B01-385A-60C92A6A83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10800000">
            <a:off x="-8340" y="1"/>
            <a:ext cx="12200340" cy="2868908"/>
          </a:xfrm>
          <a:prstGeom prst="rect">
            <a:avLst/>
          </a:prstGeom>
        </p:spPr>
      </p:pic>
      <p:pic>
        <p:nvPicPr>
          <p:cNvPr id="45" name="图片 44">
            <a:extLst>
              <a:ext uri="{FF2B5EF4-FFF2-40B4-BE49-F238E27FC236}">
                <a16:creationId xmlns:a16="http://schemas.microsoft.com/office/drawing/2014/main" id="{9C7262D3-C5E7-98B9-085E-5298B67D1C9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6168"/>
          <a:stretch/>
        </p:blipFill>
        <p:spPr>
          <a:xfrm flipH="1">
            <a:off x="0" y="4270329"/>
            <a:ext cx="12192000" cy="2600960"/>
          </a:xfrm>
          <a:prstGeom prst="rect">
            <a:avLst/>
          </a:prstGeom>
        </p:spPr>
      </p:pic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A03CD020-8E49-BC23-82FE-80B9ABCA3972}"/>
              </a:ext>
            </a:extLst>
          </p:cNvPr>
          <p:cNvSpPr/>
          <p:nvPr/>
        </p:nvSpPr>
        <p:spPr>
          <a:xfrm>
            <a:off x="-100120" y="-79828"/>
            <a:ext cx="4207663" cy="7017657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/>
              </a:gs>
              <a:gs pos="100000">
                <a:schemeClr val="accent2">
                  <a:lumMod val="50000"/>
                </a:schemeClr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outerShdw blurRad="165100" dist="38100" dir="2700000" algn="tl" rotWithShape="0">
              <a:sysClr val="window" lastClr="FFFFFF">
                <a:lumMod val="85000"/>
                <a:alpha val="35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72" name="图片 71">
            <a:extLst>
              <a:ext uri="{FF2B5EF4-FFF2-40B4-BE49-F238E27FC236}">
                <a16:creationId xmlns:a16="http://schemas.microsoft.com/office/drawing/2014/main" id="{9EEBD94C-B44D-2A8B-AC9A-D4C40C3FAC2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60" r="29859"/>
          <a:stretch/>
        </p:blipFill>
        <p:spPr>
          <a:xfrm>
            <a:off x="-79458" y="-79829"/>
            <a:ext cx="4215566" cy="7017657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F939667F-E2C4-833B-F063-4029CB6C492C}"/>
              </a:ext>
            </a:extLst>
          </p:cNvPr>
          <p:cNvSpPr/>
          <p:nvPr/>
        </p:nvSpPr>
        <p:spPr>
          <a:xfrm>
            <a:off x="3708400" y="1219200"/>
            <a:ext cx="7239000" cy="5080000"/>
          </a:xfrm>
          <a:prstGeom prst="rect">
            <a:avLst/>
          </a:prstGeom>
          <a:solidFill>
            <a:srgbClr val="EBECEE">
              <a:alpha val="92000"/>
            </a:srgbClr>
          </a:solidFill>
          <a:ln>
            <a:solidFill>
              <a:srgbClr val="E6E6E6"/>
            </a:solidFill>
          </a:ln>
          <a:effectLst>
            <a:outerShdw blurRad="101600" dist="37357" dir="2700000" rotWithShape="0">
              <a:scrgbClr r="0" g="0" b="0">
                <a:alpha val="45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9F2D61F-F05E-90B1-44A7-C112A91770A7}"/>
              </a:ext>
            </a:extLst>
          </p:cNvPr>
          <p:cNvSpPr txBox="1"/>
          <p:nvPr/>
        </p:nvSpPr>
        <p:spPr>
          <a:xfrm>
            <a:off x="1524000" y="2603500"/>
            <a:ext cx="952500" cy="193899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zh-CN" altLang="en-US" sz="3000" b="1">
                <a:solidFill>
                  <a:srgbClr val="FFFFFF"/>
                </a:solidFill>
                <a:latin typeface="Microsoft YaHei" panose="020B0503020204020204" pitchFamily="34" charset="-122"/>
              </a:rPr>
              <a:t>汇
报
提
纲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44933CEC-E9F2-5813-2764-A57FBD6A4FE1}"/>
              </a:ext>
            </a:extLst>
          </p:cNvPr>
          <p:cNvCxnSpPr/>
          <p:nvPr/>
        </p:nvCxnSpPr>
        <p:spPr>
          <a:xfrm>
            <a:off x="1422400" y="3175000"/>
            <a:ext cx="0" cy="2540000"/>
          </a:xfrm>
          <a:prstGeom prst="line">
            <a:avLst/>
          </a:prstGeom>
          <a:ln w="6350" cap="flat" cmpd="sng" algn="ctr">
            <a:solidFill>
              <a:srgbClr val="D2E1F5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4980F386-BD3C-E676-9BBA-F0B8AF4C79D4}"/>
              </a:ext>
            </a:extLst>
          </p:cNvPr>
          <p:cNvSpPr/>
          <p:nvPr/>
        </p:nvSpPr>
        <p:spPr>
          <a:xfrm>
            <a:off x="4635500" y="1422400"/>
            <a:ext cx="5842000" cy="736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D70FB08-AEAE-E554-0957-CC104464D2BA}"/>
              </a:ext>
            </a:extLst>
          </p:cNvPr>
          <p:cNvSpPr txBox="1"/>
          <p:nvPr/>
        </p:nvSpPr>
        <p:spPr>
          <a:xfrm>
            <a:off x="5143500" y="15113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27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0F3D4AA2-37C2-D238-A9C8-15BB6A20B29F}"/>
              </a:ext>
            </a:extLst>
          </p:cNvPr>
          <p:cNvCxnSpPr/>
          <p:nvPr/>
        </p:nvCxnSpPr>
        <p:spPr>
          <a:xfrm>
            <a:off x="6172200" y="1574800"/>
            <a:ext cx="0" cy="43180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95AB9613-5735-6202-4879-18A86BBF0AE0}"/>
              </a:ext>
            </a:extLst>
          </p:cNvPr>
          <p:cNvSpPr txBox="1"/>
          <p:nvPr/>
        </p:nvSpPr>
        <p:spPr>
          <a:xfrm>
            <a:off x="6477000" y="15367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FFFFFF"/>
                </a:solidFill>
                <a:latin typeface="Microsoft YaHei" panose="020B0503020204020204" pitchFamily="34" charset="-122"/>
              </a:rPr>
              <a:t>背景与现状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06F797F-5A9E-63B2-182F-F8DCE7413B1D}"/>
              </a:ext>
            </a:extLst>
          </p:cNvPr>
          <p:cNvSpPr/>
          <p:nvPr/>
        </p:nvSpPr>
        <p:spPr>
          <a:xfrm>
            <a:off x="4635500" y="23495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997007B-C116-0071-7DB1-572C4F776887}"/>
              </a:ext>
            </a:extLst>
          </p:cNvPr>
          <p:cNvSpPr txBox="1"/>
          <p:nvPr/>
        </p:nvSpPr>
        <p:spPr>
          <a:xfrm>
            <a:off x="5143500" y="24384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1EA36187-E67A-119C-7CE6-419D980F0593}"/>
              </a:ext>
            </a:extLst>
          </p:cNvPr>
          <p:cNvCxnSpPr/>
          <p:nvPr/>
        </p:nvCxnSpPr>
        <p:spPr>
          <a:xfrm>
            <a:off x="6172200" y="25019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B9BBBD58-8D6A-4D67-A02A-54AB999FC66A}"/>
              </a:ext>
            </a:extLst>
          </p:cNvPr>
          <p:cNvSpPr txBox="1"/>
          <p:nvPr/>
        </p:nvSpPr>
        <p:spPr>
          <a:xfrm>
            <a:off x="6477000" y="24638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候选架构研究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C83DAC3-FC15-A449-8E2E-917A84897622}"/>
              </a:ext>
            </a:extLst>
          </p:cNvPr>
          <p:cNvSpPr/>
          <p:nvPr/>
        </p:nvSpPr>
        <p:spPr>
          <a:xfrm>
            <a:off x="4635500" y="32766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F2B28A5-D663-FBC2-2CD1-C5C38FCFEE96}"/>
              </a:ext>
            </a:extLst>
          </p:cNvPr>
          <p:cNvSpPr txBox="1"/>
          <p:nvPr/>
        </p:nvSpPr>
        <p:spPr>
          <a:xfrm>
            <a:off x="5143500" y="33655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D6C5963F-CEEB-7C86-A6AC-762E96518D7D}"/>
              </a:ext>
            </a:extLst>
          </p:cNvPr>
          <p:cNvCxnSpPr/>
          <p:nvPr/>
        </p:nvCxnSpPr>
        <p:spPr>
          <a:xfrm>
            <a:off x="6172200" y="34290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15A9E7C4-EA13-A9B9-D40C-DA8FBC70C6B7}"/>
              </a:ext>
            </a:extLst>
          </p:cNvPr>
          <p:cNvSpPr txBox="1"/>
          <p:nvPr/>
        </p:nvSpPr>
        <p:spPr>
          <a:xfrm>
            <a:off x="6477000" y="33909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软件平台建设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EA7F456-8DC3-A8E1-40CA-8B5640FC18C3}"/>
              </a:ext>
            </a:extLst>
          </p:cNvPr>
          <p:cNvSpPr/>
          <p:nvPr/>
        </p:nvSpPr>
        <p:spPr>
          <a:xfrm>
            <a:off x="4635500" y="42037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B914F28-0A9E-B519-50C0-32605A8FFCC1}"/>
              </a:ext>
            </a:extLst>
          </p:cNvPr>
          <p:cNvSpPr txBox="1"/>
          <p:nvPr/>
        </p:nvSpPr>
        <p:spPr>
          <a:xfrm>
            <a:off x="5143500" y="42926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1124032A-18BC-65F8-D00A-AC752D448BBD}"/>
              </a:ext>
            </a:extLst>
          </p:cNvPr>
          <p:cNvCxnSpPr/>
          <p:nvPr/>
        </p:nvCxnSpPr>
        <p:spPr>
          <a:xfrm>
            <a:off x="6172200" y="43561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660B63BA-9FFB-0809-9C96-75335646B5B8}"/>
              </a:ext>
            </a:extLst>
          </p:cNvPr>
          <p:cNvSpPr txBox="1"/>
          <p:nvPr/>
        </p:nvSpPr>
        <p:spPr>
          <a:xfrm>
            <a:off x="6477000" y="43180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实验计划与总结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5A91673-7870-6E4C-4718-F69762E40716}"/>
              </a:ext>
            </a:extLst>
          </p:cNvPr>
          <p:cNvSpPr/>
          <p:nvPr/>
        </p:nvSpPr>
        <p:spPr>
          <a:xfrm>
            <a:off x="4635500" y="51308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19D32F2-F0C4-EAA0-E980-4DB45A542013}"/>
              </a:ext>
            </a:extLst>
          </p:cNvPr>
          <p:cNvSpPr txBox="1"/>
          <p:nvPr/>
        </p:nvSpPr>
        <p:spPr>
          <a:xfrm>
            <a:off x="5143500" y="52197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05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AEF17DC8-3F0A-E991-49E8-2BB83FD1FF8A}"/>
              </a:ext>
            </a:extLst>
          </p:cNvPr>
          <p:cNvCxnSpPr/>
          <p:nvPr/>
        </p:nvCxnSpPr>
        <p:spPr>
          <a:xfrm>
            <a:off x="6172200" y="52832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FA7E01D7-E203-9D4E-3A4C-3EA6C9947B5B}"/>
              </a:ext>
            </a:extLst>
          </p:cNvPr>
          <p:cNvSpPr txBox="1"/>
          <p:nvPr/>
        </p:nvSpPr>
        <p:spPr>
          <a:xfrm>
            <a:off x="6477000" y="52451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风险与总结</a:t>
            </a:r>
          </a:p>
        </p:txBody>
      </p:sp>
    </p:spTree>
    <p:extLst>
      <p:ext uri="{BB962C8B-B14F-4D97-AF65-F5344CB8AC3E}">
        <p14:creationId xmlns:p14="http://schemas.microsoft.com/office/powerpoint/2010/main" val="3181039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6A3DB-04B7-0F28-5E8A-F56BFA60F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C423CAF-2C04-A115-DAA8-7FE393C84F1F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01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40D8A0FD-5522-688B-0919-03AA88600BB6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研究背景：从传统几何到前馈式 </a:t>
            </a:r>
            <a:r>
              <a:rPr lang="en-US" altLang="zh-CN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3R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2B83F58-6FB4-1D3C-9335-BA19DD421FF5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B828830-4BC4-2350-DC15-4C53D47E3B1E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前馈式 </a:t>
            </a:r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将传统几何流程中的多个阶段压缩到神经网络前向推理中。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4852DB8-6A00-730C-FD11-7C36E14DB5CB}"/>
              </a:ext>
            </a:extLst>
          </p:cNvPr>
          <p:cNvSpPr/>
          <p:nvPr/>
        </p:nvSpPr>
        <p:spPr>
          <a:xfrm>
            <a:off x="1016000" y="2095500"/>
            <a:ext cx="2921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传统流程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A0E4D71-3BBE-BA56-6A98-2B209BD56104}"/>
              </a:ext>
            </a:extLst>
          </p:cNvPr>
          <p:cNvSpPr/>
          <p:nvPr/>
        </p:nvSpPr>
        <p:spPr>
          <a:xfrm>
            <a:off x="1016000" y="2552700"/>
            <a:ext cx="2921000" cy="157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特征匹配
位姿估计
三角化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/ MVS</a:t>
            </a:r>
            <a:endParaRPr lang="zh-CN" altLang="en-US" sz="1900">
              <a:solidFill>
                <a:srgbClr val="0818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4" name="箭头: 右 33">
            <a:extLst>
              <a:ext uri="{FF2B5EF4-FFF2-40B4-BE49-F238E27FC236}">
                <a16:creationId xmlns:a16="http://schemas.microsoft.com/office/drawing/2014/main" id="{8438A81D-68D6-45F1-DDAA-B21943256E7E}"/>
              </a:ext>
            </a:extLst>
          </p:cNvPr>
          <p:cNvSpPr/>
          <p:nvPr/>
        </p:nvSpPr>
        <p:spPr>
          <a:xfrm>
            <a:off x="4089400" y="2921000"/>
            <a:ext cx="533400" cy="3302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B92F576-07A1-8971-C4AB-614557B4611B}"/>
              </a:ext>
            </a:extLst>
          </p:cNvPr>
          <p:cNvSpPr/>
          <p:nvPr/>
        </p:nvSpPr>
        <p:spPr>
          <a:xfrm>
            <a:off x="4699000" y="2095500"/>
            <a:ext cx="2921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表示变化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2399207-FE5F-E775-6824-2C3F0BFCEE36}"/>
              </a:ext>
            </a:extLst>
          </p:cNvPr>
          <p:cNvSpPr/>
          <p:nvPr/>
        </p:nvSpPr>
        <p:spPr>
          <a:xfrm>
            <a:off x="4699000" y="2552700"/>
            <a:ext cx="2921000" cy="157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稠密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pointmap
confidence
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相机参数</a:t>
            </a:r>
          </a:p>
        </p:txBody>
      </p:sp>
      <p:sp>
        <p:nvSpPr>
          <p:cNvPr id="37" name="箭头: 右 36">
            <a:extLst>
              <a:ext uri="{FF2B5EF4-FFF2-40B4-BE49-F238E27FC236}">
                <a16:creationId xmlns:a16="http://schemas.microsoft.com/office/drawing/2014/main" id="{080B6017-0468-8E49-4B66-6AC2781DE1C1}"/>
              </a:ext>
            </a:extLst>
          </p:cNvPr>
          <p:cNvSpPr/>
          <p:nvPr/>
        </p:nvSpPr>
        <p:spPr>
          <a:xfrm>
            <a:off x="7772400" y="2921000"/>
            <a:ext cx="533400" cy="3302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F31BB0A3-DFE3-315C-B0DE-0F1EA7567BF9}"/>
              </a:ext>
            </a:extLst>
          </p:cNvPr>
          <p:cNvSpPr/>
          <p:nvPr/>
        </p:nvSpPr>
        <p:spPr>
          <a:xfrm>
            <a:off x="8382000" y="2095500"/>
            <a:ext cx="2921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方法特点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81426A14-F09E-4B80-6EAA-25E8111402FE}"/>
              </a:ext>
            </a:extLst>
          </p:cNvPr>
          <p:cNvSpPr/>
          <p:nvPr/>
        </p:nvSpPr>
        <p:spPr>
          <a:xfrm>
            <a:off x="8382000" y="2552700"/>
            <a:ext cx="2921000" cy="157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弱化显式标定
减少级联误差
便于端到端训练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F078FF70-BA65-3F1B-3173-FD37F89289C5}"/>
              </a:ext>
            </a:extLst>
          </p:cNvPr>
          <p:cNvSpPr/>
          <p:nvPr/>
        </p:nvSpPr>
        <p:spPr>
          <a:xfrm>
            <a:off x="1206500" y="4953000"/>
            <a:ext cx="9779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研究背景：</a:t>
            </a:r>
            <a:r>
              <a:rPr lang="en-US" altLang="zh-CN" b="1">
                <a:solidFill>
                  <a:srgbClr val="00285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范式提供了新的重建入口，但尺度一致性、动态干扰和长序列漂移仍需专门机制。</a:t>
            </a:r>
          </a:p>
        </p:txBody>
      </p:sp>
    </p:spTree>
    <p:extLst>
      <p:ext uri="{BB962C8B-B14F-4D97-AF65-F5344CB8AC3E}">
        <p14:creationId xmlns:p14="http://schemas.microsoft.com/office/powerpoint/2010/main" val="2822766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9C1C7-72C6-1029-14A1-14DA57824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92C25290-25CA-9409-7329-785426950541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02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816D3D87-A82F-7CBB-9ECA-5489B69CC28D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代表模型：点图、匹配与统一几何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E39F559-44EC-255B-D746-67972B4F9706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C2A0686-978C-83A4-B0CC-77B94F228D30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DUSt3R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之后的模型沿着点图、匹配、多视角和统一几何预测等方向快速扩展。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DDA736A-E0D3-80D8-29CE-0580CCD6E1A5}"/>
              </a:ext>
            </a:extLst>
          </p:cNvPr>
          <p:cNvSpPr/>
          <p:nvPr/>
        </p:nvSpPr>
        <p:spPr>
          <a:xfrm>
            <a:off x="762000" y="2032000"/>
            <a:ext cx="2286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DUSt3R</a:t>
            </a:r>
            <a:endParaRPr lang="zh-CN" altLang="en-US" sz="19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966A68C-4471-9161-AB98-C791054053BD}"/>
              </a:ext>
            </a:extLst>
          </p:cNvPr>
          <p:cNvSpPr/>
          <p:nvPr/>
        </p:nvSpPr>
        <p:spPr>
          <a:xfrm>
            <a:off x="762000" y="2489200"/>
            <a:ext cx="2286000" cy="1511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pose-free
pointmap</a:t>
            </a:r>
            <a:endParaRPr lang="zh-CN" altLang="en-US" sz="1900">
              <a:solidFill>
                <a:srgbClr val="0818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24E1D43-2928-4F95-8DA5-2A886ED0A774}"/>
              </a:ext>
            </a:extLst>
          </p:cNvPr>
          <p:cNvSpPr/>
          <p:nvPr/>
        </p:nvSpPr>
        <p:spPr>
          <a:xfrm>
            <a:off x="3556000" y="2032000"/>
            <a:ext cx="2286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MASt3R</a:t>
            </a:r>
            <a:endParaRPr lang="zh-CN" altLang="en-US" sz="19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B5BE05D8-5CD7-4CA1-6A00-0B57132797E0}"/>
              </a:ext>
            </a:extLst>
          </p:cNvPr>
          <p:cNvSpPr/>
          <p:nvPr/>
        </p:nvSpPr>
        <p:spPr>
          <a:xfrm>
            <a:off x="3556000" y="2489200"/>
            <a:ext cx="2286000" cy="1511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3D grounded
matching</a:t>
            </a:r>
            <a:endParaRPr lang="zh-CN" altLang="en-US" sz="1900">
              <a:solidFill>
                <a:srgbClr val="0818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B2493A46-E9F3-C987-B4F0-9C6E44294EF8}"/>
              </a:ext>
            </a:extLst>
          </p:cNvPr>
          <p:cNvSpPr/>
          <p:nvPr/>
        </p:nvSpPr>
        <p:spPr>
          <a:xfrm>
            <a:off x="6350000" y="2032000"/>
            <a:ext cx="2286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Fast3R</a:t>
            </a:r>
            <a:endParaRPr lang="zh-CN" altLang="en-US" sz="19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F3E38464-44DA-BB6B-2460-7AAB95A5956F}"/>
              </a:ext>
            </a:extLst>
          </p:cNvPr>
          <p:cNvSpPr/>
          <p:nvPr/>
        </p:nvSpPr>
        <p:spPr>
          <a:xfrm>
            <a:off x="6350000" y="2489200"/>
            <a:ext cx="2286000" cy="1511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many-view
forward pass</a:t>
            </a:r>
            <a:endParaRPr lang="zh-CN" altLang="en-US" sz="1900">
              <a:solidFill>
                <a:srgbClr val="0818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98A7E3CD-26E3-5348-2A70-77A6C23ACF44}"/>
              </a:ext>
            </a:extLst>
          </p:cNvPr>
          <p:cNvSpPr/>
          <p:nvPr/>
        </p:nvSpPr>
        <p:spPr>
          <a:xfrm>
            <a:off x="9144000" y="2032000"/>
            <a:ext cx="2286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VGGT / MapAnything</a:t>
            </a:r>
            <a:endParaRPr lang="zh-CN" altLang="en-US" sz="19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4414FD53-6C96-4977-50E0-374395F32867}"/>
              </a:ext>
            </a:extLst>
          </p:cNvPr>
          <p:cNvSpPr/>
          <p:nvPr/>
        </p:nvSpPr>
        <p:spPr>
          <a:xfrm>
            <a:off x="9144000" y="2489200"/>
            <a:ext cx="2286000" cy="1511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统一视觉几何
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metric reconstruction</a:t>
            </a:r>
            <a:endParaRPr lang="zh-CN" altLang="en-US" sz="1900">
              <a:solidFill>
                <a:srgbClr val="0818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E3C37502-EC67-F0F7-A1A6-1E6E386E764E}"/>
              </a:ext>
            </a:extLst>
          </p:cNvPr>
          <p:cNvSpPr/>
          <p:nvPr/>
        </p:nvSpPr>
        <p:spPr>
          <a:xfrm>
            <a:off x="1143000" y="4699000"/>
            <a:ext cx="9906000" cy="6858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00285F"/>
                </a:solidFill>
                <a:latin typeface="Microsoft YaHei" panose="020B0503020204020204" pitchFamily="34" charset="-122"/>
              </a:rPr>
              <a:t>现状判断：这些工作建立了 </a:t>
            </a:r>
            <a:r>
              <a:rPr lang="en-US" altLang="zh-CN" sz="2000" b="1">
                <a:solidFill>
                  <a:srgbClr val="00285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2000" b="1">
                <a:solidFill>
                  <a:srgbClr val="00285F"/>
                </a:solidFill>
                <a:latin typeface="Microsoft YaHei" panose="020B0503020204020204" pitchFamily="34" charset="-122"/>
              </a:rPr>
              <a:t>的共同表示和输入范式，但多数仍围绕单一机制推进。</a:t>
            </a:r>
          </a:p>
        </p:txBody>
      </p:sp>
    </p:spTree>
    <p:extLst>
      <p:ext uri="{BB962C8B-B14F-4D97-AF65-F5344CB8AC3E}">
        <p14:creationId xmlns:p14="http://schemas.microsoft.com/office/powerpoint/2010/main" val="23017153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9C1C7-72C6-1029-14A1-14DA57824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92C25290-25CA-9409-7329-785426950541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02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816D3D87-A82F-7CBB-9ECA-5489B69CC28D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代表模型：动态场景与长序列记忆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06B1B29-1B9B-5790-7BFD-53C9D24CEBA3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6450CAD-8144-0124-0380-CCCC51988366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动态场景、长序列和测试时机制成为近期 </a:t>
            </a:r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研究的重要扩展方向。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0666057-748C-FB38-3D24-35A7DEC22677}"/>
              </a:ext>
            </a:extLst>
          </p:cNvPr>
          <p:cNvSpPr/>
          <p:nvPr/>
        </p:nvSpPr>
        <p:spPr>
          <a:xfrm>
            <a:off x="1079500" y="2095500"/>
            <a:ext cx="2921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动态场景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66884EA-30E1-A808-94EA-19A0A07703D5}"/>
              </a:ext>
            </a:extLst>
          </p:cNvPr>
          <p:cNvSpPr/>
          <p:nvPr/>
        </p:nvSpPr>
        <p:spPr>
          <a:xfrm>
            <a:off x="1079500" y="2552700"/>
            <a:ext cx="2921000" cy="170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pt-BR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MonST3R
POMATO / D²USt3R
Easi3R / RayMap3R</a:t>
            </a:r>
            <a:endParaRPr lang="zh-CN" altLang="en-US" sz="1900">
              <a:solidFill>
                <a:srgbClr val="0818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DEF012E-588D-5D42-BA3B-92A11ED90AC8}"/>
              </a:ext>
            </a:extLst>
          </p:cNvPr>
          <p:cNvSpPr/>
          <p:nvPr/>
        </p:nvSpPr>
        <p:spPr>
          <a:xfrm>
            <a:off x="4762500" y="2095500"/>
            <a:ext cx="2921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长序列记忆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7442D3F-E0B5-02C5-88A8-01CDD4539407}"/>
              </a:ext>
            </a:extLst>
          </p:cNvPr>
          <p:cNvSpPr/>
          <p:nvPr/>
        </p:nvSpPr>
        <p:spPr>
          <a:xfrm>
            <a:off x="4762500" y="2552700"/>
            <a:ext cx="2921000" cy="170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pt-BR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CUT3R
Spann3R / Point3R
LONG3R / Mem3R</a:t>
            </a:r>
            <a:endParaRPr lang="zh-CN" altLang="en-US" sz="1900">
              <a:solidFill>
                <a:srgbClr val="0818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98187CF-2611-433E-049B-EAE4316E7499}"/>
              </a:ext>
            </a:extLst>
          </p:cNvPr>
          <p:cNvSpPr/>
          <p:nvPr/>
        </p:nvSpPr>
        <p:spPr>
          <a:xfrm>
            <a:off x="8445500" y="2095500"/>
            <a:ext cx="2921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测试时机制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DC4E299-E67C-B79F-3264-5C513E8CB1E5}"/>
              </a:ext>
            </a:extLst>
          </p:cNvPr>
          <p:cNvSpPr/>
          <p:nvPr/>
        </p:nvSpPr>
        <p:spPr>
          <a:xfrm>
            <a:off x="8445500" y="2552700"/>
            <a:ext cx="2921000" cy="170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Test3R
TTT3R
G-CUT3R / MASt3R-SfM</a:t>
            </a:r>
            <a:endParaRPr lang="zh-CN" altLang="en-US" sz="1900">
              <a:solidFill>
                <a:srgbClr val="0818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185BF45F-12D7-BD16-6F09-88B7C2049B17}"/>
              </a:ext>
            </a:extLst>
          </p:cNvPr>
          <p:cNvSpPr/>
          <p:nvPr/>
        </p:nvSpPr>
        <p:spPr>
          <a:xfrm>
            <a:off x="1206500" y="4953000"/>
            <a:ext cx="9779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这些分支分别处理运动、漂移和一致性问题，但缺少在同一架构内并置评估的研究框架。</a:t>
            </a:r>
          </a:p>
        </p:txBody>
      </p:sp>
    </p:spTree>
    <p:extLst>
      <p:ext uri="{BB962C8B-B14F-4D97-AF65-F5344CB8AC3E}">
        <p14:creationId xmlns:p14="http://schemas.microsoft.com/office/powerpoint/2010/main" val="26705467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现状归纳：能力扩展与机制分散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03A21B3-67E4-0B77-4E12-6C323E984CC3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1EA6F5D-ED68-062D-2242-F90B8157B653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综述显示：</a:t>
            </a:r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方法能力不断扩展，但关键机制仍分散在不同模型和不同评测口径中。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F4953F1C-D6BB-2DB9-DEE9-63BDFBF1948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8303" y="1841500"/>
            <a:ext cx="7135395" cy="3873500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E1E471C3-819C-E300-8249-A545DEB08C95}"/>
              </a:ext>
            </a:extLst>
          </p:cNvPr>
          <p:cNvSpPr/>
          <p:nvPr/>
        </p:nvSpPr>
        <p:spPr>
          <a:xfrm>
            <a:off x="1333500" y="5842000"/>
            <a:ext cx="9525000" cy="482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归纳结果：覆盖缺口不直接等同于创新结论，而是本研究问题提出的依据。</a:t>
            </a:r>
          </a:p>
        </p:txBody>
      </p:sp>
    </p:spTree>
    <p:extLst>
      <p:ext uri="{BB962C8B-B14F-4D97-AF65-F5344CB8AC3E}">
        <p14:creationId xmlns:p14="http://schemas.microsoft.com/office/powerpoint/2010/main" val="28065069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1AC14-4D81-0B48-547E-7159FB0D6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BAF1E447-5F42-9CE3-9E7C-27FABF3FC177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05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32F2B33-3392-C809-868B-8FB43F2C123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问题提出：从现状缺口到研究动机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2EF3624-32A7-D3E8-FEE5-03262F090DA7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041FFB3-C14C-FA1A-79F6-C440686F2C1D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由现状缺口出发，本研究选择同时推进候选架构和软件平台两类工作。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2918049-90FC-4F01-0F20-0F6F4A58F1AA}"/>
              </a:ext>
            </a:extLst>
          </p:cNvPr>
          <p:cNvSpPr/>
          <p:nvPr/>
        </p:nvSpPr>
        <p:spPr>
          <a:xfrm>
            <a:off x="698500" y="1841500"/>
            <a:ext cx="17145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架构问题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E12B6D7-BAE0-39C8-5D9E-CA1BEC57076F}"/>
              </a:ext>
            </a:extLst>
          </p:cNvPr>
          <p:cNvSpPr/>
          <p:nvPr/>
        </p:nvSpPr>
        <p:spPr>
          <a:xfrm>
            <a:off x="2603500" y="1841500"/>
            <a:ext cx="57785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500">
                <a:solidFill>
                  <a:srgbClr val="081830"/>
                </a:solidFill>
                <a:latin typeface="Microsoft YaHei" panose="020B0503020204020204" pitchFamily="34" charset="-122"/>
              </a:rPr>
              <a:t>融合多专家、记忆机制、稀疏注意力和几何校验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DC0DEEB-C05B-B969-7610-A1AD13EDD19E}"/>
              </a:ext>
            </a:extLst>
          </p:cNvPr>
          <p:cNvSpPr/>
          <p:nvPr/>
        </p:nvSpPr>
        <p:spPr>
          <a:xfrm>
            <a:off x="8572500" y="1841500"/>
            <a:ext cx="2794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候选架构 </a:t>
            </a:r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X</a:t>
            </a:r>
            <a:endParaRPr lang="zh-CN" altLang="en-US" sz="15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BEB89A8-43EB-CDA8-D050-DC8900971BCC}"/>
              </a:ext>
            </a:extLst>
          </p:cNvPr>
          <p:cNvSpPr/>
          <p:nvPr/>
        </p:nvSpPr>
        <p:spPr>
          <a:xfrm>
            <a:off x="698500" y="2679700"/>
            <a:ext cx="17145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实验问题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D321A62-72AF-B220-14DC-88F3482AB488}"/>
              </a:ext>
            </a:extLst>
          </p:cNvPr>
          <p:cNvSpPr/>
          <p:nvPr/>
        </p:nvSpPr>
        <p:spPr>
          <a:xfrm>
            <a:off x="2603500" y="2679700"/>
            <a:ext cx="57785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500">
                <a:solidFill>
                  <a:srgbClr val="081830"/>
                </a:solidFill>
                <a:latin typeface="Microsoft YaHei" panose="020B0503020204020204" pitchFamily="34" charset="-122"/>
              </a:rPr>
              <a:t>模块贡献需要可退化、可消融、可复现实验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8E2F529-B3A8-AC67-F08F-EBB09E6FBE66}"/>
              </a:ext>
            </a:extLst>
          </p:cNvPr>
          <p:cNvSpPr/>
          <p:nvPr/>
        </p:nvSpPr>
        <p:spPr>
          <a:xfrm>
            <a:off x="8572500" y="2679700"/>
            <a:ext cx="2794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对照实验协议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AE98766-1BC4-A78D-38CE-B7B6FF32E841}"/>
              </a:ext>
            </a:extLst>
          </p:cNvPr>
          <p:cNvSpPr/>
          <p:nvPr/>
        </p:nvSpPr>
        <p:spPr>
          <a:xfrm>
            <a:off x="698500" y="3517900"/>
            <a:ext cx="17145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工程问题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FCF0E97-3490-BDC2-276B-CB8318C92256}"/>
              </a:ext>
            </a:extLst>
          </p:cNvPr>
          <p:cNvSpPr/>
          <p:nvPr/>
        </p:nvSpPr>
        <p:spPr>
          <a:xfrm>
            <a:off x="2603500" y="3517900"/>
            <a:ext cx="57785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500">
                <a:solidFill>
                  <a:srgbClr val="081830"/>
                </a:solidFill>
                <a:latin typeface="Microsoft YaHei" panose="020B0503020204020204" pitchFamily="34" charset="-122"/>
              </a:rPr>
              <a:t>多模型仓库、环境、输出格式相互割裂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4DEB0F0-65D2-E72B-08CA-8082DB74DA3A}"/>
              </a:ext>
            </a:extLst>
          </p:cNvPr>
          <p:cNvSpPr/>
          <p:nvPr/>
        </p:nvSpPr>
        <p:spPr>
          <a:xfrm>
            <a:off x="8572500" y="3517900"/>
            <a:ext cx="2794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聚合管理平台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383431E-3C71-5D94-3733-D64F780C8EBC}"/>
              </a:ext>
            </a:extLst>
          </p:cNvPr>
          <p:cNvSpPr/>
          <p:nvPr/>
        </p:nvSpPr>
        <p:spPr>
          <a:xfrm>
            <a:off x="698500" y="4356100"/>
            <a:ext cx="17145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发展问题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98AE3BF-F153-06E6-6FBB-73C920BF2C80}"/>
              </a:ext>
            </a:extLst>
          </p:cNvPr>
          <p:cNvSpPr/>
          <p:nvPr/>
        </p:nvSpPr>
        <p:spPr>
          <a:xfrm>
            <a:off x="2603500" y="4356100"/>
            <a:ext cx="57785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500">
                <a:solidFill>
                  <a:srgbClr val="081830"/>
                </a:solidFill>
                <a:latin typeface="Microsoft YaHei" panose="020B0503020204020204" pitchFamily="34" charset="-122"/>
              </a:rPr>
              <a:t>后续需支撑更多模型、更多输入和评测报告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F7D8489-69D6-4479-3F2A-D97ED2E16189}"/>
              </a:ext>
            </a:extLst>
          </p:cNvPr>
          <p:cNvSpPr/>
          <p:nvPr/>
        </p:nvSpPr>
        <p:spPr>
          <a:xfrm>
            <a:off x="8572500" y="4356100"/>
            <a:ext cx="2794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开放式扩展路径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9CB0334-3D81-2B89-52DB-7C0C4E3A8B48}"/>
              </a:ext>
            </a:extLst>
          </p:cNvPr>
          <p:cNvSpPr/>
          <p:nvPr/>
        </p:nvSpPr>
        <p:spPr>
          <a:xfrm>
            <a:off x="1270000" y="5461000"/>
            <a:ext cx="9652000" cy="5334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FFFFFF"/>
                </a:solidFill>
                <a:latin typeface="Microsoft YaHei" panose="020B0503020204020204" pitchFamily="34" charset="-122"/>
              </a:rPr>
              <a:t>研究定位：提出并评估候选方案，不把开题阶段计划写成最终结论。</a:t>
            </a:r>
          </a:p>
        </p:txBody>
      </p:sp>
    </p:spTree>
    <p:extLst>
      <p:ext uri="{BB962C8B-B14F-4D97-AF65-F5344CB8AC3E}">
        <p14:creationId xmlns:p14="http://schemas.microsoft.com/office/powerpoint/2010/main" val="29230583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89">
            <a:extLst>
              <a:ext uri="{FF2B5EF4-FFF2-40B4-BE49-F238E27FC236}">
                <a16:creationId xmlns:a16="http://schemas.microsoft.com/office/drawing/2014/main" id="{E9CAE631-11B1-6B01-385A-60C92A6A83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10800000">
            <a:off x="-8340" y="1"/>
            <a:ext cx="12200340" cy="2868908"/>
          </a:xfrm>
          <a:prstGeom prst="rect">
            <a:avLst/>
          </a:prstGeom>
        </p:spPr>
      </p:pic>
      <p:pic>
        <p:nvPicPr>
          <p:cNvPr id="45" name="图片 44">
            <a:extLst>
              <a:ext uri="{FF2B5EF4-FFF2-40B4-BE49-F238E27FC236}">
                <a16:creationId xmlns:a16="http://schemas.microsoft.com/office/drawing/2014/main" id="{9C7262D3-C5E7-98B9-085E-5298B67D1C9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6168"/>
          <a:stretch/>
        </p:blipFill>
        <p:spPr>
          <a:xfrm flipH="1">
            <a:off x="0" y="4270329"/>
            <a:ext cx="12192000" cy="2600960"/>
          </a:xfrm>
          <a:prstGeom prst="rect">
            <a:avLst/>
          </a:prstGeom>
        </p:spPr>
      </p:pic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A03CD020-8E49-BC23-82FE-80B9ABCA3972}"/>
              </a:ext>
            </a:extLst>
          </p:cNvPr>
          <p:cNvSpPr/>
          <p:nvPr/>
        </p:nvSpPr>
        <p:spPr>
          <a:xfrm>
            <a:off x="-100120" y="-79828"/>
            <a:ext cx="4207663" cy="7017657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/>
              </a:gs>
              <a:gs pos="100000">
                <a:schemeClr val="accent2">
                  <a:lumMod val="50000"/>
                </a:schemeClr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outerShdw blurRad="165100" dist="38100" dir="2700000" algn="tl" rotWithShape="0">
              <a:sysClr val="window" lastClr="FFFFFF">
                <a:lumMod val="85000"/>
                <a:alpha val="35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72" name="图片 71">
            <a:extLst>
              <a:ext uri="{FF2B5EF4-FFF2-40B4-BE49-F238E27FC236}">
                <a16:creationId xmlns:a16="http://schemas.microsoft.com/office/drawing/2014/main" id="{9EEBD94C-B44D-2A8B-AC9A-D4C40C3FAC2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60" r="29859"/>
          <a:stretch/>
        </p:blipFill>
        <p:spPr>
          <a:xfrm>
            <a:off x="-79458" y="-79829"/>
            <a:ext cx="4215566" cy="7017657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74CEE714-7890-5CC8-F156-C9261461D516}"/>
              </a:ext>
            </a:extLst>
          </p:cNvPr>
          <p:cNvSpPr/>
          <p:nvPr/>
        </p:nvSpPr>
        <p:spPr>
          <a:xfrm>
            <a:off x="3708400" y="1219200"/>
            <a:ext cx="7239000" cy="5080000"/>
          </a:xfrm>
          <a:prstGeom prst="rect">
            <a:avLst/>
          </a:prstGeom>
          <a:solidFill>
            <a:srgbClr val="EBECEE">
              <a:alpha val="92000"/>
            </a:srgbClr>
          </a:solidFill>
          <a:ln>
            <a:solidFill>
              <a:srgbClr val="E6E6E6"/>
            </a:solidFill>
          </a:ln>
          <a:effectLst>
            <a:outerShdw blurRad="101600" dist="37357" dir="2700000" rotWithShape="0">
              <a:scrgbClr r="0" g="0" b="0">
                <a:alpha val="45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04BC918-F2C3-3705-707D-7C7C451E71C9}"/>
              </a:ext>
            </a:extLst>
          </p:cNvPr>
          <p:cNvSpPr txBox="1"/>
          <p:nvPr/>
        </p:nvSpPr>
        <p:spPr>
          <a:xfrm>
            <a:off x="1524000" y="2603500"/>
            <a:ext cx="952500" cy="193899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zh-CN" altLang="en-US" sz="3000" b="1">
                <a:solidFill>
                  <a:srgbClr val="FFFFFF"/>
                </a:solidFill>
                <a:latin typeface="Microsoft YaHei" panose="020B0503020204020204" pitchFamily="34" charset="-122"/>
              </a:rPr>
              <a:t>汇
报
提
纲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D76D27B4-4668-E00A-1C55-1BE05C467B88}"/>
              </a:ext>
            </a:extLst>
          </p:cNvPr>
          <p:cNvCxnSpPr/>
          <p:nvPr/>
        </p:nvCxnSpPr>
        <p:spPr>
          <a:xfrm>
            <a:off x="1422400" y="3175000"/>
            <a:ext cx="0" cy="2540000"/>
          </a:xfrm>
          <a:prstGeom prst="line">
            <a:avLst/>
          </a:prstGeom>
          <a:ln w="6350" cap="flat" cmpd="sng" algn="ctr">
            <a:solidFill>
              <a:srgbClr val="D2E1F5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CC299DF7-EB2E-CDD0-101F-28BAC9DC92B4}"/>
              </a:ext>
            </a:extLst>
          </p:cNvPr>
          <p:cNvSpPr/>
          <p:nvPr/>
        </p:nvSpPr>
        <p:spPr>
          <a:xfrm>
            <a:off x="4635500" y="14224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8B88998-2463-0A0A-4AC0-53CE5BB726F6}"/>
              </a:ext>
            </a:extLst>
          </p:cNvPr>
          <p:cNvSpPr txBox="1"/>
          <p:nvPr/>
        </p:nvSpPr>
        <p:spPr>
          <a:xfrm>
            <a:off x="5143500" y="15113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1C524412-1923-027D-46D5-B137A5CCB9F2}"/>
              </a:ext>
            </a:extLst>
          </p:cNvPr>
          <p:cNvCxnSpPr/>
          <p:nvPr/>
        </p:nvCxnSpPr>
        <p:spPr>
          <a:xfrm>
            <a:off x="6172200" y="15748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79D096D6-DCE9-4D9B-A1BC-4A8065159B82}"/>
              </a:ext>
            </a:extLst>
          </p:cNvPr>
          <p:cNvSpPr txBox="1"/>
          <p:nvPr/>
        </p:nvSpPr>
        <p:spPr>
          <a:xfrm>
            <a:off x="6477000" y="15367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背景与现状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FFB8DC9-BE98-F9B8-FB1C-D81AABD2819F}"/>
              </a:ext>
            </a:extLst>
          </p:cNvPr>
          <p:cNvSpPr/>
          <p:nvPr/>
        </p:nvSpPr>
        <p:spPr>
          <a:xfrm>
            <a:off x="4635500" y="2349500"/>
            <a:ext cx="5842000" cy="736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892FBB3-975F-0277-FED4-408AFA3F22C7}"/>
              </a:ext>
            </a:extLst>
          </p:cNvPr>
          <p:cNvSpPr txBox="1"/>
          <p:nvPr/>
        </p:nvSpPr>
        <p:spPr>
          <a:xfrm>
            <a:off x="5143500" y="24384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27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9FE76E91-BAC7-FF87-C882-2A1D5ADD9FE3}"/>
              </a:ext>
            </a:extLst>
          </p:cNvPr>
          <p:cNvCxnSpPr/>
          <p:nvPr/>
        </p:nvCxnSpPr>
        <p:spPr>
          <a:xfrm>
            <a:off x="6172200" y="2501900"/>
            <a:ext cx="0" cy="43180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34E34C99-9206-AEDC-317A-7C841C6F1664}"/>
              </a:ext>
            </a:extLst>
          </p:cNvPr>
          <p:cNvSpPr txBox="1"/>
          <p:nvPr/>
        </p:nvSpPr>
        <p:spPr>
          <a:xfrm>
            <a:off x="6477000" y="24638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FFFFFF"/>
                </a:solidFill>
                <a:latin typeface="Microsoft YaHei" panose="020B0503020204020204" pitchFamily="34" charset="-122"/>
              </a:rPr>
              <a:t>候选架构研究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5B58D82-2AD9-4BFB-03F8-FC60B3B6FC8B}"/>
              </a:ext>
            </a:extLst>
          </p:cNvPr>
          <p:cNvSpPr/>
          <p:nvPr/>
        </p:nvSpPr>
        <p:spPr>
          <a:xfrm>
            <a:off x="4635500" y="32766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F45297-BE6F-DA74-A599-9B39057B3A22}"/>
              </a:ext>
            </a:extLst>
          </p:cNvPr>
          <p:cNvSpPr txBox="1"/>
          <p:nvPr/>
        </p:nvSpPr>
        <p:spPr>
          <a:xfrm>
            <a:off x="5143500" y="33655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E2053DF1-3181-57A0-B566-6CC32DBB64C0}"/>
              </a:ext>
            </a:extLst>
          </p:cNvPr>
          <p:cNvCxnSpPr/>
          <p:nvPr/>
        </p:nvCxnSpPr>
        <p:spPr>
          <a:xfrm>
            <a:off x="6172200" y="34290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809CEB42-8E28-7D7E-2FE7-921DF750D178}"/>
              </a:ext>
            </a:extLst>
          </p:cNvPr>
          <p:cNvSpPr txBox="1"/>
          <p:nvPr/>
        </p:nvSpPr>
        <p:spPr>
          <a:xfrm>
            <a:off x="6477000" y="33909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软件平台建设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CF33543-3EC3-2405-2076-82FB4E2D4836}"/>
              </a:ext>
            </a:extLst>
          </p:cNvPr>
          <p:cNvSpPr/>
          <p:nvPr/>
        </p:nvSpPr>
        <p:spPr>
          <a:xfrm>
            <a:off x="4635500" y="42037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A89EF0E-D2DA-B535-BFC8-1F9C32972AAA}"/>
              </a:ext>
            </a:extLst>
          </p:cNvPr>
          <p:cNvSpPr txBox="1"/>
          <p:nvPr/>
        </p:nvSpPr>
        <p:spPr>
          <a:xfrm>
            <a:off x="5143500" y="42926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A4A7780E-9F7F-EAB4-7763-87B8458AE424}"/>
              </a:ext>
            </a:extLst>
          </p:cNvPr>
          <p:cNvCxnSpPr/>
          <p:nvPr/>
        </p:nvCxnSpPr>
        <p:spPr>
          <a:xfrm>
            <a:off x="6172200" y="43561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EC2D5B53-99FE-7D9D-1BC4-60820C093DD5}"/>
              </a:ext>
            </a:extLst>
          </p:cNvPr>
          <p:cNvSpPr txBox="1"/>
          <p:nvPr/>
        </p:nvSpPr>
        <p:spPr>
          <a:xfrm>
            <a:off x="6477000" y="43180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实验计划与总结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DAEBCB5-96B0-4E15-DA34-050EF8CC522A}"/>
              </a:ext>
            </a:extLst>
          </p:cNvPr>
          <p:cNvSpPr/>
          <p:nvPr/>
        </p:nvSpPr>
        <p:spPr>
          <a:xfrm>
            <a:off x="4635500" y="51308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86D1C3C-5AEE-6E4B-2483-877036FE2EAF}"/>
              </a:ext>
            </a:extLst>
          </p:cNvPr>
          <p:cNvSpPr txBox="1"/>
          <p:nvPr/>
        </p:nvSpPr>
        <p:spPr>
          <a:xfrm>
            <a:off x="5143500" y="52197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05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503C052E-737E-6470-DB56-EFC7E05D12AB}"/>
              </a:ext>
            </a:extLst>
          </p:cNvPr>
          <p:cNvCxnSpPr/>
          <p:nvPr/>
        </p:nvCxnSpPr>
        <p:spPr>
          <a:xfrm>
            <a:off x="6172200" y="52832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C11A42D0-9F67-235F-95C0-27F33EBBAFAE}"/>
              </a:ext>
            </a:extLst>
          </p:cNvPr>
          <p:cNvSpPr txBox="1"/>
          <p:nvPr/>
        </p:nvSpPr>
        <p:spPr>
          <a:xfrm>
            <a:off x="6477000" y="52451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风险与总结</a:t>
            </a:r>
          </a:p>
        </p:txBody>
      </p:sp>
    </p:spTree>
    <p:extLst>
      <p:ext uri="{BB962C8B-B14F-4D97-AF65-F5344CB8AC3E}">
        <p14:creationId xmlns:p14="http://schemas.microsoft.com/office/powerpoint/2010/main" val="10746963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研究思路：融合与记忆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6A8EE37-184B-7052-8FA6-F25F82B41115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E3739F4-C295-94A4-692B-487FAD4D9E3A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候选架构 </a:t>
            </a:r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X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的核心思路是把多机制融合到同一可消融框架中进行评估。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4BE48A4-3E6F-6B58-117E-3EFC41D6C80B}"/>
              </a:ext>
            </a:extLst>
          </p:cNvPr>
          <p:cNvSpPr/>
          <p:nvPr/>
        </p:nvSpPr>
        <p:spPr>
          <a:xfrm>
            <a:off x="698500" y="2032000"/>
            <a:ext cx="23495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融合方案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9652D85-CB7A-A935-D3F6-60881D53353F}"/>
              </a:ext>
            </a:extLst>
          </p:cNvPr>
          <p:cNvSpPr/>
          <p:nvPr/>
        </p:nvSpPr>
        <p:spPr>
          <a:xfrm>
            <a:off x="698500" y="2489200"/>
            <a:ext cx="2349500" cy="1638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多专家输入
统一点图接口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974E39B-8595-46C4-1F18-E168D8E89BE5}"/>
              </a:ext>
            </a:extLst>
          </p:cNvPr>
          <p:cNvSpPr/>
          <p:nvPr/>
        </p:nvSpPr>
        <p:spPr>
          <a:xfrm>
            <a:off x="3492500" y="2032000"/>
            <a:ext cx="23495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记忆机制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32EE877-A2E8-F6B2-DAAD-7FA7F7D6986E}"/>
              </a:ext>
            </a:extLst>
          </p:cNvPr>
          <p:cNvSpPr/>
          <p:nvPr/>
        </p:nvSpPr>
        <p:spPr>
          <a:xfrm>
            <a:off x="3492500" y="2489200"/>
            <a:ext cx="2349500" cy="1638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状态记忆向量
空间锚点存储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ED54B04-006E-D9CA-EC3B-7B1675E972E9}"/>
              </a:ext>
            </a:extLst>
          </p:cNvPr>
          <p:cNvSpPr/>
          <p:nvPr/>
        </p:nvSpPr>
        <p:spPr>
          <a:xfrm>
            <a:off x="6286500" y="2032000"/>
            <a:ext cx="23495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稀疏注意力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9E01339-1471-4288-7CAE-2E9E9767BE39}"/>
              </a:ext>
            </a:extLst>
          </p:cNvPr>
          <p:cNvSpPr/>
          <p:nvPr/>
        </p:nvSpPr>
        <p:spPr>
          <a:xfrm>
            <a:off x="6286500" y="2489200"/>
            <a:ext cx="2349500" cy="1638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压缩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选择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滑窗
降低长序列负担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78AE468-764E-4EC9-2C16-15135ECDC3C4}"/>
              </a:ext>
            </a:extLst>
          </p:cNvPr>
          <p:cNvSpPr/>
          <p:nvPr/>
        </p:nvSpPr>
        <p:spPr>
          <a:xfrm>
            <a:off x="9080500" y="2032000"/>
            <a:ext cx="23495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几何校验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4124B12-3706-F014-7EE7-0C78F67E8637}"/>
              </a:ext>
            </a:extLst>
          </p:cNvPr>
          <p:cNvSpPr/>
          <p:nvPr/>
        </p:nvSpPr>
        <p:spPr>
          <a:xfrm>
            <a:off x="9080500" y="2489200"/>
            <a:ext cx="2349500" cy="1638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对极误差
深度一致性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6A02543-919D-39D0-C0DE-B8BD26E9C28C}"/>
              </a:ext>
            </a:extLst>
          </p:cNvPr>
          <p:cNvSpPr/>
          <p:nvPr/>
        </p:nvSpPr>
        <p:spPr>
          <a:xfrm>
            <a:off x="1143000" y="4953000"/>
            <a:ext cx="9906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研究重点不是简单拼接模型，而是建立感知、记忆、校验和编排之间的证据链。</a:t>
            </a:r>
          </a:p>
        </p:txBody>
      </p:sp>
    </p:spTree>
    <p:extLst>
      <p:ext uri="{BB962C8B-B14F-4D97-AF65-F5344CB8AC3E}">
        <p14:creationId xmlns:p14="http://schemas.microsoft.com/office/powerpoint/2010/main" val="1642383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候选架构 </a:t>
            </a:r>
            <a:r>
              <a:rPr lang="en-US" altLang="zh-CN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X</a:t>
            </a:r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：总体框架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E2C8C86-673A-5C33-BEBC-EDFAAC105B05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9B2E5AF-F715-155C-2146-8A116A980831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候选架构 </a:t>
            </a:r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X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是可退化、可评估的研究对象，不作为最终模型结论表述。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7665A08-0798-98D2-EFF1-33ECEF0F62C4}"/>
              </a:ext>
            </a:extLst>
          </p:cNvPr>
          <p:cNvSpPr/>
          <p:nvPr/>
        </p:nvSpPr>
        <p:spPr>
          <a:xfrm>
            <a:off x="698500" y="2095500"/>
            <a:ext cx="1778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输入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F45E2B9-9C03-0B97-F74E-5903304A54C2}"/>
              </a:ext>
            </a:extLst>
          </p:cNvPr>
          <p:cNvSpPr/>
          <p:nvPr/>
        </p:nvSpPr>
        <p:spPr>
          <a:xfrm>
            <a:off x="698500" y="2552700"/>
            <a:ext cx="17780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图像对
多视角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序列</a:t>
            </a: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22B497F4-7D7D-3B0A-BFC0-3A10D22C29B8}"/>
              </a:ext>
            </a:extLst>
          </p:cNvPr>
          <p:cNvSpPr/>
          <p:nvPr/>
        </p:nvSpPr>
        <p:spPr>
          <a:xfrm>
            <a:off x="2578100" y="2857500"/>
            <a:ext cx="482600" cy="3048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2BED56D-F91C-F6C3-C8A8-59488AE02DA9}"/>
              </a:ext>
            </a:extLst>
          </p:cNvPr>
          <p:cNvSpPr/>
          <p:nvPr/>
        </p:nvSpPr>
        <p:spPr>
          <a:xfrm>
            <a:off x="2984500" y="2095500"/>
            <a:ext cx="1778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感知融合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A791273-1418-C90F-38F7-BDDDE5A443C8}"/>
              </a:ext>
            </a:extLst>
          </p:cNvPr>
          <p:cNvSpPr/>
          <p:nvPr/>
        </p:nvSpPr>
        <p:spPr>
          <a:xfrm>
            <a:off x="2984500" y="2552700"/>
            <a:ext cx="17780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点图回归
特征先验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2C4C6C63-100F-E5A7-99D4-923CFC389BCF}"/>
              </a:ext>
            </a:extLst>
          </p:cNvPr>
          <p:cNvSpPr/>
          <p:nvPr/>
        </p:nvSpPr>
        <p:spPr>
          <a:xfrm>
            <a:off x="4864100" y="2857500"/>
            <a:ext cx="482600" cy="3048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BB119F4-1FCF-77DA-364F-1608509A05D8}"/>
              </a:ext>
            </a:extLst>
          </p:cNvPr>
          <p:cNvSpPr/>
          <p:nvPr/>
        </p:nvSpPr>
        <p:spPr>
          <a:xfrm>
            <a:off x="5270500" y="2095500"/>
            <a:ext cx="1778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记忆模块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77FD4BA-CF17-4842-2C32-7A85DE583325}"/>
              </a:ext>
            </a:extLst>
          </p:cNvPr>
          <p:cNvSpPr/>
          <p:nvPr/>
        </p:nvSpPr>
        <p:spPr>
          <a:xfrm>
            <a:off x="5270500" y="2552700"/>
            <a:ext cx="17780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状态向量
锚点检索</a:t>
            </a:r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6BDA6E67-E706-3F33-8EC1-8C219291613C}"/>
              </a:ext>
            </a:extLst>
          </p:cNvPr>
          <p:cNvSpPr/>
          <p:nvPr/>
        </p:nvSpPr>
        <p:spPr>
          <a:xfrm>
            <a:off x="7150100" y="2857500"/>
            <a:ext cx="482600" cy="3048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390569A-D68D-DD55-1DE5-176B14BFB252}"/>
              </a:ext>
            </a:extLst>
          </p:cNvPr>
          <p:cNvSpPr/>
          <p:nvPr/>
        </p:nvSpPr>
        <p:spPr>
          <a:xfrm>
            <a:off x="7556500" y="2095500"/>
            <a:ext cx="1778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校验编排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5D639F4-9F63-D4E3-4273-C52FA296B2EC}"/>
              </a:ext>
            </a:extLst>
          </p:cNvPr>
          <p:cNvSpPr/>
          <p:nvPr/>
        </p:nvSpPr>
        <p:spPr>
          <a:xfrm>
            <a:off x="7556500" y="2552700"/>
            <a:ext cx="17780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几何信号
专家路由</a:t>
            </a:r>
          </a:p>
        </p:txBody>
      </p:sp>
      <p:sp>
        <p:nvSpPr>
          <p:cNvPr id="15" name="箭头: 右 14">
            <a:extLst>
              <a:ext uri="{FF2B5EF4-FFF2-40B4-BE49-F238E27FC236}">
                <a16:creationId xmlns:a16="http://schemas.microsoft.com/office/drawing/2014/main" id="{43A0A189-1C89-74D4-41B7-5FEEE1650A4C}"/>
              </a:ext>
            </a:extLst>
          </p:cNvPr>
          <p:cNvSpPr/>
          <p:nvPr/>
        </p:nvSpPr>
        <p:spPr>
          <a:xfrm>
            <a:off x="9436100" y="2857500"/>
            <a:ext cx="482600" cy="3048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4E3C66C-E5D5-3A75-F573-A74110E226E7}"/>
              </a:ext>
            </a:extLst>
          </p:cNvPr>
          <p:cNvSpPr/>
          <p:nvPr/>
        </p:nvSpPr>
        <p:spPr>
          <a:xfrm>
            <a:off x="9842500" y="2095500"/>
            <a:ext cx="1778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输出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279C5B-F01D-1396-13FE-F0C905B003D7}"/>
              </a:ext>
            </a:extLst>
          </p:cNvPr>
          <p:cNvSpPr/>
          <p:nvPr/>
        </p:nvSpPr>
        <p:spPr>
          <a:xfrm>
            <a:off x="9842500" y="2552700"/>
            <a:ext cx="17780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pointmap
mask / metadata</a:t>
            </a:r>
            <a:endParaRPr lang="zh-CN" altLang="en-US" sz="1900">
              <a:solidFill>
                <a:srgbClr val="0818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CB9C11A-DAAC-5BE6-04B9-328C43326E05}"/>
              </a:ext>
            </a:extLst>
          </p:cNvPr>
          <p:cNvSpPr/>
          <p:nvPr/>
        </p:nvSpPr>
        <p:spPr>
          <a:xfrm>
            <a:off x="1206500" y="4762500"/>
            <a:ext cx="9779000" cy="635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100" b="1">
                <a:solidFill>
                  <a:srgbClr val="00285F"/>
                </a:solidFill>
                <a:latin typeface="Microsoft YaHei" panose="020B0503020204020204" pitchFamily="34" charset="-122"/>
              </a:rPr>
              <a:t>设计原则：每个模块都保留退化版本，用后续实验判断贡献边界。</a:t>
            </a:r>
          </a:p>
        </p:txBody>
      </p:sp>
    </p:spTree>
    <p:extLst>
      <p:ext uri="{BB962C8B-B14F-4D97-AF65-F5344CB8AC3E}">
        <p14:creationId xmlns:p14="http://schemas.microsoft.com/office/powerpoint/2010/main" val="21586505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感知与融合：骨干特征和多专家输入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9A00B6A-D21E-3106-9BB9-6637B33D2761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3487F6D-A367-229A-9837-2BF3C5C2C3CE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感知与融合层面向不同 </a:t>
            </a:r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模型的能力差异，统一到点图与元数据接口。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800BBE9-5006-0820-0B8C-0983AFC7E062}"/>
              </a:ext>
            </a:extLst>
          </p:cNvPr>
          <p:cNvSpPr/>
          <p:nvPr/>
        </p:nvSpPr>
        <p:spPr>
          <a:xfrm>
            <a:off x="762000" y="2032000"/>
            <a:ext cx="2286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视觉骨干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20E293C-2D44-BA57-D4A3-2A43EA546B8F}"/>
              </a:ext>
            </a:extLst>
          </p:cNvPr>
          <p:cNvSpPr/>
          <p:nvPr/>
        </p:nvSpPr>
        <p:spPr>
          <a:xfrm>
            <a:off x="762000" y="2489200"/>
            <a:ext cx="2286000" cy="157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DINO / 3R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特征
提供稠密视觉表示</a:t>
            </a: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241D5CAC-B156-92C4-226C-DAEA188CFC14}"/>
              </a:ext>
            </a:extLst>
          </p:cNvPr>
          <p:cNvSpPr/>
          <p:nvPr/>
        </p:nvSpPr>
        <p:spPr>
          <a:xfrm>
            <a:off x="3175000" y="2794000"/>
            <a:ext cx="457200" cy="2794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1E9B6CF-F73F-2CB0-3F19-8C21712EC1F9}"/>
              </a:ext>
            </a:extLst>
          </p:cNvPr>
          <p:cNvSpPr/>
          <p:nvPr/>
        </p:nvSpPr>
        <p:spPr>
          <a:xfrm>
            <a:off x="3556000" y="2032000"/>
            <a:ext cx="2286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点图接口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60BBE8E-0ABA-022E-B107-C955994034E3}"/>
              </a:ext>
            </a:extLst>
          </p:cNvPr>
          <p:cNvSpPr/>
          <p:nvPr/>
        </p:nvSpPr>
        <p:spPr>
          <a:xfrm>
            <a:off x="3556000" y="2489200"/>
            <a:ext cx="2286000" cy="157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pointmap / confidence
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作为统一几何语言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12DAF2BA-C592-1F71-C857-84FAB945CF7A}"/>
              </a:ext>
            </a:extLst>
          </p:cNvPr>
          <p:cNvSpPr/>
          <p:nvPr/>
        </p:nvSpPr>
        <p:spPr>
          <a:xfrm>
            <a:off x="5969000" y="2794000"/>
            <a:ext cx="457200" cy="2794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07D00B9-81CF-B22E-8F13-5A57D3FC6D48}"/>
              </a:ext>
            </a:extLst>
          </p:cNvPr>
          <p:cNvSpPr/>
          <p:nvPr/>
        </p:nvSpPr>
        <p:spPr>
          <a:xfrm>
            <a:off x="6350000" y="2032000"/>
            <a:ext cx="2286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专家输入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2B5617E-62B8-84B2-3698-DE79F440D403}"/>
              </a:ext>
            </a:extLst>
          </p:cNvPr>
          <p:cNvSpPr/>
          <p:nvPr/>
        </p:nvSpPr>
        <p:spPr>
          <a:xfrm>
            <a:off x="6350000" y="2489200"/>
            <a:ext cx="2286000" cy="157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pt-BR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DUSt3R / MASt3R
Fast3R / CUT3R </a:t>
            </a:r>
            <a:r>
              <a:rPr lang="zh-CN" altLang="pt-BR" sz="1900">
                <a:solidFill>
                  <a:srgbClr val="081830"/>
                </a:solidFill>
                <a:latin typeface="Microsoft YaHei" panose="020B0503020204020204" pitchFamily="34" charset="-122"/>
              </a:rPr>
              <a:t>等</a:t>
            </a:r>
            <a:endParaRPr lang="zh-CN" altLang="en-US" sz="1900">
              <a:solidFill>
                <a:srgbClr val="0818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A95EEB50-7276-DB1E-ED74-AEF1870296CB}"/>
              </a:ext>
            </a:extLst>
          </p:cNvPr>
          <p:cNvSpPr/>
          <p:nvPr/>
        </p:nvSpPr>
        <p:spPr>
          <a:xfrm>
            <a:off x="8763000" y="2794000"/>
            <a:ext cx="457200" cy="2794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3A821FD-B6B1-E6B5-7041-5E5185E215FD}"/>
              </a:ext>
            </a:extLst>
          </p:cNvPr>
          <p:cNvSpPr/>
          <p:nvPr/>
        </p:nvSpPr>
        <p:spPr>
          <a:xfrm>
            <a:off x="9144000" y="2032000"/>
            <a:ext cx="2286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融合输出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00925B2-7B4E-7480-9704-5050DA10E2D9}"/>
              </a:ext>
            </a:extLst>
          </p:cNvPr>
          <p:cNvSpPr/>
          <p:nvPr/>
        </p:nvSpPr>
        <p:spPr>
          <a:xfrm>
            <a:off x="9144000" y="2489200"/>
            <a:ext cx="2286000" cy="157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候选几何结果
进入校验与记忆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7452E6A-50F1-5756-C9DB-52AA9E38F8A4}"/>
              </a:ext>
            </a:extLst>
          </p:cNvPr>
          <p:cNvSpPr/>
          <p:nvPr/>
        </p:nvSpPr>
        <p:spPr>
          <a:xfrm>
            <a:off x="1206500" y="4953000"/>
            <a:ext cx="9779000" cy="5842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目的：不预设单一模型最优，而是在统一入口下比较不同模型的适用边界。</a:t>
            </a:r>
          </a:p>
        </p:txBody>
      </p:sp>
    </p:spTree>
    <p:extLst>
      <p:ext uri="{BB962C8B-B14F-4D97-AF65-F5344CB8AC3E}">
        <p14:creationId xmlns:p14="http://schemas.microsoft.com/office/powerpoint/2010/main" val="14082855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记忆机制：状态与锚点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448C4EF-A927-1C67-C565-EB05AF36F452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A12EE14-CD41-390B-71C8-A4A8FA1B0EC5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记忆模块面向长序列漂移问题，采用状态记忆、空间锚点和三分支稀疏注意力。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7124B65-0D8E-AF4A-D30B-E8383213BE3C}"/>
              </a:ext>
            </a:extLst>
          </p:cNvPr>
          <p:cNvSpPr/>
          <p:nvPr/>
        </p:nvSpPr>
        <p:spPr>
          <a:xfrm>
            <a:off x="889000" y="2032000"/>
            <a:ext cx="31115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状态记忆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D14BCCB-3F5B-9D3E-CBF6-82E58BA5BE65}"/>
              </a:ext>
            </a:extLst>
          </p:cNvPr>
          <p:cNvSpPr/>
          <p:nvPr/>
        </p:nvSpPr>
        <p:spPr>
          <a:xfrm>
            <a:off x="889000" y="2489200"/>
            <a:ext cx="3111500" cy="170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跨帧传递压缩状态
对应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CUT3R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类路线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EC3E3B5-E07C-8A42-5F08-DF47A3DA0ECF}"/>
              </a:ext>
            </a:extLst>
          </p:cNvPr>
          <p:cNvSpPr/>
          <p:nvPr/>
        </p:nvSpPr>
        <p:spPr>
          <a:xfrm>
            <a:off x="4635500" y="2032000"/>
            <a:ext cx="31115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空间锚点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DD8537F-6719-A2CE-7746-0667958D095C}"/>
              </a:ext>
            </a:extLst>
          </p:cNvPr>
          <p:cNvSpPr/>
          <p:nvPr/>
        </p:nvSpPr>
        <p:spPr>
          <a:xfrm>
            <a:off x="4635500" y="2489200"/>
            <a:ext cx="3111500" cy="170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保留可检索场景线索
对应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Point3R / Spann3R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类路线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5AB1EB7-457C-FBF5-8BFC-CB5532F108E2}"/>
              </a:ext>
            </a:extLst>
          </p:cNvPr>
          <p:cNvSpPr/>
          <p:nvPr/>
        </p:nvSpPr>
        <p:spPr>
          <a:xfrm>
            <a:off x="8382000" y="2032000"/>
            <a:ext cx="31115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稀疏注意力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ED7AB2C-0560-7219-A69E-7B72FA3ADFF9}"/>
              </a:ext>
            </a:extLst>
          </p:cNvPr>
          <p:cNvSpPr/>
          <p:nvPr/>
        </p:nvSpPr>
        <p:spPr>
          <a:xfrm>
            <a:off x="8382000" y="2489200"/>
            <a:ext cx="3111500" cy="170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压缩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选择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滑窗
降低长序列计算负担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C125077-41DC-5EB7-0139-3D089CA96E61}"/>
              </a:ext>
            </a:extLst>
          </p:cNvPr>
          <p:cNvSpPr/>
          <p:nvPr/>
        </p:nvSpPr>
        <p:spPr>
          <a:xfrm>
            <a:off x="1206500" y="4953000"/>
            <a:ext cx="9779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该设计仍是候选假设：</a:t>
            </a:r>
            <a:r>
              <a:rPr lang="en-US" altLang="zh-CN" b="1">
                <a:solidFill>
                  <a:srgbClr val="00285F"/>
                </a:solidFill>
                <a:latin typeface="Microsoft YaHei" panose="020B0503020204020204" pitchFamily="34" charset="-122"/>
              </a:rPr>
              <a:t>NSA </a:t>
            </a:r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迁移到 </a:t>
            </a:r>
            <a:r>
              <a:rPr lang="en-US" altLang="zh-CN" b="1">
                <a:solidFill>
                  <a:srgbClr val="00285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需要通过消融实验验证，不作为已证实结论。</a:t>
            </a:r>
          </a:p>
        </p:txBody>
      </p:sp>
    </p:spTree>
    <p:extLst>
      <p:ext uri="{BB962C8B-B14F-4D97-AF65-F5344CB8AC3E}">
        <p14:creationId xmlns:p14="http://schemas.microsoft.com/office/powerpoint/2010/main" val="35378274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校验机制：几何一致性与失败响应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DDE4611-D906-4BFC-4592-DF55FD11CD35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988FBB2-2D5E-A1B3-ED5F-AEC919DCB2C9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校验模块把几何一致性转化为可记录信号，用于发现和缓解典型失败模式。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C9278D0-69E5-A83E-1A49-4F1A6DFE1E81}"/>
              </a:ext>
            </a:extLst>
          </p:cNvPr>
          <p:cNvSpPr/>
          <p:nvPr/>
        </p:nvSpPr>
        <p:spPr>
          <a:xfrm>
            <a:off x="1206500" y="2095500"/>
            <a:ext cx="2159000" cy="6604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失败模式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A94ABDF-442D-64B0-907E-953ACA3EB336}"/>
              </a:ext>
            </a:extLst>
          </p:cNvPr>
          <p:cNvSpPr/>
          <p:nvPr/>
        </p:nvSpPr>
        <p:spPr>
          <a:xfrm>
            <a:off x="3619500" y="2095500"/>
            <a:ext cx="7366000" cy="66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>
                <a:solidFill>
                  <a:srgbClr val="081830"/>
                </a:solidFill>
                <a:latin typeface="Microsoft YaHei" panose="020B0503020204020204" pitchFamily="34" charset="-122"/>
              </a:rPr>
              <a:t>尺度漂移 </a:t>
            </a:r>
            <a:r>
              <a:rPr lang="en-US" altLang="zh-CN" sz="20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2000">
                <a:solidFill>
                  <a:srgbClr val="081830"/>
                </a:solidFill>
                <a:latin typeface="Microsoft YaHei" panose="020B0503020204020204" pitchFamily="34" charset="-122"/>
              </a:rPr>
              <a:t>长基线 </a:t>
            </a:r>
            <a:r>
              <a:rPr lang="en-US" altLang="zh-CN" sz="20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2000">
                <a:solidFill>
                  <a:srgbClr val="081830"/>
                </a:solidFill>
                <a:latin typeface="Microsoft YaHei" panose="020B0503020204020204" pitchFamily="34" charset="-122"/>
              </a:rPr>
              <a:t>动态干扰 </a:t>
            </a:r>
            <a:r>
              <a:rPr lang="en-US" altLang="zh-CN" sz="20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2000">
                <a:solidFill>
                  <a:srgbClr val="081830"/>
                </a:solidFill>
                <a:latin typeface="Microsoft YaHei" panose="020B0503020204020204" pitchFamily="34" charset="-122"/>
              </a:rPr>
              <a:t>弱纹理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2D38663-A05C-6EB0-5D1D-9927D19EA67D}"/>
              </a:ext>
            </a:extLst>
          </p:cNvPr>
          <p:cNvSpPr/>
          <p:nvPr/>
        </p:nvSpPr>
        <p:spPr>
          <a:xfrm>
            <a:off x="1206500" y="3086100"/>
            <a:ext cx="2159000" cy="6604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校验信号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3FCEA31-1B39-A39B-1BA0-2AE5527AE7D7}"/>
              </a:ext>
            </a:extLst>
          </p:cNvPr>
          <p:cNvSpPr/>
          <p:nvPr/>
        </p:nvSpPr>
        <p:spPr>
          <a:xfrm>
            <a:off x="3619500" y="3086100"/>
            <a:ext cx="7366000" cy="6604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00285F"/>
                </a:solidFill>
                <a:latin typeface="Microsoft YaHei" panose="020B0503020204020204" pitchFamily="34" charset="-122"/>
              </a:rPr>
              <a:t>对极误差 </a:t>
            </a:r>
            <a:r>
              <a:rPr lang="en-US" altLang="zh-CN" sz="2000" b="1">
                <a:solidFill>
                  <a:srgbClr val="00285F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2000" b="1">
                <a:solidFill>
                  <a:srgbClr val="00285F"/>
                </a:solidFill>
                <a:latin typeface="Microsoft YaHei" panose="020B0503020204020204" pitchFamily="34" charset="-122"/>
              </a:rPr>
              <a:t>深度一致性 </a:t>
            </a:r>
            <a:r>
              <a:rPr lang="en-US" altLang="zh-CN" sz="2000" b="1">
                <a:solidFill>
                  <a:srgbClr val="00285F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2000" b="1">
                <a:solidFill>
                  <a:srgbClr val="00285F"/>
                </a:solidFill>
                <a:latin typeface="Microsoft YaHei" panose="020B0503020204020204" pitchFamily="34" charset="-122"/>
              </a:rPr>
              <a:t>共视冲突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53FF589-AE28-15B0-46C3-BF2C19E87709}"/>
              </a:ext>
            </a:extLst>
          </p:cNvPr>
          <p:cNvSpPr/>
          <p:nvPr/>
        </p:nvSpPr>
        <p:spPr>
          <a:xfrm>
            <a:off x="1206500" y="4076700"/>
            <a:ext cx="2159000" cy="6604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修复动作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8B2EE0A-0A68-07E7-ED9A-BA15E5534E2A}"/>
              </a:ext>
            </a:extLst>
          </p:cNvPr>
          <p:cNvSpPr/>
          <p:nvPr/>
        </p:nvSpPr>
        <p:spPr>
          <a:xfrm>
            <a:off x="3619500" y="4076700"/>
            <a:ext cx="7366000" cy="66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>
                <a:solidFill>
                  <a:srgbClr val="081830"/>
                </a:solidFill>
                <a:latin typeface="Microsoft YaHei" panose="020B0503020204020204" pitchFamily="34" charset="-122"/>
              </a:rPr>
              <a:t>局部重跑 </a:t>
            </a:r>
            <a:r>
              <a:rPr lang="en-US" altLang="zh-CN" sz="20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2000">
                <a:solidFill>
                  <a:srgbClr val="081830"/>
                </a:solidFill>
                <a:latin typeface="Microsoft YaHei" panose="020B0503020204020204" pitchFamily="34" charset="-122"/>
              </a:rPr>
              <a:t>窗口重跑 </a:t>
            </a:r>
            <a:r>
              <a:rPr lang="en-US" altLang="zh-CN" sz="20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2000">
                <a:solidFill>
                  <a:srgbClr val="081830"/>
                </a:solidFill>
                <a:latin typeface="Microsoft YaHei" panose="020B0503020204020204" pitchFamily="34" charset="-122"/>
              </a:rPr>
              <a:t>切换专家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E6DFBFE-E390-FE01-4BFB-2DB5E21A7AEA}"/>
              </a:ext>
            </a:extLst>
          </p:cNvPr>
          <p:cNvSpPr/>
          <p:nvPr/>
        </p:nvSpPr>
        <p:spPr>
          <a:xfrm>
            <a:off x="1524000" y="5461000"/>
            <a:ext cx="9144000" cy="5334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验证路径：比较有无校验模块时的失败检出率、修复后误差和额外计算开销。</a:t>
            </a:r>
          </a:p>
        </p:txBody>
      </p:sp>
    </p:spTree>
    <p:extLst>
      <p:ext uri="{BB962C8B-B14F-4D97-AF65-F5344CB8AC3E}">
        <p14:creationId xmlns:p14="http://schemas.microsoft.com/office/powerpoint/2010/main" val="5446384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编排机制：专家路由与消融入口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539214D-CB3E-1B07-755B-61F77C25933E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8386AA7-0A59-66D9-3F00-FDADE812BF50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编排模块将多专家模型纳入同一选择过程，为融合方案提供可评估入口。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D1B28ED-5221-6C70-4D00-6E848652634B}"/>
              </a:ext>
            </a:extLst>
          </p:cNvPr>
          <p:cNvSpPr/>
          <p:nvPr/>
        </p:nvSpPr>
        <p:spPr>
          <a:xfrm>
            <a:off x="889000" y="2032000"/>
            <a:ext cx="2921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专家池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21A5828-C693-B525-C94C-AC1F69CF942A}"/>
              </a:ext>
            </a:extLst>
          </p:cNvPr>
          <p:cNvSpPr/>
          <p:nvPr/>
        </p:nvSpPr>
        <p:spPr>
          <a:xfrm>
            <a:off x="889000" y="2489200"/>
            <a:ext cx="2921000" cy="1511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pt-BR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MASt3R / Fast3R
Spann3R / CUT3R
MonST3R / Test3R</a:t>
            </a:r>
            <a:endParaRPr lang="zh-CN" altLang="en-US" sz="1900">
              <a:solidFill>
                <a:srgbClr val="0818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B02DCB6A-AC92-3AE2-B030-A7609C57ACEE}"/>
              </a:ext>
            </a:extLst>
          </p:cNvPr>
          <p:cNvSpPr/>
          <p:nvPr/>
        </p:nvSpPr>
        <p:spPr>
          <a:xfrm>
            <a:off x="4000500" y="2794000"/>
            <a:ext cx="558800" cy="3302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7147F4E-C5E7-97EA-6DEC-A8FBD1061742}"/>
              </a:ext>
            </a:extLst>
          </p:cNvPr>
          <p:cNvSpPr/>
          <p:nvPr/>
        </p:nvSpPr>
        <p:spPr>
          <a:xfrm>
            <a:off x="4826000" y="2032000"/>
            <a:ext cx="2921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路由依据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5DCB952-25C2-075F-AFAD-251A85FFFB77}"/>
              </a:ext>
            </a:extLst>
          </p:cNvPr>
          <p:cNvSpPr/>
          <p:nvPr/>
        </p:nvSpPr>
        <p:spPr>
          <a:xfrm>
            <a:off x="4826000" y="2489200"/>
            <a:ext cx="2921000" cy="1511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能力匹配度
成本约束
失败信号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865B71FE-2654-A73E-A0A8-1DAC22132556}"/>
              </a:ext>
            </a:extLst>
          </p:cNvPr>
          <p:cNvSpPr/>
          <p:nvPr/>
        </p:nvSpPr>
        <p:spPr>
          <a:xfrm>
            <a:off x="7937500" y="2794000"/>
            <a:ext cx="558800" cy="3302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14262BC-75F1-A45F-FE84-1ADEC3522956}"/>
              </a:ext>
            </a:extLst>
          </p:cNvPr>
          <p:cNvSpPr/>
          <p:nvPr/>
        </p:nvSpPr>
        <p:spPr>
          <a:xfrm>
            <a:off x="8763000" y="2032000"/>
            <a:ext cx="2667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实验入口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4CED368-98D1-8A21-27AF-3F0888AA13E7}"/>
              </a:ext>
            </a:extLst>
          </p:cNvPr>
          <p:cNvSpPr/>
          <p:nvPr/>
        </p:nvSpPr>
        <p:spPr>
          <a:xfrm>
            <a:off x="8763000" y="2489200"/>
            <a:ext cx="2667000" cy="1511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best-of-N
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单专家对照
消融分组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4FAEBA0-E6A2-D92F-2EDD-37841D207006}"/>
              </a:ext>
            </a:extLst>
          </p:cNvPr>
          <p:cNvSpPr/>
          <p:nvPr/>
        </p:nvSpPr>
        <p:spPr>
          <a:xfrm>
            <a:off x="1206500" y="4889500"/>
            <a:ext cx="9779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评估目标：判断多专家组合是否在指定场景下提供稳定收益，而非宣称普遍最优。</a:t>
            </a:r>
          </a:p>
        </p:txBody>
      </p:sp>
    </p:spTree>
    <p:extLst>
      <p:ext uri="{BB962C8B-B14F-4D97-AF65-F5344CB8AC3E}">
        <p14:creationId xmlns:p14="http://schemas.microsoft.com/office/powerpoint/2010/main" val="32752577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架构边界：候选方案与验证路径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38E2C12-8288-C672-2728-BFAF1FAE8F0C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9373723-6B72-123F-6040-121A3BE532F7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 dirty="0">
                <a:solidFill>
                  <a:srgbClr val="FFFFFF"/>
                </a:solidFill>
                <a:latin typeface="Microsoft YaHei" panose="020B0503020204020204" pitchFamily="34" charset="-122"/>
              </a:rPr>
              <a:t>架构研究的边界是提出候选并验证，不是宣称最终模型。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9661292-D933-4347-133A-28EB9A0E1E93}"/>
              </a:ext>
            </a:extLst>
          </p:cNvPr>
          <p:cNvSpPr/>
          <p:nvPr/>
        </p:nvSpPr>
        <p:spPr>
          <a:xfrm>
            <a:off x="1333500" y="2159000"/>
            <a:ext cx="1905000" cy="6604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已形成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87FC4C1-1D55-21E3-3151-63AEE900DE9A}"/>
              </a:ext>
            </a:extLst>
          </p:cNvPr>
          <p:cNvSpPr/>
          <p:nvPr/>
        </p:nvSpPr>
        <p:spPr>
          <a:xfrm>
            <a:off x="3556000" y="2159000"/>
            <a:ext cx="7302500" cy="66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>
                <a:solidFill>
                  <a:srgbClr val="081830"/>
                </a:solidFill>
                <a:latin typeface="Microsoft YaHei" panose="020B0503020204020204" pitchFamily="34" charset="-122"/>
              </a:rPr>
              <a:t>架构模块划分、信号契约、消融实验入口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A448526-0AAF-43EF-D4A4-86DEF7F928CC}"/>
              </a:ext>
            </a:extLst>
          </p:cNvPr>
          <p:cNvSpPr/>
          <p:nvPr/>
        </p:nvSpPr>
        <p:spPr>
          <a:xfrm>
            <a:off x="1333500" y="3149600"/>
            <a:ext cx="1905000" cy="6604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待验证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54768AB-4CA9-2A7E-43D3-874525778017}"/>
              </a:ext>
            </a:extLst>
          </p:cNvPr>
          <p:cNvSpPr/>
          <p:nvPr/>
        </p:nvSpPr>
        <p:spPr>
          <a:xfrm>
            <a:off x="3556000" y="3149600"/>
            <a:ext cx="7302500" cy="6604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00285F"/>
                </a:solidFill>
                <a:latin typeface="Microsoft YaHei" panose="020B0503020204020204" pitchFamily="34" charset="-122"/>
              </a:rPr>
              <a:t>NSA </a:t>
            </a:r>
            <a:r>
              <a:rPr lang="zh-CN" altLang="en-US" sz="2000" b="1">
                <a:solidFill>
                  <a:srgbClr val="00285F"/>
                </a:solidFill>
                <a:latin typeface="Microsoft YaHei" panose="020B0503020204020204" pitchFamily="34" charset="-122"/>
              </a:rPr>
              <a:t>迁移效果、记忆机制协同、多专家路由收益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6F31846-AC2E-A1CD-D28D-065AACF84399}"/>
              </a:ext>
            </a:extLst>
          </p:cNvPr>
          <p:cNvSpPr/>
          <p:nvPr/>
        </p:nvSpPr>
        <p:spPr>
          <a:xfrm>
            <a:off x="1333500" y="4140200"/>
            <a:ext cx="1905000" cy="6604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不宣称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6349634-BE9A-26DE-3685-A3A0FA1556E1}"/>
              </a:ext>
            </a:extLst>
          </p:cNvPr>
          <p:cNvSpPr/>
          <p:nvPr/>
        </p:nvSpPr>
        <p:spPr>
          <a:xfrm>
            <a:off x="3556000" y="4140200"/>
            <a:ext cx="7302500" cy="66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>
                <a:solidFill>
                  <a:srgbClr val="081830"/>
                </a:solidFill>
                <a:latin typeface="Microsoft YaHei" panose="020B0503020204020204" pitchFamily="34" charset="-122"/>
              </a:rPr>
              <a:t>不宣称候选架构优于所有现有 </a:t>
            </a:r>
            <a:r>
              <a:rPr lang="en-US" altLang="zh-CN" sz="2000">
                <a:solidFill>
                  <a:srgbClr val="081830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2000">
                <a:solidFill>
                  <a:srgbClr val="081830"/>
                </a:solidFill>
                <a:latin typeface="Microsoft YaHei" panose="020B0503020204020204" pitchFamily="34" charset="-122"/>
              </a:rPr>
              <a:t>方法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A9385B9-5CD9-BFF0-ACAB-A2438BADD854}"/>
              </a:ext>
            </a:extLst>
          </p:cNvPr>
          <p:cNvSpPr/>
          <p:nvPr/>
        </p:nvSpPr>
        <p:spPr>
          <a:xfrm>
            <a:off x="1460500" y="5461000"/>
            <a:ext cx="9271000" cy="5334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论文式表述：本研究考察候选架构在指定维度上的表现，并提供对照证据。</a:t>
            </a:r>
          </a:p>
        </p:txBody>
      </p:sp>
    </p:spTree>
    <p:extLst>
      <p:ext uri="{BB962C8B-B14F-4D97-AF65-F5344CB8AC3E}">
        <p14:creationId xmlns:p14="http://schemas.microsoft.com/office/powerpoint/2010/main" val="22065042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89">
            <a:extLst>
              <a:ext uri="{FF2B5EF4-FFF2-40B4-BE49-F238E27FC236}">
                <a16:creationId xmlns:a16="http://schemas.microsoft.com/office/drawing/2014/main" id="{E9CAE631-11B1-6B01-385A-60C92A6A83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10800000">
            <a:off x="-8340" y="1"/>
            <a:ext cx="12200340" cy="2868908"/>
          </a:xfrm>
          <a:prstGeom prst="rect">
            <a:avLst/>
          </a:prstGeom>
        </p:spPr>
      </p:pic>
      <p:pic>
        <p:nvPicPr>
          <p:cNvPr id="45" name="图片 44">
            <a:extLst>
              <a:ext uri="{FF2B5EF4-FFF2-40B4-BE49-F238E27FC236}">
                <a16:creationId xmlns:a16="http://schemas.microsoft.com/office/drawing/2014/main" id="{9C7262D3-C5E7-98B9-085E-5298B67D1C9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6168"/>
          <a:stretch/>
        </p:blipFill>
        <p:spPr>
          <a:xfrm flipH="1">
            <a:off x="0" y="4270329"/>
            <a:ext cx="12192000" cy="2600960"/>
          </a:xfrm>
          <a:prstGeom prst="rect">
            <a:avLst/>
          </a:prstGeom>
        </p:spPr>
      </p:pic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A03CD020-8E49-BC23-82FE-80B9ABCA3972}"/>
              </a:ext>
            </a:extLst>
          </p:cNvPr>
          <p:cNvSpPr/>
          <p:nvPr/>
        </p:nvSpPr>
        <p:spPr>
          <a:xfrm>
            <a:off x="-100120" y="-79828"/>
            <a:ext cx="4207663" cy="7017657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/>
              </a:gs>
              <a:gs pos="100000">
                <a:schemeClr val="accent2">
                  <a:lumMod val="50000"/>
                </a:schemeClr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outerShdw blurRad="165100" dist="38100" dir="2700000" algn="tl" rotWithShape="0">
              <a:sysClr val="window" lastClr="FFFFFF">
                <a:lumMod val="85000"/>
                <a:alpha val="35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72" name="图片 71">
            <a:extLst>
              <a:ext uri="{FF2B5EF4-FFF2-40B4-BE49-F238E27FC236}">
                <a16:creationId xmlns:a16="http://schemas.microsoft.com/office/drawing/2014/main" id="{9EEBD94C-B44D-2A8B-AC9A-D4C40C3FAC2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60" r="29859"/>
          <a:stretch/>
        </p:blipFill>
        <p:spPr>
          <a:xfrm>
            <a:off x="-79458" y="-79829"/>
            <a:ext cx="4215566" cy="7017657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C06B0D2F-4A2B-0386-9C0B-663D25E97D6C}"/>
              </a:ext>
            </a:extLst>
          </p:cNvPr>
          <p:cNvSpPr/>
          <p:nvPr/>
        </p:nvSpPr>
        <p:spPr>
          <a:xfrm>
            <a:off x="3708400" y="1219200"/>
            <a:ext cx="7239000" cy="5080000"/>
          </a:xfrm>
          <a:prstGeom prst="rect">
            <a:avLst/>
          </a:prstGeom>
          <a:solidFill>
            <a:srgbClr val="EBECEE">
              <a:alpha val="92000"/>
            </a:srgbClr>
          </a:solidFill>
          <a:ln>
            <a:solidFill>
              <a:srgbClr val="E6E6E6"/>
            </a:solidFill>
          </a:ln>
          <a:effectLst>
            <a:outerShdw blurRad="101600" dist="37357" dir="2700000" rotWithShape="0">
              <a:scrgbClr r="0" g="0" b="0">
                <a:alpha val="45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E8D7A2E-5610-04B2-CA60-50BF55B1BAD1}"/>
              </a:ext>
            </a:extLst>
          </p:cNvPr>
          <p:cNvSpPr txBox="1"/>
          <p:nvPr/>
        </p:nvSpPr>
        <p:spPr>
          <a:xfrm>
            <a:off x="1524000" y="2603500"/>
            <a:ext cx="952500" cy="193899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zh-CN" altLang="en-US" sz="3000" b="1">
                <a:solidFill>
                  <a:srgbClr val="FFFFFF"/>
                </a:solidFill>
                <a:latin typeface="Microsoft YaHei" panose="020B0503020204020204" pitchFamily="34" charset="-122"/>
              </a:rPr>
              <a:t>汇
报
提
纲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C4AA9C62-1A54-5D94-B7E4-25BFB112DE20}"/>
              </a:ext>
            </a:extLst>
          </p:cNvPr>
          <p:cNvCxnSpPr/>
          <p:nvPr/>
        </p:nvCxnSpPr>
        <p:spPr>
          <a:xfrm>
            <a:off x="1422400" y="3175000"/>
            <a:ext cx="0" cy="2540000"/>
          </a:xfrm>
          <a:prstGeom prst="line">
            <a:avLst/>
          </a:prstGeom>
          <a:ln w="6350" cap="flat" cmpd="sng" algn="ctr">
            <a:solidFill>
              <a:srgbClr val="D2E1F5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5CD1A538-2082-18A5-5511-10DB205F5D7B}"/>
              </a:ext>
            </a:extLst>
          </p:cNvPr>
          <p:cNvSpPr/>
          <p:nvPr/>
        </p:nvSpPr>
        <p:spPr>
          <a:xfrm>
            <a:off x="4635500" y="14224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CA62719-BBB0-D501-818F-3FB1EF02D8BA}"/>
              </a:ext>
            </a:extLst>
          </p:cNvPr>
          <p:cNvSpPr txBox="1"/>
          <p:nvPr/>
        </p:nvSpPr>
        <p:spPr>
          <a:xfrm>
            <a:off x="5143500" y="15113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D941D6C0-1812-89C2-4687-D3519B7E7E9B}"/>
              </a:ext>
            </a:extLst>
          </p:cNvPr>
          <p:cNvCxnSpPr/>
          <p:nvPr/>
        </p:nvCxnSpPr>
        <p:spPr>
          <a:xfrm>
            <a:off x="6172200" y="15748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DCA54E7B-D715-7F00-E67B-B5E67D4BAD2F}"/>
              </a:ext>
            </a:extLst>
          </p:cNvPr>
          <p:cNvSpPr txBox="1"/>
          <p:nvPr/>
        </p:nvSpPr>
        <p:spPr>
          <a:xfrm>
            <a:off x="6477000" y="15367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背景与现状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BEAD38F-D9DA-C64B-51CD-0CCF90E1F369}"/>
              </a:ext>
            </a:extLst>
          </p:cNvPr>
          <p:cNvSpPr/>
          <p:nvPr/>
        </p:nvSpPr>
        <p:spPr>
          <a:xfrm>
            <a:off x="4635500" y="23495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C7A90C8-A97B-841A-8E89-75E40683BB13}"/>
              </a:ext>
            </a:extLst>
          </p:cNvPr>
          <p:cNvSpPr txBox="1"/>
          <p:nvPr/>
        </p:nvSpPr>
        <p:spPr>
          <a:xfrm>
            <a:off x="5143500" y="24384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4FEC30B0-572A-B972-237C-2ED2E7DB4D5C}"/>
              </a:ext>
            </a:extLst>
          </p:cNvPr>
          <p:cNvCxnSpPr/>
          <p:nvPr/>
        </p:nvCxnSpPr>
        <p:spPr>
          <a:xfrm>
            <a:off x="6172200" y="25019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E97F6245-8474-5B48-FD1C-E2308D629170}"/>
              </a:ext>
            </a:extLst>
          </p:cNvPr>
          <p:cNvSpPr txBox="1"/>
          <p:nvPr/>
        </p:nvSpPr>
        <p:spPr>
          <a:xfrm>
            <a:off x="6477000" y="24638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候选架构研究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5F8B2A4-2FC7-53DB-3559-A328C4460D7D}"/>
              </a:ext>
            </a:extLst>
          </p:cNvPr>
          <p:cNvSpPr/>
          <p:nvPr/>
        </p:nvSpPr>
        <p:spPr>
          <a:xfrm>
            <a:off x="4635500" y="3276600"/>
            <a:ext cx="5842000" cy="736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3167D27-91AF-7793-646D-250C019E264D}"/>
              </a:ext>
            </a:extLst>
          </p:cNvPr>
          <p:cNvSpPr txBox="1"/>
          <p:nvPr/>
        </p:nvSpPr>
        <p:spPr>
          <a:xfrm>
            <a:off x="5143500" y="33655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27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2E13697F-2FA7-5D05-1026-459774644D71}"/>
              </a:ext>
            </a:extLst>
          </p:cNvPr>
          <p:cNvCxnSpPr/>
          <p:nvPr/>
        </p:nvCxnSpPr>
        <p:spPr>
          <a:xfrm>
            <a:off x="6172200" y="3429000"/>
            <a:ext cx="0" cy="43180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6143AB10-B8E2-DE20-A217-676B30ED82F3}"/>
              </a:ext>
            </a:extLst>
          </p:cNvPr>
          <p:cNvSpPr txBox="1"/>
          <p:nvPr/>
        </p:nvSpPr>
        <p:spPr>
          <a:xfrm>
            <a:off x="6477000" y="33909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FFFFFF"/>
                </a:solidFill>
                <a:latin typeface="Microsoft YaHei" panose="020B0503020204020204" pitchFamily="34" charset="-122"/>
              </a:rPr>
              <a:t>软件平台建设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449C47D-6492-6080-F085-6C6DE46801AE}"/>
              </a:ext>
            </a:extLst>
          </p:cNvPr>
          <p:cNvSpPr/>
          <p:nvPr/>
        </p:nvSpPr>
        <p:spPr>
          <a:xfrm>
            <a:off x="4635500" y="42037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52C007F-0C70-C0E3-7167-04EF63717F51}"/>
              </a:ext>
            </a:extLst>
          </p:cNvPr>
          <p:cNvSpPr txBox="1"/>
          <p:nvPr/>
        </p:nvSpPr>
        <p:spPr>
          <a:xfrm>
            <a:off x="5143500" y="42926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5EA36D4A-95CD-6F20-CF1C-37797BB8E5CB}"/>
              </a:ext>
            </a:extLst>
          </p:cNvPr>
          <p:cNvCxnSpPr/>
          <p:nvPr/>
        </p:nvCxnSpPr>
        <p:spPr>
          <a:xfrm>
            <a:off x="6172200" y="43561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C5E1DE27-CE4B-7106-8897-AD2A9DECB919}"/>
              </a:ext>
            </a:extLst>
          </p:cNvPr>
          <p:cNvSpPr txBox="1"/>
          <p:nvPr/>
        </p:nvSpPr>
        <p:spPr>
          <a:xfrm>
            <a:off x="6477000" y="43180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实验计划与总结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AB0772B-7227-2905-D438-C71FD40650A6}"/>
              </a:ext>
            </a:extLst>
          </p:cNvPr>
          <p:cNvSpPr/>
          <p:nvPr/>
        </p:nvSpPr>
        <p:spPr>
          <a:xfrm>
            <a:off x="4635500" y="51308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29C2211-4977-6A2F-75F2-7E47E1E37359}"/>
              </a:ext>
            </a:extLst>
          </p:cNvPr>
          <p:cNvSpPr txBox="1"/>
          <p:nvPr/>
        </p:nvSpPr>
        <p:spPr>
          <a:xfrm>
            <a:off x="5143500" y="52197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05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ABF50EFA-4848-1D83-70AE-1E0C1994904E}"/>
              </a:ext>
            </a:extLst>
          </p:cNvPr>
          <p:cNvCxnSpPr/>
          <p:nvPr/>
        </p:nvCxnSpPr>
        <p:spPr>
          <a:xfrm>
            <a:off x="6172200" y="52832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1C19B1C0-35A9-31DD-4EFA-69F2D890BEC7}"/>
              </a:ext>
            </a:extLst>
          </p:cNvPr>
          <p:cNvSpPr txBox="1"/>
          <p:nvPr/>
        </p:nvSpPr>
        <p:spPr>
          <a:xfrm>
            <a:off x="6477000" y="52451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风险与总结</a:t>
            </a:r>
          </a:p>
        </p:txBody>
      </p:sp>
    </p:spTree>
    <p:extLst>
      <p:ext uri="{BB962C8B-B14F-4D97-AF65-F5344CB8AC3E}">
        <p14:creationId xmlns:p14="http://schemas.microsoft.com/office/powerpoint/2010/main" val="977278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平台定位：多模型实验基础设施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3B90AD0-93D3-BCBF-C3FE-4805C1990778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00DB48D-3097-5CF6-03CB-5B6FC1C57AFE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平台作为第二主体，服务于多模型实验的执行、记录、比较和后续扩展。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435FA40-D5E5-392C-430F-EE9012B1565C}"/>
              </a:ext>
            </a:extLst>
          </p:cNvPr>
          <p:cNvSpPr/>
          <p:nvPr/>
        </p:nvSpPr>
        <p:spPr>
          <a:xfrm>
            <a:off x="825500" y="2095500"/>
            <a:ext cx="23495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统一入口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78E865B-98AB-1699-FF64-953E9FFA4675}"/>
              </a:ext>
            </a:extLst>
          </p:cNvPr>
          <p:cNvSpPr/>
          <p:nvPr/>
        </p:nvSpPr>
        <p:spPr>
          <a:xfrm>
            <a:off x="825500" y="2552700"/>
            <a:ext cx="2349500" cy="157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模型注册
任务提交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63A359F-40BA-689A-259F-292D6EB90E5C}"/>
              </a:ext>
            </a:extLst>
          </p:cNvPr>
          <p:cNvSpPr/>
          <p:nvPr/>
        </p:nvSpPr>
        <p:spPr>
          <a:xfrm>
            <a:off x="3619500" y="2095500"/>
            <a:ext cx="23495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统一记录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F713D11-7ABA-6334-FBF2-85E7C940FE87}"/>
              </a:ext>
            </a:extLst>
          </p:cNvPr>
          <p:cNvSpPr/>
          <p:nvPr/>
        </p:nvSpPr>
        <p:spPr>
          <a:xfrm>
            <a:off x="3619500" y="2552700"/>
            <a:ext cx="2349500" cy="157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状态文件
日志归档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03487C3-D541-EEE5-A019-CF93E4EFFD90}"/>
              </a:ext>
            </a:extLst>
          </p:cNvPr>
          <p:cNvSpPr/>
          <p:nvPr/>
        </p:nvSpPr>
        <p:spPr>
          <a:xfrm>
            <a:off x="6413500" y="2095500"/>
            <a:ext cx="2349500" cy="431800"/>
          </a:xfrm>
          <a:prstGeom prst="rect">
            <a:avLst/>
          </a:prstGeom>
          <a:solidFill>
            <a:srgbClr val="26915F"/>
          </a:solidFill>
          <a:ln w="12700">
            <a:solidFill>
              <a:srgbClr val="2691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统一比较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2231654-F8C8-E710-5033-E7C263EC191B}"/>
              </a:ext>
            </a:extLst>
          </p:cNvPr>
          <p:cNvSpPr/>
          <p:nvPr/>
        </p:nvSpPr>
        <p:spPr>
          <a:xfrm>
            <a:off x="6413500" y="2552700"/>
            <a:ext cx="2349500" cy="157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691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输出元数据
对比矩阵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23D255F-A582-61C7-B31E-FFF5F150A682}"/>
              </a:ext>
            </a:extLst>
          </p:cNvPr>
          <p:cNvSpPr/>
          <p:nvPr/>
        </p:nvSpPr>
        <p:spPr>
          <a:xfrm>
            <a:off x="9207500" y="2095500"/>
            <a:ext cx="2349500" cy="431800"/>
          </a:xfrm>
          <a:prstGeom prst="rect">
            <a:avLst/>
          </a:prstGeom>
          <a:solidFill>
            <a:srgbClr val="26915F"/>
          </a:solidFill>
          <a:ln w="12700">
            <a:solidFill>
              <a:srgbClr val="2691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后续扩展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8A17D2D-3B46-2E85-D5A1-D82609187B61}"/>
              </a:ext>
            </a:extLst>
          </p:cNvPr>
          <p:cNvSpPr/>
          <p:nvPr/>
        </p:nvSpPr>
        <p:spPr>
          <a:xfrm>
            <a:off x="9207500" y="2552700"/>
            <a:ext cx="2349500" cy="157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691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新模型接入
报告导出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DDE5DF8-BC4B-DC5A-4FE1-CE238072971D}"/>
              </a:ext>
            </a:extLst>
          </p:cNvPr>
          <p:cNvSpPr/>
          <p:nvPr/>
        </p:nvSpPr>
        <p:spPr>
          <a:xfrm>
            <a:off x="1206500" y="4953000"/>
            <a:ext cx="9779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平台不是附属展示界面，而是支撑候选架构实验和多模型评测的工程基础设施。</a:t>
            </a:r>
          </a:p>
        </p:txBody>
      </p:sp>
    </p:spTree>
    <p:extLst>
      <p:ext uri="{BB962C8B-B14F-4D97-AF65-F5344CB8AC3E}">
        <p14:creationId xmlns:p14="http://schemas.microsoft.com/office/powerpoint/2010/main" val="2682279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0" y="269201"/>
            <a:ext cx="670626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 dirty="0">
                <a:solidFill>
                  <a:srgbClr val="00285F"/>
                </a:solidFill>
                <a:latin typeface="Microsoft YaHei" panose="020B0503020204020204" pitchFamily="34" charset="-122"/>
              </a:rPr>
              <a:t>平台功能：任务、模型、结果与评测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4106139-78B0-84CC-5CA4-BCE895021F41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05553C-60E6-A2CC-EDEB-86F17B37211E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平台建设围绕任务管理、模型管理、结果管理和评测管理四类功能展开。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68E9272-20C2-9A9D-38D6-8B77A9CD9635}"/>
              </a:ext>
            </a:extLst>
          </p:cNvPr>
          <p:cNvSpPr/>
          <p:nvPr/>
        </p:nvSpPr>
        <p:spPr>
          <a:xfrm>
            <a:off x="889000" y="1841500"/>
            <a:ext cx="19050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任务管理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F49D6BB-B1D9-576F-1D04-637EA84B9EAA}"/>
              </a:ext>
            </a:extLst>
          </p:cNvPr>
          <p:cNvSpPr/>
          <p:nvPr/>
        </p:nvSpPr>
        <p:spPr>
          <a:xfrm>
            <a:off x="3111500" y="1841500"/>
            <a:ext cx="7874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>
                <a:solidFill>
                  <a:srgbClr val="081830"/>
                </a:solidFill>
                <a:latin typeface="Microsoft YaHei" panose="020B0503020204020204" pitchFamily="34" charset="-122"/>
              </a:rPr>
              <a:t>样本选择 </a:t>
            </a:r>
            <a:r>
              <a:rPr lang="en-US" altLang="zh-CN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>
                <a:solidFill>
                  <a:srgbClr val="081830"/>
                </a:solidFill>
                <a:latin typeface="Microsoft YaHei" panose="020B0503020204020204" pitchFamily="34" charset="-122"/>
              </a:rPr>
              <a:t>参数配置 </a:t>
            </a:r>
            <a:r>
              <a:rPr lang="en-US" altLang="zh-CN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>
                <a:solidFill>
                  <a:srgbClr val="081830"/>
                </a:solidFill>
                <a:latin typeface="Microsoft YaHei" panose="020B0503020204020204" pitchFamily="34" charset="-122"/>
              </a:rPr>
              <a:t>状态追踪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6E20861-DD4E-0AEB-4D20-2569B25CCF90}"/>
              </a:ext>
            </a:extLst>
          </p:cNvPr>
          <p:cNvSpPr/>
          <p:nvPr/>
        </p:nvSpPr>
        <p:spPr>
          <a:xfrm>
            <a:off x="889000" y="2679700"/>
            <a:ext cx="19050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模型管理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7EA4A8E-21B2-E738-19C2-26B63D6741BD}"/>
              </a:ext>
            </a:extLst>
          </p:cNvPr>
          <p:cNvSpPr/>
          <p:nvPr/>
        </p:nvSpPr>
        <p:spPr>
          <a:xfrm>
            <a:off x="3111500" y="2679700"/>
            <a:ext cx="7874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>
                <a:solidFill>
                  <a:srgbClr val="00285F"/>
                </a:solidFill>
                <a:latin typeface="Microsoft YaHei" panose="020B0503020204020204" pitchFamily="34" charset="-122"/>
              </a:rPr>
              <a:t>注册表 </a:t>
            </a:r>
            <a:r>
              <a:rPr lang="en-US" altLang="zh-CN">
                <a:solidFill>
                  <a:srgbClr val="00285F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>
                <a:solidFill>
                  <a:srgbClr val="00285F"/>
                </a:solidFill>
                <a:latin typeface="Microsoft YaHei" panose="020B0503020204020204" pitchFamily="34" charset="-122"/>
              </a:rPr>
              <a:t>执行器 </a:t>
            </a:r>
            <a:r>
              <a:rPr lang="en-US" altLang="zh-CN">
                <a:solidFill>
                  <a:srgbClr val="00285F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>
                <a:solidFill>
                  <a:srgbClr val="00285F"/>
                </a:solidFill>
                <a:latin typeface="Microsoft YaHei" panose="020B0503020204020204" pitchFamily="34" charset="-122"/>
              </a:rPr>
              <a:t>环境隔离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90F48BE-1457-DF2E-006B-18155BD18046}"/>
              </a:ext>
            </a:extLst>
          </p:cNvPr>
          <p:cNvSpPr/>
          <p:nvPr/>
        </p:nvSpPr>
        <p:spPr>
          <a:xfrm>
            <a:off x="889000" y="3517900"/>
            <a:ext cx="19050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结果管理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4D0B07A-8103-2686-9AC2-761F3ACA97B2}"/>
              </a:ext>
            </a:extLst>
          </p:cNvPr>
          <p:cNvSpPr/>
          <p:nvPr/>
        </p:nvSpPr>
        <p:spPr>
          <a:xfrm>
            <a:off x="3111500" y="3517900"/>
            <a:ext cx="7874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>
                <a:solidFill>
                  <a:srgbClr val="081830"/>
                </a:solidFill>
                <a:latin typeface="Microsoft YaHei" panose="020B0503020204020204" pitchFamily="34" charset="-122"/>
              </a:rPr>
              <a:t>产物回传 </a:t>
            </a:r>
            <a:r>
              <a:rPr lang="en-US" altLang="zh-CN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>
                <a:solidFill>
                  <a:srgbClr val="081830"/>
                </a:solidFill>
                <a:latin typeface="Microsoft YaHei" panose="020B0503020204020204" pitchFamily="34" charset="-122"/>
              </a:rPr>
              <a:t>元数据归档 </a:t>
            </a:r>
            <a:r>
              <a:rPr lang="en-US" altLang="zh-CN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>
                <a:solidFill>
                  <a:srgbClr val="081830"/>
                </a:solidFill>
                <a:latin typeface="Microsoft YaHei" panose="020B0503020204020204" pitchFamily="34" charset="-122"/>
              </a:rPr>
              <a:t>日志查询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F39C1D8-7D55-5D4A-BE00-99A3795FB781}"/>
              </a:ext>
            </a:extLst>
          </p:cNvPr>
          <p:cNvSpPr/>
          <p:nvPr/>
        </p:nvSpPr>
        <p:spPr>
          <a:xfrm>
            <a:off x="889000" y="4356100"/>
            <a:ext cx="19050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评测管理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55EB0E8-A90B-4560-782B-23583DFD78B6}"/>
              </a:ext>
            </a:extLst>
          </p:cNvPr>
          <p:cNvSpPr/>
          <p:nvPr/>
        </p:nvSpPr>
        <p:spPr>
          <a:xfrm>
            <a:off x="3111500" y="4356100"/>
            <a:ext cx="7874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>
                <a:solidFill>
                  <a:srgbClr val="00285F"/>
                </a:solidFill>
                <a:latin typeface="Microsoft YaHei" panose="020B0503020204020204" pitchFamily="34" charset="-122"/>
              </a:rPr>
              <a:t>自动指标 </a:t>
            </a:r>
            <a:r>
              <a:rPr lang="en-US" altLang="zh-CN">
                <a:solidFill>
                  <a:srgbClr val="00285F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>
                <a:solidFill>
                  <a:srgbClr val="00285F"/>
                </a:solidFill>
                <a:latin typeface="Microsoft YaHei" panose="020B0503020204020204" pitchFamily="34" charset="-122"/>
              </a:rPr>
              <a:t>对比矩阵 </a:t>
            </a:r>
            <a:r>
              <a:rPr lang="en-US" altLang="zh-CN">
                <a:solidFill>
                  <a:srgbClr val="00285F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>
                <a:solidFill>
                  <a:srgbClr val="00285F"/>
                </a:solidFill>
                <a:latin typeface="Microsoft YaHei" panose="020B0503020204020204" pitchFamily="34" charset="-122"/>
              </a:rPr>
              <a:t>报告入口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9FC653E-1BD1-8E08-168B-6A91CF963109}"/>
              </a:ext>
            </a:extLst>
          </p:cNvPr>
          <p:cNvSpPr/>
          <p:nvPr/>
        </p:nvSpPr>
        <p:spPr>
          <a:xfrm>
            <a:off x="1460500" y="5461000"/>
            <a:ext cx="9271000" cy="4572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 dirty="0">
                <a:solidFill>
                  <a:srgbClr val="00285F"/>
                </a:solidFill>
                <a:latin typeface="Microsoft YaHei" panose="020B0503020204020204" pitchFamily="34" charset="-122"/>
              </a:rPr>
              <a:t>本阶段重点说明功能闭环，界面展示不作为平台评价依据。</a:t>
            </a:r>
          </a:p>
        </p:txBody>
      </p:sp>
    </p:spTree>
    <p:extLst>
      <p:ext uri="{BB962C8B-B14F-4D97-AF65-F5344CB8AC3E}">
        <p14:creationId xmlns:p14="http://schemas.microsoft.com/office/powerpoint/2010/main" val="35558572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软件架构：桌面端到远端执行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F097F06-B5DE-4614-B18A-8A3E483A0144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CC13DF6-0CB4-3146-2948-92810AECED5B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软件平台采用桌面端交互、本地服务封装、远端 </a:t>
            </a:r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GPU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执行的分离架构。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3E43248-4C77-3D49-A0E3-6BDC57DCDD05}"/>
              </a:ext>
            </a:extLst>
          </p:cNvPr>
          <p:cNvSpPr/>
          <p:nvPr/>
        </p:nvSpPr>
        <p:spPr>
          <a:xfrm>
            <a:off x="698500" y="1841500"/>
            <a:ext cx="19050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桌面端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0CF1C3A-3727-2E6F-D7E0-0D5D81CE95CA}"/>
              </a:ext>
            </a:extLst>
          </p:cNvPr>
          <p:cNvSpPr/>
          <p:nvPr/>
        </p:nvSpPr>
        <p:spPr>
          <a:xfrm>
            <a:off x="2794000" y="1841500"/>
            <a:ext cx="2667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600" b="1">
                <a:solidFill>
                  <a:srgbClr val="00285F"/>
                </a:solidFill>
                <a:latin typeface="Microsoft YaHei" panose="020B0503020204020204" pitchFamily="34" charset="-122"/>
              </a:rPr>
              <a:t>Tauri 2 + React</a:t>
            </a:r>
            <a:endParaRPr lang="zh-CN" altLang="en-US" sz="16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1D13EE4-BA72-45E7-1994-8C9ED6071129}"/>
              </a:ext>
            </a:extLst>
          </p:cNvPr>
          <p:cNvSpPr/>
          <p:nvPr/>
        </p:nvSpPr>
        <p:spPr>
          <a:xfrm>
            <a:off x="5651500" y="1841500"/>
            <a:ext cx="5715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>
                <a:solidFill>
                  <a:srgbClr val="081830"/>
                </a:solidFill>
                <a:latin typeface="Microsoft YaHei" panose="020B0503020204020204" pitchFamily="34" charset="-122"/>
              </a:rPr>
              <a:t>任务提交 </a:t>
            </a:r>
            <a:r>
              <a:rPr lang="en-US" altLang="zh-CN" sz="16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600">
                <a:solidFill>
                  <a:srgbClr val="081830"/>
                </a:solidFill>
                <a:latin typeface="Microsoft YaHei" panose="020B0503020204020204" pitchFamily="34" charset="-122"/>
              </a:rPr>
              <a:t>状态查看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2299DF8-D177-BF60-F9F5-E6A98EFBFE3B}"/>
              </a:ext>
            </a:extLst>
          </p:cNvPr>
          <p:cNvSpPr/>
          <p:nvPr/>
        </p:nvSpPr>
        <p:spPr>
          <a:xfrm>
            <a:off x="698500" y="2730500"/>
            <a:ext cx="19050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本地后端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172022A-2B19-AD80-B5FA-84A491FAA395}"/>
              </a:ext>
            </a:extLst>
          </p:cNvPr>
          <p:cNvSpPr/>
          <p:nvPr/>
        </p:nvSpPr>
        <p:spPr>
          <a:xfrm>
            <a:off x="2794000" y="2730500"/>
            <a:ext cx="2667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600" b="1">
                <a:solidFill>
                  <a:srgbClr val="00285F"/>
                </a:solidFill>
                <a:latin typeface="Microsoft YaHei" panose="020B0503020204020204" pitchFamily="34" charset="-122"/>
              </a:rPr>
              <a:t>FastAPI</a:t>
            </a:r>
            <a:endParaRPr lang="zh-CN" altLang="en-US" sz="16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2B3B754-82B4-FEE1-8265-4E3E3E7C9FB2}"/>
              </a:ext>
            </a:extLst>
          </p:cNvPr>
          <p:cNvSpPr/>
          <p:nvPr/>
        </p:nvSpPr>
        <p:spPr>
          <a:xfrm>
            <a:off x="5651500" y="2730500"/>
            <a:ext cx="5715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>
                <a:solidFill>
                  <a:srgbClr val="081830"/>
                </a:solidFill>
                <a:latin typeface="Microsoft YaHei" panose="020B0503020204020204" pitchFamily="34" charset="-122"/>
              </a:rPr>
              <a:t>参数校验 </a:t>
            </a:r>
            <a:r>
              <a:rPr lang="en-US" altLang="zh-CN" sz="16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600">
                <a:solidFill>
                  <a:srgbClr val="081830"/>
                </a:solidFill>
                <a:latin typeface="Microsoft YaHei" panose="020B0503020204020204" pitchFamily="34" charset="-122"/>
              </a:rPr>
              <a:t>合同生成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8CB2DAE-EF7D-34F3-BD30-0100D71939FE}"/>
              </a:ext>
            </a:extLst>
          </p:cNvPr>
          <p:cNvSpPr/>
          <p:nvPr/>
        </p:nvSpPr>
        <p:spPr>
          <a:xfrm>
            <a:off x="698500" y="3619500"/>
            <a:ext cx="19050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远端调度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153CDD2-4AF0-5E21-0A24-6C36703E94DA}"/>
              </a:ext>
            </a:extLst>
          </p:cNvPr>
          <p:cNvSpPr/>
          <p:nvPr/>
        </p:nvSpPr>
        <p:spPr>
          <a:xfrm>
            <a:off x="2794000" y="3619500"/>
            <a:ext cx="2667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600" b="1">
                <a:solidFill>
                  <a:srgbClr val="00285F"/>
                </a:solidFill>
                <a:latin typeface="Microsoft YaHei" panose="020B0503020204020204" pitchFamily="34" charset="-122"/>
              </a:rPr>
              <a:t>SSH / SCP</a:t>
            </a:r>
            <a:endParaRPr lang="zh-CN" altLang="en-US" sz="16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19EF0CE-691A-C9B3-782E-5B700BE55781}"/>
              </a:ext>
            </a:extLst>
          </p:cNvPr>
          <p:cNvSpPr/>
          <p:nvPr/>
        </p:nvSpPr>
        <p:spPr>
          <a:xfrm>
            <a:off x="5651500" y="3619500"/>
            <a:ext cx="5715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>
                <a:solidFill>
                  <a:srgbClr val="081830"/>
                </a:solidFill>
                <a:latin typeface="Microsoft YaHei" panose="020B0503020204020204" pitchFamily="34" charset="-122"/>
              </a:rPr>
              <a:t>日志回传 </a:t>
            </a:r>
            <a:r>
              <a:rPr lang="en-US" altLang="zh-CN" sz="16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600">
                <a:solidFill>
                  <a:srgbClr val="081830"/>
                </a:solidFill>
                <a:latin typeface="Microsoft YaHei" panose="020B0503020204020204" pitchFamily="34" charset="-122"/>
              </a:rPr>
              <a:t>产物同步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2274719-EB84-3CDA-B519-71F1320B9FBB}"/>
              </a:ext>
            </a:extLst>
          </p:cNvPr>
          <p:cNvSpPr/>
          <p:nvPr/>
        </p:nvSpPr>
        <p:spPr>
          <a:xfrm>
            <a:off x="698500" y="4508500"/>
            <a:ext cx="19050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执行器层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365E863-E343-7D6E-F521-3EF622E0684D}"/>
              </a:ext>
            </a:extLst>
          </p:cNvPr>
          <p:cNvSpPr/>
          <p:nvPr/>
        </p:nvSpPr>
        <p:spPr>
          <a:xfrm>
            <a:off x="2794000" y="4508500"/>
            <a:ext cx="2667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600" b="1">
                <a:solidFill>
                  <a:srgbClr val="00285F"/>
                </a:solidFill>
                <a:latin typeface="Microsoft YaHei" panose="020B0503020204020204" pitchFamily="34" charset="-122"/>
              </a:rPr>
              <a:t>7 </a:t>
            </a:r>
            <a:r>
              <a:rPr lang="zh-CN" altLang="en-US" sz="1600" b="1">
                <a:solidFill>
                  <a:srgbClr val="00285F"/>
                </a:solidFill>
                <a:latin typeface="Microsoft YaHei" panose="020B0503020204020204" pitchFamily="34" charset="-122"/>
              </a:rPr>
              <a:t>个 </a:t>
            </a:r>
            <a:r>
              <a:rPr lang="en-US" altLang="zh-CN" sz="1600" b="1">
                <a:solidFill>
                  <a:srgbClr val="00285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1600" b="1">
                <a:solidFill>
                  <a:srgbClr val="00285F"/>
                </a:solidFill>
                <a:latin typeface="Microsoft YaHei" panose="020B0503020204020204" pitchFamily="34" charset="-122"/>
              </a:rPr>
              <a:t>执行器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36FA1A2-AC80-F4C8-AED4-B46B1623F1D9}"/>
              </a:ext>
            </a:extLst>
          </p:cNvPr>
          <p:cNvSpPr/>
          <p:nvPr/>
        </p:nvSpPr>
        <p:spPr>
          <a:xfrm>
            <a:off x="5651500" y="4508500"/>
            <a:ext cx="5715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600">
                <a:solidFill>
                  <a:srgbClr val="081830"/>
                </a:solidFill>
                <a:latin typeface="Microsoft YaHei" panose="020B0503020204020204" pitchFamily="34" charset="-122"/>
              </a:rPr>
              <a:t>DUSt3R / MASt3R </a:t>
            </a:r>
            <a:r>
              <a:rPr lang="zh-CN" altLang="en-US" sz="1600">
                <a:solidFill>
                  <a:srgbClr val="081830"/>
                </a:solidFill>
                <a:latin typeface="Microsoft YaHei" panose="020B0503020204020204" pitchFamily="34" charset="-122"/>
              </a:rPr>
              <a:t>等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D3F637F-9A07-478E-853D-DB6359B0EB5E}"/>
              </a:ext>
            </a:extLst>
          </p:cNvPr>
          <p:cNvSpPr/>
          <p:nvPr/>
        </p:nvSpPr>
        <p:spPr>
          <a:xfrm>
            <a:off x="1460500" y="5524500"/>
            <a:ext cx="9271000" cy="482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分离设计降低本地交互与远端 </a:t>
            </a:r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GPU </a:t>
            </a:r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环境之间的耦合。</a:t>
            </a:r>
          </a:p>
        </p:txBody>
      </p:sp>
    </p:spTree>
    <p:extLst>
      <p:ext uri="{BB962C8B-B14F-4D97-AF65-F5344CB8AC3E}">
        <p14:creationId xmlns:p14="http://schemas.microsoft.com/office/powerpoint/2010/main" val="13423515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任务流程：从提交到远端回传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0667E10-EA7A-CFD1-A8BD-04F2FF3FCE59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F82DA99-367E-C937-082E-06FA76E438BC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一次平台任务被拆成合同生成、远端执行、状态回传和结果入库四个环节。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467EEE9-CDA2-5A70-0285-67B9EEDF618D}"/>
              </a:ext>
            </a:extLst>
          </p:cNvPr>
          <p:cNvSpPr/>
          <p:nvPr/>
        </p:nvSpPr>
        <p:spPr>
          <a:xfrm>
            <a:off x="698500" y="2032000"/>
            <a:ext cx="23495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1 </a:t>
            </a:r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提交任务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9DD1B9F-2F4E-446A-458F-27632A67D3FD}"/>
              </a:ext>
            </a:extLst>
          </p:cNvPr>
          <p:cNvSpPr/>
          <p:nvPr/>
        </p:nvSpPr>
        <p:spPr>
          <a:xfrm>
            <a:off x="698500" y="2489200"/>
            <a:ext cx="23495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选择模型
输入样本
设置参数</a:t>
            </a: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01D28E6C-490C-0681-5716-099733B3AEE6}"/>
              </a:ext>
            </a:extLst>
          </p:cNvPr>
          <p:cNvSpPr/>
          <p:nvPr/>
        </p:nvSpPr>
        <p:spPr>
          <a:xfrm>
            <a:off x="3175000" y="2730500"/>
            <a:ext cx="533400" cy="3302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A832CD1-3FBD-FF6B-A3E9-8F96450A24BB}"/>
              </a:ext>
            </a:extLst>
          </p:cNvPr>
          <p:cNvSpPr/>
          <p:nvPr/>
        </p:nvSpPr>
        <p:spPr>
          <a:xfrm>
            <a:off x="3492500" y="2032000"/>
            <a:ext cx="23495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2 </a:t>
            </a:r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生成合同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2624E51-8777-0896-73B4-D69DC820910A}"/>
              </a:ext>
            </a:extLst>
          </p:cNvPr>
          <p:cNvSpPr/>
          <p:nvPr/>
        </p:nvSpPr>
        <p:spPr>
          <a:xfrm>
            <a:off x="3492500" y="2489200"/>
            <a:ext cx="23495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任务描述文件
输出目录
运行约束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A36BAB39-9009-6373-2C1C-F06007B5B1C7}"/>
              </a:ext>
            </a:extLst>
          </p:cNvPr>
          <p:cNvSpPr/>
          <p:nvPr/>
        </p:nvSpPr>
        <p:spPr>
          <a:xfrm>
            <a:off x="5969000" y="2730500"/>
            <a:ext cx="533400" cy="3302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4901ECB-553D-44DE-6BE3-E357D78DFEE9}"/>
              </a:ext>
            </a:extLst>
          </p:cNvPr>
          <p:cNvSpPr/>
          <p:nvPr/>
        </p:nvSpPr>
        <p:spPr>
          <a:xfrm>
            <a:off x="6286500" y="2032000"/>
            <a:ext cx="23495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3 </a:t>
            </a:r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远端执行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54229F6-43D4-D5B6-A399-199549E5011C}"/>
              </a:ext>
            </a:extLst>
          </p:cNvPr>
          <p:cNvSpPr/>
          <p:nvPr/>
        </p:nvSpPr>
        <p:spPr>
          <a:xfrm>
            <a:off x="6286500" y="2489200"/>
            <a:ext cx="23495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SSH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启动
日志监听
状态轮询</a:t>
            </a:r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B1E56E13-B71B-34DF-F695-66D12C1C11C1}"/>
              </a:ext>
            </a:extLst>
          </p:cNvPr>
          <p:cNvSpPr/>
          <p:nvPr/>
        </p:nvSpPr>
        <p:spPr>
          <a:xfrm>
            <a:off x="8763000" y="2730500"/>
            <a:ext cx="533400" cy="3302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52B09F5-6E7A-32BB-C733-1F05918E510E}"/>
              </a:ext>
            </a:extLst>
          </p:cNvPr>
          <p:cNvSpPr/>
          <p:nvPr/>
        </p:nvSpPr>
        <p:spPr>
          <a:xfrm>
            <a:off x="9080500" y="2032000"/>
            <a:ext cx="23495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4 </a:t>
            </a:r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结果回传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4C42C01-44B6-49F3-0688-862840F3F873}"/>
              </a:ext>
            </a:extLst>
          </p:cNvPr>
          <p:cNvSpPr/>
          <p:nvPr/>
        </p:nvSpPr>
        <p:spPr>
          <a:xfrm>
            <a:off x="9080500" y="2489200"/>
            <a:ext cx="23495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产物同步
状态归档
指标入口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B212D21-0962-DC1E-708F-C0DFC9CC42CE}"/>
              </a:ext>
            </a:extLst>
          </p:cNvPr>
          <p:cNvSpPr/>
          <p:nvPr/>
        </p:nvSpPr>
        <p:spPr>
          <a:xfrm>
            <a:off x="1206500" y="4762500"/>
            <a:ext cx="9779000" cy="6604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00285F"/>
                </a:solidFill>
                <a:latin typeface="Microsoft YaHei" panose="020B0503020204020204" pitchFamily="34" charset="-122"/>
              </a:rPr>
              <a:t>关键点：平台通过执行器和合同把异构模型纳入统一流程，不直接重写模型代码。</a:t>
            </a:r>
          </a:p>
        </p:txBody>
      </p:sp>
    </p:spTree>
    <p:extLst>
      <p:ext uri="{BB962C8B-B14F-4D97-AF65-F5344CB8AC3E}">
        <p14:creationId xmlns:p14="http://schemas.microsoft.com/office/powerpoint/2010/main" val="13646887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数据合同：统一字段与执行记录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BCAD83A-1BC9-0C95-1A37-B70F644CA66F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CEB9DC1-26A0-90E7-5445-7C84D805AAFA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统一数据合同使不同模型的输入、状态和结果可以被同一评测流程读取。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21BED1C-A000-650D-01BD-5A59ACA8859D}"/>
              </a:ext>
            </a:extLst>
          </p:cNvPr>
          <p:cNvSpPr/>
          <p:nvPr/>
        </p:nvSpPr>
        <p:spPr>
          <a:xfrm>
            <a:off x="1016000" y="2032000"/>
            <a:ext cx="2667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任务描述文件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0F5A02D-CC8D-5EE6-07D1-6225FA57C799}"/>
              </a:ext>
            </a:extLst>
          </p:cNvPr>
          <p:cNvSpPr/>
          <p:nvPr/>
        </p:nvSpPr>
        <p:spPr>
          <a:xfrm>
            <a:off x="1016000" y="2489200"/>
            <a:ext cx="2667000" cy="1257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输入路径
模型名
运行参数</a:t>
            </a: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E3A6D633-6592-F266-7CD9-A5638CF7CB3A}"/>
              </a:ext>
            </a:extLst>
          </p:cNvPr>
          <p:cNvSpPr/>
          <p:nvPr/>
        </p:nvSpPr>
        <p:spPr>
          <a:xfrm>
            <a:off x="3835400" y="2730500"/>
            <a:ext cx="533400" cy="3302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77FB493-FC52-2D14-C63A-0F90261C23B7}"/>
              </a:ext>
            </a:extLst>
          </p:cNvPr>
          <p:cNvSpPr/>
          <p:nvPr/>
        </p:nvSpPr>
        <p:spPr>
          <a:xfrm>
            <a:off x="4699000" y="2032000"/>
            <a:ext cx="2667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状态文件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16614A2-DE47-ED47-F6AF-6EB613EDBDFC}"/>
              </a:ext>
            </a:extLst>
          </p:cNvPr>
          <p:cNvSpPr/>
          <p:nvPr/>
        </p:nvSpPr>
        <p:spPr>
          <a:xfrm>
            <a:off x="4699000" y="2489200"/>
            <a:ext cx="2667000" cy="1257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运行状态
耗时记录
失败原因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777F869F-3810-0A7B-E42A-A230FBC4A89F}"/>
              </a:ext>
            </a:extLst>
          </p:cNvPr>
          <p:cNvSpPr/>
          <p:nvPr/>
        </p:nvSpPr>
        <p:spPr>
          <a:xfrm>
            <a:off x="7518400" y="2730500"/>
            <a:ext cx="533400" cy="3302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5ECD64C-B45B-4815-7BE8-E68C3D1E02C1}"/>
              </a:ext>
            </a:extLst>
          </p:cNvPr>
          <p:cNvSpPr/>
          <p:nvPr/>
        </p:nvSpPr>
        <p:spPr>
          <a:xfrm>
            <a:off x="8382000" y="2032000"/>
            <a:ext cx="2667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输出元数据合同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3B913CF-DB6C-1D83-22E0-CBBB5A631BAB}"/>
              </a:ext>
            </a:extLst>
          </p:cNvPr>
          <p:cNvSpPr/>
          <p:nvPr/>
        </p:nvSpPr>
        <p:spPr>
          <a:xfrm>
            <a:off x="8382000" y="2489200"/>
            <a:ext cx="2667000" cy="1257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相机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尺度
输出类型
指标入口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5E9F80E-5C13-E654-E419-93707722913D}"/>
              </a:ext>
            </a:extLst>
          </p:cNvPr>
          <p:cNvSpPr/>
          <p:nvPr/>
        </p:nvSpPr>
        <p:spPr>
          <a:xfrm>
            <a:off x="1143000" y="4318000"/>
            <a:ext cx="9906000" cy="66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00285F"/>
                </a:solidFill>
                <a:latin typeface="Microsoft YaHei" panose="020B0503020204020204" pitchFamily="34" charset="-122"/>
              </a:rPr>
              <a:t>执行器负责适配具体模型；平台侧只依赖统一字段，因此可以横向比较不同 </a:t>
            </a:r>
            <a:r>
              <a:rPr lang="en-US" altLang="zh-CN" sz="2000" b="1">
                <a:solidFill>
                  <a:srgbClr val="00285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2000" b="1">
                <a:solidFill>
                  <a:srgbClr val="00285F"/>
                </a:solidFill>
                <a:latin typeface="Microsoft YaHei" panose="020B0503020204020204" pitchFamily="34" charset="-122"/>
              </a:rPr>
              <a:t>方法。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2D7C8E7-0559-2524-6EF3-232119D264D9}"/>
              </a:ext>
            </a:extLst>
          </p:cNvPr>
          <p:cNvSpPr/>
          <p:nvPr/>
        </p:nvSpPr>
        <p:spPr>
          <a:xfrm>
            <a:off x="1651000" y="5397500"/>
            <a:ext cx="8890000" cy="4572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 b="1">
                <a:solidFill>
                  <a:srgbClr val="00285F"/>
                </a:solidFill>
                <a:latin typeface="Microsoft YaHei" panose="020B0503020204020204" pitchFamily="34" charset="-122"/>
              </a:rPr>
              <a:t>平台评测：合同覆盖率、对比矩阵完整性、新模型接入成本。</a:t>
            </a:r>
          </a:p>
        </p:txBody>
      </p:sp>
    </p:spTree>
    <p:extLst>
      <p:ext uri="{BB962C8B-B14F-4D97-AF65-F5344CB8AC3E}">
        <p14:creationId xmlns:p14="http://schemas.microsoft.com/office/powerpoint/2010/main" val="36415686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993F8-A2A5-B371-B6CC-C97E0D162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284BF616-090D-BA5B-20D4-639B4472D780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06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FEA574DC-E824-BEBE-8E95-9476D0FC3CF3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平台进展：模型接入与工程证据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E2E28D2-C5CE-B91D-863D-0255DEF68327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8F7A8EF-F8CE-C2CC-FC96-6896424329A4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已有平台验证说明统一调度是必要前提，但不把耗时结果解释为模型质量排序。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41C89F3-EEAE-C5F0-07CF-AD315FFBB596}"/>
              </a:ext>
            </a:extLst>
          </p:cNvPr>
          <p:cNvSpPr/>
          <p:nvPr/>
        </p:nvSpPr>
        <p:spPr>
          <a:xfrm>
            <a:off x="762000" y="1841500"/>
            <a:ext cx="3238500" cy="381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平台进展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222C48A-392D-A870-068B-943BD6AF6C1A}"/>
              </a:ext>
            </a:extLst>
          </p:cNvPr>
          <p:cNvSpPr/>
          <p:nvPr/>
        </p:nvSpPr>
        <p:spPr>
          <a:xfrm>
            <a:off x="762000" y="2273300"/>
            <a:ext cx="32385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en-US" altLang="zh-CN" sz="1500">
                <a:solidFill>
                  <a:srgbClr val="081830"/>
                </a:solidFill>
                <a:latin typeface="Microsoft YaHei" panose="020B0503020204020204" pitchFamily="34" charset="-122"/>
              </a:rPr>
              <a:t>7 </a:t>
            </a:r>
            <a:r>
              <a:rPr lang="zh-CN" altLang="en-US" sz="1500">
                <a:solidFill>
                  <a:srgbClr val="081830"/>
                </a:solidFill>
                <a:latin typeface="Microsoft YaHei" panose="020B0503020204020204" pitchFamily="34" charset="-122"/>
              </a:rPr>
              <a:t>个模型已注册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ED4FF9F-47CC-B68B-76EB-77BD69739488}"/>
              </a:ext>
            </a:extLst>
          </p:cNvPr>
          <p:cNvSpPr/>
          <p:nvPr/>
        </p:nvSpPr>
        <p:spPr>
          <a:xfrm>
            <a:off x="762000" y="2882900"/>
            <a:ext cx="32385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en-US" altLang="zh-CN" sz="1500">
                <a:solidFill>
                  <a:srgbClr val="081830"/>
                </a:solidFill>
                <a:latin typeface="Microsoft YaHei" panose="020B0503020204020204" pitchFamily="34" charset="-122"/>
              </a:rPr>
              <a:t>6 </a:t>
            </a:r>
            <a:r>
              <a:rPr lang="zh-CN" altLang="en-US" sz="1500">
                <a:solidFill>
                  <a:srgbClr val="081830"/>
                </a:solidFill>
                <a:latin typeface="Microsoft YaHei" panose="020B0503020204020204" pitchFamily="34" charset="-122"/>
              </a:rPr>
              <a:t>个完成端到端验证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A47B84F-7DA0-313C-7BC8-1D2C85407BAD}"/>
              </a:ext>
            </a:extLst>
          </p:cNvPr>
          <p:cNvSpPr/>
          <p:nvPr/>
        </p:nvSpPr>
        <p:spPr>
          <a:xfrm>
            <a:off x="762000" y="3492500"/>
            <a:ext cx="32385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en-US" altLang="zh-CN" sz="1500">
                <a:solidFill>
                  <a:srgbClr val="081830"/>
                </a:solidFill>
                <a:latin typeface="Microsoft YaHei" panose="020B0503020204020204" pitchFamily="34" charset="-122"/>
              </a:rPr>
              <a:t>Align3R </a:t>
            </a:r>
            <a:r>
              <a:rPr lang="zh-CN" altLang="en-US" sz="1500">
                <a:solidFill>
                  <a:srgbClr val="081830"/>
                </a:solidFill>
                <a:latin typeface="Microsoft YaHei" panose="020B0503020204020204" pitchFamily="34" charset="-122"/>
              </a:rPr>
              <a:t>待权重补充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D57B8A7-268C-ADD6-CF28-B963736A57A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5211" y="1714500"/>
            <a:ext cx="6316579" cy="3429000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744BB9FF-8319-5503-DEFF-5F92553BD634}"/>
              </a:ext>
            </a:extLst>
          </p:cNvPr>
          <p:cNvSpPr/>
          <p:nvPr/>
        </p:nvSpPr>
        <p:spPr>
          <a:xfrm>
            <a:off x="889000" y="5524500"/>
            <a:ext cx="10414000" cy="482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实测耗时用于说明跨模型调度和结果记录的必要性，不作为重建质量结论。</a:t>
            </a:r>
          </a:p>
        </p:txBody>
      </p:sp>
    </p:spTree>
    <p:extLst>
      <p:ext uri="{BB962C8B-B14F-4D97-AF65-F5344CB8AC3E}">
        <p14:creationId xmlns:p14="http://schemas.microsoft.com/office/powerpoint/2010/main" val="33789738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89">
            <a:extLst>
              <a:ext uri="{FF2B5EF4-FFF2-40B4-BE49-F238E27FC236}">
                <a16:creationId xmlns:a16="http://schemas.microsoft.com/office/drawing/2014/main" id="{E9CAE631-11B1-6B01-385A-60C92A6A83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10800000">
            <a:off x="-8340" y="1"/>
            <a:ext cx="12200340" cy="2868908"/>
          </a:xfrm>
          <a:prstGeom prst="rect">
            <a:avLst/>
          </a:prstGeom>
        </p:spPr>
      </p:pic>
      <p:pic>
        <p:nvPicPr>
          <p:cNvPr id="45" name="图片 44">
            <a:extLst>
              <a:ext uri="{FF2B5EF4-FFF2-40B4-BE49-F238E27FC236}">
                <a16:creationId xmlns:a16="http://schemas.microsoft.com/office/drawing/2014/main" id="{9C7262D3-C5E7-98B9-085E-5298B67D1C9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6168"/>
          <a:stretch/>
        </p:blipFill>
        <p:spPr>
          <a:xfrm flipH="1">
            <a:off x="0" y="4270329"/>
            <a:ext cx="12192000" cy="2600960"/>
          </a:xfrm>
          <a:prstGeom prst="rect">
            <a:avLst/>
          </a:prstGeom>
        </p:spPr>
      </p:pic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A03CD020-8E49-BC23-82FE-80B9ABCA3972}"/>
              </a:ext>
            </a:extLst>
          </p:cNvPr>
          <p:cNvSpPr/>
          <p:nvPr/>
        </p:nvSpPr>
        <p:spPr>
          <a:xfrm>
            <a:off x="-100120" y="-79828"/>
            <a:ext cx="4207663" cy="7017657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/>
              </a:gs>
              <a:gs pos="100000">
                <a:schemeClr val="accent2">
                  <a:lumMod val="50000"/>
                </a:schemeClr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outerShdw blurRad="165100" dist="38100" dir="2700000" algn="tl" rotWithShape="0">
              <a:sysClr val="window" lastClr="FFFFFF">
                <a:lumMod val="85000"/>
                <a:alpha val="35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72" name="图片 71">
            <a:extLst>
              <a:ext uri="{FF2B5EF4-FFF2-40B4-BE49-F238E27FC236}">
                <a16:creationId xmlns:a16="http://schemas.microsoft.com/office/drawing/2014/main" id="{9EEBD94C-B44D-2A8B-AC9A-D4C40C3FAC2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60" r="29859"/>
          <a:stretch/>
        </p:blipFill>
        <p:spPr>
          <a:xfrm>
            <a:off x="-79458" y="-79829"/>
            <a:ext cx="4215566" cy="7017657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B0E4ECB1-E9AE-A6CE-E063-9A88DFF42F48}"/>
              </a:ext>
            </a:extLst>
          </p:cNvPr>
          <p:cNvSpPr/>
          <p:nvPr/>
        </p:nvSpPr>
        <p:spPr>
          <a:xfrm>
            <a:off x="3708400" y="1219200"/>
            <a:ext cx="7239000" cy="5080000"/>
          </a:xfrm>
          <a:prstGeom prst="rect">
            <a:avLst/>
          </a:prstGeom>
          <a:solidFill>
            <a:srgbClr val="EBECEE">
              <a:alpha val="92000"/>
            </a:srgbClr>
          </a:solidFill>
          <a:ln>
            <a:solidFill>
              <a:srgbClr val="E6E6E6"/>
            </a:solidFill>
          </a:ln>
          <a:effectLst>
            <a:outerShdw blurRad="101600" dist="37357" dir="2700000" rotWithShape="0">
              <a:scrgbClr r="0" g="0" b="0">
                <a:alpha val="45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3E42716-645B-D4A5-2D7A-6542615EE8C9}"/>
              </a:ext>
            </a:extLst>
          </p:cNvPr>
          <p:cNvSpPr txBox="1"/>
          <p:nvPr/>
        </p:nvSpPr>
        <p:spPr>
          <a:xfrm>
            <a:off x="1524000" y="2603500"/>
            <a:ext cx="952500" cy="193899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zh-CN" altLang="en-US" sz="3000" b="1">
                <a:solidFill>
                  <a:srgbClr val="FFFFFF"/>
                </a:solidFill>
                <a:latin typeface="Microsoft YaHei" panose="020B0503020204020204" pitchFamily="34" charset="-122"/>
              </a:rPr>
              <a:t>汇
报
提
纲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4015AE6C-D0B8-C619-7FC9-44B4F24DE7D6}"/>
              </a:ext>
            </a:extLst>
          </p:cNvPr>
          <p:cNvCxnSpPr/>
          <p:nvPr/>
        </p:nvCxnSpPr>
        <p:spPr>
          <a:xfrm>
            <a:off x="1422400" y="3175000"/>
            <a:ext cx="0" cy="2540000"/>
          </a:xfrm>
          <a:prstGeom prst="line">
            <a:avLst/>
          </a:prstGeom>
          <a:ln w="6350" cap="flat" cmpd="sng" algn="ctr">
            <a:solidFill>
              <a:srgbClr val="D2E1F5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EFCE2C19-D733-4DC1-2E4E-6F37C3861BF9}"/>
              </a:ext>
            </a:extLst>
          </p:cNvPr>
          <p:cNvSpPr/>
          <p:nvPr/>
        </p:nvSpPr>
        <p:spPr>
          <a:xfrm>
            <a:off x="4635500" y="14224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BEA5270-694B-F7D7-A76D-CF04702CE5D3}"/>
              </a:ext>
            </a:extLst>
          </p:cNvPr>
          <p:cNvSpPr txBox="1"/>
          <p:nvPr/>
        </p:nvSpPr>
        <p:spPr>
          <a:xfrm>
            <a:off x="5143500" y="15113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6B0659D5-D722-9A3A-AED9-57FC361AE178}"/>
              </a:ext>
            </a:extLst>
          </p:cNvPr>
          <p:cNvCxnSpPr/>
          <p:nvPr/>
        </p:nvCxnSpPr>
        <p:spPr>
          <a:xfrm>
            <a:off x="6172200" y="15748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023E5CD8-DB91-4DCA-7536-9D28D5A0D0E5}"/>
              </a:ext>
            </a:extLst>
          </p:cNvPr>
          <p:cNvSpPr txBox="1"/>
          <p:nvPr/>
        </p:nvSpPr>
        <p:spPr>
          <a:xfrm>
            <a:off x="6477000" y="15367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背景与现状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37CF0E1-5515-198E-D8B0-ACAC9EE5A81E}"/>
              </a:ext>
            </a:extLst>
          </p:cNvPr>
          <p:cNvSpPr/>
          <p:nvPr/>
        </p:nvSpPr>
        <p:spPr>
          <a:xfrm>
            <a:off x="4635500" y="23495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D719E6A-DF3B-E1C1-3A76-7214C647F36E}"/>
              </a:ext>
            </a:extLst>
          </p:cNvPr>
          <p:cNvSpPr txBox="1"/>
          <p:nvPr/>
        </p:nvSpPr>
        <p:spPr>
          <a:xfrm>
            <a:off x="5143500" y="24384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A662E50C-A041-1722-6EE1-7BF39F08D5EC}"/>
              </a:ext>
            </a:extLst>
          </p:cNvPr>
          <p:cNvCxnSpPr/>
          <p:nvPr/>
        </p:nvCxnSpPr>
        <p:spPr>
          <a:xfrm>
            <a:off x="6172200" y="25019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6508E1A4-339E-AEA7-6D79-22D041BFA1D3}"/>
              </a:ext>
            </a:extLst>
          </p:cNvPr>
          <p:cNvSpPr txBox="1"/>
          <p:nvPr/>
        </p:nvSpPr>
        <p:spPr>
          <a:xfrm>
            <a:off x="6477000" y="24638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候选架构研究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49DA16B-CA2B-CCAD-BD31-0809791BA0E0}"/>
              </a:ext>
            </a:extLst>
          </p:cNvPr>
          <p:cNvSpPr/>
          <p:nvPr/>
        </p:nvSpPr>
        <p:spPr>
          <a:xfrm>
            <a:off x="4635500" y="32766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4BDE422-2489-61FE-CF8A-4D46C086BCA6}"/>
              </a:ext>
            </a:extLst>
          </p:cNvPr>
          <p:cNvSpPr txBox="1"/>
          <p:nvPr/>
        </p:nvSpPr>
        <p:spPr>
          <a:xfrm>
            <a:off x="5143500" y="33655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4A60FB69-554E-3093-D193-7D3B76ABE8EE}"/>
              </a:ext>
            </a:extLst>
          </p:cNvPr>
          <p:cNvCxnSpPr/>
          <p:nvPr/>
        </p:nvCxnSpPr>
        <p:spPr>
          <a:xfrm>
            <a:off x="6172200" y="34290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0209F030-1EEC-1373-795C-6E64DB14FDF6}"/>
              </a:ext>
            </a:extLst>
          </p:cNvPr>
          <p:cNvSpPr txBox="1"/>
          <p:nvPr/>
        </p:nvSpPr>
        <p:spPr>
          <a:xfrm>
            <a:off x="6477000" y="33909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软件平台建设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9AA4217-95CB-0459-8D14-9CD22C4604D0}"/>
              </a:ext>
            </a:extLst>
          </p:cNvPr>
          <p:cNvSpPr/>
          <p:nvPr/>
        </p:nvSpPr>
        <p:spPr>
          <a:xfrm>
            <a:off x="4635500" y="4203700"/>
            <a:ext cx="5842000" cy="736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32545B2-0350-D24B-3F05-9668A97D5AAE}"/>
              </a:ext>
            </a:extLst>
          </p:cNvPr>
          <p:cNvSpPr txBox="1"/>
          <p:nvPr/>
        </p:nvSpPr>
        <p:spPr>
          <a:xfrm>
            <a:off x="5143500" y="42926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27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FA8A80AD-43DE-B355-590C-EDD799A63C42}"/>
              </a:ext>
            </a:extLst>
          </p:cNvPr>
          <p:cNvCxnSpPr/>
          <p:nvPr/>
        </p:nvCxnSpPr>
        <p:spPr>
          <a:xfrm>
            <a:off x="6172200" y="4356100"/>
            <a:ext cx="0" cy="43180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FA75E75C-D110-9C91-AC54-711F4E835126}"/>
              </a:ext>
            </a:extLst>
          </p:cNvPr>
          <p:cNvSpPr txBox="1"/>
          <p:nvPr/>
        </p:nvSpPr>
        <p:spPr>
          <a:xfrm>
            <a:off x="6477000" y="43180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实验计划与总结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BFC80A1-E8C7-A52A-BFAB-C5D2BA1FF3D4}"/>
              </a:ext>
            </a:extLst>
          </p:cNvPr>
          <p:cNvSpPr/>
          <p:nvPr/>
        </p:nvSpPr>
        <p:spPr>
          <a:xfrm>
            <a:off x="4635500" y="51308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C433777-012E-5E09-7279-5EA4DF8F8F9E}"/>
              </a:ext>
            </a:extLst>
          </p:cNvPr>
          <p:cNvSpPr txBox="1"/>
          <p:nvPr/>
        </p:nvSpPr>
        <p:spPr>
          <a:xfrm>
            <a:off x="5143500" y="52197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05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D981CCFC-D5C3-F3DC-A740-C974E9DD829F}"/>
              </a:ext>
            </a:extLst>
          </p:cNvPr>
          <p:cNvCxnSpPr/>
          <p:nvPr/>
        </p:nvCxnSpPr>
        <p:spPr>
          <a:xfrm>
            <a:off x="6172200" y="52832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04EE557F-BC58-1E82-7527-CAABDE69DEF4}"/>
              </a:ext>
            </a:extLst>
          </p:cNvPr>
          <p:cNvSpPr txBox="1"/>
          <p:nvPr/>
        </p:nvSpPr>
        <p:spPr>
          <a:xfrm>
            <a:off x="6477000" y="52451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风险与总结</a:t>
            </a:r>
          </a:p>
        </p:txBody>
      </p:sp>
    </p:spTree>
    <p:extLst>
      <p:ext uri="{BB962C8B-B14F-4D97-AF65-F5344CB8AC3E}">
        <p14:creationId xmlns:p14="http://schemas.microsoft.com/office/powerpoint/2010/main" val="6802277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1AC14-4D81-0B48-547E-7159FB0D6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BAF1E447-5F42-9CE3-9E7C-27FABF3FC177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05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32F2B33-3392-C809-868B-8FB43F2C123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实验设计：架构与平台两条证据链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6EEE615-868B-EAD7-C06D-59AC77CE8625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E5E7924-4102-5EDB-0719-8816C2AEB66C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实验设计分为架构研究和软件平台两条证据链，最终共同支撑开题目标。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380F76D-836E-3865-0171-ACF38305FA76}"/>
              </a:ext>
            </a:extLst>
          </p:cNvPr>
          <p:cNvSpPr/>
          <p:nvPr/>
        </p:nvSpPr>
        <p:spPr>
          <a:xfrm>
            <a:off x="889000" y="2032000"/>
            <a:ext cx="4572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架构证据链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FD8C1E1-BE24-872F-F1AF-0227E19B5AE3}"/>
              </a:ext>
            </a:extLst>
          </p:cNvPr>
          <p:cNvSpPr/>
          <p:nvPr/>
        </p:nvSpPr>
        <p:spPr>
          <a:xfrm>
            <a:off x="889000" y="2489200"/>
            <a:ext cx="4572000" cy="1765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基线复现
记忆与稀疏注意力消融
校验与编排模块对照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C4E920B-32D1-2152-4974-2D8DFC713B73}"/>
              </a:ext>
            </a:extLst>
          </p:cNvPr>
          <p:cNvSpPr/>
          <p:nvPr/>
        </p:nvSpPr>
        <p:spPr>
          <a:xfrm>
            <a:off x="6731000" y="2032000"/>
            <a:ext cx="4572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平台证据链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87EBA4-9022-B1D9-3E26-8157AB57DD2B}"/>
              </a:ext>
            </a:extLst>
          </p:cNvPr>
          <p:cNvSpPr/>
          <p:nvPr/>
        </p:nvSpPr>
        <p:spPr>
          <a:xfrm>
            <a:off x="6731000" y="2489200"/>
            <a:ext cx="4572000" cy="1765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合同覆盖率
跨模型对比矩阵
新模型接入边际成本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C61BAC5-D074-1052-0154-9EEB1CECFA0B}"/>
              </a:ext>
            </a:extLst>
          </p:cNvPr>
          <p:cNvSpPr/>
          <p:nvPr/>
        </p:nvSpPr>
        <p:spPr>
          <a:xfrm>
            <a:off x="1460500" y="5016500"/>
            <a:ext cx="9271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00285F"/>
                </a:solidFill>
                <a:latin typeface="Microsoft YaHei" panose="020B0503020204020204" pitchFamily="34" charset="-122"/>
              </a:rPr>
              <a:t>实验结论只针对指定协议成立，不写成候选架构的总体优越性声明。</a:t>
            </a:r>
          </a:p>
        </p:txBody>
      </p:sp>
    </p:spTree>
    <p:extLst>
      <p:ext uri="{BB962C8B-B14F-4D97-AF65-F5344CB8AC3E}">
        <p14:creationId xmlns:p14="http://schemas.microsoft.com/office/powerpoint/2010/main" val="19642740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计划与风险：阶段交付和边界控制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4849B54-5B64-0461-1756-C283202A60B0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974034F-8D96-D89E-74B0-3A5BC70B4536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后续工作按架构验证、平台完善和论文整理三条线并行推进。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EE33E19B-C078-D7E0-5CB8-D67CCAE954D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2842" y="1651000"/>
            <a:ext cx="7486316" cy="4064000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E07C598B-36C2-ACF9-CCC4-21F72D50BAE5}"/>
              </a:ext>
            </a:extLst>
          </p:cNvPr>
          <p:cNvSpPr/>
          <p:nvPr/>
        </p:nvSpPr>
        <p:spPr>
          <a:xfrm>
            <a:off x="1016000" y="5778500"/>
            <a:ext cx="10160000" cy="5334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风险控制：标定、消融、工程依赖和结论边界均按阶段验证，不在开题阶段提前关闭。</a:t>
            </a:r>
          </a:p>
        </p:txBody>
      </p:sp>
    </p:spTree>
    <p:extLst>
      <p:ext uri="{BB962C8B-B14F-4D97-AF65-F5344CB8AC3E}">
        <p14:creationId xmlns:p14="http://schemas.microsoft.com/office/powerpoint/2010/main" val="19053188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48A6D-C6EE-964D-6C1A-BE3EC5A39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蓝色的火车在站台旁&#10;&#10;描述已自动生成">
            <a:extLst>
              <a:ext uri="{FF2B5EF4-FFF2-40B4-BE49-F238E27FC236}">
                <a16:creationId xmlns:a16="http://schemas.microsoft.com/office/drawing/2014/main" id="{47CB2ABF-6C6A-A145-CBD3-5D4863BE40C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1" b="33391"/>
          <a:stretch/>
        </p:blipFill>
        <p:spPr>
          <a:xfrm>
            <a:off x="567" y="1099270"/>
            <a:ext cx="12190866" cy="4060213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6DAA6598-060B-09AF-69C5-C131F0EE830A}"/>
              </a:ext>
            </a:extLst>
          </p:cNvPr>
          <p:cNvSpPr/>
          <p:nvPr/>
        </p:nvSpPr>
        <p:spPr>
          <a:xfrm>
            <a:off x="9859" y="-1"/>
            <a:ext cx="12191999" cy="5159483"/>
          </a:xfrm>
          <a:prstGeom prst="rect">
            <a:avLst/>
          </a:prstGeom>
          <a:gradFill flip="none" rotWithShape="1">
            <a:gsLst>
              <a:gs pos="49000">
                <a:schemeClr val="bg1"/>
              </a:gs>
              <a:gs pos="100000">
                <a:schemeClr val="accent3">
                  <a:alpha val="2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defRPr/>
            </a:pPr>
            <a:endParaRPr lang="zh-CN" altLang="en-US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8B7BF0E7-40A8-7FA0-2CDB-5543790FC811}"/>
              </a:ext>
            </a:extLst>
          </p:cNvPr>
          <p:cNvGrpSpPr/>
          <p:nvPr/>
        </p:nvGrpSpPr>
        <p:grpSpPr>
          <a:xfrm>
            <a:off x="9859" y="1239674"/>
            <a:ext cx="12172282" cy="2928257"/>
            <a:chOff x="442611" y="2016251"/>
            <a:chExt cx="10694619" cy="2228850"/>
          </a:xfrm>
          <a:gradFill>
            <a:gsLst>
              <a:gs pos="0">
                <a:schemeClr val="bg1">
                  <a:alpha val="0"/>
                </a:schemeClr>
              </a:gs>
              <a:gs pos="50000">
                <a:schemeClr val="bg1">
                  <a:lumMod val="95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</p:grpSpPr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F970E494-61EE-587D-4574-8858E921DFBB}"/>
                </a:ext>
              </a:extLst>
            </p:cNvPr>
            <p:cNvGrpSpPr/>
            <p:nvPr/>
          </p:nvGrpSpPr>
          <p:grpSpPr>
            <a:xfrm>
              <a:off x="442611" y="2016251"/>
              <a:ext cx="10694619" cy="2228849"/>
              <a:chOff x="442611" y="2016251"/>
              <a:chExt cx="10694619" cy="2228849"/>
            </a:xfrm>
            <a:grpFill/>
          </p:grpSpPr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4B88A2BA-CB61-B07D-37EF-4D0FB144C24D}"/>
                  </a:ext>
                </a:extLst>
              </p:cNvPr>
              <p:cNvSpPr/>
              <p:nvPr/>
            </p:nvSpPr>
            <p:spPr>
              <a:xfrm>
                <a:off x="442611" y="2016251"/>
                <a:ext cx="10694619" cy="2228849"/>
              </a:xfrm>
              <a:prstGeom prst="rect">
                <a:avLst/>
              </a:prstGeom>
              <a:grpFill/>
              <a:ln w="9525">
                <a:noFill/>
              </a:ln>
              <a:effectLst>
                <a:outerShdw blurRad="190500" dist="38100" dir="5400000" algn="t" rotWithShape="0">
                  <a:schemeClr val="bg1">
                    <a:lumMod val="75000"/>
                    <a:alpha val="17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50000"/>
                  </a:lnSpc>
                  <a:defRPr/>
                </a:pPr>
                <a:endParaRPr lang="zh-CN" altLang="en-US" sz="1200" b="1" dirty="0">
                  <a:solidFill>
                    <a:srgbClr val="03654E"/>
                  </a:solidFill>
                </a:endParaRPr>
              </a:p>
            </p:txBody>
          </p: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158E00CD-2609-D798-C0FA-987A012BEC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49461" y="2016251"/>
                <a:ext cx="8093075" cy="0"/>
              </a:xfrm>
              <a:prstGeom prst="line">
                <a:avLst/>
              </a:prstGeom>
              <a:grpFill/>
              <a:ln w="12700">
                <a:gradFill flip="none" rotWithShape="1">
                  <a:gsLst>
                    <a:gs pos="0">
                      <a:schemeClr val="accent6">
                        <a:alpha val="0"/>
                      </a:schemeClr>
                    </a:gs>
                    <a:gs pos="50000">
                      <a:schemeClr val="accent6"/>
                    </a:gs>
                    <a:gs pos="100000">
                      <a:schemeClr val="accent6">
                        <a:alpha val="0"/>
                      </a:schemeClr>
                    </a:gs>
                  </a:gsLst>
                  <a:lin ang="0" scaled="1"/>
                  <a:tileRect/>
                </a:gradFill>
              </a:ln>
              <a:effectLst>
                <a:outerShdw blurRad="50800" dist="38100" dir="7200000" algn="t" rotWithShape="0">
                  <a:schemeClr val="bg1">
                    <a:lumMod val="65000"/>
                    <a:alpha val="42000"/>
                  </a:scheme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9A5C04A5-7A49-3B7C-BC7F-3E42593659C0}"/>
                </a:ext>
              </a:extLst>
            </p:cNvPr>
            <p:cNvCxnSpPr>
              <a:cxnSpLocks/>
            </p:cNvCxnSpPr>
            <p:nvPr/>
          </p:nvCxnSpPr>
          <p:spPr>
            <a:xfrm>
              <a:off x="2049461" y="4245101"/>
              <a:ext cx="8093075" cy="0"/>
            </a:xfrm>
            <a:prstGeom prst="line">
              <a:avLst/>
            </a:prstGeom>
            <a:grpFill/>
            <a:ln w="12700">
              <a:gradFill flip="none" rotWithShape="1">
                <a:gsLst>
                  <a:gs pos="0">
                    <a:schemeClr val="accent6">
                      <a:alpha val="0"/>
                    </a:schemeClr>
                  </a:gs>
                  <a:gs pos="50000">
                    <a:schemeClr val="accent6"/>
                  </a:gs>
                  <a:gs pos="100000">
                    <a:schemeClr val="accent6">
                      <a:alpha val="0"/>
                    </a:schemeClr>
                  </a:gs>
                </a:gsLst>
                <a:lin ang="0" scaled="1"/>
                <a:tileRect/>
              </a:gradFill>
            </a:ln>
            <a:effectLst>
              <a:outerShdw blurRad="50800" dist="38100" dir="7200000" algn="t" rotWithShape="0">
                <a:schemeClr val="bg1">
                  <a:lumMod val="85000"/>
                  <a:alpha val="42000"/>
                </a:scheme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A88CC83B-3930-EC30-7D36-3B736667F610}"/>
              </a:ext>
            </a:extLst>
          </p:cNvPr>
          <p:cNvSpPr txBox="1"/>
          <p:nvPr/>
        </p:nvSpPr>
        <p:spPr>
          <a:xfrm>
            <a:off x="0" y="1366919"/>
            <a:ext cx="12192000" cy="13463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500"/>
              </a:lnSpc>
              <a:defRPr/>
            </a:pPr>
            <a:endParaRPr lang="zh-CN" altLang="en-US" sz="8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AD3FB004-3B93-3E9F-C7A6-53529A5C2DC6}"/>
              </a:ext>
            </a:extLst>
          </p:cNvPr>
          <p:cNvSpPr/>
          <p:nvPr/>
        </p:nvSpPr>
        <p:spPr>
          <a:xfrm>
            <a:off x="2614943" y="-5733"/>
            <a:ext cx="6962115" cy="493598"/>
          </a:xfrm>
          <a:custGeom>
            <a:avLst/>
            <a:gdLst>
              <a:gd name="connsiteX0" fmla="*/ 0 w 8717654"/>
              <a:gd name="connsiteY0" fmla="*/ 0 h 562725"/>
              <a:gd name="connsiteX1" fmla="*/ 1155700 w 8717654"/>
              <a:gd name="connsiteY1" fmla="*/ 0 h 562725"/>
              <a:gd name="connsiteX2" fmla="*/ 7561954 w 8717654"/>
              <a:gd name="connsiteY2" fmla="*/ 0 h 562725"/>
              <a:gd name="connsiteX3" fmla="*/ 8717654 w 8717654"/>
              <a:gd name="connsiteY3" fmla="*/ 0 h 562725"/>
              <a:gd name="connsiteX4" fmla="*/ 8717381 w 8717654"/>
              <a:gd name="connsiteY4" fmla="*/ 1022 h 562725"/>
              <a:gd name="connsiteX5" fmla="*/ 8441286 w 8717654"/>
              <a:gd name="connsiteY5" fmla="*/ 521969 h 562725"/>
              <a:gd name="connsiteX6" fmla="*/ 8383695 w 8717654"/>
              <a:gd name="connsiteY6" fmla="*/ 562725 h 562725"/>
              <a:gd name="connsiteX7" fmla="*/ 7227995 w 8717654"/>
              <a:gd name="connsiteY7" fmla="*/ 562725 h 562725"/>
              <a:gd name="connsiteX8" fmla="*/ 1489659 w 8717654"/>
              <a:gd name="connsiteY8" fmla="*/ 562725 h 562725"/>
              <a:gd name="connsiteX9" fmla="*/ 333959 w 8717654"/>
              <a:gd name="connsiteY9" fmla="*/ 562725 h 562725"/>
              <a:gd name="connsiteX10" fmla="*/ 276368 w 8717654"/>
              <a:gd name="connsiteY10" fmla="*/ 521969 h 562725"/>
              <a:gd name="connsiteX11" fmla="*/ 273 w 8717654"/>
              <a:gd name="connsiteY11" fmla="*/ 1022 h 56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717654" h="562725">
                <a:moveTo>
                  <a:pt x="0" y="0"/>
                </a:moveTo>
                <a:lnTo>
                  <a:pt x="1155700" y="0"/>
                </a:lnTo>
                <a:lnTo>
                  <a:pt x="7561954" y="0"/>
                </a:lnTo>
                <a:lnTo>
                  <a:pt x="8717654" y="0"/>
                </a:lnTo>
                <a:lnTo>
                  <a:pt x="8717381" y="1022"/>
                </a:lnTo>
                <a:lnTo>
                  <a:pt x="8441286" y="521969"/>
                </a:lnTo>
                <a:cubicBezTo>
                  <a:pt x="8427678" y="547645"/>
                  <a:pt x="8406370" y="562725"/>
                  <a:pt x="8383695" y="562725"/>
                </a:cubicBezTo>
                <a:lnTo>
                  <a:pt x="7227995" y="562725"/>
                </a:lnTo>
                <a:lnTo>
                  <a:pt x="1489659" y="562725"/>
                </a:lnTo>
                <a:lnTo>
                  <a:pt x="333959" y="562725"/>
                </a:lnTo>
                <a:cubicBezTo>
                  <a:pt x="311285" y="562725"/>
                  <a:pt x="289976" y="547645"/>
                  <a:pt x="276368" y="521969"/>
                </a:cubicBezTo>
                <a:lnTo>
                  <a:pt x="273" y="1022"/>
                </a:lnTo>
                <a:close/>
              </a:path>
            </a:pathLst>
          </a:cu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0C56A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903C5D8-B02C-615F-5E7C-1D735477DD28}"/>
              </a:ext>
            </a:extLst>
          </p:cNvPr>
          <p:cNvSpPr txBox="1"/>
          <p:nvPr/>
        </p:nvSpPr>
        <p:spPr>
          <a:xfrm>
            <a:off x="6003634" y="10234"/>
            <a:ext cx="18473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endParaRPr lang="zh-CN" altLang="en-US" sz="24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82FF6B3-E791-92AE-46CC-5FB429465CB0}"/>
              </a:ext>
            </a:extLst>
          </p:cNvPr>
          <p:cNvSpPr/>
          <p:nvPr/>
        </p:nvSpPr>
        <p:spPr>
          <a:xfrm>
            <a:off x="0" y="6632574"/>
            <a:ext cx="12192000" cy="234477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E0A69E2-0C4D-1B8C-D7D2-887BAADEC477}"/>
              </a:ext>
            </a:extLst>
          </p:cNvPr>
          <p:cNvSpPr/>
          <p:nvPr/>
        </p:nvSpPr>
        <p:spPr>
          <a:xfrm>
            <a:off x="1143000" y="2349500"/>
            <a:ext cx="9906000" cy="101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3400" b="1">
                <a:solidFill>
                  <a:srgbClr val="00468E"/>
                </a:solidFill>
                <a:latin typeface="Microsoft YaHei" panose="020B0503020204020204" pitchFamily="34" charset="-122"/>
              </a:rPr>
              <a:t>总结与致谢
敬请批评指正！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6D3E5A5-1A1F-1036-75DD-7BD042C6AECF}"/>
              </a:ext>
            </a:extLst>
          </p:cNvPr>
          <p:cNvSpPr/>
          <p:nvPr/>
        </p:nvSpPr>
        <p:spPr>
          <a:xfrm>
            <a:off x="2159000" y="3937000"/>
            <a:ext cx="7874000" cy="711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81830"/>
                </a:solidFill>
                <a:latin typeface="Microsoft YaHei" panose="020B0503020204020204" pitchFamily="34" charset="-122"/>
              </a:rPr>
              <a:t>本研究以候选架构 </a:t>
            </a:r>
            <a:r>
              <a:rPr lang="en-US" altLang="zh-CN" b="1">
                <a:solidFill>
                  <a:srgbClr val="081830"/>
                </a:solidFill>
                <a:latin typeface="Microsoft YaHei" panose="020B0503020204020204" pitchFamily="34" charset="-122"/>
              </a:rPr>
              <a:t>X </a:t>
            </a:r>
            <a:r>
              <a:rPr lang="zh-CN" altLang="en-US" b="1">
                <a:solidFill>
                  <a:srgbClr val="081830"/>
                </a:solidFill>
                <a:latin typeface="Microsoft YaHei" panose="020B0503020204020204" pitchFamily="34" charset="-122"/>
              </a:rPr>
              <a:t>与聚合管理平台为两大支柱，面向前馈式三维重建提供可对照、可复用的研究框架。</a:t>
            </a:r>
          </a:p>
        </p:txBody>
      </p:sp>
    </p:spTree>
    <p:extLst>
      <p:ext uri="{BB962C8B-B14F-4D97-AF65-F5344CB8AC3E}">
        <p14:creationId xmlns:p14="http://schemas.microsoft.com/office/powerpoint/2010/main" val="30256900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1843</Words>
  <Application>Microsoft Office PowerPoint</Application>
  <PresentationFormat>宽屏</PresentationFormat>
  <Paragraphs>264</Paragraphs>
  <Slides>26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2" baseType="lpstr">
      <vt:lpstr>等线</vt:lpstr>
      <vt:lpstr>等线 Light</vt:lpstr>
      <vt:lpstr>Microsoft YaHei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Xe L</dc:creator>
  <cp:lastModifiedBy>Xe L</cp:lastModifiedBy>
  <cp:revision>3</cp:revision>
  <dcterms:created xsi:type="dcterms:W3CDTF">2026-05-17T17:47:53Z</dcterms:created>
  <dcterms:modified xsi:type="dcterms:W3CDTF">2026-05-17T17:52:15Z</dcterms:modified>
</cp:coreProperties>
</file>