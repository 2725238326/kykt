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84" r:id="rId4"/>
    <p:sldId id="327" r:id="rId5"/>
    <p:sldId id="281" r:id="rId6"/>
    <p:sldId id="328" r:id="rId7"/>
    <p:sldId id="321" r:id="rId8"/>
    <p:sldId id="307" r:id="rId9"/>
    <p:sldId id="269" r:id="rId10"/>
    <p:sldId id="329" r:id="rId11"/>
    <p:sldId id="298" r:id="rId12"/>
    <p:sldId id="330" r:id="rId13"/>
    <p:sldId id="331" r:id="rId14"/>
    <p:sldId id="332" r:id="rId15"/>
    <p:sldId id="333" r:id="rId16"/>
    <p:sldId id="334" r:id="rId17"/>
    <p:sldId id="323" r:id="rId18"/>
    <p:sldId id="335" r:id="rId19"/>
    <p:sldId id="336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E7DBB-87BB-14AD-8FF9-0E4B24AE2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0C6806-BAF0-E680-977D-DDBE68B1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684937-FF35-75D7-48C2-4D434278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A8653B-F669-92FE-3B58-4E7A49DE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75875-81ED-9102-6A96-5AFA9669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48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61204-3AB9-C571-7B77-53F8C48A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BBED3C-C8ED-E3B0-4824-B7ABF7E97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2FBBF-8D68-1396-9F83-DB78B8AF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3CC56-689A-9B92-86CF-4526118D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BE41A-1E4A-27D1-8343-2CADBB8B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20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CB84F-3B2C-7CCC-C3C5-C8F50ECE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EF73E2-91B8-2191-F004-7F7202921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CD83D2-FC88-39FA-271D-BB21AF2C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811241-944A-664A-40CA-6AEE54B5E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8CD9C8-E9EE-3B15-47F7-89620D56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83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E21E1-BEE9-F49D-85A5-2DE925B6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90A81D-ECDE-2512-BB7D-D27F40BBB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A10893-27F6-21D9-EC48-C9FA8B2A3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96C97E-2971-213E-8065-8F26C529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590AC8-3A78-22B2-96BA-35680358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52B27F-572D-5478-4C37-0611A24A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77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9301D-38BE-05E9-DBAD-243DBA8F5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23E044-EB85-F136-400A-99A54E580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1F3E92-24A8-0817-4D99-0B796CBCB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D9535A-E62A-26DF-0318-D8BF89411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2E9E56-5493-C554-7A75-1EFDF6DB2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E5E680-D22B-B55C-5C90-FD192A9C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028BFA-D2B0-B2CE-B381-D88F0E6E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37D5AA-2AF9-7E53-4A10-8989BC66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33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D66B1-21E4-D9D7-00CC-21F63090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0E010D-DF09-47DA-0FF5-D24B073B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D84D1D-1572-2F49-1DC0-E3D3E458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C8437A-C73C-1941-8FC0-DBA3CA60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70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C4E041-7E2F-9EE7-2980-5C5B5F1A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34C622-9C98-68FD-2A3E-A7B3BD86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B09B53-C716-20CD-0C76-03C0E053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79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D80B6-47CD-E415-A813-81A2435C3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7F3196-27D4-0A58-B3F1-40FC4F65A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43E37E-3669-3B51-0109-97A2FBAF5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03DCD2-653E-42C1-6DD7-23CA7B31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70157C-3837-F18F-23D1-5496E6B1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1E0C4-A1BB-E321-F5CF-E02FA3A6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48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7E469-204D-86A1-1347-2E2D8363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5BF973-502A-6836-5C25-90237F807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CBA90-1763-5F08-06F8-9D61DE7A2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BCD055-0EDC-4739-C53D-36AFDCAB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5605D9-A661-4BA0-54EB-71396875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62854C-AA59-A68E-FEAE-6C479433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92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1BD52-B52C-23BB-6312-C5E233E3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F9D746-8FA9-1DFA-40FD-277FCD497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4DF1A-EF06-CC56-B85B-636AEE53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49B3CA-66F2-123F-D830-FA9C6957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74E43-B046-62D8-F79F-5268DF61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26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EA15CB1-0405-6B1A-645A-8111466DCF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EC8530-A743-13C7-C8FC-DDBD47499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75273-F221-B6CE-9E0C-EDEBB844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1F8A3E-D4B5-C51C-A737-474B80E6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4DB44-2EF2-F71F-8F96-E32455B2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878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62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7A644D-51FE-61E4-B8D1-3DAACB12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C452CA-0DD9-6063-02D2-CBB8C75F6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9C000-D0FB-E8C8-3117-21FE8DCC5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12D2C-9A51-4007-83C2-02E68105E293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DF0D1F-AC28-0AD6-6D41-8977CD74C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C40A3-CA75-AEF9-BDBC-4CA712953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3B407-04E2-4827-81DE-8F91805F8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8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70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69A89E1-B805-069D-6662-DF94470F2E39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56AB1C-3104-9C77-0601-3513103F7E3D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6BF3D40-E25A-67E6-6D9F-8276DB4D5E2A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547E1E3-F333-692F-6243-F71DC461A23E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7EABD2-8C3C-7631-4242-5F3F12FC44C2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73C9399-21DF-76A5-A3D3-E84B9A0203DF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CD750F6-B28C-AEB9-F590-BB5C3E5FC54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A7A060-9F38-5554-05C2-3206A0039670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E8265F-1FEA-3771-6834-32EE17C127AD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2A7BDE4-96CC-38FD-67E9-DF40A43A4CE6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A79F9CC-9ABD-03F8-53AF-C2FB421B96B7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E9AD6B-C2D1-A686-14F2-26F818D60B6B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BCA5E37-63B8-7255-3B91-FA2FC7A00161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214341B-D46E-3860-D468-0D31B307161B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D72E5B4-7F20-C99A-9F65-2A20BAFEC2F3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4317C-CF82-76FB-724B-B8595833413A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8B1D4FF-F5A5-0F3E-64DB-B93901C226ED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2F1D28A-45FD-9F15-CE44-7620BF8BF836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FFE8651-8EBF-706A-74FE-B504E9C521E0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BE4DFD-3D39-E7ED-B378-E466F1B621D0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1C5DF7-2E6C-C13A-3025-6181A7DAA8EC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10469F4-99CC-A30F-3773-2D2000F83677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128C49B-B65E-70B7-6BE3-1D9C33C7F65F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27425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682A5A6-CEF6-9239-EBB9-BC7DB5A38331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131A0-361D-6964-A959-95A4DCA815EC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EC31BA8-284F-54B0-2A5A-1547C9B78B55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04DC3AA-A14A-A52F-8EEF-ED4F9C5BB7E4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F728A9-37F5-E32A-81CF-9D76A1C6E9EB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72C1876-C512-22E6-F40F-6BD533489E7D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593A9E8-DFF9-890F-4DAF-A82AAD10C4FD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1DD7D3-B6D3-6185-CD18-EFB2F4313531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DFC54C-9C9B-AA0E-407C-7BA0DA37B37A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6E76AB4-7A61-A47A-5859-24295BED78D7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A9EECC7-E3E5-7EF7-D8D7-C55C3F8CD49D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30A46C-A941-2573-D72A-FF01065E3FCC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AE87C3-6157-D79A-D847-34A03845E321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D59A0C2-1FB6-301D-E7A5-CC52D3B6A099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16E3DF5-C2C1-7FB3-B4B8-554211606696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DA60FB-8319-918E-1211-312741AD0CEC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02CB0D6-7485-CA40-358E-9432C43CEF4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532639-0A88-D484-C0FE-510BD7EA9BA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17A4EA9-E5F3-1183-950E-EFE7137CAE9F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206E13-1B72-0154-56B4-5C44DEE95B2A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4202DB-2C54-2CF1-0001-24F016661628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44C3755-2F25-3986-C3DA-0B0EFCE561B9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02BB8AD-35A2-5072-D50A-E41A3DF2170B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63849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研究背景：</a:t>
            </a:r>
            <a:r>
              <a:rPr lang="en-US" altLang="zh-CN" sz="3000" b="1">
                <a:solidFill>
                  <a:srgbClr val="003070"/>
                </a:solidFill>
                <a:latin typeface="微软雅黑" panose="020B0503020204020204" pitchFamily="34" charset="-122"/>
              </a:rPr>
              <a:t>3R </a:t>
            </a:r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方向快速演进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9E9373-55DC-C2E1-2103-40586B724D2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BC268B-262B-2547-8631-408CADDD921F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从单次回归点图出发，近两年扩展到匹配、动态、长序列和测试时适配。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737A492-AFD5-421F-1589-9D91E32E8FAC}"/>
              </a:ext>
            </a:extLst>
          </p:cNvPr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2024
DUSt3R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C19BDB-A426-3793-EBEA-757F8E3F2C76}"/>
              </a:ext>
            </a:extLst>
          </p:cNvPr>
          <p:cNvSpPr/>
          <p:nvPr/>
        </p:nvSpPr>
        <p:spPr>
          <a:xfrm>
            <a:off x="635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pose-free
pointmap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5CEB2EE-027E-3D55-FC13-68008EAB80ED}"/>
              </a:ext>
            </a:extLst>
          </p:cNvPr>
          <p:cNvSpPr/>
          <p:nvPr/>
        </p:nvSpPr>
        <p:spPr>
          <a:xfrm>
            <a:off x="2476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2024
MASt3R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25E0FA-CD2E-63C8-0DBF-526FD33A657A}"/>
              </a:ext>
            </a:extLst>
          </p:cNvPr>
          <p:cNvSpPr/>
          <p:nvPr/>
        </p:nvSpPr>
        <p:spPr>
          <a:xfrm>
            <a:off x="2476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3D grounding
matching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3E9D47C-49BC-4C9A-399B-E2DA94115CAC}"/>
              </a:ext>
            </a:extLst>
          </p:cNvPr>
          <p:cNvSpPr/>
          <p:nvPr/>
        </p:nvSpPr>
        <p:spPr>
          <a:xfrm>
            <a:off x="4318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2025
Fast3R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AC0B326-22FB-78ED-3D2C-9099112497D3}"/>
              </a:ext>
            </a:extLst>
          </p:cNvPr>
          <p:cNvSpPr/>
          <p:nvPr/>
        </p:nvSpPr>
        <p:spPr>
          <a:xfrm>
            <a:off x="4318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many-view
single forward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F391E12-A93E-A21B-B4C0-928409528E49}"/>
              </a:ext>
            </a:extLst>
          </p:cNvPr>
          <p:cNvSpPr/>
          <p:nvPr/>
        </p:nvSpPr>
        <p:spPr>
          <a:xfrm>
            <a:off x="6159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2024-25
MonST3R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8135510-697A-3720-DC97-7E018B5A066B}"/>
              </a:ext>
            </a:extLst>
          </p:cNvPr>
          <p:cNvSpPr/>
          <p:nvPr/>
        </p:nvSpPr>
        <p:spPr>
          <a:xfrm>
            <a:off x="6159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video / dynamic
4D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45F7CAA-209B-35A4-4CF5-E69C661B340B}"/>
              </a:ext>
            </a:extLst>
          </p:cNvPr>
          <p:cNvSpPr/>
          <p:nvPr/>
        </p:nvSpPr>
        <p:spPr>
          <a:xfrm>
            <a:off x="8001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2025
Spann3R / CUT3R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10542B4-8DDC-39F7-A510-9851AA134515}"/>
              </a:ext>
            </a:extLst>
          </p:cNvPr>
          <p:cNvSpPr/>
          <p:nvPr/>
        </p:nvSpPr>
        <p:spPr>
          <a:xfrm>
            <a:off x="8001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long-sequence
memory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FF33F9E-1B45-D8CA-A6BF-079E87E1B40C}"/>
              </a:ext>
            </a:extLst>
          </p:cNvPr>
          <p:cNvSpPr/>
          <p:nvPr/>
        </p:nvSpPr>
        <p:spPr>
          <a:xfrm>
            <a:off x="9842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2025
Test3R / TTT3R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672BACB-D77B-7B1E-7E0A-B42646444817}"/>
              </a:ext>
            </a:extLst>
          </p:cNvPr>
          <p:cNvSpPr/>
          <p:nvPr/>
        </p:nvSpPr>
        <p:spPr>
          <a:xfrm>
            <a:off x="9842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test-time
mechanisms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959A34A-A0AD-EA25-91B0-B0890A78A9F7}"/>
              </a:ext>
            </a:extLst>
          </p:cNvPr>
          <p:cNvSpPr/>
          <p:nvPr/>
        </p:nvSpPr>
        <p:spPr>
          <a:xfrm>
            <a:off x="889000" y="4445000"/>
            <a:ext cx="10414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4A91"/>
                </a:solidFill>
                <a:latin typeface="微软雅黑" panose="020B0503020204020204" pitchFamily="34" charset="-122"/>
              </a:rPr>
              <a:t>问题不在模型数量，而在比较口径、复现入口和实验记录还没有统一。</a:t>
            </a:r>
          </a:p>
        </p:txBody>
      </p:sp>
    </p:spTree>
    <p:extLst>
      <p:ext uri="{BB962C8B-B14F-4D97-AF65-F5344CB8AC3E}">
        <p14:creationId xmlns:p14="http://schemas.microsoft.com/office/powerpoint/2010/main" val="75646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问题收束：从失败模式到研究问题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120B114-3B96-12AD-9892-F2B65A7D7B1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9DE3F8-22B1-5BEA-6728-9F8C82D10625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本文把常见限制收束为四个可研究问题：验证、内存、组合、平台。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746F96-9268-D346-DE50-D53A103A832D}"/>
              </a:ext>
            </a:extLst>
          </p:cNvPr>
          <p:cNvSpPr/>
          <p:nvPr/>
        </p:nvSpPr>
        <p:spPr>
          <a:xfrm>
            <a:off x="698500" y="2095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几何验证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D9C556-D811-CC6E-F552-5B236EDE1B53}"/>
              </a:ext>
            </a:extLst>
          </p:cNvPr>
          <p:cNvSpPr/>
          <p:nvPr/>
        </p:nvSpPr>
        <p:spPr>
          <a:xfrm>
            <a:off x="23495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尺度漂移、重投影误差
缺少反馈入口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8EC442-37CE-0827-664C-105F0C2A759B}"/>
              </a:ext>
            </a:extLst>
          </p:cNvPr>
          <p:cNvSpPr/>
          <p:nvPr/>
        </p:nvSpPr>
        <p:spPr>
          <a:xfrm>
            <a:off x="6477000" y="2095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长序列内存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976109-F205-9685-DFB1-B1165965AFB9}"/>
              </a:ext>
            </a:extLst>
          </p:cNvPr>
          <p:cNvSpPr/>
          <p:nvPr/>
        </p:nvSpPr>
        <p:spPr>
          <a:xfrm>
            <a:off x="81280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跨片段状态衰减
一致性难保持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D7BF78-5089-06AA-4284-0E5548CECCD0}"/>
              </a:ext>
            </a:extLst>
          </p:cNvPr>
          <p:cNvSpPr/>
          <p:nvPr/>
        </p:nvSpPr>
        <p:spPr>
          <a:xfrm>
            <a:off x="698500" y="3746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多专家组合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FD1BF8A-9CC5-1561-220D-46CF9C47A6F1}"/>
              </a:ext>
            </a:extLst>
          </p:cNvPr>
          <p:cNvSpPr/>
          <p:nvPr/>
        </p:nvSpPr>
        <p:spPr>
          <a:xfrm>
            <a:off x="23495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模型能力互补
但缺少编排接口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E9F2829-ED75-1DE0-967D-E63086062440}"/>
              </a:ext>
            </a:extLst>
          </p:cNvPr>
          <p:cNvSpPr/>
          <p:nvPr/>
        </p:nvSpPr>
        <p:spPr>
          <a:xfrm>
            <a:off x="6477000" y="3746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统一平台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0FF36E-2773-1FFC-B562-A057788B6AEF}"/>
              </a:ext>
            </a:extLst>
          </p:cNvPr>
          <p:cNvSpPr/>
          <p:nvPr/>
        </p:nvSpPr>
        <p:spPr>
          <a:xfrm>
            <a:off x="81280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入口、格式、日志
难以横向比较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9B28C96-8013-A3ED-5E37-D285A4CBA962}"/>
              </a:ext>
            </a:extLst>
          </p:cNvPr>
          <p:cNvSpPr/>
          <p:nvPr/>
        </p:nvSpPr>
        <p:spPr>
          <a:xfrm>
            <a:off x="1079500" y="5524500"/>
            <a:ext cx="10033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4A91"/>
                </a:solidFill>
                <a:latin typeface="微软雅黑" panose="020B0503020204020204" pitchFamily="34" charset="-122"/>
              </a:rPr>
              <a:t>研究边界：候选架构不是最终方案；目标是形成可对照、可复用的实验入口。</a:t>
            </a:r>
          </a:p>
        </p:txBody>
      </p:sp>
    </p:spTree>
    <p:extLst>
      <p:ext uri="{BB962C8B-B14F-4D97-AF65-F5344CB8AC3E}">
        <p14:creationId xmlns:p14="http://schemas.microsoft.com/office/powerpoint/2010/main" val="151724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D100047-BDD5-9055-168E-FD733B9EC459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56C490-7C6C-8CED-71FC-A2C1531BD329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C248F55-F5EB-6D7F-498E-FF5735AFA07B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FBC596CD-1BBD-23AE-823C-88BB1A981B6F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7E3C24-D840-EAD3-A4E1-8A3D2DE99C71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8B80AAA-1161-D430-4866-0C6C7B0B0058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6A36D4A-40BF-96F9-7357-1E82A9669DA7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0E3739-AB32-A456-076C-94AA67E42FE5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A55FD2-CDEC-BF8F-4380-AE69B85BC12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924FF42-F07E-1C91-DBF4-D9AAEDF2421A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DA4FC2F-86D0-4252-74B0-D2D9AB76F5F2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239A9D-D096-7CE0-1864-EFDBC23D203C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918929-0A09-A9C3-447F-EE7198FAA062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357E7CC-A482-DB64-F370-E13B6242EF17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39CD70C-9E58-53E1-BCF7-2C2A238046DE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C6969B-53DD-74E9-9F93-D86957CB6CF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B888B2-8847-82E7-F0E1-BE6C8942BCC7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28E8DC0-9A73-CC29-6B17-D7BC152B1AA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1411F08-BFB5-CA84-7BAD-1F830F9118F9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AAB55F-F362-4270-0AC6-E5BEF4A9F053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A03A76-C12A-6FA2-8B31-470F1A1BBFA3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6F332ED-C668-9EFD-D014-AB41B4C486CA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5E0AC62-4866-303B-5130-93D027154F3B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1374712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研究现状：四轴覆盖矩阵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E8B2FD-2CF1-1549-EB8A-FCE2587EEE0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767D45-513A-1B05-9B23-603CD39BDAF9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44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篇文献按四轴整理后，缺口集中在校验反馈、多专家组合和统一平台。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332BF9-4A7E-D005-E173-0F6BC5BE42D1}"/>
              </a:ext>
            </a:extLst>
          </p:cNvPr>
          <p:cNvSpPr/>
          <p:nvPr/>
        </p:nvSpPr>
        <p:spPr>
          <a:xfrm>
            <a:off x="889000" y="2032000"/>
            <a:ext cx="3048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核心覆盖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79E1EA-6610-804F-1BEB-BF91624E7A86}"/>
              </a:ext>
            </a:extLst>
          </p:cNvPr>
          <p:cNvSpPr/>
          <p:nvPr/>
        </p:nvSpPr>
        <p:spPr>
          <a:xfrm>
            <a:off x="889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项
已有明确核心机制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8787FC-C4C4-9691-E3B1-F8C668DE3B2A}"/>
              </a:ext>
            </a:extLst>
          </p:cNvPr>
          <p:cNvSpPr/>
          <p:nvPr/>
        </p:nvSpPr>
        <p:spPr>
          <a:xfrm>
            <a:off x="4572000" y="2032000"/>
            <a:ext cx="3048000" cy="431800"/>
          </a:xfrm>
          <a:prstGeom prst="rect">
            <a:avLst/>
          </a:prstGeom>
          <a:solidFill>
            <a:srgbClr val="EB8A2E"/>
          </a:solidFill>
          <a:ln w="12700"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局部覆盖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185071-089C-1DD7-E24F-9E22FB1D6287}"/>
              </a:ext>
            </a:extLst>
          </p:cNvPr>
          <p:cNvSpPr/>
          <p:nvPr/>
        </p:nvSpPr>
        <p:spPr>
          <a:xfrm>
            <a:off x="4572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11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项
只在局部环节涉及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B2B1C6-5794-BDF1-D958-B09DE9FF756B}"/>
              </a:ext>
            </a:extLst>
          </p:cNvPr>
          <p:cNvSpPr/>
          <p:nvPr/>
        </p:nvSpPr>
        <p:spPr>
          <a:xfrm>
            <a:off x="8255000" y="2032000"/>
            <a:ext cx="3048000" cy="431800"/>
          </a:xfrm>
          <a:prstGeom prst="rect">
            <a:avLst/>
          </a:prstGeom>
          <a:solidFill>
            <a:srgbClr val="BE4646"/>
          </a:solidFill>
          <a:ln w="12700">
            <a:solidFill>
              <a:srgbClr val="BE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明确缺口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9A54B-BBC9-CF35-3638-6F3AAD87F23A}"/>
              </a:ext>
            </a:extLst>
          </p:cNvPr>
          <p:cNvSpPr/>
          <p:nvPr/>
        </p:nvSpPr>
        <p:spPr>
          <a:xfrm>
            <a:off x="8255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4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项
缺少清晰接口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0EB168-C78D-0003-EB60-A851E5B5B529}"/>
              </a:ext>
            </a:extLst>
          </p:cNvPr>
          <p:cNvSpPr/>
          <p:nvPr/>
        </p:nvSpPr>
        <p:spPr>
          <a:xfrm>
            <a:off x="1206500" y="4635500"/>
            <a:ext cx="9779000" cy="762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200" b="1">
                <a:solidFill>
                  <a:srgbClr val="003070"/>
                </a:solidFill>
                <a:latin typeface="微软雅黑" panose="020B0503020204020204" pitchFamily="34" charset="-122"/>
              </a:rPr>
              <a:t>结论：本研究不重复做综述，而是把缺口转化为可验证的架构和平台任务。</a:t>
            </a:r>
          </a:p>
        </p:txBody>
      </p:sp>
    </p:spTree>
    <p:extLst>
      <p:ext uri="{BB962C8B-B14F-4D97-AF65-F5344CB8AC3E}">
        <p14:creationId xmlns:p14="http://schemas.microsoft.com/office/powerpoint/2010/main" val="210321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工具链空白：支柱 </a:t>
            </a:r>
            <a:r>
              <a:rPr lang="en-US" altLang="zh-CN" sz="3000" b="1">
                <a:solidFill>
                  <a:srgbClr val="003070"/>
                </a:solidFill>
                <a:latin typeface="微软雅黑" panose="020B0503020204020204" pitchFamily="34" charset="-122"/>
              </a:rPr>
              <a:t>B </a:t>
            </a:r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的动机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B0164C-6B6C-FCC2-A13E-C32C4786079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76ECDF-E4C9-AE57-FD64-0264DA46C4AE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现有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demo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能跑模型，但难以稳定记录同一输入下的多模型输出。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6CE8E-63F5-5D98-6DC4-63221E2A78C4}"/>
              </a:ext>
            </a:extLst>
          </p:cNvPr>
          <p:cNvSpPr/>
          <p:nvPr/>
        </p:nvSpPr>
        <p:spPr>
          <a:xfrm>
            <a:off x="1016000" y="1968500"/>
            <a:ext cx="1905000" cy="685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模型入口分散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2F3FD0-8DD1-8484-1CE6-CE783DF53477}"/>
              </a:ext>
            </a:extLst>
          </p:cNvPr>
          <p:cNvSpPr/>
          <p:nvPr/>
        </p:nvSpPr>
        <p:spPr>
          <a:xfrm>
            <a:off x="3111500" y="19685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不同仓库、环境与脚本割裂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252F95-15D9-6C8C-5C8A-0718805DFAC7}"/>
              </a:ext>
            </a:extLst>
          </p:cNvPr>
          <p:cNvSpPr/>
          <p:nvPr/>
        </p:nvSpPr>
        <p:spPr>
          <a:xfrm>
            <a:off x="1016000" y="3086100"/>
            <a:ext cx="1905000" cy="685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输出格式异构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102458-3164-2929-40BA-BCF9595E7A8D}"/>
              </a:ext>
            </a:extLst>
          </p:cNvPr>
          <p:cNvSpPr/>
          <p:nvPr/>
        </p:nvSpPr>
        <p:spPr>
          <a:xfrm>
            <a:off x="3111500" y="30861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0F2037"/>
                </a:solidFill>
                <a:latin typeface="微软雅黑" panose="020B0503020204020204" pitchFamily="34" charset="-122"/>
              </a:rPr>
              <a:t>pointmap</a:t>
            </a:r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F2037"/>
                </a:solidFill>
                <a:latin typeface="微软雅黑" panose="020B0503020204020204" pitchFamily="34" charset="-122"/>
              </a:rPr>
              <a:t>mesh</a:t>
            </a:r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、动态轨迹难以横向比较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F80570-0C03-ABE4-6AC5-D502EECD6262}"/>
              </a:ext>
            </a:extLst>
          </p:cNvPr>
          <p:cNvSpPr/>
          <p:nvPr/>
        </p:nvSpPr>
        <p:spPr>
          <a:xfrm>
            <a:off x="1016000" y="4203700"/>
            <a:ext cx="1905000" cy="685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日志口径不一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2B47AD-8E55-165C-3DFB-9186C989D9F4}"/>
              </a:ext>
            </a:extLst>
          </p:cNvPr>
          <p:cNvSpPr/>
          <p:nvPr/>
        </p:nvSpPr>
        <p:spPr>
          <a:xfrm>
            <a:off x="3111500" y="42037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耗时、状态、失败原因缺少统一记录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FF89B2-27B5-9A7A-5C73-A858960FFBBE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</a:rPr>
              <a:t>B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的定位：把一次性演示变成可复查的实验流程。</a:t>
            </a:r>
          </a:p>
        </p:txBody>
      </p:sp>
    </p:spTree>
    <p:extLst>
      <p:ext uri="{BB962C8B-B14F-4D97-AF65-F5344CB8AC3E}">
        <p14:creationId xmlns:p14="http://schemas.microsoft.com/office/powerpoint/2010/main" val="1834633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研究目标：两大支柱与边界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BF39FA-118C-EDB5-AE97-65EDD813673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25A3FE-54AC-1098-EEFC-A20BF7A4BDA8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研究目标不是证明某个模型最强，而是让候选机制可以被对照检验。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8FE555-6CB8-909F-4C74-51CE42A7BC3A}"/>
              </a:ext>
            </a:extLst>
          </p:cNvPr>
          <p:cNvSpPr/>
          <p:nvPr/>
        </p:nvSpPr>
        <p:spPr>
          <a:xfrm>
            <a:off x="762000" y="1968500"/>
            <a:ext cx="3175000" cy="381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A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0ACA7B-57E6-29C5-468C-8B8F45D42FC1}"/>
              </a:ext>
            </a:extLst>
          </p:cNvPr>
          <p:cNvSpPr/>
          <p:nvPr/>
        </p:nvSpPr>
        <p:spPr>
          <a:xfrm>
            <a:off x="762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1500">
                <a:solidFill>
                  <a:srgbClr val="0F2037"/>
                </a:solidFill>
                <a:latin typeface="微软雅黑" panose="020B0503020204020204" pitchFamily="34" charset="-122"/>
              </a:rPr>
              <a:t>X</a:t>
            </a:r>
            <a:endParaRPr lang="zh-CN" altLang="en-US" sz="15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C262AD-5802-C6C8-83B8-5350D6A88DBC}"/>
              </a:ext>
            </a:extLst>
          </p:cNvPr>
          <p:cNvSpPr/>
          <p:nvPr/>
        </p:nvSpPr>
        <p:spPr>
          <a:xfrm>
            <a:off x="762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校验 </a:t>
            </a:r>
            <a:r>
              <a:rPr lang="en-US" altLang="zh-CN" sz="15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编排 </a:t>
            </a:r>
            <a:r>
              <a:rPr lang="en-US" altLang="zh-CN" sz="15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记忆模块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AC98B0-9B63-1AE7-3736-96835FF6D623}"/>
              </a:ext>
            </a:extLst>
          </p:cNvPr>
          <p:cNvSpPr/>
          <p:nvPr/>
        </p:nvSpPr>
        <p:spPr>
          <a:xfrm>
            <a:off x="762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消融实验与对照验证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E1FA77-E50D-CE11-E097-684E402C64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2360856"/>
            <a:ext cx="3683000" cy="20727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40C3CCD-4B5E-78D7-C2D0-28129E064457}"/>
              </a:ext>
            </a:extLst>
          </p:cNvPr>
          <p:cNvSpPr/>
          <p:nvPr/>
        </p:nvSpPr>
        <p:spPr>
          <a:xfrm>
            <a:off x="8255000" y="1968500"/>
            <a:ext cx="3175000" cy="381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B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2EA7BE-EF95-B15E-BBD9-57E9971CBDA1}"/>
              </a:ext>
            </a:extLst>
          </p:cNvPr>
          <p:cNvSpPr/>
          <p:nvPr/>
        </p:nvSpPr>
        <p:spPr>
          <a:xfrm>
            <a:off x="8255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统一执行合同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5E77E7-4BA6-AC3C-0560-63077D565A13}"/>
              </a:ext>
            </a:extLst>
          </p:cNvPr>
          <p:cNvSpPr/>
          <p:nvPr/>
        </p:nvSpPr>
        <p:spPr>
          <a:xfrm>
            <a:off x="8255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多模型接入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9DBEE3-176C-6459-2119-60E57A1B55E3}"/>
              </a:ext>
            </a:extLst>
          </p:cNvPr>
          <p:cNvSpPr/>
          <p:nvPr/>
        </p:nvSpPr>
        <p:spPr>
          <a:xfrm>
            <a:off x="8255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远端调度与日志记录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DCC4DD-9E1E-99BC-D7A4-73E62CF00897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4A91"/>
                </a:solidFill>
                <a:latin typeface="微软雅黑" panose="020B0503020204020204" pitchFamily="34" charset="-122"/>
              </a:rPr>
              <a:t>三条红线：候选不等于结论；不押注单一支线；只报告对照数据。</a:t>
            </a:r>
          </a:p>
        </p:txBody>
      </p:sp>
    </p:spTree>
    <p:extLst>
      <p:ext uri="{BB962C8B-B14F-4D97-AF65-F5344CB8AC3E}">
        <p14:creationId xmlns:p14="http://schemas.microsoft.com/office/powerpoint/2010/main" val="109960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089E40E-7609-7D39-1A22-65CFF5AD19B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AD43AB-FD1E-3751-9F62-BCA2D30DE0EF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B3FEAEE-4A0E-9C47-7FBC-6B46A89A75E9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AA70D6BA-92E2-2E62-A5D7-8D090F248D6E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1D7474-0B45-6311-925C-BCBF65D55D8A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85B57B3-F4F7-20D5-F9DE-CB8371A7F31D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B9DCEC5-142E-9D47-CD7C-B4EB19ED93B6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6E0581-E8D3-ACF0-5507-F9474362F21A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B32AA0-BCAE-2489-4C9A-60ED8D19AFFE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CAD7E73-6135-F298-2160-9B552691DA51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025FB23-1043-C14E-24C8-D825BE28C7D0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6ED89B-30A6-7EF4-0891-2C1F0E4D31BA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B46861-C791-B83D-7977-05206739CB7C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260A3AA-458E-70EC-0E11-683B13B84518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4CE07CD-838A-9450-FE55-BE4B6E18CF91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A31A25-3590-786F-C066-1C4287A4E79D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24E27E-D099-4B15-624F-A0D86A3D7CCB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1DD5DFB-2713-1CA7-4AD4-29FBC89F07E2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63A1CF8-7710-2C33-7A6C-62BF0F2F0D1D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1F2AD9-CB2E-FD6D-0F1E-0EB85F0100CE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B72220-0D94-7EA7-CC13-8E0894E7EB5A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988D5AB-52E1-33D0-E025-9BC1DCA3DBD1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E0B202D-9A91-1543-EBC8-E10A1C96A9EF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2737330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3000" b="1">
                <a:solidFill>
                  <a:srgbClr val="003070"/>
                </a:solidFill>
                <a:latin typeface="微软雅黑" panose="020B0503020204020204" pitchFamily="34" charset="-122"/>
              </a:rPr>
              <a:t>X</a:t>
            </a:r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：整体设计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90399F-3492-F676-CB05-D88EE5CECC5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681822-A6C6-D882-5AEA-8DFB9B18EB24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的作用是组织可检验假设，而不是提前给出最终模型。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C58EFA-CD91-2CEA-B590-F0EE045E3F70}"/>
              </a:ext>
            </a:extLst>
          </p:cNvPr>
          <p:cNvSpPr/>
          <p:nvPr/>
        </p:nvSpPr>
        <p:spPr>
          <a:xfrm>
            <a:off x="698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09CE99-C990-5D7C-0C71-8E925EE869F2}"/>
              </a:ext>
            </a:extLst>
          </p:cNvPr>
          <p:cNvSpPr/>
          <p:nvPr/>
        </p:nvSpPr>
        <p:spPr>
          <a:xfrm>
            <a:off x="698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图像序列
单图 </a:t>
            </a:r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图像对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06A1E04-E54C-0CA8-32C6-A096840F56A6}"/>
              </a:ext>
            </a:extLst>
          </p:cNvPr>
          <p:cNvSpPr/>
          <p:nvPr/>
        </p:nvSpPr>
        <p:spPr>
          <a:xfrm>
            <a:off x="2578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0C832C-6BAD-77DA-DE24-D8C6D79AFE16}"/>
              </a:ext>
            </a:extLst>
          </p:cNvPr>
          <p:cNvSpPr/>
          <p:nvPr/>
        </p:nvSpPr>
        <p:spPr>
          <a:xfrm>
            <a:off x="2984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前馈模型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F3361E-68B8-1A02-32B5-943DA86C0F8B}"/>
              </a:ext>
            </a:extLst>
          </p:cNvPr>
          <p:cNvSpPr/>
          <p:nvPr/>
        </p:nvSpPr>
        <p:spPr>
          <a:xfrm>
            <a:off x="2984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DUSt3R
MASt3R
Fast3R</a:t>
            </a:r>
            <a:endParaRPr lang="zh-CN" altLang="en-US" sz="19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21995F0-D563-A515-0F29-32374E9CEA93}"/>
              </a:ext>
            </a:extLst>
          </p:cNvPr>
          <p:cNvSpPr/>
          <p:nvPr/>
        </p:nvSpPr>
        <p:spPr>
          <a:xfrm>
            <a:off x="4864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FE1541-96A0-5A1F-A17C-500985AB1593}"/>
              </a:ext>
            </a:extLst>
          </p:cNvPr>
          <p:cNvSpPr/>
          <p:nvPr/>
        </p:nvSpPr>
        <p:spPr>
          <a:xfrm>
            <a:off x="5270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8D4137-AAF2-EBF0-830A-E4968DEEC67C}"/>
              </a:ext>
            </a:extLst>
          </p:cNvPr>
          <p:cNvSpPr/>
          <p:nvPr/>
        </p:nvSpPr>
        <p:spPr>
          <a:xfrm>
            <a:off x="5270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几何一致性
失败信号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E557D70F-B304-B53C-E82D-23619591D390}"/>
              </a:ext>
            </a:extLst>
          </p:cNvPr>
          <p:cNvSpPr/>
          <p:nvPr/>
        </p:nvSpPr>
        <p:spPr>
          <a:xfrm>
            <a:off x="7150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168DFC-D50A-AAB1-8DA3-08C9E27714E0}"/>
              </a:ext>
            </a:extLst>
          </p:cNvPr>
          <p:cNvSpPr/>
          <p:nvPr/>
        </p:nvSpPr>
        <p:spPr>
          <a:xfrm>
            <a:off x="7556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编排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CF3AB8-2ED3-CC27-71C0-F1A2DD5F60EA}"/>
              </a:ext>
            </a:extLst>
          </p:cNvPr>
          <p:cNvSpPr/>
          <p:nvPr/>
        </p:nvSpPr>
        <p:spPr>
          <a:xfrm>
            <a:off x="7556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选择专家
记录决策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73556600-A487-2D1E-2A47-72DD211270CC}"/>
              </a:ext>
            </a:extLst>
          </p:cNvPr>
          <p:cNvSpPr/>
          <p:nvPr/>
        </p:nvSpPr>
        <p:spPr>
          <a:xfrm>
            <a:off x="9436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FA3065-CA8B-74D5-3B11-6F245C3816FB}"/>
              </a:ext>
            </a:extLst>
          </p:cNvPr>
          <p:cNvSpPr/>
          <p:nvPr/>
        </p:nvSpPr>
        <p:spPr>
          <a:xfrm>
            <a:off x="9842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54B287-EFEE-6E1B-457A-537333CBC69D}"/>
              </a:ext>
            </a:extLst>
          </p:cNvPr>
          <p:cNvSpPr/>
          <p:nvPr/>
        </p:nvSpPr>
        <p:spPr>
          <a:xfrm>
            <a:off x="9842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pointmap
mask / mesh</a:t>
            </a:r>
            <a:endParaRPr lang="zh-CN" altLang="en-US" sz="19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B973BE-E103-B0A7-51DA-C1265FD34F89}"/>
              </a:ext>
            </a:extLst>
          </p:cNvPr>
          <p:cNvSpPr/>
          <p:nvPr/>
        </p:nvSpPr>
        <p:spPr>
          <a:xfrm>
            <a:off x="1206500" y="4762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3070"/>
                </a:solidFill>
                <a:latin typeface="微软雅黑" panose="020B0503020204020204" pitchFamily="34" charset="-122"/>
              </a:rPr>
              <a:t>保留退化路径：任何模块效果不稳定，都可以退回普通前馈模型对照。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842316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校验模块：几何一致性反馈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46977D-D7A8-BD7C-B573-C276A440639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FC71E7-B96E-9B20-E9A2-223FBDB8B716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校验模块把几何一致性作为显式信号，避免只在结果页解释失败。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2EA3E1-34B5-0167-5B4E-E8D73AE9F9D5}"/>
              </a:ext>
            </a:extLst>
          </p:cNvPr>
          <p:cNvSpPr/>
          <p:nvPr/>
        </p:nvSpPr>
        <p:spPr>
          <a:xfrm>
            <a:off x="889000" y="2159000"/>
            <a:ext cx="2667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3E054B-D9AD-76FC-E27F-3DA09F7D5CDE}"/>
              </a:ext>
            </a:extLst>
          </p:cNvPr>
          <p:cNvSpPr/>
          <p:nvPr/>
        </p:nvSpPr>
        <p:spPr>
          <a:xfrm>
            <a:off x="889000" y="2616200"/>
            <a:ext cx="2667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点图 </a:t>
            </a:r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相机 </a:t>
            </a:r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匹配关系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D99D3A7-8370-6332-3092-E5E367F47CD0}"/>
              </a:ext>
            </a:extLst>
          </p:cNvPr>
          <p:cNvSpPr/>
          <p:nvPr/>
        </p:nvSpPr>
        <p:spPr>
          <a:xfrm>
            <a:off x="3810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36876D-568F-D1CC-676E-C4B1947A0A9F}"/>
              </a:ext>
            </a:extLst>
          </p:cNvPr>
          <p:cNvSpPr/>
          <p:nvPr/>
        </p:nvSpPr>
        <p:spPr>
          <a:xfrm>
            <a:off x="4635500" y="2159000"/>
            <a:ext cx="2921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校验信号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8209F1-12BB-DF28-9867-66D8016AD3DA}"/>
              </a:ext>
            </a:extLst>
          </p:cNvPr>
          <p:cNvSpPr/>
          <p:nvPr/>
        </p:nvSpPr>
        <p:spPr>
          <a:xfrm>
            <a:off x="4635500" y="2616200"/>
            <a:ext cx="2921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重投影误差
深度一致性
动态区域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59138C4-69C5-2C19-F600-66634F5E5E4E}"/>
              </a:ext>
            </a:extLst>
          </p:cNvPr>
          <p:cNvSpPr/>
          <p:nvPr/>
        </p:nvSpPr>
        <p:spPr>
          <a:xfrm>
            <a:off x="78105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50D855-1745-27B9-0A38-77DA04914546}"/>
              </a:ext>
            </a:extLst>
          </p:cNvPr>
          <p:cNvSpPr/>
          <p:nvPr/>
        </p:nvSpPr>
        <p:spPr>
          <a:xfrm>
            <a:off x="8636000" y="2159000"/>
            <a:ext cx="2667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反馈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B374C4-C940-E814-FD67-0D8C97614AB6}"/>
              </a:ext>
            </a:extLst>
          </p:cNvPr>
          <p:cNvSpPr/>
          <p:nvPr/>
        </p:nvSpPr>
        <p:spPr>
          <a:xfrm>
            <a:off x="8636000" y="2616200"/>
            <a:ext cx="2667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继续执行
触发修正
交给编排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5BB2E1-6562-1ADA-B344-AC5BD550BC68}"/>
              </a:ext>
            </a:extLst>
          </p:cNvPr>
          <p:cNvSpPr/>
          <p:nvPr/>
        </p:nvSpPr>
        <p:spPr>
          <a:xfrm>
            <a:off x="1270000" y="4762500"/>
            <a:ext cx="9652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3070"/>
                </a:solidFill>
                <a:latin typeface="微软雅黑" panose="020B0503020204020204" pitchFamily="34" charset="-122"/>
              </a:rPr>
              <a:t>关键点：校验不是后处理说明，而是架构内部的判断入口。</a:t>
            </a:r>
          </a:p>
        </p:txBody>
      </p:sp>
    </p:spTree>
    <p:extLst>
      <p:ext uri="{BB962C8B-B14F-4D97-AF65-F5344CB8AC3E}">
        <p14:creationId xmlns:p14="http://schemas.microsoft.com/office/powerpoint/2010/main" val="392424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编排与记忆：组合机制与长序列状态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A39161-2F53-5FCC-C155-979C47D8CCC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B1D149-6BF2-1947-43A7-E80C7F1B5235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编排负责模型组合，记忆负责长序列状态；两者都需要独立消融。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DB8CCC-6DA8-7C3D-17D9-DB33431E8891}"/>
              </a:ext>
            </a:extLst>
          </p:cNvPr>
          <p:cNvSpPr/>
          <p:nvPr/>
        </p:nvSpPr>
        <p:spPr>
          <a:xfrm>
            <a:off x="889000" y="1968500"/>
            <a:ext cx="457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编排模块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607EA-9F32-6C89-FD0F-83BFB781C84A}"/>
              </a:ext>
            </a:extLst>
          </p:cNvPr>
          <p:cNvSpPr/>
          <p:nvPr/>
        </p:nvSpPr>
        <p:spPr>
          <a:xfrm>
            <a:off x="889000" y="2425700"/>
            <a:ext cx="457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按场景和失败信号选择专家
快速模型：控制成本
鲁棒模型：处理困难样本
动态模型：处理运动场景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9B72B0-BC59-B298-F0A1-7A8413D81722}"/>
              </a:ext>
            </a:extLst>
          </p:cNvPr>
          <p:cNvSpPr/>
          <p:nvPr/>
        </p:nvSpPr>
        <p:spPr>
          <a:xfrm>
            <a:off x="6731000" y="1968500"/>
            <a:ext cx="457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记忆模块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A4FD05-CF8A-89B5-CE6F-436BAA818556}"/>
              </a:ext>
            </a:extLst>
          </p:cNvPr>
          <p:cNvSpPr/>
          <p:nvPr/>
        </p:nvSpPr>
        <p:spPr>
          <a:xfrm>
            <a:off x="6731000" y="2425700"/>
            <a:ext cx="457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维护长序列状态
短期：局部帧间信息
长期：跨片段信息
检索：相似状态补充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52935D-1D57-F3B0-F838-9403E821BB03}"/>
              </a:ext>
            </a:extLst>
          </p:cNvPr>
          <p:cNvSpPr/>
          <p:nvPr/>
        </p:nvSpPr>
        <p:spPr>
          <a:xfrm>
            <a:off x="1460500" y="5016500"/>
            <a:ext cx="9271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3070"/>
                </a:solidFill>
                <a:latin typeface="微软雅黑" panose="020B0503020204020204" pitchFamily="34" charset="-122"/>
              </a:rPr>
              <a:t>后续判断标准：加入模块后是否在指定场景中稳定改善，而不是只看整体平均分。</a:t>
            </a:r>
          </a:p>
        </p:txBody>
      </p:sp>
    </p:spTree>
    <p:extLst>
      <p:ext uri="{BB962C8B-B14F-4D97-AF65-F5344CB8AC3E}">
        <p14:creationId xmlns:p14="http://schemas.microsoft.com/office/powerpoint/2010/main" val="4065014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平台与合同：统一接入和执行记录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3D4B67-8EE4-3BC5-E596-D726166C183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6298B8-3993-CCD7-880C-C8DB62570FAB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平台侧统一模型入口、执行状态和结果记录，服务后续横向对比。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0F3478-82F9-1609-7369-BED3EAE67FF7}"/>
              </a:ext>
            </a:extLst>
          </p:cNvPr>
          <p:cNvSpPr/>
          <p:nvPr/>
        </p:nvSpPr>
        <p:spPr>
          <a:xfrm>
            <a:off x="1016000" y="19685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桌面前端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79FF11-8D04-AB15-091B-BAA89DEAAEC7}"/>
              </a:ext>
            </a:extLst>
          </p:cNvPr>
          <p:cNvSpPr/>
          <p:nvPr/>
        </p:nvSpPr>
        <p:spPr>
          <a:xfrm>
            <a:off x="3556000" y="19685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提交任务 </a:t>
            </a:r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61469B-31E3-CA75-6087-9A5B6A4787D0}"/>
              </a:ext>
            </a:extLst>
          </p:cNvPr>
          <p:cNvSpPr/>
          <p:nvPr/>
        </p:nvSpPr>
        <p:spPr>
          <a:xfrm>
            <a:off x="1016000" y="27559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本地后端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7D9333-C7EE-D619-5CB3-6DA83E9A9499}"/>
              </a:ext>
            </a:extLst>
          </p:cNvPr>
          <p:cNvSpPr/>
          <p:nvPr/>
        </p:nvSpPr>
        <p:spPr>
          <a:xfrm>
            <a:off x="3556000" y="27559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参数校验 </a:t>
            </a:r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任务封装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B88AF9-E9AD-941D-27A4-B010B9B7EA54}"/>
              </a:ext>
            </a:extLst>
          </p:cNvPr>
          <p:cNvSpPr/>
          <p:nvPr/>
        </p:nvSpPr>
        <p:spPr>
          <a:xfrm>
            <a:off x="1016000" y="35433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远端调度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831278-50DB-9C35-11D6-B650F467D190}"/>
              </a:ext>
            </a:extLst>
          </p:cNvPr>
          <p:cNvSpPr/>
          <p:nvPr/>
        </p:nvSpPr>
        <p:spPr>
          <a:xfrm>
            <a:off x="3556000" y="35433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SSH 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日志 </a:t>
            </a:r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结果回传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47E40D-4731-232D-CA78-8870E1DD4654}"/>
              </a:ext>
            </a:extLst>
          </p:cNvPr>
          <p:cNvSpPr/>
          <p:nvPr/>
        </p:nvSpPr>
        <p:spPr>
          <a:xfrm>
            <a:off x="1016000" y="43307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模型执行层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8D6120-0ADB-F101-04E3-13EAE398CA15}"/>
              </a:ext>
            </a:extLst>
          </p:cNvPr>
          <p:cNvSpPr/>
          <p:nvPr/>
        </p:nvSpPr>
        <p:spPr>
          <a:xfrm>
            <a:off x="3556000" y="43307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DUSt3R / MASt3R / Fast3R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371F8-1084-8640-783C-0CA7115F4B82}"/>
              </a:ext>
            </a:extLst>
          </p:cNvPr>
          <p:cNvSpPr/>
          <p:nvPr/>
        </p:nvSpPr>
        <p:spPr>
          <a:xfrm>
            <a:off x="1905000" y="5461000"/>
            <a:ext cx="8382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3070"/>
                </a:solidFill>
                <a:latin typeface="微软雅黑" panose="020B0503020204020204" pitchFamily="34" charset="-122"/>
              </a:rPr>
              <a:t>平台界面暂不展示；待版本稳定后再补充截图。</a:t>
            </a:r>
          </a:p>
        </p:txBody>
      </p:sp>
    </p:spTree>
    <p:extLst>
      <p:ext uri="{BB962C8B-B14F-4D97-AF65-F5344CB8AC3E}">
        <p14:creationId xmlns:p14="http://schemas.microsoft.com/office/powerpoint/2010/main" val="397563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907793F-2414-9CDE-F89A-B84697C8D19A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C5D874-5112-E777-1696-90A4CE15FB59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EEC1C2-4B4F-4362-24E9-861ABF58B552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ADBF9DF9-6E93-581E-2953-C0C7EDA0B2E3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9A2016-CCB8-F78B-6C6D-6EC4EAB667B9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514CA37-A0C9-7F7E-07F2-85BFFB716764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62D4A06-530C-1D67-08F7-24AACC5C6EDE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5DBAE2-5A5C-AC16-160E-90E9C62A6BA5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D248BF-D77E-9D28-1AD6-6B2F1DE81D5F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313C203-A341-4AA6-179E-7465186A929E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75555F1-6103-A4F5-E5FE-E79088379E7E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A16D16-A0C5-6605-350C-35D5C4C089DA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8E2663-9F33-A6FF-799F-ACBAE32484D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0F15076-E419-9ED3-6A56-666124E07E7F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E6B54E7-0A86-708A-CFF6-594B5B02901A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4A9135-FA84-B3BE-B6F6-81D9B09332AA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810F18-B4F3-61B1-DF98-75D5DB8547D0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CB53D82-4869-7004-B681-399CED112118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7E18333-9397-CF51-ED62-927E28050833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FB5095-2338-16EF-DF86-DB1AF3D328D7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DD5B43-E414-886F-4955-54B3B832387A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微软雅黑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CD306C3-349B-C6DF-CB8E-31C6F8C78982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0DF49D4-3160-DCCA-4383-8AABFE93F92B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微软雅黑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3159510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实验设计：三层证据链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FC14A6-4740-C5AE-3267-1C540EB00DC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71468C-1D15-22BA-39C9-2F3785E7D9E9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实验页只回答一个问题：候选机制是否在统一口径下值得保留。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731D30-A5EE-A14D-5DAB-77F0A653056E}"/>
              </a:ext>
            </a:extLst>
          </p:cNvPr>
          <p:cNvSpPr/>
          <p:nvPr/>
        </p:nvSpPr>
        <p:spPr>
          <a:xfrm>
            <a:off x="825500" y="2032000"/>
            <a:ext cx="330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第一层：基线对比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5631C1-6E60-CFBC-BC16-3727AD695114}"/>
              </a:ext>
            </a:extLst>
          </p:cNvPr>
          <p:cNvSpPr/>
          <p:nvPr/>
        </p:nvSpPr>
        <p:spPr>
          <a:xfrm>
            <a:off x="8255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同一输入
同一日志
同一输出字段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3B9E83-3F2D-0F64-A27D-64C0A2B5D387}"/>
              </a:ext>
            </a:extLst>
          </p:cNvPr>
          <p:cNvSpPr/>
          <p:nvPr/>
        </p:nvSpPr>
        <p:spPr>
          <a:xfrm>
            <a:off x="4445000" y="2032000"/>
            <a:ext cx="330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第二层：模块消融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913BDB-AAE5-98C0-F1D9-D8ECDDF015CF}"/>
              </a:ext>
            </a:extLst>
          </p:cNvPr>
          <p:cNvSpPr/>
          <p:nvPr/>
        </p:nvSpPr>
        <p:spPr>
          <a:xfrm>
            <a:off x="44450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无校验
无编排
无记忆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F13E1D-00E5-7234-48B4-4CE4B287E7A8}"/>
              </a:ext>
            </a:extLst>
          </p:cNvPr>
          <p:cNvSpPr/>
          <p:nvPr/>
        </p:nvSpPr>
        <p:spPr>
          <a:xfrm>
            <a:off x="8064500" y="2032000"/>
            <a:ext cx="330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第三层：平台评估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ABB47F-6B54-7273-D541-F1F1F3B5E3D6}"/>
              </a:ext>
            </a:extLst>
          </p:cNvPr>
          <p:cNvSpPr/>
          <p:nvPr/>
        </p:nvSpPr>
        <p:spPr>
          <a:xfrm>
            <a:off x="80645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任务提交
状态记录
结果回传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5EFDBB-7672-9398-82B7-1869175CA50F}"/>
              </a:ext>
            </a:extLst>
          </p:cNvPr>
          <p:cNvSpPr/>
          <p:nvPr/>
        </p:nvSpPr>
        <p:spPr>
          <a:xfrm>
            <a:off x="1333500" y="5207000"/>
            <a:ext cx="9525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200" b="1">
                <a:solidFill>
                  <a:srgbClr val="003070"/>
                </a:solidFill>
                <a:latin typeface="微软雅黑" panose="020B0503020204020204" pitchFamily="34" charset="-122"/>
              </a:rPr>
              <a:t>实验设计先保证可比较，再讨论候选机制是否有效。</a:t>
            </a:r>
          </a:p>
        </p:txBody>
      </p:sp>
    </p:spTree>
    <p:extLst>
      <p:ext uri="{BB962C8B-B14F-4D97-AF65-F5344CB8AC3E}">
        <p14:creationId xmlns:p14="http://schemas.microsoft.com/office/powerpoint/2010/main" val="3104491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已有证据：平台测量与模型接入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51AD81-8A3D-5008-2359-01793E43E13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B1BC13-B333-2343-4346-52F8300DE9A6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平台已有测量说明：统一调度和日志记录不是附属工作，而是实验前提。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6C985F-C035-39B4-B670-4EDAB90EE7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382" y="1714500"/>
            <a:ext cx="7837237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34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进展安排：阶段交付与时间线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A58DFF-FCE9-0DB4-AC04-3E6734558DB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21C381-D6DF-EE94-D4D7-20A810CD3A3D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后续工作按“复现基线 → 模块消融 → 长序列实验 → 论文整理”推进。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263C4B-BDEE-EB6E-335F-1DC10F4BB26E}"/>
              </a:ext>
            </a:extLst>
          </p:cNvPr>
          <p:cNvSpPr/>
          <p:nvPr/>
        </p:nvSpPr>
        <p:spPr>
          <a:xfrm>
            <a:off x="1016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M1-M2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14B5B7-5F1B-5DA0-A212-4C656BE700C7}"/>
              </a:ext>
            </a:extLst>
          </p:cNvPr>
          <p:cNvSpPr/>
          <p:nvPr/>
        </p:nvSpPr>
        <p:spPr>
          <a:xfrm>
            <a:off x="1016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基线复现
平台稳定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BD0724F-E579-C4EA-2F43-73237A75FEE4}"/>
              </a:ext>
            </a:extLst>
          </p:cNvPr>
          <p:cNvSpPr/>
          <p:nvPr/>
        </p:nvSpPr>
        <p:spPr>
          <a:xfrm>
            <a:off x="3492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F208A2-59F7-E630-E88E-2480EBDE10D7}"/>
              </a:ext>
            </a:extLst>
          </p:cNvPr>
          <p:cNvSpPr/>
          <p:nvPr/>
        </p:nvSpPr>
        <p:spPr>
          <a:xfrm>
            <a:off x="3810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M3-M4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2EE8FC-0E54-ACEC-8FA4-1741E6418CE3}"/>
              </a:ext>
            </a:extLst>
          </p:cNvPr>
          <p:cNvSpPr/>
          <p:nvPr/>
        </p:nvSpPr>
        <p:spPr>
          <a:xfrm>
            <a:off x="3810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模块消融
对照实验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068E5868-2E8C-C259-8BA5-DC248C3DEAE1}"/>
              </a:ext>
            </a:extLst>
          </p:cNvPr>
          <p:cNvSpPr/>
          <p:nvPr/>
        </p:nvSpPr>
        <p:spPr>
          <a:xfrm>
            <a:off x="6286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9C1AC3-2CB3-E4CF-30AF-697CB7A2F1ED}"/>
              </a:ext>
            </a:extLst>
          </p:cNvPr>
          <p:cNvSpPr/>
          <p:nvPr/>
        </p:nvSpPr>
        <p:spPr>
          <a:xfrm>
            <a:off x="6604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M5-M6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4EB8A4-0CEC-533C-0D4C-AE7FF206D1CC}"/>
              </a:ext>
            </a:extLst>
          </p:cNvPr>
          <p:cNvSpPr/>
          <p:nvPr/>
        </p:nvSpPr>
        <p:spPr>
          <a:xfrm>
            <a:off x="6604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长序列
动态场景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2A96BA65-E3DB-6554-7AFA-E7855399F15E}"/>
              </a:ext>
            </a:extLst>
          </p:cNvPr>
          <p:cNvSpPr/>
          <p:nvPr/>
        </p:nvSpPr>
        <p:spPr>
          <a:xfrm>
            <a:off x="9080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1968B8-CBDC-A068-7DBC-AF511C5C5533}"/>
              </a:ext>
            </a:extLst>
          </p:cNvPr>
          <p:cNvSpPr/>
          <p:nvPr/>
        </p:nvSpPr>
        <p:spPr>
          <a:xfrm>
            <a:off x="9398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M7-M8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B50C94-41CD-3159-A1E0-36CF2D0D88F4}"/>
              </a:ext>
            </a:extLst>
          </p:cNvPr>
          <p:cNvSpPr/>
          <p:nvPr/>
        </p:nvSpPr>
        <p:spPr>
          <a:xfrm>
            <a:off x="9398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论文整理
系统固化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8FE813A-ECA6-4C2B-BDFC-4AE4E70ABA2C}"/>
              </a:ext>
            </a:extLst>
          </p:cNvPr>
          <p:cNvSpPr/>
          <p:nvPr/>
        </p:nvSpPr>
        <p:spPr>
          <a:xfrm>
            <a:off x="1206500" y="4953000"/>
            <a:ext cx="9779000" cy="5715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3070"/>
                </a:solidFill>
                <a:latin typeface="微软雅黑" panose="020B0503020204020204" pitchFamily="34" charset="-122"/>
              </a:rPr>
              <a:t>阶段交付物：基线记录、消融结果、长序列评测、平台使用说明。</a:t>
            </a:r>
          </a:p>
        </p:txBody>
      </p:sp>
    </p:spTree>
    <p:extLst>
      <p:ext uri="{BB962C8B-B14F-4D97-AF65-F5344CB8AC3E}">
        <p14:creationId xmlns:p14="http://schemas.microsoft.com/office/powerpoint/2010/main" val="1405676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风险与预期成果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AE78BB-A249-8FA3-D531-C1478F35B8E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8A8F7F-0372-9528-289D-B4879A8F7CE5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风险主要来自实验波动和表述边界，预期成果必须落到可检查交付物。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9EE00A-476D-3F67-026C-60E728F0117A}"/>
              </a:ext>
            </a:extLst>
          </p:cNvPr>
          <p:cNvSpPr/>
          <p:nvPr/>
        </p:nvSpPr>
        <p:spPr>
          <a:xfrm>
            <a:off x="825500" y="20320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实验风险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1523E3-CF94-C5E5-0D73-380902BAF44C}"/>
              </a:ext>
            </a:extLst>
          </p:cNvPr>
          <p:cNvSpPr/>
          <p:nvPr/>
        </p:nvSpPr>
        <p:spPr>
          <a:xfrm>
            <a:off x="2603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性能波动或提升不稳定
设置强基线与消融组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3BCB28-8610-3E22-DE35-B4E347AE75FE}"/>
              </a:ext>
            </a:extLst>
          </p:cNvPr>
          <p:cNvSpPr/>
          <p:nvPr/>
        </p:nvSpPr>
        <p:spPr>
          <a:xfrm>
            <a:off x="6286500" y="20320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工程风险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A65545-FA4C-A551-6C21-6F5B21D91A31}"/>
              </a:ext>
            </a:extLst>
          </p:cNvPr>
          <p:cNvSpPr/>
          <p:nvPr/>
        </p:nvSpPr>
        <p:spPr>
          <a:xfrm>
            <a:off x="8064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模型适配与资源受限
保留离线执行方案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3D1243-CEA3-15E2-3F40-7F9276EA909A}"/>
              </a:ext>
            </a:extLst>
          </p:cNvPr>
          <p:cNvSpPr/>
          <p:nvPr/>
        </p:nvSpPr>
        <p:spPr>
          <a:xfrm>
            <a:off x="825500" y="36195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表达风险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F00F8DA-A69B-D3D8-11C3-4A589FFAD20F}"/>
              </a:ext>
            </a:extLst>
          </p:cNvPr>
          <p:cNvSpPr/>
          <p:nvPr/>
        </p:nvSpPr>
        <p:spPr>
          <a:xfrm>
            <a:off x="2603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避免计划写成结果
统一使用候选与评估表述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D834481-CC1E-1B0C-C74A-6AA0D626BB08}"/>
              </a:ext>
            </a:extLst>
          </p:cNvPr>
          <p:cNvSpPr/>
          <p:nvPr/>
        </p:nvSpPr>
        <p:spPr>
          <a:xfrm>
            <a:off x="6286500" y="36195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预期成果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F69B48-E29B-075A-417A-2CA250E7255E}"/>
              </a:ext>
            </a:extLst>
          </p:cNvPr>
          <p:cNvSpPr/>
          <p:nvPr/>
        </p:nvSpPr>
        <p:spPr>
          <a:xfrm>
            <a:off x="8064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对照实验数据
可复用聚合管理平台</a:t>
            </a:r>
          </a:p>
        </p:txBody>
      </p:sp>
    </p:spTree>
    <p:extLst>
      <p:ext uri="{BB962C8B-B14F-4D97-AF65-F5344CB8AC3E}">
        <p14:creationId xmlns:p14="http://schemas.microsoft.com/office/powerpoint/2010/main" val="4067863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67F1B3-BF5F-513C-A4BC-6A3DAF545663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A91"/>
                </a:solidFill>
                <a:latin typeface="微软雅黑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197B87-9B8B-F304-C134-1B2C378BCB7F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F2037"/>
                </a:solidFill>
                <a:latin typeface="微软雅黑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F2037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0F2037"/>
                </a:solidFill>
                <a:latin typeface="微软雅黑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1588972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</Words>
  <Application>Microsoft Office PowerPoint</Application>
  <PresentationFormat>宽屏</PresentationFormat>
  <Paragraphs>202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2026-05-17T16:32:26Z</dcterms:created>
  <dcterms:modified xsi:type="dcterms:W3CDTF">2026-05-17T16:32:26Z</dcterms:modified>
</cp:coreProperties>
</file>