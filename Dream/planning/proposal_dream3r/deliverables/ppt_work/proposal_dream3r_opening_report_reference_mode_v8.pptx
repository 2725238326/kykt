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284" r:id="rId4"/>
    <p:sldId id="327" r:id="rId5"/>
    <p:sldId id="281" r:id="rId6"/>
    <p:sldId id="328" r:id="rId7"/>
    <p:sldId id="321" r:id="rId8"/>
    <p:sldId id="307" r:id="rId9"/>
    <p:sldId id="269" r:id="rId10"/>
    <p:sldId id="329" r:id="rId11"/>
    <p:sldId id="298" r:id="rId12"/>
    <p:sldId id="330" r:id="rId13"/>
    <p:sldId id="331" r:id="rId14"/>
    <p:sldId id="332" r:id="rId15"/>
    <p:sldId id="333" r:id="rId16"/>
    <p:sldId id="334" r:id="rId17"/>
    <p:sldId id="323" r:id="rId18"/>
    <p:sldId id="335" r:id="rId19"/>
    <p:sldId id="336" r:id="rId20"/>
    <p:sldId id="29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39725C-52FF-EAF7-74DF-957A9567B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A8EE5C-07C8-06D4-D452-7765CEDCC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1CD7F4-A999-750F-38D7-B48136FFD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81274-0A2F-4420-A1C5-B20189268CA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7615D0-3BC3-FEB6-D573-42BBCDC80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8B0836-E535-E2C4-6B1E-28E124AD1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C7946-8FFE-4FF2-BA52-860E68F7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565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7992B2-79EA-43A5-596C-FC5AEFDCB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5A1D6B-2544-B6A8-C4A7-596359FCB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327C06-E63E-77BF-3918-8955D2376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81274-0A2F-4420-A1C5-B20189268CA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DF8E2-3CA5-45F8-9689-22B2D3748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A29AC0-AD9D-3F5A-6ABD-43EE1377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C7946-8FFE-4FF2-BA52-860E68F7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761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531778-4752-69A4-1277-374E20FCF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E72424-ED25-964D-B064-7386FDBD4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E2FCED-C802-C39B-6356-8F00CBDF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81274-0A2F-4420-A1C5-B20189268CA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A7CFB0-9FB3-D728-9E5A-DF10B4503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CF52A7-B478-1EF8-1460-3969D82B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C7946-8FFE-4FF2-BA52-860E68F7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892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3C86E5-A247-37E2-D87D-88E71A979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B9B13B-C04C-6618-5B35-13439B771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E32156-D9D2-0F91-7CA0-AE5B20A54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851885-13EA-0584-CD7C-70205892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81274-0A2F-4420-A1C5-B20189268CA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9DCAA0-FF90-CAD3-53BE-85355FDD5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1212FF-C5ED-A19E-15D2-AEC97F8A6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C7946-8FFE-4FF2-BA52-860E68F7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299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64217-1E17-0849-0C6A-5EC03DBAE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7BAA7C-A496-312A-FD91-D42B8ECC7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AD11F4-EE72-A665-47BB-214952FB0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060F10D-E72A-A20B-7BFB-EBB0D98FD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2C7711C-4601-C486-70E1-62A8D16617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EF92CC-3E59-0D0E-F2B7-8DE69F3B0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81274-0A2F-4420-A1C5-B20189268CA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9233260-80C3-D1B2-5E03-15A08B3F4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E95DAB-4F74-DD6C-5D9E-A26C8A43E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C7946-8FFE-4FF2-BA52-860E68F7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990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E2976E-E4FC-C369-04A5-5EC1E9FE4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3CC1A6-F285-15EA-92B4-DA484EC5F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81274-0A2F-4420-A1C5-B20189268CA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58E0BF-13A5-1F35-485D-FAB02A24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2B1F29-E8EF-3411-E4B1-190F78506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C7946-8FFE-4FF2-BA52-860E68F7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25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BE1728-7D69-19B8-1A8C-295CA4E67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81274-0A2F-4420-A1C5-B20189268CA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284244-C679-AC6F-D969-6DC60C589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59978B-0C1A-E99C-40B3-AAF7A1EC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C7946-8FFE-4FF2-BA52-860E68F7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7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78C40E-DDF8-8D2F-4927-1AFE3071F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B830CA-5696-7832-E8A0-D305DA0BA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1AB761-948E-7CD0-E346-83E63D649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3C91EA-08AD-F7EE-20D8-00282B61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81274-0A2F-4420-A1C5-B20189268CA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89E076-2375-8D81-08C8-CB045EBBB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902F99-8532-8028-17FF-1155ED987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C7946-8FFE-4FF2-BA52-860E68F7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275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34FE1-3948-92DD-9CD6-ACF459184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AD45884-FA44-95EE-EBAF-5B1C6D180B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E0215B-5B35-E706-76A1-D1CC563BA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526935-18E3-0CE7-E945-6E5423126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81274-0A2F-4420-A1C5-B20189268CA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CAF4B0-5305-C248-50AB-9D760A76F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961633-6824-7516-A4D3-ED4324376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C7946-8FFE-4FF2-BA52-860E68F7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53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6CD67-6190-D9C3-D0A1-A98096698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3E77AD-4787-67D6-992E-4D9851F1C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A4FAED-235A-1437-F4EA-5BFB093E1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81274-0A2F-4420-A1C5-B20189268CA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E40D76-9CEB-D072-436A-83BADB1BE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2946A1-AF88-1FA8-FCCE-ABA045D0E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C7946-8FFE-4FF2-BA52-860E68F7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305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2FCC5C1-A073-EF10-2DFA-773593288C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71B9A2-A3C6-8645-1A0A-94A7A609D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90AC0B-3E3D-73E2-471F-18B384123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81274-0A2F-4420-A1C5-B20189268CA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B369DA-AFB4-4DE7-9214-7D10C2033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BDB5D1-7470-D56D-1CF9-EDA56A27B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C7946-8FFE-4FF2-BA52-860E68F7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052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968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1CC45E-A816-87CB-9880-DB3686BFC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2D47AE-343A-2550-7F59-075F7A788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7F5239-0EDF-88BA-DE83-9A64744ED7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81274-0A2F-4420-A1C5-B20189268CAF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E7DE0F-AAC1-E884-4E48-9392C079B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D9DD66-F3BE-F0E5-EBB4-42AD47CD39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C7946-8FFE-4FF2-BA52-860E68F7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069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候选架构设计与统一聚合管理平台</a:t>
            </a:r>
            <a:endParaRPr lang="zh-CN" alt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955943" y="4461337"/>
            <a:ext cx="10454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464784" y="10234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硕士学位论文开题报告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6" y="5238426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0604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8412371-45F1-C8CC-31DC-37C171CC8DEC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CA99A0-0F59-5892-0950-16D9BF4E8C80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2C046B6-CF6A-1D68-7CE5-A8FFFB6EE32C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844CAA42-9456-5242-1E3E-E39CB64F112B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EF16563-5290-F36E-8863-1A4B4CC8A7C3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BFDA4CE-E900-B5B3-047F-1D2E294FB096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150C90A-5A43-779A-FD59-521964CD585B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4AA9A3-2363-C83D-2642-366DB0793A3E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F8AC5C-3734-E6A6-5E99-144B091195DA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20A13C6-7E13-DC13-951B-2596E936C5DE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6B7EBB5E-8E5C-29B6-121C-CA9B7F3E8E6C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ECACF7-3D97-C712-71D0-AC51C1104AC1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0A0588D-08C3-98B2-869A-71CAE23808CE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CBECAD8-39EE-A7AE-5EE8-5A98D640CEC9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8823ED0-4E2F-3DAC-A3D8-E0D81CA4D437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858B927-E286-401D-FCA3-DE4A2A13250F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1A28F98-F624-F2C6-DDD4-73859F9B46AD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EBE8B-5C5F-3D1C-5B6D-B0139E4890B4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3FD9089F-2871-0936-45AD-C0B4FEE20DF2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AF9ED83-72A7-E2AE-431E-5E300BCB2F6F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F1ABE55-4DA8-EFCE-D5DE-C90327D654F0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C9B726A-12F1-6C8E-2D42-FC8C5EEED509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F8B0DE8-7BDE-3AE4-6DB5-67E2BB215C70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2220809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43E7A32-A5E6-5DD4-C7B0-A5B86C347D60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8670B7-ABC0-3530-9E88-9922131464C8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C24F754-EA87-E144-81EF-C96F93FB6853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8C3DDC23-F566-7497-362B-80AF23262607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88A6F5-D28F-0FD5-795C-7067A20C3108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7E3F752-BF64-F349-1A10-72C45147F7B5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F19DDE5-3F6F-660B-C5CF-90DD6221CB8D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261F57D-42A2-14A4-4D25-33E7A41E6A34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DE08005-F2D4-A52B-8190-452EA37ACDB4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3CA54F6-3762-E55D-7544-7213227EFA46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CF5EEF0-239A-3E84-7E90-8C8E2ED49014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AA5BFF1-095C-1FA2-944D-1CF4B6919572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72B51F5-911F-48B9-CC4B-41792AD73723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BD4A0DF-BF4B-0072-992B-90C10130E9F3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548F47A-88EC-676F-E48C-B6015941C6DB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699290-3366-312F-FD35-89CD9F7EF7E6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C951D79-5AB1-0C09-FF2C-6390E371323F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C61B493-F996-B667-C9D5-B80CBD954970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6B9999EA-7B12-FFC3-2D1F-F729F04C10AA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2658903-DA8C-9C1A-F460-74EF63350020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B747B91-52F3-9378-DE6F-63D46BE357AF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9039DDE-A0E7-D10A-DA30-C5C447469F48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3C3FE5B9-C8D6-85B7-9302-C24121CFC4B4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3410955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研究背景：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方向快速演进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B6AD27-4E73-556A-6889-B3D04422720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55914BC-DBF6-3AC9-DCA6-56B1DF5F489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前馈式三维重建由点图回归起步，已扩展到匹配、动态场景与长序列建模。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8CD6942-8E8B-D989-617F-1F8B08BF4CC0}"/>
              </a:ext>
            </a:extLst>
          </p:cNvPr>
          <p:cNvSpPr/>
          <p:nvPr/>
        </p:nvSpPr>
        <p:spPr>
          <a:xfrm>
            <a:off x="635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68E"/>
                </a:solidFill>
                <a:latin typeface="Microsoft YaHei" panose="020B0503020204020204" pitchFamily="34" charset="-122"/>
              </a:rPr>
              <a:t>2024
DUSt3R</a:t>
            </a:r>
            <a:endParaRPr lang="zh-CN" altLang="en-US" sz="1300" b="1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7876CF3-B00F-7358-4FA6-BBA6E6B987A5}"/>
              </a:ext>
            </a:extLst>
          </p:cNvPr>
          <p:cNvSpPr/>
          <p:nvPr/>
        </p:nvSpPr>
        <p:spPr>
          <a:xfrm>
            <a:off x="635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81830"/>
                </a:solidFill>
                <a:latin typeface="Microsoft YaHei" panose="020B0503020204020204" pitchFamily="34" charset="-122"/>
              </a:rPr>
              <a:t>pose-free
pointmap</a:t>
            </a:r>
            <a:endParaRPr lang="zh-CN" altLang="en-US" sz="12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394AD98-95E4-56AA-803F-277ED288D6AB}"/>
              </a:ext>
            </a:extLst>
          </p:cNvPr>
          <p:cNvSpPr/>
          <p:nvPr/>
        </p:nvSpPr>
        <p:spPr>
          <a:xfrm>
            <a:off x="2476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68E"/>
                </a:solidFill>
                <a:latin typeface="Microsoft YaHei" panose="020B0503020204020204" pitchFamily="34" charset="-122"/>
              </a:rPr>
              <a:t>2024
MASt3R</a:t>
            </a:r>
            <a:endParaRPr lang="zh-CN" altLang="en-US" sz="1300" b="1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FBB114-2BBC-9D27-4905-790AB817F108}"/>
              </a:ext>
            </a:extLst>
          </p:cNvPr>
          <p:cNvSpPr/>
          <p:nvPr/>
        </p:nvSpPr>
        <p:spPr>
          <a:xfrm>
            <a:off x="2476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81830"/>
                </a:solidFill>
                <a:latin typeface="Microsoft YaHei" panose="020B0503020204020204" pitchFamily="34" charset="-122"/>
              </a:rPr>
              <a:t>3D grounding
matching</a:t>
            </a:r>
            <a:endParaRPr lang="zh-CN" altLang="en-US" sz="12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03470E3-7279-203E-BC64-5003C7B8A9C6}"/>
              </a:ext>
            </a:extLst>
          </p:cNvPr>
          <p:cNvSpPr/>
          <p:nvPr/>
        </p:nvSpPr>
        <p:spPr>
          <a:xfrm>
            <a:off x="4318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68E"/>
                </a:solidFill>
                <a:latin typeface="Microsoft YaHei" panose="020B0503020204020204" pitchFamily="34" charset="-122"/>
              </a:rPr>
              <a:t>2025
Fast3R</a:t>
            </a:r>
            <a:endParaRPr lang="zh-CN" altLang="en-US" sz="1300" b="1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865F837-8F10-FFCC-5DCE-571AE89AB6B3}"/>
              </a:ext>
            </a:extLst>
          </p:cNvPr>
          <p:cNvSpPr/>
          <p:nvPr/>
        </p:nvSpPr>
        <p:spPr>
          <a:xfrm>
            <a:off x="4318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81830"/>
                </a:solidFill>
                <a:latin typeface="Microsoft YaHei" panose="020B0503020204020204" pitchFamily="34" charset="-122"/>
              </a:rPr>
              <a:t>many-view
single forward</a:t>
            </a:r>
            <a:endParaRPr lang="zh-CN" altLang="en-US" sz="12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4D3A80F-C6F9-316F-7094-3B568E11C53A}"/>
              </a:ext>
            </a:extLst>
          </p:cNvPr>
          <p:cNvSpPr/>
          <p:nvPr/>
        </p:nvSpPr>
        <p:spPr>
          <a:xfrm>
            <a:off x="6159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68E"/>
                </a:solidFill>
                <a:latin typeface="Microsoft YaHei" panose="020B0503020204020204" pitchFamily="34" charset="-122"/>
              </a:rPr>
              <a:t>2024-25
MonST3R</a:t>
            </a:r>
            <a:endParaRPr lang="zh-CN" altLang="en-US" sz="1300" b="1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7F0A348-6415-0537-BDC7-64253BA0F854}"/>
              </a:ext>
            </a:extLst>
          </p:cNvPr>
          <p:cNvSpPr/>
          <p:nvPr/>
        </p:nvSpPr>
        <p:spPr>
          <a:xfrm>
            <a:off x="6159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81830"/>
                </a:solidFill>
                <a:latin typeface="Microsoft YaHei" panose="020B0503020204020204" pitchFamily="34" charset="-122"/>
              </a:rPr>
              <a:t>video / dynamic
4D</a:t>
            </a:r>
            <a:endParaRPr lang="zh-CN" altLang="en-US" sz="12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9E9A64A-9167-6474-6415-18C48DC52D43}"/>
              </a:ext>
            </a:extLst>
          </p:cNvPr>
          <p:cNvSpPr/>
          <p:nvPr/>
        </p:nvSpPr>
        <p:spPr>
          <a:xfrm>
            <a:off x="8001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68E"/>
                </a:solidFill>
                <a:latin typeface="Microsoft YaHei" panose="020B0503020204020204" pitchFamily="34" charset="-122"/>
              </a:rPr>
              <a:t>2025
Spann3R / CUT3R</a:t>
            </a:r>
            <a:endParaRPr lang="zh-CN" altLang="en-US" sz="1300" b="1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B9C9BB2-63D7-429B-738E-90040EBAF444}"/>
              </a:ext>
            </a:extLst>
          </p:cNvPr>
          <p:cNvSpPr/>
          <p:nvPr/>
        </p:nvSpPr>
        <p:spPr>
          <a:xfrm>
            <a:off x="8001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81830"/>
                </a:solidFill>
                <a:latin typeface="Microsoft YaHei" panose="020B0503020204020204" pitchFamily="34" charset="-122"/>
              </a:rPr>
              <a:t>long-sequence
memory</a:t>
            </a:r>
            <a:endParaRPr lang="zh-CN" altLang="en-US" sz="12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2467C94-6610-95AC-53EA-5A0F1967DD0C}"/>
              </a:ext>
            </a:extLst>
          </p:cNvPr>
          <p:cNvSpPr/>
          <p:nvPr/>
        </p:nvSpPr>
        <p:spPr>
          <a:xfrm>
            <a:off x="9842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68E"/>
                </a:solidFill>
                <a:latin typeface="Microsoft YaHei" panose="020B0503020204020204" pitchFamily="34" charset="-122"/>
              </a:rPr>
              <a:t>2025
Test3R / TTT3R</a:t>
            </a:r>
            <a:endParaRPr lang="zh-CN" altLang="en-US" sz="1300" b="1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DA9BA0D-C83B-7787-2E6E-6C6BBDB03098}"/>
              </a:ext>
            </a:extLst>
          </p:cNvPr>
          <p:cNvSpPr/>
          <p:nvPr/>
        </p:nvSpPr>
        <p:spPr>
          <a:xfrm>
            <a:off x="9842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81830"/>
                </a:solidFill>
                <a:latin typeface="Microsoft YaHei" panose="020B0503020204020204" pitchFamily="34" charset="-122"/>
              </a:rPr>
              <a:t>test-time
mechanisms</a:t>
            </a:r>
            <a:endParaRPr lang="zh-CN" altLang="en-US" sz="12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DABB4FC-84A7-595F-56C7-389E66D29FEB}"/>
              </a:ext>
            </a:extLst>
          </p:cNvPr>
          <p:cNvSpPr/>
          <p:nvPr/>
        </p:nvSpPr>
        <p:spPr>
          <a:xfrm>
            <a:off x="889000" y="4445000"/>
            <a:ext cx="10414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468E"/>
                </a:solidFill>
                <a:latin typeface="Microsoft YaHei" panose="020B0503020204020204" pitchFamily="34" charset="-122"/>
              </a:rPr>
              <a:t>研究难点：模型体系快速扩展，但比较口径、复现入口和实验记录尚未统一。</a:t>
            </a:r>
          </a:p>
        </p:txBody>
      </p:sp>
    </p:spTree>
    <p:extLst>
      <p:ext uri="{BB962C8B-B14F-4D97-AF65-F5344CB8AC3E}">
        <p14:creationId xmlns:p14="http://schemas.microsoft.com/office/powerpoint/2010/main" val="3906243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问题收束：从失败模式到研究问题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8774FBF-8F38-945B-416E-8DA9D4C8A6B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E196E39-0A3F-0878-C675-076BCA1A93D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本研究将典型失败模式收束为四类问题，作为后续架构设计与实验评估的入口。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05CCD4B-F4E1-C10A-E10E-356E2489E353}"/>
              </a:ext>
            </a:extLst>
          </p:cNvPr>
          <p:cNvSpPr/>
          <p:nvPr/>
        </p:nvSpPr>
        <p:spPr>
          <a:xfrm>
            <a:off x="698500" y="2095500"/>
            <a:ext cx="1587500" cy="1041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几何验证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DE087E5-7FF0-3C0A-07AB-554E50166124}"/>
              </a:ext>
            </a:extLst>
          </p:cNvPr>
          <p:cNvSpPr/>
          <p:nvPr/>
        </p:nvSpPr>
        <p:spPr>
          <a:xfrm>
            <a:off x="2349500" y="2095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尺度漂移、重投影误差
缺少反馈入口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A3D9097-EA3D-C98E-C964-29E5C3940B7B}"/>
              </a:ext>
            </a:extLst>
          </p:cNvPr>
          <p:cNvSpPr/>
          <p:nvPr/>
        </p:nvSpPr>
        <p:spPr>
          <a:xfrm>
            <a:off x="6477000" y="2095500"/>
            <a:ext cx="1587500" cy="1041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长序列内存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0843BE4-D368-5AEA-FECD-5F03E9B44697}"/>
              </a:ext>
            </a:extLst>
          </p:cNvPr>
          <p:cNvSpPr/>
          <p:nvPr/>
        </p:nvSpPr>
        <p:spPr>
          <a:xfrm>
            <a:off x="8128000" y="2095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跨片段状态衰减
一致性难保持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355F08B-B616-1417-9724-273C78976303}"/>
              </a:ext>
            </a:extLst>
          </p:cNvPr>
          <p:cNvSpPr/>
          <p:nvPr/>
        </p:nvSpPr>
        <p:spPr>
          <a:xfrm>
            <a:off x="698500" y="3746500"/>
            <a:ext cx="1587500" cy="1041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多专家组合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0BF777B-7CF0-D668-CC78-AF97F075B685}"/>
              </a:ext>
            </a:extLst>
          </p:cNvPr>
          <p:cNvSpPr/>
          <p:nvPr/>
        </p:nvSpPr>
        <p:spPr>
          <a:xfrm>
            <a:off x="2349500" y="3746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模型能力互补
但缺少编排接口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2A88F2F-9C5C-21B0-FEAC-9790CE54A076}"/>
              </a:ext>
            </a:extLst>
          </p:cNvPr>
          <p:cNvSpPr/>
          <p:nvPr/>
        </p:nvSpPr>
        <p:spPr>
          <a:xfrm>
            <a:off x="6477000" y="3746500"/>
            <a:ext cx="1587500" cy="1041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统一平台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F547841-DADC-E428-1257-1BC23544ED09}"/>
              </a:ext>
            </a:extLst>
          </p:cNvPr>
          <p:cNvSpPr/>
          <p:nvPr/>
        </p:nvSpPr>
        <p:spPr>
          <a:xfrm>
            <a:off x="8128000" y="3746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入口、格式、日志
难以横向比较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4BEE050-0722-6B52-8A58-2B890D3FCFAE}"/>
              </a:ext>
            </a:extLst>
          </p:cNvPr>
          <p:cNvSpPr/>
          <p:nvPr/>
        </p:nvSpPr>
        <p:spPr>
          <a:xfrm>
            <a:off x="1079500" y="5524500"/>
            <a:ext cx="10033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468E"/>
                </a:solidFill>
                <a:latin typeface="Microsoft YaHei" panose="020B0503020204020204" pitchFamily="34" charset="-122"/>
              </a:rPr>
              <a:t>研究边界：候选架构作为评估对象，不作为已收敛方案进行表述。</a:t>
            </a:r>
          </a:p>
        </p:txBody>
      </p:sp>
    </p:spTree>
    <p:extLst>
      <p:ext uri="{BB962C8B-B14F-4D97-AF65-F5344CB8AC3E}">
        <p14:creationId xmlns:p14="http://schemas.microsoft.com/office/powerpoint/2010/main" val="38730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1D949A-D81D-1632-A5AE-2556A1168D23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393192-B05C-E922-3742-39AC8196A61B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E35A80D-49A0-D20C-636E-C31A430F86BF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85EF6B72-F1A6-011A-4E99-07A597AD0580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33CE7A-B8AE-FA1C-3143-B7654EF7E2BD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F00FF34-432D-0BD2-953D-A48A5FE1B02B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2D22C7C-2C12-0224-1485-6AF5D862EA33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AAEE84-2A2D-63C8-0823-E6C29F2B2B38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F3676EA-E007-80E3-49FB-ACB7BA8B33BD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C0C8C57-77D5-2476-0145-DD8A110C0496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02028E8-45EB-A8BC-C2C0-5A816EBF7ABF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26D6C8-6E98-57F4-9843-F72C72E09E10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F8E2D4C-8088-8D75-90C9-F830D604CEF3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627394A-39CE-B0D2-6B49-2D6FF57BEBC9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4552528-F1A2-CA35-98C2-BDAED5A6653B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5CF7C7-007C-765A-9C45-6F24B82CF882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4A4D3FB-76E2-9D62-B205-73D81BD6D0FA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E6A7BC1-0C17-170A-AE8F-A16DD82F4ECA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5B0AED8F-BD52-ADAC-F7AA-F57CB218BAFF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9F719E6-2748-EC6A-7D73-616B089F7FBF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6880E11-FD60-7F3F-EE46-EF48E8E369CC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24DB6C1-1270-5D88-7B20-167BD47E3FD4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C9F71258-091D-AC05-89E4-484BBB82559B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3469150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DD42-58F1-BF23-F1D1-911D6ECA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5103B3E-9250-E6B9-EDDC-2ED6F90CF039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C27D3A61-0DEC-BA16-46CE-C27F01A6C4A8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研究现状：四轴覆盖矩阵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C4C565-405C-7144-BDE5-D7EE1D192DF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C7D9D2-DEE9-66E9-978F-34E4E2346D7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基于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44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篇文献的四轴整理，校验反馈、多专家组合与统一平台仍是主要缺口。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984AE12-E458-3ECF-4FE8-82FF23DCEED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329" y="1841500"/>
            <a:ext cx="7369342" cy="40005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687432A-6630-3F6B-77E4-6681701D0043}"/>
              </a:ext>
            </a:extLst>
          </p:cNvPr>
          <p:cNvSpPr/>
          <p:nvPr/>
        </p:nvSpPr>
        <p:spPr>
          <a:xfrm>
            <a:off x="1524000" y="5905500"/>
            <a:ext cx="9144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结论：覆盖缺口被转化为后续四个研究问题，而不是直接写成创新结论。</a:t>
            </a:r>
          </a:p>
        </p:txBody>
      </p:sp>
    </p:spTree>
    <p:extLst>
      <p:ext uri="{BB962C8B-B14F-4D97-AF65-F5344CB8AC3E}">
        <p14:creationId xmlns:p14="http://schemas.microsoft.com/office/powerpoint/2010/main" val="27902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研究目标：问题、目标与边界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BEAC68-74F9-4D1E-340B-8016AF8D99F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EC0AFF-F9E9-3518-84FF-1F190CD466D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本研究把三组架构问题与一个平台问题统一到可验证的开题目标中。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766D5D-B3D6-C6E8-32DA-E77C8E547C08}"/>
              </a:ext>
            </a:extLst>
          </p:cNvPr>
          <p:cNvSpPr/>
          <p:nvPr/>
        </p:nvSpPr>
        <p:spPr>
          <a:xfrm>
            <a:off x="698500" y="1841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Q1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几何验证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E4722C-8E29-5A11-EBC3-6F250BDD793E}"/>
              </a:ext>
            </a:extLst>
          </p:cNvPr>
          <p:cNvSpPr/>
          <p:nvPr/>
        </p:nvSpPr>
        <p:spPr>
          <a:xfrm>
            <a:off x="2794000" y="1841500"/>
            <a:ext cx="5207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验证与修复路径如何进入前馈式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架构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D8B642-718D-FF1C-EFD2-06CF1A7350FE}"/>
              </a:ext>
            </a:extLst>
          </p:cNvPr>
          <p:cNvSpPr/>
          <p:nvPr/>
        </p:nvSpPr>
        <p:spPr>
          <a:xfrm>
            <a:off x="8191500" y="1841500"/>
            <a:ext cx="3175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校验模块 </a:t>
            </a:r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阈值标定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76EB41-9E4E-EE8F-2840-DC28CC8778CD}"/>
              </a:ext>
            </a:extLst>
          </p:cNvPr>
          <p:cNvSpPr/>
          <p:nvPr/>
        </p:nvSpPr>
        <p:spPr>
          <a:xfrm>
            <a:off x="698500" y="26797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Q2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长序列内存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285F6D-D32C-A252-F6F1-A5146EAD1063}"/>
              </a:ext>
            </a:extLst>
          </p:cNvPr>
          <p:cNvSpPr/>
          <p:nvPr/>
        </p:nvSpPr>
        <p:spPr>
          <a:xfrm>
            <a:off x="2794000" y="2679700"/>
            <a:ext cx="5207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多类记忆机制能否在单一架构内并置评估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8F2B764-F752-E787-CFD6-DBA17E87FA60}"/>
              </a:ext>
            </a:extLst>
          </p:cNvPr>
          <p:cNvSpPr/>
          <p:nvPr/>
        </p:nvSpPr>
        <p:spPr>
          <a:xfrm>
            <a:off x="8191500" y="2679700"/>
            <a:ext cx="3175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记忆模块 </a:t>
            </a:r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长窗口评测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16A3B8E-537B-5896-E047-ABBB10888547}"/>
              </a:ext>
            </a:extLst>
          </p:cNvPr>
          <p:cNvSpPr/>
          <p:nvPr/>
        </p:nvSpPr>
        <p:spPr>
          <a:xfrm>
            <a:off x="698500" y="35179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Q3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多专家组合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22DF250-608B-C701-2ED5-D34BE4F8E596}"/>
              </a:ext>
            </a:extLst>
          </p:cNvPr>
          <p:cNvSpPr/>
          <p:nvPr/>
        </p:nvSpPr>
        <p:spPr>
          <a:xfrm>
            <a:off x="2794000" y="3517900"/>
            <a:ext cx="5207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best-of-N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路由相对单一专家是否有实证价值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C95CD53-AB4A-276A-0AF9-991924648ADF}"/>
              </a:ext>
            </a:extLst>
          </p:cNvPr>
          <p:cNvSpPr/>
          <p:nvPr/>
        </p:nvSpPr>
        <p:spPr>
          <a:xfrm>
            <a:off x="8191500" y="3517900"/>
            <a:ext cx="3175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编排模块 </a:t>
            </a:r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消融实验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B9FE32E-1473-88B6-D7CB-636233B24EA5}"/>
              </a:ext>
            </a:extLst>
          </p:cNvPr>
          <p:cNvSpPr/>
          <p:nvPr/>
        </p:nvSpPr>
        <p:spPr>
          <a:xfrm>
            <a:off x="698500" y="43561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Q4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统一平台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A15B03-0DF5-BD08-EE77-CF175393541C}"/>
              </a:ext>
            </a:extLst>
          </p:cNvPr>
          <p:cNvSpPr/>
          <p:nvPr/>
        </p:nvSpPr>
        <p:spPr>
          <a:xfrm>
            <a:off x="2794000" y="4356100"/>
            <a:ext cx="5207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异构模型如何在同一合同下执行与比较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E658DFD-38C9-600B-2419-F55F2BD8AC99}"/>
              </a:ext>
            </a:extLst>
          </p:cNvPr>
          <p:cNvSpPr/>
          <p:nvPr/>
        </p:nvSpPr>
        <p:spPr>
          <a:xfrm>
            <a:off x="8191500" y="4356100"/>
            <a:ext cx="3175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聚合管理平台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FA8165B-8470-B968-1515-E75DA486A75C}"/>
              </a:ext>
            </a:extLst>
          </p:cNvPr>
          <p:cNvSpPr/>
          <p:nvPr/>
        </p:nvSpPr>
        <p:spPr>
          <a:xfrm>
            <a:off x="1206500" y="5397500"/>
            <a:ext cx="9779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边界：开题阶段给出候选设计、评测协议和工程证据，不提前写成最终性能结论。</a:t>
            </a:r>
          </a:p>
        </p:txBody>
      </p:sp>
    </p:spTree>
    <p:extLst>
      <p:ext uri="{BB962C8B-B14F-4D97-AF65-F5344CB8AC3E}">
        <p14:creationId xmlns:p14="http://schemas.microsoft.com/office/powerpoint/2010/main" val="4229757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两大支柱：架构研究与平台支撑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AA8EDF-CEF5-B245-67A2-6D0DD7240C3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FDA593-F4D9-6B5B-4BEC-3719834F962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支柱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A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提出待验证机制，支柱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B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保证这些机制能被统一执行和比较。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6FC7DD-8FDA-C3D1-175A-0D5FA34B16FF}"/>
              </a:ext>
            </a:extLst>
          </p:cNvPr>
          <p:cNvSpPr/>
          <p:nvPr/>
        </p:nvSpPr>
        <p:spPr>
          <a:xfrm>
            <a:off x="762000" y="1968500"/>
            <a:ext cx="330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支柱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A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：候选架构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X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B7DCB8-7059-B791-18C2-CC136DF423A3}"/>
              </a:ext>
            </a:extLst>
          </p:cNvPr>
          <p:cNvSpPr/>
          <p:nvPr/>
        </p:nvSpPr>
        <p:spPr>
          <a:xfrm>
            <a:off x="762000" y="2425700"/>
            <a:ext cx="3302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提出校验、记忆、编排等候选机制
形成可退化、可消融的架构对象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0A9CFC-D557-A7F9-4A35-21FB7095A505}"/>
              </a:ext>
            </a:extLst>
          </p:cNvPr>
          <p:cNvSpPr/>
          <p:nvPr/>
        </p:nvSpPr>
        <p:spPr>
          <a:xfrm>
            <a:off x="8128000" y="1968500"/>
            <a:ext cx="3302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支柱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B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：聚合管理平台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F9C97D-655C-4DFC-4666-E877F4EFB7E5}"/>
              </a:ext>
            </a:extLst>
          </p:cNvPr>
          <p:cNvSpPr/>
          <p:nvPr/>
        </p:nvSpPr>
        <p:spPr>
          <a:xfrm>
            <a:off x="8128000" y="2425700"/>
            <a:ext cx="3302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统一输入、状态、输出和日志
降低多模型对照实验的工程成本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8393BF-1709-DE1A-4393-65E9FAA2C635}"/>
              </a:ext>
            </a:extLst>
          </p:cNvPr>
          <p:cNvSpPr/>
          <p:nvPr/>
        </p:nvSpPr>
        <p:spPr>
          <a:xfrm>
            <a:off x="4508500" y="2159000"/>
            <a:ext cx="3175000" cy="431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消融需求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648E0E-94C3-D1A5-9F89-573137D95C8E}"/>
              </a:ext>
            </a:extLst>
          </p:cNvPr>
          <p:cNvSpPr/>
          <p:nvPr/>
        </p:nvSpPr>
        <p:spPr>
          <a:xfrm>
            <a:off x="4508500" y="2857500"/>
            <a:ext cx="3175000" cy="431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统一调度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A13C53-FDBA-1E44-C0FD-6DD0AF67D873}"/>
              </a:ext>
            </a:extLst>
          </p:cNvPr>
          <p:cNvSpPr/>
          <p:nvPr/>
        </p:nvSpPr>
        <p:spPr>
          <a:xfrm>
            <a:off x="4508500" y="3556000"/>
            <a:ext cx="3175000" cy="431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结果归集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0BD45AE2-0598-EFE1-13C4-DE175EF1ECBA}"/>
              </a:ext>
            </a:extLst>
          </p:cNvPr>
          <p:cNvSpPr/>
          <p:nvPr/>
        </p:nvSpPr>
        <p:spPr>
          <a:xfrm>
            <a:off x="4127500" y="2667000"/>
            <a:ext cx="457200" cy="2794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9B10AD13-A498-FE30-9FBC-E6E7EDABB2E5}"/>
              </a:ext>
            </a:extLst>
          </p:cNvPr>
          <p:cNvSpPr/>
          <p:nvPr/>
        </p:nvSpPr>
        <p:spPr>
          <a:xfrm>
            <a:off x="7670800" y="2667000"/>
            <a:ext cx="457200" cy="2794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167A93A-8780-A700-78E2-E2C8B4467962}"/>
              </a:ext>
            </a:extLst>
          </p:cNvPr>
          <p:cNvSpPr/>
          <p:nvPr/>
        </p:nvSpPr>
        <p:spPr>
          <a:xfrm>
            <a:off x="1333500" y="5016500"/>
            <a:ext cx="9525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两者关系：架构问题提出实验需求，平台将实验需求转化为可复现记录。</a:t>
            </a:r>
          </a:p>
        </p:txBody>
      </p:sp>
    </p:spTree>
    <p:extLst>
      <p:ext uri="{BB962C8B-B14F-4D97-AF65-F5344CB8AC3E}">
        <p14:creationId xmlns:p14="http://schemas.microsoft.com/office/powerpoint/2010/main" val="3726974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C981D2F-7749-A43E-0E86-CABAA268FB4D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9951CE-89EB-82FF-933D-EE277B4F36B5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6A11C41-DA0D-63C8-633E-B4881BD01C95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A022A885-7C8F-8C96-625F-2F2A0A7841C7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E5BD5A-6725-7CAF-10CE-F72FD5C6F841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6304FD7-BA10-012A-29F6-0A53FB9E47F8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0D6C5A4-EBBF-A7E5-CBC4-588983ADEB26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4447F8-6966-DA43-36DF-E751763A1CA6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3B8FC44-3084-8D71-B622-FF59A7787392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35B2353-D9C3-0083-9AEF-FBB27CAD5151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B0864D1-2842-B2BE-AB93-96F751AC165A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88106A-66A9-7488-7E28-C733854DDFBC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312AED-6340-0884-B1FE-5DE3EB15EA74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8D8111D-F04D-10C6-3998-216579FA7E0E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8060823-FE6E-39F1-4A48-930101791EA9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51E2B45-BD14-B52E-DE33-490A667E0D03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BD2878-4D21-9B23-1548-32E2EAB56E6E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352AEE3-FB88-7A64-A371-D4DF96FB2BBE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3D14278F-0B72-D6DB-7384-60CD868EC255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67B0F07-6B80-C111-ABC3-3F5127B76D6F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AA0D515-B234-08E9-B762-8251B6E7751A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6AA0034-49DA-74CC-0175-17DB43919409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BFCC3324-9394-CF40-E4E8-73E07AC3E573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1638806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候选架构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X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：整体设计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4B37D6-AD72-A67E-F255-CE8CDA99E8C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6A4020-83A5-14EB-9D3D-BF44A17A95DF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候选架构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是可退化、可评估的研究对象，不作为最终模型结论表述。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186371-6D96-E339-B451-D48C61B4098F}"/>
              </a:ext>
            </a:extLst>
          </p:cNvPr>
          <p:cNvSpPr/>
          <p:nvPr/>
        </p:nvSpPr>
        <p:spPr>
          <a:xfrm>
            <a:off x="698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输入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DE1B40-6645-E21D-C777-64642FDBD7E1}"/>
              </a:ext>
            </a:extLst>
          </p:cNvPr>
          <p:cNvSpPr/>
          <p:nvPr/>
        </p:nvSpPr>
        <p:spPr>
          <a:xfrm>
            <a:off x="698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单图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图像对
长序列窗口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AF643D22-1E41-E8DF-0F59-53AF909817A8}"/>
              </a:ext>
            </a:extLst>
          </p:cNvPr>
          <p:cNvSpPr/>
          <p:nvPr/>
        </p:nvSpPr>
        <p:spPr>
          <a:xfrm>
            <a:off x="2578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BEB89E-A2D8-1CA3-8611-78A400BA87D3}"/>
              </a:ext>
            </a:extLst>
          </p:cNvPr>
          <p:cNvSpPr/>
          <p:nvPr/>
        </p:nvSpPr>
        <p:spPr>
          <a:xfrm>
            <a:off x="2984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前馈骨干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D4CBBB-DC50-F3D2-F5E7-2FC9E1332D42}"/>
              </a:ext>
            </a:extLst>
          </p:cNvPr>
          <p:cNvSpPr/>
          <p:nvPr/>
        </p:nvSpPr>
        <p:spPr>
          <a:xfrm>
            <a:off x="2984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点图回归
相机估计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C7B6B4AC-B383-D15C-4713-9630BFA90E87}"/>
              </a:ext>
            </a:extLst>
          </p:cNvPr>
          <p:cNvSpPr/>
          <p:nvPr/>
        </p:nvSpPr>
        <p:spPr>
          <a:xfrm>
            <a:off x="4864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93F4A9-4A9E-A936-838C-43A3F7F0A699}"/>
              </a:ext>
            </a:extLst>
          </p:cNvPr>
          <p:cNvSpPr/>
          <p:nvPr/>
        </p:nvSpPr>
        <p:spPr>
          <a:xfrm>
            <a:off x="5270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FAF196-6A59-027C-2B09-254C42DB926A}"/>
              </a:ext>
            </a:extLst>
          </p:cNvPr>
          <p:cNvSpPr/>
          <p:nvPr/>
        </p:nvSpPr>
        <p:spPr>
          <a:xfrm>
            <a:off x="5270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对极误差
深度一致性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CB70212A-05D7-8298-C901-95351D841A88}"/>
              </a:ext>
            </a:extLst>
          </p:cNvPr>
          <p:cNvSpPr/>
          <p:nvPr/>
        </p:nvSpPr>
        <p:spPr>
          <a:xfrm>
            <a:off x="7150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D49CF3-12E5-1B1D-31D2-A1CDE8940928}"/>
              </a:ext>
            </a:extLst>
          </p:cNvPr>
          <p:cNvSpPr/>
          <p:nvPr/>
        </p:nvSpPr>
        <p:spPr>
          <a:xfrm>
            <a:off x="7556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编排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DA7488D-1AA1-0760-AD02-9681A684CB8B}"/>
              </a:ext>
            </a:extLst>
          </p:cNvPr>
          <p:cNvSpPr/>
          <p:nvPr/>
        </p:nvSpPr>
        <p:spPr>
          <a:xfrm>
            <a:off x="7556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专家池路由
失败触发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F77AFCC8-8E85-BD63-0C7C-C82A6D0E8CFB}"/>
              </a:ext>
            </a:extLst>
          </p:cNvPr>
          <p:cNvSpPr/>
          <p:nvPr/>
        </p:nvSpPr>
        <p:spPr>
          <a:xfrm>
            <a:off x="9436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0AABB5A-B3CD-0862-384C-6974160E9ADD}"/>
              </a:ext>
            </a:extLst>
          </p:cNvPr>
          <p:cNvSpPr/>
          <p:nvPr/>
        </p:nvSpPr>
        <p:spPr>
          <a:xfrm>
            <a:off x="9842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输出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4E2261-C18B-2203-135C-A9A5CFE6F7A4}"/>
              </a:ext>
            </a:extLst>
          </p:cNvPr>
          <p:cNvSpPr/>
          <p:nvPr/>
        </p:nvSpPr>
        <p:spPr>
          <a:xfrm>
            <a:off x="9842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
mask / metadata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A6E4DA4-FC5A-7E1D-3783-56876575C5B3}"/>
              </a:ext>
            </a:extLst>
          </p:cNvPr>
          <p:cNvSpPr/>
          <p:nvPr/>
        </p:nvSpPr>
        <p:spPr>
          <a:xfrm>
            <a:off x="1206500" y="4762500"/>
            <a:ext cx="9779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设计原则：模块必须能被单独关闭或替换，后续实验只报告对照证据。</a:t>
            </a:r>
          </a:p>
        </p:txBody>
      </p:sp>
    </p:spTree>
    <p:extLst>
      <p:ext uri="{BB962C8B-B14F-4D97-AF65-F5344CB8AC3E}">
        <p14:creationId xmlns:p14="http://schemas.microsoft.com/office/powerpoint/2010/main" val="2970669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问题映射：模块、指标与证据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690851-D26E-83F4-FBE9-950EB0B0645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E755D8-1438-994D-7185-227A90C14EE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每个研究问题都对应具体模块、实验入口和结果判据，避免只停留在概念描述。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93A445-6BFB-7EE4-7B82-86C1CBC401D6}"/>
              </a:ext>
            </a:extLst>
          </p:cNvPr>
          <p:cNvSpPr/>
          <p:nvPr/>
        </p:nvSpPr>
        <p:spPr>
          <a:xfrm>
            <a:off x="889000" y="1841500"/>
            <a:ext cx="29845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研究问题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122B8F-166D-D685-57CC-B2F928BF2AD4}"/>
              </a:ext>
            </a:extLst>
          </p:cNvPr>
          <p:cNvSpPr/>
          <p:nvPr/>
        </p:nvSpPr>
        <p:spPr>
          <a:xfrm>
            <a:off x="4191000" y="1841500"/>
            <a:ext cx="2667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对应模块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54FE30-73E7-8F04-CBB5-F2AB21590549}"/>
              </a:ext>
            </a:extLst>
          </p:cNvPr>
          <p:cNvSpPr/>
          <p:nvPr/>
        </p:nvSpPr>
        <p:spPr>
          <a:xfrm>
            <a:off x="7175500" y="1841500"/>
            <a:ext cx="41275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主要证据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277A27-0F77-689F-7F98-87EB007CD9C7}"/>
              </a:ext>
            </a:extLst>
          </p:cNvPr>
          <p:cNvSpPr/>
          <p:nvPr/>
        </p:nvSpPr>
        <p:spPr>
          <a:xfrm>
            <a:off x="889000" y="2413000"/>
            <a:ext cx="2984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Q1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验证机制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9714A5-D3BD-2747-56A2-7FBA4B96C79D}"/>
              </a:ext>
            </a:extLst>
          </p:cNvPr>
          <p:cNvSpPr/>
          <p:nvPr/>
        </p:nvSpPr>
        <p:spPr>
          <a:xfrm>
            <a:off x="4191000" y="2413000"/>
            <a:ext cx="2667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校验模块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7AD344-F67C-D23C-B900-13177BDEF974}"/>
              </a:ext>
            </a:extLst>
          </p:cNvPr>
          <p:cNvSpPr/>
          <p:nvPr/>
        </p:nvSpPr>
        <p:spPr>
          <a:xfrm>
            <a:off x="7175500" y="2413000"/>
            <a:ext cx="4127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失败检出率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修复后误差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BA2437-5346-EEB3-CA6C-F4B2E56EDEBC}"/>
              </a:ext>
            </a:extLst>
          </p:cNvPr>
          <p:cNvSpPr/>
          <p:nvPr/>
        </p:nvSpPr>
        <p:spPr>
          <a:xfrm>
            <a:off x="889000" y="3149600"/>
            <a:ext cx="2984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Q2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长序列内存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F143B3-EB10-329D-4585-582D4934A216}"/>
              </a:ext>
            </a:extLst>
          </p:cNvPr>
          <p:cNvSpPr/>
          <p:nvPr/>
        </p:nvSpPr>
        <p:spPr>
          <a:xfrm>
            <a:off x="4191000" y="3149600"/>
            <a:ext cx="2667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记忆模块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408E6B-84B6-9C74-A5F0-641A23BB17C4}"/>
              </a:ext>
            </a:extLst>
          </p:cNvPr>
          <p:cNvSpPr/>
          <p:nvPr/>
        </p:nvSpPr>
        <p:spPr>
          <a:xfrm>
            <a:off x="7175500" y="3149600"/>
            <a:ext cx="4127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尺度漂移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记忆衰减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133B3FB-E1CB-AFEB-AC38-59730C0FEDBA}"/>
              </a:ext>
            </a:extLst>
          </p:cNvPr>
          <p:cNvSpPr/>
          <p:nvPr/>
        </p:nvSpPr>
        <p:spPr>
          <a:xfrm>
            <a:off x="889000" y="3886200"/>
            <a:ext cx="2984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Q3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多专家组合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1B71AA7-1910-2D2E-5439-73D8A894DDAD}"/>
              </a:ext>
            </a:extLst>
          </p:cNvPr>
          <p:cNvSpPr/>
          <p:nvPr/>
        </p:nvSpPr>
        <p:spPr>
          <a:xfrm>
            <a:off x="4191000" y="3886200"/>
            <a:ext cx="2667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编排模块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993BEE-3807-5923-43AD-E9889E7855F7}"/>
              </a:ext>
            </a:extLst>
          </p:cNvPr>
          <p:cNvSpPr/>
          <p:nvPr/>
        </p:nvSpPr>
        <p:spPr>
          <a:xfrm>
            <a:off x="7175500" y="3886200"/>
            <a:ext cx="4127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路由后悔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单专家对照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C278B9-2497-40FD-871F-C220495D740D}"/>
              </a:ext>
            </a:extLst>
          </p:cNvPr>
          <p:cNvSpPr/>
          <p:nvPr/>
        </p:nvSpPr>
        <p:spPr>
          <a:xfrm>
            <a:off x="889000" y="4622800"/>
            <a:ext cx="2984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Q4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统一平台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F6415A4-F803-FBE3-8952-CA54460C5AB7}"/>
              </a:ext>
            </a:extLst>
          </p:cNvPr>
          <p:cNvSpPr/>
          <p:nvPr/>
        </p:nvSpPr>
        <p:spPr>
          <a:xfrm>
            <a:off x="4191000" y="4622800"/>
            <a:ext cx="2667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平台合同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667AAF-1779-BA80-FE53-002BAA13350F}"/>
              </a:ext>
            </a:extLst>
          </p:cNvPr>
          <p:cNvSpPr/>
          <p:nvPr/>
        </p:nvSpPr>
        <p:spPr>
          <a:xfrm>
            <a:off x="7175500" y="4622800"/>
            <a:ext cx="4127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覆盖率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接入成本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B05DF64-7E91-F33E-A08F-D27E91D4ED8C}"/>
              </a:ext>
            </a:extLst>
          </p:cNvPr>
          <p:cNvSpPr/>
          <p:nvPr/>
        </p:nvSpPr>
        <p:spPr>
          <a:xfrm>
            <a:off x="1333500" y="5524500"/>
            <a:ext cx="95250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后续实验按该映射展开，分别报告模块退化前后的对照证据。</a:t>
            </a:r>
          </a:p>
        </p:txBody>
      </p:sp>
    </p:spTree>
    <p:extLst>
      <p:ext uri="{BB962C8B-B14F-4D97-AF65-F5344CB8AC3E}">
        <p14:creationId xmlns:p14="http://schemas.microsoft.com/office/powerpoint/2010/main" val="72257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软件设计：聚合管理平台架构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88EF15-FCBB-62B9-7F35-F619FE97B55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EC37C7-934B-8F4C-4206-6398192C89F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平台采用桌面端交互、本地服务封装、远端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执行的分离架构。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B253F9-FE85-C8A6-32B6-E66089AAA876}"/>
              </a:ext>
            </a:extLst>
          </p:cNvPr>
          <p:cNvSpPr/>
          <p:nvPr/>
        </p:nvSpPr>
        <p:spPr>
          <a:xfrm>
            <a:off x="698500" y="1841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桌面前端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0BB7B0-9A77-E184-31A9-9A22D644DA0E}"/>
              </a:ext>
            </a:extLst>
          </p:cNvPr>
          <p:cNvSpPr/>
          <p:nvPr/>
        </p:nvSpPr>
        <p:spPr>
          <a:xfrm>
            <a:off x="2794000" y="1841500"/>
            <a:ext cx="2667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Tauri 2 + React</a:t>
            </a:r>
            <a:endParaRPr lang="zh-CN" altLang="en-US" sz="16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907977-9C49-772A-47CC-83C4760382F5}"/>
              </a:ext>
            </a:extLst>
          </p:cNvPr>
          <p:cNvSpPr/>
          <p:nvPr/>
        </p:nvSpPr>
        <p:spPr>
          <a:xfrm>
            <a:off x="5651500" y="1841500"/>
            <a:ext cx="5715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任务提交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状态查看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结果浏览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BA6288-14E9-086D-A5C6-8FF73892602C}"/>
              </a:ext>
            </a:extLst>
          </p:cNvPr>
          <p:cNvSpPr/>
          <p:nvPr/>
        </p:nvSpPr>
        <p:spPr>
          <a:xfrm>
            <a:off x="698500" y="2730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本地后端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DD3105-A72B-E3BA-75BC-64921F0DB763}"/>
              </a:ext>
            </a:extLst>
          </p:cNvPr>
          <p:cNvSpPr/>
          <p:nvPr/>
        </p:nvSpPr>
        <p:spPr>
          <a:xfrm>
            <a:off x="2794000" y="2730500"/>
            <a:ext cx="2667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FastAPI</a:t>
            </a:r>
            <a:endParaRPr lang="zh-CN" altLang="en-US" sz="16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F5ADC07-4A11-CB01-0C26-E59ED9A3210E}"/>
              </a:ext>
            </a:extLst>
          </p:cNvPr>
          <p:cNvSpPr/>
          <p:nvPr/>
        </p:nvSpPr>
        <p:spPr>
          <a:xfrm>
            <a:off x="5651500" y="2730500"/>
            <a:ext cx="5715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参数校验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合同生成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API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封装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14B571E-D859-1A06-1D14-7C56B646DC9E}"/>
              </a:ext>
            </a:extLst>
          </p:cNvPr>
          <p:cNvSpPr/>
          <p:nvPr/>
        </p:nvSpPr>
        <p:spPr>
          <a:xfrm>
            <a:off x="698500" y="3619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远端调度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9D722D-8BD4-B15C-FADC-1759E3390A53}"/>
              </a:ext>
            </a:extLst>
          </p:cNvPr>
          <p:cNvSpPr/>
          <p:nvPr/>
        </p:nvSpPr>
        <p:spPr>
          <a:xfrm>
            <a:off x="2794000" y="3619500"/>
            <a:ext cx="2667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SSH / SCP</a:t>
            </a:r>
            <a:endParaRPr lang="zh-CN" altLang="en-US" sz="16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B3F3D3-573C-6DA1-EA0A-C6239D855C8E}"/>
              </a:ext>
            </a:extLst>
          </p:cNvPr>
          <p:cNvSpPr/>
          <p:nvPr/>
        </p:nvSpPr>
        <p:spPr>
          <a:xfrm>
            <a:off x="5651500" y="3619500"/>
            <a:ext cx="5715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环境隔离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日志回传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产物同步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AF6083-6EA6-C190-9F09-EF67BD7CB00C}"/>
              </a:ext>
            </a:extLst>
          </p:cNvPr>
          <p:cNvSpPr/>
          <p:nvPr/>
        </p:nvSpPr>
        <p:spPr>
          <a:xfrm>
            <a:off x="698500" y="4508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模型执行层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D4C8725-1251-A1D4-4160-BB10175B5C49}"/>
              </a:ext>
            </a:extLst>
          </p:cNvPr>
          <p:cNvSpPr/>
          <p:nvPr/>
        </p:nvSpPr>
        <p:spPr>
          <a:xfrm>
            <a:off x="2794000" y="4508500"/>
            <a:ext cx="2667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个 </a:t>
            </a:r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执行器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9DCFEB-CDB6-B18F-6D8F-C60328174072}"/>
              </a:ext>
            </a:extLst>
          </p:cNvPr>
          <p:cNvSpPr/>
          <p:nvPr/>
        </p:nvSpPr>
        <p:spPr>
          <a:xfrm>
            <a:off x="5651500" y="4508500"/>
            <a:ext cx="5715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 / MonST3R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D4D756-38D4-92EF-93BD-E2F820D7254C}"/>
              </a:ext>
            </a:extLst>
          </p:cNvPr>
          <p:cNvSpPr/>
          <p:nvPr/>
        </p:nvSpPr>
        <p:spPr>
          <a:xfrm>
            <a:off x="1460500" y="5524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本页聚焦软件分层，界面展示随平台版本稳定后补充。</a:t>
            </a:r>
          </a:p>
        </p:txBody>
      </p:sp>
    </p:spTree>
    <p:extLst>
      <p:ext uri="{BB962C8B-B14F-4D97-AF65-F5344CB8AC3E}">
        <p14:creationId xmlns:p14="http://schemas.microsoft.com/office/powerpoint/2010/main" val="1370423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执行合同：统一数据流与记录口径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C1C21-D6BA-BB73-2C89-AA8B31B1727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AD5569-13FF-7A53-C560-A5AFFF91B48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统一执行合同把异构模型差异封装在执行器层，上层只读取标准字段。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98C405-E3A2-BD58-5AEF-6917BA9821F7}"/>
              </a:ext>
            </a:extLst>
          </p:cNvPr>
          <p:cNvSpPr/>
          <p:nvPr/>
        </p:nvSpPr>
        <p:spPr>
          <a:xfrm>
            <a:off x="1016000" y="2032000"/>
            <a:ext cx="2667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task.json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1A9E35-0A34-96E9-C582-81EA95A7C417}"/>
              </a:ext>
            </a:extLst>
          </p:cNvPr>
          <p:cNvSpPr/>
          <p:nvPr/>
        </p:nvSpPr>
        <p:spPr>
          <a:xfrm>
            <a:off x="1016000" y="2489200"/>
            <a:ext cx="2667000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输入路径
模型名
运行参数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4627651A-EF7C-EB90-C077-46D0CD52570F}"/>
              </a:ext>
            </a:extLst>
          </p:cNvPr>
          <p:cNvSpPr/>
          <p:nvPr/>
        </p:nvSpPr>
        <p:spPr>
          <a:xfrm>
            <a:off x="3835400" y="2730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2F0BD6-DDA5-5DEE-8A47-03C5B40B1754}"/>
              </a:ext>
            </a:extLst>
          </p:cNvPr>
          <p:cNvSpPr/>
          <p:nvPr/>
        </p:nvSpPr>
        <p:spPr>
          <a:xfrm>
            <a:off x="4699000" y="2032000"/>
            <a:ext cx="2667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status.json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B741A5-C91F-A239-BEA0-DFE39B979E4C}"/>
              </a:ext>
            </a:extLst>
          </p:cNvPr>
          <p:cNvSpPr/>
          <p:nvPr/>
        </p:nvSpPr>
        <p:spPr>
          <a:xfrm>
            <a:off x="4699000" y="2489200"/>
            <a:ext cx="2667000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运行状态
耗时记录
失败原因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F2ED83D7-84C6-3A29-E70D-6FF27F6B1D65}"/>
              </a:ext>
            </a:extLst>
          </p:cNvPr>
          <p:cNvSpPr/>
          <p:nvPr/>
        </p:nvSpPr>
        <p:spPr>
          <a:xfrm>
            <a:off x="7518400" y="2730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6E1683-2AA0-7188-FB4D-02C2167FE3CE}"/>
              </a:ext>
            </a:extLst>
          </p:cNvPr>
          <p:cNvSpPr/>
          <p:nvPr/>
        </p:nvSpPr>
        <p:spPr>
          <a:xfrm>
            <a:off x="8382000" y="2032000"/>
            <a:ext cx="2667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scene_meta.json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48170F-2CA9-1FDE-9666-F41694DF752E}"/>
              </a:ext>
            </a:extLst>
          </p:cNvPr>
          <p:cNvSpPr/>
          <p:nvPr/>
        </p:nvSpPr>
        <p:spPr>
          <a:xfrm>
            <a:off x="8382000" y="2489200"/>
            <a:ext cx="2667000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相机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尺度
输出类型
指标入口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F27068-62FA-69B9-2912-4BC8C0DF4858}"/>
              </a:ext>
            </a:extLst>
          </p:cNvPr>
          <p:cNvSpPr/>
          <p:nvPr/>
        </p:nvSpPr>
        <p:spPr>
          <a:xfrm>
            <a:off x="1143000" y="4318000"/>
            <a:ext cx="9906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执行器负责适配具体模型；平台侧只依赖统一合同，因此可以横向比较不同 </a:t>
            </a:r>
            <a:r>
              <a:rPr lang="en-US" altLang="zh-CN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方法。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EA39AD-350D-E06A-56F8-67D5656FB5A3}"/>
              </a:ext>
            </a:extLst>
          </p:cNvPr>
          <p:cNvSpPr/>
          <p:nvPr/>
        </p:nvSpPr>
        <p:spPr>
          <a:xfrm>
            <a:off x="1651000" y="5397500"/>
            <a:ext cx="8890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当前状态：</a:t>
            </a:r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个模型已注册，</a:t>
            </a:r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个模型完成端到端验证；</a:t>
            </a:r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待权重补充后验证。</a:t>
            </a:r>
          </a:p>
        </p:txBody>
      </p:sp>
    </p:spTree>
    <p:extLst>
      <p:ext uri="{BB962C8B-B14F-4D97-AF65-F5344CB8AC3E}">
        <p14:creationId xmlns:p14="http://schemas.microsoft.com/office/powerpoint/2010/main" val="4174694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0B85B2A-EBA5-CC37-97BB-A44516A7202B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3B0497-D7F7-5CB8-06AE-67E58BCD57A2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5D4EB26-C1AF-AC1C-FCA8-3E78922EA30A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396F30F2-9EA7-AEC5-392D-3535547BAFF8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9E75C7-2A9E-0802-E82E-A9BE9AFCAEFE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B69B7E2-5F10-17B0-E493-1C666D571A59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A82AB76-1DCD-AAFD-6FCB-98EE7A6D47BF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5F3A24-E486-92FB-2F01-2DAEEAF3653A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8596EE-E378-0FBD-03A0-B972367F3215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CCFF3D2-BBC9-4563-15DC-BFBFD640815C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FFB2343-7E91-269C-CA34-C84B3605A024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8E28E4A-1CF3-CBDE-BEDC-918FD5B1213A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B41E539-5AA9-08C6-DC93-1BF8ABF53CDC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187C019-D68E-24D4-6F2F-95150A97E804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C2348CE-F815-D79F-D76E-D098DEDE4333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5BA22AB-BA66-1500-9563-B005D1F71471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A7B0FF6-1F4F-7ACE-1A3D-78141E893557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6A1573D-2818-1A76-CE74-44112559C955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6F6CCAB-171D-5DDB-5852-8DB388548553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0C05ABF-10A2-2FF1-B6AD-A9B4D31918EE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6162E0A-BAE0-879D-00CA-6E2B413DC45F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ABD9145-47A7-5D09-A46F-C136A93C46A5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0BD2E813-3F67-4CDD-62F8-1CE1CE912C61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165752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实验设计：三层证据链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967605-EEA4-AFD6-8611-5FD4D4F7430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87D29E-83B8-23FA-D8B6-0BB1CA23B7FA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实验设计先统一执行口径，再分别验证架构模块和平台能力。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2337E5-08FB-FFD4-74F7-6C8529CBDBF6}"/>
              </a:ext>
            </a:extLst>
          </p:cNvPr>
          <p:cNvSpPr/>
          <p:nvPr/>
        </p:nvSpPr>
        <p:spPr>
          <a:xfrm>
            <a:off x="825500" y="1968500"/>
            <a:ext cx="330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第一层：基线对比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A73401-D4C0-0B62-FC9B-68F4A4468164}"/>
              </a:ext>
            </a:extLst>
          </p:cNvPr>
          <p:cNvSpPr/>
          <p:nvPr/>
        </p:nvSpPr>
        <p:spPr>
          <a:xfrm>
            <a:off x="825500" y="2425700"/>
            <a:ext cx="3302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同一输入样本
同一状态记录
同一输出字段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D56C5D-98EB-6680-5AD5-5ADDD69C423E}"/>
              </a:ext>
            </a:extLst>
          </p:cNvPr>
          <p:cNvSpPr/>
          <p:nvPr/>
        </p:nvSpPr>
        <p:spPr>
          <a:xfrm>
            <a:off x="4445000" y="1968500"/>
            <a:ext cx="330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第二层：模块消融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5E838B-E4ED-E90B-7B21-84F637AFD604}"/>
              </a:ext>
            </a:extLst>
          </p:cNvPr>
          <p:cNvSpPr/>
          <p:nvPr/>
        </p:nvSpPr>
        <p:spPr>
          <a:xfrm>
            <a:off x="4445000" y="2425700"/>
            <a:ext cx="3302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无校验
无记忆
无编排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单专家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45ABEC-A4B6-7AF9-0311-233B35691331}"/>
              </a:ext>
            </a:extLst>
          </p:cNvPr>
          <p:cNvSpPr/>
          <p:nvPr/>
        </p:nvSpPr>
        <p:spPr>
          <a:xfrm>
            <a:off x="8064500" y="1968500"/>
            <a:ext cx="330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第三层：平台评测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8F1F9F-DE99-0CCC-B13A-347E9606A4D6}"/>
              </a:ext>
            </a:extLst>
          </p:cNvPr>
          <p:cNvSpPr/>
          <p:nvPr/>
        </p:nvSpPr>
        <p:spPr>
          <a:xfrm>
            <a:off x="8064500" y="2425700"/>
            <a:ext cx="3302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合同覆盖率
对比矩阵完整性
新模型接入成本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29BE48-C3B4-EA2F-E9D6-1B4C4316C78B}"/>
              </a:ext>
            </a:extLst>
          </p:cNvPr>
          <p:cNvSpPr/>
          <p:nvPr/>
        </p:nvSpPr>
        <p:spPr>
          <a:xfrm>
            <a:off x="1333500" y="5143500"/>
            <a:ext cx="9525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实验结论只针对指定协议成立，不写成候选架构的总体优越性声明。</a:t>
            </a:r>
          </a:p>
        </p:txBody>
      </p:sp>
    </p:spTree>
    <p:extLst>
      <p:ext uri="{BB962C8B-B14F-4D97-AF65-F5344CB8AC3E}">
        <p14:creationId xmlns:p14="http://schemas.microsoft.com/office/powerpoint/2010/main" val="1909531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06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已完成工作：工程证据与边界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B5B6B9-6880-515C-33BF-9996DC129AA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617974-7FD8-036F-AFF0-DBA6BE78CC9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已完成工作以工程证据为主，现阶段不把实测耗时解释为模型质量排序。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A4084C-709D-F86C-E22F-BE2D701CE1AD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支柱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A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7A5907-F632-C047-2948-A8E0EB100B50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架构设计文档已形成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3576CA-DC0E-00E5-4D16-7FFB71AE7591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实现里程碑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1-18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已完成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0647E7-481D-A4D0-85E2-6535F083A181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集成证据已记录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92F194C-7E58-CB86-57D0-27F7E7B5967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C3D846B0-E6BA-6E61-8C76-E5C849044BB2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平台侧：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个模型注册，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个完成端到端验证；跨模型耗时用于说明统一调度的必要性。</a:t>
            </a:r>
          </a:p>
        </p:txBody>
      </p:sp>
    </p:spTree>
    <p:extLst>
      <p:ext uri="{BB962C8B-B14F-4D97-AF65-F5344CB8AC3E}">
        <p14:creationId xmlns:p14="http://schemas.microsoft.com/office/powerpoint/2010/main" val="2697012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后续计划：阶段交付与时间线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D58B18-2E84-4BAB-623D-8CE82ECD1DB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385B34-1BA1-4C69-F7E2-C76280C567BA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后续计划围绕“基线补齐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模块消融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长序列评测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论文固化”推进。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F17AA64-0F6B-0160-BA55-87DBC6F388D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868" y="1651000"/>
            <a:ext cx="7720263" cy="4191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25CD857-FA1B-E70C-2479-7D39E7A6918D}"/>
              </a:ext>
            </a:extLst>
          </p:cNvPr>
          <p:cNvSpPr/>
          <p:nvPr/>
        </p:nvSpPr>
        <p:spPr>
          <a:xfrm>
            <a:off x="1206500" y="5905500"/>
            <a:ext cx="9779000" cy="431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阶段交付物：基线记录、消融结果、平台对比视图、论文与系统说明。</a:t>
            </a:r>
          </a:p>
        </p:txBody>
      </p:sp>
    </p:spTree>
    <p:extLst>
      <p:ext uri="{BB962C8B-B14F-4D97-AF65-F5344CB8AC3E}">
        <p14:creationId xmlns:p14="http://schemas.microsoft.com/office/powerpoint/2010/main" val="1176610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风险控制：待验证项与应对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F0B7FF9-6DB4-BE92-3167-72327CAE55B4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E56652D-AF0D-BF5C-DADE-E7D4D6E0A68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开题阶段的主要风险均未被完全消除，后续通过分阶段实验缩小不确定性。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742B041-D553-A5D4-4599-B1DC894C5E0D}"/>
              </a:ext>
            </a:extLst>
          </p:cNvPr>
          <p:cNvSpPr/>
          <p:nvPr/>
        </p:nvSpPr>
        <p:spPr>
          <a:xfrm>
            <a:off x="825500" y="2032000"/>
            <a:ext cx="1651000" cy="889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标定风险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BDC5880-7ED2-EF5E-414F-75ABCD0EA59E}"/>
              </a:ext>
            </a:extLst>
          </p:cNvPr>
          <p:cNvSpPr/>
          <p:nvPr/>
        </p:nvSpPr>
        <p:spPr>
          <a:xfrm>
            <a:off x="2603500" y="20320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阈值未经真实数据充分标定
保留监督与分位数两类方案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A9B15F-AD6E-EC47-D653-CC9A1074BCDB}"/>
              </a:ext>
            </a:extLst>
          </p:cNvPr>
          <p:cNvSpPr/>
          <p:nvPr/>
        </p:nvSpPr>
        <p:spPr>
          <a:xfrm>
            <a:off x="6286500" y="2032000"/>
            <a:ext cx="1651000" cy="889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消融风险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2BFB25A-A2EE-A5B0-97F0-D3763C873D06}"/>
              </a:ext>
            </a:extLst>
          </p:cNvPr>
          <p:cNvSpPr/>
          <p:nvPr/>
        </p:nvSpPr>
        <p:spPr>
          <a:xfrm>
            <a:off x="8064500" y="20320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模块贡献可能不稳定
设置退化版本与强基线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BA5A3A9-D561-57BF-142D-1DFB5FBBE61A}"/>
              </a:ext>
            </a:extLst>
          </p:cNvPr>
          <p:cNvSpPr/>
          <p:nvPr/>
        </p:nvSpPr>
        <p:spPr>
          <a:xfrm>
            <a:off x="825500" y="3619500"/>
            <a:ext cx="1651000" cy="889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工程风险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21F42D6-5E2E-5A43-081E-7FCC3461426A}"/>
              </a:ext>
            </a:extLst>
          </p:cNvPr>
          <p:cNvSpPr/>
          <p:nvPr/>
        </p:nvSpPr>
        <p:spPr>
          <a:xfrm>
            <a:off x="2603500" y="36195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模型权重与环境依赖受限
保留离线执行与回归验证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0F42F61-3228-FE70-2B9A-E96D0DE84479}"/>
              </a:ext>
            </a:extLst>
          </p:cNvPr>
          <p:cNvSpPr/>
          <p:nvPr/>
        </p:nvSpPr>
        <p:spPr>
          <a:xfrm>
            <a:off x="6286500" y="3619500"/>
            <a:ext cx="1651000" cy="889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结论边界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8169383-9329-476D-AEBA-A746E171D95E}"/>
              </a:ext>
            </a:extLst>
          </p:cNvPr>
          <p:cNvSpPr/>
          <p:nvPr/>
        </p:nvSpPr>
        <p:spPr>
          <a:xfrm>
            <a:off x="8064500" y="36195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计划不写成结果
所有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claim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绑定实验协议</a:t>
            </a:r>
          </a:p>
        </p:txBody>
      </p:sp>
    </p:spTree>
    <p:extLst>
      <p:ext uri="{BB962C8B-B14F-4D97-AF65-F5344CB8AC3E}">
        <p14:creationId xmlns:p14="http://schemas.microsoft.com/office/powerpoint/2010/main" val="1351937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CE6EDA-3773-9669-8CE5-724694A7DF58}"/>
              </a:ext>
            </a:extLst>
          </p:cNvPr>
          <p:cNvSpPr/>
          <p:nvPr/>
        </p:nvSpPr>
        <p:spPr>
          <a:xfrm>
            <a:off x="1143000" y="2349500"/>
            <a:ext cx="990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>
                <a:solidFill>
                  <a:srgbClr val="00468E"/>
                </a:solidFill>
                <a:latin typeface="Microsoft YaHei" panose="020B0503020204020204" pitchFamily="34" charset="-122"/>
              </a:rPr>
              <a:t>总结与致谢
敬请批评指正！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C283A9-A8AC-4BD5-5D95-F6FB12218E2D}"/>
              </a:ext>
            </a:extLst>
          </p:cNvPr>
          <p:cNvSpPr/>
          <p:nvPr/>
        </p:nvSpPr>
        <p:spPr>
          <a:xfrm>
            <a:off x="2159000" y="3937000"/>
            <a:ext cx="7874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本研究以候选架构 </a:t>
            </a:r>
            <a:r>
              <a:rPr lang="en-US" altLang="zh-CN" b="1">
                <a:solidFill>
                  <a:srgbClr val="081830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与聚合管理平台为两大支柱，面向前馈式三维重建提供可对照、可复用的研究框架。</a:t>
            </a:r>
          </a:p>
        </p:txBody>
      </p:sp>
    </p:spTree>
    <p:extLst>
      <p:ext uri="{BB962C8B-B14F-4D97-AF65-F5344CB8AC3E}">
        <p14:creationId xmlns:p14="http://schemas.microsoft.com/office/powerpoint/2010/main" val="1777883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1346</Words>
  <Application>Microsoft Office PowerPoint</Application>
  <PresentationFormat>宽屏</PresentationFormat>
  <Paragraphs>214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1</cp:revision>
  <dcterms:created xsi:type="dcterms:W3CDTF">2026-05-17T17:12:49Z</dcterms:created>
  <dcterms:modified xsi:type="dcterms:W3CDTF">2026-05-17T17:12:49Z</dcterms:modified>
</cp:coreProperties>
</file>