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7" r:id="rId3"/>
    <p:sldId id="261" r:id="rId4"/>
    <p:sldId id="291" r:id="rId5"/>
    <p:sldId id="292" r:id="rId6"/>
    <p:sldId id="275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22" r:id="rId19"/>
    <p:sldId id="269" r:id="rId20"/>
    <p:sldId id="323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3332097501265265E-2"/>
          <c:y val="8.5251887716540076E-2"/>
          <c:w val="0.94726116074055766"/>
          <c:h val="0.806514167746406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费用支出项目</c:v>
                </c:pt>
              </c:strCache>
            </c:strRef>
          </c:tx>
          <c:spPr>
            <a:solidFill>
              <a:srgbClr val="9A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员工薪酬</c:v>
                </c:pt>
                <c:pt idx="1">
                  <c:v>办公租赁</c:v>
                </c:pt>
                <c:pt idx="2">
                  <c:v>设备采购</c:v>
                </c:pt>
                <c:pt idx="3">
                  <c:v>市场营销</c:v>
                </c:pt>
                <c:pt idx="4">
                  <c:v>研发投入</c:v>
                </c:pt>
                <c:pt idx="5">
                  <c:v>材料采购</c:v>
                </c:pt>
                <c:pt idx="6">
                  <c:v>物流运输</c:v>
                </c:pt>
                <c:pt idx="7">
                  <c:v>行政管理</c:v>
                </c:pt>
                <c:pt idx="8">
                  <c:v>法律咨询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</c:v>
                </c:pt>
                <c:pt idx="1">
                  <c:v>26</c:v>
                </c:pt>
                <c:pt idx="2">
                  <c:v>55</c:v>
                </c:pt>
                <c:pt idx="3">
                  <c:v>27</c:v>
                </c:pt>
                <c:pt idx="4">
                  <c:v>23</c:v>
                </c:pt>
                <c:pt idx="5">
                  <c:v>28</c:v>
                </c:pt>
                <c:pt idx="6">
                  <c:v>22</c:v>
                </c:pt>
                <c:pt idx="7">
                  <c:v>29</c:v>
                </c:pt>
                <c:pt idx="8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FD-441B-AA3C-615FF2E1C4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7"/>
        <c:axId val="1531171824"/>
        <c:axId val="1531174576"/>
      </c:barChart>
      <c:catAx>
        <c:axId val="15311718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pPr>
            <a:endParaRPr lang="zh-CN"/>
          </a:p>
        </c:txPr>
        <c:crossAx val="1531174576"/>
        <c:crosses val="autoZero"/>
        <c:auto val="1"/>
        <c:lblAlgn val="ctr"/>
        <c:lblOffset val="100"/>
        <c:noMultiLvlLbl val="0"/>
      </c:catAx>
      <c:valAx>
        <c:axId val="1531174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 Light" panose="00000400000000000000" pitchFamily="2" charset="0"/>
                <a:ea typeface="+mn-ea"/>
                <a:cs typeface="+mn-cs"/>
              </a:defRPr>
            </a:pPr>
            <a:endParaRPr lang="zh-CN"/>
          </a:p>
        </c:txPr>
        <c:crossAx val="1531171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3332097501265265E-2"/>
          <c:y val="8.5251887716540076E-2"/>
          <c:w val="0.94726116074055766"/>
          <c:h val="0.806514167746406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费用支出项目</c:v>
                </c:pt>
              </c:strCache>
            </c:strRef>
          </c:tx>
          <c:spPr>
            <a:solidFill>
              <a:srgbClr val="9A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员工薪酬</c:v>
                </c:pt>
                <c:pt idx="1">
                  <c:v>办公租赁</c:v>
                </c:pt>
                <c:pt idx="2">
                  <c:v>设备采购</c:v>
                </c:pt>
                <c:pt idx="3">
                  <c:v>市场营销</c:v>
                </c:pt>
                <c:pt idx="4">
                  <c:v>研发投入</c:v>
                </c:pt>
                <c:pt idx="5">
                  <c:v>材料采购</c:v>
                </c:pt>
                <c:pt idx="6">
                  <c:v>物流运输</c:v>
                </c:pt>
                <c:pt idx="7">
                  <c:v>行政管理</c:v>
                </c:pt>
                <c:pt idx="8">
                  <c:v>法律咨询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</c:v>
                </c:pt>
                <c:pt idx="1">
                  <c:v>26</c:v>
                </c:pt>
                <c:pt idx="2">
                  <c:v>55</c:v>
                </c:pt>
                <c:pt idx="3">
                  <c:v>27</c:v>
                </c:pt>
                <c:pt idx="4">
                  <c:v>23</c:v>
                </c:pt>
                <c:pt idx="5">
                  <c:v>28</c:v>
                </c:pt>
                <c:pt idx="6">
                  <c:v>22</c:v>
                </c:pt>
                <c:pt idx="7">
                  <c:v>29</c:v>
                </c:pt>
                <c:pt idx="8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FD-441B-AA3C-615FF2E1C4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7"/>
        <c:axId val="1531171824"/>
        <c:axId val="1531174576"/>
      </c:barChart>
      <c:catAx>
        <c:axId val="15311718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pPr>
            <a:endParaRPr lang="zh-CN"/>
          </a:p>
        </c:txPr>
        <c:crossAx val="1531174576"/>
        <c:crosses val="autoZero"/>
        <c:auto val="1"/>
        <c:lblAlgn val="ctr"/>
        <c:lblOffset val="100"/>
        <c:noMultiLvlLbl val="0"/>
      </c:catAx>
      <c:valAx>
        <c:axId val="1531174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 Light" panose="00000400000000000000" pitchFamily="2" charset="0"/>
                <a:ea typeface="+mn-ea"/>
                <a:cs typeface="+mn-cs"/>
              </a:defRPr>
            </a:pPr>
            <a:endParaRPr lang="zh-CN"/>
          </a:p>
        </c:txPr>
        <c:crossAx val="1531171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rgbClr val="9A000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FBC-4581-8228-3744258C8C6A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FBC-4581-8228-3744258C8C6A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FBC-4581-8228-3744258C8C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rgbClr val="9A000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7F6-4446-9966-04896FE1A3DA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7F6-4446-9966-04896FE1A3DA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7F6-4446-9966-04896FE1A3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rgbClr val="9A000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76C-43ED-9E2E-1D3940A8DCF5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76C-43ED-9E2E-1D3940A8DCF5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76C-43ED-9E2E-1D3940A8DC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2BEF17-166E-2CA5-72A2-6D4BDDF8F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65596D-6CEE-B930-A050-F141CF330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EBDBE1-2C13-0B52-780E-03B7F4C75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D2895-0205-409D-88A4-A87BA5417E4E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D1CFF5-66EB-F9A1-3733-B663CDA3F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F36E46-5A8D-CCC5-6FFA-CE7DCFCAB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94933-A155-44B6-A82C-65E408C0A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65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679AD1-75F2-0F4B-568C-3AC546530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93C97B-EA66-349A-14D9-C174FEAC8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55497C-E132-9C63-7616-871E13AC6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D2895-0205-409D-88A4-A87BA5417E4E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40F012-EF25-98E2-37C4-CDDE17DA2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E23DA0-543F-3910-01B5-1BBD99706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94933-A155-44B6-A82C-65E408C0A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184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B87923-E9A1-FEE7-F720-2D30BFDC5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6DE8E7-90F1-A1E4-B517-7AD372749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BD7CC1-7145-DB94-B187-9180672A9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D2895-0205-409D-88A4-A87BA5417E4E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88A8B9-96B8-85E0-941C-A4CFF4BC5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337B27-8938-1FA3-2AD5-D4EF53AEF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94933-A155-44B6-A82C-65E408C0A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423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3F10B-E95D-3C03-F10D-FFB38AD42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F3C038-B8F8-56A9-EF4A-2D3B7A3F02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D47965-AC64-8E38-B991-902E31593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7D3C41-B911-5438-B54D-E1072E213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D2895-0205-409D-88A4-A87BA5417E4E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AFFC55-F7F6-2A61-F670-6B0EF86F0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ADEA04-280D-C29E-29C4-A4E3F6578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94933-A155-44B6-A82C-65E408C0A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375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91E39C-E41D-1DC1-DAD8-CCDC523EB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948248-6720-743B-EFF4-9B1DE7D34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A5288D-E780-03CA-E9DE-2CCC712C4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49F75B7-E08D-8398-F9A7-6D1F98A0E2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7D9651-CC10-3B4F-91F9-2569D2337E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1BBB67-31AE-36FE-FE4E-852F74E04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D2895-0205-409D-88A4-A87BA5417E4E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1380364-5A98-F730-FFCE-47C954D45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E1878B6-02BB-F886-50F6-108788598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94933-A155-44B6-A82C-65E408C0A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935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17C71-22A8-AF8B-78D5-E3CCAAFE7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1693A52-AE35-2750-19F8-DD6453355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D2895-0205-409D-88A4-A87BA5417E4E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244219-51A0-DA46-A162-2EA4AF644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50B5E9-2340-92C7-53D1-72206D528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94933-A155-44B6-A82C-65E408C0A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68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B61CCC-BA2D-5BC9-EDD8-19C2F2F65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D2895-0205-409D-88A4-A87BA5417E4E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8B74BD-5693-CD27-C322-E0A15BA13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E9D510-7CCF-5743-D32A-807C92114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94933-A155-44B6-A82C-65E408C0A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131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BB374-A021-774F-6258-2432C6F08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D80F2B-00E9-2ECE-26E4-7A9E6B468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6BD743-AC00-AA33-8D6E-B49C2517F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3697E1-3C51-C66A-FF87-34843CF7D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D2895-0205-409D-88A4-A87BA5417E4E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C26C6A-86FF-7AB5-9E23-0882F2AD3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04187D-913C-81CA-F8D5-60946873D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94933-A155-44B6-A82C-65E408C0A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933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E9F2CA-D345-DA17-579F-835070CBE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6FCB0A5-0F2B-8DCD-FBCF-F94F47A461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439414-A1B1-BDC3-2F44-0ECFA45FC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36913B-AF96-9495-3DC9-1DF15D640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D2895-0205-409D-88A4-A87BA5417E4E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181793-6998-E420-2A66-0E863E01A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4BF9A0-029B-D0BC-0C01-B6D2AB17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94933-A155-44B6-A82C-65E408C0A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988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C0C507-DDD8-331F-E9D3-23F7D14C5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D4C4D4-9955-E509-20EE-CF2581785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574C0A-A73B-F1BC-8F43-DE0C6F997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D2895-0205-409D-88A4-A87BA5417E4E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7DDD37-48E8-15EA-DD11-B1CEAA5BD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D9B3DD-FB04-BD97-D719-1C4D429F1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94933-A155-44B6-A82C-65E408C0A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968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99CE06A-7F85-7DAF-9508-06A3DDDD1C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AFF014-F1FA-AF69-744F-F5094B3BE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63F13C-D041-9C75-964C-14F002E6F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D2895-0205-409D-88A4-A87BA5417E4E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42C45E-F950-3EBE-EF6E-C253856DC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86C70F-8309-2A6E-9E5F-3D7344B97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94933-A155-44B6-A82C-65E408C0A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541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069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5103F5-F524-7FDE-1A3C-373B63BD0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611187-C7A2-51EA-9133-1AD0B0ACF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E68648-53E9-6328-99D4-BDE19FF57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D2895-0205-409D-88A4-A87BA5417E4E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687E0D-BBC9-4899-BA50-69A94832A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EB6FDD-49C1-4921-5B1E-BD82D7EDF0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94933-A155-44B6-A82C-65E408C0A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997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image" Target="../media/image2.jpe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slideLayout" Target="../slideLayouts/slideLayout7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../media/image4.png"/><Relationship Id="rId5" Type="http://schemas.openxmlformats.org/officeDocument/2006/relationships/tags" Target="../tags/tag32.xml"/><Relationship Id="rId10" Type="http://schemas.openxmlformats.org/officeDocument/2006/relationships/chart" Target="../charts/chart1.xml"/><Relationship Id="rId4" Type="http://schemas.openxmlformats.org/officeDocument/2006/relationships/tags" Target="../tags/tag31.xml"/><Relationship Id="rId9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image" Target="../media/image12.png"/><Relationship Id="rId5" Type="http://schemas.openxmlformats.org/officeDocument/2006/relationships/tags" Target="../tags/tag40.xml"/><Relationship Id="rId10" Type="http://schemas.openxmlformats.org/officeDocument/2006/relationships/chart" Target="../charts/chart2.xml"/><Relationship Id="rId4" Type="http://schemas.openxmlformats.org/officeDocument/2006/relationships/tags" Target="../tags/tag39.xml"/><Relationship Id="rId9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chart" Target="../charts/chart4.xml"/><Relationship Id="rId7" Type="http://schemas.openxmlformats.org/officeDocument/2006/relationships/image" Target="../media/image17.jpe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chart" Target="../charts/char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0" y="1366919"/>
            <a:ext cx="12192000" cy="403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8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候选架构设计与统一聚合管理平台</a:t>
            </a: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</a:t>
            </a:r>
            <a:r>
              <a:rPr lang="en-US" altLang="zh-CN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1969274" y="4461337"/>
            <a:ext cx="901881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北京航空航天大学  </a:t>
            </a:r>
            <a:r>
              <a:rPr lang="en-US" altLang="zh-CN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 </a:t>
            </a:r>
            <a:r>
              <a:rPr lang="zh-CN" altLang="en-US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计算机视觉与三维重建方向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2925902" y="10234"/>
            <a:ext cx="3262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硕士学位论文开题报告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3" y="5238426"/>
            <a:ext cx="170591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6003635" y="5721158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4242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DFE5C-DA10-3F2C-8A6C-0BAF9C4F4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17B6B629-B162-58D7-1F7E-DDB3292ACDF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1.1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71ADD2BE-4BB9-1AC5-E8CE-B81B4F24205E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研究背景：</a:t>
            </a:r>
            <a:r>
              <a:rPr lang="en-US" altLang="zh-CN" sz="2800" b="1">
                <a:solidFill>
                  <a:schemeClr val="accent1"/>
                </a:solidFill>
              </a:rPr>
              <a:t>3R </a:t>
            </a:r>
            <a:r>
              <a:rPr lang="zh-CN" altLang="en-US" sz="2800" b="1">
                <a:solidFill>
                  <a:schemeClr val="accent1"/>
                </a:solidFill>
              </a:rPr>
              <a:t>方向快速演进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D5F7816-E6F8-30FF-26D3-94E81B5B4F28}"/>
              </a:ext>
            </a:extLst>
          </p:cNvPr>
          <p:cNvSpPr/>
          <p:nvPr/>
        </p:nvSpPr>
        <p:spPr>
          <a:xfrm>
            <a:off x="479426" y="1214447"/>
            <a:ext cx="11233150" cy="705798"/>
          </a:xfrm>
          <a:prstGeom prst="roundRect">
            <a:avLst>
              <a:gd name="adj" fmla="val 3293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DUSt3R </a:t>
            </a:r>
            <a:r>
              <a: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之后，前馈式三维重建从稀疏匹配扩展到密集点图、动态场景与长序列机制。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102B6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CCD55BB-9A09-9957-8D2F-D6B4D6146986}"/>
              </a:ext>
            </a:extLst>
          </p:cNvPr>
          <p:cNvSpPr txBox="1"/>
          <p:nvPr/>
        </p:nvSpPr>
        <p:spPr>
          <a:xfrm>
            <a:off x="3285200" y="1301023"/>
            <a:ext cx="5621604" cy="5256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400" b="1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 DUSt3R</a:t>
            </a:r>
            <a:r>
              <a:rPr lang="zh-CN" altLang="en-US" sz="2400" b="1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pose-free pointmap</a:t>
            </a:r>
            <a:endParaRPr lang="zh-CN" altLang="en-US" sz="2400" b="1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幻云PPT-演示军团1">
            <a:extLst>
              <a:ext uri="{FF2B5EF4-FFF2-40B4-BE49-F238E27FC236}">
                <a16:creationId xmlns:a16="http://schemas.microsoft.com/office/drawing/2014/main" id="{4DF9D8CC-A368-4160-24C8-E072C0D2E700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H="1">
            <a:off x="479426" y="4214011"/>
            <a:ext cx="11217274" cy="0"/>
          </a:xfrm>
          <a:prstGeom prst="line">
            <a:avLst/>
          </a:prstGeom>
          <a:noFill/>
          <a:ln w="3175" cap="flat" cmpd="sng" algn="ctr">
            <a:solidFill>
              <a:schemeClr val="accent1"/>
            </a:solidFill>
            <a:prstDash val="solid"/>
            <a:miter lim="800000"/>
            <a:headEnd type="none"/>
          </a:ln>
          <a:effectLst/>
        </p:spPr>
      </p:cxnSp>
      <p:sp>
        <p:nvSpPr>
          <p:cNvPr id="30" name="幻云PPT-演示军团2">
            <a:extLst>
              <a:ext uri="{FF2B5EF4-FFF2-40B4-BE49-F238E27FC236}">
                <a16:creationId xmlns:a16="http://schemas.microsoft.com/office/drawing/2014/main" id="{2A3ED822-222B-AF72-1E52-1FB1B2A04B9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766671" y="4159636"/>
            <a:ext cx="108751" cy="108751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幻云PPT-演示军团25">
            <a:extLst>
              <a:ext uri="{FF2B5EF4-FFF2-40B4-BE49-F238E27FC236}">
                <a16:creationId xmlns:a16="http://schemas.microsoft.com/office/drawing/2014/main" id="{8A2E1A3E-1136-CE73-0AF7-EE473AECA06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609354" y="4159636"/>
            <a:ext cx="108751" cy="108751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幻云PPT-演示军团26">
            <a:extLst>
              <a:ext uri="{FF2B5EF4-FFF2-40B4-BE49-F238E27FC236}">
                <a16:creationId xmlns:a16="http://schemas.microsoft.com/office/drawing/2014/main" id="{BAF383B1-7D8C-4649-439B-34673A52EF9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452037" y="4159636"/>
            <a:ext cx="108751" cy="108751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幻云PPT-演示军团27">
            <a:extLst>
              <a:ext uri="{FF2B5EF4-FFF2-40B4-BE49-F238E27FC236}">
                <a16:creationId xmlns:a16="http://schemas.microsoft.com/office/drawing/2014/main" id="{49EAF08B-9E43-4893-811D-7B0D2C76EE3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0294721" y="4159636"/>
            <a:ext cx="108751" cy="108751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幻云PPT-演示军团53">
            <a:extLst>
              <a:ext uri="{FF2B5EF4-FFF2-40B4-BE49-F238E27FC236}">
                <a16:creationId xmlns:a16="http://schemas.microsoft.com/office/drawing/2014/main" id="{B570176C-9980-9E42-C491-520BED4FAB9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 flipH="1">
            <a:off x="1795366" y="3836035"/>
            <a:ext cx="51360" cy="31957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algn="ctr" defTabSz="1219169" hangingPunct="0">
              <a:lnSpc>
                <a:spcPct val="120000"/>
              </a:lnSpc>
            </a:pPr>
            <a:endParaRPr lang="zh-CN" altLang="en-US" sz="1600" kern="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OPPOSans M" pitchFamily="18" charset="-122"/>
            </a:endParaRPr>
          </a:p>
        </p:txBody>
      </p:sp>
      <p:sp>
        <p:nvSpPr>
          <p:cNvPr id="35" name="幻云PPT-演示军团54">
            <a:extLst>
              <a:ext uri="{FF2B5EF4-FFF2-40B4-BE49-F238E27FC236}">
                <a16:creationId xmlns:a16="http://schemas.microsoft.com/office/drawing/2014/main" id="{3CA91905-D793-3ED3-7EB7-AC9117203636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flipH="1">
            <a:off x="1795365" y="4273858"/>
            <a:ext cx="51361" cy="32175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algn="ctr" defTabSz="1219169" hangingPunct="0">
              <a:lnSpc>
                <a:spcPct val="120000"/>
              </a:lnSpc>
            </a:pPr>
            <a:endParaRPr lang="zh-CN" altLang="en-US" sz="16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M" pitchFamily="18" charset="-122"/>
            </a:endParaRPr>
          </a:p>
        </p:txBody>
      </p:sp>
      <p:sp>
        <p:nvSpPr>
          <p:cNvPr id="36" name="幻云PPT-演示军团55">
            <a:extLst>
              <a:ext uri="{FF2B5EF4-FFF2-40B4-BE49-F238E27FC236}">
                <a16:creationId xmlns:a16="http://schemas.microsoft.com/office/drawing/2014/main" id="{28E34E59-76AD-D0AB-A306-37B2D82BA1AD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 flipH="1">
            <a:off x="4638049" y="3836035"/>
            <a:ext cx="51360" cy="31957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algn="ctr" defTabSz="1219169" hangingPunct="0">
              <a:lnSpc>
                <a:spcPct val="120000"/>
              </a:lnSpc>
            </a:pPr>
            <a:endParaRPr lang="zh-CN" altLang="en-US" sz="1600" kern="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OPPOSans M" pitchFamily="18" charset="-122"/>
            </a:endParaRPr>
          </a:p>
        </p:txBody>
      </p:sp>
      <p:sp>
        <p:nvSpPr>
          <p:cNvPr id="37" name="幻云PPT-演示军团56">
            <a:extLst>
              <a:ext uri="{FF2B5EF4-FFF2-40B4-BE49-F238E27FC236}">
                <a16:creationId xmlns:a16="http://schemas.microsoft.com/office/drawing/2014/main" id="{46AC2D70-95F8-9912-10F5-C2C9446783C1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 flipH="1">
            <a:off x="4638049" y="4273858"/>
            <a:ext cx="51361" cy="32175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algn="ctr" defTabSz="1219169" hangingPunct="0">
              <a:lnSpc>
                <a:spcPct val="120000"/>
              </a:lnSpc>
            </a:pPr>
            <a:endParaRPr lang="zh-CN" altLang="en-US" sz="16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M" pitchFamily="18" charset="-122"/>
            </a:endParaRPr>
          </a:p>
        </p:txBody>
      </p:sp>
      <p:sp>
        <p:nvSpPr>
          <p:cNvPr id="38" name="幻云PPT-演示军团57">
            <a:extLst>
              <a:ext uri="{FF2B5EF4-FFF2-40B4-BE49-F238E27FC236}">
                <a16:creationId xmlns:a16="http://schemas.microsoft.com/office/drawing/2014/main" id="{5A5FC8D8-1065-EFA0-AE3D-B62BD8E398C3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 flipH="1">
            <a:off x="7480732" y="3836035"/>
            <a:ext cx="51360" cy="31957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algn="ctr" defTabSz="1219169" hangingPunct="0">
              <a:lnSpc>
                <a:spcPct val="120000"/>
              </a:lnSpc>
            </a:pPr>
            <a:endParaRPr lang="zh-CN" altLang="en-US" sz="1600" kern="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OPPOSans M" pitchFamily="18" charset="-122"/>
            </a:endParaRPr>
          </a:p>
        </p:txBody>
      </p:sp>
      <p:sp>
        <p:nvSpPr>
          <p:cNvPr id="39" name="幻云PPT-演示军团58">
            <a:extLst>
              <a:ext uri="{FF2B5EF4-FFF2-40B4-BE49-F238E27FC236}">
                <a16:creationId xmlns:a16="http://schemas.microsoft.com/office/drawing/2014/main" id="{C21E50B3-49BF-1A11-1464-3ACB60630B7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 flipH="1">
            <a:off x="7480731" y="4273858"/>
            <a:ext cx="51361" cy="32175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algn="ctr" defTabSz="1219169" hangingPunct="0">
              <a:lnSpc>
                <a:spcPct val="120000"/>
              </a:lnSpc>
            </a:pPr>
            <a:endParaRPr lang="zh-CN" altLang="en-US" sz="16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M" pitchFamily="18" charset="-122"/>
            </a:endParaRPr>
          </a:p>
        </p:txBody>
      </p:sp>
      <p:sp>
        <p:nvSpPr>
          <p:cNvPr id="40" name="幻云PPT-演示军团59">
            <a:extLst>
              <a:ext uri="{FF2B5EF4-FFF2-40B4-BE49-F238E27FC236}">
                <a16:creationId xmlns:a16="http://schemas.microsoft.com/office/drawing/2014/main" id="{503FFAA1-D60B-CB8D-4E85-EE2F6B945CB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 flipH="1">
            <a:off x="10323416" y="3836035"/>
            <a:ext cx="51360" cy="31957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algn="ctr" defTabSz="1219169" hangingPunct="0">
              <a:lnSpc>
                <a:spcPct val="120000"/>
              </a:lnSpc>
            </a:pPr>
            <a:endParaRPr lang="zh-CN" altLang="en-US" sz="1600" kern="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OPPOSans M" pitchFamily="18" charset="-122"/>
            </a:endParaRPr>
          </a:p>
        </p:txBody>
      </p:sp>
      <p:sp>
        <p:nvSpPr>
          <p:cNvPr id="41" name="幻云PPT-演示军团60">
            <a:extLst>
              <a:ext uri="{FF2B5EF4-FFF2-40B4-BE49-F238E27FC236}">
                <a16:creationId xmlns:a16="http://schemas.microsoft.com/office/drawing/2014/main" id="{7B4165A8-80D0-81B1-B57E-985C1465CDF9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 flipH="1">
            <a:off x="10323415" y="4273858"/>
            <a:ext cx="51361" cy="32175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algn="ctr" defTabSz="1219169" hangingPunct="0">
              <a:lnSpc>
                <a:spcPct val="120000"/>
              </a:lnSpc>
            </a:pPr>
            <a:endParaRPr lang="zh-CN" altLang="en-US" sz="16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M" pitchFamily="18" charset="-122"/>
            </a:endParaRPr>
          </a:p>
        </p:txBody>
      </p:sp>
      <p:sp>
        <p:nvSpPr>
          <p:cNvPr id="42" name="幻云PPT-演示军团1">
            <a:extLst>
              <a:ext uri="{FF2B5EF4-FFF2-40B4-BE49-F238E27FC236}">
                <a16:creationId xmlns:a16="http://schemas.microsoft.com/office/drawing/2014/main" id="{5BB3953F-D0F6-E94F-04E8-1C7A1DE39BA7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6142" y="2111151"/>
            <a:ext cx="2669808" cy="1625600"/>
          </a:xfrm>
          <a:prstGeom prst="roundRect">
            <a:avLst>
              <a:gd name="adj" fmla="val 617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304800" sx="102000" sy="102000" algn="ctr" rotWithShape="0">
              <a:schemeClr val="accent1">
                <a:alpha val="16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2025 Test3R / TTT3R：test-time mechanisms</a:t>
            </a:r>
            <a:endParaRPr 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3" name="幻云PPT-演示军团19">
            <a:extLst>
              <a:ext uri="{FF2B5EF4-FFF2-40B4-BE49-F238E27FC236}">
                <a16:creationId xmlns:a16="http://schemas.microsoft.com/office/drawing/2014/main" id="{7713B0B0-9F18-7070-0EE7-4A830AB30EAA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86143" y="2089757"/>
            <a:ext cx="2669808" cy="453490"/>
          </a:xfrm>
          <a:prstGeom prst="roundRect">
            <a:avLst>
              <a:gd name="adj" fmla="val 3727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2700000" scaled="1"/>
            <a:tileRect/>
          </a:gradFill>
          <a:ln w="22225" cap="flat" cmpd="sng" algn="ctr">
            <a:noFill/>
            <a:prstDash val="solid"/>
            <a:miter lim="800000"/>
          </a:ln>
          <a:effectLst/>
        </p:spPr>
        <p:txBody>
          <a:bodyPr lIns="76535" tIns="38268" rIns="76535" bIns="38268" rtlCol="0" anchor="ctr"/>
          <a:lstStyle/>
          <a:p>
            <a:pPr algn="ctr"/>
            <a:r>
              <a:rPr lang="en-US" altLang="zh-CN" b="1" kern="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2024 MASt3R</a:t>
            </a:r>
            <a:r>
              <a:rPr lang="zh-CN" altLang="en-US" b="1" kern="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：</a:t>
            </a:r>
            <a:r>
              <a:rPr lang="en-US" altLang="zh-CN" b="1" kern="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3D grounding / matching</a:t>
            </a:r>
            <a:endParaRPr lang="en-US" altLang="zh-CN" b="1" kern="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44" name="幻云PPT-演示军团1">
            <a:extLst>
              <a:ext uri="{FF2B5EF4-FFF2-40B4-BE49-F238E27FC236}">
                <a16:creationId xmlns:a16="http://schemas.microsoft.com/office/drawing/2014/main" id="{AE764487-3A68-DE27-E440-57D769E95FE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328825" y="2111151"/>
            <a:ext cx="2669808" cy="1625600"/>
          </a:xfrm>
          <a:prstGeom prst="roundRect">
            <a:avLst>
              <a:gd name="adj" fmla="val 617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304800" sx="102000" sy="102000" algn="ctr" rotWithShape="0">
              <a:schemeClr val="accent1">
                <a:alpha val="16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方向快速扩展，但比较口径、复现入口与跨模型实验仍不统一。</a:t>
            </a:r>
            <a:endParaRPr 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5" name="幻云PPT-演示军团19">
            <a:extLst>
              <a:ext uri="{FF2B5EF4-FFF2-40B4-BE49-F238E27FC236}">
                <a16:creationId xmlns:a16="http://schemas.microsoft.com/office/drawing/2014/main" id="{32FDA88D-67FA-9379-7465-B1F62240E766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3328826" y="2089757"/>
            <a:ext cx="2669808" cy="453490"/>
          </a:xfrm>
          <a:prstGeom prst="roundRect">
            <a:avLst>
              <a:gd name="adj" fmla="val 3727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2700000" scaled="1"/>
            <a:tileRect/>
          </a:gradFill>
          <a:ln w="22225" cap="flat" cmpd="sng" algn="ctr">
            <a:noFill/>
            <a:prstDash val="solid"/>
            <a:miter lim="800000"/>
          </a:ln>
          <a:effectLst/>
        </p:spPr>
        <p:txBody>
          <a:bodyPr lIns="76535" tIns="38268" rIns="76535" bIns="38268" rtlCol="0" anchor="ctr"/>
          <a:lstStyle/>
          <a:p>
            <a:pPr algn="ctr"/>
            <a:r>
              <a:rPr lang="en-US" altLang="zh-CN" b="1" kern="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2025 Fast3R</a:t>
            </a:r>
            <a:r>
              <a:rPr lang="zh-CN" altLang="en-US" b="1" kern="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：</a:t>
            </a:r>
            <a:r>
              <a:rPr lang="en-US" altLang="zh-CN" b="1" kern="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many-view single forward</a:t>
            </a:r>
            <a:endParaRPr lang="en-US" altLang="zh-CN" b="1" kern="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46" name="幻云PPT-演示军团1">
            <a:extLst>
              <a:ext uri="{FF2B5EF4-FFF2-40B4-BE49-F238E27FC236}">
                <a16:creationId xmlns:a16="http://schemas.microsoft.com/office/drawing/2014/main" id="{388C6688-99EE-4AF6-9D1E-586AE42EDC81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171508" y="2111151"/>
            <a:ext cx="2669808" cy="1625600"/>
          </a:xfrm>
          <a:prstGeom prst="roundRect">
            <a:avLst>
              <a:gd name="adj" fmla="val 617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304800" sx="102000" sy="102000" algn="ctr" rotWithShape="0">
              <a:schemeClr val="accent1">
                <a:alpha val="16000"/>
              </a:schemeClr>
            </a:outerShdw>
          </a:effectLst>
        </p:spPr>
        <p:txBody>
          <a:bodyPr rtlCol="0" anchor="ctr"/>
          <a:lstStyle/>
          <a:p>
            <a:pPr algn="ctr"/>
            <a:endParaRPr 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7" name="幻云PPT-演示军团19">
            <a:extLst>
              <a:ext uri="{FF2B5EF4-FFF2-40B4-BE49-F238E27FC236}">
                <a16:creationId xmlns:a16="http://schemas.microsoft.com/office/drawing/2014/main" id="{7216FAEC-94D2-B9D3-47EA-5E27C8383EE5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171509" y="2089757"/>
            <a:ext cx="2669808" cy="453490"/>
          </a:xfrm>
          <a:prstGeom prst="roundRect">
            <a:avLst>
              <a:gd name="adj" fmla="val 3727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2700000" scaled="1"/>
            <a:tileRect/>
          </a:gradFill>
          <a:ln w="22225" cap="flat" cmpd="sng" algn="ctr">
            <a:noFill/>
            <a:prstDash val="solid"/>
            <a:miter lim="800000"/>
          </a:ln>
          <a:effectLst/>
        </p:spPr>
        <p:txBody>
          <a:bodyPr lIns="76535" tIns="38268" rIns="76535" bIns="38268" rtlCol="0" anchor="ctr"/>
          <a:lstStyle/>
          <a:p>
            <a:pPr algn="ctr"/>
            <a:r>
              <a:rPr lang="en-US" altLang="zh-CN" b="1" kern="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2024-25 MonST3R</a:t>
            </a:r>
            <a:r>
              <a:rPr lang="zh-CN" altLang="en-US" b="1" kern="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：</a:t>
            </a:r>
            <a:r>
              <a:rPr lang="en-US" altLang="zh-CN" b="1" kern="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dynamic 4D</a:t>
            </a:r>
            <a:endParaRPr lang="en-US" altLang="zh-CN" b="1" kern="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48" name="幻云PPT-演示军团1">
            <a:extLst>
              <a:ext uri="{FF2B5EF4-FFF2-40B4-BE49-F238E27FC236}">
                <a16:creationId xmlns:a16="http://schemas.microsoft.com/office/drawing/2014/main" id="{4318F253-4E12-BBB4-2116-C33C68970E82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9014192" y="2111151"/>
            <a:ext cx="2669808" cy="1625600"/>
          </a:xfrm>
          <a:prstGeom prst="roundRect">
            <a:avLst>
              <a:gd name="adj" fmla="val 617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304800" sx="102000" sy="102000" algn="ctr" rotWithShape="0">
              <a:schemeClr val="accent1">
                <a:alpha val="16000"/>
              </a:schemeClr>
            </a:outerShdw>
          </a:effectLst>
        </p:spPr>
        <p:txBody>
          <a:bodyPr rtlCol="0" anchor="ctr"/>
          <a:lstStyle/>
          <a:p>
            <a:pPr algn="ctr"/>
            <a:endParaRPr 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9" name="幻云PPT-演示军团19">
            <a:extLst>
              <a:ext uri="{FF2B5EF4-FFF2-40B4-BE49-F238E27FC236}">
                <a16:creationId xmlns:a16="http://schemas.microsoft.com/office/drawing/2014/main" id="{DD62A377-A8AD-C3C2-8B5B-98335E442BF6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9014193" y="2089757"/>
            <a:ext cx="2669808" cy="453490"/>
          </a:xfrm>
          <a:prstGeom prst="roundRect">
            <a:avLst>
              <a:gd name="adj" fmla="val 3727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2700000" scaled="1"/>
            <a:tileRect/>
          </a:gradFill>
          <a:ln w="22225" cap="flat" cmpd="sng" algn="ctr">
            <a:noFill/>
            <a:prstDash val="solid"/>
            <a:miter lim="800000"/>
          </a:ln>
          <a:effectLst/>
        </p:spPr>
        <p:txBody>
          <a:bodyPr lIns="76535" tIns="38268" rIns="76535" bIns="38268" rtlCol="0" anchor="ctr"/>
          <a:lstStyle/>
          <a:p>
            <a:pPr algn="ctr"/>
            <a:r>
              <a:rPr lang="en-US" altLang="zh-CN" b="1" kern="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2025 Spann3R / CUT3R</a:t>
            </a:r>
            <a:r>
              <a:rPr lang="zh-CN" altLang="en-US" b="1" kern="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：</a:t>
            </a:r>
            <a:r>
              <a:rPr lang="en-US" altLang="zh-CN" b="1" kern="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long-sequence memory</a:t>
            </a:r>
            <a:endParaRPr lang="en-US" altLang="zh-CN" b="1" kern="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7C256276-64E6-5ED9-0195-3DEDAC5F85D2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61" y="4682157"/>
            <a:ext cx="5073071" cy="1901879"/>
          </a:xfrm>
          <a:prstGeom prst="roundRect">
            <a:avLst>
              <a:gd name="adj" fmla="val 1596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304800" sx="102000" sy="102000" algn="ctr" rotWithShape="0">
              <a:schemeClr val="accent1">
                <a:alpha val="16000"/>
              </a:schemeClr>
            </a:outerShdw>
          </a:effectLst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7820AB4-6B1C-2248-AF3D-0D9C769E03CF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743" y="4692465"/>
            <a:ext cx="5166257" cy="1892934"/>
          </a:xfrm>
          <a:prstGeom prst="roundRect">
            <a:avLst>
              <a:gd name="adj" fmla="val 1596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304800" sx="102000" sy="102000" algn="ctr" rotWithShape="0">
              <a:schemeClr val="accent1">
                <a:alpha val="16000"/>
              </a:schemeClr>
            </a:outerShdw>
          </a:effectLst>
        </p:spPr>
      </p:pic>
      <p:sp>
        <p:nvSpPr>
          <p:cNvPr id="52" name="幻云PPT-演示军团34">
            <a:extLst>
              <a:ext uri="{FF2B5EF4-FFF2-40B4-BE49-F238E27FC236}">
                <a16:creationId xmlns:a16="http://schemas.microsoft.com/office/drawing/2014/main" id="{7DB71DE6-AA65-186B-6258-3B41310A4426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>
          <a:xfrm>
            <a:off x="482600" y="4673323"/>
            <a:ext cx="442962" cy="1910709"/>
          </a:xfrm>
          <a:prstGeom prst="roundRect">
            <a:avLst>
              <a:gd name="adj" fmla="val 65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2700000" scaled="1"/>
            <a:tileRect/>
          </a:gradFill>
          <a:ln w="22225" cap="flat" cmpd="sng" algn="ctr">
            <a:noFill/>
            <a:prstDash val="solid"/>
            <a:miter lim="800000"/>
          </a:ln>
          <a:effectLst/>
        </p:spPr>
        <p:txBody>
          <a:bodyPr lIns="76535" tIns="38268" rIns="76535" bIns="38268" rtlCol="0" anchor="ctr"/>
          <a:lstStyle/>
          <a:p>
            <a:pPr algn="ctr"/>
            <a:endParaRPr lang="zh-CN" altLang="en-US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53" name="幻云PPT-演示军团34">
            <a:extLst>
              <a:ext uri="{FF2B5EF4-FFF2-40B4-BE49-F238E27FC236}">
                <a16:creationId xmlns:a16="http://schemas.microsoft.com/office/drawing/2014/main" id="{ED51B8CA-1722-4AD3-41E7-2477DA091DEA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>
          <a:xfrm>
            <a:off x="6184900" y="4678087"/>
            <a:ext cx="442962" cy="1910712"/>
          </a:xfrm>
          <a:prstGeom prst="roundRect">
            <a:avLst>
              <a:gd name="adj" fmla="val 65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2700000" scaled="1"/>
            <a:tileRect/>
          </a:gradFill>
          <a:ln w="22225" cap="flat" cmpd="sng" algn="ctr">
            <a:noFill/>
            <a:prstDash val="solid"/>
            <a:miter lim="800000"/>
          </a:ln>
          <a:effectLst/>
        </p:spPr>
        <p:txBody>
          <a:bodyPr lIns="76535" tIns="38268" rIns="76535" bIns="38268" rtlCol="0" anchor="ctr"/>
          <a:lstStyle/>
          <a:p>
            <a:pPr algn="ctr"/>
            <a:endParaRPr lang="zh-CN" altLang="en-US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A868D88-0DC3-9AFB-8530-2AB7D6E2DC11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648720" y="2672864"/>
            <a:ext cx="2344652" cy="288925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dist">
              <a:lnSpc>
                <a:spcPct val="130000"/>
              </a:lnSpc>
              <a:defRPr/>
            </a:pP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BB430D5-63F0-A3D9-5B91-0F13BD566301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491403" y="2672864"/>
            <a:ext cx="2344652" cy="288925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dist">
              <a:lnSpc>
                <a:spcPct val="130000"/>
              </a:lnSpc>
              <a:defRPr/>
            </a:pP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FF6B351-EF61-6ADD-C5D3-F582DE0C4C69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6334086" y="2672864"/>
            <a:ext cx="2344652" cy="288925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dist">
              <a:lnSpc>
                <a:spcPct val="130000"/>
              </a:lnSpc>
              <a:defRPr/>
            </a:pP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B04424F-A755-FCDE-0B86-3191198DCDF9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9170993" y="2672864"/>
            <a:ext cx="2344652" cy="288925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dist">
              <a:lnSpc>
                <a:spcPct val="130000"/>
              </a:lnSpc>
              <a:defRPr/>
            </a:pP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91232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2E450-5FC0-8ED5-CA22-DB453C345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0815A518-D4FF-BF83-67B8-80B3B6DFEB2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1.1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A36E4FF5-8E54-C76A-8E98-5403EBB7F367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问题提出：失败模式与未解问题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0E91F20A-1575-F121-A924-413A88AC7D8B}"/>
              </a:ext>
            </a:extLst>
          </p:cNvPr>
          <p:cNvSpPr>
            <a:spLocks/>
          </p:cNvSpPr>
          <p:nvPr/>
        </p:nvSpPr>
        <p:spPr>
          <a:xfrm>
            <a:off x="442912" y="3898080"/>
            <a:ext cx="5217291" cy="1621143"/>
          </a:xfrm>
          <a:prstGeom prst="roundRect">
            <a:avLst>
              <a:gd name="adj" fmla="val 608"/>
            </a:avLst>
          </a:prstGeom>
          <a:solidFill>
            <a:schemeClr val="accent2">
              <a:lumMod val="20000"/>
              <a:lumOff val="80000"/>
              <a:alpha val="10000"/>
            </a:schemeClr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C21BFD11-DA2E-7DC4-E821-490FA876CC08}"/>
              </a:ext>
            </a:extLst>
          </p:cNvPr>
          <p:cNvSpPr>
            <a:spLocks/>
          </p:cNvSpPr>
          <p:nvPr/>
        </p:nvSpPr>
        <p:spPr>
          <a:xfrm>
            <a:off x="442913" y="1143279"/>
            <a:ext cx="11306175" cy="815669"/>
          </a:xfrm>
          <a:prstGeom prst="roundRect">
            <a:avLst>
              <a:gd name="adj" fmla="val 3304"/>
            </a:avLst>
          </a:prstGeom>
          <a:solidFill>
            <a:schemeClr val="accent3"/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723900" sx="102000" sy="102000" algn="ctr" rotWithShape="0">
              <a:srgbClr val="1E2B4D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35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本研究不押注单一分支，而是围绕失败模式建立候选架构与统一评测入口。</a:t>
            </a:r>
            <a:endParaRPr lang="zh-CN" altLang="en-US" sz="1350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D288FDB2-C705-78E0-C6C8-3F83F5513342}"/>
              </a:ext>
            </a:extLst>
          </p:cNvPr>
          <p:cNvSpPr>
            <a:spLocks/>
          </p:cNvSpPr>
          <p:nvPr/>
        </p:nvSpPr>
        <p:spPr>
          <a:xfrm>
            <a:off x="442912" y="2097528"/>
            <a:ext cx="5217291" cy="1467426"/>
          </a:xfrm>
          <a:prstGeom prst="roundRect">
            <a:avLst>
              <a:gd name="adj" fmla="val 907"/>
            </a:avLst>
          </a:prstGeom>
          <a:solidFill>
            <a:schemeClr val="accent2">
              <a:lumMod val="20000"/>
              <a:lumOff val="80000"/>
              <a:alpha val="10000"/>
            </a:schemeClr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r>
              <a:rPr lang="zh-CN" altLang="en-US" sz="130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尺度漂移 </a:t>
            </a:r>
            <a:r>
              <a:rPr lang="en-US" altLang="zh-CN" sz="130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 </a:t>
            </a:r>
            <a:r>
              <a:rPr lang="zh-CN" altLang="en-US" sz="130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几何不一致</a:t>
            </a:r>
            <a:endParaRPr lang="zh-CN" altLang="en-US" sz="1300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361955CF-3B6D-3012-9070-DB485008F888}"/>
              </a:ext>
            </a:extLst>
          </p:cNvPr>
          <p:cNvCxnSpPr>
            <a:cxnSpLocks/>
          </p:cNvCxnSpPr>
          <p:nvPr/>
        </p:nvCxnSpPr>
        <p:spPr>
          <a:xfrm>
            <a:off x="2947146" y="2158424"/>
            <a:ext cx="0" cy="1406529"/>
          </a:xfrm>
          <a:prstGeom prst="line">
            <a:avLst/>
          </a:prstGeom>
          <a:noFill/>
          <a:ln w="3175" cap="flat" cmpd="sng" algn="ctr">
            <a:solidFill>
              <a:srgbClr val="C00000">
                <a:alpha val="50000"/>
              </a:srgbClr>
            </a:solidFill>
            <a:prstDash val="solid"/>
            <a:miter lim="800000"/>
          </a:ln>
          <a:effectLst/>
        </p:spPr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5C0A5391-6045-1C31-7FCB-CB4D27A017D4}"/>
              </a:ext>
            </a:extLst>
          </p:cNvPr>
          <p:cNvSpPr/>
          <p:nvPr/>
        </p:nvSpPr>
        <p:spPr>
          <a:xfrm>
            <a:off x="578351" y="3981162"/>
            <a:ext cx="1916267" cy="379114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5E0D0BA-62C5-174A-30D8-CB9162793FDE}"/>
              </a:ext>
            </a:extLst>
          </p:cNvPr>
          <p:cNvCxnSpPr>
            <a:cxnSpLocks/>
          </p:cNvCxnSpPr>
          <p:nvPr/>
        </p:nvCxnSpPr>
        <p:spPr>
          <a:xfrm>
            <a:off x="2630432" y="4170719"/>
            <a:ext cx="566056" cy="0"/>
          </a:xfrm>
          <a:prstGeom prst="straightConnector1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3D044C7E-E63A-763A-29CD-D5ED083D1C2E}"/>
              </a:ext>
            </a:extLst>
          </p:cNvPr>
          <p:cNvSpPr>
            <a:spLocks/>
          </p:cNvSpPr>
          <p:nvPr/>
        </p:nvSpPr>
        <p:spPr>
          <a:xfrm>
            <a:off x="442912" y="5659921"/>
            <a:ext cx="5217291" cy="875007"/>
          </a:xfrm>
          <a:prstGeom prst="roundRect">
            <a:avLst>
              <a:gd name="adj" fmla="val 2889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E19322-D4E1-0589-906D-251D75916A5C}"/>
              </a:ext>
            </a:extLst>
          </p:cNvPr>
          <p:cNvSpPr txBox="1"/>
          <p:nvPr/>
        </p:nvSpPr>
        <p:spPr>
          <a:xfrm>
            <a:off x="682230" y="1154800"/>
            <a:ext cx="11041719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六类失败模式</a:t>
            </a:r>
            <a:endParaRPr lang="zh-CN" altLang="en-US" sz="2000" b="1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1D84098-CB05-4CB8-09A7-DE6B5E8EBC79}"/>
              </a:ext>
            </a:extLst>
          </p:cNvPr>
          <p:cNvSpPr txBox="1"/>
          <p:nvPr/>
        </p:nvSpPr>
        <p:spPr>
          <a:xfrm>
            <a:off x="485617" y="2142325"/>
            <a:ext cx="247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模型接口不统一</a:t>
            </a:r>
            <a:endParaRPr lang="zh-CN" altLang="en-US" sz="14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11DC397-6D30-2F7F-969D-55755C0B3F6C}"/>
              </a:ext>
            </a:extLst>
          </p:cNvPr>
          <p:cNvSpPr txBox="1"/>
          <p:nvPr/>
        </p:nvSpPr>
        <p:spPr>
          <a:xfrm>
            <a:off x="485617" y="2423357"/>
            <a:ext cx="248688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3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Q3</a:t>
            </a:r>
            <a:r>
              <a:rPr lang="zh-CN" altLang="en-US" sz="13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：多专家如何组合而非孤立比较？</a:t>
            </a:r>
            <a:endParaRPr lang="zh-CN" altLang="en-US" sz="13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9E82F34-4BD5-F9F3-0E36-24637AA410B1}"/>
              </a:ext>
            </a:extLst>
          </p:cNvPr>
          <p:cNvSpPr txBox="1"/>
          <p:nvPr/>
        </p:nvSpPr>
        <p:spPr>
          <a:xfrm>
            <a:off x="485617" y="2691875"/>
            <a:ext cx="248688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3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输出目标：统一对照实验与复用入口</a:t>
            </a:r>
            <a:endParaRPr lang="zh-CN" altLang="en-US" sz="13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246AC78-7BF7-6891-4127-BE044FE9A664}"/>
              </a:ext>
            </a:extLst>
          </p:cNvPr>
          <p:cNvSpPr txBox="1"/>
          <p:nvPr/>
        </p:nvSpPr>
        <p:spPr>
          <a:xfrm>
            <a:off x="485617" y="2935085"/>
            <a:ext cx="247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C15612B-7E1F-0F54-CA7B-0DCE6DDCBDD4}"/>
              </a:ext>
            </a:extLst>
          </p:cNvPr>
          <p:cNvSpPr txBox="1"/>
          <p:nvPr/>
        </p:nvSpPr>
        <p:spPr>
          <a:xfrm>
            <a:off x="485617" y="3257176"/>
            <a:ext cx="2486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90C8F55-AADE-3D58-4658-D557F50B51F6}"/>
              </a:ext>
            </a:extLst>
          </p:cNvPr>
          <p:cNvSpPr txBox="1"/>
          <p:nvPr/>
        </p:nvSpPr>
        <p:spPr>
          <a:xfrm>
            <a:off x="3028360" y="2142325"/>
            <a:ext cx="247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研究问题</a:t>
            </a:r>
            <a:endParaRPr lang="zh-CN" altLang="en-US" sz="14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E8571E9-ADA9-FD8C-CA2B-954D8157F78D}"/>
              </a:ext>
            </a:extLst>
          </p:cNvPr>
          <p:cNvSpPr txBox="1"/>
          <p:nvPr/>
        </p:nvSpPr>
        <p:spPr>
          <a:xfrm>
            <a:off x="3021783" y="2423357"/>
            <a:ext cx="248688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3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Q4</a:t>
            </a:r>
            <a:r>
              <a:rPr lang="zh-CN" altLang="en-US" sz="13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：如何形成统一实验平台？</a:t>
            </a:r>
            <a:endParaRPr lang="zh-CN" altLang="en-US" sz="13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43AC317-133A-25D7-88B5-1078C56D51FC}"/>
              </a:ext>
            </a:extLst>
          </p:cNvPr>
          <p:cNvSpPr txBox="1"/>
          <p:nvPr/>
        </p:nvSpPr>
        <p:spPr>
          <a:xfrm>
            <a:off x="3028360" y="2885972"/>
            <a:ext cx="2495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rgbClr val="C00000"/>
                </a:solidFill>
              </a:defRPr>
            </a:lvl1pPr>
          </a:lstStyle>
          <a:p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25B54BD7-D11B-9D70-86F6-6F08B7FDBD55}"/>
              </a:ext>
            </a:extLst>
          </p:cNvPr>
          <p:cNvSpPr txBox="1"/>
          <p:nvPr/>
        </p:nvSpPr>
        <p:spPr>
          <a:xfrm>
            <a:off x="3021783" y="3232568"/>
            <a:ext cx="30742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Ø"/>
              <a:defRPr sz="1400">
                <a:latin typeface="+mn-ea"/>
              </a:defRPr>
            </a:lvl1pPr>
          </a:lstStyle>
          <a:p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箭头: 下 66">
            <a:extLst>
              <a:ext uri="{FF2B5EF4-FFF2-40B4-BE49-F238E27FC236}">
                <a16:creationId xmlns:a16="http://schemas.microsoft.com/office/drawing/2014/main" id="{8D0786D6-2B6F-C268-AD1A-4DB1AB47D108}"/>
              </a:ext>
            </a:extLst>
          </p:cNvPr>
          <p:cNvSpPr/>
          <p:nvPr/>
        </p:nvSpPr>
        <p:spPr>
          <a:xfrm rot="10800000">
            <a:off x="1361403" y="3574467"/>
            <a:ext cx="350162" cy="248010"/>
          </a:xfrm>
          <a:prstGeom prst="downArrow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F295CF2-A0F9-0CE1-2A7E-F2BDEFDB0ECC}"/>
              </a:ext>
            </a:extLst>
          </p:cNvPr>
          <p:cNvSpPr txBox="1"/>
          <p:nvPr/>
        </p:nvSpPr>
        <p:spPr>
          <a:xfrm>
            <a:off x="578351" y="4016831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C7D138E2-D1DF-E970-AEB6-0F1F3C0AC5C9}"/>
              </a:ext>
            </a:extLst>
          </p:cNvPr>
          <p:cNvSpPr/>
          <p:nvPr/>
        </p:nvSpPr>
        <p:spPr>
          <a:xfrm>
            <a:off x="3355852" y="3981162"/>
            <a:ext cx="1916267" cy="379114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E98E138-CA41-BDEB-90F5-A05A3CC9B4D2}"/>
              </a:ext>
            </a:extLst>
          </p:cNvPr>
          <p:cNvSpPr txBox="1"/>
          <p:nvPr/>
        </p:nvSpPr>
        <p:spPr>
          <a:xfrm>
            <a:off x="3302252" y="4016831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3FC67FE7-1AD2-E1B7-F25D-B162217666AA}"/>
              </a:ext>
            </a:extLst>
          </p:cNvPr>
          <p:cNvSpPr/>
          <p:nvPr/>
        </p:nvSpPr>
        <p:spPr>
          <a:xfrm>
            <a:off x="578351" y="4525954"/>
            <a:ext cx="1916267" cy="379114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0F6401F-6532-57C3-4DE6-971C8C9E4CD5}"/>
              </a:ext>
            </a:extLst>
          </p:cNvPr>
          <p:cNvSpPr txBox="1"/>
          <p:nvPr/>
        </p:nvSpPr>
        <p:spPr>
          <a:xfrm>
            <a:off x="578351" y="4561623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箭头: 下 72">
            <a:extLst>
              <a:ext uri="{FF2B5EF4-FFF2-40B4-BE49-F238E27FC236}">
                <a16:creationId xmlns:a16="http://schemas.microsoft.com/office/drawing/2014/main" id="{7FB7075A-330E-BF7D-A75A-E772C179A9B4}"/>
              </a:ext>
            </a:extLst>
          </p:cNvPr>
          <p:cNvSpPr/>
          <p:nvPr/>
        </p:nvSpPr>
        <p:spPr>
          <a:xfrm rot="10800000" flipV="1">
            <a:off x="4138905" y="4382888"/>
            <a:ext cx="350162" cy="248010"/>
          </a:xfrm>
          <a:prstGeom prst="downArrow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6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1B7A5064-1B2B-691F-C1E9-87078D8D611D}"/>
              </a:ext>
            </a:extLst>
          </p:cNvPr>
          <p:cNvSpPr/>
          <p:nvPr/>
        </p:nvSpPr>
        <p:spPr>
          <a:xfrm>
            <a:off x="3355852" y="4648645"/>
            <a:ext cx="1916267" cy="793110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6843471-6F82-D4C6-EABC-0359C9BBD5B7}"/>
              </a:ext>
            </a:extLst>
          </p:cNvPr>
          <p:cNvSpPr txBox="1"/>
          <p:nvPr/>
        </p:nvSpPr>
        <p:spPr>
          <a:xfrm>
            <a:off x="3355852" y="4652333"/>
            <a:ext cx="19162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8BE36529-8D9E-752C-B960-AEBA8D0B6710}"/>
              </a:ext>
            </a:extLst>
          </p:cNvPr>
          <p:cNvSpPr txBox="1"/>
          <p:nvPr/>
        </p:nvSpPr>
        <p:spPr>
          <a:xfrm>
            <a:off x="3355852" y="4909587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0">
              <a:buFont typeface="Wingdings" panose="05000000000000000000" pitchFamily="2" charset="2"/>
              <a:buNone/>
              <a:defRPr sz="1400">
                <a:latin typeface="+mn-ea"/>
              </a:defRPr>
            </a:lvl1pPr>
          </a:lstStyle>
          <a:p>
            <a:pPr algn="ctr"/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箭头: 下 120">
            <a:extLst>
              <a:ext uri="{FF2B5EF4-FFF2-40B4-BE49-F238E27FC236}">
                <a16:creationId xmlns:a16="http://schemas.microsoft.com/office/drawing/2014/main" id="{423D9DDC-5CF7-591A-EC9A-6DBF49C6E58A}"/>
              </a:ext>
            </a:extLst>
          </p:cNvPr>
          <p:cNvSpPr/>
          <p:nvPr/>
        </p:nvSpPr>
        <p:spPr>
          <a:xfrm rot="10800000" flipV="1">
            <a:off x="1237914" y="5050360"/>
            <a:ext cx="597140" cy="422938"/>
          </a:xfrm>
          <a:prstGeom prst="downArrow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6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6BB10EF8-1428-43FF-2021-97743BD434FE}"/>
              </a:ext>
            </a:extLst>
          </p:cNvPr>
          <p:cNvSpPr txBox="1"/>
          <p:nvPr/>
        </p:nvSpPr>
        <p:spPr>
          <a:xfrm>
            <a:off x="565845" y="5684994"/>
            <a:ext cx="247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1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1C9AE5B0-8835-9E3B-2867-D5DCA3EE404A}"/>
              </a:ext>
            </a:extLst>
          </p:cNvPr>
          <p:cNvSpPr txBox="1"/>
          <p:nvPr/>
        </p:nvSpPr>
        <p:spPr>
          <a:xfrm>
            <a:off x="565845" y="6005171"/>
            <a:ext cx="2486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31DFAFCA-996E-E6F1-C9B4-ACAB3384B2CF}"/>
              </a:ext>
            </a:extLst>
          </p:cNvPr>
          <p:cNvSpPr txBox="1"/>
          <p:nvPr/>
        </p:nvSpPr>
        <p:spPr>
          <a:xfrm>
            <a:off x="2895462" y="6005171"/>
            <a:ext cx="26284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AB84A479-7AB4-5A6A-976D-57554E4D6528}"/>
              </a:ext>
            </a:extLst>
          </p:cNvPr>
          <p:cNvSpPr>
            <a:spLocks/>
          </p:cNvSpPr>
          <p:nvPr/>
        </p:nvSpPr>
        <p:spPr>
          <a:xfrm>
            <a:off x="5802901" y="2097528"/>
            <a:ext cx="5946187" cy="2285360"/>
          </a:xfrm>
          <a:prstGeom prst="roundRect">
            <a:avLst>
              <a:gd name="adj" fmla="val 625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r>
              <a:rPr lang="zh-CN" altLang="en-US" sz="130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长序列记忆衰减</a:t>
            </a:r>
            <a:endParaRPr lang="zh-CN" altLang="en-US" sz="1300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D79CD8F7-1FE3-3F33-F6E7-38F001F333A3}"/>
              </a:ext>
            </a:extLst>
          </p:cNvPr>
          <p:cNvSpPr/>
          <p:nvPr/>
        </p:nvSpPr>
        <p:spPr>
          <a:xfrm>
            <a:off x="5802901" y="2097529"/>
            <a:ext cx="843188" cy="2285360"/>
          </a:xfrm>
          <a:prstGeom prst="roundRect">
            <a:avLst>
              <a:gd name="adj" fmla="val 2824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动态场景错配</a:t>
            </a:r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C18E0B8A-432E-323B-ACA6-F51AA570FD9A}"/>
              </a:ext>
            </a:extLst>
          </p:cNvPr>
          <p:cNvSpPr txBox="1"/>
          <p:nvPr/>
        </p:nvSpPr>
        <p:spPr>
          <a:xfrm>
            <a:off x="5972428" y="2521230"/>
            <a:ext cx="522288" cy="4346126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zh-CN" altLang="en-US" sz="1800">
                <a:solidFill>
                  <a:prstClr val="white"/>
                </a:solidFill>
                <a:effectLst>
                  <a:outerShdw blurRad="50800" dist="38100" dir="5400000" algn="t" rotWithShape="0">
                    <a:srgbClr val="0B4FA1">
                      <a:lumMod val="75000"/>
                      <a:alpha val="40000"/>
                    </a:srgbClr>
                  </a:outerShdw>
                </a:effectLst>
              </a:rPr>
              <a:t>研究边界：候选架构不是最终方案</a:t>
            </a:r>
            <a:endParaRPr lang="zh-CN" altLang="en-US" sz="1800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</a:endParaRPr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15607AB9-279B-89CF-4008-612B5DA4480D}"/>
              </a:ext>
            </a:extLst>
          </p:cNvPr>
          <p:cNvSpPr>
            <a:spLocks/>
          </p:cNvSpPr>
          <p:nvPr/>
        </p:nvSpPr>
        <p:spPr>
          <a:xfrm>
            <a:off x="6760031" y="2276938"/>
            <a:ext cx="4811741" cy="747830"/>
          </a:xfrm>
          <a:prstGeom prst="roundRect">
            <a:avLst>
              <a:gd name="adj" fmla="val 2018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en-US" altLang="zh-CN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Q1</a:t>
            </a:r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：验证信号如何反馈到前馈流程？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0B43B54E-7962-8ACF-660D-727C7A64C833}"/>
              </a:ext>
            </a:extLst>
          </p:cNvPr>
          <p:cNvSpPr txBox="1"/>
          <p:nvPr/>
        </p:nvSpPr>
        <p:spPr>
          <a:xfrm>
            <a:off x="6831207" y="2319288"/>
            <a:ext cx="4649593" cy="328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Q2</a:t>
            </a:r>
            <a:r>
              <a:rPr lang="zh-CN" altLang="en-US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：长序列内存如何保持稳定？</a:t>
            </a:r>
            <a:endParaRPr lang="en-US" altLang="zh-CN" sz="14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22A2304B-0DDC-F975-EFB0-8C4134DE486E}"/>
              </a:ext>
            </a:extLst>
          </p:cNvPr>
          <p:cNvSpPr>
            <a:spLocks/>
          </p:cNvSpPr>
          <p:nvPr/>
        </p:nvSpPr>
        <p:spPr>
          <a:xfrm>
            <a:off x="6760031" y="3116304"/>
            <a:ext cx="4811741" cy="543413"/>
          </a:xfrm>
          <a:prstGeom prst="roundRect">
            <a:avLst>
              <a:gd name="adj" fmla="val 2018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EF3303DA-5495-8170-2930-DDB0387D9215}"/>
              </a:ext>
            </a:extLst>
          </p:cNvPr>
          <p:cNvSpPr txBox="1"/>
          <p:nvPr/>
        </p:nvSpPr>
        <p:spPr>
          <a:xfrm>
            <a:off x="6852967" y="3204178"/>
            <a:ext cx="4627833" cy="32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4BEFD098-C86E-F9DD-90D1-C86F8063472E}"/>
              </a:ext>
            </a:extLst>
          </p:cNvPr>
          <p:cNvSpPr>
            <a:spLocks/>
          </p:cNvSpPr>
          <p:nvPr/>
        </p:nvSpPr>
        <p:spPr>
          <a:xfrm>
            <a:off x="6760031" y="3738542"/>
            <a:ext cx="4811741" cy="543413"/>
          </a:xfrm>
          <a:prstGeom prst="roundRect">
            <a:avLst>
              <a:gd name="adj" fmla="val 2018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A8044CCF-26C6-D3AA-055F-55059422F399}"/>
              </a:ext>
            </a:extLst>
          </p:cNvPr>
          <p:cNvSpPr txBox="1"/>
          <p:nvPr/>
        </p:nvSpPr>
        <p:spPr>
          <a:xfrm>
            <a:off x="6852967" y="3826416"/>
            <a:ext cx="4718805" cy="32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8D9E184A-D7D3-987C-2CD8-6C0A680E1692}"/>
              </a:ext>
            </a:extLst>
          </p:cNvPr>
          <p:cNvSpPr>
            <a:spLocks/>
          </p:cNvSpPr>
          <p:nvPr/>
        </p:nvSpPr>
        <p:spPr>
          <a:xfrm>
            <a:off x="5802901" y="4591655"/>
            <a:ext cx="5946187" cy="899885"/>
          </a:xfrm>
          <a:prstGeom prst="roundRect">
            <a:avLst>
              <a:gd name="adj" fmla="val 2246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07D7CB76-1E83-0C46-5E27-7D8F4BB92EFE}"/>
              </a:ext>
            </a:extLst>
          </p:cNvPr>
          <p:cNvSpPr/>
          <p:nvPr/>
        </p:nvSpPr>
        <p:spPr>
          <a:xfrm>
            <a:off x="5803303" y="4591655"/>
            <a:ext cx="860538" cy="899885"/>
          </a:xfrm>
          <a:prstGeom prst="roundRect">
            <a:avLst>
              <a:gd name="adj" fmla="val 894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AACE0C18-6FB8-B994-69E5-F58A2814A02A}"/>
              </a:ext>
            </a:extLst>
          </p:cNvPr>
          <p:cNvSpPr txBox="1"/>
          <p:nvPr/>
        </p:nvSpPr>
        <p:spPr>
          <a:xfrm>
            <a:off x="5803303" y="4661173"/>
            <a:ext cx="860538" cy="3850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endParaRPr lang="zh-CN" altLang="en-US" sz="1800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A3E00A56-4288-56CE-7091-14E6B8200ABD}"/>
              </a:ext>
            </a:extLst>
          </p:cNvPr>
          <p:cNvSpPr txBox="1"/>
          <p:nvPr/>
        </p:nvSpPr>
        <p:spPr>
          <a:xfrm>
            <a:off x="6742252" y="4884300"/>
            <a:ext cx="48839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62E543F5-E662-1FEA-6659-52A867FD71F7}"/>
              </a:ext>
            </a:extLst>
          </p:cNvPr>
          <p:cNvSpPr>
            <a:spLocks/>
          </p:cNvSpPr>
          <p:nvPr/>
        </p:nvSpPr>
        <p:spPr>
          <a:xfrm>
            <a:off x="5802901" y="5628506"/>
            <a:ext cx="5946187" cy="899885"/>
          </a:xfrm>
          <a:prstGeom prst="roundRect">
            <a:avLst>
              <a:gd name="adj" fmla="val 1452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B0B640A8-38DC-EE31-50AC-58E5BCAB2B2B}"/>
              </a:ext>
            </a:extLst>
          </p:cNvPr>
          <p:cNvSpPr/>
          <p:nvPr/>
        </p:nvSpPr>
        <p:spPr>
          <a:xfrm>
            <a:off x="5803303" y="5628506"/>
            <a:ext cx="860538" cy="899885"/>
          </a:xfrm>
          <a:prstGeom prst="roundRect">
            <a:avLst>
              <a:gd name="adj" fmla="val 1171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06B8C372-BACD-16EF-565C-291C58E377C4}"/>
              </a:ext>
            </a:extLst>
          </p:cNvPr>
          <p:cNvSpPr txBox="1"/>
          <p:nvPr/>
        </p:nvSpPr>
        <p:spPr>
          <a:xfrm>
            <a:off x="5803303" y="5698024"/>
            <a:ext cx="860538" cy="3850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endParaRPr lang="zh-CN" altLang="en-US" sz="1800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94FA1A5F-D282-26A9-E5DB-641AE91E8BFC}"/>
              </a:ext>
            </a:extLst>
          </p:cNvPr>
          <p:cNvSpPr txBox="1"/>
          <p:nvPr/>
        </p:nvSpPr>
        <p:spPr>
          <a:xfrm>
            <a:off x="6742252" y="5796835"/>
            <a:ext cx="4883903" cy="3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5703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6C448-FC36-35AA-A309-8666383D1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85A692C8-69B7-DF42-1D83-830EA65885C9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1.1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756D7332-671D-7D0A-7FA8-FCC77F89DBCA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研究现状：四轴覆盖矩阵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7A6ADFC-2041-7B88-8530-65151F96F530}"/>
              </a:ext>
            </a:extLst>
          </p:cNvPr>
          <p:cNvSpPr/>
          <p:nvPr/>
        </p:nvSpPr>
        <p:spPr>
          <a:xfrm>
            <a:off x="479426" y="1159628"/>
            <a:ext cx="11217274" cy="714367"/>
          </a:xfrm>
          <a:prstGeom prst="roundRect">
            <a:avLst>
              <a:gd name="adj" fmla="val 3293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覆盖矩阵显示：现有方法在几何校验、长序列内存、多专家组合和统一平台方面覆盖不均衡。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102B6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6C15BD-FC46-FE14-9215-A260C123F22B}"/>
              </a:ext>
            </a:extLst>
          </p:cNvPr>
          <p:cNvSpPr txBox="1"/>
          <p:nvPr/>
        </p:nvSpPr>
        <p:spPr>
          <a:xfrm>
            <a:off x="833648" y="1250488"/>
            <a:ext cx="10508830" cy="53264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400" b="1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first-class</a:t>
            </a:r>
            <a:r>
              <a:rPr lang="zh-CN" altLang="en-US" sz="2400" b="1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：作为核心机制</a:t>
            </a:r>
            <a:endParaRPr lang="zh-CN" altLang="en-US" sz="2400" b="1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云PPT-演示军团1">
            <a:extLst>
              <a:ext uri="{FF2B5EF4-FFF2-40B4-BE49-F238E27FC236}">
                <a16:creationId xmlns:a16="http://schemas.microsoft.com/office/drawing/2014/main" id="{DC74C6B0-04D3-7711-BE51-FC72DFFC244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183311" y="2406157"/>
            <a:ext cx="5511947" cy="4046855"/>
          </a:xfrm>
          <a:prstGeom prst="roundRect">
            <a:avLst>
              <a:gd name="adj" fmla="val 812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altLang="zh-CN" kern="0">
                <a:solidFill>
                  <a:srgbClr val="102B68"/>
                </a:solidFill>
                <a:latin typeface="微软雅黑" panose="020B0503020204020204" pitchFamily="34" charset="-122"/>
              </a:rPr>
              <a:t>11 </a:t>
            </a:r>
            <a:r>
              <a:rPr lang="zh-CN" altLang="en-US" kern="0">
                <a:solidFill>
                  <a:srgbClr val="102B68"/>
                </a:solidFill>
                <a:latin typeface="微软雅黑" panose="020B0503020204020204" pitchFamily="34" charset="-122"/>
              </a:rPr>
              <a:t>项 </a:t>
            </a:r>
            <a:r>
              <a:rPr lang="en-US" kern="0">
                <a:solidFill>
                  <a:srgbClr val="102B68"/>
                </a:solidFill>
                <a:latin typeface="微软雅黑" panose="020B0503020204020204" pitchFamily="34" charset="-122"/>
              </a:rPr>
              <a:t>partial</a:t>
            </a:r>
            <a:endParaRPr lang="en-US" kern="0" dirty="0">
              <a:solidFill>
                <a:srgbClr val="102B68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幻云PPT-演示军团19">
            <a:extLst>
              <a:ext uri="{FF2B5EF4-FFF2-40B4-BE49-F238E27FC236}">
                <a16:creationId xmlns:a16="http://schemas.microsoft.com/office/drawing/2014/main" id="{E8D00879-6D88-082B-87D9-96FE84AF528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183312" y="1964855"/>
            <a:ext cx="5527819" cy="578212"/>
          </a:xfrm>
          <a:prstGeom prst="roundRect">
            <a:avLst>
              <a:gd name="adj" fmla="val 5827"/>
            </a:avLst>
          </a:prstGeom>
          <a:solidFill>
            <a:schemeClr val="accent1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lIns="76535" tIns="38268" rIns="76535" bIns="38268" rtlCol="0" anchor="ctr"/>
          <a:lstStyle/>
          <a:p>
            <a:pPr algn="ctr"/>
            <a:r>
              <a:rPr lang="en-US" altLang="zh-CN" sz="2400" b="1" kern="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partial</a:t>
            </a:r>
            <a:r>
              <a:rPr lang="zh-CN" altLang="en-US" sz="2400" b="1" kern="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：局部涉及</a:t>
            </a:r>
            <a:endParaRPr lang="en-US" altLang="zh-CN" sz="2400" b="1" kern="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graphicFrame>
        <p:nvGraphicFramePr>
          <p:cNvPr id="8" name="幻云PPT-演示军团30">
            <a:extLst>
              <a:ext uri="{FF2B5EF4-FFF2-40B4-BE49-F238E27FC236}">
                <a16:creationId xmlns:a16="http://schemas.microsoft.com/office/drawing/2014/main" id="{C8695655-0342-72DF-8869-FE6EB9D41F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3799321"/>
              </p:ext>
            </p:extLst>
          </p:nvPr>
        </p:nvGraphicFramePr>
        <p:xfrm>
          <a:off x="6394475" y="2691144"/>
          <a:ext cx="5086667" cy="18480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1" name="幻云PPT-演示军团1">
            <a:extLst>
              <a:ext uri="{FF2B5EF4-FFF2-40B4-BE49-F238E27FC236}">
                <a16:creationId xmlns:a16="http://schemas.microsoft.com/office/drawing/2014/main" id="{7CFF70C4-586B-70DD-ECB9-5382CAE9B58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92809" y="2000799"/>
            <a:ext cx="5493285" cy="2062731"/>
          </a:xfrm>
          <a:prstGeom prst="roundRect">
            <a:avLst>
              <a:gd name="adj" fmla="val 617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6 </a:t>
            </a: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项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first-class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02B68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  <p:sp>
        <p:nvSpPr>
          <p:cNvPr id="12" name="幻云PPT-演示军团19">
            <a:extLst>
              <a:ext uri="{FF2B5EF4-FFF2-40B4-BE49-F238E27FC236}">
                <a16:creationId xmlns:a16="http://schemas.microsoft.com/office/drawing/2014/main" id="{FA1B6605-A767-5DCD-85F8-936E73DFA66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92810" y="1979405"/>
            <a:ext cx="5493284" cy="453490"/>
          </a:xfrm>
          <a:prstGeom prst="roundRect">
            <a:avLst>
              <a:gd name="adj" fmla="val 3727"/>
            </a:avLst>
          </a:prstGeom>
          <a:solidFill>
            <a:schemeClr val="accent1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lIns="76535" tIns="38268" rIns="76535" bIns="38268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absent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：缺少明确接口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102B6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3" name="幻云PPT-演示军团1">
            <a:extLst>
              <a:ext uri="{FF2B5EF4-FFF2-40B4-BE49-F238E27FC236}">
                <a16:creationId xmlns:a16="http://schemas.microsoft.com/office/drawing/2014/main" id="{DE03F39A-773D-E1A6-3B18-BB6342F826F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92809" y="4388399"/>
            <a:ext cx="5493285" cy="2062731"/>
          </a:xfrm>
          <a:prstGeom prst="roundRect">
            <a:avLst>
              <a:gd name="adj" fmla="val 617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kern="0" dirty="0">
              <a:solidFill>
                <a:srgbClr val="E5EDF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幻云PPT-演示军团19">
            <a:extLst>
              <a:ext uri="{FF2B5EF4-FFF2-40B4-BE49-F238E27FC236}">
                <a16:creationId xmlns:a16="http://schemas.microsoft.com/office/drawing/2014/main" id="{FC9ABA25-F49A-5E87-1639-F3F10118BDB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92810" y="4367005"/>
            <a:ext cx="5493284" cy="453490"/>
          </a:xfrm>
          <a:prstGeom prst="roundRect">
            <a:avLst>
              <a:gd name="adj" fmla="val 3727"/>
            </a:avLst>
          </a:prstGeom>
          <a:solidFill>
            <a:schemeClr val="accent1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lIns="76535" tIns="38268" rIns="76535" bIns="38268" rtlCol="0" anchor="ctr"/>
          <a:lstStyle/>
          <a:p>
            <a:pPr algn="ctr"/>
            <a:endParaRPr lang="en-US" altLang="zh-CN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5" name="幻云PPT-演示军团14">
            <a:extLst>
              <a:ext uri="{FF2B5EF4-FFF2-40B4-BE49-F238E27FC236}">
                <a16:creationId xmlns:a16="http://schemas.microsoft.com/office/drawing/2014/main" id="{040B9002-B667-5EE7-8CE0-771063B5BDFC}"/>
              </a:ext>
            </a:extLst>
          </p:cNvPr>
          <p:cNvSpPr/>
          <p:nvPr/>
        </p:nvSpPr>
        <p:spPr>
          <a:xfrm>
            <a:off x="658812" y="2640114"/>
            <a:ext cx="5113338" cy="1240786"/>
          </a:xfrm>
          <a:prstGeom prst="roundRect">
            <a:avLst>
              <a:gd name="adj" fmla="val 3651"/>
            </a:avLst>
          </a:prstGeom>
          <a:solidFill>
            <a:schemeClr val="accent3">
              <a:alpha val="30000"/>
            </a:schemeClr>
          </a:solidFill>
          <a:ln w="9525" cap="flat" cmpd="sng" algn="ctr">
            <a:solidFill>
              <a:schemeClr val="accent1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just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b="0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4 </a:t>
            </a:r>
            <a:r>
              <a:rPr kumimoji="0" lang="zh-CN" altLang="en-US" sz="1300" b="0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项 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absent</a:t>
            </a:r>
            <a:endParaRPr kumimoji="0" lang="en-US" sz="1300" b="0" i="0" u="none" strike="noStrike" kern="0" cap="none" spc="0" normalizeH="0" baseline="0" noProof="0" dirty="0">
              <a:ln>
                <a:noFill/>
              </a:ln>
              <a:solidFill>
                <a:srgbClr val="102B68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幻云PPT-演示军团7">
            <a:extLst>
              <a:ext uri="{FF2B5EF4-FFF2-40B4-BE49-F238E27FC236}">
                <a16:creationId xmlns:a16="http://schemas.microsoft.com/office/drawing/2014/main" id="{D3826F87-801A-6A84-6749-4511D4D9615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48280" y="2737569"/>
            <a:ext cx="4799485" cy="707700"/>
          </a:xfrm>
          <a:prstGeom prst="rect">
            <a:avLst/>
          </a:prstGeom>
          <a:noFill/>
          <a:effectLst/>
        </p:spPr>
        <p:txBody>
          <a:bodyPr wrap="square" lIns="70363" tIns="35182" rIns="70363" bIns="35182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R" panose="00020600040101010101" pitchFamily="18" charset="-122"/>
              </a:rPr>
              <a:t>结论：候选架构与平台建设应服务系统比较，而不是单点性能宣称。</a:t>
            </a:r>
            <a:endParaRPr lang="en-US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R" panose="00020600040101010101" pitchFamily="18" charset="-122"/>
            </a:endParaRPr>
          </a:p>
        </p:txBody>
      </p:sp>
      <p:sp>
        <p:nvSpPr>
          <p:cNvPr id="17" name="幻云PPT-演示军团14">
            <a:extLst>
              <a:ext uri="{FF2B5EF4-FFF2-40B4-BE49-F238E27FC236}">
                <a16:creationId xmlns:a16="http://schemas.microsoft.com/office/drawing/2014/main" id="{B35ACE92-173B-D8DC-892C-AE6C0EB22421}"/>
              </a:ext>
            </a:extLst>
          </p:cNvPr>
          <p:cNvSpPr/>
          <p:nvPr/>
        </p:nvSpPr>
        <p:spPr>
          <a:xfrm>
            <a:off x="658812" y="5015559"/>
            <a:ext cx="5113338" cy="1240786"/>
          </a:xfrm>
          <a:prstGeom prst="roundRect">
            <a:avLst>
              <a:gd name="adj" fmla="val 3651"/>
            </a:avLst>
          </a:prstGeom>
          <a:solidFill>
            <a:schemeClr val="accent3">
              <a:alpha val="30000"/>
            </a:schemeClr>
          </a:solidFill>
          <a:ln w="9525" cap="flat" cmpd="sng" algn="ctr">
            <a:solidFill>
              <a:schemeClr val="accent1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幻云PPT-演示军团7">
            <a:extLst>
              <a:ext uri="{FF2B5EF4-FFF2-40B4-BE49-F238E27FC236}">
                <a16:creationId xmlns:a16="http://schemas.microsoft.com/office/drawing/2014/main" id="{4E9E99BE-FA2A-1B93-278B-582988BCEB65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48280" y="5113014"/>
            <a:ext cx="4799485" cy="375302"/>
          </a:xfrm>
          <a:prstGeom prst="rect">
            <a:avLst/>
          </a:prstGeom>
          <a:noFill/>
          <a:effectLst/>
        </p:spPr>
        <p:txBody>
          <a:bodyPr wrap="square" lIns="70363" tIns="35182" rIns="70363" bIns="35182" rtlCol="0">
            <a:spAutoFit/>
          </a:bodyPr>
          <a:lstStyle/>
          <a:p>
            <a:pPr>
              <a:lnSpc>
                <a:spcPct val="120000"/>
              </a:lnSpc>
            </a:pPr>
            <a:endParaRPr 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R" panose="00020600040101010101" pitchFamily="18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1305C0-FA4C-C4B9-A7FA-F82B3E6820AA}"/>
              </a:ext>
            </a:extLst>
          </p:cNvPr>
          <p:cNvSpPr/>
          <p:nvPr/>
        </p:nvSpPr>
        <p:spPr>
          <a:xfrm>
            <a:off x="889000" y="1587500"/>
            <a:ext cx="10414000" cy="450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4E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EA1EFE9-E2EC-354C-03AB-6037565904B8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372" y="1587500"/>
            <a:ext cx="8247256" cy="450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047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2E450-5FC0-8ED5-CA22-DB453C345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0815A518-D4FF-BF83-67B8-80B3B6DFEB2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1.1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A36E4FF5-8E54-C76A-8E98-5403EBB7F367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工具链空白：支柱 </a:t>
            </a:r>
            <a:r>
              <a:rPr lang="en-US" altLang="zh-CN" sz="2800" b="1">
                <a:solidFill>
                  <a:schemeClr val="accent1"/>
                </a:solidFill>
              </a:rPr>
              <a:t>B </a:t>
            </a:r>
            <a:r>
              <a:rPr lang="zh-CN" altLang="en-US" sz="2800" b="1">
                <a:solidFill>
                  <a:schemeClr val="accent1"/>
                </a:solidFill>
              </a:rPr>
              <a:t>的动机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0E91F20A-1575-F121-A924-413A88AC7D8B}"/>
              </a:ext>
            </a:extLst>
          </p:cNvPr>
          <p:cNvSpPr>
            <a:spLocks/>
          </p:cNvSpPr>
          <p:nvPr/>
        </p:nvSpPr>
        <p:spPr>
          <a:xfrm>
            <a:off x="442912" y="3898080"/>
            <a:ext cx="5217291" cy="1621143"/>
          </a:xfrm>
          <a:prstGeom prst="roundRect">
            <a:avLst>
              <a:gd name="adj" fmla="val 608"/>
            </a:avLst>
          </a:prstGeom>
          <a:solidFill>
            <a:schemeClr val="accent2">
              <a:lumMod val="20000"/>
              <a:lumOff val="80000"/>
              <a:alpha val="10000"/>
            </a:schemeClr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C21BFD11-DA2E-7DC4-E821-490FA876CC08}"/>
              </a:ext>
            </a:extLst>
          </p:cNvPr>
          <p:cNvSpPr>
            <a:spLocks/>
          </p:cNvSpPr>
          <p:nvPr/>
        </p:nvSpPr>
        <p:spPr>
          <a:xfrm>
            <a:off x="442913" y="1143279"/>
            <a:ext cx="11306175" cy="815669"/>
          </a:xfrm>
          <a:prstGeom prst="roundRect">
            <a:avLst>
              <a:gd name="adj" fmla="val 3304"/>
            </a:avLst>
          </a:prstGeom>
          <a:solidFill>
            <a:schemeClr val="accent3"/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723900" sx="102000" sy="102000" algn="ctr" rotWithShape="0">
              <a:srgbClr val="1E2B4D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35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当前工具链主要瓶颈不在模型数量，而在统一入口、统一格式和统一实验记录不足。</a:t>
            </a:r>
            <a:endParaRPr lang="zh-CN" altLang="en-US" sz="1350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D288FDB2-C705-78E0-C6C8-3F83F5513342}"/>
              </a:ext>
            </a:extLst>
          </p:cNvPr>
          <p:cNvSpPr>
            <a:spLocks/>
          </p:cNvSpPr>
          <p:nvPr/>
        </p:nvSpPr>
        <p:spPr>
          <a:xfrm>
            <a:off x="442912" y="2097528"/>
            <a:ext cx="5217291" cy="1467426"/>
          </a:xfrm>
          <a:prstGeom prst="roundRect">
            <a:avLst>
              <a:gd name="adj" fmla="val 907"/>
            </a:avLst>
          </a:prstGeom>
          <a:solidFill>
            <a:schemeClr val="accent2">
              <a:lumMod val="20000"/>
              <a:lumOff val="80000"/>
              <a:alpha val="10000"/>
            </a:schemeClr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r>
              <a:rPr lang="zh-CN" altLang="en-US" sz="130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不同仓库、环境与脚本彼此割裂</a:t>
            </a:r>
            <a:endParaRPr lang="zh-CN" altLang="en-US" sz="1300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361955CF-3B6D-3012-9070-DB485008F888}"/>
              </a:ext>
            </a:extLst>
          </p:cNvPr>
          <p:cNvCxnSpPr>
            <a:cxnSpLocks/>
          </p:cNvCxnSpPr>
          <p:nvPr/>
        </p:nvCxnSpPr>
        <p:spPr>
          <a:xfrm>
            <a:off x="2947146" y="2158424"/>
            <a:ext cx="0" cy="1406529"/>
          </a:xfrm>
          <a:prstGeom prst="line">
            <a:avLst/>
          </a:prstGeom>
          <a:noFill/>
          <a:ln w="3175" cap="flat" cmpd="sng" algn="ctr">
            <a:solidFill>
              <a:srgbClr val="C00000">
                <a:alpha val="50000"/>
              </a:srgbClr>
            </a:solidFill>
            <a:prstDash val="solid"/>
            <a:miter lim="800000"/>
          </a:ln>
          <a:effectLst/>
        </p:spPr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5C0A5391-6045-1C31-7FCB-CB4D27A017D4}"/>
              </a:ext>
            </a:extLst>
          </p:cNvPr>
          <p:cNvSpPr/>
          <p:nvPr/>
        </p:nvSpPr>
        <p:spPr>
          <a:xfrm>
            <a:off x="578351" y="3981162"/>
            <a:ext cx="1916267" cy="379114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5E0D0BA-62C5-174A-30D8-CB9162793FDE}"/>
              </a:ext>
            </a:extLst>
          </p:cNvPr>
          <p:cNvCxnSpPr>
            <a:cxnSpLocks/>
          </p:cNvCxnSpPr>
          <p:nvPr/>
        </p:nvCxnSpPr>
        <p:spPr>
          <a:xfrm>
            <a:off x="2630432" y="4170719"/>
            <a:ext cx="566056" cy="0"/>
          </a:xfrm>
          <a:prstGeom prst="straightConnector1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3D044C7E-E63A-763A-29CD-D5ED083D1C2E}"/>
              </a:ext>
            </a:extLst>
          </p:cNvPr>
          <p:cNvSpPr>
            <a:spLocks/>
          </p:cNvSpPr>
          <p:nvPr/>
        </p:nvSpPr>
        <p:spPr>
          <a:xfrm>
            <a:off x="442912" y="5659921"/>
            <a:ext cx="5217291" cy="875007"/>
          </a:xfrm>
          <a:prstGeom prst="roundRect">
            <a:avLst>
              <a:gd name="adj" fmla="val 2889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E19322-D4E1-0589-906D-251D75916A5C}"/>
              </a:ext>
            </a:extLst>
          </p:cNvPr>
          <p:cNvSpPr txBox="1"/>
          <p:nvPr/>
        </p:nvSpPr>
        <p:spPr>
          <a:xfrm>
            <a:off x="682230" y="1154800"/>
            <a:ext cx="11041719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模型入口分散</a:t>
            </a:r>
            <a:endParaRPr lang="zh-CN" altLang="en-US" sz="2000" b="1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1D84098-CB05-4CB8-09A7-DE6B5E8EBC79}"/>
              </a:ext>
            </a:extLst>
          </p:cNvPr>
          <p:cNvSpPr txBox="1"/>
          <p:nvPr/>
        </p:nvSpPr>
        <p:spPr>
          <a:xfrm>
            <a:off x="485617" y="2142325"/>
            <a:ext cx="247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日志口径不一</a:t>
            </a:r>
            <a:endParaRPr lang="zh-CN" altLang="en-US" sz="14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11DC397-6D30-2F7F-969D-55755C0B3F6C}"/>
              </a:ext>
            </a:extLst>
          </p:cNvPr>
          <p:cNvSpPr txBox="1"/>
          <p:nvPr/>
        </p:nvSpPr>
        <p:spPr>
          <a:xfrm>
            <a:off x="485617" y="2423357"/>
            <a:ext cx="2486884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3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平台支柱 </a:t>
            </a:r>
            <a:r>
              <a:rPr lang="en-US" altLang="zh-CN" sz="13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3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用于降低比较成本，并支撑支柱 </a:t>
            </a:r>
            <a:r>
              <a:rPr lang="en-US" altLang="zh-CN" sz="13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3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的可验证性。</a:t>
            </a:r>
            <a:endParaRPr lang="zh-CN" altLang="en-US" sz="13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9E82F34-4BD5-F9F3-0E36-24637AA410B1}"/>
              </a:ext>
            </a:extLst>
          </p:cNvPr>
          <p:cNvSpPr txBox="1"/>
          <p:nvPr/>
        </p:nvSpPr>
        <p:spPr>
          <a:xfrm>
            <a:off x="485617" y="2691875"/>
            <a:ext cx="2486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246AC78-7BF7-6891-4127-BE044FE9A664}"/>
              </a:ext>
            </a:extLst>
          </p:cNvPr>
          <p:cNvSpPr txBox="1"/>
          <p:nvPr/>
        </p:nvSpPr>
        <p:spPr>
          <a:xfrm>
            <a:off x="485617" y="2935085"/>
            <a:ext cx="247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C15612B-7E1F-0F54-CA7B-0DCE6DDCBDD4}"/>
              </a:ext>
            </a:extLst>
          </p:cNvPr>
          <p:cNvSpPr txBox="1"/>
          <p:nvPr/>
        </p:nvSpPr>
        <p:spPr>
          <a:xfrm>
            <a:off x="485617" y="3257176"/>
            <a:ext cx="2486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90C8F55-AADE-3D58-4658-D557F50B51F6}"/>
              </a:ext>
            </a:extLst>
          </p:cNvPr>
          <p:cNvSpPr txBox="1"/>
          <p:nvPr/>
        </p:nvSpPr>
        <p:spPr>
          <a:xfrm>
            <a:off x="3028360" y="2142325"/>
            <a:ext cx="2474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耗时、状态、失败原因缺少统一记录</a:t>
            </a:r>
            <a:endParaRPr lang="zh-CN" altLang="en-US" sz="14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E8571E9-ADA9-FD8C-CA2B-954D8157F78D}"/>
              </a:ext>
            </a:extLst>
          </p:cNvPr>
          <p:cNvSpPr txBox="1"/>
          <p:nvPr/>
        </p:nvSpPr>
        <p:spPr>
          <a:xfrm>
            <a:off x="3021783" y="2423357"/>
            <a:ext cx="2486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43AC317-133A-25D7-88B5-1078C56D51FC}"/>
              </a:ext>
            </a:extLst>
          </p:cNvPr>
          <p:cNvSpPr txBox="1"/>
          <p:nvPr/>
        </p:nvSpPr>
        <p:spPr>
          <a:xfrm>
            <a:off x="3028360" y="2885972"/>
            <a:ext cx="2495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rgbClr val="C00000"/>
                </a:solidFill>
              </a:defRPr>
            </a:lvl1pPr>
          </a:lstStyle>
          <a:p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25B54BD7-D11B-9D70-86F6-6F08B7FDBD55}"/>
              </a:ext>
            </a:extLst>
          </p:cNvPr>
          <p:cNvSpPr txBox="1"/>
          <p:nvPr/>
        </p:nvSpPr>
        <p:spPr>
          <a:xfrm>
            <a:off x="3021783" y="3232568"/>
            <a:ext cx="30742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Ø"/>
              <a:defRPr sz="1400">
                <a:latin typeface="+mn-ea"/>
              </a:defRPr>
            </a:lvl1pPr>
          </a:lstStyle>
          <a:p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箭头: 下 66">
            <a:extLst>
              <a:ext uri="{FF2B5EF4-FFF2-40B4-BE49-F238E27FC236}">
                <a16:creationId xmlns:a16="http://schemas.microsoft.com/office/drawing/2014/main" id="{8D0786D6-2B6F-C268-AD1A-4DB1AB47D108}"/>
              </a:ext>
            </a:extLst>
          </p:cNvPr>
          <p:cNvSpPr/>
          <p:nvPr/>
        </p:nvSpPr>
        <p:spPr>
          <a:xfrm rot="10800000">
            <a:off x="1361403" y="3574467"/>
            <a:ext cx="350162" cy="248010"/>
          </a:xfrm>
          <a:prstGeom prst="downArrow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F295CF2-A0F9-0CE1-2A7E-F2BDEFDB0ECC}"/>
              </a:ext>
            </a:extLst>
          </p:cNvPr>
          <p:cNvSpPr txBox="1"/>
          <p:nvPr/>
        </p:nvSpPr>
        <p:spPr>
          <a:xfrm>
            <a:off x="578351" y="4016831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C7D138E2-D1DF-E970-AEB6-0F1F3C0AC5C9}"/>
              </a:ext>
            </a:extLst>
          </p:cNvPr>
          <p:cNvSpPr/>
          <p:nvPr/>
        </p:nvSpPr>
        <p:spPr>
          <a:xfrm>
            <a:off x="3355852" y="3981162"/>
            <a:ext cx="1916267" cy="379114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E98E138-CA41-BDEB-90F5-A05A3CC9B4D2}"/>
              </a:ext>
            </a:extLst>
          </p:cNvPr>
          <p:cNvSpPr txBox="1"/>
          <p:nvPr/>
        </p:nvSpPr>
        <p:spPr>
          <a:xfrm>
            <a:off x="3302252" y="4016831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3FC67FE7-1AD2-E1B7-F25D-B162217666AA}"/>
              </a:ext>
            </a:extLst>
          </p:cNvPr>
          <p:cNvSpPr/>
          <p:nvPr/>
        </p:nvSpPr>
        <p:spPr>
          <a:xfrm>
            <a:off x="578351" y="4525954"/>
            <a:ext cx="1916267" cy="379114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0F6401F-6532-57C3-4DE6-971C8C9E4CD5}"/>
              </a:ext>
            </a:extLst>
          </p:cNvPr>
          <p:cNvSpPr txBox="1"/>
          <p:nvPr/>
        </p:nvSpPr>
        <p:spPr>
          <a:xfrm>
            <a:off x="578351" y="4561623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箭头: 下 72">
            <a:extLst>
              <a:ext uri="{FF2B5EF4-FFF2-40B4-BE49-F238E27FC236}">
                <a16:creationId xmlns:a16="http://schemas.microsoft.com/office/drawing/2014/main" id="{7FB7075A-330E-BF7D-A75A-E772C179A9B4}"/>
              </a:ext>
            </a:extLst>
          </p:cNvPr>
          <p:cNvSpPr/>
          <p:nvPr/>
        </p:nvSpPr>
        <p:spPr>
          <a:xfrm rot="10800000" flipV="1">
            <a:off x="4138905" y="4382888"/>
            <a:ext cx="350162" cy="248010"/>
          </a:xfrm>
          <a:prstGeom prst="downArrow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6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1B7A5064-1B2B-691F-C1E9-87078D8D611D}"/>
              </a:ext>
            </a:extLst>
          </p:cNvPr>
          <p:cNvSpPr/>
          <p:nvPr/>
        </p:nvSpPr>
        <p:spPr>
          <a:xfrm>
            <a:off x="3355852" y="4648645"/>
            <a:ext cx="1916267" cy="793110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6843471-6F82-D4C6-EABC-0359C9BBD5B7}"/>
              </a:ext>
            </a:extLst>
          </p:cNvPr>
          <p:cNvSpPr txBox="1"/>
          <p:nvPr/>
        </p:nvSpPr>
        <p:spPr>
          <a:xfrm>
            <a:off x="3355852" y="4652333"/>
            <a:ext cx="19162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8BE36529-8D9E-752C-B960-AEBA8D0B6710}"/>
              </a:ext>
            </a:extLst>
          </p:cNvPr>
          <p:cNvSpPr txBox="1"/>
          <p:nvPr/>
        </p:nvSpPr>
        <p:spPr>
          <a:xfrm>
            <a:off x="3355852" y="4909587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0">
              <a:buFont typeface="Wingdings" panose="05000000000000000000" pitchFamily="2" charset="2"/>
              <a:buNone/>
              <a:defRPr sz="1400">
                <a:latin typeface="+mn-ea"/>
              </a:defRPr>
            </a:lvl1pPr>
          </a:lstStyle>
          <a:p>
            <a:pPr algn="ctr"/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箭头: 下 120">
            <a:extLst>
              <a:ext uri="{FF2B5EF4-FFF2-40B4-BE49-F238E27FC236}">
                <a16:creationId xmlns:a16="http://schemas.microsoft.com/office/drawing/2014/main" id="{423D9DDC-5CF7-591A-EC9A-6DBF49C6E58A}"/>
              </a:ext>
            </a:extLst>
          </p:cNvPr>
          <p:cNvSpPr/>
          <p:nvPr/>
        </p:nvSpPr>
        <p:spPr>
          <a:xfrm rot="10800000" flipV="1">
            <a:off x="1237914" y="5050360"/>
            <a:ext cx="597140" cy="422938"/>
          </a:xfrm>
          <a:prstGeom prst="downArrow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6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6BB10EF8-1428-43FF-2021-97743BD434FE}"/>
              </a:ext>
            </a:extLst>
          </p:cNvPr>
          <p:cNvSpPr txBox="1"/>
          <p:nvPr/>
        </p:nvSpPr>
        <p:spPr>
          <a:xfrm>
            <a:off x="565845" y="5684994"/>
            <a:ext cx="247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1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1C9AE5B0-8835-9E3B-2867-D5DCA3EE404A}"/>
              </a:ext>
            </a:extLst>
          </p:cNvPr>
          <p:cNvSpPr txBox="1"/>
          <p:nvPr/>
        </p:nvSpPr>
        <p:spPr>
          <a:xfrm>
            <a:off x="565845" y="6005171"/>
            <a:ext cx="2486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31DFAFCA-996E-E6F1-C9B4-ACAB3384B2CF}"/>
              </a:ext>
            </a:extLst>
          </p:cNvPr>
          <p:cNvSpPr txBox="1"/>
          <p:nvPr/>
        </p:nvSpPr>
        <p:spPr>
          <a:xfrm>
            <a:off x="2895462" y="6005171"/>
            <a:ext cx="26284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AB84A479-7AB4-5A6A-976D-57554E4D6528}"/>
              </a:ext>
            </a:extLst>
          </p:cNvPr>
          <p:cNvSpPr>
            <a:spLocks/>
          </p:cNvSpPr>
          <p:nvPr/>
        </p:nvSpPr>
        <p:spPr>
          <a:xfrm>
            <a:off x="5802901" y="2097528"/>
            <a:ext cx="5946187" cy="2285360"/>
          </a:xfrm>
          <a:prstGeom prst="roundRect">
            <a:avLst>
              <a:gd name="adj" fmla="val 625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r>
              <a:rPr lang="zh-CN" altLang="en-US" sz="130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输出格式异构</a:t>
            </a:r>
            <a:endParaRPr lang="zh-CN" altLang="en-US" sz="1300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D79CD8F7-1FE3-3F33-F6E7-38F001F333A3}"/>
              </a:ext>
            </a:extLst>
          </p:cNvPr>
          <p:cNvSpPr/>
          <p:nvPr/>
        </p:nvSpPr>
        <p:spPr>
          <a:xfrm>
            <a:off x="5802901" y="2097529"/>
            <a:ext cx="843188" cy="2285360"/>
          </a:xfrm>
          <a:prstGeom prst="roundRect">
            <a:avLst>
              <a:gd name="adj" fmla="val 2824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altLang="zh-CN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pointmap</a:t>
            </a:r>
            <a:r>
              <a:rPr lang="zh-CN" altLang="en-US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mesh</a:t>
            </a:r>
            <a:r>
              <a:rPr lang="zh-CN" altLang="en-US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、动态轨迹难以横向比较</a:t>
            </a:r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C18E0B8A-432E-323B-ACA6-F51AA570FD9A}"/>
              </a:ext>
            </a:extLst>
          </p:cNvPr>
          <p:cNvSpPr txBox="1"/>
          <p:nvPr/>
        </p:nvSpPr>
        <p:spPr>
          <a:xfrm>
            <a:off x="5972428" y="2521230"/>
            <a:ext cx="522288" cy="3850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endParaRPr lang="zh-CN" altLang="en-US" sz="1800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</a:endParaRPr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15607AB9-279B-89CF-4008-612B5DA4480D}"/>
              </a:ext>
            </a:extLst>
          </p:cNvPr>
          <p:cNvSpPr>
            <a:spLocks/>
          </p:cNvSpPr>
          <p:nvPr/>
        </p:nvSpPr>
        <p:spPr>
          <a:xfrm>
            <a:off x="6760031" y="2276938"/>
            <a:ext cx="4811741" cy="747830"/>
          </a:xfrm>
          <a:prstGeom prst="roundRect">
            <a:avLst>
              <a:gd name="adj" fmla="val 2018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平台任务：统一 </a:t>
            </a:r>
            <a:r>
              <a:rPr lang="en-US" altLang="zh-CN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job / status / scene_meta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0B43B54E-7962-8ACF-660D-727C7A64C833}"/>
              </a:ext>
            </a:extLst>
          </p:cNvPr>
          <p:cNvSpPr txBox="1"/>
          <p:nvPr/>
        </p:nvSpPr>
        <p:spPr>
          <a:xfrm>
            <a:off x="6831207" y="2319288"/>
            <a:ext cx="4649593" cy="328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支撑作用：降低比较成本</a:t>
            </a:r>
            <a:endParaRPr lang="en-US" altLang="zh-CN" sz="14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22A2304B-0DDC-F975-EFB0-8C4134DE486E}"/>
              </a:ext>
            </a:extLst>
          </p:cNvPr>
          <p:cNvSpPr>
            <a:spLocks/>
          </p:cNvSpPr>
          <p:nvPr/>
        </p:nvSpPr>
        <p:spPr>
          <a:xfrm>
            <a:off x="6760031" y="3116304"/>
            <a:ext cx="4811741" cy="543413"/>
          </a:xfrm>
          <a:prstGeom prst="roundRect">
            <a:avLst>
              <a:gd name="adj" fmla="val 2018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EF3303DA-5495-8170-2930-DDB0387D9215}"/>
              </a:ext>
            </a:extLst>
          </p:cNvPr>
          <p:cNvSpPr txBox="1"/>
          <p:nvPr/>
        </p:nvSpPr>
        <p:spPr>
          <a:xfrm>
            <a:off x="6852967" y="3204178"/>
            <a:ext cx="4627833" cy="32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4BEFD098-C86E-F9DD-90D1-C86F8063472E}"/>
              </a:ext>
            </a:extLst>
          </p:cNvPr>
          <p:cNvSpPr>
            <a:spLocks/>
          </p:cNvSpPr>
          <p:nvPr/>
        </p:nvSpPr>
        <p:spPr>
          <a:xfrm>
            <a:off x="6760031" y="3738542"/>
            <a:ext cx="4811741" cy="543413"/>
          </a:xfrm>
          <a:prstGeom prst="roundRect">
            <a:avLst>
              <a:gd name="adj" fmla="val 2018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A8044CCF-26C6-D3AA-055F-55059422F399}"/>
              </a:ext>
            </a:extLst>
          </p:cNvPr>
          <p:cNvSpPr txBox="1"/>
          <p:nvPr/>
        </p:nvSpPr>
        <p:spPr>
          <a:xfrm>
            <a:off x="6852967" y="3826416"/>
            <a:ext cx="4718805" cy="32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8D9E184A-D7D3-987C-2CD8-6C0A680E1692}"/>
              </a:ext>
            </a:extLst>
          </p:cNvPr>
          <p:cNvSpPr>
            <a:spLocks/>
          </p:cNvSpPr>
          <p:nvPr/>
        </p:nvSpPr>
        <p:spPr>
          <a:xfrm>
            <a:off x="5802901" y="4591655"/>
            <a:ext cx="5946187" cy="899885"/>
          </a:xfrm>
          <a:prstGeom prst="roundRect">
            <a:avLst>
              <a:gd name="adj" fmla="val 2246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07D7CB76-1E83-0C46-5E27-7D8F4BB92EFE}"/>
              </a:ext>
            </a:extLst>
          </p:cNvPr>
          <p:cNvSpPr/>
          <p:nvPr/>
        </p:nvSpPr>
        <p:spPr>
          <a:xfrm>
            <a:off x="5803303" y="4591655"/>
            <a:ext cx="860538" cy="899885"/>
          </a:xfrm>
          <a:prstGeom prst="roundRect">
            <a:avLst>
              <a:gd name="adj" fmla="val 894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AACE0C18-6FB8-B994-69E5-F58A2814A02A}"/>
              </a:ext>
            </a:extLst>
          </p:cNvPr>
          <p:cNvSpPr txBox="1"/>
          <p:nvPr/>
        </p:nvSpPr>
        <p:spPr>
          <a:xfrm>
            <a:off x="5803303" y="4661173"/>
            <a:ext cx="860538" cy="3850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endParaRPr lang="zh-CN" altLang="en-US" sz="1800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A3E00A56-4288-56CE-7091-14E6B8200ABD}"/>
              </a:ext>
            </a:extLst>
          </p:cNvPr>
          <p:cNvSpPr txBox="1"/>
          <p:nvPr/>
        </p:nvSpPr>
        <p:spPr>
          <a:xfrm>
            <a:off x="6742252" y="4884300"/>
            <a:ext cx="48839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62E543F5-E662-1FEA-6659-52A867FD71F7}"/>
              </a:ext>
            </a:extLst>
          </p:cNvPr>
          <p:cNvSpPr>
            <a:spLocks/>
          </p:cNvSpPr>
          <p:nvPr/>
        </p:nvSpPr>
        <p:spPr>
          <a:xfrm>
            <a:off x="5802901" y="5628506"/>
            <a:ext cx="5946187" cy="899885"/>
          </a:xfrm>
          <a:prstGeom prst="roundRect">
            <a:avLst>
              <a:gd name="adj" fmla="val 1452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B0B640A8-38DC-EE31-50AC-58E5BCAB2B2B}"/>
              </a:ext>
            </a:extLst>
          </p:cNvPr>
          <p:cNvSpPr/>
          <p:nvPr/>
        </p:nvSpPr>
        <p:spPr>
          <a:xfrm>
            <a:off x="5803303" y="5628506"/>
            <a:ext cx="860538" cy="899885"/>
          </a:xfrm>
          <a:prstGeom prst="roundRect">
            <a:avLst>
              <a:gd name="adj" fmla="val 1171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06B8C372-BACD-16EF-565C-291C58E377C4}"/>
              </a:ext>
            </a:extLst>
          </p:cNvPr>
          <p:cNvSpPr txBox="1"/>
          <p:nvPr/>
        </p:nvSpPr>
        <p:spPr>
          <a:xfrm>
            <a:off x="5803303" y="5698024"/>
            <a:ext cx="860538" cy="3850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endParaRPr lang="zh-CN" altLang="en-US" sz="1800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94FA1A5F-D282-26A9-E5DB-641AE91E8BFC}"/>
              </a:ext>
            </a:extLst>
          </p:cNvPr>
          <p:cNvSpPr txBox="1"/>
          <p:nvPr/>
        </p:nvSpPr>
        <p:spPr>
          <a:xfrm>
            <a:off x="6742252" y="5796835"/>
            <a:ext cx="4883903" cy="3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7768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200FB-E7F6-9EDF-7A42-552B3168F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A16A27DE-0CC3-E2DF-043F-108E3E31018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1.1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FAA32E8-1BA4-370D-93AB-7CBC6F780926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研究目标：四个目标与两大支柱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B0C900E-EE19-3EC2-4408-C9195BC0D313}"/>
              </a:ext>
            </a:extLst>
          </p:cNvPr>
          <p:cNvSpPr/>
          <p:nvPr/>
        </p:nvSpPr>
        <p:spPr>
          <a:xfrm>
            <a:off x="460262" y="1154391"/>
            <a:ext cx="3217658" cy="2447925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设计目标 </a:t>
            </a:r>
            <a:r>
              <a:rPr lang="en-US" altLang="zh-CN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9ACB5EF-E4B1-5042-609C-A27EC6DEFCAC}"/>
              </a:ext>
            </a:extLst>
          </p:cNvPr>
          <p:cNvSpPr/>
          <p:nvPr/>
        </p:nvSpPr>
        <p:spPr>
          <a:xfrm>
            <a:off x="460262" y="1154391"/>
            <a:ext cx="3217657" cy="529971"/>
          </a:xfrm>
          <a:prstGeom prst="roundRect">
            <a:avLst>
              <a:gd name="adj" fmla="val 7616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建立可检验的候选架构 </a:t>
            </a:r>
            <a:r>
              <a:rPr lang="en-US" altLang="zh-CN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52C00E2-4A63-7FD5-98E6-0E5CE0880690}"/>
              </a:ext>
            </a:extLst>
          </p:cNvPr>
          <p:cNvSpPr txBox="1"/>
          <p:nvPr/>
        </p:nvSpPr>
        <p:spPr>
          <a:xfrm>
            <a:off x="527206" y="1203933"/>
            <a:ext cx="30837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b="1">
                <a:solidFill>
                  <a:srgbClr val="102B68"/>
                </a:solidFill>
                <a:effectLst>
                  <a:outerShdw blurRad="50800" dist="38100" dir="5400000" algn="t" rotWithShape="0">
                    <a:srgbClr val="0B4FA1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支柱 </a:t>
            </a:r>
            <a:r>
              <a:rPr lang="en-US" altLang="zh-CN" sz="2200" b="1">
                <a:solidFill>
                  <a:srgbClr val="102B68"/>
                </a:solidFill>
                <a:effectLst>
                  <a:outerShdw blurRad="50800" dist="38100" dir="5400000" algn="t" rotWithShape="0">
                    <a:srgbClr val="0B4FA1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200" b="1">
                <a:solidFill>
                  <a:srgbClr val="102B68"/>
                </a:solidFill>
                <a:effectLst>
                  <a:outerShdw blurRad="50800" dist="38100" dir="5400000" algn="t" rotWithShape="0">
                    <a:srgbClr val="0B4FA1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：候选架构</a:t>
            </a:r>
            <a:endParaRPr lang="zh-CN" altLang="en-US" sz="2200" b="1" dirty="0">
              <a:solidFill>
                <a:srgbClr val="102B68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11598F8-3FE7-27BD-63DE-74CC285E1FEB}"/>
              </a:ext>
            </a:extLst>
          </p:cNvPr>
          <p:cNvSpPr/>
          <p:nvPr/>
        </p:nvSpPr>
        <p:spPr>
          <a:xfrm>
            <a:off x="4487171" y="1154391"/>
            <a:ext cx="3217658" cy="2447925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设计目标 </a:t>
            </a:r>
            <a:r>
              <a:rPr lang="en-US" altLang="zh-CN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7631436-E87F-24A5-9B0B-27D2B1821549}"/>
              </a:ext>
            </a:extLst>
          </p:cNvPr>
          <p:cNvSpPr/>
          <p:nvPr/>
        </p:nvSpPr>
        <p:spPr>
          <a:xfrm>
            <a:off x="4487171" y="1154391"/>
            <a:ext cx="3217657" cy="529971"/>
          </a:xfrm>
          <a:prstGeom prst="roundRect">
            <a:avLst>
              <a:gd name="adj" fmla="val 7616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统一多模型接入与执行合同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AD95176-9A19-2F09-A416-0A126A53CC4C}"/>
              </a:ext>
            </a:extLst>
          </p:cNvPr>
          <p:cNvSpPr/>
          <p:nvPr/>
        </p:nvSpPr>
        <p:spPr>
          <a:xfrm>
            <a:off x="8514080" y="1154391"/>
            <a:ext cx="3217658" cy="2447925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设计目标 </a:t>
            </a:r>
            <a:r>
              <a:rPr lang="en-US" altLang="zh-CN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463FAA0-A598-B9F6-2ABD-BEB9C89E0A03}"/>
              </a:ext>
            </a:extLst>
          </p:cNvPr>
          <p:cNvSpPr/>
          <p:nvPr/>
        </p:nvSpPr>
        <p:spPr>
          <a:xfrm>
            <a:off x="8514080" y="1154391"/>
            <a:ext cx="3217657" cy="529971"/>
          </a:xfrm>
          <a:prstGeom prst="roundRect">
            <a:avLst>
              <a:gd name="adj" fmla="val 7616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形成对比实验与消融计划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227201A-C56A-F54E-06F3-0F11A099B607}"/>
              </a:ext>
            </a:extLst>
          </p:cNvPr>
          <p:cNvSpPr txBox="1"/>
          <p:nvPr/>
        </p:nvSpPr>
        <p:spPr>
          <a:xfrm>
            <a:off x="4554115" y="1203933"/>
            <a:ext cx="30837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b="1">
                <a:solidFill>
                  <a:srgbClr val="102B68"/>
                </a:solidFill>
                <a:effectLst>
                  <a:outerShdw blurRad="50800" dist="38100" dir="5400000" algn="t" rotWithShape="0">
                    <a:srgbClr val="0B4FA1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支柱 </a:t>
            </a:r>
            <a:r>
              <a:rPr lang="en-US" altLang="zh-CN" sz="2200" b="1">
                <a:solidFill>
                  <a:srgbClr val="102B68"/>
                </a:solidFill>
                <a:effectLst>
                  <a:outerShdw blurRad="50800" dist="38100" dir="5400000" algn="t" rotWithShape="0">
                    <a:srgbClr val="0B4FA1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200" b="1">
                <a:solidFill>
                  <a:srgbClr val="102B68"/>
                </a:solidFill>
                <a:effectLst>
                  <a:outerShdw blurRad="50800" dist="38100" dir="5400000" algn="t" rotWithShape="0">
                    <a:srgbClr val="0B4FA1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：聚合管理平台</a:t>
            </a:r>
            <a:endParaRPr lang="zh-CN" altLang="en-US" sz="2200" b="1" dirty="0">
              <a:solidFill>
                <a:srgbClr val="102B68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5D8919B-D9F9-C50A-0EDB-F2884BEC914C}"/>
              </a:ext>
            </a:extLst>
          </p:cNvPr>
          <p:cNvSpPr txBox="1"/>
          <p:nvPr/>
        </p:nvSpPr>
        <p:spPr>
          <a:xfrm>
            <a:off x="8581026" y="1203933"/>
            <a:ext cx="308376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b="1">
                <a:solidFill>
                  <a:srgbClr val="102B68"/>
                </a:solidFill>
                <a:effectLst>
                  <a:outerShdw blurRad="50800" dist="38100" dir="5400000" algn="t" rotWithShape="0">
                    <a:srgbClr val="0B4FA1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二者关系：平台提供实验入口，架构提出可检验假设。</a:t>
            </a:r>
            <a:endParaRPr lang="zh-CN" altLang="en-US" sz="2200" b="1" dirty="0">
              <a:solidFill>
                <a:srgbClr val="102B68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7670CBA-BE63-3B39-C359-020114604DAA}"/>
              </a:ext>
            </a:extLst>
          </p:cNvPr>
          <p:cNvSpPr/>
          <p:nvPr/>
        </p:nvSpPr>
        <p:spPr>
          <a:xfrm>
            <a:off x="460262" y="3713292"/>
            <a:ext cx="11287238" cy="2842500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33FB637-12C7-851A-4E40-3894586DEDD0}"/>
              </a:ext>
            </a:extLst>
          </p:cNvPr>
          <p:cNvSpPr>
            <a:spLocks/>
          </p:cNvSpPr>
          <p:nvPr/>
        </p:nvSpPr>
        <p:spPr>
          <a:xfrm>
            <a:off x="802287" y="4066653"/>
            <a:ext cx="6893007" cy="958596"/>
          </a:xfrm>
          <a:prstGeom prst="roundRect">
            <a:avLst>
              <a:gd name="adj" fmla="val 796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B529CE1-9D44-9564-5A3E-A2503FC3A437}"/>
              </a:ext>
            </a:extLst>
          </p:cNvPr>
          <p:cNvSpPr>
            <a:spLocks/>
          </p:cNvSpPr>
          <p:nvPr/>
        </p:nvSpPr>
        <p:spPr>
          <a:xfrm>
            <a:off x="802287" y="5243836"/>
            <a:ext cx="6893007" cy="958596"/>
          </a:xfrm>
          <a:prstGeom prst="roundRect">
            <a:avLst>
              <a:gd name="adj" fmla="val 796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F43FDAB-A6E6-7276-CC71-24F4AA4988B4}"/>
              </a:ext>
            </a:extLst>
          </p:cNvPr>
          <p:cNvSpPr txBox="1"/>
          <p:nvPr/>
        </p:nvSpPr>
        <p:spPr>
          <a:xfrm>
            <a:off x="627948" y="1803515"/>
            <a:ext cx="29733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endParaRPr lang="zh-CN" altLang="en-US" sz="2000" dirty="0">
              <a:solidFill>
                <a:schemeClr val="accent1"/>
              </a:solidFill>
              <a:effectLst>
                <a:glow rad="38100">
                  <a:prstClr val="white"/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384B477-D2B9-BF7A-E04B-4EACE0417FB1}"/>
              </a:ext>
            </a:extLst>
          </p:cNvPr>
          <p:cNvSpPr>
            <a:spLocks/>
          </p:cNvSpPr>
          <p:nvPr/>
        </p:nvSpPr>
        <p:spPr>
          <a:xfrm>
            <a:off x="738130" y="2223309"/>
            <a:ext cx="2756910" cy="1180549"/>
          </a:xfrm>
          <a:prstGeom prst="roundRect">
            <a:avLst>
              <a:gd name="adj" fmla="val 796"/>
            </a:avLst>
          </a:prstGeom>
          <a:solidFill>
            <a:schemeClr val="accent1">
              <a:alpha val="4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F1D4C3B-8E5B-A3A0-8E48-958324C4814D}"/>
              </a:ext>
            </a:extLst>
          </p:cNvPr>
          <p:cNvSpPr txBox="1"/>
          <p:nvPr/>
        </p:nvSpPr>
        <p:spPr>
          <a:xfrm>
            <a:off x="4609329" y="1803515"/>
            <a:ext cx="29733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endParaRPr lang="zh-CN" altLang="en-US" sz="2000" dirty="0">
              <a:solidFill>
                <a:schemeClr val="accent1"/>
              </a:solidFill>
              <a:effectLst>
                <a:glow rad="38100">
                  <a:prstClr val="white"/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DB3345E-DFF8-A6B3-A12B-57328997F7D2}"/>
              </a:ext>
            </a:extLst>
          </p:cNvPr>
          <p:cNvSpPr txBox="1"/>
          <p:nvPr/>
        </p:nvSpPr>
        <p:spPr>
          <a:xfrm>
            <a:off x="8636237" y="1803515"/>
            <a:ext cx="29733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endParaRPr lang="zh-CN" altLang="en-US" sz="2000" dirty="0">
              <a:solidFill>
                <a:schemeClr val="accent1"/>
              </a:solidFill>
              <a:effectLst>
                <a:glow rad="38100">
                  <a:prstClr val="white"/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5C22C74-EF33-8FD5-B9B4-878E20373438}"/>
              </a:ext>
            </a:extLst>
          </p:cNvPr>
          <p:cNvSpPr>
            <a:spLocks/>
          </p:cNvSpPr>
          <p:nvPr/>
        </p:nvSpPr>
        <p:spPr>
          <a:xfrm>
            <a:off x="4717544" y="2223309"/>
            <a:ext cx="2756910" cy="1180549"/>
          </a:xfrm>
          <a:prstGeom prst="roundRect">
            <a:avLst>
              <a:gd name="adj" fmla="val 796"/>
            </a:avLst>
          </a:prstGeom>
          <a:solidFill>
            <a:schemeClr val="accent1">
              <a:alpha val="4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EE12B27-D291-C1F6-A97E-BA0019D313A5}"/>
              </a:ext>
            </a:extLst>
          </p:cNvPr>
          <p:cNvSpPr>
            <a:spLocks/>
          </p:cNvSpPr>
          <p:nvPr/>
        </p:nvSpPr>
        <p:spPr>
          <a:xfrm>
            <a:off x="8744453" y="2223309"/>
            <a:ext cx="2756910" cy="1180549"/>
          </a:xfrm>
          <a:prstGeom prst="roundRect">
            <a:avLst>
              <a:gd name="adj" fmla="val 796"/>
            </a:avLst>
          </a:prstGeom>
          <a:solidFill>
            <a:schemeClr val="accent1">
              <a:alpha val="4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352D279-92FF-0EA9-0936-7331490A4A8E}"/>
              </a:ext>
            </a:extLst>
          </p:cNvPr>
          <p:cNvSpPr txBox="1"/>
          <p:nvPr/>
        </p:nvSpPr>
        <p:spPr>
          <a:xfrm>
            <a:off x="802286" y="2334285"/>
            <a:ext cx="2692753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61240FC-062D-BF06-867F-4BC2ADFB0DC8}"/>
              </a:ext>
            </a:extLst>
          </p:cNvPr>
          <p:cNvSpPr txBox="1"/>
          <p:nvPr/>
        </p:nvSpPr>
        <p:spPr>
          <a:xfrm>
            <a:off x="4749622" y="2334285"/>
            <a:ext cx="2692753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1993114-CAB3-DFDD-B328-DDFA6F661EDB}"/>
              </a:ext>
            </a:extLst>
          </p:cNvPr>
          <p:cNvSpPr txBox="1"/>
          <p:nvPr/>
        </p:nvSpPr>
        <p:spPr>
          <a:xfrm>
            <a:off x="8776531" y="2334285"/>
            <a:ext cx="2692753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89952DB3-035E-D0A2-074C-9058E2275499}"/>
              </a:ext>
            </a:extLst>
          </p:cNvPr>
          <p:cNvSpPr/>
          <p:nvPr/>
        </p:nvSpPr>
        <p:spPr>
          <a:xfrm>
            <a:off x="3793106" y="2404072"/>
            <a:ext cx="626371" cy="409511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7" name="箭头: 右 46">
            <a:extLst>
              <a:ext uri="{FF2B5EF4-FFF2-40B4-BE49-F238E27FC236}">
                <a16:creationId xmlns:a16="http://schemas.microsoft.com/office/drawing/2014/main" id="{FCF61D94-9153-0197-6B2C-6931A8BECEB3}"/>
              </a:ext>
            </a:extLst>
          </p:cNvPr>
          <p:cNvSpPr/>
          <p:nvPr/>
        </p:nvSpPr>
        <p:spPr>
          <a:xfrm>
            <a:off x="7819096" y="2404072"/>
            <a:ext cx="626371" cy="409511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2A8948B-F057-9650-9867-0D2F1AE401A0}"/>
              </a:ext>
            </a:extLst>
          </p:cNvPr>
          <p:cNvSpPr txBox="1"/>
          <p:nvPr/>
        </p:nvSpPr>
        <p:spPr>
          <a:xfrm>
            <a:off x="916310" y="4192008"/>
            <a:ext cx="10140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2000" b="1" dirty="0">
              <a:solidFill>
                <a:schemeClr val="accent1"/>
              </a:solidFill>
              <a:effectLst>
                <a:glow rad="38100">
                  <a:prstClr val="white"/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26D852ED-4B73-6A71-CD2B-B19480EC8676}"/>
              </a:ext>
            </a:extLst>
          </p:cNvPr>
          <p:cNvCxnSpPr>
            <a:cxnSpLocks/>
          </p:cNvCxnSpPr>
          <p:nvPr/>
        </p:nvCxnSpPr>
        <p:spPr>
          <a:xfrm>
            <a:off x="1960878" y="4235458"/>
            <a:ext cx="0" cy="620985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ash"/>
            <a:miter lim="800000"/>
          </a:ln>
          <a:effectLst/>
        </p:spPr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BF6C2C5E-4047-2F75-11C7-8B426C12A05E}"/>
              </a:ext>
            </a:extLst>
          </p:cNvPr>
          <p:cNvSpPr txBox="1"/>
          <p:nvPr/>
        </p:nvSpPr>
        <p:spPr>
          <a:xfrm>
            <a:off x="2069090" y="4214386"/>
            <a:ext cx="5292288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DA8340F-D987-2C48-FFD5-8BC38977C380}"/>
              </a:ext>
            </a:extLst>
          </p:cNvPr>
          <p:cNvSpPr txBox="1"/>
          <p:nvPr/>
        </p:nvSpPr>
        <p:spPr>
          <a:xfrm>
            <a:off x="916310" y="5372075"/>
            <a:ext cx="10140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2000" b="1" dirty="0">
              <a:solidFill>
                <a:schemeClr val="accent1"/>
              </a:solidFill>
              <a:effectLst>
                <a:glow rad="38100">
                  <a:prstClr val="white"/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30FB4EB4-3D9A-667B-C12F-4A1FB9AC5CFE}"/>
              </a:ext>
            </a:extLst>
          </p:cNvPr>
          <p:cNvCxnSpPr>
            <a:cxnSpLocks/>
          </p:cNvCxnSpPr>
          <p:nvPr/>
        </p:nvCxnSpPr>
        <p:spPr>
          <a:xfrm>
            <a:off x="1960878" y="5415525"/>
            <a:ext cx="0" cy="620985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ash"/>
            <a:miter lim="800000"/>
          </a:ln>
          <a:effectLst/>
        </p:spPr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5898660D-2A53-168C-E67A-584C7E110514}"/>
              </a:ext>
            </a:extLst>
          </p:cNvPr>
          <p:cNvSpPr txBox="1"/>
          <p:nvPr/>
        </p:nvSpPr>
        <p:spPr>
          <a:xfrm>
            <a:off x="2069090" y="5394453"/>
            <a:ext cx="5292288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" name="Picture 4">
            <a:extLst>
              <a:ext uri="{FF2B5EF4-FFF2-40B4-BE49-F238E27FC236}">
                <a16:creationId xmlns:a16="http://schemas.microsoft.com/office/drawing/2014/main" id="{2898DB00-E73E-AD67-C694-E44157D21B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88" t="44509"/>
          <a:stretch/>
        </p:blipFill>
        <p:spPr bwMode="auto">
          <a:xfrm>
            <a:off x="8193058" y="3913510"/>
            <a:ext cx="3082632" cy="2491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135BDEF-9FD8-847D-9B20-8A47920EB8FE}"/>
              </a:ext>
            </a:extLst>
          </p:cNvPr>
          <p:cNvSpPr/>
          <p:nvPr/>
        </p:nvSpPr>
        <p:spPr>
          <a:xfrm>
            <a:off x="2984500" y="3111500"/>
            <a:ext cx="63500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4E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D1DEA7-DB38-78FD-F4A7-5E8598E862E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7264" y="3111500"/>
            <a:ext cx="4964472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509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1EAE4-6472-D17B-AE46-895E1F389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98145D44-1CE2-DFB8-865A-6C18EB914DE0}"/>
              </a:ext>
            </a:extLst>
          </p:cNvPr>
          <p:cNvSpPr/>
          <p:nvPr/>
        </p:nvSpPr>
        <p:spPr>
          <a:xfrm>
            <a:off x="4746003" y="2313832"/>
            <a:ext cx="7003084" cy="4165603"/>
          </a:xfrm>
          <a:prstGeom prst="roundRect">
            <a:avLst>
              <a:gd name="adj" fmla="val 1384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solidFill>
              <a:srgbClr val="0B4FA1"/>
            </a:solidFill>
            <a:prstDash val="solid"/>
            <a:miter lim="800000"/>
          </a:ln>
          <a:effectLst>
            <a:outerShdw blurRad="304800" sx="102000" sy="102000" algn="ctr" rotWithShape="0">
              <a:schemeClr val="accent1">
                <a:alpha val="16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4D790B-92A7-989F-28B9-C977FE3CDBF9}"/>
              </a:ext>
            </a:extLst>
          </p:cNvPr>
          <p:cNvSpPr>
            <a:spLocks/>
          </p:cNvSpPr>
          <p:nvPr/>
        </p:nvSpPr>
        <p:spPr>
          <a:xfrm rot="16200000">
            <a:off x="505249" y="2412682"/>
            <a:ext cx="4165602" cy="3967903"/>
          </a:xfrm>
          <a:prstGeom prst="rect">
            <a:avLst/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solidFill>
              <a:srgbClr val="0B4FA1"/>
            </a:solidFill>
            <a:prstDash val="solid"/>
            <a:miter lim="800000"/>
          </a:ln>
          <a:effectLst>
            <a:outerShdw blurRad="304800" sx="102000" sy="102000" algn="ctr" rotWithShape="0">
              <a:schemeClr val="accent1">
                <a:alpha val="16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9497BA88-AC6C-71C4-5B6A-1C8C808E98EA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1.1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E0FF6C81-BA6D-113C-44C5-5D2EA3A76F7A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候选架构 </a:t>
            </a:r>
            <a:r>
              <a:rPr lang="en-US" altLang="zh-CN" sz="2800" b="1">
                <a:solidFill>
                  <a:schemeClr val="accent1"/>
                </a:solidFill>
              </a:rPr>
              <a:t>X</a:t>
            </a:r>
            <a:r>
              <a:rPr lang="zh-CN" altLang="en-US" sz="2800" b="1">
                <a:solidFill>
                  <a:schemeClr val="accent1"/>
                </a:solidFill>
              </a:rPr>
              <a:t>：整体设计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EFE5007-6376-64C6-7AF9-D235A04A80FC}"/>
              </a:ext>
            </a:extLst>
          </p:cNvPr>
          <p:cNvSpPr/>
          <p:nvPr/>
        </p:nvSpPr>
        <p:spPr>
          <a:xfrm>
            <a:off x="442912" y="1147650"/>
            <a:ext cx="11306175" cy="1011350"/>
          </a:xfrm>
          <a:prstGeom prst="roundRect">
            <a:avLst>
              <a:gd name="adj" fmla="val 465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1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候选架构 </a:t>
            </a:r>
            <a:r>
              <a:rPr lang="en-US" altLang="zh-CN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 </a:t>
            </a:r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由前馈模型、校验反馈、多专家编排和记忆管理组成，后续通过消融实验验证。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9212DD-8DB6-7A68-A050-12670D321F9C}"/>
              </a:ext>
            </a:extLst>
          </p:cNvPr>
          <p:cNvSpPr txBox="1"/>
          <p:nvPr/>
        </p:nvSpPr>
        <p:spPr>
          <a:xfrm>
            <a:off x="442913" y="1214744"/>
            <a:ext cx="11306176" cy="46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ED38C6BF-2DCA-C070-AEFD-0BD580B86469}"/>
              </a:ext>
            </a:extLst>
          </p:cNvPr>
          <p:cNvSpPr/>
          <p:nvPr/>
        </p:nvSpPr>
        <p:spPr>
          <a:xfrm rot="16200000" flipH="1">
            <a:off x="476962" y="2784297"/>
            <a:ext cx="80272" cy="173997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: 单圆角 8">
            <a:extLst>
              <a:ext uri="{FF2B5EF4-FFF2-40B4-BE49-F238E27FC236}">
                <a16:creationId xmlns:a16="http://schemas.microsoft.com/office/drawing/2014/main" id="{9B0A6EE0-945D-AE85-72E0-0F5B34E4059E}"/>
              </a:ext>
            </a:extLst>
          </p:cNvPr>
          <p:cNvSpPr>
            <a:spLocks/>
          </p:cNvSpPr>
          <p:nvPr/>
        </p:nvSpPr>
        <p:spPr>
          <a:xfrm>
            <a:off x="430097" y="2442753"/>
            <a:ext cx="1901623" cy="393169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>
            <a:outerShdw blurRad="139700" dist="38100" dir="2700000" sx="103000" sy="103000" algn="tl" rotWithShape="0">
              <a:prstClr val="black">
                <a:alpha val="1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9511C6-438C-1701-441C-35072BBF4CCC}"/>
              </a:ext>
            </a:extLst>
          </p:cNvPr>
          <p:cNvSpPr txBox="1"/>
          <p:nvPr/>
        </p:nvSpPr>
        <p:spPr>
          <a:xfrm>
            <a:off x="604097" y="2450060"/>
            <a:ext cx="1727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2000" b="1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0931B6-05B6-AB1E-185C-281A9ADCFC1C}"/>
              </a:ext>
            </a:extLst>
          </p:cNvPr>
          <p:cNvSpPr/>
          <p:nvPr/>
        </p:nvSpPr>
        <p:spPr>
          <a:xfrm>
            <a:off x="874329" y="5160261"/>
            <a:ext cx="3483429" cy="357902"/>
          </a:xfrm>
          <a:prstGeom prst="rect">
            <a:avLst/>
          </a:prstGeom>
          <a:solidFill>
            <a:schemeClr val="accent1"/>
          </a:solidFill>
          <a:ln w="127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A1F4A3-36E3-3BA7-11D8-BEDB95D60543}"/>
              </a:ext>
            </a:extLst>
          </p:cNvPr>
          <p:cNvSpPr txBox="1"/>
          <p:nvPr/>
        </p:nvSpPr>
        <p:spPr>
          <a:xfrm>
            <a:off x="981619" y="5148831"/>
            <a:ext cx="3304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681A15-0FBC-A2D1-3C74-D9A34D4502B1}"/>
              </a:ext>
            </a:extLst>
          </p:cNvPr>
          <p:cNvSpPr txBox="1"/>
          <p:nvPr/>
        </p:nvSpPr>
        <p:spPr>
          <a:xfrm>
            <a:off x="798219" y="5648770"/>
            <a:ext cx="3579661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36F137E-901A-56AD-DA2E-84C5E59D10C7}"/>
              </a:ext>
            </a:extLst>
          </p:cNvPr>
          <p:cNvSpPr txBox="1"/>
          <p:nvPr/>
        </p:nvSpPr>
        <p:spPr>
          <a:xfrm>
            <a:off x="4833314" y="2435812"/>
            <a:ext cx="5985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5028CAC-A28C-E5AD-C14F-6C29AB51DE39}"/>
              </a:ext>
            </a:extLst>
          </p:cNvPr>
          <p:cNvSpPr/>
          <p:nvPr/>
        </p:nvSpPr>
        <p:spPr>
          <a:xfrm>
            <a:off x="9338003" y="3307602"/>
            <a:ext cx="2154921" cy="3658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28CFAB-D96C-E8F4-0909-534167721054}"/>
              </a:ext>
            </a:extLst>
          </p:cNvPr>
          <p:cNvSpPr txBox="1"/>
          <p:nvPr/>
        </p:nvSpPr>
        <p:spPr>
          <a:xfrm>
            <a:off x="9635143" y="3316627"/>
            <a:ext cx="1591771" cy="347788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uLnTx/>
              <a:uFillTx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550DE41-9230-4853-79B9-C7A3C5FE9ACC}"/>
              </a:ext>
            </a:extLst>
          </p:cNvPr>
          <p:cNvSpPr/>
          <p:nvPr/>
        </p:nvSpPr>
        <p:spPr>
          <a:xfrm>
            <a:off x="9338003" y="4370718"/>
            <a:ext cx="2154921" cy="3658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659CBF-CB65-7C4D-1D77-669674C82130}"/>
              </a:ext>
            </a:extLst>
          </p:cNvPr>
          <p:cNvSpPr txBox="1"/>
          <p:nvPr/>
        </p:nvSpPr>
        <p:spPr>
          <a:xfrm>
            <a:off x="9485511" y="4349552"/>
            <a:ext cx="1891034" cy="3766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uLnTx/>
              <a:uFillTx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23E9D72-C5F8-06C9-15F2-74E589D85E7E}"/>
              </a:ext>
            </a:extLst>
          </p:cNvPr>
          <p:cNvSpPr/>
          <p:nvPr/>
        </p:nvSpPr>
        <p:spPr>
          <a:xfrm>
            <a:off x="9338003" y="3839160"/>
            <a:ext cx="2154921" cy="3658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8DBD49-F9A7-8D97-6F18-E2FFCCD7FEE6}"/>
              </a:ext>
            </a:extLst>
          </p:cNvPr>
          <p:cNvSpPr txBox="1"/>
          <p:nvPr/>
        </p:nvSpPr>
        <p:spPr>
          <a:xfrm>
            <a:off x="9601890" y="3817994"/>
            <a:ext cx="1625024" cy="3766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uLnTx/>
              <a:uFillTx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0D4581F-27FC-6A87-2D66-C555633C72B4}"/>
              </a:ext>
            </a:extLst>
          </p:cNvPr>
          <p:cNvSpPr/>
          <p:nvPr/>
        </p:nvSpPr>
        <p:spPr>
          <a:xfrm>
            <a:off x="5046108" y="5222180"/>
            <a:ext cx="6541793" cy="1089720"/>
          </a:xfrm>
          <a:prstGeom prst="roundRect">
            <a:avLst>
              <a:gd name="adj" fmla="val 5371"/>
            </a:avLst>
          </a:prstGeom>
          <a:solidFill>
            <a:schemeClr val="accent1">
              <a:alpha val="5000"/>
            </a:schemeClr>
          </a:solidFill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DB874B4-1FB4-366F-AD92-6F09CF27FF12}"/>
              </a:ext>
            </a:extLst>
          </p:cNvPr>
          <p:cNvSpPr txBox="1"/>
          <p:nvPr/>
        </p:nvSpPr>
        <p:spPr>
          <a:xfrm>
            <a:off x="5161530" y="5365712"/>
            <a:ext cx="1795861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F870A4D-5763-68BC-39A4-5D18DC40E6CF}"/>
              </a:ext>
            </a:extLst>
          </p:cNvPr>
          <p:cNvCxnSpPr>
            <a:cxnSpLocks/>
          </p:cNvCxnSpPr>
          <p:nvPr/>
        </p:nvCxnSpPr>
        <p:spPr>
          <a:xfrm>
            <a:off x="7107966" y="5319515"/>
            <a:ext cx="0" cy="895050"/>
          </a:xfrm>
          <a:prstGeom prst="line">
            <a:avLst/>
          </a:prstGeom>
          <a:noFill/>
          <a:ln w="254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88B218F7-C27A-A7C8-FE1D-51DE65D30E78}"/>
              </a:ext>
            </a:extLst>
          </p:cNvPr>
          <p:cNvSpPr txBox="1"/>
          <p:nvPr/>
        </p:nvSpPr>
        <p:spPr>
          <a:xfrm>
            <a:off x="7148103" y="5419455"/>
            <a:ext cx="4344822" cy="3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zh-CN" altLang="en-US" sz="1600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214868-40E2-36BB-F970-FDBC8BB4367C}"/>
              </a:ext>
            </a:extLst>
          </p:cNvPr>
          <p:cNvSpPr/>
          <p:nvPr/>
        </p:nvSpPr>
        <p:spPr>
          <a:xfrm>
            <a:off x="1143000" y="1714500"/>
            <a:ext cx="9906000" cy="419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4E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FE521FD-E469-2E9B-EBF0-3D76AB310CD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646" y="1714500"/>
            <a:ext cx="7446707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120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1EAE4-6472-D17B-AE46-895E1F389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98145D44-1CE2-DFB8-865A-6C18EB914DE0}"/>
              </a:ext>
            </a:extLst>
          </p:cNvPr>
          <p:cNvSpPr/>
          <p:nvPr/>
        </p:nvSpPr>
        <p:spPr>
          <a:xfrm>
            <a:off x="4746003" y="2313832"/>
            <a:ext cx="7003084" cy="4165603"/>
          </a:xfrm>
          <a:prstGeom prst="roundRect">
            <a:avLst>
              <a:gd name="adj" fmla="val 1384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solidFill>
              <a:srgbClr val="0B4FA1"/>
            </a:solidFill>
            <a:prstDash val="solid"/>
            <a:miter lim="800000"/>
          </a:ln>
          <a:effectLst>
            <a:outerShdw blurRad="304800" sx="102000" sy="102000" algn="ctr" rotWithShape="0">
              <a:schemeClr val="accent1">
                <a:alpha val="16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4D790B-92A7-989F-28B9-C977FE3CDBF9}"/>
              </a:ext>
            </a:extLst>
          </p:cNvPr>
          <p:cNvSpPr>
            <a:spLocks/>
          </p:cNvSpPr>
          <p:nvPr/>
        </p:nvSpPr>
        <p:spPr>
          <a:xfrm rot="16200000">
            <a:off x="505249" y="2412682"/>
            <a:ext cx="4165602" cy="3967903"/>
          </a:xfrm>
          <a:prstGeom prst="rect">
            <a:avLst/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solidFill>
              <a:srgbClr val="0B4FA1"/>
            </a:solidFill>
            <a:prstDash val="solid"/>
            <a:miter lim="800000"/>
          </a:ln>
          <a:effectLst>
            <a:outerShdw blurRad="304800" sx="102000" sy="102000" algn="ctr" rotWithShape="0">
              <a:schemeClr val="accent1">
                <a:alpha val="16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9497BA88-AC6C-71C4-5B6A-1C8C808E98EA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1.1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E0FF6C81-BA6D-113C-44C5-5D2EA3A76F7A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校验模块：几何一致性反馈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EFE5007-6376-64C6-7AF9-D235A04A80FC}"/>
              </a:ext>
            </a:extLst>
          </p:cNvPr>
          <p:cNvSpPr/>
          <p:nvPr/>
        </p:nvSpPr>
        <p:spPr>
          <a:xfrm>
            <a:off x="442912" y="1147650"/>
            <a:ext cx="11306175" cy="1011350"/>
          </a:xfrm>
          <a:prstGeom prst="roundRect">
            <a:avLst>
              <a:gd name="adj" fmla="val 465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1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校验模块将几何一致性信号反馈到前馈流程，用于发现失败案例并支撑修正策略。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9212DD-8DB6-7A68-A050-12670D321F9C}"/>
              </a:ext>
            </a:extLst>
          </p:cNvPr>
          <p:cNvSpPr txBox="1"/>
          <p:nvPr/>
        </p:nvSpPr>
        <p:spPr>
          <a:xfrm>
            <a:off x="442913" y="1214744"/>
            <a:ext cx="11306176" cy="46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ED38C6BF-2DCA-C070-AEFD-0BD580B86469}"/>
              </a:ext>
            </a:extLst>
          </p:cNvPr>
          <p:cNvSpPr/>
          <p:nvPr/>
        </p:nvSpPr>
        <p:spPr>
          <a:xfrm rot="16200000" flipH="1">
            <a:off x="476962" y="2784297"/>
            <a:ext cx="80272" cy="173997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: 单圆角 8">
            <a:extLst>
              <a:ext uri="{FF2B5EF4-FFF2-40B4-BE49-F238E27FC236}">
                <a16:creationId xmlns:a16="http://schemas.microsoft.com/office/drawing/2014/main" id="{9B0A6EE0-945D-AE85-72E0-0F5B34E4059E}"/>
              </a:ext>
            </a:extLst>
          </p:cNvPr>
          <p:cNvSpPr>
            <a:spLocks/>
          </p:cNvSpPr>
          <p:nvPr/>
        </p:nvSpPr>
        <p:spPr>
          <a:xfrm>
            <a:off x="430097" y="2442753"/>
            <a:ext cx="1901623" cy="393169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>
            <a:outerShdw blurRad="139700" dist="38100" dir="2700000" sx="103000" sy="103000" algn="tl" rotWithShape="0">
              <a:prstClr val="black">
                <a:alpha val="1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9511C6-438C-1701-441C-35072BBF4CCC}"/>
              </a:ext>
            </a:extLst>
          </p:cNvPr>
          <p:cNvSpPr txBox="1"/>
          <p:nvPr/>
        </p:nvSpPr>
        <p:spPr>
          <a:xfrm>
            <a:off x="604097" y="2450060"/>
            <a:ext cx="1727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2000" b="1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0931B6-05B6-AB1E-185C-281A9ADCFC1C}"/>
              </a:ext>
            </a:extLst>
          </p:cNvPr>
          <p:cNvSpPr/>
          <p:nvPr/>
        </p:nvSpPr>
        <p:spPr>
          <a:xfrm>
            <a:off x="874329" y="5160261"/>
            <a:ext cx="3483429" cy="357902"/>
          </a:xfrm>
          <a:prstGeom prst="rect">
            <a:avLst/>
          </a:prstGeom>
          <a:solidFill>
            <a:schemeClr val="accent1"/>
          </a:solidFill>
          <a:ln w="127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A1F4A3-36E3-3BA7-11D8-BEDB95D60543}"/>
              </a:ext>
            </a:extLst>
          </p:cNvPr>
          <p:cNvSpPr txBox="1"/>
          <p:nvPr/>
        </p:nvSpPr>
        <p:spPr>
          <a:xfrm>
            <a:off x="981619" y="5148831"/>
            <a:ext cx="3304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681A15-0FBC-A2D1-3C74-D9A34D4502B1}"/>
              </a:ext>
            </a:extLst>
          </p:cNvPr>
          <p:cNvSpPr txBox="1"/>
          <p:nvPr/>
        </p:nvSpPr>
        <p:spPr>
          <a:xfrm>
            <a:off x="798219" y="5648770"/>
            <a:ext cx="3579661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36F137E-901A-56AD-DA2E-84C5E59D10C7}"/>
              </a:ext>
            </a:extLst>
          </p:cNvPr>
          <p:cNvSpPr txBox="1"/>
          <p:nvPr/>
        </p:nvSpPr>
        <p:spPr>
          <a:xfrm>
            <a:off x="4833314" y="2435812"/>
            <a:ext cx="5985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5028CAC-A28C-E5AD-C14F-6C29AB51DE39}"/>
              </a:ext>
            </a:extLst>
          </p:cNvPr>
          <p:cNvSpPr/>
          <p:nvPr/>
        </p:nvSpPr>
        <p:spPr>
          <a:xfrm>
            <a:off x="9338003" y="3307602"/>
            <a:ext cx="2154921" cy="3658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28CFAB-D96C-E8F4-0909-534167721054}"/>
              </a:ext>
            </a:extLst>
          </p:cNvPr>
          <p:cNvSpPr txBox="1"/>
          <p:nvPr/>
        </p:nvSpPr>
        <p:spPr>
          <a:xfrm>
            <a:off x="9635143" y="3316627"/>
            <a:ext cx="1591771" cy="347788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uLnTx/>
              <a:uFillTx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550DE41-9230-4853-79B9-C7A3C5FE9ACC}"/>
              </a:ext>
            </a:extLst>
          </p:cNvPr>
          <p:cNvSpPr/>
          <p:nvPr/>
        </p:nvSpPr>
        <p:spPr>
          <a:xfrm>
            <a:off x="9338003" y="4370718"/>
            <a:ext cx="2154921" cy="3658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659CBF-CB65-7C4D-1D77-669674C82130}"/>
              </a:ext>
            </a:extLst>
          </p:cNvPr>
          <p:cNvSpPr txBox="1"/>
          <p:nvPr/>
        </p:nvSpPr>
        <p:spPr>
          <a:xfrm>
            <a:off x="9485511" y="4349552"/>
            <a:ext cx="1891034" cy="3766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uLnTx/>
              <a:uFillTx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23E9D72-C5F8-06C9-15F2-74E589D85E7E}"/>
              </a:ext>
            </a:extLst>
          </p:cNvPr>
          <p:cNvSpPr/>
          <p:nvPr/>
        </p:nvSpPr>
        <p:spPr>
          <a:xfrm>
            <a:off x="9338003" y="3839160"/>
            <a:ext cx="2154921" cy="3658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8DBD49-F9A7-8D97-6F18-E2FFCCD7FEE6}"/>
              </a:ext>
            </a:extLst>
          </p:cNvPr>
          <p:cNvSpPr txBox="1"/>
          <p:nvPr/>
        </p:nvSpPr>
        <p:spPr>
          <a:xfrm>
            <a:off x="9601890" y="3817994"/>
            <a:ext cx="1625024" cy="3766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uLnTx/>
              <a:uFillTx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0D4581F-27FC-6A87-2D66-C555633C72B4}"/>
              </a:ext>
            </a:extLst>
          </p:cNvPr>
          <p:cNvSpPr/>
          <p:nvPr/>
        </p:nvSpPr>
        <p:spPr>
          <a:xfrm>
            <a:off x="5046108" y="5222180"/>
            <a:ext cx="6541793" cy="1089720"/>
          </a:xfrm>
          <a:prstGeom prst="roundRect">
            <a:avLst>
              <a:gd name="adj" fmla="val 5371"/>
            </a:avLst>
          </a:prstGeom>
          <a:solidFill>
            <a:schemeClr val="accent1">
              <a:alpha val="5000"/>
            </a:schemeClr>
          </a:solidFill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DB874B4-1FB4-366F-AD92-6F09CF27FF12}"/>
              </a:ext>
            </a:extLst>
          </p:cNvPr>
          <p:cNvSpPr txBox="1"/>
          <p:nvPr/>
        </p:nvSpPr>
        <p:spPr>
          <a:xfrm>
            <a:off x="5161530" y="5365712"/>
            <a:ext cx="1795861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F870A4D-5763-68BC-39A4-5D18DC40E6CF}"/>
              </a:ext>
            </a:extLst>
          </p:cNvPr>
          <p:cNvCxnSpPr>
            <a:cxnSpLocks/>
          </p:cNvCxnSpPr>
          <p:nvPr/>
        </p:nvCxnSpPr>
        <p:spPr>
          <a:xfrm>
            <a:off x="7107966" y="5319515"/>
            <a:ext cx="0" cy="895050"/>
          </a:xfrm>
          <a:prstGeom prst="line">
            <a:avLst/>
          </a:prstGeom>
          <a:noFill/>
          <a:ln w="254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88B218F7-C27A-A7C8-FE1D-51DE65D30E78}"/>
              </a:ext>
            </a:extLst>
          </p:cNvPr>
          <p:cNvSpPr txBox="1"/>
          <p:nvPr/>
        </p:nvSpPr>
        <p:spPr>
          <a:xfrm>
            <a:off x="7148103" y="5419455"/>
            <a:ext cx="4344822" cy="3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zh-CN" altLang="en-US" sz="1600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5641E1-3265-6CDD-329A-EFB83DF9B3F3}"/>
              </a:ext>
            </a:extLst>
          </p:cNvPr>
          <p:cNvSpPr/>
          <p:nvPr/>
        </p:nvSpPr>
        <p:spPr>
          <a:xfrm>
            <a:off x="1143000" y="1714500"/>
            <a:ext cx="9906000" cy="419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4E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C8F801B-D1CD-609E-CEDA-1D0A77FA17E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646" y="1714500"/>
            <a:ext cx="7446707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830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2E450-5FC0-8ED5-CA22-DB453C345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0815A518-D4FF-BF83-67B8-80B3B6DFEB2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1.1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A36E4FF5-8E54-C76A-8E98-5403EBB7F367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编排模块：多专家路由机制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0E91F20A-1575-F121-A924-413A88AC7D8B}"/>
              </a:ext>
            </a:extLst>
          </p:cNvPr>
          <p:cNvSpPr>
            <a:spLocks/>
          </p:cNvSpPr>
          <p:nvPr/>
        </p:nvSpPr>
        <p:spPr>
          <a:xfrm>
            <a:off x="442912" y="3898080"/>
            <a:ext cx="5217291" cy="1621143"/>
          </a:xfrm>
          <a:prstGeom prst="roundRect">
            <a:avLst>
              <a:gd name="adj" fmla="val 608"/>
            </a:avLst>
          </a:prstGeom>
          <a:solidFill>
            <a:schemeClr val="accent2">
              <a:lumMod val="20000"/>
              <a:lumOff val="80000"/>
              <a:alpha val="10000"/>
            </a:schemeClr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C21BFD11-DA2E-7DC4-E821-490FA876CC08}"/>
              </a:ext>
            </a:extLst>
          </p:cNvPr>
          <p:cNvSpPr>
            <a:spLocks/>
          </p:cNvSpPr>
          <p:nvPr/>
        </p:nvSpPr>
        <p:spPr>
          <a:xfrm>
            <a:off x="442913" y="1143279"/>
            <a:ext cx="11306175" cy="815669"/>
          </a:xfrm>
          <a:prstGeom prst="roundRect">
            <a:avLst>
              <a:gd name="adj" fmla="val 3304"/>
            </a:avLst>
          </a:prstGeom>
          <a:solidFill>
            <a:schemeClr val="accent3"/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723900" sx="102000" sy="102000" algn="ctr" rotWithShape="0">
              <a:srgbClr val="1E2B4D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35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编排模块不预设某个模型最优，而是依据任务与场景特征进行可配置组合。</a:t>
            </a:r>
            <a:endParaRPr lang="zh-CN" altLang="en-US" sz="1350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D288FDB2-C705-78E0-C6C8-3F83F5513342}"/>
              </a:ext>
            </a:extLst>
          </p:cNvPr>
          <p:cNvSpPr>
            <a:spLocks/>
          </p:cNvSpPr>
          <p:nvPr/>
        </p:nvSpPr>
        <p:spPr>
          <a:xfrm>
            <a:off x="442912" y="2097528"/>
            <a:ext cx="5217291" cy="1467426"/>
          </a:xfrm>
          <a:prstGeom prst="roundRect">
            <a:avLst>
              <a:gd name="adj" fmla="val 907"/>
            </a:avLst>
          </a:prstGeom>
          <a:solidFill>
            <a:schemeClr val="accent2">
              <a:lumMod val="20000"/>
              <a:lumOff val="80000"/>
              <a:alpha val="10000"/>
            </a:schemeClr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r>
              <a:rPr lang="zh-CN" altLang="en-US" sz="130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场景类型、序列长度、动态程度</a:t>
            </a:r>
            <a:endParaRPr lang="zh-CN" altLang="en-US" sz="1300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361955CF-3B6D-3012-9070-DB485008F888}"/>
              </a:ext>
            </a:extLst>
          </p:cNvPr>
          <p:cNvCxnSpPr>
            <a:cxnSpLocks/>
          </p:cNvCxnSpPr>
          <p:nvPr/>
        </p:nvCxnSpPr>
        <p:spPr>
          <a:xfrm>
            <a:off x="2947146" y="2158424"/>
            <a:ext cx="0" cy="1406529"/>
          </a:xfrm>
          <a:prstGeom prst="line">
            <a:avLst/>
          </a:prstGeom>
          <a:noFill/>
          <a:ln w="3175" cap="flat" cmpd="sng" algn="ctr">
            <a:solidFill>
              <a:srgbClr val="C00000">
                <a:alpha val="50000"/>
              </a:srgbClr>
            </a:solidFill>
            <a:prstDash val="solid"/>
            <a:miter lim="800000"/>
          </a:ln>
          <a:effectLst/>
        </p:spPr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5C0A5391-6045-1C31-7FCB-CB4D27A017D4}"/>
              </a:ext>
            </a:extLst>
          </p:cNvPr>
          <p:cNvSpPr/>
          <p:nvPr/>
        </p:nvSpPr>
        <p:spPr>
          <a:xfrm>
            <a:off x="578351" y="3981162"/>
            <a:ext cx="1916267" cy="379114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5E0D0BA-62C5-174A-30D8-CB9162793FDE}"/>
              </a:ext>
            </a:extLst>
          </p:cNvPr>
          <p:cNvCxnSpPr>
            <a:cxnSpLocks/>
          </p:cNvCxnSpPr>
          <p:nvPr/>
        </p:nvCxnSpPr>
        <p:spPr>
          <a:xfrm>
            <a:off x="2630432" y="4170719"/>
            <a:ext cx="566056" cy="0"/>
          </a:xfrm>
          <a:prstGeom prst="straightConnector1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3D044C7E-E63A-763A-29CD-D5ED083D1C2E}"/>
              </a:ext>
            </a:extLst>
          </p:cNvPr>
          <p:cNvSpPr>
            <a:spLocks/>
          </p:cNvSpPr>
          <p:nvPr/>
        </p:nvSpPr>
        <p:spPr>
          <a:xfrm>
            <a:off x="442912" y="5659921"/>
            <a:ext cx="5217291" cy="875007"/>
          </a:xfrm>
          <a:prstGeom prst="roundRect">
            <a:avLst>
              <a:gd name="adj" fmla="val 2889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E19322-D4E1-0589-906D-251D75916A5C}"/>
              </a:ext>
            </a:extLst>
          </p:cNvPr>
          <p:cNvSpPr txBox="1"/>
          <p:nvPr/>
        </p:nvSpPr>
        <p:spPr>
          <a:xfrm>
            <a:off x="682230" y="1154800"/>
            <a:ext cx="11041719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任务输入</a:t>
            </a:r>
            <a:endParaRPr lang="zh-CN" altLang="en-US" sz="2000" b="1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1D84098-CB05-4CB8-09A7-DE6B5E8EBC79}"/>
              </a:ext>
            </a:extLst>
          </p:cNvPr>
          <p:cNvSpPr txBox="1"/>
          <p:nvPr/>
        </p:nvSpPr>
        <p:spPr>
          <a:xfrm>
            <a:off x="485617" y="2142325"/>
            <a:ext cx="247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路由依据</a:t>
            </a:r>
            <a:endParaRPr lang="zh-CN" altLang="en-US" sz="14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11DC397-6D30-2F7F-969D-55755C0B3F6C}"/>
              </a:ext>
            </a:extLst>
          </p:cNvPr>
          <p:cNvSpPr txBox="1"/>
          <p:nvPr/>
        </p:nvSpPr>
        <p:spPr>
          <a:xfrm>
            <a:off x="485617" y="2423357"/>
            <a:ext cx="248688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3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边界约束</a:t>
            </a:r>
            <a:endParaRPr lang="zh-CN" altLang="en-US" sz="13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9E82F34-4BD5-F9F3-0E36-24637AA410B1}"/>
              </a:ext>
            </a:extLst>
          </p:cNvPr>
          <p:cNvSpPr txBox="1"/>
          <p:nvPr/>
        </p:nvSpPr>
        <p:spPr>
          <a:xfrm>
            <a:off x="485617" y="2691875"/>
            <a:ext cx="2486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246AC78-7BF7-6891-4127-BE044FE9A664}"/>
              </a:ext>
            </a:extLst>
          </p:cNvPr>
          <p:cNvSpPr txBox="1"/>
          <p:nvPr/>
        </p:nvSpPr>
        <p:spPr>
          <a:xfrm>
            <a:off x="485617" y="2935085"/>
            <a:ext cx="247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C15612B-7E1F-0F54-CA7B-0DCE6DDCBDD4}"/>
              </a:ext>
            </a:extLst>
          </p:cNvPr>
          <p:cNvSpPr txBox="1"/>
          <p:nvPr/>
        </p:nvSpPr>
        <p:spPr>
          <a:xfrm>
            <a:off x="485617" y="3257176"/>
            <a:ext cx="2486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90C8F55-AADE-3D58-4658-D557F50B51F6}"/>
              </a:ext>
            </a:extLst>
          </p:cNvPr>
          <p:cNvSpPr txBox="1"/>
          <p:nvPr/>
        </p:nvSpPr>
        <p:spPr>
          <a:xfrm>
            <a:off x="3028360" y="2142325"/>
            <a:ext cx="2474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失败信号、资源约束、输出需求</a:t>
            </a:r>
            <a:endParaRPr lang="zh-CN" altLang="en-US" sz="14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E8571E9-ADA9-FD8C-CA2B-954D8157F78D}"/>
              </a:ext>
            </a:extLst>
          </p:cNvPr>
          <p:cNvSpPr txBox="1"/>
          <p:nvPr/>
        </p:nvSpPr>
        <p:spPr>
          <a:xfrm>
            <a:off x="3021783" y="2423357"/>
            <a:ext cx="248688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3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组合机制需通过对照实验验证</a:t>
            </a:r>
            <a:endParaRPr lang="zh-CN" altLang="en-US" sz="13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43AC317-133A-25D7-88B5-1078C56D51FC}"/>
              </a:ext>
            </a:extLst>
          </p:cNvPr>
          <p:cNvSpPr txBox="1"/>
          <p:nvPr/>
        </p:nvSpPr>
        <p:spPr>
          <a:xfrm>
            <a:off x="3028360" y="2885972"/>
            <a:ext cx="2495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rgbClr val="C00000"/>
                </a:solidFill>
              </a:defRPr>
            </a:lvl1pPr>
          </a:lstStyle>
          <a:p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25B54BD7-D11B-9D70-86F6-6F08B7FDBD55}"/>
              </a:ext>
            </a:extLst>
          </p:cNvPr>
          <p:cNvSpPr txBox="1"/>
          <p:nvPr/>
        </p:nvSpPr>
        <p:spPr>
          <a:xfrm>
            <a:off x="3021783" y="3232568"/>
            <a:ext cx="30742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Ø"/>
              <a:defRPr sz="1400">
                <a:latin typeface="+mn-ea"/>
              </a:defRPr>
            </a:lvl1pPr>
          </a:lstStyle>
          <a:p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箭头: 下 66">
            <a:extLst>
              <a:ext uri="{FF2B5EF4-FFF2-40B4-BE49-F238E27FC236}">
                <a16:creationId xmlns:a16="http://schemas.microsoft.com/office/drawing/2014/main" id="{8D0786D6-2B6F-C268-AD1A-4DB1AB47D108}"/>
              </a:ext>
            </a:extLst>
          </p:cNvPr>
          <p:cNvSpPr/>
          <p:nvPr/>
        </p:nvSpPr>
        <p:spPr>
          <a:xfrm rot="10800000">
            <a:off x="1361403" y="3574467"/>
            <a:ext cx="350162" cy="248010"/>
          </a:xfrm>
          <a:prstGeom prst="downArrow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F295CF2-A0F9-0CE1-2A7E-F2BDEFDB0ECC}"/>
              </a:ext>
            </a:extLst>
          </p:cNvPr>
          <p:cNvSpPr txBox="1"/>
          <p:nvPr/>
        </p:nvSpPr>
        <p:spPr>
          <a:xfrm>
            <a:off x="578351" y="4016831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C7D138E2-D1DF-E970-AEB6-0F1F3C0AC5C9}"/>
              </a:ext>
            </a:extLst>
          </p:cNvPr>
          <p:cNvSpPr/>
          <p:nvPr/>
        </p:nvSpPr>
        <p:spPr>
          <a:xfrm>
            <a:off x="3355852" y="3981162"/>
            <a:ext cx="1916267" cy="379114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E98E138-CA41-BDEB-90F5-A05A3CC9B4D2}"/>
              </a:ext>
            </a:extLst>
          </p:cNvPr>
          <p:cNvSpPr txBox="1"/>
          <p:nvPr/>
        </p:nvSpPr>
        <p:spPr>
          <a:xfrm>
            <a:off x="3302252" y="4016831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3FC67FE7-1AD2-E1B7-F25D-B162217666AA}"/>
              </a:ext>
            </a:extLst>
          </p:cNvPr>
          <p:cNvSpPr/>
          <p:nvPr/>
        </p:nvSpPr>
        <p:spPr>
          <a:xfrm>
            <a:off x="578351" y="4525954"/>
            <a:ext cx="1916267" cy="379114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0F6401F-6532-57C3-4DE6-971C8C9E4CD5}"/>
              </a:ext>
            </a:extLst>
          </p:cNvPr>
          <p:cNvSpPr txBox="1"/>
          <p:nvPr/>
        </p:nvSpPr>
        <p:spPr>
          <a:xfrm>
            <a:off x="578351" y="4561623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箭头: 下 72">
            <a:extLst>
              <a:ext uri="{FF2B5EF4-FFF2-40B4-BE49-F238E27FC236}">
                <a16:creationId xmlns:a16="http://schemas.microsoft.com/office/drawing/2014/main" id="{7FB7075A-330E-BF7D-A75A-E772C179A9B4}"/>
              </a:ext>
            </a:extLst>
          </p:cNvPr>
          <p:cNvSpPr/>
          <p:nvPr/>
        </p:nvSpPr>
        <p:spPr>
          <a:xfrm rot="10800000" flipV="1">
            <a:off x="4138905" y="4382888"/>
            <a:ext cx="350162" cy="248010"/>
          </a:xfrm>
          <a:prstGeom prst="downArrow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6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1B7A5064-1B2B-691F-C1E9-87078D8D611D}"/>
              </a:ext>
            </a:extLst>
          </p:cNvPr>
          <p:cNvSpPr/>
          <p:nvPr/>
        </p:nvSpPr>
        <p:spPr>
          <a:xfrm>
            <a:off x="3355852" y="4648645"/>
            <a:ext cx="1916267" cy="793110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6843471-6F82-D4C6-EABC-0359C9BBD5B7}"/>
              </a:ext>
            </a:extLst>
          </p:cNvPr>
          <p:cNvSpPr txBox="1"/>
          <p:nvPr/>
        </p:nvSpPr>
        <p:spPr>
          <a:xfrm>
            <a:off x="3355852" y="4652333"/>
            <a:ext cx="19162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8BE36529-8D9E-752C-B960-AEBA8D0B6710}"/>
              </a:ext>
            </a:extLst>
          </p:cNvPr>
          <p:cNvSpPr txBox="1"/>
          <p:nvPr/>
        </p:nvSpPr>
        <p:spPr>
          <a:xfrm>
            <a:off x="3355852" y="4909587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0">
              <a:buFont typeface="Wingdings" panose="05000000000000000000" pitchFamily="2" charset="2"/>
              <a:buNone/>
              <a:defRPr sz="1400">
                <a:latin typeface="+mn-ea"/>
              </a:defRPr>
            </a:lvl1pPr>
          </a:lstStyle>
          <a:p>
            <a:pPr algn="ctr"/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箭头: 下 120">
            <a:extLst>
              <a:ext uri="{FF2B5EF4-FFF2-40B4-BE49-F238E27FC236}">
                <a16:creationId xmlns:a16="http://schemas.microsoft.com/office/drawing/2014/main" id="{423D9DDC-5CF7-591A-EC9A-6DBF49C6E58A}"/>
              </a:ext>
            </a:extLst>
          </p:cNvPr>
          <p:cNvSpPr/>
          <p:nvPr/>
        </p:nvSpPr>
        <p:spPr>
          <a:xfrm rot="10800000" flipV="1">
            <a:off x="1237914" y="5050360"/>
            <a:ext cx="597140" cy="422938"/>
          </a:xfrm>
          <a:prstGeom prst="downArrow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6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6BB10EF8-1428-43FF-2021-97743BD434FE}"/>
              </a:ext>
            </a:extLst>
          </p:cNvPr>
          <p:cNvSpPr txBox="1"/>
          <p:nvPr/>
        </p:nvSpPr>
        <p:spPr>
          <a:xfrm>
            <a:off x="565845" y="5684994"/>
            <a:ext cx="247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1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1C9AE5B0-8835-9E3B-2867-D5DCA3EE404A}"/>
              </a:ext>
            </a:extLst>
          </p:cNvPr>
          <p:cNvSpPr txBox="1"/>
          <p:nvPr/>
        </p:nvSpPr>
        <p:spPr>
          <a:xfrm>
            <a:off x="565845" y="6005171"/>
            <a:ext cx="2486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31DFAFCA-996E-E6F1-C9B4-ACAB3384B2CF}"/>
              </a:ext>
            </a:extLst>
          </p:cNvPr>
          <p:cNvSpPr txBox="1"/>
          <p:nvPr/>
        </p:nvSpPr>
        <p:spPr>
          <a:xfrm>
            <a:off x="2895462" y="6005171"/>
            <a:ext cx="26284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AB84A479-7AB4-5A6A-976D-57554E4D6528}"/>
              </a:ext>
            </a:extLst>
          </p:cNvPr>
          <p:cNvSpPr>
            <a:spLocks/>
          </p:cNvSpPr>
          <p:nvPr/>
        </p:nvSpPr>
        <p:spPr>
          <a:xfrm>
            <a:off x="5802901" y="2097528"/>
            <a:ext cx="5946187" cy="2285360"/>
          </a:xfrm>
          <a:prstGeom prst="roundRect">
            <a:avLst>
              <a:gd name="adj" fmla="val 625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r>
              <a:rPr lang="zh-CN" altLang="en-US" sz="130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候选专家</a:t>
            </a:r>
            <a:endParaRPr lang="zh-CN" altLang="en-US" sz="1300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D79CD8F7-1FE3-3F33-F6E7-38F001F333A3}"/>
              </a:ext>
            </a:extLst>
          </p:cNvPr>
          <p:cNvSpPr/>
          <p:nvPr/>
        </p:nvSpPr>
        <p:spPr>
          <a:xfrm>
            <a:off x="5802901" y="2097529"/>
            <a:ext cx="843188" cy="2285360"/>
          </a:xfrm>
          <a:prstGeom prst="roundRect">
            <a:avLst>
              <a:gd name="adj" fmla="val 2824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快速模型、鲁棒模型、动态场景模型</a:t>
            </a:r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C18E0B8A-432E-323B-ACA6-F51AA570FD9A}"/>
              </a:ext>
            </a:extLst>
          </p:cNvPr>
          <p:cNvSpPr txBox="1"/>
          <p:nvPr/>
        </p:nvSpPr>
        <p:spPr>
          <a:xfrm>
            <a:off x="5972428" y="2521230"/>
            <a:ext cx="522288" cy="3850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endParaRPr lang="zh-CN" altLang="en-US" sz="1800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</a:endParaRPr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15607AB9-279B-89CF-4008-612B5DA4480D}"/>
              </a:ext>
            </a:extLst>
          </p:cNvPr>
          <p:cNvSpPr>
            <a:spLocks/>
          </p:cNvSpPr>
          <p:nvPr/>
        </p:nvSpPr>
        <p:spPr>
          <a:xfrm>
            <a:off x="6760031" y="2276938"/>
            <a:ext cx="4811741" cy="747830"/>
          </a:xfrm>
          <a:prstGeom prst="roundRect">
            <a:avLst>
              <a:gd name="adj" fmla="val 2018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输出结果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0B43B54E-7962-8ACF-660D-727C7A64C833}"/>
              </a:ext>
            </a:extLst>
          </p:cNvPr>
          <p:cNvSpPr txBox="1"/>
          <p:nvPr/>
        </p:nvSpPr>
        <p:spPr>
          <a:xfrm>
            <a:off x="6831207" y="2319288"/>
            <a:ext cx="4649593" cy="328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模型选择与结果聚合记录</a:t>
            </a:r>
            <a:endParaRPr lang="en-US" altLang="zh-CN" sz="14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22A2304B-0DDC-F975-EFB0-8C4134DE486E}"/>
              </a:ext>
            </a:extLst>
          </p:cNvPr>
          <p:cNvSpPr>
            <a:spLocks/>
          </p:cNvSpPr>
          <p:nvPr/>
        </p:nvSpPr>
        <p:spPr>
          <a:xfrm>
            <a:off x="6760031" y="3116304"/>
            <a:ext cx="4811741" cy="543413"/>
          </a:xfrm>
          <a:prstGeom prst="roundRect">
            <a:avLst>
              <a:gd name="adj" fmla="val 2018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EF3303DA-5495-8170-2930-DDB0387D9215}"/>
              </a:ext>
            </a:extLst>
          </p:cNvPr>
          <p:cNvSpPr txBox="1"/>
          <p:nvPr/>
        </p:nvSpPr>
        <p:spPr>
          <a:xfrm>
            <a:off x="6852967" y="3204178"/>
            <a:ext cx="4627833" cy="32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4BEFD098-C86E-F9DD-90D1-C86F8063472E}"/>
              </a:ext>
            </a:extLst>
          </p:cNvPr>
          <p:cNvSpPr>
            <a:spLocks/>
          </p:cNvSpPr>
          <p:nvPr/>
        </p:nvSpPr>
        <p:spPr>
          <a:xfrm>
            <a:off x="6760031" y="3738542"/>
            <a:ext cx="4811741" cy="543413"/>
          </a:xfrm>
          <a:prstGeom prst="roundRect">
            <a:avLst>
              <a:gd name="adj" fmla="val 2018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A8044CCF-26C6-D3AA-055F-55059422F399}"/>
              </a:ext>
            </a:extLst>
          </p:cNvPr>
          <p:cNvSpPr txBox="1"/>
          <p:nvPr/>
        </p:nvSpPr>
        <p:spPr>
          <a:xfrm>
            <a:off x="6852967" y="3826416"/>
            <a:ext cx="4718805" cy="32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8D9E184A-D7D3-987C-2CD8-6C0A680E1692}"/>
              </a:ext>
            </a:extLst>
          </p:cNvPr>
          <p:cNvSpPr>
            <a:spLocks/>
          </p:cNvSpPr>
          <p:nvPr/>
        </p:nvSpPr>
        <p:spPr>
          <a:xfrm>
            <a:off x="5802901" y="4591655"/>
            <a:ext cx="5946187" cy="899885"/>
          </a:xfrm>
          <a:prstGeom prst="roundRect">
            <a:avLst>
              <a:gd name="adj" fmla="val 2246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07D7CB76-1E83-0C46-5E27-7D8F4BB92EFE}"/>
              </a:ext>
            </a:extLst>
          </p:cNvPr>
          <p:cNvSpPr/>
          <p:nvPr/>
        </p:nvSpPr>
        <p:spPr>
          <a:xfrm>
            <a:off x="5803303" y="4591655"/>
            <a:ext cx="860538" cy="899885"/>
          </a:xfrm>
          <a:prstGeom prst="roundRect">
            <a:avLst>
              <a:gd name="adj" fmla="val 894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AACE0C18-6FB8-B994-69E5-F58A2814A02A}"/>
              </a:ext>
            </a:extLst>
          </p:cNvPr>
          <p:cNvSpPr txBox="1"/>
          <p:nvPr/>
        </p:nvSpPr>
        <p:spPr>
          <a:xfrm>
            <a:off x="5803303" y="4661173"/>
            <a:ext cx="860538" cy="3850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endParaRPr lang="zh-CN" altLang="en-US" sz="1800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A3E00A56-4288-56CE-7091-14E6B8200ABD}"/>
              </a:ext>
            </a:extLst>
          </p:cNvPr>
          <p:cNvSpPr txBox="1"/>
          <p:nvPr/>
        </p:nvSpPr>
        <p:spPr>
          <a:xfrm>
            <a:off x="6742252" y="4884300"/>
            <a:ext cx="48839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62E543F5-E662-1FEA-6659-52A867FD71F7}"/>
              </a:ext>
            </a:extLst>
          </p:cNvPr>
          <p:cNvSpPr>
            <a:spLocks/>
          </p:cNvSpPr>
          <p:nvPr/>
        </p:nvSpPr>
        <p:spPr>
          <a:xfrm>
            <a:off x="5802901" y="5628506"/>
            <a:ext cx="5946187" cy="899885"/>
          </a:xfrm>
          <a:prstGeom prst="roundRect">
            <a:avLst>
              <a:gd name="adj" fmla="val 1452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B0B640A8-38DC-EE31-50AC-58E5BCAB2B2B}"/>
              </a:ext>
            </a:extLst>
          </p:cNvPr>
          <p:cNvSpPr/>
          <p:nvPr/>
        </p:nvSpPr>
        <p:spPr>
          <a:xfrm>
            <a:off x="5803303" y="5628506"/>
            <a:ext cx="860538" cy="899885"/>
          </a:xfrm>
          <a:prstGeom prst="roundRect">
            <a:avLst>
              <a:gd name="adj" fmla="val 1171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06B8C372-BACD-16EF-565C-291C58E377C4}"/>
              </a:ext>
            </a:extLst>
          </p:cNvPr>
          <p:cNvSpPr txBox="1"/>
          <p:nvPr/>
        </p:nvSpPr>
        <p:spPr>
          <a:xfrm>
            <a:off x="5803303" y="5698024"/>
            <a:ext cx="860538" cy="3850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endParaRPr lang="zh-CN" altLang="en-US" sz="1800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94FA1A5F-D282-26A9-E5DB-641AE91E8BFC}"/>
              </a:ext>
            </a:extLst>
          </p:cNvPr>
          <p:cNvSpPr txBox="1"/>
          <p:nvPr/>
        </p:nvSpPr>
        <p:spPr>
          <a:xfrm>
            <a:off x="6742252" y="5796835"/>
            <a:ext cx="4883903" cy="3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7479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1EAE4-6472-D17B-AE46-895E1F389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98145D44-1CE2-DFB8-865A-6C18EB914DE0}"/>
              </a:ext>
            </a:extLst>
          </p:cNvPr>
          <p:cNvSpPr/>
          <p:nvPr/>
        </p:nvSpPr>
        <p:spPr>
          <a:xfrm>
            <a:off x="4746003" y="2313832"/>
            <a:ext cx="7003084" cy="4165603"/>
          </a:xfrm>
          <a:prstGeom prst="roundRect">
            <a:avLst>
              <a:gd name="adj" fmla="val 1384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solidFill>
              <a:srgbClr val="0B4FA1"/>
            </a:solidFill>
            <a:prstDash val="solid"/>
            <a:miter lim="800000"/>
          </a:ln>
          <a:effectLst>
            <a:outerShdw blurRad="304800" sx="102000" sy="102000" algn="ctr" rotWithShape="0">
              <a:schemeClr val="accent1">
                <a:alpha val="16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4D790B-92A7-989F-28B9-C977FE3CDBF9}"/>
              </a:ext>
            </a:extLst>
          </p:cNvPr>
          <p:cNvSpPr>
            <a:spLocks/>
          </p:cNvSpPr>
          <p:nvPr/>
        </p:nvSpPr>
        <p:spPr>
          <a:xfrm rot="16200000">
            <a:off x="505249" y="2412682"/>
            <a:ext cx="4165602" cy="3967903"/>
          </a:xfrm>
          <a:prstGeom prst="rect">
            <a:avLst/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solidFill>
              <a:srgbClr val="0B4FA1"/>
            </a:solidFill>
            <a:prstDash val="solid"/>
            <a:miter lim="800000"/>
          </a:ln>
          <a:effectLst>
            <a:outerShdw blurRad="304800" sx="102000" sy="102000" algn="ctr" rotWithShape="0">
              <a:schemeClr val="accent1">
                <a:alpha val="16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9497BA88-AC6C-71C4-5B6A-1C8C808E98EA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1.1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E0FF6C81-BA6D-113C-44C5-5D2EA3A76F7A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记忆模块：长序列状态管理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EFE5007-6376-64C6-7AF9-D235A04A80FC}"/>
              </a:ext>
            </a:extLst>
          </p:cNvPr>
          <p:cNvSpPr/>
          <p:nvPr/>
        </p:nvSpPr>
        <p:spPr>
          <a:xfrm>
            <a:off x="442912" y="1147650"/>
            <a:ext cx="11306175" cy="1011350"/>
          </a:xfrm>
          <a:prstGeom prst="roundRect">
            <a:avLst>
              <a:gd name="adj" fmla="val 465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1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记忆模块面向长序列输入，统一短期状态、长期状态和检索记忆三类机制。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9212DD-8DB6-7A68-A050-12670D321F9C}"/>
              </a:ext>
            </a:extLst>
          </p:cNvPr>
          <p:cNvSpPr txBox="1"/>
          <p:nvPr/>
        </p:nvSpPr>
        <p:spPr>
          <a:xfrm>
            <a:off x="442913" y="1214744"/>
            <a:ext cx="11306176" cy="46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ED38C6BF-2DCA-C070-AEFD-0BD580B86469}"/>
              </a:ext>
            </a:extLst>
          </p:cNvPr>
          <p:cNvSpPr/>
          <p:nvPr/>
        </p:nvSpPr>
        <p:spPr>
          <a:xfrm rot="16200000" flipH="1">
            <a:off x="476962" y="2784297"/>
            <a:ext cx="80272" cy="173997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: 单圆角 8">
            <a:extLst>
              <a:ext uri="{FF2B5EF4-FFF2-40B4-BE49-F238E27FC236}">
                <a16:creationId xmlns:a16="http://schemas.microsoft.com/office/drawing/2014/main" id="{9B0A6EE0-945D-AE85-72E0-0F5B34E4059E}"/>
              </a:ext>
            </a:extLst>
          </p:cNvPr>
          <p:cNvSpPr>
            <a:spLocks/>
          </p:cNvSpPr>
          <p:nvPr/>
        </p:nvSpPr>
        <p:spPr>
          <a:xfrm>
            <a:off x="430097" y="2442753"/>
            <a:ext cx="1901623" cy="393169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>
            <a:outerShdw blurRad="139700" dist="38100" dir="2700000" sx="103000" sy="103000" algn="tl" rotWithShape="0">
              <a:prstClr val="black">
                <a:alpha val="1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9511C6-438C-1701-441C-35072BBF4CCC}"/>
              </a:ext>
            </a:extLst>
          </p:cNvPr>
          <p:cNvSpPr txBox="1"/>
          <p:nvPr/>
        </p:nvSpPr>
        <p:spPr>
          <a:xfrm>
            <a:off x="604097" y="2450060"/>
            <a:ext cx="1727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2000" b="1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0931B6-05B6-AB1E-185C-281A9ADCFC1C}"/>
              </a:ext>
            </a:extLst>
          </p:cNvPr>
          <p:cNvSpPr/>
          <p:nvPr/>
        </p:nvSpPr>
        <p:spPr>
          <a:xfrm>
            <a:off x="874329" y="5160261"/>
            <a:ext cx="3483429" cy="357902"/>
          </a:xfrm>
          <a:prstGeom prst="rect">
            <a:avLst/>
          </a:prstGeom>
          <a:solidFill>
            <a:schemeClr val="accent1"/>
          </a:solidFill>
          <a:ln w="127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A1F4A3-36E3-3BA7-11D8-BEDB95D60543}"/>
              </a:ext>
            </a:extLst>
          </p:cNvPr>
          <p:cNvSpPr txBox="1"/>
          <p:nvPr/>
        </p:nvSpPr>
        <p:spPr>
          <a:xfrm>
            <a:off x="981619" y="5148831"/>
            <a:ext cx="3304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681A15-0FBC-A2D1-3C74-D9A34D4502B1}"/>
              </a:ext>
            </a:extLst>
          </p:cNvPr>
          <p:cNvSpPr txBox="1"/>
          <p:nvPr/>
        </p:nvSpPr>
        <p:spPr>
          <a:xfrm>
            <a:off x="798219" y="5648770"/>
            <a:ext cx="3579661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36F137E-901A-56AD-DA2E-84C5E59D10C7}"/>
              </a:ext>
            </a:extLst>
          </p:cNvPr>
          <p:cNvSpPr txBox="1"/>
          <p:nvPr/>
        </p:nvSpPr>
        <p:spPr>
          <a:xfrm>
            <a:off x="4833314" y="2435812"/>
            <a:ext cx="5985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5028CAC-A28C-E5AD-C14F-6C29AB51DE39}"/>
              </a:ext>
            </a:extLst>
          </p:cNvPr>
          <p:cNvSpPr/>
          <p:nvPr/>
        </p:nvSpPr>
        <p:spPr>
          <a:xfrm>
            <a:off x="9338003" y="3307602"/>
            <a:ext cx="2154921" cy="3658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28CFAB-D96C-E8F4-0909-534167721054}"/>
              </a:ext>
            </a:extLst>
          </p:cNvPr>
          <p:cNvSpPr txBox="1"/>
          <p:nvPr/>
        </p:nvSpPr>
        <p:spPr>
          <a:xfrm>
            <a:off x="9635143" y="3316627"/>
            <a:ext cx="1591771" cy="347788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uLnTx/>
              <a:uFillTx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550DE41-9230-4853-79B9-C7A3C5FE9ACC}"/>
              </a:ext>
            </a:extLst>
          </p:cNvPr>
          <p:cNvSpPr/>
          <p:nvPr/>
        </p:nvSpPr>
        <p:spPr>
          <a:xfrm>
            <a:off x="9338003" y="4370718"/>
            <a:ext cx="2154921" cy="3658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659CBF-CB65-7C4D-1D77-669674C82130}"/>
              </a:ext>
            </a:extLst>
          </p:cNvPr>
          <p:cNvSpPr txBox="1"/>
          <p:nvPr/>
        </p:nvSpPr>
        <p:spPr>
          <a:xfrm>
            <a:off x="9485511" y="4349552"/>
            <a:ext cx="1891034" cy="3766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uLnTx/>
              <a:uFillTx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23E9D72-C5F8-06C9-15F2-74E589D85E7E}"/>
              </a:ext>
            </a:extLst>
          </p:cNvPr>
          <p:cNvSpPr/>
          <p:nvPr/>
        </p:nvSpPr>
        <p:spPr>
          <a:xfrm>
            <a:off x="9338003" y="3839160"/>
            <a:ext cx="2154921" cy="3658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8DBD49-F9A7-8D97-6F18-E2FFCCD7FEE6}"/>
              </a:ext>
            </a:extLst>
          </p:cNvPr>
          <p:cNvSpPr txBox="1"/>
          <p:nvPr/>
        </p:nvSpPr>
        <p:spPr>
          <a:xfrm>
            <a:off x="9601890" y="3817994"/>
            <a:ext cx="1625024" cy="3766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uLnTx/>
              <a:uFillTx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0D4581F-27FC-6A87-2D66-C555633C72B4}"/>
              </a:ext>
            </a:extLst>
          </p:cNvPr>
          <p:cNvSpPr/>
          <p:nvPr/>
        </p:nvSpPr>
        <p:spPr>
          <a:xfrm>
            <a:off x="5046108" y="5222180"/>
            <a:ext cx="6541793" cy="1089720"/>
          </a:xfrm>
          <a:prstGeom prst="roundRect">
            <a:avLst>
              <a:gd name="adj" fmla="val 5371"/>
            </a:avLst>
          </a:prstGeom>
          <a:solidFill>
            <a:schemeClr val="accent1">
              <a:alpha val="5000"/>
            </a:schemeClr>
          </a:solidFill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DB874B4-1FB4-366F-AD92-6F09CF27FF12}"/>
              </a:ext>
            </a:extLst>
          </p:cNvPr>
          <p:cNvSpPr txBox="1"/>
          <p:nvPr/>
        </p:nvSpPr>
        <p:spPr>
          <a:xfrm>
            <a:off x="5161530" y="5365712"/>
            <a:ext cx="1795861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F870A4D-5763-68BC-39A4-5D18DC40E6CF}"/>
              </a:ext>
            </a:extLst>
          </p:cNvPr>
          <p:cNvCxnSpPr>
            <a:cxnSpLocks/>
          </p:cNvCxnSpPr>
          <p:nvPr/>
        </p:nvCxnSpPr>
        <p:spPr>
          <a:xfrm>
            <a:off x="7107966" y="5319515"/>
            <a:ext cx="0" cy="895050"/>
          </a:xfrm>
          <a:prstGeom prst="line">
            <a:avLst/>
          </a:prstGeom>
          <a:noFill/>
          <a:ln w="254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88B218F7-C27A-A7C8-FE1D-51DE65D30E78}"/>
              </a:ext>
            </a:extLst>
          </p:cNvPr>
          <p:cNvSpPr txBox="1"/>
          <p:nvPr/>
        </p:nvSpPr>
        <p:spPr>
          <a:xfrm>
            <a:off x="7148103" y="5419455"/>
            <a:ext cx="4344822" cy="3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zh-CN" altLang="en-US" sz="1600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292711-33BE-51F5-B35A-7D4B0EB56813}"/>
              </a:ext>
            </a:extLst>
          </p:cNvPr>
          <p:cNvSpPr/>
          <p:nvPr/>
        </p:nvSpPr>
        <p:spPr>
          <a:xfrm>
            <a:off x="1143000" y="1714500"/>
            <a:ext cx="9906000" cy="419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4E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F50DED3-8724-4944-4E19-77C83704F8D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646" y="1714500"/>
            <a:ext cx="7446707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597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2E450-5FC0-8ED5-CA22-DB453C345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0815A518-D4FF-BF83-67B8-80B3B6DFEB2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1.1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A36E4FF5-8E54-C76A-8E98-5403EBB7F367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聚合管理平台：四层架构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0E91F20A-1575-F121-A924-413A88AC7D8B}"/>
              </a:ext>
            </a:extLst>
          </p:cNvPr>
          <p:cNvSpPr>
            <a:spLocks/>
          </p:cNvSpPr>
          <p:nvPr/>
        </p:nvSpPr>
        <p:spPr>
          <a:xfrm>
            <a:off x="442912" y="3898080"/>
            <a:ext cx="5217291" cy="1621143"/>
          </a:xfrm>
          <a:prstGeom prst="roundRect">
            <a:avLst>
              <a:gd name="adj" fmla="val 608"/>
            </a:avLst>
          </a:prstGeom>
          <a:solidFill>
            <a:schemeClr val="accent2">
              <a:lumMod val="20000"/>
              <a:lumOff val="80000"/>
              <a:alpha val="10000"/>
            </a:schemeClr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C21BFD11-DA2E-7DC4-E821-490FA876CC08}"/>
              </a:ext>
            </a:extLst>
          </p:cNvPr>
          <p:cNvSpPr>
            <a:spLocks/>
          </p:cNvSpPr>
          <p:nvPr/>
        </p:nvSpPr>
        <p:spPr>
          <a:xfrm>
            <a:off x="442913" y="1143279"/>
            <a:ext cx="11306175" cy="815669"/>
          </a:xfrm>
          <a:prstGeom prst="roundRect">
            <a:avLst>
              <a:gd name="adj" fmla="val 3304"/>
            </a:avLst>
          </a:prstGeom>
          <a:solidFill>
            <a:schemeClr val="accent3"/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723900" sx="102000" sy="102000" algn="ctr" rotWithShape="0">
              <a:srgbClr val="1E2B4D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35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聚合管理平台采用桌面前端、本地后端、远端调度和模型执行层的分层结构。</a:t>
            </a:r>
            <a:endParaRPr lang="zh-CN" altLang="en-US" sz="1350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D288FDB2-C705-78E0-C6C8-3F83F5513342}"/>
              </a:ext>
            </a:extLst>
          </p:cNvPr>
          <p:cNvSpPr>
            <a:spLocks/>
          </p:cNvSpPr>
          <p:nvPr/>
        </p:nvSpPr>
        <p:spPr>
          <a:xfrm>
            <a:off x="442912" y="2097528"/>
            <a:ext cx="5217291" cy="1467426"/>
          </a:xfrm>
          <a:prstGeom prst="roundRect">
            <a:avLst>
              <a:gd name="adj" fmla="val 907"/>
            </a:avLst>
          </a:prstGeom>
          <a:solidFill>
            <a:schemeClr val="accent2">
              <a:lumMod val="20000"/>
              <a:lumOff val="80000"/>
              <a:alpha val="10000"/>
            </a:schemeClr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361955CF-3B6D-3012-9070-DB485008F888}"/>
              </a:ext>
            </a:extLst>
          </p:cNvPr>
          <p:cNvCxnSpPr>
            <a:cxnSpLocks/>
          </p:cNvCxnSpPr>
          <p:nvPr/>
        </p:nvCxnSpPr>
        <p:spPr>
          <a:xfrm>
            <a:off x="2947146" y="2158424"/>
            <a:ext cx="0" cy="1406529"/>
          </a:xfrm>
          <a:prstGeom prst="line">
            <a:avLst/>
          </a:prstGeom>
          <a:noFill/>
          <a:ln w="3175" cap="flat" cmpd="sng" algn="ctr">
            <a:solidFill>
              <a:srgbClr val="C00000">
                <a:alpha val="50000"/>
              </a:srgbClr>
            </a:solidFill>
            <a:prstDash val="solid"/>
            <a:miter lim="800000"/>
          </a:ln>
          <a:effectLst/>
        </p:spPr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5C0A5391-6045-1C31-7FCB-CB4D27A017D4}"/>
              </a:ext>
            </a:extLst>
          </p:cNvPr>
          <p:cNvSpPr/>
          <p:nvPr/>
        </p:nvSpPr>
        <p:spPr>
          <a:xfrm>
            <a:off x="578351" y="3981162"/>
            <a:ext cx="1916267" cy="379114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5E0D0BA-62C5-174A-30D8-CB9162793FDE}"/>
              </a:ext>
            </a:extLst>
          </p:cNvPr>
          <p:cNvCxnSpPr>
            <a:cxnSpLocks/>
          </p:cNvCxnSpPr>
          <p:nvPr/>
        </p:nvCxnSpPr>
        <p:spPr>
          <a:xfrm>
            <a:off x="2630432" y="4170719"/>
            <a:ext cx="566056" cy="0"/>
          </a:xfrm>
          <a:prstGeom prst="straightConnector1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3D044C7E-E63A-763A-29CD-D5ED083D1C2E}"/>
              </a:ext>
            </a:extLst>
          </p:cNvPr>
          <p:cNvSpPr>
            <a:spLocks/>
          </p:cNvSpPr>
          <p:nvPr/>
        </p:nvSpPr>
        <p:spPr>
          <a:xfrm>
            <a:off x="442912" y="5659921"/>
            <a:ext cx="5217291" cy="875007"/>
          </a:xfrm>
          <a:prstGeom prst="roundRect">
            <a:avLst>
              <a:gd name="adj" fmla="val 2889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E19322-D4E1-0589-906D-251D75916A5C}"/>
              </a:ext>
            </a:extLst>
          </p:cNvPr>
          <p:cNvSpPr txBox="1"/>
          <p:nvPr/>
        </p:nvSpPr>
        <p:spPr>
          <a:xfrm>
            <a:off x="682230" y="1154800"/>
            <a:ext cx="11041719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1D84098-CB05-4CB8-09A7-DE6B5E8EBC79}"/>
              </a:ext>
            </a:extLst>
          </p:cNvPr>
          <p:cNvSpPr txBox="1"/>
          <p:nvPr/>
        </p:nvSpPr>
        <p:spPr>
          <a:xfrm>
            <a:off x="485617" y="2142325"/>
            <a:ext cx="247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11DC397-6D30-2F7F-969D-55755C0B3F6C}"/>
              </a:ext>
            </a:extLst>
          </p:cNvPr>
          <p:cNvSpPr txBox="1"/>
          <p:nvPr/>
        </p:nvSpPr>
        <p:spPr>
          <a:xfrm>
            <a:off x="485617" y="2423357"/>
            <a:ext cx="2486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9E82F34-4BD5-F9F3-0E36-24637AA410B1}"/>
              </a:ext>
            </a:extLst>
          </p:cNvPr>
          <p:cNvSpPr txBox="1"/>
          <p:nvPr/>
        </p:nvSpPr>
        <p:spPr>
          <a:xfrm>
            <a:off x="485617" y="2691875"/>
            <a:ext cx="2486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246AC78-7BF7-6891-4127-BE044FE9A664}"/>
              </a:ext>
            </a:extLst>
          </p:cNvPr>
          <p:cNvSpPr txBox="1"/>
          <p:nvPr/>
        </p:nvSpPr>
        <p:spPr>
          <a:xfrm>
            <a:off x="485617" y="2935085"/>
            <a:ext cx="247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C15612B-7E1F-0F54-CA7B-0DCE6DDCBDD4}"/>
              </a:ext>
            </a:extLst>
          </p:cNvPr>
          <p:cNvSpPr txBox="1"/>
          <p:nvPr/>
        </p:nvSpPr>
        <p:spPr>
          <a:xfrm>
            <a:off x="485617" y="3257176"/>
            <a:ext cx="2486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90C8F55-AADE-3D58-4658-D557F50B51F6}"/>
              </a:ext>
            </a:extLst>
          </p:cNvPr>
          <p:cNvSpPr txBox="1"/>
          <p:nvPr/>
        </p:nvSpPr>
        <p:spPr>
          <a:xfrm>
            <a:off x="3028360" y="2142325"/>
            <a:ext cx="247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E8571E9-ADA9-FD8C-CA2B-954D8157F78D}"/>
              </a:ext>
            </a:extLst>
          </p:cNvPr>
          <p:cNvSpPr txBox="1"/>
          <p:nvPr/>
        </p:nvSpPr>
        <p:spPr>
          <a:xfrm>
            <a:off x="3021783" y="2423357"/>
            <a:ext cx="2486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43AC317-133A-25D7-88B5-1078C56D51FC}"/>
              </a:ext>
            </a:extLst>
          </p:cNvPr>
          <p:cNvSpPr txBox="1"/>
          <p:nvPr/>
        </p:nvSpPr>
        <p:spPr>
          <a:xfrm>
            <a:off x="3028360" y="2885972"/>
            <a:ext cx="2495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rgbClr val="C00000"/>
                </a:solidFill>
              </a:defRPr>
            </a:lvl1pPr>
          </a:lstStyle>
          <a:p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25B54BD7-D11B-9D70-86F6-6F08B7FDBD55}"/>
              </a:ext>
            </a:extLst>
          </p:cNvPr>
          <p:cNvSpPr txBox="1"/>
          <p:nvPr/>
        </p:nvSpPr>
        <p:spPr>
          <a:xfrm>
            <a:off x="3021783" y="3232568"/>
            <a:ext cx="30742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Ø"/>
              <a:defRPr sz="1400">
                <a:latin typeface="+mn-ea"/>
              </a:defRPr>
            </a:lvl1pPr>
          </a:lstStyle>
          <a:p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箭头: 下 66">
            <a:extLst>
              <a:ext uri="{FF2B5EF4-FFF2-40B4-BE49-F238E27FC236}">
                <a16:creationId xmlns:a16="http://schemas.microsoft.com/office/drawing/2014/main" id="{8D0786D6-2B6F-C268-AD1A-4DB1AB47D108}"/>
              </a:ext>
            </a:extLst>
          </p:cNvPr>
          <p:cNvSpPr/>
          <p:nvPr/>
        </p:nvSpPr>
        <p:spPr>
          <a:xfrm rot="10800000">
            <a:off x="1361403" y="3574467"/>
            <a:ext cx="350162" cy="248010"/>
          </a:xfrm>
          <a:prstGeom prst="downArrow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F295CF2-A0F9-0CE1-2A7E-F2BDEFDB0ECC}"/>
              </a:ext>
            </a:extLst>
          </p:cNvPr>
          <p:cNvSpPr txBox="1"/>
          <p:nvPr/>
        </p:nvSpPr>
        <p:spPr>
          <a:xfrm>
            <a:off x="578351" y="4016831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C7D138E2-D1DF-E970-AEB6-0F1F3C0AC5C9}"/>
              </a:ext>
            </a:extLst>
          </p:cNvPr>
          <p:cNvSpPr/>
          <p:nvPr/>
        </p:nvSpPr>
        <p:spPr>
          <a:xfrm>
            <a:off x="3355852" y="3981162"/>
            <a:ext cx="1916267" cy="379114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E98E138-CA41-BDEB-90F5-A05A3CC9B4D2}"/>
              </a:ext>
            </a:extLst>
          </p:cNvPr>
          <p:cNvSpPr txBox="1"/>
          <p:nvPr/>
        </p:nvSpPr>
        <p:spPr>
          <a:xfrm>
            <a:off x="3302252" y="4016831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3FC67FE7-1AD2-E1B7-F25D-B162217666AA}"/>
              </a:ext>
            </a:extLst>
          </p:cNvPr>
          <p:cNvSpPr/>
          <p:nvPr/>
        </p:nvSpPr>
        <p:spPr>
          <a:xfrm>
            <a:off x="578351" y="4525954"/>
            <a:ext cx="1916267" cy="379114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0F6401F-6532-57C3-4DE6-971C8C9E4CD5}"/>
              </a:ext>
            </a:extLst>
          </p:cNvPr>
          <p:cNvSpPr txBox="1"/>
          <p:nvPr/>
        </p:nvSpPr>
        <p:spPr>
          <a:xfrm>
            <a:off x="578351" y="4561623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箭头: 下 72">
            <a:extLst>
              <a:ext uri="{FF2B5EF4-FFF2-40B4-BE49-F238E27FC236}">
                <a16:creationId xmlns:a16="http://schemas.microsoft.com/office/drawing/2014/main" id="{7FB7075A-330E-BF7D-A75A-E772C179A9B4}"/>
              </a:ext>
            </a:extLst>
          </p:cNvPr>
          <p:cNvSpPr/>
          <p:nvPr/>
        </p:nvSpPr>
        <p:spPr>
          <a:xfrm rot="10800000" flipV="1">
            <a:off x="4138905" y="4382888"/>
            <a:ext cx="350162" cy="248010"/>
          </a:xfrm>
          <a:prstGeom prst="downArrow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6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1B7A5064-1B2B-691F-C1E9-87078D8D611D}"/>
              </a:ext>
            </a:extLst>
          </p:cNvPr>
          <p:cNvSpPr/>
          <p:nvPr/>
        </p:nvSpPr>
        <p:spPr>
          <a:xfrm>
            <a:off x="3355852" y="4648645"/>
            <a:ext cx="1916267" cy="793110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6843471-6F82-D4C6-EABC-0359C9BBD5B7}"/>
              </a:ext>
            </a:extLst>
          </p:cNvPr>
          <p:cNvSpPr txBox="1"/>
          <p:nvPr/>
        </p:nvSpPr>
        <p:spPr>
          <a:xfrm>
            <a:off x="3355852" y="4652333"/>
            <a:ext cx="19162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8BE36529-8D9E-752C-B960-AEBA8D0B6710}"/>
              </a:ext>
            </a:extLst>
          </p:cNvPr>
          <p:cNvSpPr txBox="1"/>
          <p:nvPr/>
        </p:nvSpPr>
        <p:spPr>
          <a:xfrm>
            <a:off x="3355852" y="4909587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0">
              <a:buFont typeface="Wingdings" panose="05000000000000000000" pitchFamily="2" charset="2"/>
              <a:buNone/>
              <a:defRPr sz="1400">
                <a:latin typeface="+mn-ea"/>
              </a:defRPr>
            </a:lvl1pPr>
          </a:lstStyle>
          <a:p>
            <a:pPr algn="ctr"/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箭头: 下 120">
            <a:extLst>
              <a:ext uri="{FF2B5EF4-FFF2-40B4-BE49-F238E27FC236}">
                <a16:creationId xmlns:a16="http://schemas.microsoft.com/office/drawing/2014/main" id="{423D9DDC-5CF7-591A-EC9A-6DBF49C6E58A}"/>
              </a:ext>
            </a:extLst>
          </p:cNvPr>
          <p:cNvSpPr/>
          <p:nvPr/>
        </p:nvSpPr>
        <p:spPr>
          <a:xfrm rot="10800000" flipV="1">
            <a:off x="1237914" y="5050360"/>
            <a:ext cx="597140" cy="422938"/>
          </a:xfrm>
          <a:prstGeom prst="downArrow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6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6BB10EF8-1428-43FF-2021-97743BD434FE}"/>
              </a:ext>
            </a:extLst>
          </p:cNvPr>
          <p:cNvSpPr txBox="1"/>
          <p:nvPr/>
        </p:nvSpPr>
        <p:spPr>
          <a:xfrm>
            <a:off x="565845" y="5684994"/>
            <a:ext cx="247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1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1C9AE5B0-8835-9E3B-2867-D5DCA3EE404A}"/>
              </a:ext>
            </a:extLst>
          </p:cNvPr>
          <p:cNvSpPr txBox="1"/>
          <p:nvPr/>
        </p:nvSpPr>
        <p:spPr>
          <a:xfrm>
            <a:off x="565845" y="6005171"/>
            <a:ext cx="2486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31DFAFCA-996E-E6F1-C9B4-ACAB3384B2CF}"/>
              </a:ext>
            </a:extLst>
          </p:cNvPr>
          <p:cNvSpPr txBox="1"/>
          <p:nvPr/>
        </p:nvSpPr>
        <p:spPr>
          <a:xfrm>
            <a:off x="2895462" y="6005171"/>
            <a:ext cx="26284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AB84A479-7AB4-5A6A-976D-57554E4D6528}"/>
              </a:ext>
            </a:extLst>
          </p:cNvPr>
          <p:cNvSpPr>
            <a:spLocks/>
          </p:cNvSpPr>
          <p:nvPr/>
        </p:nvSpPr>
        <p:spPr>
          <a:xfrm>
            <a:off x="5802901" y="2097528"/>
            <a:ext cx="5946187" cy="2285360"/>
          </a:xfrm>
          <a:prstGeom prst="roundRect">
            <a:avLst>
              <a:gd name="adj" fmla="val 625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D79CD8F7-1FE3-3F33-F6E7-38F001F333A3}"/>
              </a:ext>
            </a:extLst>
          </p:cNvPr>
          <p:cNvSpPr/>
          <p:nvPr/>
        </p:nvSpPr>
        <p:spPr>
          <a:xfrm>
            <a:off x="5802901" y="2097529"/>
            <a:ext cx="843188" cy="2285360"/>
          </a:xfrm>
          <a:prstGeom prst="roundRect">
            <a:avLst>
              <a:gd name="adj" fmla="val 2824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C18E0B8A-432E-323B-ACA6-F51AA570FD9A}"/>
              </a:ext>
            </a:extLst>
          </p:cNvPr>
          <p:cNvSpPr txBox="1"/>
          <p:nvPr/>
        </p:nvSpPr>
        <p:spPr>
          <a:xfrm>
            <a:off x="5972428" y="2521230"/>
            <a:ext cx="522288" cy="3850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endParaRPr lang="zh-CN" altLang="en-US" sz="1800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</a:endParaRPr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15607AB9-279B-89CF-4008-612B5DA4480D}"/>
              </a:ext>
            </a:extLst>
          </p:cNvPr>
          <p:cNvSpPr>
            <a:spLocks/>
          </p:cNvSpPr>
          <p:nvPr/>
        </p:nvSpPr>
        <p:spPr>
          <a:xfrm>
            <a:off x="6760031" y="2276938"/>
            <a:ext cx="4811741" cy="747830"/>
          </a:xfrm>
          <a:prstGeom prst="roundRect">
            <a:avLst>
              <a:gd name="adj" fmla="val 2018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0B43B54E-7962-8ACF-660D-727C7A64C833}"/>
              </a:ext>
            </a:extLst>
          </p:cNvPr>
          <p:cNvSpPr txBox="1"/>
          <p:nvPr/>
        </p:nvSpPr>
        <p:spPr>
          <a:xfrm>
            <a:off x="6831207" y="2319288"/>
            <a:ext cx="4649593" cy="328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22A2304B-0DDC-F975-EFB0-8C4134DE486E}"/>
              </a:ext>
            </a:extLst>
          </p:cNvPr>
          <p:cNvSpPr>
            <a:spLocks/>
          </p:cNvSpPr>
          <p:nvPr/>
        </p:nvSpPr>
        <p:spPr>
          <a:xfrm>
            <a:off x="6760031" y="3116304"/>
            <a:ext cx="4811741" cy="543413"/>
          </a:xfrm>
          <a:prstGeom prst="roundRect">
            <a:avLst>
              <a:gd name="adj" fmla="val 2018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EF3303DA-5495-8170-2930-DDB0387D9215}"/>
              </a:ext>
            </a:extLst>
          </p:cNvPr>
          <p:cNvSpPr txBox="1"/>
          <p:nvPr/>
        </p:nvSpPr>
        <p:spPr>
          <a:xfrm>
            <a:off x="6852967" y="3204178"/>
            <a:ext cx="4627833" cy="32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4BEFD098-C86E-F9DD-90D1-C86F8063472E}"/>
              </a:ext>
            </a:extLst>
          </p:cNvPr>
          <p:cNvSpPr>
            <a:spLocks/>
          </p:cNvSpPr>
          <p:nvPr/>
        </p:nvSpPr>
        <p:spPr>
          <a:xfrm>
            <a:off x="6760031" y="3738542"/>
            <a:ext cx="4811741" cy="543413"/>
          </a:xfrm>
          <a:prstGeom prst="roundRect">
            <a:avLst>
              <a:gd name="adj" fmla="val 2018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A8044CCF-26C6-D3AA-055F-55059422F399}"/>
              </a:ext>
            </a:extLst>
          </p:cNvPr>
          <p:cNvSpPr txBox="1"/>
          <p:nvPr/>
        </p:nvSpPr>
        <p:spPr>
          <a:xfrm>
            <a:off x="6852967" y="3826416"/>
            <a:ext cx="4718805" cy="32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8D9E184A-D7D3-987C-2CD8-6C0A680E1692}"/>
              </a:ext>
            </a:extLst>
          </p:cNvPr>
          <p:cNvSpPr>
            <a:spLocks/>
          </p:cNvSpPr>
          <p:nvPr/>
        </p:nvSpPr>
        <p:spPr>
          <a:xfrm>
            <a:off x="5802901" y="4591655"/>
            <a:ext cx="5946187" cy="899885"/>
          </a:xfrm>
          <a:prstGeom prst="roundRect">
            <a:avLst>
              <a:gd name="adj" fmla="val 2246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07D7CB76-1E83-0C46-5E27-7D8F4BB92EFE}"/>
              </a:ext>
            </a:extLst>
          </p:cNvPr>
          <p:cNvSpPr/>
          <p:nvPr/>
        </p:nvSpPr>
        <p:spPr>
          <a:xfrm>
            <a:off x="5803303" y="4591655"/>
            <a:ext cx="860538" cy="899885"/>
          </a:xfrm>
          <a:prstGeom prst="roundRect">
            <a:avLst>
              <a:gd name="adj" fmla="val 894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AACE0C18-6FB8-B994-69E5-F58A2814A02A}"/>
              </a:ext>
            </a:extLst>
          </p:cNvPr>
          <p:cNvSpPr txBox="1"/>
          <p:nvPr/>
        </p:nvSpPr>
        <p:spPr>
          <a:xfrm>
            <a:off x="5803303" y="4661173"/>
            <a:ext cx="860538" cy="3850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endParaRPr lang="zh-CN" altLang="en-US" sz="1800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A3E00A56-4288-56CE-7091-14E6B8200ABD}"/>
              </a:ext>
            </a:extLst>
          </p:cNvPr>
          <p:cNvSpPr txBox="1"/>
          <p:nvPr/>
        </p:nvSpPr>
        <p:spPr>
          <a:xfrm>
            <a:off x="6742252" y="4884300"/>
            <a:ext cx="48839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62E543F5-E662-1FEA-6659-52A867FD71F7}"/>
              </a:ext>
            </a:extLst>
          </p:cNvPr>
          <p:cNvSpPr>
            <a:spLocks/>
          </p:cNvSpPr>
          <p:nvPr/>
        </p:nvSpPr>
        <p:spPr>
          <a:xfrm>
            <a:off x="5802901" y="5628506"/>
            <a:ext cx="5946187" cy="899885"/>
          </a:xfrm>
          <a:prstGeom prst="roundRect">
            <a:avLst>
              <a:gd name="adj" fmla="val 1452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B0B640A8-38DC-EE31-50AC-58E5BCAB2B2B}"/>
              </a:ext>
            </a:extLst>
          </p:cNvPr>
          <p:cNvSpPr/>
          <p:nvPr/>
        </p:nvSpPr>
        <p:spPr>
          <a:xfrm>
            <a:off x="5803303" y="5628506"/>
            <a:ext cx="860538" cy="899885"/>
          </a:xfrm>
          <a:prstGeom prst="roundRect">
            <a:avLst>
              <a:gd name="adj" fmla="val 1171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06B8C372-BACD-16EF-565C-291C58E377C4}"/>
              </a:ext>
            </a:extLst>
          </p:cNvPr>
          <p:cNvSpPr txBox="1"/>
          <p:nvPr/>
        </p:nvSpPr>
        <p:spPr>
          <a:xfrm>
            <a:off x="5803303" y="5698024"/>
            <a:ext cx="860538" cy="3850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endParaRPr lang="zh-CN" altLang="en-US" sz="1800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94FA1A5F-D282-26A9-E5DB-641AE91E8BFC}"/>
              </a:ext>
            </a:extLst>
          </p:cNvPr>
          <p:cNvSpPr txBox="1"/>
          <p:nvPr/>
        </p:nvSpPr>
        <p:spPr>
          <a:xfrm>
            <a:off x="6742252" y="5796835"/>
            <a:ext cx="4883903" cy="3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24AF42-D2FB-08F7-5CAE-C74D6E903A59}"/>
              </a:ext>
            </a:extLst>
          </p:cNvPr>
          <p:cNvSpPr/>
          <p:nvPr/>
        </p:nvSpPr>
        <p:spPr>
          <a:xfrm>
            <a:off x="1143000" y="1714500"/>
            <a:ext cx="9906000" cy="419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4E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4410DB-3302-4F76-FA77-647445AE0BA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646" y="1714500"/>
            <a:ext cx="7446707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910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1EAE4-6472-D17B-AE46-895E1F389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98145D44-1CE2-DFB8-865A-6C18EB914DE0}"/>
              </a:ext>
            </a:extLst>
          </p:cNvPr>
          <p:cNvSpPr/>
          <p:nvPr/>
        </p:nvSpPr>
        <p:spPr>
          <a:xfrm>
            <a:off x="4746003" y="2313832"/>
            <a:ext cx="7003084" cy="4165603"/>
          </a:xfrm>
          <a:prstGeom prst="roundRect">
            <a:avLst>
              <a:gd name="adj" fmla="val 1384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solidFill>
              <a:srgbClr val="0B4FA1"/>
            </a:solidFill>
            <a:prstDash val="solid"/>
            <a:miter lim="800000"/>
          </a:ln>
          <a:effectLst>
            <a:outerShdw blurRad="304800" sx="102000" sy="102000" algn="ctr" rotWithShape="0">
              <a:schemeClr val="accent1">
                <a:alpha val="16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4D790B-92A7-989F-28B9-C977FE3CDBF9}"/>
              </a:ext>
            </a:extLst>
          </p:cNvPr>
          <p:cNvSpPr>
            <a:spLocks/>
          </p:cNvSpPr>
          <p:nvPr/>
        </p:nvSpPr>
        <p:spPr>
          <a:xfrm rot="16200000">
            <a:off x="505249" y="2412682"/>
            <a:ext cx="4165602" cy="3967903"/>
          </a:xfrm>
          <a:prstGeom prst="rect">
            <a:avLst/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solidFill>
              <a:srgbClr val="0B4FA1"/>
            </a:solidFill>
            <a:prstDash val="solid"/>
            <a:miter lim="800000"/>
          </a:ln>
          <a:effectLst>
            <a:outerShdw blurRad="304800" sx="102000" sy="102000" algn="ctr" rotWithShape="0">
              <a:schemeClr val="accent1">
                <a:alpha val="16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9497BA88-AC6C-71C4-5B6A-1C8C808E98EA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1.1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E0FF6C81-BA6D-113C-44C5-5D2EA3A76F7A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统一执行合同：跨模型抽象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EFE5007-6376-64C6-7AF9-D235A04A80FC}"/>
              </a:ext>
            </a:extLst>
          </p:cNvPr>
          <p:cNvSpPr/>
          <p:nvPr/>
        </p:nvSpPr>
        <p:spPr>
          <a:xfrm>
            <a:off x="442912" y="1147650"/>
            <a:ext cx="11306175" cy="1011350"/>
          </a:xfrm>
          <a:prstGeom prst="roundRect">
            <a:avLst>
              <a:gd name="adj" fmla="val 465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1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统一执行合同规定输入、状态、日志、输出和错误返回，是跨模型比较的基础。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9212DD-8DB6-7A68-A050-12670D321F9C}"/>
              </a:ext>
            </a:extLst>
          </p:cNvPr>
          <p:cNvSpPr txBox="1"/>
          <p:nvPr/>
        </p:nvSpPr>
        <p:spPr>
          <a:xfrm>
            <a:off x="442913" y="1214744"/>
            <a:ext cx="11306176" cy="46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ED38C6BF-2DCA-C070-AEFD-0BD580B86469}"/>
              </a:ext>
            </a:extLst>
          </p:cNvPr>
          <p:cNvSpPr/>
          <p:nvPr/>
        </p:nvSpPr>
        <p:spPr>
          <a:xfrm rot="16200000" flipH="1">
            <a:off x="476962" y="2784297"/>
            <a:ext cx="80272" cy="173997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: 单圆角 8">
            <a:extLst>
              <a:ext uri="{FF2B5EF4-FFF2-40B4-BE49-F238E27FC236}">
                <a16:creationId xmlns:a16="http://schemas.microsoft.com/office/drawing/2014/main" id="{9B0A6EE0-945D-AE85-72E0-0F5B34E4059E}"/>
              </a:ext>
            </a:extLst>
          </p:cNvPr>
          <p:cNvSpPr>
            <a:spLocks/>
          </p:cNvSpPr>
          <p:nvPr/>
        </p:nvSpPr>
        <p:spPr>
          <a:xfrm>
            <a:off x="430097" y="2442753"/>
            <a:ext cx="1901623" cy="393169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>
            <a:outerShdw blurRad="139700" dist="38100" dir="2700000" sx="103000" sy="103000" algn="tl" rotWithShape="0">
              <a:prstClr val="black">
                <a:alpha val="1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9511C6-438C-1701-441C-35072BBF4CCC}"/>
              </a:ext>
            </a:extLst>
          </p:cNvPr>
          <p:cNvSpPr txBox="1"/>
          <p:nvPr/>
        </p:nvSpPr>
        <p:spPr>
          <a:xfrm>
            <a:off x="604097" y="2450060"/>
            <a:ext cx="1727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2000" b="1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0931B6-05B6-AB1E-185C-281A9ADCFC1C}"/>
              </a:ext>
            </a:extLst>
          </p:cNvPr>
          <p:cNvSpPr/>
          <p:nvPr/>
        </p:nvSpPr>
        <p:spPr>
          <a:xfrm>
            <a:off x="874329" y="5160261"/>
            <a:ext cx="3483429" cy="357902"/>
          </a:xfrm>
          <a:prstGeom prst="rect">
            <a:avLst/>
          </a:prstGeom>
          <a:solidFill>
            <a:schemeClr val="accent1"/>
          </a:solidFill>
          <a:ln w="127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A1F4A3-36E3-3BA7-11D8-BEDB95D60543}"/>
              </a:ext>
            </a:extLst>
          </p:cNvPr>
          <p:cNvSpPr txBox="1"/>
          <p:nvPr/>
        </p:nvSpPr>
        <p:spPr>
          <a:xfrm>
            <a:off x="981619" y="5148831"/>
            <a:ext cx="3304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681A15-0FBC-A2D1-3C74-D9A34D4502B1}"/>
              </a:ext>
            </a:extLst>
          </p:cNvPr>
          <p:cNvSpPr txBox="1"/>
          <p:nvPr/>
        </p:nvSpPr>
        <p:spPr>
          <a:xfrm>
            <a:off x="798219" y="5648770"/>
            <a:ext cx="3579661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36F137E-901A-56AD-DA2E-84C5E59D10C7}"/>
              </a:ext>
            </a:extLst>
          </p:cNvPr>
          <p:cNvSpPr txBox="1"/>
          <p:nvPr/>
        </p:nvSpPr>
        <p:spPr>
          <a:xfrm>
            <a:off x="4833314" y="2435812"/>
            <a:ext cx="5985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5028CAC-A28C-E5AD-C14F-6C29AB51DE39}"/>
              </a:ext>
            </a:extLst>
          </p:cNvPr>
          <p:cNvSpPr/>
          <p:nvPr/>
        </p:nvSpPr>
        <p:spPr>
          <a:xfrm>
            <a:off x="9338003" y="3307602"/>
            <a:ext cx="2154921" cy="3658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28CFAB-D96C-E8F4-0909-534167721054}"/>
              </a:ext>
            </a:extLst>
          </p:cNvPr>
          <p:cNvSpPr txBox="1"/>
          <p:nvPr/>
        </p:nvSpPr>
        <p:spPr>
          <a:xfrm>
            <a:off x="9635143" y="3316627"/>
            <a:ext cx="1591771" cy="347788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uLnTx/>
              <a:uFillTx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550DE41-9230-4853-79B9-C7A3C5FE9ACC}"/>
              </a:ext>
            </a:extLst>
          </p:cNvPr>
          <p:cNvSpPr/>
          <p:nvPr/>
        </p:nvSpPr>
        <p:spPr>
          <a:xfrm>
            <a:off x="9338003" y="4370718"/>
            <a:ext cx="2154921" cy="3658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659CBF-CB65-7C4D-1D77-669674C82130}"/>
              </a:ext>
            </a:extLst>
          </p:cNvPr>
          <p:cNvSpPr txBox="1"/>
          <p:nvPr/>
        </p:nvSpPr>
        <p:spPr>
          <a:xfrm>
            <a:off x="9485511" y="4349552"/>
            <a:ext cx="1891034" cy="3766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uLnTx/>
              <a:uFillTx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23E9D72-C5F8-06C9-15F2-74E589D85E7E}"/>
              </a:ext>
            </a:extLst>
          </p:cNvPr>
          <p:cNvSpPr/>
          <p:nvPr/>
        </p:nvSpPr>
        <p:spPr>
          <a:xfrm>
            <a:off x="9338003" y="3839160"/>
            <a:ext cx="2154921" cy="3658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8DBD49-F9A7-8D97-6F18-E2FFCCD7FEE6}"/>
              </a:ext>
            </a:extLst>
          </p:cNvPr>
          <p:cNvSpPr txBox="1"/>
          <p:nvPr/>
        </p:nvSpPr>
        <p:spPr>
          <a:xfrm>
            <a:off x="9601890" y="3817994"/>
            <a:ext cx="1625024" cy="3766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uLnTx/>
              <a:uFillTx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0D4581F-27FC-6A87-2D66-C555633C72B4}"/>
              </a:ext>
            </a:extLst>
          </p:cNvPr>
          <p:cNvSpPr/>
          <p:nvPr/>
        </p:nvSpPr>
        <p:spPr>
          <a:xfrm>
            <a:off x="5046108" y="5222180"/>
            <a:ext cx="6541793" cy="1089720"/>
          </a:xfrm>
          <a:prstGeom prst="roundRect">
            <a:avLst>
              <a:gd name="adj" fmla="val 5371"/>
            </a:avLst>
          </a:prstGeom>
          <a:solidFill>
            <a:schemeClr val="accent1">
              <a:alpha val="5000"/>
            </a:schemeClr>
          </a:solidFill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DB874B4-1FB4-366F-AD92-6F09CF27FF12}"/>
              </a:ext>
            </a:extLst>
          </p:cNvPr>
          <p:cNvSpPr txBox="1"/>
          <p:nvPr/>
        </p:nvSpPr>
        <p:spPr>
          <a:xfrm>
            <a:off x="5161530" y="5365712"/>
            <a:ext cx="1795861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F870A4D-5763-68BC-39A4-5D18DC40E6CF}"/>
              </a:ext>
            </a:extLst>
          </p:cNvPr>
          <p:cNvCxnSpPr>
            <a:cxnSpLocks/>
          </p:cNvCxnSpPr>
          <p:nvPr/>
        </p:nvCxnSpPr>
        <p:spPr>
          <a:xfrm>
            <a:off x="7107966" y="5319515"/>
            <a:ext cx="0" cy="895050"/>
          </a:xfrm>
          <a:prstGeom prst="line">
            <a:avLst/>
          </a:prstGeom>
          <a:noFill/>
          <a:ln w="254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88B218F7-C27A-A7C8-FE1D-51DE65D30E78}"/>
              </a:ext>
            </a:extLst>
          </p:cNvPr>
          <p:cNvSpPr txBox="1"/>
          <p:nvPr/>
        </p:nvSpPr>
        <p:spPr>
          <a:xfrm>
            <a:off x="7148103" y="5419455"/>
            <a:ext cx="4344822" cy="3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zh-CN" altLang="en-US" sz="1600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8DD5F3-40BC-D41B-7AB3-43646E95AA4D}"/>
              </a:ext>
            </a:extLst>
          </p:cNvPr>
          <p:cNvSpPr/>
          <p:nvPr/>
        </p:nvSpPr>
        <p:spPr>
          <a:xfrm>
            <a:off x="1143000" y="1714500"/>
            <a:ext cx="9906000" cy="419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4E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382D75B-E3E4-DC40-15A1-8FBBA6738D5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646" y="1714500"/>
            <a:ext cx="7446707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072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6C448-FC36-35AA-A309-8666383D1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85A692C8-69B7-DF42-1D83-830EA65885C9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1.1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756D7332-671D-7D0A-7FA8-FCC77F89DBCA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跨模型实测：耗时差异明显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7A6ADFC-2041-7B88-8530-65151F96F530}"/>
              </a:ext>
            </a:extLst>
          </p:cNvPr>
          <p:cNvSpPr/>
          <p:nvPr/>
        </p:nvSpPr>
        <p:spPr>
          <a:xfrm>
            <a:off x="479426" y="1159628"/>
            <a:ext cx="11217274" cy="714367"/>
          </a:xfrm>
          <a:prstGeom prst="roundRect">
            <a:avLst>
              <a:gd name="adj" fmla="val 3293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远端视频输入下，不同模型推理耗时差异显著，说明统一调度和可观测记录具有工程必要性。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102B6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6C15BD-FC46-FE14-9215-A260C123F22B}"/>
              </a:ext>
            </a:extLst>
          </p:cNvPr>
          <p:cNvSpPr txBox="1"/>
          <p:nvPr/>
        </p:nvSpPr>
        <p:spPr>
          <a:xfrm>
            <a:off x="833648" y="1250488"/>
            <a:ext cx="10508830" cy="53264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400" b="1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Spann3R 24.8s</a:t>
            </a:r>
            <a:endParaRPr lang="zh-CN" altLang="en-US" sz="2400" b="1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云PPT-演示军团1">
            <a:extLst>
              <a:ext uri="{FF2B5EF4-FFF2-40B4-BE49-F238E27FC236}">
                <a16:creationId xmlns:a16="http://schemas.microsoft.com/office/drawing/2014/main" id="{DC74C6B0-04D3-7711-BE51-FC72DFFC244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183311" y="2406157"/>
            <a:ext cx="5511947" cy="4046855"/>
          </a:xfrm>
          <a:prstGeom prst="roundRect">
            <a:avLst>
              <a:gd name="adj" fmla="val 812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kern="0">
                <a:solidFill>
                  <a:srgbClr val="102B68"/>
                </a:solidFill>
                <a:latin typeface="微软雅黑" panose="020B0503020204020204" pitchFamily="34" charset="-122"/>
              </a:rPr>
              <a:t>MASt3R 95.0s</a:t>
            </a:r>
            <a:endParaRPr lang="en-US" kern="0" dirty="0">
              <a:solidFill>
                <a:srgbClr val="102B68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幻云PPT-演示军团19">
            <a:extLst>
              <a:ext uri="{FF2B5EF4-FFF2-40B4-BE49-F238E27FC236}">
                <a16:creationId xmlns:a16="http://schemas.microsoft.com/office/drawing/2014/main" id="{E8D00879-6D88-082B-87D9-96FE84AF528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183312" y="1964855"/>
            <a:ext cx="5527819" cy="578212"/>
          </a:xfrm>
          <a:prstGeom prst="roundRect">
            <a:avLst>
              <a:gd name="adj" fmla="val 5827"/>
            </a:avLst>
          </a:prstGeom>
          <a:solidFill>
            <a:schemeClr val="accent1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lIns="76535" tIns="38268" rIns="76535" bIns="38268" rtlCol="0" anchor="ctr"/>
          <a:lstStyle/>
          <a:p>
            <a:pPr algn="ctr"/>
            <a:r>
              <a:rPr lang="en-US" altLang="zh-CN" sz="2400" b="1" kern="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CUT3R 26.2s</a:t>
            </a:r>
            <a:endParaRPr lang="en-US" altLang="zh-CN" sz="2400" b="1" kern="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graphicFrame>
        <p:nvGraphicFramePr>
          <p:cNvPr id="8" name="幻云PPT-演示军团30">
            <a:extLst>
              <a:ext uri="{FF2B5EF4-FFF2-40B4-BE49-F238E27FC236}">
                <a16:creationId xmlns:a16="http://schemas.microsoft.com/office/drawing/2014/main" id="{C8695655-0342-72DF-8869-FE6EB9D41F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3799321"/>
              </p:ext>
            </p:extLst>
          </p:nvPr>
        </p:nvGraphicFramePr>
        <p:xfrm>
          <a:off x="6394475" y="2691144"/>
          <a:ext cx="5086667" cy="18480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1" name="幻云PPT-演示军团1">
            <a:extLst>
              <a:ext uri="{FF2B5EF4-FFF2-40B4-BE49-F238E27FC236}">
                <a16:creationId xmlns:a16="http://schemas.microsoft.com/office/drawing/2014/main" id="{7CFF70C4-586B-70DD-ECB9-5382CAE9B58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92809" y="2000799"/>
            <a:ext cx="5493285" cy="2062731"/>
          </a:xfrm>
          <a:prstGeom prst="roundRect">
            <a:avLst>
              <a:gd name="adj" fmla="val 617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DUSt3R 91.2s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02B68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  <p:sp>
        <p:nvSpPr>
          <p:cNvPr id="12" name="幻云PPT-演示军团19">
            <a:extLst>
              <a:ext uri="{FF2B5EF4-FFF2-40B4-BE49-F238E27FC236}">
                <a16:creationId xmlns:a16="http://schemas.microsoft.com/office/drawing/2014/main" id="{FA1B6605-A767-5DCD-85F8-936E73DFA66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92810" y="1979405"/>
            <a:ext cx="5493284" cy="453490"/>
          </a:xfrm>
          <a:prstGeom prst="roundRect">
            <a:avLst>
              <a:gd name="adj" fmla="val 3727"/>
            </a:avLst>
          </a:prstGeom>
          <a:solidFill>
            <a:schemeClr val="accent1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lIns="76535" tIns="38268" rIns="76535" bIns="38268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Fast3R 28.5s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102B6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3" name="幻云PPT-演示军团1">
            <a:extLst>
              <a:ext uri="{FF2B5EF4-FFF2-40B4-BE49-F238E27FC236}">
                <a16:creationId xmlns:a16="http://schemas.microsoft.com/office/drawing/2014/main" id="{DE03F39A-773D-E1A6-3B18-BB6342F826F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92809" y="4388399"/>
            <a:ext cx="5493285" cy="2062731"/>
          </a:xfrm>
          <a:prstGeom prst="roundRect">
            <a:avLst>
              <a:gd name="adj" fmla="val 617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kern="0" dirty="0">
              <a:solidFill>
                <a:srgbClr val="E5EDF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幻云PPT-演示军团19">
            <a:extLst>
              <a:ext uri="{FF2B5EF4-FFF2-40B4-BE49-F238E27FC236}">
                <a16:creationId xmlns:a16="http://schemas.microsoft.com/office/drawing/2014/main" id="{FC9ABA25-F49A-5E87-1639-F3F10118BDB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92810" y="4367005"/>
            <a:ext cx="5493284" cy="453490"/>
          </a:xfrm>
          <a:prstGeom prst="roundRect">
            <a:avLst>
              <a:gd name="adj" fmla="val 3727"/>
            </a:avLst>
          </a:prstGeom>
          <a:solidFill>
            <a:schemeClr val="accent1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lIns="76535" tIns="38268" rIns="76535" bIns="38268" rtlCol="0" anchor="ctr"/>
          <a:lstStyle/>
          <a:p>
            <a:pPr algn="ctr"/>
            <a:endParaRPr lang="en-US" altLang="zh-CN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5" name="幻云PPT-演示军团14">
            <a:extLst>
              <a:ext uri="{FF2B5EF4-FFF2-40B4-BE49-F238E27FC236}">
                <a16:creationId xmlns:a16="http://schemas.microsoft.com/office/drawing/2014/main" id="{040B9002-B667-5EE7-8CE0-771063B5BDFC}"/>
              </a:ext>
            </a:extLst>
          </p:cNvPr>
          <p:cNvSpPr/>
          <p:nvPr/>
        </p:nvSpPr>
        <p:spPr>
          <a:xfrm>
            <a:off x="658812" y="2640114"/>
            <a:ext cx="5113338" cy="1240786"/>
          </a:xfrm>
          <a:prstGeom prst="roundRect">
            <a:avLst>
              <a:gd name="adj" fmla="val 3651"/>
            </a:avLst>
          </a:prstGeom>
          <a:solidFill>
            <a:schemeClr val="accent3">
              <a:alpha val="30000"/>
            </a:schemeClr>
          </a:solidFill>
          <a:ln w="9525" cap="flat" cmpd="sng" algn="ctr">
            <a:solidFill>
              <a:schemeClr val="accent1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just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MonST3R 223.3s</a:t>
            </a:r>
            <a:endParaRPr kumimoji="0" lang="en-US" sz="1300" b="0" i="0" u="none" strike="noStrike" kern="0" cap="none" spc="0" normalizeH="0" baseline="0" noProof="0" dirty="0">
              <a:ln>
                <a:noFill/>
              </a:ln>
              <a:solidFill>
                <a:srgbClr val="102B68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幻云PPT-演示军团7">
            <a:extLst>
              <a:ext uri="{FF2B5EF4-FFF2-40B4-BE49-F238E27FC236}">
                <a16:creationId xmlns:a16="http://schemas.microsoft.com/office/drawing/2014/main" id="{D3826F87-801A-6A84-6749-4511D4D9615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48280" y="2737569"/>
            <a:ext cx="4799485" cy="707700"/>
          </a:xfrm>
          <a:prstGeom prst="rect">
            <a:avLst/>
          </a:prstGeom>
          <a:noFill/>
          <a:effectLst/>
        </p:spPr>
        <p:txBody>
          <a:bodyPr wrap="square" lIns="70363" tIns="35182" rIns="70363" bIns="35182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R" panose="00020600040101010101" pitchFamily="18" charset="-122"/>
              </a:rPr>
              <a:t>耗时仅作为调度与实验管理依据，不直接等同于模型优劣。</a:t>
            </a:r>
            <a:endParaRPr lang="en-US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R" panose="00020600040101010101" pitchFamily="18" charset="-122"/>
            </a:endParaRPr>
          </a:p>
        </p:txBody>
      </p:sp>
      <p:sp>
        <p:nvSpPr>
          <p:cNvPr id="17" name="幻云PPT-演示军团14">
            <a:extLst>
              <a:ext uri="{FF2B5EF4-FFF2-40B4-BE49-F238E27FC236}">
                <a16:creationId xmlns:a16="http://schemas.microsoft.com/office/drawing/2014/main" id="{B35ACE92-173B-D8DC-892C-AE6C0EB22421}"/>
              </a:ext>
            </a:extLst>
          </p:cNvPr>
          <p:cNvSpPr/>
          <p:nvPr/>
        </p:nvSpPr>
        <p:spPr>
          <a:xfrm>
            <a:off x="658812" y="5015559"/>
            <a:ext cx="5113338" cy="1240786"/>
          </a:xfrm>
          <a:prstGeom prst="roundRect">
            <a:avLst>
              <a:gd name="adj" fmla="val 3651"/>
            </a:avLst>
          </a:prstGeom>
          <a:solidFill>
            <a:schemeClr val="accent3">
              <a:alpha val="30000"/>
            </a:schemeClr>
          </a:solidFill>
          <a:ln w="9525" cap="flat" cmpd="sng" algn="ctr">
            <a:solidFill>
              <a:schemeClr val="accent1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幻云PPT-演示军团7">
            <a:extLst>
              <a:ext uri="{FF2B5EF4-FFF2-40B4-BE49-F238E27FC236}">
                <a16:creationId xmlns:a16="http://schemas.microsoft.com/office/drawing/2014/main" id="{4E9E99BE-FA2A-1B93-278B-582988BCEB65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48280" y="5113014"/>
            <a:ext cx="4799485" cy="375302"/>
          </a:xfrm>
          <a:prstGeom prst="rect">
            <a:avLst/>
          </a:prstGeom>
          <a:noFill/>
          <a:effectLst/>
        </p:spPr>
        <p:txBody>
          <a:bodyPr wrap="square" lIns="70363" tIns="35182" rIns="70363" bIns="35182" rtlCol="0">
            <a:spAutoFit/>
          </a:bodyPr>
          <a:lstStyle/>
          <a:p>
            <a:pPr>
              <a:lnSpc>
                <a:spcPct val="120000"/>
              </a:lnSpc>
            </a:pPr>
            <a:endParaRPr 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R" panose="00020600040101010101" pitchFamily="18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972FAF-FB3C-B379-F10F-6DE1AE3B7E90}"/>
              </a:ext>
            </a:extLst>
          </p:cNvPr>
          <p:cNvSpPr/>
          <p:nvPr/>
        </p:nvSpPr>
        <p:spPr>
          <a:xfrm>
            <a:off x="889000" y="1587500"/>
            <a:ext cx="10414000" cy="450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4E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525CE754-AE6F-4728-A8C5-15E8ED31D096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372" y="1587500"/>
            <a:ext cx="8247256" cy="450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94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1EAE4-6472-D17B-AE46-895E1F389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98145D44-1CE2-DFB8-865A-6C18EB914DE0}"/>
              </a:ext>
            </a:extLst>
          </p:cNvPr>
          <p:cNvSpPr/>
          <p:nvPr/>
        </p:nvSpPr>
        <p:spPr>
          <a:xfrm>
            <a:off x="4746003" y="2313832"/>
            <a:ext cx="7003084" cy="4165603"/>
          </a:xfrm>
          <a:prstGeom prst="roundRect">
            <a:avLst>
              <a:gd name="adj" fmla="val 1384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solidFill>
              <a:srgbClr val="0B4FA1"/>
            </a:solidFill>
            <a:prstDash val="solid"/>
            <a:miter lim="800000"/>
          </a:ln>
          <a:effectLst>
            <a:outerShdw blurRad="304800" sx="102000" sy="102000" algn="ctr" rotWithShape="0">
              <a:schemeClr val="accent1">
                <a:alpha val="16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4D790B-92A7-989F-28B9-C977FE3CDBF9}"/>
              </a:ext>
            </a:extLst>
          </p:cNvPr>
          <p:cNvSpPr>
            <a:spLocks/>
          </p:cNvSpPr>
          <p:nvPr/>
        </p:nvSpPr>
        <p:spPr>
          <a:xfrm rot="16200000">
            <a:off x="505249" y="2412682"/>
            <a:ext cx="4165602" cy="3967903"/>
          </a:xfrm>
          <a:prstGeom prst="rect">
            <a:avLst/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solidFill>
              <a:srgbClr val="0B4FA1"/>
            </a:solidFill>
            <a:prstDash val="solid"/>
            <a:miter lim="800000"/>
          </a:ln>
          <a:effectLst>
            <a:outerShdw blurRad="304800" sx="102000" sy="102000" algn="ctr" rotWithShape="0">
              <a:schemeClr val="accent1">
                <a:alpha val="16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9497BA88-AC6C-71C4-5B6A-1C8C808E98EA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1.1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E0FF6C81-BA6D-113C-44C5-5D2EA3A76F7A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实验设计：三层证据链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EFE5007-6376-64C6-7AF9-D235A04A80FC}"/>
              </a:ext>
            </a:extLst>
          </p:cNvPr>
          <p:cNvSpPr/>
          <p:nvPr/>
        </p:nvSpPr>
        <p:spPr>
          <a:xfrm>
            <a:off x="442912" y="1147650"/>
            <a:ext cx="11306175" cy="1011350"/>
          </a:xfrm>
          <a:prstGeom prst="roundRect">
            <a:avLst>
              <a:gd name="adj" fmla="val 465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1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实验设计围绕场景覆盖、校验消融、长序列评测和平台复用能力展开。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9212DD-8DB6-7A68-A050-12670D321F9C}"/>
              </a:ext>
            </a:extLst>
          </p:cNvPr>
          <p:cNvSpPr txBox="1"/>
          <p:nvPr/>
        </p:nvSpPr>
        <p:spPr>
          <a:xfrm>
            <a:off x="442913" y="1214744"/>
            <a:ext cx="11306176" cy="46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ED38C6BF-2DCA-C070-AEFD-0BD580B86469}"/>
              </a:ext>
            </a:extLst>
          </p:cNvPr>
          <p:cNvSpPr/>
          <p:nvPr/>
        </p:nvSpPr>
        <p:spPr>
          <a:xfrm rot="16200000" flipH="1">
            <a:off x="476962" y="2784297"/>
            <a:ext cx="80272" cy="173997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: 单圆角 8">
            <a:extLst>
              <a:ext uri="{FF2B5EF4-FFF2-40B4-BE49-F238E27FC236}">
                <a16:creationId xmlns:a16="http://schemas.microsoft.com/office/drawing/2014/main" id="{9B0A6EE0-945D-AE85-72E0-0F5B34E4059E}"/>
              </a:ext>
            </a:extLst>
          </p:cNvPr>
          <p:cNvSpPr>
            <a:spLocks/>
          </p:cNvSpPr>
          <p:nvPr/>
        </p:nvSpPr>
        <p:spPr>
          <a:xfrm>
            <a:off x="430097" y="2442753"/>
            <a:ext cx="1901623" cy="393169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>
            <a:outerShdw blurRad="139700" dist="38100" dir="2700000" sx="103000" sy="103000" algn="tl" rotWithShape="0">
              <a:prstClr val="black">
                <a:alpha val="1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9511C6-438C-1701-441C-35072BBF4CCC}"/>
              </a:ext>
            </a:extLst>
          </p:cNvPr>
          <p:cNvSpPr txBox="1"/>
          <p:nvPr/>
        </p:nvSpPr>
        <p:spPr>
          <a:xfrm>
            <a:off x="604097" y="2450060"/>
            <a:ext cx="1727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2000" b="1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0931B6-05B6-AB1E-185C-281A9ADCFC1C}"/>
              </a:ext>
            </a:extLst>
          </p:cNvPr>
          <p:cNvSpPr/>
          <p:nvPr/>
        </p:nvSpPr>
        <p:spPr>
          <a:xfrm>
            <a:off x="874329" y="5160261"/>
            <a:ext cx="3483429" cy="357902"/>
          </a:xfrm>
          <a:prstGeom prst="rect">
            <a:avLst/>
          </a:prstGeom>
          <a:solidFill>
            <a:schemeClr val="accent1"/>
          </a:solidFill>
          <a:ln w="127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A1F4A3-36E3-3BA7-11D8-BEDB95D60543}"/>
              </a:ext>
            </a:extLst>
          </p:cNvPr>
          <p:cNvSpPr txBox="1"/>
          <p:nvPr/>
        </p:nvSpPr>
        <p:spPr>
          <a:xfrm>
            <a:off x="981619" y="5148831"/>
            <a:ext cx="3304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681A15-0FBC-A2D1-3C74-D9A34D4502B1}"/>
              </a:ext>
            </a:extLst>
          </p:cNvPr>
          <p:cNvSpPr txBox="1"/>
          <p:nvPr/>
        </p:nvSpPr>
        <p:spPr>
          <a:xfrm>
            <a:off x="798219" y="5648770"/>
            <a:ext cx="3579661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36F137E-901A-56AD-DA2E-84C5E59D10C7}"/>
              </a:ext>
            </a:extLst>
          </p:cNvPr>
          <p:cNvSpPr txBox="1"/>
          <p:nvPr/>
        </p:nvSpPr>
        <p:spPr>
          <a:xfrm>
            <a:off x="4833314" y="2435812"/>
            <a:ext cx="5985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5028CAC-A28C-E5AD-C14F-6C29AB51DE39}"/>
              </a:ext>
            </a:extLst>
          </p:cNvPr>
          <p:cNvSpPr/>
          <p:nvPr/>
        </p:nvSpPr>
        <p:spPr>
          <a:xfrm>
            <a:off x="9338003" y="3307602"/>
            <a:ext cx="2154921" cy="3658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28CFAB-D96C-E8F4-0909-534167721054}"/>
              </a:ext>
            </a:extLst>
          </p:cNvPr>
          <p:cNvSpPr txBox="1"/>
          <p:nvPr/>
        </p:nvSpPr>
        <p:spPr>
          <a:xfrm>
            <a:off x="9635143" y="3316627"/>
            <a:ext cx="1591771" cy="347788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uLnTx/>
              <a:uFillTx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550DE41-9230-4853-79B9-C7A3C5FE9ACC}"/>
              </a:ext>
            </a:extLst>
          </p:cNvPr>
          <p:cNvSpPr/>
          <p:nvPr/>
        </p:nvSpPr>
        <p:spPr>
          <a:xfrm>
            <a:off x="9338003" y="4370718"/>
            <a:ext cx="2154921" cy="3658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659CBF-CB65-7C4D-1D77-669674C82130}"/>
              </a:ext>
            </a:extLst>
          </p:cNvPr>
          <p:cNvSpPr txBox="1"/>
          <p:nvPr/>
        </p:nvSpPr>
        <p:spPr>
          <a:xfrm>
            <a:off x="9485511" y="4349552"/>
            <a:ext cx="1891034" cy="3766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uLnTx/>
              <a:uFillTx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23E9D72-C5F8-06C9-15F2-74E589D85E7E}"/>
              </a:ext>
            </a:extLst>
          </p:cNvPr>
          <p:cNvSpPr/>
          <p:nvPr/>
        </p:nvSpPr>
        <p:spPr>
          <a:xfrm>
            <a:off x="9338003" y="3839160"/>
            <a:ext cx="2154921" cy="3658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8DBD49-F9A7-8D97-6F18-E2FFCCD7FEE6}"/>
              </a:ext>
            </a:extLst>
          </p:cNvPr>
          <p:cNvSpPr txBox="1"/>
          <p:nvPr/>
        </p:nvSpPr>
        <p:spPr>
          <a:xfrm>
            <a:off x="9601890" y="3817994"/>
            <a:ext cx="1625024" cy="3766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uLnTx/>
              <a:uFillTx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0D4581F-27FC-6A87-2D66-C555633C72B4}"/>
              </a:ext>
            </a:extLst>
          </p:cNvPr>
          <p:cNvSpPr/>
          <p:nvPr/>
        </p:nvSpPr>
        <p:spPr>
          <a:xfrm>
            <a:off x="5046108" y="5222180"/>
            <a:ext cx="6541793" cy="1089720"/>
          </a:xfrm>
          <a:prstGeom prst="roundRect">
            <a:avLst>
              <a:gd name="adj" fmla="val 5371"/>
            </a:avLst>
          </a:prstGeom>
          <a:solidFill>
            <a:schemeClr val="accent1">
              <a:alpha val="5000"/>
            </a:schemeClr>
          </a:solidFill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DB874B4-1FB4-366F-AD92-6F09CF27FF12}"/>
              </a:ext>
            </a:extLst>
          </p:cNvPr>
          <p:cNvSpPr txBox="1"/>
          <p:nvPr/>
        </p:nvSpPr>
        <p:spPr>
          <a:xfrm>
            <a:off x="5161530" y="5365712"/>
            <a:ext cx="1795861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F870A4D-5763-68BC-39A4-5D18DC40E6CF}"/>
              </a:ext>
            </a:extLst>
          </p:cNvPr>
          <p:cNvCxnSpPr>
            <a:cxnSpLocks/>
          </p:cNvCxnSpPr>
          <p:nvPr/>
        </p:nvCxnSpPr>
        <p:spPr>
          <a:xfrm>
            <a:off x="7107966" y="5319515"/>
            <a:ext cx="0" cy="895050"/>
          </a:xfrm>
          <a:prstGeom prst="line">
            <a:avLst/>
          </a:prstGeom>
          <a:noFill/>
          <a:ln w="254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88B218F7-C27A-A7C8-FE1D-51DE65D30E78}"/>
              </a:ext>
            </a:extLst>
          </p:cNvPr>
          <p:cNvSpPr txBox="1"/>
          <p:nvPr/>
        </p:nvSpPr>
        <p:spPr>
          <a:xfrm>
            <a:off x="7148103" y="5419455"/>
            <a:ext cx="4344822" cy="3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zh-CN" altLang="en-US" sz="1600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C2E96C-B40C-D7A6-CE6C-1D58658397F6}"/>
              </a:ext>
            </a:extLst>
          </p:cNvPr>
          <p:cNvSpPr/>
          <p:nvPr/>
        </p:nvSpPr>
        <p:spPr>
          <a:xfrm>
            <a:off x="1143000" y="1714500"/>
            <a:ext cx="9906000" cy="419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4E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C97676C-1D48-1C0D-B623-12CC8B845F1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646" y="1714500"/>
            <a:ext cx="7446707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39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200FB-E7F6-9EDF-7A42-552B3168F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A16A27DE-0CC3-E2DF-043F-108E3E31018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1.1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FAA32E8-1BA4-370D-93AB-7CBC6F780926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创新点：问题驱动的四项设计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B0C900E-EE19-3EC2-4408-C9195BC0D313}"/>
              </a:ext>
            </a:extLst>
          </p:cNvPr>
          <p:cNvSpPr/>
          <p:nvPr/>
        </p:nvSpPr>
        <p:spPr>
          <a:xfrm>
            <a:off x="460262" y="1154391"/>
            <a:ext cx="3217658" cy="2447925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创新点 </a:t>
            </a:r>
            <a:r>
              <a:rPr lang="en-US" altLang="zh-CN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9ACB5EF-E4B1-5042-609C-A27EC6DEFCAC}"/>
              </a:ext>
            </a:extLst>
          </p:cNvPr>
          <p:cNvSpPr/>
          <p:nvPr/>
        </p:nvSpPr>
        <p:spPr>
          <a:xfrm>
            <a:off x="460262" y="1154391"/>
            <a:ext cx="3217657" cy="529971"/>
          </a:xfrm>
          <a:prstGeom prst="roundRect">
            <a:avLst>
              <a:gd name="adj" fmla="val 7616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校验作为架构组件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52C00E2-4A63-7FD5-98E6-0E5CE0880690}"/>
              </a:ext>
            </a:extLst>
          </p:cNvPr>
          <p:cNvSpPr txBox="1"/>
          <p:nvPr/>
        </p:nvSpPr>
        <p:spPr>
          <a:xfrm>
            <a:off x="527206" y="1203933"/>
            <a:ext cx="30837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b="1">
                <a:solidFill>
                  <a:srgbClr val="102B68"/>
                </a:solidFill>
                <a:effectLst>
                  <a:outerShdw blurRad="50800" dist="38100" dir="5400000" algn="t" rotWithShape="0">
                    <a:srgbClr val="0B4FA1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创新点 </a:t>
            </a:r>
            <a:r>
              <a:rPr lang="en-US" altLang="zh-CN" sz="2200" b="1">
                <a:solidFill>
                  <a:srgbClr val="102B68"/>
                </a:solidFill>
                <a:effectLst>
                  <a:outerShdw blurRad="50800" dist="38100" dir="5400000" algn="t" rotWithShape="0">
                    <a:srgbClr val="0B4FA1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200" b="1" dirty="0">
              <a:solidFill>
                <a:srgbClr val="102B68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11598F8-3FE7-27BD-63DE-74CC285E1FEB}"/>
              </a:ext>
            </a:extLst>
          </p:cNvPr>
          <p:cNvSpPr/>
          <p:nvPr/>
        </p:nvSpPr>
        <p:spPr>
          <a:xfrm>
            <a:off x="4487171" y="1154391"/>
            <a:ext cx="3217658" cy="2447925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创新点 </a:t>
            </a:r>
            <a:r>
              <a:rPr lang="en-US" altLang="zh-CN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7631436-E87F-24A5-9B0B-27D2B1821549}"/>
              </a:ext>
            </a:extLst>
          </p:cNvPr>
          <p:cNvSpPr/>
          <p:nvPr/>
        </p:nvSpPr>
        <p:spPr>
          <a:xfrm>
            <a:off x="4487171" y="1154391"/>
            <a:ext cx="3217657" cy="529971"/>
          </a:xfrm>
          <a:prstGeom prst="roundRect">
            <a:avLst>
              <a:gd name="adj" fmla="val 7616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异构多专家组合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AD95176-9A19-2F09-A416-0A126A53CC4C}"/>
              </a:ext>
            </a:extLst>
          </p:cNvPr>
          <p:cNvSpPr/>
          <p:nvPr/>
        </p:nvSpPr>
        <p:spPr>
          <a:xfrm>
            <a:off x="8514080" y="1154391"/>
            <a:ext cx="3217658" cy="2447925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创新点 </a:t>
            </a:r>
            <a:r>
              <a:rPr lang="en-US" altLang="zh-CN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463FAA0-A598-B9F6-2ABD-BEB9C89E0A03}"/>
              </a:ext>
            </a:extLst>
          </p:cNvPr>
          <p:cNvSpPr/>
          <p:nvPr/>
        </p:nvSpPr>
        <p:spPr>
          <a:xfrm>
            <a:off x="8514080" y="1154391"/>
            <a:ext cx="3217657" cy="529971"/>
          </a:xfrm>
          <a:prstGeom prst="roundRect">
            <a:avLst>
              <a:gd name="adj" fmla="val 7616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长序列内存统一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227201A-C56A-F54E-06F3-0F11A099B607}"/>
              </a:ext>
            </a:extLst>
          </p:cNvPr>
          <p:cNvSpPr txBox="1"/>
          <p:nvPr/>
        </p:nvSpPr>
        <p:spPr>
          <a:xfrm>
            <a:off x="4554115" y="1203933"/>
            <a:ext cx="30837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b="1">
                <a:solidFill>
                  <a:srgbClr val="102B68"/>
                </a:solidFill>
                <a:effectLst>
                  <a:outerShdw blurRad="50800" dist="38100" dir="5400000" algn="t" rotWithShape="0">
                    <a:srgbClr val="0B4FA1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统一聚合管理平台</a:t>
            </a:r>
            <a:endParaRPr lang="zh-CN" altLang="en-US" sz="2200" b="1" dirty="0">
              <a:solidFill>
                <a:srgbClr val="102B68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5D8919B-D9F9-C50A-0EDB-F2884BEC914C}"/>
              </a:ext>
            </a:extLst>
          </p:cNvPr>
          <p:cNvSpPr txBox="1"/>
          <p:nvPr/>
        </p:nvSpPr>
        <p:spPr>
          <a:xfrm>
            <a:off x="8581026" y="1203933"/>
            <a:ext cx="308376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b="1">
                <a:solidFill>
                  <a:srgbClr val="102B68"/>
                </a:solidFill>
                <a:effectLst>
                  <a:outerShdw blurRad="50800" dist="38100" dir="5400000" algn="t" rotWithShape="0">
                    <a:srgbClr val="0B4FA1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创新点均从研究问题出发，后续通过对照实验验证。</a:t>
            </a:r>
            <a:endParaRPr lang="zh-CN" altLang="en-US" sz="2200" b="1" dirty="0">
              <a:solidFill>
                <a:srgbClr val="102B68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7670CBA-BE63-3B39-C359-020114604DAA}"/>
              </a:ext>
            </a:extLst>
          </p:cNvPr>
          <p:cNvSpPr/>
          <p:nvPr/>
        </p:nvSpPr>
        <p:spPr>
          <a:xfrm>
            <a:off x="460262" y="3713292"/>
            <a:ext cx="11287238" cy="2842500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33FB637-12C7-851A-4E40-3894586DEDD0}"/>
              </a:ext>
            </a:extLst>
          </p:cNvPr>
          <p:cNvSpPr>
            <a:spLocks/>
          </p:cNvSpPr>
          <p:nvPr/>
        </p:nvSpPr>
        <p:spPr>
          <a:xfrm>
            <a:off x="802287" y="4066653"/>
            <a:ext cx="6893007" cy="958596"/>
          </a:xfrm>
          <a:prstGeom prst="roundRect">
            <a:avLst>
              <a:gd name="adj" fmla="val 796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B529CE1-9D44-9564-5A3E-A2503FC3A437}"/>
              </a:ext>
            </a:extLst>
          </p:cNvPr>
          <p:cNvSpPr>
            <a:spLocks/>
          </p:cNvSpPr>
          <p:nvPr/>
        </p:nvSpPr>
        <p:spPr>
          <a:xfrm>
            <a:off x="802287" y="5243836"/>
            <a:ext cx="6893007" cy="958596"/>
          </a:xfrm>
          <a:prstGeom prst="roundRect">
            <a:avLst>
              <a:gd name="adj" fmla="val 796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F43FDAB-A6E6-7276-CC71-24F4AA4988B4}"/>
              </a:ext>
            </a:extLst>
          </p:cNvPr>
          <p:cNvSpPr txBox="1"/>
          <p:nvPr/>
        </p:nvSpPr>
        <p:spPr>
          <a:xfrm>
            <a:off x="627948" y="1803515"/>
            <a:ext cx="29733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endParaRPr lang="zh-CN" altLang="en-US" sz="2000" dirty="0">
              <a:solidFill>
                <a:schemeClr val="accent1"/>
              </a:solidFill>
              <a:effectLst>
                <a:glow rad="38100">
                  <a:prstClr val="white"/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384B477-D2B9-BF7A-E04B-4EACE0417FB1}"/>
              </a:ext>
            </a:extLst>
          </p:cNvPr>
          <p:cNvSpPr>
            <a:spLocks/>
          </p:cNvSpPr>
          <p:nvPr/>
        </p:nvSpPr>
        <p:spPr>
          <a:xfrm>
            <a:off x="738130" y="2223309"/>
            <a:ext cx="2756910" cy="1180549"/>
          </a:xfrm>
          <a:prstGeom prst="roundRect">
            <a:avLst>
              <a:gd name="adj" fmla="val 796"/>
            </a:avLst>
          </a:prstGeom>
          <a:solidFill>
            <a:schemeClr val="accent1">
              <a:alpha val="4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F1D4C3B-8E5B-A3A0-8E48-958324C4814D}"/>
              </a:ext>
            </a:extLst>
          </p:cNvPr>
          <p:cNvSpPr txBox="1"/>
          <p:nvPr/>
        </p:nvSpPr>
        <p:spPr>
          <a:xfrm>
            <a:off x="4609329" y="1803515"/>
            <a:ext cx="29733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endParaRPr lang="zh-CN" altLang="en-US" sz="2000" dirty="0">
              <a:solidFill>
                <a:schemeClr val="accent1"/>
              </a:solidFill>
              <a:effectLst>
                <a:glow rad="38100">
                  <a:prstClr val="white"/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DB3345E-DFF8-A6B3-A12B-57328997F7D2}"/>
              </a:ext>
            </a:extLst>
          </p:cNvPr>
          <p:cNvSpPr txBox="1"/>
          <p:nvPr/>
        </p:nvSpPr>
        <p:spPr>
          <a:xfrm>
            <a:off x="8636237" y="1803515"/>
            <a:ext cx="29733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endParaRPr lang="zh-CN" altLang="en-US" sz="2000" dirty="0">
              <a:solidFill>
                <a:schemeClr val="accent1"/>
              </a:solidFill>
              <a:effectLst>
                <a:glow rad="38100">
                  <a:prstClr val="white"/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5C22C74-EF33-8FD5-B9B4-878E20373438}"/>
              </a:ext>
            </a:extLst>
          </p:cNvPr>
          <p:cNvSpPr>
            <a:spLocks/>
          </p:cNvSpPr>
          <p:nvPr/>
        </p:nvSpPr>
        <p:spPr>
          <a:xfrm>
            <a:off x="4717544" y="2223309"/>
            <a:ext cx="2756910" cy="1180549"/>
          </a:xfrm>
          <a:prstGeom prst="roundRect">
            <a:avLst>
              <a:gd name="adj" fmla="val 796"/>
            </a:avLst>
          </a:prstGeom>
          <a:solidFill>
            <a:schemeClr val="accent1">
              <a:alpha val="4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EE12B27-D291-C1F6-A97E-BA0019D313A5}"/>
              </a:ext>
            </a:extLst>
          </p:cNvPr>
          <p:cNvSpPr>
            <a:spLocks/>
          </p:cNvSpPr>
          <p:nvPr/>
        </p:nvSpPr>
        <p:spPr>
          <a:xfrm>
            <a:off x="8744453" y="2223309"/>
            <a:ext cx="2756910" cy="1180549"/>
          </a:xfrm>
          <a:prstGeom prst="roundRect">
            <a:avLst>
              <a:gd name="adj" fmla="val 796"/>
            </a:avLst>
          </a:prstGeom>
          <a:solidFill>
            <a:schemeClr val="accent1">
              <a:alpha val="4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352D279-92FF-0EA9-0936-7331490A4A8E}"/>
              </a:ext>
            </a:extLst>
          </p:cNvPr>
          <p:cNvSpPr txBox="1"/>
          <p:nvPr/>
        </p:nvSpPr>
        <p:spPr>
          <a:xfrm>
            <a:off x="802286" y="2334285"/>
            <a:ext cx="2692753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61240FC-062D-BF06-867F-4BC2ADFB0DC8}"/>
              </a:ext>
            </a:extLst>
          </p:cNvPr>
          <p:cNvSpPr txBox="1"/>
          <p:nvPr/>
        </p:nvSpPr>
        <p:spPr>
          <a:xfrm>
            <a:off x="4749622" y="2334285"/>
            <a:ext cx="2692753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1993114-CAB3-DFDD-B328-DDFA6F661EDB}"/>
              </a:ext>
            </a:extLst>
          </p:cNvPr>
          <p:cNvSpPr txBox="1"/>
          <p:nvPr/>
        </p:nvSpPr>
        <p:spPr>
          <a:xfrm>
            <a:off x="8776531" y="2334285"/>
            <a:ext cx="2692753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89952DB3-035E-D0A2-074C-9058E2275499}"/>
              </a:ext>
            </a:extLst>
          </p:cNvPr>
          <p:cNvSpPr/>
          <p:nvPr/>
        </p:nvSpPr>
        <p:spPr>
          <a:xfrm>
            <a:off x="3793106" y="2404072"/>
            <a:ext cx="626371" cy="409511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7" name="箭头: 右 46">
            <a:extLst>
              <a:ext uri="{FF2B5EF4-FFF2-40B4-BE49-F238E27FC236}">
                <a16:creationId xmlns:a16="http://schemas.microsoft.com/office/drawing/2014/main" id="{FCF61D94-9153-0197-6B2C-6931A8BECEB3}"/>
              </a:ext>
            </a:extLst>
          </p:cNvPr>
          <p:cNvSpPr/>
          <p:nvPr/>
        </p:nvSpPr>
        <p:spPr>
          <a:xfrm>
            <a:off x="7819096" y="2404072"/>
            <a:ext cx="626371" cy="409511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2A8948B-F057-9650-9867-0D2F1AE401A0}"/>
              </a:ext>
            </a:extLst>
          </p:cNvPr>
          <p:cNvSpPr txBox="1"/>
          <p:nvPr/>
        </p:nvSpPr>
        <p:spPr>
          <a:xfrm>
            <a:off x="916310" y="4192008"/>
            <a:ext cx="10140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2000" b="1" dirty="0">
              <a:solidFill>
                <a:schemeClr val="accent1"/>
              </a:solidFill>
              <a:effectLst>
                <a:glow rad="38100">
                  <a:prstClr val="white"/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26D852ED-4B73-6A71-CD2B-B19480EC8676}"/>
              </a:ext>
            </a:extLst>
          </p:cNvPr>
          <p:cNvCxnSpPr>
            <a:cxnSpLocks/>
          </p:cNvCxnSpPr>
          <p:nvPr/>
        </p:nvCxnSpPr>
        <p:spPr>
          <a:xfrm>
            <a:off x="1960878" y="4235458"/>
            <a:ext cx="0" cy="620985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ash"/>
            <a:miter lim="800000"/>
          </a:ln>
          <a:effectLst/>
        </p:spPr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BF6C2C5E-4047-2F75-11C7-8B426C12A05E}"/>
              </a:ext>
            </a:extLst>
          </p:cNvPr>
          <p:cNvSpPr txBox="1"/>
          <p:nvPr/>
        </p:nvSpPr>
        <p:spPr>
          <a:xfrm>
            <a:off x="2069090" y="4214386"/>
            <a:ext cx="5292288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DA8340F-D987-2C48-FFD5-8BC38977C380}"/>
              </a:ext>
            </a:extLst>
          </p:cNvPr>
          <p:cNvSpPr txBox="1"/>
          <p:nvPr/>
        </p:nvSpPr>
        <p:spPr>
          <a:xfrm>
            <a:off x="916310" y="5372075"/>
            <a:ext cx="10140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2000" b="1" dirty="0">
              <a:solidFill>
                <a:schemeClr val="accent1"/>
              </a:solidFill>
              <a:effectLst>
                <a:glow rad="38100">
                  <a:prstClr val="white"/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30FB4EB4-3D9A-667B-C12F-4A1FB9AC5CFE}"/>
              </a:ext>
            </a:extLst>
          </p:cNvPr>
          <p:cNvCxnSpPr>
            <a:cxnSpLocks/>
          </p:cNvCxnSpPr>
          <p:nvPr/>
        </p:nvCxnSpPr>
        <p:spPr>
          <a:xfrm>
            <a:off x="1960878" y="5415525"/>
            <a:ext cx="0" cy="620985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ash"/>
            <a:miter lim="800000"/>
          </a:ln>
          <a:effectLst/>
        </p:spPr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5898660D-2A53-168C-E67A-584C7E110514}"/>
              </a:ext>
            </a:extLst>
          </p:cNvPr>
          <p:cNvSpPr txBox="1"/>
          <p:nvPr/>
        </p:nvSpPr>
        <p:spPr>
          <a:xfrm>
            <a:off x="2069090" y="5394453"/>
            <a:ext cx="5292288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" name="Picture 4">
            <a:extLst>
              <a:ext uri="{FF2B5EF4-FFF2-40B4-BE49-F238E27FC236}">
                <a16:creationId xmlns:a16="http://schemas.microsoft.com/office/drawing/2014/main" id="{2898DB00-E73E-AD67-C694-E44157D21B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88" t="44509"/>
          <a:stretch/>
        </p:blipFill>
        <p:spPr bwMode="auto">
          <a:xfrm>
            <a:off x="8193058" y="3913510"/>
            <a:ext cx="3082632" cy="2491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BAD7375-6782-4D62-C757-B2333E18392E}"/>
              </a:ext>
            </a:extLst>
          </p:cNvPr>
          <p:cNvSpPr/>
          <p:nvPr/>
        </p:nvSpPr>
        <p:spPr>
          <a:xfrm>
            <a:off x="4826000" y="3111500"/>
            <a:ext cx="63500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4E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755877-1EA9-54B2-89DD-59AE2FE70EC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764" y="3111500"/>
            <a:ext cx="4964472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591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2E450-5FC0-8ED5-CA22-DB453C345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0815A518-D4FF-BF83-67B8-80B3B6DFEB2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1.1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A36E4FF5-8E54-C76A-8E98-5403EBB7F367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支柱 </a:t>
            </a:r>
            <a:r>
              <a:rPr lang="en-US" altLang="zh-CN" sz="2800" b="1">
                <a:solidFill>
                  <a:schemeClr val="accent1"/>
                </a:solidFill>
              </a:rPr>
              <a:t>A </a:t>
            </a:r>
            <a:r>
              <a:rPr lang="zh-CN" altLang="en-US" sz="2800" b="1">
                <a:solidFill>
                  <a:schemeClr val="accent1"/>
                </a:solidFill>
              </a:rPr>
              <a:t>进展：候选架构入口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0E91F20A-1575-F121-A924-413A88AC7D8B}"/>
              </a:ext>
            </a:extLst>
          </p:cNvPr>
          <p:cNvSpPr>
            <a:spLocks/>
          </p:cNvSpPr>
          <p:nvPr/>
        </p:nvSpPr>
        <p:spPr>
          <a:xfrm>
            <a:off x="442912" y="3898080"/>
            <a:ext cx="5217291" cy="1621143"/>
          </a:xfrm>
          <a:prstGeom prst="roundRect">
            <a:avLst>
              <a:gd name="adj" fmla="val 608"/>
            </a:avLst>
          </a:prstGeom>
          <a:solidFill>
            <a:schemeClr val="accent2">
              <a:lumMod val="20000"/>
              <a:lumOff val="80000"/>
              <a:alpha val="10000"/>
            </a:schemeClr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C21BFD11-DA2E-7DC4-E821-490FA876CC08}"/>
              </a:ext>
            </a:extLst>
          </p:cNvPr>
          <p:cNvSpPr>
            <a:spLocks/>
          </p:cNvSpPr>
          <p:nvPr/>
        </p:nvSpPr>
        <p:spPr>
          <a:xfrm>
            <a:off x="442913" y="1143279"/>
            <a:ext cx="11306175" cy="815669"/>
          </a:xfrm>
          <a:prstGeom prst="roundRect">
            <a:avLst>
              <a:gd name="adj" fmla="val 3304"/>
            </a:avLst>
          </a:prstGeom>
          <a:solidFill>
            <a:schemeClr val="accent3"/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723900" sx="102000" sy="102000" algn="ctr" rotWithShape="0">
              <a:srgbClr val="1E2B4D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35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支柱 </a:t>
            </a:r>
            <a:r>
              <a:rPr lang="en-US" altLang="zh-CN" sz="135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 </a:t>
            </a:r>
            <a:r>
              <a:rPr lang="zh-CN" altLang="en-US" sz="135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已完成候选架构拆分与实验入口梳理，后续重点是消融验证。</a:t>
            </a:r>
            <a:endParaRPr lang="zh-CN" altLang="en-US" sz="1350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D288FDB2-C705-78E0-C6C8-3F83F5513342}"/>
              </a:ext>
            </a:extLst>
          </p:cNvPr>
          <p:cNvSpPr>
            <a:spLocks/>
          </p:cNvSpPr>
          <p:nvPr/>
        </p:nvSpPr>
        <p:spPr>
          <a:xfrm>
            <a:off x="442912" y="2097528"/>
            <a:ext cx="5217291" cy="1467426"/>
          </a:xfrm>
          <a:prstGeom prst="roundRect">
            <a:avLst>
              <a:gd name="adj" fmla="val 907"/>
            </a:avLst>
          </a:prstGeom>
          <a:solidFill>
            <a:schemeClr val="accent2">
              <a:lumMod val="20000"/>
              <a:lumOff val="80000"/>
              <a:alpha val="10000"/>
            </a:schemeClr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r>
              <a:rPr lang="zh-CN" altLang="en-US" sz="130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综述 </a:t>
            </a:r>
            <a:r>
              <a:rPr lang="en-US" altLang="zh-CN" sz="130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18 </a:t>
            </a:r>
            <a:r>
              <a:rPr lang="zh-CN" altLang="en-US" sz="130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页，</a:t>
            </a:r>
            <a:r>
              <a:rPr lang="en-US" altLang="zh-CN" sz="130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44 </a:t>
            </a:r>
            <a:r>
              <a:rPr lang="zh-CN" altLang="en-US" sz="130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篇引用</a:t>
            </a:r>
            <a:endParaRPr lang="zh-CN" altLang="en-US" sz="1300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361955CF-3B6D-3012-9070-DB485008F888}"/>
              </a:ext>
            </a:extLst>
          </p:cNvPr>
          <p:cNvCxnSpPr>
            <a:cxnSpLocks/>
          </p:cNvCxnSpPr>
          <p:nvPr/>
        </p:nvCxnSpPr>
        <p:spPr>
          <a:xfrm>
            <a:off x="2947146" y="2158424"/>
            <a:ext cx="0" cy="1406529"/>
          </a:xfrm>
          <a:prstGeom prst="line">
            <a:avLst/>
          </a:prstGeom>
          <a:noFill/>
          <a:ln w="3175" cap="flat" cmpd="sng" algn="ctr">
            <a:solidFill>
              <a:srgbClr val="C00000">
                <a:alpha val="50000"/>
              </a:srgbClr>
            </a:solidFill>
            <a:prstDash val="solid"/>
            <a:miter lim="800000"/>
          </a:ln>
          <a:effectLst/>
        </p:spPr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5C0A5391-6045-1C31-7FCB-CB4D27A017D4}"/>
              </a:ext>
            </a:extLst>
          </p:cNvPr>
          <p:cNvSpPr/>
          <p:nvPr/>
        </p:nvSpPr>
        <p:spPr>
          <a:xfrm>
            <a:off x="578351" y="3981162"/>
            <a:ext cx="1916267" cy="379114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5E0D0BA-62C5-174A-30D8-CB9162793FDE}"/>
              </a:ext>
            </a:extLst>
          </p:cNvPr>
          <p:cNvCxnSpPr>
            <a:cxnSpLocks/>
          </p:cNvCxnSpPr>
          <p:nvPr/>
        </p:nvCxnSpPr>
        <p:spPr>
          <a:xfrm>
            <a:off x="2630432" y="4170719"/>
            <a:ext cx="566056" cy="0"/>
          </a:xfrm>
          <a:prstGeom prst="straightConnector1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3D044C7E-E63A-763A-29CD-D5ED083D1C2E}"/>
              </a:ext>
            </a:extLst>
          </p:cNvPr>
          <p:cNvSpPr>
            <a:spLocks/>
          </p:cNvSpPr>
          <p:nvPr/>
        </p:nvSpPr>
        <p:spPr>
          <a:xfrm>
            <a:off x="442912" y="5659921"/>
            <a:ext cx="5217291" cy="875007"/>
          </a:xfrm>
          <a:prstGeom prst="roundRect">
            <a:avLst>
              <a:gd name="adj" fmla="val 2889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E19322-D4E1-0589-906D-251D75916A5C}"/>
              </a:ext>
            </a:extLst>
          </p:cNvPr>
          <p:cNvSpPr txBox="1"/>
          <p:nvPr/>
        </p:nvSpPr>
        <p:spPr>
          <a:xfrm>
            <a:off x="682230" y="1154800"/>
            <a:ext cx="11041719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</a:t>
            </a:r>
            <a:endParaRPr lang="zh-CN" altLang="en-US" sz="2000" b="1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1D84098-CB05-4CB8-09A7-DE6B5E8EBC79}"/>
              </a:ext>
            </a:extLst>
          </p:cNvPr>
          <p:cNvSpPr txBox="1"/>
          <p:nvPr/>
        </p:nvSpPr>
        <p:spPr>
          <a:xfrm>
            <a:off x="485617" y="2142325"/>
            <a:ext cx="2474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Critic</a:t>
            </a:r>
            <a:r>
              <a:rPr lang="zh-CN" altLang="en-US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Composer</a:t>
            </a:r>
            <a:r>
              <a:rPr lang="zh-CN" altLang="en-US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</a:t>
            </a:r>
            <a:endParaRPr lang="zh-CN" altLang="en-US" sz="14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11DC397-6D30-2F7F-969D-55755C0B3F6C}"/>
              </a:ext>
            </a:extLst>
          </p:cNvPr>
          <p:cNvSpPr txBox="1"/>
          <p:nvPr/>
        </p:nvSpPr>
        <p:spPr>
          <a:xfrm>
            <a:off x="485617" y="2423357"/>
            <a:ext cx="248688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3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补充长序列和动态场景对照组</a:t>
            </a:r>
            <a:endParaRPr lang="zh-CN" altLang="en-US" sz="13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9E82F34-4BD5-F9F3-0E36-24637AA410B1}"/>
              </a:ext>
            </a:extLst>
          </p:cNvPr>
          <p:cNvSpPr txBox="1"/>
          <p:nvPr/>
        </p:nvSpPr>
        <p:spPr>
          <a:xfrm>
            <a:off x="485617" y="2691875"/>
            <a:ext cx="2486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246AC78-7BF7-6891-4127-BE044FE9A664}"/>
              </a:ext>
            </a:extLst>
          </p:cNvPr>
          <p:cNvSpPr txBox="1"/>
          <p:nvPr/>
        </p:nvSpPr>
        <p:spPr>
          <a:xfrm>
            <a:off x="485617" y="2935085"/>
            <a:ext cx="247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C15612B-7E1F-0F54-CA7B-0DCE6DDCBDD4}"/>
              </a:ext>
            </a:extLst>
          </p:cNvPr>
          <p:cNvSpPr txBox="1"/>
          <p:nvPr/>
        </p:nvSpPr>
        <p:spPr>
          <a:xfrm>
            <a:off x="485617" y="3257176"/>
            <a:ext cx="2486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90C8F55-AADE-3D58-4658-D557F50B51F6}"/>
              </a:ext>
            </a:extLst>
          </p:cNvPr>
          <p:cNvSpPr txBox="1"/>
          <p:nvPr/>
        </p:nvSpPr>
        <p:spPr>
          <a:xfrm>
            <a:off x="3028360" y="2142325"/>
            <a:ext cx="247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待验证</a:t>
            </a:r>
            <a:endParaRPr lang="zh-CN" altLang="en-US" sz="14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E8571E9-ADA9-FD8C-CA2B-954D8157F78D}"/>
              </a:ext>
            </a:extLst>
          </p:cNvPr>
          <p:cNvSpPr txBox="1"/>
          <p:nvPr/>
        </p:nvSpPr>
        <p:spPr>
          <a:xfrm>
            <a:off x="3021783" y="2423357"/>
            <a:ext cx="2486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43AC317-133A-25D7-88B5-1078C56D51FC}"/>
              </a:ext>
            </a:extLst>
          </p:cNvPr>
          <p:cNvSpPr txBox="1"/>
          <p:nvPr/>
        </p:nvSpPr>
        <p:spPr>
          <a:xfrm>
            <a:off x="3028360" y="2885972"/>
            <a:ext cx="2495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rgbClr val="C00000"/>
                </a:solidFill>
              </a:defRPr>
            </a:lvl1pPr>
          </a:lstStyle>
          <a:p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25B54BD7-D11B-9D70-86F6-6F08B7FDBD55}"/>
              </a:ext>
            </a:extLst>
          </p:cNvPr>
          <p:cNvSpPr txBox="1"/>
          <p:nvPr/>
        </p:nvSpPr>
        <p:spPr>
          <a:xfrm>
            <a:off x="3021783" y="3232568"/>
            <a:ext cx="30742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Ø"/>
              <a:defRPr sz="1400">
                <a:latin typeface="+mn-ea"/>
              </a:defRPr>
            </a:lvl1pPr>
          </a:lstStyle>
          <a:p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箭头: 下 66">
            <a:extLst>
              <a:ext uri="{FF2B5EF4-FFF2-40B4-BE49-F238E27FC236}">
                <a16:creationId xmlns:a16="http://schemas.microsoft.com/office/drawing/2014/main" id="{8D0786D6-2B6F-C268-AD1A-4DB1AB47D108}"/>
              </a:ext>
            </a:extLst>
          </p:cNvPr>
          <p:cNvSpPr/>
          <p:nvPr/>
        </p:nvSpPr>
        <p:spPr>
          <a:xfrm rot="10800000">
            <a:off x="1361403" y="3574467"/>
            <a:ext cx="350162" cy="248010"/>
          </a:xfrm>
          <a:prstGeom prst="downArrow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F295CF2-A0F9-0CE1-2A7E-F2BDEFDB0ECC}"/>
              </a:ext>
            </a:extLst>
          </p:cNvPr>
          <p:cNvSpPr txBox="1"/>
          <p:nvPr/>
        </p:nvSpPr>
        <p:spPr>
          <a:xfrm>
            <a:off x="578351" y="4016831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C7D138E2-D1DF-E970-AEB6-0F1F3C0AC5C9}"/>
              </a:ext>
            </a:extLst>
          </p:cNvPr>
          <p:cNvSpPr/>
          <p:nvPr/>
        </p:nvSpPr>
        <p:spPr>
          <a:xfrm>
            <a:off x="3355852" y="3981162"/>
            <a:ext cx="1916267" cy="379114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E98E138-CA41-BDEB-90F5-A05A3CC9B4D2}"/>
              </a:ext>
            </a:extLst>
          </p:cNvPr>
          <p:cNvSpPr txBox="1"/>
          <p:nvPr/>
        </p:nvSpPr>
        <p:spPr>
          <a:xfrm>
            <a:off x="3302252" y="4016831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3FC67FE7-1AD2-E1B7-F25D-B162217666AA}"/>
              </a:ext>
            </a:extLst>
          </p:cNvPr>
          <p:cNvSpPr/>
          <p:nvPr/>
        </p:nvSpPr>
        <p:spPr>
          <a:xfrm>
            <a:off x="578351" y="4525954"/>
            <a:ext cx="1916267" cy="379114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0F6401F-6532-57C3-4DE6-971C8C9E4CD5}"/>
              </a:ext>
            </a:extLst>
          </p:cNvPr>
          <p:cNvSpPr txBox="1"/>
          <p:nvPr/>
        </p:nvSpPr>
        <p:spPr>
          <a:xfrm>
            <a:off x="578351" y="4561623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箭头: 下 72">
            <a:extLst>
              <a:ext uri="{FF2B5EF4-FFF2-40B4-BE49-F238E27FC236}">
                <a16:creationId xmlns:a16="http://schemas.microsoft.com/office/drawing/2014/main" id="{7FB7075A-330E-BF7D-A75A-E772C179A9B4}"/>
              </a:ext>
            </a:extLst>
          </p:cNvPr>
          <p:cNvSpPr/>
          <p:nvPr/>
        </p:nvSpPr>
        <p:spPr>
          <a:xfrm rot="10800000" flipV="1">
            <a:off x="4138905" y="4382888"/>
            <a:ext cx="350162" cy="248010"/>
          </a:xfrm>
          <a:prstGeom prst="downArrow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6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1B7A5064-1B2B-691F-C1E9-87078D8D611D}"/>
              </a:ext>
            </a:extLst>
          </p:cNvPr>
          <p:cNvSpPr/>
          <p:nvPr/>
        </p:nvSpPr>
        <p:spPr>
          <a:xfrm>
            <a:off x="3355852" y="4648645"/>
            <a:ext cx="1916267" cy="793110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6843471-6F82-D4C6-EABC-0359C9BBD5B7}"/>
              </a:ext>
            </a:extLst>
          </p:cNvPr>
          <p:cNvSpPr txBox="1"/>
          <p:nvPr/>
        </p:nvSpPr>
        <p:spPr>
          <a:xfrm>
            <a:off x="3355852" y="4652333"/>
            <a:ext cx="19162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8BE36529-8D9E-752C-B960-AEBA8D0B6710}"/>
              </a:ext>
            </a:extLst>
          </p:cNvPr>
          <p:cNvSpPr txBox="1"/>
          <p:nvPr/>
        </p:nvSpPr>
        <p:spPr>
          <a:xfrm>
            <a:off x="3355852" y="4909587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0">
              <a:buFont typeface="Wingdings" panose="05000000000000000000" pitchFamily="2" charset="2"/>
              <a:buNone/>
              <a:defRPr sz="1400">
                <a:latin typeface="+mn-ea"/>
              </a:defRPr>
            </a:lvl1pPr>
          </a:lstStyle>
          <a:p>
            <a:pPr algn="ctr"/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箭头: 下 120">
            <a:extLst>
              <a:ext uri="{FF2B5EF4-FFF2-40B4-BE49-F238E27FC236}">
                <a16:creationId xmlns:a16="http://schemas.microsoft.com/office/drawing/2014/main" id="{423D9DDC-5CF7-591A-EC9A-6DBF49C6E58A}"/>
              </a:ext>
            </a:extLst>
          </p:cNvPr>
          <p:cNvSpPr/>
          <p:nvPr/>
        </p:nvSpPr>
        <p:spPr>
          <a:xfrm rot="10800000" flipV="1">
            <a:off x="1237914" y="5050360"/>
            <a:ext cx="597140" cy="422938"/>
          </a:xfrm>
          <a:prstGeom prst="downArrow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6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6BB10EF8-1428-43FF-2021-97743BD434FE}"/>
              </a:ext>
            </a:extLst>
          </p:cNvPr>
          <p:cNvSpPr txBox="1"/>
          <p:nvPr/>
        </p:nvSpPr>
        <p:spPr>
          <a:xfrm>
            <a:off x="565845" y="5684994"/>
            <a:ext cx="247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1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1C9AE5B0-8835-9E3B-2867-D5DCA3EE404A}"/>
              </a:ext>
            </a:extLst>
          </p:cNvPr>
          <p:cNvSpPr txBox="1"/>
          <p:nvPr/>
        </p:nvSpPr>
        <p:spPr>
          <a:xfrm>
            <a:off x="565845" y="6005171"/>
            <a:ext cx="2486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31DFAFCA-996E-E6F1-C9B4-ACAB3384B2CF}"/>
              </a:ext>
            </a:extLst>
          </p:cNvPr>
          <p:cNvSpPr txBox="1"/>
          <p:nvPr/>
        </p:nvSpPr>
        <p:spPr>
          <a:xfrm>
            <a:off x="2895462" y="6005171"/>
            <a:ext cx="26284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AB84A479-7AB4-5A6A-976D-57554E4D6528}"/>
              </a:ext>
            </a:extLst>
          </p:cNvPr>
          <p:cNvSpPr>
            <a:spLocks/>
          </p:cNvSpPr>
          <p:nvPr/>
        </p:nvSpPr>
        <p:spPr>
          <a:xfrm>
            <a:off x="5802901" y="2097528"/>
            <a:ext cx="5946187" cy="2285360"/>
          </a:xfrm>
          <a:prstGeom prst="roundRect">
            <a:avLst>
              <a:gd name="adj" fmla="val 625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r>
              <a:rPr lang="en-US" altLang="zh-CN" sz="130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KITTI </a:t>
            </a:r>
            <a:r>
              <a:rPr lang="zh-CN" altLang="en-US" sz="130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集成验证与实验规划</a:t>
            </a:r>
            <a:endParaRPr lang="zh-CN" altLang="en-US" sz="1300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D79CD8F7-1FE3-3F33-F6E7-38F001F333A3}"/>
              </a:ext>
            </a:extLst>
          </p:cNvPr>
          <p:cNvSpPr/>
          <p:nvPr/>
        </p:nvSpPr>
        <p:spPr>
          <a:xfrm>
            <a:off x="5802901" y="2097529"/>
            <a:ext cx="843188" cy="2285360"/>
          </a:xfrm>
          <a:prstGeom prst="roundRect">
            <a:avLst>
              <a:gd name="adj" fmla="val 2824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候选模块</a:t>
            </a:r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C18E0B8A-432E-323B-ACA6-F51AA570FD9A}"/>
              </a:ext>
            </a:extLst>
          </p:cNvPr>
          <p:cNvSpPr txBox="1"/>
          <p:nvPr/>
        </p:nvSpPr>
        <p:spPr>
          <a:xfrm>
            <a:off x="5972428" y="2521230"/>
            <a:ext cx="522288" cy="3850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endParaRPr lang="zh-CN" altLang="en-US" sz="1800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</a:endParaRPr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15607AB9-279B-89CF-4008-612B5DA4480D}"/>
              </a:ext>
            </a:extLst>
          </p:cNvPr>
          <p:cNvSpPr>
            <a:spLocks/>
          </p:cNvSpPr>
          <p:nvPr/>
        </p:nvSpPr>
        <p:spPr>
          <a:xfrm>
            <a:off x="6760031" y="2276938"/>
            <a:ext cx="4811741" cy="747830"/>
          </a:xfrm>
          <a:prstGeom prst="roundRect">
            <a:avLst>
              <a:gd name="adj" fmla="val 2018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统一 </a:t>
            </a:r>
            <a:r>
              <a:rPr lang="en-US" altLang="zh-CN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ablation </a:t>
            </a:r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与 </a:t>
            </a:r>
            <a:r>
              <a:rPr lang="en-US" altLang="zh-CN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benchmark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0B43B54E-7962-8ACF-660D-727C7A64C833}"/>
              </a:ext>
            </a:extLst>
          </p:cNvPr>
          <p:cNvSpPr txBox="1"/>
          <p:nvPr/>
        </p:nvSpPr>
        <p:spPr>
          <a:xfrm>
            <a:off x="6831207" y="2319288"/>
            <a:ext cx="4649593" cy="328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下一步</a:t>
            </a:r>
            <a:endParaRPr lang="en-US" altLang="zh-CN" sz="14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22A2304B-0DDC-F975-EFB0-8C4134DE486E}"/>
              </a:ext>
            </a:extLst>
          </p:cNvPr>
          <p:cNvSpPr>
            <a:spLocks/>
          </p:cNvSpPr>
          <p:nvPr/>
        </p:nvSpPr>
        <p:spPr>
          <a:xfrm>
            <a:off x="6760031" y="3116304"/>
            <a:ext cx="4811741" cy="543413"/>
          </a:xfrm>
          <a:prstGeom prst="roundRect">
            <a:avLst>
              <a:gd name="adj" fmla="val 2018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EF3303DA-5495-8170-2930-DDB0387D9215}"/>
              </a:ext>
            </a:extLst>
          </p:cNvPr>
          <p:cNvSpPr txBox="1"/>
          <p:nvPr/>
        </p:nvSpPr>
        <p:spPr>
          <a:xfrm>
            <a:off x="6852967" y="3204178"/>
            <a:ext cx="4627833" cy="32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4BEFD098-C86E-F9DD-90D1-C86F8063472E}"/>
              </a:ext>
            </a:extLst>
          </p:cNvPr>
          <p:cNvSpPr>
            <a:spLocks/>
          </p:cNvSpPr>
          <p:nvPr/>
        </p:nvSpPr>
        <p:spPr>
          <a:xfrm>
            <a:off x="6760031" y="3738542"/>
            <a:ext cx="4811741" cy="543413"/>
          </a:xfrm>
          <a:prstGeom prst="roundRect">
            <a:avLst>
              <a:gd name="adj" fmla="val 2018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A8044CCF-26C6-D3AA-055F-55059422F399}"/>
              </a:ext>
            </a:extLst>
          </p:cNvPr>
          <p:cNvSpPr txBox="1"/>
          <p:nvPr/>
        </p:nvSpPr>
        <p:spPr>
          <a:xfrm>
            <a:off x="6852967" y="3826416"/>
            <a:ext cx="4718805" cy="32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8D9E184A-D7D3-987C-2CD8-6C0A680E1692}"/>
              </a:ext>
            </a:extLst>
          </p:cNvPr>
          <p:cNvSpPr>
            <a:spLocks/>
          </p:cNvSpPr>
          <p:nvPr/>
        </p:nvSpPr>
        <p:spPr>
          <a:xfrm>
            <a:off x="5802901" y="4591655"/>
            <a:ext cx="5946187" cy="899885"/>
          </a:xfrm>
          <a:prstGeom prst="roundRect">
            <a:avLst>
              <a:gd name="adj" fmla="val 2246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07D7CB76-1E83-0C46-5E27-7D8F4BB92EFE}"/>
              </a:ext>
            </a:extLst>
          </p:cNvPr>
          <p:cNvSpPr/>
          <p:nvPr/>
        </p:nvSpPr>
        <p:spPr>
          <a:xfrm>
            <a:off x="5803303" y="4591655"/>
            <a:ext cx="860538" cy="899885"/>
          </a:xfrm>
          <a:prstGeom prst="roundRect">
            <a:avLst>
              <a:gd name="adj" fmla="val 894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AACE0C18-6FB8-B994-69E5-F58A2814A02A}"/>
              </a:ext>
            </a:extLst>
          </p:cNvPr>
          <p:cNvSpPr txBox="1"/>
          <p:nvPr/>
        </p:nvSpPr>
        <p:spPr>
          <a:xfrm>
            <a:off x="5803303" y="4661173"/>
            <a:ext cx="860538" cy="3850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endParaRPr lang="zh-CN" altLang="en-US" sz="1800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A3E00A56-4288-56CE-7091-14E6B8200ABD}"/>
              </a:ext>
            </a:extLst>
          </p:cNvPr>
          <p:cNvSpPr txBox="1"/>
          <p:nvPr/>
        </p:nvSpPr>
        <p:spPr>
          <a:xfrm>
            <a:off x="6742252" y="4884300"/>
            <a:ext cx="48839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62E543F5-E662-1FEA-6659-52A867FD71F7}"/>
              </a:ext>
            </a:extLst>
          </p:cNvPr>
          <p:cNvSpPr>
            <a:spLocks/>
          </p:cNvSpPr>
          <p:nvPr/>
        </p:nvSpPr>
        <p:spPr>
          <a:xfrm>
            <a:off x="5802901" y="5628506"/>
            <a:ext cx="5946187" cy="899885"/>
          </a:xfrm>
          <a:prstGeom prst="roundRect">
            <a:avLst>
              <a:gd name="adj" fmla="val 1452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B0B640A8-38DC-EE31-50AC-58E5BCAB2B2B}"/>
              </a:ext>
            </a:extLst>
          </p:cNvPr>
          <p:cNvSpPr/>
          <p:nvPr/>
        </p:nvSpPr>
        <p:spPr>
          <a:xfrm>
            <a:off x="5803303" y="5628506"/>
            <a:ext cx="860538" cy="899885"/>
          </a:xfrm>
          <a:prstGeom prst="roundRect">
            <a:avLst>
              <a:gd name="adj" fmla="val 1171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06B8C372-BACD-16EF-565C-291C58E377C4}"/>
              </a:ext>
            </a:extLst>
          </p:cNvPr>
          <p:cNvSpPr txBox="1"/>
          <p:nvPr/>
        </p:nvSpPr>
        <p:spPr>
          <a:xfrm>
            <a:off x="5803303" y="5698024"/>
            <a:ext cx="860538" cy="3850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endParaRPr lang="zh-CN" altLang="en-US" sz="1800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94FA1A5F-D282-26A9-E5DB-641AE91E8BFC}"/>
              </a:ext>
            </a:extLst>
          </p:cNvPr>
          <p:cNvSpPr txBox="1"/>
          <p:nvPr/>
        </p:nvSpPr>
        <p:spPr>
          <a:xfrm>
            <a:off x="6742252" y="5796835"/>
            <a:ext cx="4883903" cy="3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8572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2E450-5FC0-8ED5-CA22-DB453C345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0815A518-D4FF-BF83-67B8-80B3B6DFEB2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1.1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A36E4FF5-8E54-C76A-8E98-5403EBB7F367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支柱 </a:t>
            </a:r>
            <a:r>
              <a:rPr lang="en-US" altLang="zh-CN" sz="2800" b="1">
                <a:solidFill>
                  <a:schemeClr val="accent1"/>
                </a:solidFill>
              </a:rPr>
              <a:t>B </a:t>
            </a:r>
            <a:r>
              <a:rPr lang="zh-CN" altLang="en-US" sz="2800" b="1">
                <a:solidFill>
                  <a:schemeClr val="accent1"/>
                </a:solidFill>
              </a:rPr>
              <a:t>进展：平台工程基础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0E91F20A-1575-F121-A924-413A88AC7D8B}"/>
              </a:ext>
            </a:extLst>
          </p:cNvPr>
          <p:cNvSpPr>
            <a:spLocks/>
          </p:cNvSpPr>
          <p:nvPr/>
        </p:nvSpPr>
        <p:spPr>
          <a:xfrm>
            <a:off x="442912" y="3898080"/>
            <a:ext cx="5217291" cy="1621143"/>
          </a:xfrm>
          <a:prstGeom prst="roundRect">
            <a:avLst>
              <a:gd name="adj" fmla="val 608"/>
            </a:avLst>
          </a:prstGeom>
          <a:solidFill>
            <a:schemeClr val="accent2">
              <a:lumMod val="20000"/>
              <a:lumOff val="80000"/>
              <a:alpha val="10000"/>
            </a:schemeClr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C21BFD11-DA2E-7DC4-E821-490FA876CC08}"/>
              </a:ext>
            </a:extLst>
          </p:cNvPr>
          <p:cNvSpPr>
            <a:spLocks/>
          </p:cNvSpPr>
          <p:nvPr/>
        </p:nvSpPr>
        <p:spPr>
          <a:xfrm>
            <a:off x="442913" y="1143279"/>
            <a:ext cx="11306175" cy="815669"/>
          </a:xfrm>
          <a:prstGeom prst="roundRect">
            <a:avLst>
              <a:gd name="adj" fmla="val 3304"/>
            </a:avLst>
          </a:prstGeom>
          <a:solidFill>
            <a:schemeClr val="accent3"/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723900" sx="102000" sy="102000" algn="ctr" rotWithShape="0">
              <a:srgbClr val="1E2B4D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35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支柱 </a:t>
            </a:r>
            <a:r>
              <a:rPr lang="en-US" altLang="zh-CN" sz="135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 </a:t>
            </a:r>
            <a:r>
              <a:rPr lang="zh-CN" altLang="en-US" sz="135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已具备多模型接入、统一执行合同和远端调度基础，</a:t>
            </a:r>
            <a:r>
              <a:rPr lang="en-US" altLang="zh-CN" sz="135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UI </a:t>
            </a:r>
            <a:r>
              <a:rPr lang="zh-CN" altLang="en-US" sz="135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截图待稳定后补充。</a:t>
            </a:r>
            <a:endParaRPr lang="zh-CN" altLang="en-US" sz="1350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D288FDB2-C705-78E0-C6C8-3F83F5513342}"/>
              </a:ext>
            </a:extLst>
          </p:cNvPr>
          <p:cNvSpPr>
            <a:spLocks/>
          </p:cNvSpPr>
          <p:nvPr/>
        </p:nvSpPr>
        <p:spPr>
          <a:xfrm>
            <a:off x="442912" y="2097528"/>
            <a:ext cx="5217291" cy="1467426"/>
          </a:xfrm>
          <a:prstGeom prst="roundRect">
            <a:avLst>
              <a:gd name="adj" fmla="val 907"/>
            </a:avLst>
          </a:prstGeom>
          <a:solidFill>
            <a:schemeClr val="accent2">
              <a:lumMod val="20000"/>
              <a:lumOff val="80000"/>
              <a:alpha val="10000"/>
            </a:schemeClr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r>
              <a:rPr lang="pt-BR" altLang="zh-CN" sz="130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DUSt3R / MASt3R / MonST3R / Fast3R / Spann3R / CUT3R / Align3R</a:t>
            </a:r>
            <a:endParaRPr lang="zh-CN" altLang="en-US" sz="1300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361955CF-3B6D-3012-9070-DB485008F888}"/>
              </a:ext>
            </a:extLst>
          </p:cNvPr>
          <p:cNvCxnSpPr>
            <a:cxnSpLocks/>
          </p:cNvCxnSpPr>
          <p:nvPr/>
        </p:nvCxnSpPr>
        <p:spPr>
          <a:xfrm>
            <a:off x="2947146" y="2158424"/>
            <a:ext cx="0" cy="1406529"/>
          </a:xfrm>
          <a:prstGeom prst="line">
            <a:avLst/>
          </a:prstGeom>
          <a:noFill/>
          <a:ln w="3175" cap="flat" cmpd="sng" algn="ctr">
            <a:solidFill>
              <a:srgbClr val="C00000">
                <a:alpha val="50000"/>
              </a:srgbClr>
            </a:solidFill>
            <a:prstDash val="solid"/>
            <a:miter lim="800000"/>
          </a:ln>
          <a:effectLst/>
        </p:spPr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5C0A5391-6045-1C31-7FCB-CB4D27A017D4}"/>
              </a:ext>
            </a:extLst>
          </p:cNvPr>
          <p:cNvSpPr/>
          <p:nvPr/>
        </p:nvSpPr>
        <p:spPr>
          <a:xfrm>
            <a:off x="578351" y="3981162"/>
            <a:ext cx="1916267" cy="379114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5E0D0BA-62C5-174A-30D8-CB9162793FDE}"/>
              </a:ext>
            </a:extLst>
          </p:cNvPr>
          <p:cNvCxnSpPr>
            <a:cxnSpLocks/>
          </p:cNvCxnSpPr>
          <p:nvPr/>
        </p:nvCxnSpPr>
        <p:spPr>
          <a:xfrm>
            <a:off x="2630432" y="4170719"/>
            <a:ext cx="566056" cy="0"/>
          </a:xfrm>
          <a:prstGeom prst="straightConnector1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3D044C7E-E63A-763A-29CD-D5ED083D1C2E}"/>
              </a:ext>
            </a:extLst>
          </p:cNvPr>
          <p:cNvSpPr>
            <a:spLocks/>
          </p:cNvSpPr>
          <p:nvPr/>
        </p:nvSpPr>
        <p:spPr>
          <a:xfrm>
            <a:off x="442912" y="5659921"/>
            <a:ext cx="5217291" cy="875007"/>
          </a:xfrm>
          <a:prstGeom prst="roundRect">
            <a:avLst>
              <a:gd name="adj" fmla="val 2889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E19322-D4E1-0589-906D-251D75916A5C}"/>
              </a:ext>
            </a:extLst>
          </p:cNvPr>
          <p:cNvSpPr txBox="1"/>
          <p:nvPr/>
        </p:nvSpPr>
        <p:spPr>
          <a:xfrm>
            <a:off x="682230" y="1154800"/>
            <a:ext cx="11041719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lang="zh-CN" altLang="en-US" sz="2000" b="1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个模型接入</a:t>
            </a:r>
            <a:endParaRPr lang="zh-CN" altLang="en-US" sz="2000" b="1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1D84098-CB05-4CB8-09A7-DE6B5E8EBC79}"/>
              </a:ext>
            </a:extLst>
          </p:cNvPr>
          <p:cNvSpPr txBox="1"/>
          <p:nvPr/>
        </p:nvSpPr>
        <p:spPr>
          <a:xfrm>
            <a:off x="485617" y="2142325"/>
            <a:ext cx="247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 </a:t>
            </a:r>
            <a:r>
              <a:rPr lang="en-US" altLang="zh-CN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15000 </a:t>
            </a:r>
            <a:r>
              <a:rPr lang="zh-CN" altLang="en-US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行代码</a:t>
            </a:r>
            <a:endParaRPr lang="zh-CN" altLang="en-US" sz="14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11DC397-6D30-2F7F-969D-55755C0B3F6C}"/>
              </a:ext>
            </a:extLst>
          </p:cNvPr>
          <p:cNvSpPr txBox="1"/>
          <p:nvPr/>
        </p:nvSpPr>
        <p:spPr>
          <a:xfrm>
            <a:off x="485617" y="2423357"/>
            <a:ext cx="248688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3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后续补充</a:t>
            </a:r>
            <a:endParaRPr lang="zh-CN" altLang="en-US" sz="13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9E82F34-4BD5-F9F3-0E36-24637AA410B1}"/>
              </a:ext>
            </a:extLst>
          </p:cNvPr>
          <p:cNvSpPr txBox="1"/>
          <p:nvPr/>
        </p:nvSpPr>
        <p:spPr>
          <a:xfrm>
            <a:off x="485617" y="2691875"/>
            <a:ext cx="2486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246AC78-7BF7-6891-4127-BE044FE9A664}"/>
              </a:ext>
            </a:extLst>
          </p:cNvPr>
          <p:cNvSpPr txBox="1"/>
          <p:nvPr/>
        </p:nvSpPr>
        <p:spPr>
          <a:xfrm>
            <a:off x="485617" y="2935085"/>
            <a:ext cx="247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C15612B-7E1F-0F54-CA7B-0DCE6DDCBDD4}"/>
              </a:ext>
            </a:extLst>
          </p:cNvPr>
          <p:cNvSpPr txBox="1"/>
          <p:nvPr/>
        </p:nvSpPr>
        <p:spPr>
          <a:xfrm>
            <a:off x="485617" y="3257176"/>
            <a:ext cx="2486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90C8F55-AADE-3D58-4658-D557F50B51F6}"/>
              </a:ext>
            </a:extLst>
          </p:cNvPr>
          <p:cNvSpPr txBox="1"/>
          <p:nvPr/>
        </p:nvSpPr>
        <p:spPr>
          <a:xfrm>
            <a:off x="3028360" y="2142325"/>
            <a:ext cx="2474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 </a:t>
            </a:r>
            <a:r>
              <a:rPr lang="en-US" altLang="zh-CN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 </a:t>
            </a:r>
            <a:r>
              <a:rPr lang="zh-CN" altLang="en-US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暂不展示，避免使用未定稿界面。</a:t>
            </a:r>
            <a:endParaRPr lang="zh-CN" altLang="en-US" sz="14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E8571E9-ADA9-FD8C-CA2B-954D8157F78D}"/>
              </a:ext>
            </a:extLst>
          </p:cNvPr>
          <p:cNvSpPr txBox="1"/>
          <p:nvPr/>
        </p:nvSpPr>
        <p:spPr>
          <a:xfrm>
            <a:off x="3021783" y="2423357"/>
            <a:ext cx="248688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3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稳定版 </a:t>
            </a:r>
            <a:r>
              <a:rPr lang="en-US" altLang="zh-CN" sz="13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 </a:t>
            </a:r>
            <a:r>
              <a:rPr lang="zh-CN" altLang="en-US" sz="13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截图与交互流程</a:t>
            </a:r>
            <a:endParaRPr lang="zh-CN" altLang="en-US" sz="13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43AC317-133A-25D7-88B5-1078C56D51FC}"/>
              </a:ext>
            </a:extLst>
          </p:cNvPr>
          <p:cNvSpPr txBox="1"/>
          <p:nvPr/>
        </p:nvSpPr>
        <p:spPr>
          <a:xfrm>
            <a:off x="3028360" y="2885972"/>
            <a:ext cx="2495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rgbClr val="C00000"/>
                </a:solidFill>
              </a:defRPr>
            </a:lvl1pPr>
          </a:lstStyle>
          <a:p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25B54BD7-D11B-9D70-86F6-6F08B7FDBD55}"/>
              </a:ext>
            </a:extLst>
          </p:cNvPr>
          <p:cNvSpPr txBox="1"/>
          <p:nvPr/>
        </p:nvSpPr>
        <p:spPr>
          <a:xfrm>
            <a:off x="3021783" y="3232568"/>
            <a:ext cx="30742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Ø"/>
              <a:defRPr sz="1400">
                <a:latin typeface="+mn-ea"/>
              </a:defRPr>
            </a:lvl1pPr>
          </a:lstStyle>
          <a:p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箭头: 下 66">
            <a:extLst>
              <a:ext uri="{FF2B5EF4-FFF2-40B4-BE49-F238E27FC236}">
                <a16:creationId xmlns:a16="http://schemas.microsoft.com/office/drawing/2014/main" id="{8D0786D6-2B6F-C268-AD1A-4DB1AB47D108}"/>
              </a:ext>
            </a:extLst>
          </p:cNvPr>
          <p:cNvSpPr/>
          <p:nvPr/>
        </p:nvSpPr>
        <p:spPr>
          <a:xfrm rot="10800000">
            <a:off x="1361403" y="3574467"/>
            <a:ext cx="350162" cy="248010"/>
          </a:xfrm>
          <a:prstGeom prst="downArrow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F295CF2-A0F9-0CE1-2A7E-F2BDEFDB0ECC}"/>
              </a:ext>
            </a:extLst>
          </p:cNvPr>
          <p:cNvSpPr txBox="1"/>
          <p:nvPr/>
        </p:nvSpPr>
        <p:spPr>
          <a:xfrm>
            <a:off x="578351" y="4016831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C7D138E2-D1DF-E970-AEB6-0F1F3C0AC5C9}"/>
              </a:ext>
            </a:extLst>
          </p:cNvPr>
          <p:cNvSpPr/>
          <p:nvPr/>
        </p:nvSpPr>
        <p:spPr>
          <a:xfrm>
            <a:off x="3355852" y="3981162"/>
            <a:ext cx="1916267" cy="379114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E98E138-CA41-BDEB-90F5-A05A3CC9B4D2}"/>
              </a:ext>
            </a:extLst>
          </p:cNvPr>
          <p:cNvSpPr txBox="1"/>
          <p:nvPr/>
        </p:nvSpPr>
        <p:spPr>
          <a:xfrm>
            <a:off x="3302252" y="4016831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3FC67FE7-1AD2-E1B7-F25D-B162217666AA}"/>
              </a:ext>
            </a:extLst>
          </p:cNvPr>
          <p:cNvSpPr/>
          <p:nvPr/>
        </p:nvSpPr>
        <p:spPr>
          <a:xfrm>
            <a:off x="578351" y="4525954"/>
            <a:ext cx="1916267" cy="379114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0F6401F-6532-57C3-4DE6-971C8C9E4CD5}"/>
              </a:ext>
            </a:extLst>
          </p:cNvPr>
          <p:cNvSpPr txBox="1"/>
          <p:nvPr/>
        </p:nvSpPr>
        <p:spPr>
          <a:xfrm>
            <a:off x="578351" y="4561623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箭头: 下 72">
            <a:extLst>
              <a:ext uri="{FF2B5EF4-FFF2-40B4-BE49-F238E27FC236}">
                <a16:creationId xmlns:a16="http://schemas.microsoft.com/office/drawing/2014/main" id="{7FB7075A-330E-BF7D-A75A-E772C179A9B4}"/>
              </a:ext>
            </a:extLst>
          </p:cNvPr>
          <p:cNvSpPr/>
          <p:nvPr/>
        </p:nvSpPr>
        <p:spPr>
          <a:xfrm rot="10800000" flipV="1">
            <a:off x="4138905" y="4382888"/>
            <a:ext cx="350162" cy="248010"/>
          </a:xfrm>
          <a:prstGeom prst="downArrow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6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1B7A5064-1B2B-691F-C1E9-87078D8D611D}"/>
              </a:ext>
            </a:extLst>
          </p:cNvPr>
          <p:cNvSpPr/>
          <p:nvPr/>
        </p:nvSpPr>
        <p:spPr>
          <a:xfrm>
            <a:off x="3355852" y="4648645"/>
            <a:ext cx="1916267" cy="793110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6843471-6F82-D4C6-EABC-0359C9BBD5B7}"/>
              </a:ext>
            </a:extLst>
          </p:cNvPr>
          <p:cNvSpPr txBox="1"/>
          <p:nvPr/>
        </p:nvSpPr>
        <p:spPr>
          <a:xfrm>
            <a:off x="3355852" y="4652333"/>
            <a:ext cx="19162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8BE36529-8D9E-752C-B960-AEBA8D0B6710}"/>
              </a:ext>
            </a:extLst>
          </p:cNvPr>
          <p:cNvSpPr txBox="1"/>
          <p:nvPr/>
        </p:nvSpPr>
        <p:spPr>
          <a:xfrm>
            <a:off x="3355852" y="4909587"/>
            <a:ext cx="1916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0">
              <a:buFont typeface="Wingdings" panose="05000000000000000000" pitchFamily="2" charset="2"/>
              <a:buNone/>
              <a:defRPr sz="1400">
                <a:latin typeface="+mn-ea"/>
              </a:defRPr>
            </a:lvl1pPr>
          </a:lstStyle>
          <a:p>
            <a:pPr algn="ctr"/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箭头: 下 120">
            <a:extLst>
              <a:ext uri="{FF2B5EF4-FFF2-40B4-BE49-F238E27FC236}">
                <a16:creationId xmlns:a16="http://schemas.microsoft.com/office/drawing/2014/main" id="{423D9DDC-5CF7-591A-EC9A-6DBF49C6E58A}"/>
              </a:ext>
            </a:extLst>
          </p:cNvPr>
          <p:cNvSpPr/>
          <p:nvPr/>
        </p:nvSpPr>
        <p:spPr>
          <a:xfrm rot="10800000" flipV="1">
            <a:off x="1237914" y="5050360"/>
            <a:ext cx="597140" cy="422938"/>
          </a:xfrm>
          <a:prstGeom prst="downArrow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6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6BB10EF8-1428-43FF-2021-97743BD434FE}"/>
              </a:ext>
            </a:extLst>
          </p:cNvPr>
          <p:cNvSpPr txBox="1"/>
          <p:nvPr/>
        </p:nvSpPr>
        <p:spPr>
          <a:xfrm>
            <a:off x="565845" y="5684994"/>
            <a:ext cx="247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1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1C9AE5B0-8835-9E3B-2867-D5DCA3EE404A}"/>
              </a:ext>
            </a:extLst>
          </p:cNvPr>
          <p:cNvSpPr txBox="1"/>
          <p:nvPr/>
        </p:nvSpPr>
        <p:spPr>
          <a:xfrm>
            <a:off x="565845" y="6005171"/>
            <a:ext cx="2486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31DFAFCA-996E-E6F1-C9B4-ACAB3384B2CF}"/>
              </a:ext>
            </a:extLst>
          </p:cNvPr>
          <p:cNvSpPr txBox="1"/>
          <p:nvPr/>
        </p:nvSpPr>
        <p:spPr>
          <a:xfrm>
            <a:off x="2895462" y="6005171"/>
            <a:ext cx="26284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AB84A479-7AB4-5A6A-976D-57554E4D6528}"/>
              </a:ext>
            </a:extLst>
          </p:cNvPr>
          <p:cNvSpPr>
            <a:spLocks/>
          </p:cNvSpPr>
          <p:nvPr/>
        </p:nvSpPr>
        <p:spPr>
          <a:xfrm>
            <a:off x="5802901" y="2097528"/>
            <a:ext cx="5946187" cy="2285360"/>
          </a:xfrm>
          <a:prstGeom prst="roundRect">
            <a:avLst>
              <a:gd name="adj" fmla="val 625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r>
              <a:rPr lang="en-US" altLang="zh-CN" sz="130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6 </a:t>
            </a:r>
            <a:r>
              <a:rPr lang="zh-CN" altLang="en-US" sz="130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项验证通过</a:t>
            </a:r>
            <a:endParaRPr lang="zh-CN" altLang="en-US" sz="1300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D79CD8F7-1FE3-3F33-F6E7-38F001F333A3}"/>
              </a:ext>
            </a:extLst>
          </p:cNvPr>
          <p:cNvSpPr/>
          <p:nvPr/>
        </p:nvSpPr>
        <p:spPr>
          <a:xfrm>
            <a:off x="5802901" y="2097529"/>
            <a:ext cx="843188" cy="2285360"/>
          </a:xfrm>
          <a:prstGeom prst="roundRect">
            <a:avLst>
              <a:gd name="adj" fmla="val 2824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文件上传、远端执行、日志记录、结果回传</a:t>
            </a:r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C18E0B8A-432E-323B-ACA6-F51AA570FD9A}"/>
              </a:ext>
            </a:extLst>
          </p:cNvPr>
          <p:cNvSpPr txBox="1"/>
          <p:nvPr/>
        </p:nvSpPr>
        <p:spPr>
          <a:xfrm>
            <a:off x="5972428" y="2521230"/>
            <a:ext cx="522288" cy="3850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endParaRPr lang="zh-CN" altLang="en-US" sz="1800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</a:endParaRPr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15607AB9-279B-89CF-4008-612B5DA4480D}"/>
              </a:ext>
            </a:extLst>
          </p:cNvPr>
          <p:cNvSpPr>
            <a:spLocks/>
          </p:cNvSpPr>
          <p:nvPr/>
        </p:nvSpPr>
        <p:spPr>
          <a:xfrm>
            <a:off x="6760031" y="2276938"/>
            <a:ext cx="4811741" cy="747830"/>
          </a:xfrm>
          <a:prstGeom prst="roundRect">
            <a:avLst>
              <a:gd name="adj" fmla="val 2018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工程证据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0B43B54E-7962-8ACF-660D-727C7A64C833}"/>
              </a:ext>
            </a:extLst>
          </p:cNvPr>
          <p:cNvSpPr txBox="1"/>
          <p:nvPr/>
        </p:nvSpPr>
        <p:spPr>
          <a:xfrm>
            <a:off x="6831207" y="2319288"/>
            <a:ext cx="4649593" cy="328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统一执行合同和远端任务闭环</a:t>
            </a:r>
            <a:endParaRPr lang="en-US" altLang="zh-CN" sz="1400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22A2304B-0DDC-F975-EFB0-8C4134DE486E}"/>
              </a:ext>
            </a:extLst>
          </p:cNvPr>
          <p:cNvSpPr>
            <a:spLocks/>
          </p:cNvSpPr>
          <p:nvPr/>
        </p:nvSpPr>
        <p:spPr>
          <a:xfrm>
            <a:off x="6760031" y="3116304"/>
            <a:ext cx="4811741" cy="543413"/>
          </a:xfrm>
          <a:prstGeom prst="roundRect">
            <a:avLst>
              <a:gd name="adj" fmla="val 2018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EF3303DA-5495-8170-2930-DDB0387D9215}"/>
              </a:ext>
            </a:extLst>
          </p:cNvPr>
          <p:cNvSpPr txBox="1"/>
          <p:nvPr/>
        </p:nvSpPr>
        <p:spPr>
          <a:xfrm>
            <a:off x="6852967" y="3204178"/>
            <a:ext cx="4627833" cy="32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4BEFD098-C86E-F9DD-90D1-C86F8063472E}"/>
              </a:ext>
            </a:extLst>
          </p:cNvPr>
          <p:cNvSpPr>
            <a:spLocks/>
          </p:cNvSpPr>
          <p:nvPr/>
        </p:nvSpPr>
        <p:spPr>
          <a:xfrm>
            <a:off x="6760031" y="3738542"/>
            <a:ext cx="4811741" cy="543413"/>
          </a:xfrm>
          <a:prstGeom prst="roundRect">
            <a:avLst>
              <a:gd name="adj" fmla="val 2018"/>
            </a:avLst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2">
                <a:lumMod val="50000"/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0B4FA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A8044CCF-26C6-D3AA-055F-55059422F399}"/>
              </a:ext>
            </a:extLst>
          </p:cNvPr>
          <p:cNvSpPr txBox="1"/>
          <p:nvPr/>
        </p:nvSpPr>
        <p:spPr>
          <a:xfrm>
            <a:off x="6852967" y="3826416"/>
            <a:ext cx="4718805" cy="32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8D9E184A-D7D3-987C-2CD8-6C0A680E1692}"/>
              </a:ext>
            </a:extLst>
          </p:cNvPr>
          <p:cNvSpPr>
            <a:spLocks/>
          </p:cNvSpPr>
          <p:nvPr/>
        </p:nvSpPr>
        <p:spPr>
          <a:xfrm>
            <a:off x="5802901" y="4591655"/>
            <a:ext cx="5946187" cy="899885"/>
          </a:xfrm>
          <a:prstGeom prst="roundRect">
            <a:avLst>
              <a:gd name="adj" fmla="val 2246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07D7CB76-1E83-0C46-5E27-7D8F4BB92EFE}"/>
              </a:ext>
            </a:extLst>
          </p:cNvPr>
          <p:cNvSpPr/>
          <p:nvPr/>
        </p:nvSpPr>
        <p:spPr>
          <a:xfrm>
            <a:off x="5803303" y="4591655"/>
            <a:ext cx="860538" cy="899885"/>
          </a:xfrm>
          <a:prstGeom prst="roundRect">
            <a:avLst>
              <a:gd name="adj" fmla="val 894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AACE0C18-6FB8-B994-69E5-F58A2814A02A}"/>
              </a:ext>
            </a:extLst>
          </p:cNvPr>
          <p:cNvSpPr txBox="1"/>
          <p:nvPr/>
        </p:nvSpPr>
        <p:spPr>
          <a:xfrm>
            <a:off x="5803303" y="4661173"/>
            <a:ext cx="860538" cy="3850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endParaRPr lang="zh-CN" altLang="en-US" sz="1800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A3E00A56-4288-56CE-7091-14E6B8200ABD}"/>
              </a:ext>
            </a:extLst>
          </p:cNvPr>
          <p:cNvSpPr txBox="1"/>
          <p:nvPr/>
        </p:nvSpPr>
        <p:spPr>
          <a:xfrm>
            <a:off x="6742252" y="4884300"/>
            <a:ext cx="48839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62E543F5-E662-1FEA-6659-52A867FD71F7}"/>
              </a:ext>
            </a:extLst>
          </p:cNvPr>
          <p:cNvSpPr>
            <a:spLocks/>
          </p:cNvSpPr>
          <p:nvPr/>
        </p:nvSpPr>
        <p:spPr>
          <a:xfrm>
            <a:off x="5802901" y="5628506"/>
            <a:ext cx="5946187" cy="899885"/>
          </a:xfrm>
          <a:prstGeom prst="roundRect">
            <a:avLst>
              <a:gd name="adj" fmla="val 1452"/>
            </a:avLst>
          </a:prstGeom>
          <a:solidFill>
            <a:schemeClr val="accent3">
              <a:alpha val="40000"/>
            </a:schemeClr>
          </a:solidFill>
          <a:ln w="3175" cap="flat" cmpd="sng" algn="ctr">
            <a:solidFill>
              <a:schemeClr val="accent1">
                <a:alpha val="5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zh-CN" altLang="en-US" sz="1200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B0B640A8-38DC-EE31-50AC-58E5BCAB2B2B}"/>
              </a:ext>
            </a:extLst>
          </p:cNvPr>
          <p:cNvSpPr/>
          <p:nvPr/>
        </p:nvSpPr>
        <p:spPr>
          <a:xfrm>
            <a:off x="5803303" y="5628506"/>
            <a:ext cx="860538" cy="899885"/>
          </a:xfrm>
          <a:prstGeom prst="roundRect">
            <a:avLst>
              <a:gd name="adj" fmla="val 1171"/>
            </a:avLst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06B8C372-BACD-16EF-565C-291C58E377C4}"/>
              </a:ext>
            </a:extLst>
          </p:cNvPr>
          <p:cNvSpPr txBox="1"/>
          <p:nvPr/>
        </p:nvSpPr>
        <p:spPr>
          <a:xfrm>
            <a:off x="5803303" y="5698024"/>
            <a:ext cx="860538" cy="385042"/>
          </a:xfrm>
          <a:prstGeom prst="rect">
            <a:avLst/>
          </a:prstGeom>
          <a:noFill/>
          <a:effectLst/>
        </p:spPr>
        <p:txBody>
          <a:bodyPr wrap="square" lIns="100584" tIns="50292" rIns="100584" bIns="50292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77139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endParaRPr lang="zh-CN" altLang="en-US" sz="1800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75000"/>
                    <a:alpha val="40000"/>
                  </a:srgbClr>
                </a:outerShdw>
              </a:effectLst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94FA1A5F-D282-26A9-E5DB-641AE91E8BFC}"/>
              </a:ext>
            </a:extLst>
          </p:cNvPr>
          <p:cNvSpPr txBox="1"/>
          <p:nvPr/>
        </p:nvSpPr>
        <p:spPr>
          <a:xfrm>
            <a:off x="6742252" y="5796835"/>
            <a:ext cx="4883903" cy="3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2710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C80D6-7D14-1C95-AEC8-D2AF0317E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3D8BE58-E9E8-4C33-6FE6-D38EF27C3F73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1.1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537F0F4-F5CF-D204-5827-ABB0447E60B9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研究计划：阶段推进安排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86DB2DD-26A7-4F49-1C5A-2C1060A6A70C}"/>
              </a:ext>
            </a:extLst>
          </p:cNvPr>
          <p:cNvSpPr/>
          <p:nvPr/>
        </p:nvSpPr>
        <p:spPr>
          <a:xfrm>
            <a:off x="442913" y="1388747"/>
            <a:ext cx="1146384" cy="1015663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微软雅黑" panose="020B0503020204020204" pitchFamily="34" charset="-122"/>
                <a:ea typeface="等线 Light" panose="02010600030101010101" pitchFamily="2" charset="-122"/>
                <a:cs typeface="+mn-cs"/>
              </a:rPr>
              <a:t>M1-M2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102B68"/>
              </a:solidFill>
              <a:effectLst/>
              <a:uLnTx/>
              <a:uFillTx/>
              <a:latin typeface="微软雅黑" panose="020B0503020204020204" pitchFamily="34" charset="-122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4E647F0-CC25-CFDB-D456-9EC67973660C}"/>
              </a:ext>
            </a:extLst>
          </p:cNvPr>
          <p:cNvSpPr/>
          <p:nvPr/>
        </p:nvSpPr>
        <p:spPr>
          <a:xfrm>
            <a:off x="1650324" y="1388747"/>
            <a:ext cx="1146384" cy="1015663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微软雅黑" panose="020B0503020204020204" pitchFamily="34" charset="-122"/>
                <a:ea typeface="等线 Light" panose="02010600030101010101" pitchFamily="2" charset="-122"/>
                <a:cs typeface="+mn-cs"/>
              </a:rPr>
              <a:t>基线复现与平台稳定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102B68"/>
              </a:solidFill>
              <a:effectLst/>
              <a:uLnTx/>
              <a:uFillTx/>
              <a:latin typeface="微软雅黑" panose="020B0503020204020204" pitchFamily="34" charset="-122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40145FC-A1E6-568D-50AD-C8A4DF6526C9}"/>
              </a:ext>
            </a:extLst>
          </p:cNvPr>
          <p:cNvSpPr/>
          <p:nvPr/>
        </p:nvSpPr>
        <p:spPr>
          <a:xfrm>
            <a:off x="2857734" y="1388747"/>
            <a:ext cx="1146384" cy="1015663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微软雅黑" panose="020B0503020204020204" pitchFamily="34" charset="-122"/>
                <a:ea typeface="等线 Light" panose="02010600030101010101" pitchFamily="2" charset="-122"/>
                <a:cs typeface="+mn-cs"/>
              </a:rPr>
              <a:t>M3-M4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102B68"/>
              </a:solidFill>
              <a:effectLst/>
              <a:uLnTx/>
              <a:uFillTx/>
              <a:latin typeface="微软雅黑" panose="020B0503020204020204" pitchFamily="34" charset="-122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5482AC0-6B40-885E-EF53-89C9E0597F57}"/>
              </a:ext>
            </a:extLst>
          </p:cNvPr>
          <p:cNvSpPr/>
          <p:nvPr/>
        </p:nvSpPr>
        <p:spPr>
          <a:xfrm>
            <a:off x="4065145" y="1388747"/>
            <a:ext cx="1146384" cy="101566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微软雅黑" panose="020B0503020204020204" pitchFamily="34" charset="-122"/>
                <a:ea typeface="等线 Light" panose="02010600030101010101" pitchFamily="2" charset="-122"/>
                <a:cs typeface="+mn-cs"/>
              </a:rPr>
              <a:t>Critic / Composer / Memory </a:t>
            </a: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微软雅黑" panose="020B0503020204020204" pitchFamily="34" charset="-122"/>
                <a:ea typeface="等线 Light" panose="02010600030101010101" pitchFamily="2" charset="-122"/>
                <a:cs typeface="+mn-cs"/>
              </a:rPr>
              <a:t>消融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102B68"/>
              </a:solidFill>
              <a:effectLst/>
              <a:uLnTx/>
              <a:uFillTx/>
              <a:latin typeface="微软雅黑" panose="020B0503020204020204" pitchFamily="34" charset="-122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47250B7-349F-34A6-6E24-1BCCF4879ACF}"/>
              </a:ext>
            </a:extLst>
          </p:cNvPr>
          <p:cNvSpPr/>
          <p:nvPr/>
        </p:nvSpPr>
        <p:spPr>
          <a:xfrm>
            <a:off x="5272555" y="1388747"/>
            <a:ext cx="1146384" cy="101566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微软雅黑" panose="020B0503020204020204" pitchFamily="34" charset="-122"/>
                <a:ea typeface="等线 Light" panose="02010600030101010101" pitchFamily="2" charset="-122"/>
                <a:cs typeface="+mn-cs"/>
              </a:rPr>
              <a:t>M5-M6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102B68"/>
              </a:solidFill>
              <a:effectLst/>
              <a:uLnTx/>
              <a:uFillTx/>
              <a:latin typeface="微软雅黑" panose="020B0503020204020204" pitchFamily="34" charset="-122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CBAED51-B2F5-0BAD-0758-396252681F52}"/>
              </a:ext>
            </a:extLst>
          </p:cNvPr>
          <p:cNvSpPr/>
          <p:nvPr/>
        </p:nvSpPr>
        <p:spPr>
          <a:xfrm>
            <a:off x="6479966" y="1388747"/>
            <a:ext cx="1146384" cy="101566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微软雅黑" panose="020B0503020204020204" pitchFamily="34" charset="-122"/>
                <a:ea typeface="等线 Light" panose="02010600030101010101" pitchFamily="2" charset="-122"/>
                <a:cs typeface="+mn-cs"/>
              </a:rPr>
              <a:t>长序列与动态场景实验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102B68"/>
              </a:solidFill>
              <a:effectLst/>
              <a:uLnTx/>
              <a:uFillTx/>
              <a:latin typeface="微软雅黑" panose="020B0503020204020204" pitchFamily="34" charset="-122"/>
              <a:ea typeface="等线 Light" panose="02010600030101010101" pitchFamily="2" charset="-122"/>
              <a:cs typeface="+mn-cs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4FEF3F9-B91A-DB75-B15C-0B9DB788B884}"/>
              </a:ext>
            </a:extLst>
          </p:cNvPr>
          <p:cNvCxnSpPr>
            <a:cxnSpLocks/>
          </p:cNvCxnSpPr>
          <p:nvPr/>
        </p:nvCxnSpPr>
        <p:spPr>
          <a:xfrm>
            <a:off x="442913" y="1118533"/>
            <a:ext cx="0" cy="168275"/>
          </a:xfrm>
          <a:prstGeom prst="line">
            <a:avLst/>
          </a:prstGeom>
          <a:noFill/>
          <a:ln w="127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BF7106A-D16E-818D-2D48-F7D863F4CCCC}"/>
              </a:ext>
            </a:extLst>
          </p:cNvPr>
          <p:cNvCxnSpPr>
            <a:cxnSpLocks/>
          </p:cNvCxnSpPr>
          <p:nvPr/>
        </p:nvCxnSpPr>
        <p:spPr>
          <a:xfrm>
            <a:off x="4034631" y="1118533"/>
            <a:ext cx="0" cy="168275"/>
          </a:xfrm>
          <a:prstGeom prst="line">
            <a:avLst/>
          </a:prstGeom>
          <a:noFill/>
          <a:ln w="127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15D0B880-649F-9108-E4C9-139D248D8837}"/>
              </a:ext>
            </a:extLst>
          </p:cNvPr>
          <p:cNvSpPr txBox="1"/>
          <p:nvPr/>
        </p:nvSpPr>
        <p:spPr>
          <a:xfrm>
            <a:off x="1808980" y="1064171"/>
            <a:ext cx="82907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季度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8C02C50-6B13-8966-91D4-705FD5224D77}"/>
              </a:ext>
            </a:extLst>
          </p:cNvPr>
          <p:cNvCxnSpPr>
            <a:cxnSpLocks/>
          </p:cNvCxnSpPr>
          <p:nvPr/>
        </p:nvCxnSpPr>
        <p:spPr>
          <a:xfrm flipH="1">
            <a:off x="484091" y="1202670"/>
            <a:ext cx="1369493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6A05BCAC-517B-86FF-11A8-0578D10F0210}"/>
              </a:ext>
            </a:extLst>
          </p:cNvPr>
          <p:cNvCxnSpPr>
            <a:cxnSpLocks/>
          </p:cNvCxnSpPr>
          <p:nvPr/>
        </p:nvCxnSpPr>
        <p:spPr>
          <a:xfrm>
            <a:off x="2593447" y="1202670"/>
            <a:ext cx="1369493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DA9C7BA8-9480-1EC5-44AF-8D9425B213C5}"/>
              </a:ext>
            </a:extLst>
          </p:cNvPr>
          <p:cNvCxnSpPr>
            <a:cxnSpLocks/>
          </p:cNvCxnSpPr>
          <p:nvPr/>
        </p:nvCxnSpPr>
        <p:spPr>
          <a:xfrm>
            <a:off x="7615685" y="1118533"/>
            <a:ext cx="0" cy="168275"/>
          </a:xfrm>
          <a:prstGeom prst="line">
            <a:avLst/>
          </a:prstGeom>
          <a:noFill/>
          <a:ln w="127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B4C9572D-8ADB-D8B4-3F5C-B798E778FA40}"/>
              </a:ext>
            </a:extLst>
          </p:cNvPr>
          <p:cNvSpPr txBox="1"/>
          <p:nvPr/>
        </p:nvSpPr>
        <p:spPr>
          <a:xfrm>
            <a:off x="5390032" y="1064171"/>
            <a:ext cx="82907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季度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A818CCB-B7EC-0ED5-7364-AC46658F8997}"/>
              </a:ext>
            </a:extLst>
          </p:cNvPr>
          <p:cNvGrpSpPr/>
          <p:nvPr/>
        </p:nvGrpSpPr>
        <p:grpSpPr>
          <a:xfrm>
            <a:off x="4065145" y="1202670"/>
            <a:ext cx="3478849" cy="0"/>
            <a:chOff x="501445" y="1065211"/>
            <a:chExt cx="3478849" cy="0"/>
          </a:xfrm>
        </p:grpSpPr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C7A16BA7-6D22-5EBD-DDBB-980A8642B7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445" y="1065211"/>
              <a:ext cx="1369493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dash"/>
              <a:miter lim="800000"/>
              <a:tailEnd type="triangle"/>
            </a:ln>
            <a:effectLst/>
          </p:spPr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587069E1-4698-67B4-5FD6-2BA9FDDD1587}"/>
                </a:ext>
              </a:extLst>
            </p:cNvPr>
            <p:cNvCxnSpPr>
              <a:cxnSpLocks/>
            </p:cNvCxnSpPr>
            <p:nvPr/>
          </p:nvCxnSpPr>
          <p:spPr>
            <a:xfrm>
              <a:off x="2610801" y="1065211"/>
              <a:ext cx="1369493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dash"/>
              <a:miter lim="800000"/>
              <a:tailEnd type="triangle"/>
            </a:ln>
            <a:effectLst/>
          </p:spPr>
        </p:cxnSp>
      </p:grp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64600EAC-7253-9E9A-EAE0-ECD5750432C8}"/>
              </a:ext>
            </a:extLst>
          </p:cNvPr>
          <p:cNvCxnSpPr>
            <a:cxnSpLocks/>
          </p:cNvCxnSpPr>
          <p:nvPr/>
        </p:nvCxnSpPr>
        <p:spPr>
          <a:xfrm flipH="1" flipV="1">
            <a:off x="1621484" y="1388746"/>
            <a:ext cx="1" cy="5273340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dash"/>
            <a:miter lim="800000"/>
            <a:tailEnd type="none"/>
          </a:ln>
          <a:effectLst/>
        </p:spPr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B3D95BD-FDE8-A128-5905-D58D0D606647}"/>
              </a:ext>
            </a:extLst>
          </p:cNvPr>
          <p:cNvCxnSpPr>
            <a:cxnSpLocks/>
          </p:cNvCxnSpPr>
          <p:nvPr/>
        </p:nvCxnSpPr>
        <p:spPr>
          <a:xfrm flipH="1" flipV="1">
            <a:off x="2827214" y="1388746"/>
            <a:ext cx="1" cy="5273340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dash"/>
            <a:miter lim="800000"/>
            <a:tailEnd type="none"/>
          </a:ln>
          <a:effectLst/>
        </p:spPr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BB4BFB4-9B41-4DEB-7374-68A56C49D90E}"/>
              </a:ext>
            </a:extLst>
          </p:cNvPr>
          <p:cNvCxnSpPr>
            <a:cxnSpLocks/>
          </p:cNvCxnSpPr>
          <p:nvPr/>
        </p:nvCxnSpPr>
        <p:spPr>
          <a:xfrm flipH="1" flipV="1">
            <a:off x="4032944" y="1388746"/>
            <a:ext cx="1" cy="5273340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dash"/>
            <a:miter lim="800000"/>
            <a:tailEnd type="none"/>
          </a:ln>
          <a:effectLst/>
        </p:spPr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8B963610-B00D-51E1-ACA7-3C7730A6E18D}"/>
              </a:ext>
            </a:extLst>
          </p:cNvPr>
          <p:cNvCxnSpPr>
            <a:cxnSpLocks/>
          </p:cNvCxnSpPr>
          <p:nvPr/>
        </p:nvCxnSpPr>
        <p:spPr>
          <a:xfrm flipH="1" flipV="1">
            <a:off x="5238674" y="1388746"/>
            <a:ext cx="1" cy="5273340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dash"/>
            <a:miter lim="800000"/>
            <a:tailEnd type="none"/>
          </a:ln>
          <a:effectLst/>
        </p:spPr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D8A04538-DA8C-4089-7F76-4B527BA11121}"/>
              </a:ext>
            </a:extLst>
          </p:cNvPr>
          <p:cNvCxnSpPr>
            <a:cxnSpLocks/>
          </p:cNvCxnSpPr>
          <p:nvPr/>
        </p:nvCxnSpPr>
        <p:spPr>
          <a:xfrm flipH="1" flipV="1">
            <a:off x="6444404" y="1388746"/>
            <a:ext cx="1" cy="5273340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dash"/>
            <a:miter lim="800000"/>
            <a:tailEnd type="none"/>
          </a:ln>
          <a:effectLst/>
        </p:spPr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9ACED595-E6D6-B18E-BCCD-48EE2E991BF2}"/>
              </a:ext>
            </a:extLst>
          </p:cNvPr>
          <p:cNvCxnSpPr>
            <a:cxnSpLocks/>
          </p:cNvCxnSpPr>
          <p:nvPr/>
        </p:nvCxnSpPr>
        <p:spPr>
          <a:xfrm flipH="1" flipV="1">
            <a:off x="7625973" y="1388746"/>
            <a:ext cx="1" cy="5273340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dash"/>
            <a:miter lim="800000"/>
            <a:tailEnd type="none"/>
          </a:ln>
          <a:effectLst/>
        </p:spPr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DD5327F9-5CF8-FD36-929D-7367248C9FF7}"/>
              </a:ext>
            </a:extLst>
          </p:cNvPr>
          <p:cNvCxnSpPr>
            <a:cxnSpLocks/>
          </p:cNvCxnSpPr>
          <p:nvPr/>
        </p:nvCxnSpPr>
        <p:spPr>
          <a:xfrm>
            <a:off x="7984078" y="1118533"/>
            <a:ext cx="0" cy="168275"/>
          </a:xfrm>
          <a:prstGeom prst="line">
            <a:avLst/>
          </a:prstGeom>
          <a:noFill/>
          <a:ln w="127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C3693DE-9ABF-D55B-4BC4-FDE31D1E4934}"/>
              </a:ext>
            </a:extLst>
          </p:cNvPr>
          <p:cNvCxnSpPr>
            <a:cxnSpLocks/>
          </p:cNvCxnSpPr>
          <p:nvPr/>
        </p:nvCxnSpPr>
        <p:spPr>
          <a:xfrm>
            <a:off x="11743185" y="1118533"/>
            <a:ext cx="0" cy="168275"/>
          </a:xfrm>
          <a:prstGeom prst="line">
            <a:avLst/>
          </a:prstGeom>
          <a:noFill/>
          <a:ln w="127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6B5C934D-87A4-03F3-6C48-F642C9A03C6B}"/>
              </a:ext>
            </a:extLst>
          </p:cNvPr>
          <p:cNvSpPr txBox="1"/>
          <p:nvPr/>
        </p:nvSpPr>
        <p:spPr>
          <a:xfrm>
            <a:off x="9452047" y="1064171"/>
            <a:ext cx="82907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季度</a:t>
            </a: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979FE63E-8978-4707-57D8-EE975670A691}"/>
              </a:ext>
            </a:extLst>
          </p:cNvPr>
          <p:cNvGrpSpPr/>
          <p:nvPr/>
        </p:nvGrpSpPr>
        <p:grpSpPr>
          <a:xfrm>
            <a:off x="8127159" y="1202670"/>
            <a:ext cx="3478849" cy="0"/>
            <a:chOff x="501445" y="1065211"/>
            <a:chExt cx="3478849" cy="0"/>
          </a:xfrm>
        </p:grpSpPr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35777311-435B-19D8-D603-15B2DF474B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445" y="1065211"/>
              <a:ext cx="1369493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dash"/>
              <a:miter lim="800000"/>
              <a:tailEnd type="triangle"/>
            </a:ln>
            <a:effectLst/>
          </p:spPr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0C245BB3-C525-179D-D4B5-DEE5D48AFD3E}"/>
                </a:ext>
              </a:extLst>
            </p:cNvPr>
            <p:cNvCxnSpPr>
              <a:cxnSpLocks/>
            </p:cNvCxnSpPr>
            <p:nvPr/>
          </p:nvCxnSpPr>
          <p:spPr>
            <a:xfrm>
              <a:off x="2610801" y="1065211"/>
              <a:ext cx="1369493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dash"/>
              <a:miter lim="800000"/>
              <a:tailEnd type="triangle"/>
            </a:ln>
            <a:effectLst/>
          </p:spPr>
        </p:cxnSp>
      </p:grpSp>
      <p:sp>
        <p:nvSpPr>
          <p:cNvPr id="57" name="矩形 56">
            <a:extLst>
              <a:ext uri="{FF2B5EF4-FFF2-40B4-BE49-F238E27FC236}">
                <a16:creationId xmlns:a16="http://schemas.microsoft.com/office/drawing/2014/main" id="{4E6FC7A8-A389-21C6-64BC-BC56C4308DAC}"/>
              </a:ext>
            </a:extLst>
          </p:cNvPr>
          <p:cNvSpPr/>
          <p:nvPr/>
        </p:nvSpPr>
        <p:spPr>
          <a:xfrm>
            <a:off x="7984078" y="1388748"/>
            <a:ext cx="3718972" cy="1015662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102B68"/>
                </a:solidFill>
                <a:effectLst/>
                <a:uLnTx/>
                <a:uFillTx/>
                <a:latin typeface="微软雅黑" panose="020B0503020204020204" pitchFamily="34" charset="-122"/>
                <a:ea typeface="等线 Light" panose="02010600030101010101" pitchFamily="2" charset="-122"/>
                <a:cs typeface="+mn-cs"/>
              </a:rPr>
              <a:t>M7-M8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102B68"/>
              </a:solidFill>
              <a:effectLst/>
              <a:uLnTx/>
              <a:uFillTx/>
              <a:latin typeface="微软雅黑" panose="020B0503020204020204" pitchFamily="34" charset="-122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66EB4ADD-819A-48C5-FD38-29EDF879CE5A}"/>
              </a:ext>
            </a:extLst>
          </p:cNvPr>
          <p:cNvSpPr txBox="1"/>
          <p:nvPr/>
        </p:nvSpPr>
        <p:spPr>
          <a:xfrm>
            <a:off x="9419410" y="1555743"/>
            <a:ext cx="8483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endParaRPr lang="zh-CN" altLang="en-US" sz="1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5FE46308-A54D-DC3B-5A49-6885E591A73C}"/>
              </a:ext>
            </a:extLst>
          </p:cNvPr>
          <p:cNvSpPr txBox="1"/>
          <p:nvPr/>
        </p:nvSpPr>
        <p:spPr>
          <a:xfrm>
            <a:off x="9751199" y="1860207"/>
            <a:ext cx="18473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0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88A8959B-F9C9-154A-C136-0E1F42F2BD3B}"/>
              </a:ext>
            </a:extLst>
          </p:cNvPr>
          <p:cNvSpPr txBox="1"/>
          <p:nvPr/>
        </p:nvSpPr>
        <p:spPr>
          <a:xfrm>
            <a:off x="6629004" y="1555743"/>
            <a:ext cx="8483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endParaRPr lang="zh-CN" altLang="en-US" sz="1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3F4A848-D35E-5530-B7EE-BDA22BAFD301}"/>
              </a:ext>
            </a:extLst>
          </p:cNvPr>
          <p:cNvSpPr txBox="1"/>
          <p:nvPr/>
        </p:nvSpPr>
        <p:spPr>
          <a:xfrm>
            <a:off x="6960793" y="1860207"/>
            <a:ext cx="1847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0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AD4CD08-5CDC-17B0-4805-2180E325AE58}"/>
              </a:ext>
            </a:extLst>
          </p:cNvPr>
          <p:cNvSpPr txBox="1"/>
          <p:nvPr/>
        </p:nvSpPr>
        <p:spPr>
          <a:xfrm>
            <a:off x="5421593" y="1555743"/>
            <a:ext cx="8483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endParaRPr lang="zh-CN" altLang="en-US" sz="1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7990CF4-1289-C6F6-F6F5-A723C61C8187}"/>
              </a:ext>
            </a:extLst>
          </p:cNvPr>
          <p:cNvSpPr txBox="1"/>
          <p:nvPr/>
        </p:nvSpPr>
        <p:spPr>
          <a:xfrm>
            <a:off x="5753382" y="1860207"/>
            <a:ext cx="1847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0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CB81D04F-0432-DD98-70C4-451B22073A4A}"/>
              </a:ext>
            </a:extLst>
          </p:cNvPr>
          <p:cNvSpPr txBox="1"/>
          <p:nvPr/>
        </p:nvSpPr>
        <p:spPr>
          <a:xfrm>
            <a:off x="4214183" y="1555743"/>
            <a:ext cx="8483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endParaRPr lang="zh-CN" altLang="en-US" sz="1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4E121678-CEF8-9B45-9271-ADCF218B7DC5}"/>
              </a:ext>
            </a:extLst>
          </p:cNvPr>
          <p:cNvSpPr txBox="1"/>
          <p:nvPr/>
        </p:nvSpPr>
        <p:spPr>
          <a:xfrm>
            <a:off x="4545972" y="1860207"/>
            <a:ext cx="1847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0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D4CAFCB-4ECC-DE6A-FEBF-6FC581CC1F28}"/>
              </a:ext>
            </a:extLst>
          </p:cNvPr>
          <p:cNvSpPr txBox="1"/>
          <p:nvPr/>
        </p:nvSpPr>
        <p:spPr>
          <a:xfrm>
            <a:off x="3006772" y="1555743"/>
            <a:ext cx="8483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endParaRPr lang="zh-CN" altLang="en-US" sz="1400" b="1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06D339B7-E8D9-CFC5-6F43-47EB1B00BE11}"/>
              </a:ext>
            </a:extLst>
          </p:cNvPr>
          <p:cNvSpPr txBox="1"/>
          <p:nvPr/>
        </p:nvSpPr>
        <p:spPr>
          <a:xfrm>
            <a:off x="3338561" y="1860207"/>
            <a:ext cx="1847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000" b="1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CC7948EF-667F-39AC-8E58-DEF6667576F7}"/>
              </a:ext>
            </a:extLst>
          </p:cNvPr>
          <p:cNvSpPr txBox="1"/>
          <p:nvPr/>
        </p:nvSpPr>
        <p:spPr>
          <a:xfrm>
            <a:off x="1799362" y="1555743"/>
            <a:ext cx="8483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endParaRPr lang="zh-CN" altLang="en-US" sz="1400" b="1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48C9B877-6754-7551-02F2-3134E507B652}"/>
              </a:ext>
            </a:extLst>
          </p:cNvPr>
          <p:cNvSpPr txBox="1"/>
          <p:nvPr/>
        </p:nvSpPr>
        <p:spPr>
          <a:xfrm>
            <a:off x="2131151" y="1860207"/>
            <a:ext cx="1847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000" b="1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B9E14180-5F87-99A6-C2E5-E0BA5633E23E}"/>
              </a:ext>
            </a:extLst>
          </p:cNvPr>
          <p:cNvSpPr txBox="1"/>
          <p:nvPr/>
        </p:nvSpPr>
        <p:spPr>
          <a:xfrm>
            <a:off x="591951" y="1555743"/>
            <a:ext cx="8483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b="1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论文撰写与系统整理</a:t>
            </a:r>
            <a:endParaRPr lang="zh-CN" altLang="en-US" sz="1400" b="1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BD7ED761-ED9D-1680-76FA-6A1B43C94382}"/>
              </a:ext>
            </a:extLst>
          </p:cNvPr>
          <p:cNvSpPr txBox="1"/>
          <p:nvPr/>
        </p:nvSpPr>
        <p:spPr>
          <a:xfrm>
            <a:off x="923740" y="1860207"/>
            <a:ext cx="1847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000" b="1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2AADA6-1F3E-C500-186C-032838FD6DA4}"/>
              </a:ext>
            </a:extLst>
          </p:cNvPr>
          <p:cNvSpPr/>
          <p:nvPr/>
        </p:nvSpPr>
        <p:spPr>
          <a:xfrm>
            <a:off x="7984078" y="2566727"/>
            <a:ext cx="3712622" cy="122833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9B8B0FF-AA50-CE42-71CB-A86933994353}"/>
              </a:ext>
            </a:extLst>
          </p:cNvPr>
          <p:cNvSpPr/>
          <p:nvPr/>
        </p:nvSpPr>
        <p:spPr>
          <a:xfrm>
            <a:off x="7984078" y="3957377"/>
            <a:ext cx="3718972" cy="122833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B0D9B25-59A2-9770-646A-5E36EC96F0B1}"/>
              </a:ext>
            </a:extLst>
          </p:cNvPr>
          <p:cNvSpPr/>
          <p:nvPr/>
        </p:nvSpPr>
        <p:spPr>
          <a:xfrm>
            <a:off x="7984078" y="5348026"/>
            <a:ext cx="3718972" cy="122833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等线 Light" panose="02010600030101010101" pitchFamily="2" charset="-122"/>
              <a:cs typeface="+mn-cs"/>
            </a:endParaRPr>
          </a:p>
        </p:txBody>
      </p:sp>
      <p:graphicFrame>
        <p:nvGraphicFramePr>
          <p:cNvPr id="75" name="图表 74">
            <a:extLst>
              <a:ext uri="{FF2B5EF4-FFF2-40B4-BE49-F238E27FC236}">
                <a16:creationId xmlns:a16="http://schemas.microsoft.com/office/drawing/2014/main" id="{3DB384DC-802F-5FA3-9209-B0CC775712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4520107"/>
              </p:ext>
            </p:extLst>
          </p:nvPr>
        </p:nvGraphicFramePr>
        <p:xfrm>
          <a:off x="10112771" y="2483866"/>
          <a:ext cx="1666344" cy="13963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6" name="椭圆 75">
            <a:extLst>
              <a:ext uri="{FF2B5EF4-FFF2-40B4-BE49-F238E27FC236}">
                <a16:creationId xmlns:a16="http://schemas.microsoft.com/office/drawing/2014/main" id="{3F265503-71A3-2FF9-3B23-6E9F141021C5}"/>
              </a:ext>
            </a:extLst>
          </p:cNvPr>
          <p:cNvSpPr/>
          <p:nvPr/>
        </p:nvSpPr>
        <p:spPr>
          <a:xfrm>
            <a:off x="10565790" y="2820961"/>
            <a:ext cx="760306" cy="760304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LID4096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  <p:graphicFrame>
        <p:nvGraphicFramePr>
          <p:cNvPr id="77" name="图表 76">
            <a:extLst>
              <a:ext uri="{FF2B5EF4-FFF2-40B4-BE49-F238E27FC236}">
                <a16:creationId xmlns:a16="http://schemas.microsoft.com/office/drawing/2014/main" id="{3910CCBA-EA87-17A8-8B96-ED49D8B572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6842829"/>
              </p:ext>
            </p:extLst>
          </p:nvPr>
        </p:nvGraphicFramePr>
        <p:xfrm>
          <a:off x="10112771" y="3877802"/>
          <a:ext cx="1666344" cy="13963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8" name="椭圆 77">
            <a:extLst>
              <a:ext uri="{FF2B5EF4-FFF2-40B4-BE49-F238E27FC236}">
                <a16:creationId xmlns:a16="http://schemas.microsoft.com/office/drawing/2014/main" id="{E22E3D90-202E-5253-6662-45F55A3DCF4E}"/>
              </a:ext>
            </a:extLst>
          </p:cNvPr>
          <p:cNvSpPr/>
          <p:nvPr/>
        </p:nvSpPr>
        <p:spPr>
          <a:xfrm>
            <a:off x="10565790" y="4217401"/>
            <a:ext cx="760306" cy="760304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LID4096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  <p:graphicFrame>
        <p:nvGraphicFramePr>
          <p:cNvPr id="79" name="图表 78">
            <a:extLst>
              <a:ext uri="{FF2B5EF4-FFF2-40B4-BE49-F238E27FC236}">
                <a16:creationId xmlns:a16="http://schemas.microsoft.com/office/drawing/2014/main" id="{0F80B776-FA71-E685-C5E9-B40D91F494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359282"/>
              </p:ext>
            </p:extLst>
          </p:nvPr>
        </p:nvGraphicFramePr>
        <p:xfrm>
          <a:off x="10112771" y="5271738"/>
          <a:ext cx="1666344" cy="13963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0" name="椭圆 79">
            <a:extLst>
              <a:ext uri="{FF2B5EF4-FFF2-40B4-BE49-F238E27FC236}">
                <a16:creationId xmlns:a16="http://schemas.microsoft.com/office/drawing/2014/main" id="{570B4D64-20BE-85B2-2127-D0B26308D239}"/>
              </a:ext>
            </a:extLst>
          </p:cNvPr>
          <p:cNvSpPr/>
          <p:nvPr/>
        </p:nvSpPr>
        <p:spPr>
          <a:xfrm>
            <a:off x="10565790" y="5634233"/>
            <a:ext cx="760306" cy="760304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LID4096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92AB045F-9C85-DC6E-3429-8A49DCBECB07}"/>
              </a:ext>
            </a:extLst>
          </p:cNvPr>
          <p:cNvGrpSpPr/>
          <p:nvPr/>
        </p:nvGrpSpPr>
        <p:grpSpPr>
          <a:xfrm>
            <a:off x="10852029" y="2955892"/>
            <a:ext cx="190233" cy="500132"/>
            <a:chOff x="10893382" y="2824935"/>
            <a:chExt cx="190233" cy="500132"/>
          </a:xfrm>
        </p:grpSpPr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77D091C-238A-A9F8-C5EA-CA3411E21D3B}"/>
                </a:ext>
              </a:extLst>
            </p:cNvPr>
            <p:cNvSpPr txBox="1"/>
            <p:nvPr/>
          </p:nvSpPr>
          <p:spPr>
            <a:xfrm>
              <a:off x="10898884" y="2986513"/>
              <a:ext cx="184731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algn="ctr">
                <a:defRPr sz="2800">
                  <a:solidFill>
                    <a:schemeClr val="bg1"/>
                  </a:solidFill>
                  <a:latin typeface="+mj-ea"/>
                  <a:ea typeface="+mj-ea"/>
                </a:defRPr>
              </a:lvl1pPr>
            </a:lstStyle>
            <a:p>
              <a:pPr>
                <a:defRPr/>
              </a:pPr>
              <a:endPara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D9E79CB1-2D74-ED13-2318-C4A45876BAD3}"/>
                </a:ext>
              </a:extLst>
            </p:cNvPr>
            <p:cNvSpPr txBox="1"/>
            <p:nvPr/>
          </p:nvSpPr>
          <p:spPr>
            <a:xfrm>
              <a:off x="10893382" y="2824935"/>
              <a:ext cx="184731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endParaRPr lang="zh-CN" altLang="en-US" sz="1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5CB7688E-EF63-1FC0-4D34-573FF4678620}"/>
              </a:ext>
            </a:extLst>
          </p:cNvPr>
          <p:cNvGrpSpPr/>
          <p:nvPr/>
        </p:nvGrpSpPr>
        <p:grpSpPr>
          <a:xfrm>
            <a:off x="10852029" y="4352332"/>
            <a:ext cx="190233" cy="500132"/>
            <a:chOff x="10893382" y="2824935"/>
            <a:chExt cx="190233" cy="500132"/>
          </a:xfrm>
        </p:grpSpPr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F76D9D05-4EB3-2944-D2AD-A42F5537DF85}"/>
                </a:ext>
              </a:extLst>
            </p:cNvPr>
            <p:cNvSpPr txBox="1"/>
            <p:nvPr/>
          </p:nvSpPr>
          <p:spPr>
            <a:xfrm>
              <a:off x="10898884" y="2986513"/>
              <a:ext cx="184731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algn="ctr">
                <a:defRPr sz="2800">
                  <a:solidFill>
                    <a:schemeClr val="bg1"/>
                  </a:solidFill>
                  <a:latin typeface="+mj-ea"/>
                  <a:ea typeface="+mj-ea"/>
                </a:defRPr>
              </a:lvl1pPr>
            </a:lstStyle>
            <a:p>
              <a:pPr>
                <a:defRPr/>
              </a:pPr>
              <a:endPara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6342C72-F1A6-8571-3497-1AE7CD200CD9}"/>
                </a:ext>
              </a:extLst>
            </p:cNvPr>
            <p:cNvSpPr txBox="1"/>
            <p:nvPr/>
          </p:nvSpPr>
          <p:spPr>
            <a:xfrm>
              <a:off x="10893382" y="2824935"/>
              <a:ext cx="184731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endParaRPr lang="zh-CN" altLang="en-US" sz="1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64ADF234-6DDB-C10D-BDC3-CDE7E83A208C}"/>
              </a:ext>
            </a:extLst>
          </p:cNvPr>
          <p:cNvGrpSpPr/>
          <p:nvPr/>
        </p:nvGrpSpPr>
        <p:grpSpPr>
          <a:xfrm>
            <a:off x="10852029" y="5769164"/>
            <a:ext cx="190233" cy="500132"/>
            <a:chOff x="10893382" y="2824935"/>
            <a:chExt cx="190233" cy="500132"/>
          </a:xfrm>
        </p:grpSpPr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9B7FB3B2-4589-EDFF-8B3A-5F5145529101}"/>
                </a:ext>
              </a:extLst>
            </p:cNvPr>
            <p:cNvSpPr txBox="1"/>
            <p:nvPr/>
          </p:nvSpPr>
          <p:spPr>
            <a:xfrm>
              <a:off x="10898884" y="2986513"/>
              <a:ext cx="184731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algn="ctr">
                <a:defRPr sz="2800">
                  <a:solidFill>
                    <a:schemeClr val="bg1"/>
                  </a:solidFill>
                  <a:latin typeface="+mj-ea"/>
                  <a:ea typeface="+mj-ea"/>
                </a:defRPr>
              </a:lvl1pPr>
            </a:lstStyle>
            <a:p>
              <a:pPr>
                <a:defRPr/>
              </a:pPr>
              <a:endPara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905ED555-E64D-B7D2-C875-839C66437F2F}"/>
                </a:ext>
              </a:extLst>
            </p:cNvPr>
            <p:cNvSpPr txBox="1"/>
            <p:nvPr/>
          </p:nvSpPr>
          <p:spPr>
            <a:xfrm>
              <a:off x="10893382" y="2824935"/>
              <a:ext cx="184731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endParaRPr lang="zh-CN" altLang="en-US" sz="1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91" name="Picture 2">
            <a:extLst>
              <a:ext uri="{FF2B5EF4-FFF2-40B4-BE49-F238E27FC236}">
                <a16:creationId xmlns:a16="http://schemas.microsoft.com/office/drawing/2014/main" id="{EDF677DA-F81D-EBC2-FB52-C5C508365574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789" y="2698756"/>
            <a:ext cx="2037736" cy="96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4">
            <a:extLst>
              <a:ext uri="{FF2B5EF4-FFF2-40B4-BE49-F238E27FC236}">
                <a16:creationId xmlns:a16="http://schemas.microsoft.com/office/drawing/2014/main" id="{4C34D873-188B-4BF6-75FF-4EC2522BF900}"/>
              </a:ext>
            </a:extLst>
          </p:cNvPr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789" y="4089406"/>
            <a:ext cx="2037736" cy="96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Picture 6">
            <a:extLst>
              <a:ext uri="{FF2B5EF4-FFF2-40B4-BE49-F238E27FC236}">
                <a16:creationId xmlns:a16="http://schemas.microsoft.com/office/drawing/2014/main" id="{1F252167-FF24-BF4E-3E17-3BA53C37EDAB}"/>
              </a:ext>
            </a:extLst>
          </p:cNvPr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789" y="5480055"/>
            <a:ext cx="2037736" cy="96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矩形 94">
            <a:extLst>
              <a:ext uri="{FF2B5EF4-FFF2-40B4-BE49-F238E27FC236}">
                <a16:creationId xmlns:a16="http://schemas.microsoft.com/office/drawing/2014/main" id="{8DF380AA-EC9B-1773-F066-8B727074A764}"/>
              </a:ext>
            </a:extLst>
          </p:cNvPr>
          <p:cNvSpPr/>
          <p:nvPr/>
        </p:nvSpPr>
        <p:spPr>
          <a:xfrm>
            <a:off x="494063" y="2566727"/>
            <a:ext cx="1578195" cy="89196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3A1CDEBC-68B2-B7C7-3572-50C4590C29FF}"/>
              </a:ext>
            </a:extLst>
          </p:cNvPr>
          <p:cNvSpPr/>
          <p:nvPr/>
        </p:nvSpPr>
        <p:spPr>
          <a:xfrm>
            <a:off x="494062" y="3607667"/>
            <a:ext cx="1856968" cy="89196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6AB29A9E-49CE-D67B-D2AE-3FF91DDCDB0E}"/>
              </a:ext>
            </a:extLst>
          </p:cNvPr>
          <p:cNvSpPr/>
          <p:nvPr/>
        </p:nvSpPr>
        <p:spPr>
          <a:xfrm>
            <a:off x="1618810" y="4648607"/>
            <a:ext cx="2388667" cy="89196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2A002E55-8CD1-FF48-6941-3ABAB01C1E30}"/>
              </a:ext>
            </a:extLst>
          </p:cNvPr>
          <p:cNvSpPr txBox="1"/>
          <p:nvPr/>
        </p:nvSpPr>
        <p:spPr>
          <a:xfrm>
            <a:off x="494321" y="2877447"/>
            <a:ext cx="1577675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endParaRPr lang="en-US" altLang="zh-CN" sz="12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304E0A6-2B97-8F60-88B4-BB2F4BC673E7}"/>
              </a:ext>
            </a:extLst>
          </p:cNvPr>
          <p:cNvSpPr txBox="1"/>
          <p:nvPr/>
        </p:nvSpPr>
        <p:spPr>
          <a:xfrm>
            <a:off x="1190794" y="2625296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ACB8EEFD-DDF1-4F42-2310-5AF85D508613}"/>
              </a:ext>
            </a:extLst>
          </p:cNvPr>
          <p:cNvSpPr/>
          <p:nvPr/>
        </p:nvSpPr>
        <p:spPr>
          <a:xfrm>
            <a:off x="956427" y="5689547"/>
            <a:ext cx="2388667" cy="89196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84315A81-370A-DB04-D346-6E2A74BADFEB}"/>
              </a:ext>
            </a:extLst>
          </p:cNvPr>
          <p:cNvSpPr/>
          <p:nvPr/>
        </p:nvSpPr>
        <p:spPr>
          <a:xfrm>
            <a:off x="4590031" y="4656149"/>
            <a:ext cx="2488057" cy="891966"/>
          </a:xfrm>
          <a:prstGeom prst="rect">
            <a:avLst/>
          </a:prstGeom>
          <a:solidFill>
            <a:schemeClr val="accent1"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BF589778-8A9C-E993-9FDE-1E391CC07641}"/>
              </a:ext>
            </a:extLst>
          </p:cNvPr>
          <p:cNvSpPr/>
          <p:nvPr/>
        </p:nvSpPr>
        <p:spPr>
          <a:xfrm>
            <a:off x="3467992" y="3611438"/>
            <a:ext cx="1743536" cy="891966"/>
          </a:xfrm>
          <a:prstGeom prst="rect">
            <a:avLst/>
          </a:prstGeom>
          <a:solidFill>
            <a:schemeClr val="accent1"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BBBC1730-B418-5B2D-5257-9A22B8AFB5CD}"/>
              </a:ext>
            </a:extLst>
          </p:cNvPr>
          <p:cNvSpPr/>
          <p:nvPr/>
        </p:nvSpPr>
        <p:spPr>
          <a:xfrm>
            <a:off x="2859125" y="2566727"/>
            <a:ext cx="2352402" cy="891966"/>
          </a:xfrm>
          <a:prstGeom prst="rect">
            <a:avLst/>
          </a:prstGeom>
          <a:solidFill>
            <a:schemeClr val="accent1"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11E74A54-ECA7-2475-168D-B48B2B95F15F}"/>
              </a:ext>
            </a:extLst>
          </p:cNvPr>
          <p:cNvSpPr txBox="1"/>
          <p:nvPr/>
        </p:nvSpPr>
        <p:spPr>
          <a:xfrm>
            <a:off x="2904954" y="2877447"/>
            <a:ext cx="2334986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82818604-7F8F-B87C-0DB8-CDFA820DB960}"/>
              </a:ext>
            </a:extLst>
          </p:cNvPr>
          <p:cNvSpPr txBox="1"/>
          <p:nvPr/>
        </p:nvSpPr>
        <p:spPr>
          <a:xfrm>
            <a:off x="3601426" y="2625296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7C44CFE3-6455-7570-33C0-2D8B974CFAF7}"/>
              </a:ext>
            </a:extLst>
          </p:cNvPr>
          <p:cNvSpPr/>
          <p:nvPr/>
        </p:nvSpPr>
        <p:spPr>
          <a:xfrm>
            <a:off x="5127628" y="5700861"/>
            <a:ext cx="2488057" cy="891966"/>
          </a:xfrm>
          <a:prstGeom prst="rect">
            <a:avLst/>
          </a:prstGeom>
          <a:solidFill>
            <a:schemeClr val="accent1"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13CFCC5B-08E2-4FC7-B95C-56BD11FA81D1}"/>
              </a:ext>
            </a:extLst>
          </p:cNvPr>
          <p:cNvSpPr/>
          <p:nvPr/>
        </p:nvSpPr>
        <p:spPr>
          <a:xfrm>
            <a:off x="5791792" y="2566727"/>
            <a:ext cx="1823890" cy="891966"/>
          </a:xfrm>
          <a:prstGeom prst="rect">
            <a:avLst/>
          </a:prstGeom>
          <a:solidFill>
            <a:schemeClr val="accent1"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F66AC11D-F0DB-7BC5-A8E9-F7D6F221ED02}"/>
              </a:ext>
            </a:extLst>
          </p:cNvPr>
          <p:cNvSpPr txBox="1"/>
          <p:nvPr/>
        </p:nvSpPr>
        <p:spPr>
          <a:xfrm>
            <a:off x="5821204" y="2877447"/>
            <a:ext cx="1769692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C1F2D7D2-D424-17C8-8803-E44467C183EC}"/>
              </a:ext>
            </a:extLst>
          </p:cNvPr>
          <p:cNvSpPr txBox="1"/>
          <p:nvPr/>
        </p:nvSpPr>
        <p:spPr>
          <a:xfrm>
            <a:off x="6517677" y="2625296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1209AA3D-01DF-E439-1C1C-E10B8DE96B88}"/>
              </a:ext>
            </a:extLst>
          </p:cNvPr>
          <p:cNvSpPr txBox="1"/>
          <p:nvPr/>
        </p:nvSpPr>
        <p:spPr>
          <a:xfrm>
            <a:off x="539478" y="3916538"/>
            <a:ext cx="1717059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endParaRPr lang="zh-CN" altLang="en-US" sz="12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D63C0BAF-BC4A-1B2A-01EF-505D403A648D}"/>
              </a:ext>
            </a:extLst>
          </p:cNvPr>
          <p:cNvSpPr txBox="1"/>
          <p:nvPr/>
        </p:nvSpPr>
        <p:spPr>
          <a:xfrm>
            <a:off x="1235950" y="3664387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2FEE7494-1ED5-8E3E-5AE6-9E920C81F95D}"/>
              </a:ext>
            </a:extLst>
          </p:cNvPr>
          <p:cNvSpPr txBox="1"/>
          <p:nvPr/>
        </p:nvSpPr>
        <p:spPr>
          <a:xfrm>
            <a:off x="3560084" y="3916538"/>
            <a:ext cx="1651444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endParaRPr lang="zh-CN" altLang="en-US" sz="12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94662BB7-EA4E-02D4-3C86-F625066E58B2}"/>
              </a:ext>
            </a:extLst>
          </p:cNvPr>
          <p:cNvSpPr txBox="1"/>
          <p:nvPr/>
        </p:nvSpPr>
        <p:spPr>
          <a:xfrm>
            <a:off x="4256556" y="3664387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16AF5218-C29E-7F1D-D598-6914A73BCD45}"/>
              </a:ext>
            </a:extLst>
          </p:cNvPr>
          <p:cNvSpPr txBox="1"/>
          <p:nvPr/>
        </p:nvSpPr>
        <p:spPr>
          <a:xfrm>
            <a:off x="1686101" y="4974898"/>
            <a:ext cx="2064076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DCD66314-285B-E829-7729-A2C8E951D687}"/>
              </a:ext>
            </a:extLst>
          </p:cNvPr>
          <p:cNvSpPr txBox="1"/>
          <p:nvPr/>
        </p:nvSpPr>
        <p:spPr>
          <a:xfrm>
            <a:off x="2382573" y="4722747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6CCC845-590B-9637-B007-34152FC4B309}"/>
              </a:ext>
            </a:extLst>
          </p:cNvPr>
          <p:cNvSpPr txBox="1"/>
          <p:nvPr/>
        </p:nvSpPr>
        <p:spPr>
          <a:xfrm>
            <a:off x="4680096" y="4974898"/>
            <a:ext cx="2334986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18FD4713-EA2A-E94A-12B2-004035B7587D}"/>
              </a:ext>
            </a:extLst>
          </p:cNvPr>
          <p:cNvSpPr txBox="1"/>
          <p:nvPr/>
        </p:nvSpPr>
        <p:spPr>
          <a:xfrm>
            <a:off x="5376568" y="4722747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91CDDBBB-C4C6-5257-4E15-F88EAE7CB353}"/>
              </a:ext>
            </a:extLst>
          </p:cNvPr>
          <p:cNvSpPr txBox="1"/>
          <p:nvPr/>
        </p:nvSpPr>
        <p:spPr>
          <a:xfrm>
            <a:off x="5232836" y="6010026"/>
            <a:ext cx="2334986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EEC2BF9F-B1F0-092A-4655-E345F839BCFB}"/>
              </a:ext>
            </a:extLst>
          </p:cNvPr>
          <p:cNvSpPr txBox="1"/>
          <p:nvPr/>
        </p:nvSpPr>
        <p:spPr>
          <a:xfrm>
            <a:off x="5929309" y="5757875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F97E612B-17D6-6C03-891C-9EE884C8248C}"/>
              </a:ext>
            </a:extLst>
          </p:cNvPr>
          <p:cNvSpPr txBox="1"/>
          <p:nvPr/>
        </p:nvSpPr>
        <p:spPr>
          <a:xfrm>
            <a:off x="1021172" y="6010026"/>
            <a:ext cx="2334986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7E544A3B-0F95-743B-745E-0DB087E9CD36}"/>
              </a:ext>
            </a:extLst>
          </p:cNvPr>
          <p:cNvSpPr txBox="1"/>
          <p:nvPr/>
        </p:nvSpPr>
        <p:spPr>
          <a:xfrm>
            <a:off x="1717645" y="5757875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6DDFCD0-B51A-596A-4489-419D4DF5DAFE}"/>
              </a:ext>
            </a:extLst>
          </p:cNvPr>
          <p:cNvSpPr/>
          <p:nvPr/>
        </p:nvSpPr>
        <p:spPr>
          <a:xfrm>
            <a:off x="698500" y="1778000"/>
            <a:ext cx="10795000" cy="444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4E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ACD798-32E7-BC98-FE3E-B85EEEA81288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988" y="1778000"/>
            <a:ext cx="7898023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944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</a:rPr>
              <a:t>1.1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风险分析：边界与对策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E9DD4C2B-0DA5-4F5F-7D89-3CF0ED0B84F3}"/>
              </a:ext>
            </a:extLst>
          </p:cNvPr>
          <p:cNvSpPr/>
          <p:nvPr/>
        </p:nvSpPr>
        <p:spPr>
          <a:xfrm>
            <a:off x="442913" y="1359100"/>
            <a:ext cx="11306175" cy="1123309"/>
          </a:xfrm>
          <a:prstGeom prst="roundRect">
            <a:avLst>
              <a:gd name="adj" fmla="val 3564"/>
            </a:avLst>
          </a:prstGeom>
          <a:solidFill>
            <a:sysClr val="window" lastClr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66700" dist="215900" dir="8100000" algn="tr" rotWithShape="0">
              <a:schemeClr val="accent1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60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风险可控的前提是明确 </a:t>
            </a:r>
            <a:r>
              <a:rPr lang="en-US" altLang="zh-CN" sz="160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claim </a:t>
            </a:r>
            <a:r>
              <a:rPr lang="zh-CN" altLang="en-US" sz="1600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边界：候选方案必须由对照实验支持。</a:t>
            </a:r>
            <a:endParaRPr lang="zh-CN" altLang="en-US" sz="1600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C45F1A2-5B3C-B500-CFD4-C627A7DA7EC9}"/>
              </a:ext>
            </a:extLst>
          </p:cNvPr>
          <p:cNvSpPr txBox="1"/>
          <p:nvPr/>
        </p:nvSpPr>
        <p:spPr>
          <a:xfrm>
            <a:off x="972559" y="1431395"/>
            <a:ext cx="10307623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实验风险</a:t>
            </a:r>
            <a:endParaRPr lang="en-US" altLang="zh-CN" sz="2400" b="1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A8266866-2461-FEEB-9A0A-386D6CA9850D}"/>
              </a:ext>
            </a:extLst>
          </p:cNvPr>
          <p:cNvSpPr/>
          <p:nvPr/>
        </p:nvSpPr>
        <p:spPr>
          <a:xfrm>
            <a:off x="6243442" y="2748653"/>
            <a:ext cx="5478916" cy="1640093"/>
          </a:xfrm>
          <a:prstGeom prst="roundRect">
            <a:avLst>
              <a:gd name="adj" fmla="val 1076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304800" sx="102000" sy="102000" algn="ctr" rotWithShape="0">
              <a:schemeClr val="accent1">
                <a:alpha val="16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模型适配与远端资源受限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8D24B30-86E1-C610-1137-AF00CD9EFF7B}"/>
              </a:ext>
            </a:extLst>
          </p:cNvPr>
          <p:cNvSpPr/>
          <p:nvPr/>
        </p:nvSpPr>
        <p:spPr>
          <a:xfrm>
            <a:off x="6248765" y="2748652"/>
            <a:ext cx="654592" cy="1640093"/>
          </a:xfrm>
          <a:prstGeom prst="rect">
            <a:avLst/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设置强基线与消融组</a:t>
            </a:r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15AC1D1-FC4B-0A15-DB5B-1FDC28A594E8}"/>
              </a:ext>
            </a:extLst>
          </p:cNvPr>
          <p:cNvSpPr txBox="1"/>
          <p:nvPr/>
        </p:nvSpPr>
        <p:spPr>
          <a:xfrm>
            <a:off x="6262129" y="2808303"/>
            <a:ext cx="627864" cy="15062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>
                <a:solidFill>
                  <a:prstClr val="white"/>
                </a:solidFill>
                <a:effectLst>
                  <a:outerShdw blurRad="50800" dist="38100" dir="5400000" algn="t" rotWithShape="0">
                    <a:srgbClr val="0B4FA1">
                      <a:lumMod val="50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表达风险</a:t>
            </a:r>
            <a:endParaRPr lang="zh-CN" altLang="en-US" sz="2400" b="1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CDCC3EB-4202-699C-89E0-4F3AF0A43B8D}"/>
              </a:ext>
            </a:extLst>
          </p:cNvPr>
          <p:cNvSpPr txBox="1"/>
          <p:nvPr/>
        </p:nvSpPr>
        <p:spPr>
          <a:xfrm>
            <a:off x="7283908" y="2959868"/>
            <a:ext cx="4106351" cy="39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统一使用候选、评估、对照实验表述</a:t>
            </a:r>
            <a:endParaRPr lang="zh-CN" altLang="en-US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C6C0490-6D65-201C-B6BD-DAB855C7647E}"/>
              </a:ext>
            </a:extLst>
          </p:cNvPr>
          <p:cNvSpPr txBox="1"/>
          <p:nvPr/>
        </p:nvSpPr>
        <p:spPr>
          <a:xfrm>
            <a:off x="7713850" y="3886291"/>
            <a:ext cx="30350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3D1DCEA-C294-FE95-F0BB-BCDBB195FF8F}"/>
              </a:ext>
            </a:extLst>
          </p:cNvPr>
          <p:cNvCxnSpPr>
            <a:cxnSpLocks/>
          </p:cNvCxnSpPr>
          <p:nvPr/>
        </p:nvCxnSpPr>
        <p:spPr>
          <a:xfrm>
            <a:off x="7399284" y="3770564"/>
            <a:ext cx="3990975" cy="0"/>
          </a:xfrm>
          <a:prstGeom prst="line">
            <a:avLst/>
          </a:prstGeom>
          <a:noFill/>
          <a:ln w="3175" cap="flat" cmpd="sng" algn="ctr">
            <a:solidFill>
              <a:schemeClr val="accent1">
                <a:alpha val="50000"/>
              </a:schemeClr>
            </a:solidFill>
            <a:prstDash val="solid"/>
            <a:miter lim="800000"/>
          </a:ln>
          <a:effectLst/>
        </p:spPr>
      </p:cxn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30B7F623-BD51-0883-1F56-2D92128B74A0}"/>
              </a:ext>
            </a:extLst>
          </p:cNvPr>
          <p:cNvSpPr/>
          <p:nvPr/>
        </p:nvSpPr>
        <p:spPr>
          <a:xfrm>
            <a:off x="460262" y="2748653"/>
            <a:ext cx="5478916" cy="1640093"/>
          </a:xfrm>
          <a:prstGeom prst="roundRect">
            <a:avLst>
              <a:gd name="adj" fmla="val 1076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304800" sx="102000" sy="102000" algn="ctr" rotWithShape="0">
              <a:schemeClr val="accent1">
                <a:alpha val="16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srgbClr val="102B6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工程风险</a:t>
            </a:r>
            <a:endParaRPr lang="zh-CN" altLang="en-US" kern="0" dirty="0">
              <a:solidFill>
                <a:srgbClr val="102B6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65EE4B9-8CD8-1B05-CA4E-839AED7D121C}"/>
              </a:ext>
            </a:extLst>
          </p:cNvPr>
          <p:cNvSpPr/>
          <p:nvPr/>
        </p:nvSpPr>
        <p:spPr>
          <a:xfrm>
            <a:off x="465585" y="2748652"/>
            <a:ext cx="654592" cy="1640093"/>
          </a:xfrm>
          <a:prstGeom prst="rect">
            <a:avLst/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性能波动或提升不稳定</a:t>
            </a:r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3CCD12E-7E89-DA33-BE32-FD8326F65524}"/>
              </a:ext>
            </a:extLst>
          </p:cNvPr>
          <p:cNvSpPr txBox="1"/>
          <p:nvPr/>
        </p:nvSpPr>
        <p:spPr>
          <a:xfrm>
            <a:off x="-407448" y="2808303"/>
            <a:ext cx="1514261" cy="15062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>
                <a:solidFill>
                  <a:srgbClr val="102B68"/>
                </a:solidFill>
                <a:effectLst>
                  <a:outerShdw blurRad="50800" dist="38100" dir="5400000" algn="t" rotWithShape="0">
                    <a:srgbClr val="0B4FA1">
                      <a:lumMod val="50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保留批处理与离线执行方案</a:t>
            </a:r>
            <a:endParaRPr lang="zh-CN" altLang="en-US" b="1" dirty="0">
              <a:solidFill>
                <a:srgbClr val="102B68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8F3B490-8A19-4ED4-FE61-85E9BC8E6F23}"/>
              </a:ext>
            </a:extLst>
          </p:cNvPr>
          <p:cNvSpPr txBox="1"/>
          <p:nvPr/>
        </p:nvSpPr>
        <p:spPr>
          <a:xfrm>
            <a:off x="1500728" y="2959868"/>
            <a:ext cx="4106351" cy="39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>
                <a:solidFill>
                  <a:srgbClr val="102B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避免把计划写成既有结果</a:t>
            </a:r>
            <a:endParaRPr lang="zh-CN" altLang="en-US" dirty="0">
              <a:solidFill>
                <a:srgbClr val="102B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59A92D0-92A0-F7E9-09B8-CC368A08258B}"/>
              </a:ext>
            </a:extLst>
          </p:cNvPr>
          <p:cNvSpPr txBox="1"/>
          <p:nvPr/>
        </p:nvSpPr>
        <p:spPr>
          <a:xfrm>
            <a:off x="1930670" y="3886291"/>
            <a:ext cx="30350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223F4609-38B4-2423-6D03-489003AADAA7}"/>
              </a:ext>
            </a:extLst>
          </p:cNvPr>
          <p:cNvCxnSpPr>
            <a:cxnSpLocks/>
          </p:cNvCxnSpPr>
          <p:nvPr/>
        </p:nvCxnSpPr>
        <p:spPr>
          <a:xfrm>
            <a:off x="1616104" y="3770564"/>
            <a:ext cx="3990975" cy="0"/>
          </a:xfrm>
          <a:prstGeom prst="line">
            <a:avLst/>
          </a:prstGeom>
          <a:noFill/>
          <a:ln w="3175" cap="flat" cmpd="sng" algn="ctr">
            <a:solidFill>
              <a:schemeClr val="accent1">
                <a:alpha val="50000"/>
              </a:schemeClr>
            </a:solidFill>
            <a:prstDash val="solid"/>
            <a:miter lim="800000"/>
          </a:ln>
          <a:effectLst/>
        </p:spPr>
      </p:cxn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DE01A31D-7405-EBEA-E07B-A249DE0CC9A9}"/>
              </a:ext>
            </a:extLst>
          </p:cNvPr>
          <p:cNvSpPr/>
          <p:nvPr/>
        </p:nvSpPr>
        <p:spPr>
          <a:xfrm>
            <a:off x="6243442" y="4662589"/>
            <a:ext cx="5478916" cy="1640093"/>
          </a:xfrm>
          <a:prstGeom prst="roundRect">
            <a:avLst>
              <a:gd name="adj" fmla="val 1076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304800" sx="102000" sy="102000" algn="ctr" rotWithShape="0">
              <a:schemeClr val="accent1">
                <a:alpha val="16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DEF921F-67E8-545D-24DE-A5C138E4B666}"/>
              </a:ext>
            </a:extLst>
          </p:cNvPr>
          <p:cNvSpPr/>
          <p:nvPr/>
        </p:nvSpPr>
        <p:spPr>
          <a:xfrm>
            <a:off x="6248765" y="4662588"/>
            <a:ext cx="654592" cy="1640093"/>
          </a:xfrm>
          <a:prstGeom prst="rect">
            <a:avLst/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83809EB-79AE-D65A-7253-D97B324E84FC}"/>
              </a:ext>
            </a:extLst>
          </p:cNvPr>
          <p:cNvSpPr txBox="1"/>
          <p:nvPr/>
        </p:nvSpPr>
        <p:spPr>
          <a:xfrm>
            <a:off x="6262129" y="4722239"/>
            <a:ext cx="627864" cy="15062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2400" b="1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893CC42-AF99-2BA7-23DE-17FEA8519612}"/>
              </a:ext>
            </a:extLst>
          </p:cNvPr>
          <p:cNvSpPr txBox="1"/>
          <p:nvPr/>
        </p:nvSpPr>
        <p:spPr>
          <a:xfrm>
            <a:off x="7283908" y="4873804"/>
            <a:ext cx="4106351" cy="39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6F55336-22A9-33B5-89B9-C53F754843D8}"/>
              </a:ext>
            </a:extLst>
          </p:cNvPr>
          <p:cNvSpPr txBox="1"/>
          <p:nvPr/>
        </p:nvSpPr>
        <p:spPr>
          <a:xfrm>
            <a:off x="7780775" y="5758506"/>
            <a:ext cx="31126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9D771C18-F637-3F5A-B81B-F88ABA89FDFC}"/>
              </a:ext>
            </a:extLst>
          </p:cNvPr>
          <p:cNvCxnSpPr>
            <a:cxnSpLocks/>
          </p:cNvCxnSpPr>
          <p:nvPr/>
        </p:nvCxnSpPr>
        <p:spPr>
          <a:xfrm>
            <a:off x="7399284" y="5684500"/>
            <a:ext cx="3990975" cy="0"/>
          </a:xfrm>
          <a:prstGeom prst="line">
            <a:avLst/>
          </a:prstGeom>
          <a:noFill/>
          <a:ln w="3175" cap="flat" cmpd="sng" algn="ctr">
            <a:solidFill>
              <a:schemeClr val="accent1">
                <a:alpha val="50000"/>
              </a:schemeClr>
            </a:solidFill>
            <a:prstDash val="solid"/>
            <a:miter lim="800000"/>
          </a:ln>
          <a:effectLst/>
        </p:spPr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E0392D20-E32B-3376-7C32-7B3FB93EB982}"/>
              </a:ext>
            </a:extLst>
          </p:cNvPr>
          <p:cNvSpPr/>
          <p:nvPr/>
        </p:nvSpPr>
        <p:spPr>
          <a:xfrm>
            <a:off x="460262" y="4662589"/>
            <a:ext cx="5478916" cy="1640093"/>
          </a:xfrm>
          <a:prstGeom prst="roundRect">
            <a:avLst>
              <a:gd name="adj" fmla="val 1076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304800" sx="102000" sy="102000" algn="ctr" rotWithShape="0">
              <a:schemeClr val="accent1">
                <a:alpha val="16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072568C-71A9-52D6-440C-9C595C8D52E8}"/>
              </a:ext>
            </a:extLst>
          </p:cNvPr>
          <p:cNvSpPr/>
          <p:nvPr/>
        </p:nvSpPr>
        <p:spPr>
          <a:xfrm>
            <a:off x="465585" y="4662588"/>
            <a:ext cx="654592" cy="1640093"/>
          </a:xfrm>
          <a:prstGeom prst="rect">
            <a:avLst/>
          </a:prstGeom>
          <a:gradFill>
            <a:gsLst>
              <a:gs pos="0">
                <a:schemeClr val="accent2">
                  <a:lumMod val="50000"/>
                </a:schemeClr>
              </a:gs>
              <a:gs pos="57000">
                <a:schemeClr val="accent1"/>
              </a:gs>
            </a:gsLst>
            <a:lin ang="108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542B621-BED5-EB1F-84D3-F51D5C20F9A3}"/>
              </a:ext>
            </a:extLst>
          </p:cNvPr>
          <p:cNvSpPr txBox="1"/>
          <p:nvPr/>
        </p:nvSpPr>
        <p:spPr>
          <a:xfrm>
            <a:off x="478949" y="4722239"/>
            <a:ext cx="627864" cy="15062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2400" b="1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6170AE7-A191-F6E1-E42A-F1AEF3FB69C4}"/>
              </a:ext>
            </a:extLst>
          </p:cNvPr>
          <p:cNvSpPr txBox="1"/>
          <p:nvPr/>
        </p:nvSpPr>
        <p:spPr>
          <a:xfrm>
            <a:off x="1500728" y="4873804"/>
            <a:ext cx="4106351" cy="39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655F55E-4162-3469-CFF6-996AFAC1E2FB}"/>
              </a:ext>
            </a:extLst>
          </p:cNvPr>
          <p:cNvSpPr txBox="1"/>
          <p:nvPr/>
        </p:nvSpPr>
        <p:spPr>
          <a:xfrm>
            <a:off x="1976030" y="5758506"/>
            <a:ext cx="31126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8ABE8F98-CBD1-07C8-AFE9-1BCA83AA7739}"/>
              </a:ext>
            </a:extLst>
          </p:cNvPr>
          <p:cNvCxnSpPr>
            <a:cxnSpLocks/>
          </p:cNvCxnSpPr>
          <p:nvPr/>
        </p:nvCxnSpPr>
        <p:spPr>
          <a:xfrm>
            <a:off x="1616104" y="5684500"/>
            <a:ext cx="3990975" cy="0"/>
          </a:xfrm>
          <a:prstGeom prst="line">
            <a:avLst/>
          </a:prstGeom>
          <a:noFill/>
          <a:ln w="3175" cap="flat" cmpd="sng" algn="ctr">
            <a:solidFill>
              <a:schemeClr val="accent1">
                <a:alpha val="50000"/>
              </a:schemeClr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800058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DCB35-8694-E821-7520-60C185A20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55587024-117C-0A3D-6C89-6D240BA44B02}"/>
              </a:ext>
            </a:extLst>
          </p:cNvPr>
          <p:cNvSpPr/>
          <p:nvPr/>
        </p:nvSpPr>
        <p:spPr>
          <a:xfrm>
            <a:off x="-23618" y="0"/>
            <a:ext cx="12215618" cy="6858000"/>
          </a:xfrm>
          <a:prstGeom prst="rect">
            <a:avLst/>
          </a:prstGeom>
          <a:gradFill flip="none" rotWithShape="1">
            <a:gsLst>
              <a:gs pos="100000">
                <a:schemeClr val="accent2">
                  <a:lumMod val="50000"/>
                  <a:alpha val="70000"/>
                </a:schemeClr>
              </a:gs>
              <a:gs pos="19000">
                <a:schemeClr val="accent1"/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B4F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9" name="图片 18" descr="卡通人物&#10;&#10;中度可信度描述已自动生成">
            <a:extLst>
              <a:ext uri="{FF2B5EF4-FFF2-40B4-BE49-F238E27FC236}">
                <a16:creationId xmlns:a16="http://schemas.microsoft.com/office/drawing/2014/main" id="{469BA534-266A-CC41-748E-3E7AC8CF7FC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42"/>
          <a:stretch/>
        </p:blipFill>
        <p:spPr>
          <a:xfrm>
            <a:off x="-23618" y="1787190"/>
            <a:ext cx="12191998" cy="507081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2357518E-738D-2443-9C07-EB31B06B2D61}"/>
              </a:ext>
            </a:extLst>
          </p:cNvPr>
          <p:cNvSpPr/>
          <p:nvPr/>
        </p:nvSpPr>
        <p:spPr>
          <a:xfrm>
            <a:off x="-23619" y="0"/>
            <a:ext cx="12215618" cy="6865848"/>
          </a:xfrm>
          <a:prstGeom prst="rect">
            <a:avLst/>
          </a:prstGeom>
          <a:gradFill>
            <a:gsLst>
              <a:gs pos="16000">
                <a:schemeClr val="accent1"/>
              </a:gs>
              <a:gs pos="100000">
                <a:schemeClr val="accent2">
                  <a:lumMod val="50000"/>
                  <a:alpha val="80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1" name="Picture 50">
            <a:extLst>
              <a:ext uri="{FF2B5EF4-FFF2-40B4-BE49-F238E27FC236}">
                <a16:creationId xmlns:a16="http://schemas.microsoft.com/office/drawing/2014/main" id="{5ED016BF-2B5F-21EC-4BE9-702CE5840D3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alphaModFix amt="8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-11809" y="-7848"/>
            <a:ext cx="12191998" cy="6724453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3C05DC97-17B5-469D-5758-01C9B709BACE}"/>
              </a:ext>
            </a:extLst>
          </p:cNvPr>
          <p:cNvSpPr txBox="1"/>
          <p:nvPr/>
        </p:nvSpPr>
        <p:spPr>
          <a:xfrm>
            <a:off x="1" y="1523785"/>
            <a:ext cx="12191999" cy="12185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zh-CN" altLang="en-US" sz="8000" b="1">
                <a:solidFill>
                  <a:prstClr val="white"/>
                </a:solidFill>
                <a:effectLst>
                  <a:outerShdw blurRad="50800" dist="38100" dir="5400000" algn="t" rotWithShape="0">
                    <a:srgbClr val="0B4FA1">
                      <a:lumMod val="50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总结与致谢
本研究以候选架构 </a:t>
            </a:r>
            <a:r>
              <a:rPr lang="en-US" altLang="zh-CN" sz="8000" b="1">
                <a:solidFill>
                  <a:prstClr val="white"/>
                </a:solidFill>
                <a:effectLst>
                  <a:outerShdw blurRad="50800" dist="38100" dir="5400000" algn="t" rotWithShape="0">
                    <a:srgbClr val="0B4FA1">
                      <a:lumMod val="50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8000" b="1">
                <a:solidFill>
                  <a:prstClr val="white"/>
                </a:solidFill>
                <a:effectLst>
                  <a:outerShdw blurRad="50800" dist="38100" dir="5400000" algn="t" rotWithShape="0">
                    <a:srgbClr val="0B4FA1">
                      <a:lumMod val="50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与聚合管理平台为两大支柱，面向前馈式三维重建提供可对照、可复用的研究框架。
汇报人：</a:t>
            </a:r>
            <a:r>
              <a:rPr lang="en-US" altLang="zh-CN" sz="8000" b="1">
                <a:solidFill>
                  <a:prstClr val="white"/>
                </a:solidFill>
                <a:effectLst>
                  <a:outerShdw blurRad="50800" dist="38100" dir="5400000" algn="t" rotWithShape="0">
                    <a:srgbClr val="0B4FA1">
                      <a:lumMod val="50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en-US" altLang="zh-CN" sz="8000" b="1" dirty="0">
              <a:solidFill>
                <a:prstClr val="white"/>
              </a:solidFill>
              <a:effectLst>
                <a:outerShdw blurRad="50800" dist="38100" dir="5400000" algn="t" rotWithShape="0">
                  <a:srgbClr val="0B4FA1">
                    <a:lumMod val="50000"/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FD58347-F231-9286-FA28-D990A84D53F7}"/>
              </a:ext>
            </a:extLst>
          </p:cNvPr>
          <p:cNvSpPr txBox="1"/>
          <p:nvPr/>
        </p:nvSpPr>
        <p:spPr>
          <a:xfrm>
            <a:off x="2150364" y="2821232"/>
            <a:ext cx="7891273" cy="135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zh-CN" altLang="en-US" sz="8000" b="1" dirty="0">
                <a:solidFill>
                  <a:prstClr val="white"/>
                </a:solidFill>
                <a:effectLst>
                  <a:outerShdw blurRad="50800" dist="38100" dir="5400000" algn="t" rotWithShape="0">
                    <a:srgbClr val="0B4FA1">
                      <a:lumMod val="50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敬请批评指正！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B85E432-9424-1520-F14A-047D9DEB83EC}"/>
              </a:ext>
            </a:extLst>
          </p:cNvPr>
          <p:cNvGrpSpPr/>
          <p:nvPr/>
        </p:nvGrpSpPr>
        <p:grpSpPr>
          <a:xfrm>
            <a:off x="4625885" y="4478837"/>
            <a:ext cx="2940230" cy="543560"/>
            <a:chOff x="4637690" y="4745298"/>
            <a:chExt cx="2940230" cy="543560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96713254-7B78-D09F-CB92-5C1095331685}"/>
                </a:ext>
              </a:extLst>
            </p:cNvPr>
            <p:cNvSpPr/>
            <p:nvPr/>
          </p:nvSpPr>
          <p:spPr>
            <a:xfrm>
              <a:off x="4637690" y="4745298"/>
              <a:ext cx="2940230" cy="54356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</a:gradFill>
            <a:ln w="19050" cap="flat" cmpd="sng" algn="ctr">
              <a:gradFill>
                <a:gsLst>
                  <a:gs pos="0">
                    <a:schemeClr val="accent3"/>
                  </a:gs>
                  <a:gs pos="52000">
                    <a:schemeClr val="accent2">
                      <a:lumMod val="20000"/>
                      <a:lumOff val="80000"/>
                    </a:schemeClr>
                  </a:gs>
                  <a:gs pos="100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FF537F-4820-3529-96D8-CE2115B41E95}"/>
                </a:ext>
              </a:extLst>
            </p:cNvPr>
            <p:cNvSpPr txBox="1"/>
            <p:nvPr/>
          </p:nvSpPr>
          <p:spPr>
            <a:xfrm>
              <a:off x="4897699" y="4786246"/>
              <a:ext cx="24202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汇报人：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XXXX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EF85499-AE41-8457-767A-C00EB8577E45}"/>
              </a:ext>
            </a:extLst>
          </p:cNvPr>
          <p:cNvSpPr txBox="1"/>
          <p:nvPr/>
        </p:nvSpPr>
        <p:spPr>
          <a:xfrm>
            <a:off x="3965841" y="5176733"/>
            <a:ext cx="4260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</a:t>
            </a:r>
            <a:r>
              <a: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重点实验室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1F15BD8-0F6B-163E-5058-1A18BA1B117C}"/>
              </a:ext>
            </a:extLst>
          </p:cNvPr>
          <p:cNvSpPr txBox="1"/>
          <p:nvPr/>
        </p:nvSpPr>
        <p:spPr>
          <a:xfrm>
            <a:off x="3849862" y="930417"/>
            <a:ext cx="44922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大规模高光谱</a:t>
            </a:r>
            <a:r>
              <a: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图像运用研究</a:t>
            </a:r>
            <a:endParaRPr lang="en-US" altLang="zh-CN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A509069-3E25-6E6D-6852-C5E1A6073A3B}"/>
              </a:ext>
            </a:extLst>
          </p:cNvPr>
          <p:cNvGrpSpPr/>
          <p:nvPr/>
        </p:nvGrpSpPr>
        <p:grpSpPr>
          <a:xfrm>
            <a:off x="1219516" y="1161249"/>
            <a:ext cx="9752969" cy="0"/>
            <a:chOff x="2337007" y="9501547"/>
            <a:chExt cx="9271477" cy="0"/>
          </a:xfrm>
        </p:grpSpPr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17EDD84-DB34-0555-39A6-DB9B5291E6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37007" y="9501547"/>
              <a:ext cx="2580640" cy="0"/>
            </a:xfrm>
            <a:prstGeom prst="line">
              <a:avLst/>
            </a:prstGeom>
            <a:noFill/>
            <a:ln w="6350" cap="rnd" cmpd="sng" algn="ctr">
              <a:gradFill flip="none" rotWithShape="1">
                <a:gsLst>
                  <a:gs pos="0">
                    <a:sysClr val="window" lastClr="FFFFFF"/>
                  </a:gs>
                  <a:gs pos="87000">
                    <a:sysClr val="window" lastClr="FFFFFF">
                      <a:alpha val="0"/>
                    </a:sysClr>
                  </a:gs>
                </a:gsLst>
                <a:lin ang="0" scaled="1"/>
                <a:tileRect/>
              </a:gradFill>
              <a:prstDash val="solid"/>
              <a:round/>
              <a:headEnd type="oval"/>
            </a:ln>
            <a:effectLst/>
          </p:spPr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95649D57-710C-5405-2BE1-D74D4CF120E0}"/>
                </a:ext>
              </a:extLst>
            </p:cNvPr>
            <p:cNvCxnSpPr>
              <a:cxnSpLocks/>
            </p:cNvCxnSpPr>
            <p:nvPr/>
          </p:nvCxnSpPr>
          <p:spPr>
            <a:xfrm>
              <a:off x="9027844" y="9501547"/>
              <a:ext cx="2580640" cy="0"/>
            </a:xfrm>
            <a:prstGeom prst="line">
              <a:avLst/>
            </a:prstGeom>
            <a:noFill/>
            <a:ln w="6350" cap="rnd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0" scaled="1"/>
                <a:tileRect/>
              </a:gradFill>
              <a:prstDash val="solid"/>
              <a:round/>
              <a:headEnd type="oval"/>
            </a:ln>
            <a:effectLst/>
          </p:spPr>
        </p:cxn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8A3B34FB-C614-6CAD-4C4C-8F271AE92172}"/>
              </a:ext>
            </a:extLst>
          </p:cNvPr>
          <p:cNvSpPr txBox="1"/>
          <p:nvPr/>
        </p:nvSpPr>
        <p:spPr>
          <a:xfrm>
            <a:off x="3965841" y="5635646"/>
            <a:ext cx="4260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</a:t>
            </a:r>
            <a:r>
              <a: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国家重点实验室</a:t>
            </a:r>
          </a:p>
        </p:txBody>
      </p:sp>
    </p:spTree>
    <p:extLst>
      <p:ext uri="{BB962C8B-B14F-4D97-AF65-F5344CB8AC3E}">
        <p14:creationId xmlns:p14="http://schemas.microsoft.com/office/powerpoint/2010/main" val="26337626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ESVMK000224" val="000224; 2024/7/27 11:28:52 ; 幻云PPT原创版式库-倒卖盗卖必究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ESVMK000224" val="000224; 2024/7/27 11:28:52 ; 幻云PPT原创版式库-倒卖盗卖必究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ESVMK000224" val="000224; 2024/7/27 11:28:52 ; 幻云PPT原创版式库-倒卖盗卖必究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ESVMK000224" val="000224; 2024/7/27 11:28:52 ; 幻云PPT原创版式库-倒卖盗卖必究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ESVMK000224" val="000224; 2024/7/27 11:28:52 ; 幻云PPT原创版式库-倒卖盗卖必究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ESVMK000224" val="000224; 2024/7/27 11:28:52 ; 幻云PPT原创版式库-倒卖盗卖必究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ESVMK000224" val="000224; 2024/7/27 11:28:52 ; 幻云PPT原创版式库-倒卖盗卖必究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ESVMK000224" val="000224; 2024/7/27 11:28:52 ; 幻云PPT原创版式库-倒卖盗卖必究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ESVMK000224" val="000224; 2024/7/27 11:28:52 ; 幻云PPT原创版式库-倒卖盗卖必究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ESVMK000224" val="000224; 2024/7/27 11:28:52 ; 幻云PPT原创版式库-倒卖盗卖必究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ESVMK000224" val="000224; 2024/7/27 11:28:52 ; 幻云PPT原创版式库-倒卖盗卖必究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ESVMK000224" val="000224; 2024/7/27 11:28:52 ; 幻云PPT原创版式库-倒卖盗卖必究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ESVMK000224" val="000224; 2024/7/27 11:28:52 ; 幻云PPT原创版式库-倒卖盗卖必究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.31188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.31188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.31188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.31188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35496062992127,&quot;left&quot;:45.53181102362205,&quot;top&quot;:120.64472440944883,&quot;width&quot;:869.7774015748033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35496062992127,&quot;left&quot;:45.53181102362205,&quot;top&quot;:120.64472440944883,&quot;width&quot;:869.7774015748033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35496062992127,&quot;left&quot;:45.53181102362205,&quot;top&quot;:120.64472440944883,&quot;width&quot;:869.7774015748033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35496062992127,&quot;left&quot;:45.53181102362205,&quot;top&quot;:120.64472440944883,&quot;width&quot;:869.7774015748033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.31188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.31188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.31188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.31188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.31188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.31188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C56AE"/>
    </a:accent1>
    <a:accent2>
      <a:srgbClr val="0C56AE"/>
    </a:accent2>
    <a:accent3>
      <a:srgbClr val="0C56AE"/>
    </a:accent3>
    <a:accent4>
      <a:srgbClr val="0C56AE"/>
    </a:accent4>
    <a:accent5>
      <a:srgbClr val="0C56AE"/>
    </a:accent5>
    <a:accent6>
      <a:srgbClr val="0C56AE"/>
    </a:accent6>
    <a:hlink>
      <a:srgbClr val="0563C1"/>
    </a:hlink>
    <a:folHlink>
      <a:srgbClr val="954F72"/>
    </a:folHlink>
  </a:clrScheme>
  <a:fontScheme name="Office">
    <a:majorFont>
      <a:latin typeface="等线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等线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C56AE"/>
    </a:accent1>
    <a:accent2>
      <a:srgbClr val="0C56AE"/>
    </a:accent2>
    <a:accent3>
      <a:srgbClr val="0C56AE"/>
    </a:accent3>
    <a:accent4>
      <a:srgbClr val="0C56AE"/>
    </a:accent4>
    <a:accent5>
      <a:srgbClr val="0C56AE"/>
    </a:accent5>
    <a:accent6>
      <a:srgbClr val="0C56AE"/>
    </a:accent6>
    <a:hlink>
      <a:srgbClr val="0563C1"/>
    </a:hlink>
    <a:folHlink>
      <a:srgbClr val="954F72"/>
    </a:folHlink>
  </a:clrScheme>
  <a:fontScheme name="Office">
    <a:majorFont>
      <a:latin typeface="等线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等线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国际会议蓝色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0249A1"/>
    </a:accent1>
    <a:accent2>
      <a:srgbClr val="CA865F"/>
    </a:accent2>
    <a:accent3>
      <a:srgbClr val="A5A5A5"/>
    </a:accent3>
    <a:accent4>
      <a:srgbClr val="FFC000"/>
    </a:accent4>
    <a:accent5>
      <a:srgbClr val="5B9BD5"/>
    </a:accent5>
    <a:accent6>
      <a:srgbClr val="1146A8"/>
    </a:accent6>
    <a:hlink>
      <a:srgbClr val="1146A8"/>
    </a:hlink>
    <a:folHlink>
      <a:srgbClr val="954F72"/>
    </a:folHlink>
  </a:clrScheme>
  <a:fontScheme name="Office">
    <a:majorFont>
      <a:latin typeface="等线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等线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国际会议蓝色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0249A1"/>
    </a:accent1>
    <a:accent2>
      <a:srgbClr val="CA865F"/>
    </a:accent2>
    <a:accent3>
      <a:srgbClr val="A5A5A5"/>
    </a:accent3>
    <a:accent4>
      <a:srgbClr val="FFC000"/>
    </a:accent4>
    <a:accent5>
      <a:srgbClr val="5B9BD5"/>
    </a:accent5>
    <a:accent6>
      <a:srgbClr val="1146A8"/>
    </a:accent6>
    <a:hlink>
      <a:srgbClr val="1146A8"/>
    </a:hlink>
    <a:folHlink>
      <a:srgbClr val="954F72"/>
    </a:folHlink>
  </a:clrScheme>
  <a:fontScheme name="Office">
    <a:majorFont>
      <a:latin typeface="等线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等线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国际会议蓝色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0249A1"/>
    </a:accent1>
    <a:accent2>
      <a:srgbClr val="CA865F"/>
    </a:accent2>
    <a:accent3>
      <a:srgbClr val="A5A5A5"/>
    </a:accent3>
    <a:accent4>
      <a:srgbClr val="FFC000"/>
    </a:accent4>
    <a:accent5>
      <a:srgbClr val="5B9BD5"/>
    </a:accent5>
    <a:accent6>
      <a:srgbClr val="1146A8"/>
    </a:accent6>
    <a:hlink>
      <a:srgbClr val="1146A8"/>
    </a:hlink>
    <a:folHlink>
      <a:srgbClr val="954F72"/>
    </a:folHlink>
  </a:clrScheme>
  <a:fontScheme name="Office">
    <a:majorFont>
      <a:latin typeface="等线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等线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1165</Words>
  <Application>Microsoft Office PowerPoint</Application>
  <PresentationFormat>宽屏</PresentationFormat>
  <Paragraphs>171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等线</vt:lpstr>
      <vt:lpstr>等线 Light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1</cp:revision>
  <dcterms:created xsi:type="dcterms:W3CDTF">2026-05-17T15:24:38Z</dcterms:created>
  <dcterms:modified xsi:type="dcterms:W3CDTF">2026-05-17T15:24:38Z</dcterms:modified>
</cp:coreProperties>
</file>