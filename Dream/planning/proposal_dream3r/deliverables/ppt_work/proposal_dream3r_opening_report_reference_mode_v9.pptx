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258" r:id="rId3"/>
    <p:sldId id="284" r:id="rId4"/>
    <p:sldId id="327" r:id="rId5"/>
    <p:sldId id="281" r:id="rId6"/>
    <p:sldId id="328" r:id="rId7"/>
    <p:sldId id="321" r:id="rId8"/>
    <p:sldId id="307" r:id="rId9"/>
    <p:sldId id="269" r:id="rId10"/>
    <p:sldId id="329" r:id="rId11"/>
    <p:sldId id="298" r:id="rId12"/>
    <p:sldId id="330" r:id="rId13"/>
    <p:sldId id="331" r:id="rId14"/>
    <p:sldId id="332" r:id="rId15"/>
    <p:sldId id="333" r:id="rId16"/>
    <p:sldId id="334" r:id="rId17"/>
    <p:sldId id="335" r:id="rId18"/>
    <p:sldId id="336" r:id="rId19"/>
    <p:sldId id="337" r:id="rId20"/>
    <p:sldId id="323" r:id="rId21"/>
    <p:sldId id="338" r:id="rId22"/>
    <p:sldId id="339" r:id="rId23"/>
    <p:sldId id="29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B5CC9-6813-21C2-7595-056BD2B395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A3FE9F2-3F82-1DB7-6E7D-A3FD1A552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A65C09-342A-6F8C-4E7D-8ADA2E822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2C0F69-BCD7-8E64-7808-113C0FFE9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4653CC-B00C-0769-242E-66F5CD48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746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64CCE-C3DA-FE04-FD2B-FD13D09E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DB3BB-D5F5-5D53-E7D1-523E6614E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9AEEED-D8D1-E17C-A773-E6299D1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39C8E-AD6D-9C38-9A86-8851BAF95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99CCCF-4134-4B62-9319-3EF767D18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379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DF0A8E-EB9B-B1CF-D25C-D7C11565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33B453-228F-EA42-C210-A25C287979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B22B11-FC8C-DF7C-A38B-8DD38AA2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C4E68D-DD21-FA71-E02C-9EA65B07A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09B4A-79B1-91D3-D701-6D312C6F1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707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80FB3-9848-5F95-C89A-48C80F8A9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7A593C-2655-EDA7-43EE-FE263BD85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9218138-6772-BE35-D847-9C307A1A4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7A8702-A439-3184-8CD6-1BF4606A2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A6F848-C036-7656-DC54-6A087A2F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CD37AE-A2CB-C32E-7432-A6AEF8B99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90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3C0C43-1E42-958E-3720-FB050E37D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5DD5EE-2446-3B56-84DA-EF5EC9E44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B9EC17-927F-606A-31AA-F2C2F79DA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15F2CD-FF52-9798-53D1-E948EC4E1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16AF14D-3913-FF97-8D62-E91A97ADC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4C3D0DA-C830-1D68-1C23-7C88D0987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CC87C54-9A9E-0A8D-88E4-FE295D60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B8876B0-008C-ACA9-4A59-04D843AF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695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9E965-B80F-62E0-F3A6-F9205A84D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EAC4BE-40FC-C0B0-B946-280D62506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34A41F-212B-BCDF-5F4E-83E30DF8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2F80714-64B3-E55F-4730-E064D4E40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963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446E382-0CB5-ED82-70AA-2630373E5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4111D8-F6DE-8B42-22F5-A1DFE90DA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139A34-0F1D-FAC3-D283-D2725A331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561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50E085-09D4-7930-97B3-C2D87040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75F3B4-4BB9-C09D-BFCD-65E5BB1A1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95D33E-E4E5-FAF9-904E-8598E8187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706486-42DC-DD02-F8FA-A9156E08C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9CBA97-1DF4-49F9-EB22-49B5DAE3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4A1287-E217-3DA4-D1D0-A67B13411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072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773D6-4EBF-C9BF-4AB3-DDB1B904F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66F3550-0853-8941-D89C-CCC5FCA97A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55DCA2-3E0E-5DEA-F910-DCAD870A8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316048-F404-F8CE-DB97-F0DE91245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BEB5C34-4656-4EB3-D51D-C7EDD47B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ADD005-AB66-FF5C-D07F-11AC18D5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420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A09CF-C635-1412-739F-5CF4F1A42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F0A23D-6A39-AE34-89F3-2AB84CAFA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EFA51A-E346-2D4F-887E-3BA99635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CAC4BB-0FA4-B0E1-8D19-CD2B5175C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069058-5BFF-9AB4-7D86-CEFDF6921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636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670E659-E425-F531-0364-10DE270C09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3A928A4-4486-8452-702B-2B608BD77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0757C4-B225-641E-80E3-E19E763B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230846-0950-515E-E98A-C768F15EF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790B6-5B3B-7CF2-F5FA-A11AA134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6573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7215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0FFD46-BFF7-F739-0343-102C8DFC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971034-73ED-FA44-50F2-7F159D696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710B38-E14D-8A17-5B65-1D39B20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CA03A-AF2E-4759-BD2A-7F17BF62EA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38F6D5-D072-971E-B790-C492E11C0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E4EC07-320E-D173-FBB3-7A965177E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74A124-312A-4241-AA0C-56C432230D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211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3C712-3CEF-6C6F-815D-BF40CE6AB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DC642186-E975-96D8-8408-C4456DEE3F5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1C9DA934-52C4-4CB2-4D02-075830AA3AF2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08D48A3-B931-466F-18C0-A1C304D1FEF8}"/>
              </a:ext>
            </a:extLst>
          </p:cNvPr>
          <p:cNvSpPr txBox="1"/>
          <p:nvPr/>
        </p:nvSpPr>
        <p:spPr>
          <a:xfrm>
            <a:off x="685800" y="1366919"/>
            <a:ext cx="10835640" cy="2576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r>
              <a:rPr lang="zh-CN" altLang="en-US" sz="4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面向前馈式三维重建的
候选架构设计与统一聚合管理平台</a:t>
            </a:r>
            <a:endParaRPr lang="zh-CN" altLang="en-US" sz="4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B2EA678-3420-5C54-B4C3-C8CAD209A7CE}"/>
              </a:ext>
            </a:extLst>
          </p:cNvPr>
          <p:cNvSpPr/>
          <p:nvPr/>
        </p:nvSpPr>
        <p:spPr>
          <a:xfrm>
            <a:off x="4839038" y="4461335"/>
            <a:ext cx="2768614" cy="58477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" cap="flat" cmpd="sng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A1E6CA0-D601-DDA2-0D66-6669E5F33476}"/>
              </a:ext>
            </a:extLst>
          </p:cNvPr>
          <p:cNvSpPr/>
          <p:nvPr/>
        </p:nvSpPr>
        <p:spPr>
          <a:xfrm>
            <a:off x="3768924" y="4454012"/>
            <a:ext cx="1685122" cy="58477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3175" cap="flat" cmpd="sng" algn="ctr">
            <a:solidFill>
              <a:srgbClr val="0C56AE"/>
            </a:solidFill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zh-CN" altLang="en-US" sz="32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</a:t>
            </a:r>
            <a:endParaRPr lang="zh-CN" altLang="en-US" sz="3200" b="1" kern="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2BA2D-3982-DE10-3446-DA44D71D602C}"/>
              </a:ext>
            </a:extLst>
          </p:cNvPr>
          <p:cNvSpPr txBox="1"/>
          <p:nvPr/>
        </p:nvSpPr>
        <p:spPr>
          <a:xfrm>
            <a:off x="5955943" y="4461337"/>
            <a:ext cx="104547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32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32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3437287-155F-B97B-812D-904A5FB34C93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C05B4F-2BD2-017A-D833-AFB9CBAC897A}"/>
              </a:ext>
            </a:extLst>
          </p:cNvPr>
          <p:cNvSpPr txBox="1"/>
          <p:nvPr/>
        </p:nvSpPr>
        <p:spPr>
          <a:xfrm>
            <a:off x="4464784" y="10234"/>
            <a:ext cx="32624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硕士学位论文开题报告</a:t>
            </a:r>
            <a:endParaRPr lang="zh-CN" altLang="en-US" sz="2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93921-4A01-0A89-1E61-7A819B4A1E2F}"/>
              </a:ext>
            </a:extLst>
          </p:cNvPr>
          <p:cNvSpPr txBox="1"/>
          <p:nvPr/>
        </p:nvSpPr>
        <p:spPr>
          <a:xfrm>
            <a:off x="5243046" y="5238426"/>
            <a:ext cx="17059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>
                <a:ln w="0"/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endParaRPr lang="zh-CN" altLang="en-US" sz="2400" dirty="0">
              <a:ln w="0"/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13CF40-C608-8D36-562A-C2261D580099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FDD9BF1-26C1-D8B1-4EF4-E6DFBF680AE0}"/>
              </a:ext>
            </a:extLst>
          </p:cNvPr>
          <p:cNvSpPr txBox="1"/>
          <p:nvPr/>
        </p:nvSpPr>
        <p:spPr>
          <a:xfrm>
            <a:off x="4310896" y="5721158"/>
            <a:ext cx="35702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888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002E7CD-1C0C-0B57-C8DE-96783D3D754E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2000671-FCD8-F24D-7EB0-9A4C6ADE6AF1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AC391496-B2B0-E879-BB3B-B80C26D8582E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53BD1ADC-4643-60FF-44FB-0E8AC11654E0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25CF62-F5C0-2DE0-65FF-59314FE90D63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B9DFB-E898-DDB2-A70D-DF76D0204D6F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DADE67E6-212A-346D-56E9-B208A6673795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378E5D-B95A-AA78-8C5E-5BBD03D918F3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1149E8-13BC-B1CC-BB3F-7B9755027865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56DE636C-0371-9DDA-77B7-C25552A6283F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8099A42-4DDF-3680-2F8F-F3FD4B6D52E9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207600-13F3-1C4C-50B4-D67A24D90F96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98019AC-8D94-59F4-D05C-CBD228BFE2C7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9FEAD7B-27A5-48AF-A444-C45641ACAFE0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8FAF016-BA83-B552-CB25-4F3C7D202A6D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8D36B6D-08CE-3746-5E80-29268E15B328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C99D9B4-AA3F-1498-7A69-F90F7027ECBF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50C6D49-CD27-1FE1-4A5E-6232CC56524D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FAA1AB5-835C-54B4-4336-D34120156917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C1535D-7D04-7072-3390-8DD708E3BC9B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4AC630D-BC10-E45E-0DD1-22375300D622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6F3A663-337F-DD52-C6FB-73750A6DB409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59B5856E-68E1-B4AD-93D3-CBA474B8511B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1487270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415754-81CE-DC91-2719-39937BC99570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F7AF534-B77E-DE64-5EBF-FEE08430A3E0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6E2C915D-A56E-5E16-673C-5F8D81DF6824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999F2443-D0D9-3E12-C485-843B902486A7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B7C781B-5291-5E35-032F-F9646E67537E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B8C7D5BA-A372-C036-1E53-61BB4A26AB15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FC051DF-61E0-0A35-228E-50A84B2B86D9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A43174-B364-DD46-B27E-7428FCB813BC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B0D59C-58E9-4D74-3599-9364628033AC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9853E26-8453-2B17-7AE7-440EE44DC180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4146666-14A4-6EBA-F777-D3BA52FDE4EE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026CCA-3BF8-5F0C-5AC8-BE7BCD188EDC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A654C8-CAC1-854B-C056-3214BE929F3C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378A51F-C340-69FA-2367-2252CDFC4230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94A8BAF-C2A6-46D5-6545-96602BB04B62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6CF2DD-E926-6A30-AA48-1AD2B9E40FFF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E54059C-984B-911A-FE79-ECC094D8A437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A5635BF3-3CBB-F5DA-6DF8-CA029826F3E4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90DA8910-3793-BC8C-A922-D72BAB2EFD25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DFC8EE-E1ED-AF44-71D8-CE03D2CE42C4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1685FF-3AC2-53EF-B68D-1B16B9C2972C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92A6533-3F98-AA56-3DA2-A0B8ACB5D0BF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13A8FAC4-2D06-63E5-1C44-973CEEF1DC4E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747809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A3DB-04B7-0F28-5E8A-F56BFA60F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C423CAF-2C04-A115-DAA8-7FE393C84F1F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01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0D8A0FD-5522-688B-0919-03AA88600BB6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研究背景：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方向快速演进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7F4AC16-A441-2CE1-8D6B-EA98E54B08BD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E00EFED-B2A7-8E69-5A43-71D68DE55174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前馈式三维重建由点图回归起步，已扩展到匹配、动态场景与长序列建模。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E268BC-CCEC-5E9E-9224-FCB1B4724E50}"/>
              </a:ext>
            </a:extLst>
          </p:cNvPr>
          <p:cNvSpPr/>
          <p:nvPr/>
        </p:nvSpPr>
        <p:spPr>
          <a:xfrm>
            <a:off x="635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2024
DUSt3R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D0A9403-86AE-BB54-470E-71B0927AAA76}"/>
              </a:ext>
            </a:extLst>
          </p:cNvPr>
          <p:cNvSpPr/>
          <p:nvPr/>
        </p:nvSpPr>
        <p:spPr>
          <a:xfrm>
            <a:off x="635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pose-free
pointmap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094C945-1120-AFC5-F20F-D9F1BF09DBED}"/>
              </a:ext>
            </a:extLst>
          </p:cNvPr>
          <p:cNvSpPr/>
          <p:nvPr/>
        </p:nvSpPr>
        <p:spPr>
          <a:xfrm>
            <a:off x="2476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2024
MASt3R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7D6E846-0CF0-ADC6-C194-238C8B9C9CA8}"/>
              </a:ext>
            </a:extLst>
          </p:cNvPr>
          <p:cNvSpPr/>
          <p:nvPr/>
        </p:nvSpPr>
        <p:spPr>
          <a:xfrm>
            <a:off x="2476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3D grounding
matching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57842EE-366B-3491-04B5-A54CB7C1B7EA}"/>
              </a:ext>
            </a:extLst>
          </p:cNvPr>
          <p:cNvSpPr/>
          <p:nvPr/>
        </p:nvSpPr>
        <p:spPr>
          <a:xfrm>
            <a:off x="4318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2025
Fast3R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661ECC1-18F9-F186-E8EA-3CFE10A51D7D}"/>
              </a:ext>
            </a:extLst>
          </p:cNvPr>
          <p:cNvSpPr/>
          <p:nvPr/>
        </p:nvSpPr>
        <p:spPr>
          <a:xfrm>
            <a:off x="4318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many-view
single forward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3EE6819-D8E4-7C30-1764-C9346360E9A3}"/>
              </a:ext>
            </a:extLst>
          </p:cNvPr>
          <p:cNvSpPr/>
          <p:nvPr/>
        </p:nvSpPr>
        <p:spPr>
          <a:xfrm>
            <a:off x="6159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2024-25
MonST3R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70EA971-E5CB-B7A7-91C8-D2A4BBD790EB}"/>
              </a:ext>
            </a:extLst>
          </p:cNvPr>
          <p:cNvSpPr/>
          <p:nvPr/>
        </p:nvSpPr>
        <p:spPr>
          <a:xfrm>
            <a:off x="6159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video / dynamic
4D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FDC4B0C-4EE4-A20F-A611-D0AAAFB7819F}"/>
              </a:ext>
            </a:extLst>
          </p:cNvPr>
          <p:cNvSpPr/>
          <p:nvPr/>
        </p:nvSpPr>
        <p:spPr>
          <a:xfrm>
            <a:off x="80010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2025
Spann3R / CUT3R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7A79B2F-5107-1152-C794-636C8A9556A7}"/>
              </a:ext>
            </a:extLst>
          </p:cNvPr>
          <p:cNvSpPr/>
          <p:nvPr/>
        </p:nvSpPr>
        <p:spPr>
          <a:xfrm>
            <a:off x="80010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long-sequence
memory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0DDD9B3-DB1D-72AA-54B3-FCECB806CD63}"/>
              </a:ext>
            </a:extLst>
          </p:cNvPr>
          <p:cNvSpPr/>
          <p:nvPr/>
        </p:nvSpPr>
        <p:spPr>
          <a:xfrm>
            <a:off x="9842500" y="2095500"/>
            <a:ext cx="1397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300" b="1">
                <a:solidFill>
                  <a:srgbClr val="00468E"/>
                </a:solidFill>
                <a:latin typeface="Microsoft YaHei" panose="020B0503020204020204" pitchFamily="34" charset="-122"/>
              </a:rPr>
              <a:t>2025
Test3R / TTT3R</a:t>
            </a:r>
            <a:endParaRPr lang="zh-CN" altLang="en-US" sz="1300" b="1">
              <a:solidFill>
                <a:srgbClr val="00468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50A2297-C704-A8A2-2C0A-E407782ACD42}"/>
              </a:ext>
            </a:extLst>
          </p:cNvPr>
          <p:cNvSpPr/>
          <p:nvPr/>
        </p:nvSpPr>
        <p:spPr>
          <a:xfrm>
            <a:off x="9842500" y="2857500"/>
            <a:ext cx="1397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200">
                <a:solidFill>
                  <a:srgbClr val="081830"/>
                </a:solidFill>
                <a:latin typeface="Microsoft YaHei" panose="020B0503020204020204" pitchFamily="34" charset="-122"/>
              </a:rPr>
              <a:t>test-time
mechanisms</a:t>
            </a:r>
            <a:endParaRPr lang="zh-CN" altLang="en-US" sz="12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B9EB4D6-37CE-AE67-FB6D-2F0736D2339F}"/>
              </a:ext>
            </a:extLst>
          </p:cNvPr>
          <p:cNvSpPr/>
          <p:nvPr/>
        </p:nvSpPr>
        <p:spPr>
          <a:xfrm>
            <a:off x="889000" y="4445000"/>
            <a:ext cx="10414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468E"/>
                </a:solidFill>
                <a:latin typeface="Microsoft YaHei" panose="020B0503020204020204" pitchFamily="34" charset="-122"/>
              </a:rPr>
              <a:t>研究难点：模型体系快速扩展，但比较口径、复现入口和实验记录尚未统一。</a:t>
            </a:r>
          </a:p>
        </p:txBody>
      </p:sp>
    </p:spTree>
    <p:extLst>
      <p:ext uri="{BB962C8B-B14F-4D97-AF65-F5344CB8AC3E}">
        <p14:creationId xmlns:p14="http://schemas.microsoft.com/office/powerpoint/2010/main" val="3143986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问题收束：从失败模式到研究问题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6090D5D-1CEB-11D4-2D9F-EA7707FB9CD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FD5CEB3-43F2-7A0D-6157-DE79C2FCE41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本研究将典型失败模式收束为四类问题，作为后续架构设计与实验评估的入口。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CE3B5D3-E73C-B172-600B-AC1EC02D27E0}"/>
              </a:ext>
            </a:extLst>
          </p:cNvPr>
          <p:cNvSpPr/>
          <p:nvPr/>
        </p:nvSpPr>
        <p:spPr>
          <a:xfrm>
            <a:off x="698500" y="2095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几何验证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393B5C2-FDE0-EAE0-6014-37E5F2DB413B}"/>
              </a:ext>
            </a:extLst>
          </p:cNvPr>
          <p:cNvSpPr/>
          <p:nvPr/>
        </p:nvSpPr>
        <p:spPr>
          <a:xfrm>
            <a:off x="23495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尺度漂移、重投影误差
缺少反馈入口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6BF2D57-404C-0970-37E5-DADFF77FB66E}"/>
              </a:ext>
            </a:extLst>
          </p:cNvPr>
          <p:cNvSpPr/>
          <p:nvPr/>
        </p:nvSpPr>
        <p:spPr>
          <a:xfrm>
            <a:off x="6477000" y="2095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长序列内存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90E6435-4DC4-35CC-DB94-F9D76CF4E104}"/>
              </a:ext>
            </a:extLst>
          </p:cNvPr>
          <p:cNvSpPr/>
          <p:nvPr/>
        </p:nvSpPr>
        <p:spPr>
          <a:xfrm>
            <a:off x="8128000" y="2095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跨片段状态衰减
一致性难保持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084BECE-4536-400E-B35E-E3373B6E3BB5}"/>
              </a:ext>
            </a:extLst>
          </p:cNvPr>
          <p:cNvSpPr/>
          <p:nvPr/>
        </p:nvSpPr>
        <p:spPr>
          <a:xfrm>
            <a:off x="698500" y="3746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多专家组合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46136DE-CCA4-3D39-C870-BB7B59F70680}"/>
              </a:ext>
            </a:extLst>
          </p:cNvPr>
          <p:cNvSpPr/>
          <p:nvPr/>
        </p:nvSpPr>
        <p:spPr>
          <a:xfrm>
            <a:off x="23495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模型能力互补
但缺少编排接口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9B2A493-A8F7-D5BB-AB57-A50BA2AE4D4C}"/>
              </a:ext>
            </a:extLst>
          </p:cNvPr>
          <p:cNvSpPr/>
          <p:nvPr/>
        </p:nvSpPr>
        <p:spPr>
          <a:xfrm>
            <a:off x="6477000" y="3746500"/>
            <a:ext cx="1587500" cy="1041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统一平台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36C5C06-A3FB-25DD-24C3-9B9E4975EAF0}"/>
              </a:ext>
            </a:extLst>
          </p:cNvPr>
          <p:cNvSpPr/>
          <p:nvPr/>
        </p:nvSpPr>
        <p:spPr>
          <a:xfrm>
            <a:off x="8128000" y="3746500"/>
            <a:ext cx="3810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>
                <a:solidFill>
                  <a:srgbClr val="081830"/>
                </a:solidFill>
                <a:latin typeface="Microsoft YaHei" panose="020B0503020204020204" pitchFamily="34" charset="-122"/>
              </a:rPr>
              <a:t>入口、格式、日志
难以横向比较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33716C0-FE22-4145-F318-E25CC9E2DC80}"/>
              </a:ext>
            </a:extLst>
          </p:cNvPr>
          <p:cNvSpPr/>
          <p:nvPr/>
        </p:nvSpPr>
        <p:spPr>
          <a:xfrm>
            <a:off x="1079500" y="5524500"/>
            <a:ext cx="10033000" cy="533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0468E"/>
                </a:solidFill>
                <a:latin typeface="Microsoft YaHei" panose="020B0503020204020204" pitchFamily="34" charset="-122"/>
              </a:rPr>
              <a:t>研究边界：候选架构作为评估对象，不作为已收敛方案进行表述。</a:t>
            </a:r>
          </a:p>
        </p:txBody>
      </p:sp>
    </p:spTree>
    <p:extLst>
      <p:ext uri="{BB962C8B-B14F-4D97-AF65-F5344CB8AC3E}">
        <p14:creationId xmlns:p14="http://schemas.microsoft.com/office/powerpoint/2010/main" val="763423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24ECAC1-5E00-7DA7-0EF7-EBA7CE8FE79C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4DD4B8F-C755-EA5E-3551-36A8C10286A7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82FEF12-733D-21A9-62AE-D6591F6EBDEF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31D86FEA-1B54-1315-225E-BEDFA373A0C8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434CE26-F667-D440-3FC7-D1E0D9701C11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AE9DD93-4493-DF4C-DB5A-17725FDC4355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48F0198-8DF8-707E-7549-FE26D5ED593F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4EB208-5088-0C73-1BD1-EC384EC29AA7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641D67-4B33-79B8-3430-B65F9FFA4BEE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5D2639F-7E46-A5A0-B428-DBB283284D3D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B8AE1EA-1966-199B-F5FE-52ADB1A4E27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F3B52C-4A6B-FA61-2C22-AD5EBB01C228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508AA96-605D-D22D-8639-F20F91428EDC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11CB8B8-574D-16AA-8683-CE6A1FC4881D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D44865D-FBAE-8E06-6061-50A33E966BD9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A54E4C-77ED-13CC-EB18-0BCC66786378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6A71A59-ED4F-5022-D292-CA377B577388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0CA5FD1-231D-9B09-D9D3-2229B03CCE4A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5F59BD8-F427-9411-8687-648871275C3A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B75E3FB-365E-9040-43BD-ED60BC835D42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B6B30FD-92B5-C0A2-B9D0-4BDBFED3C4DA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1A66F862-78C5-0AD5-A1AF-3AFC1523977C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7679FDA-6282-DBD6-039D-5FC4A45189A9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7649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3DD42-58F1-BF23-F1D1-911D6ECA1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5103B3E-9250-E6B9-EDDC-2ED6F90CF039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04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C27D3A61-0DEC-BA16-46CE-C27F01A6C4A8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研究现状：四轴覆盖矩阵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49AF98-7676-EA9C-6B0C-9706D712F7A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8D8CA9-11A5-4AFE-D7A7-4C47E2F58DB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基于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44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篇文献的四轴整理，校验反馈、多专家组合与统一平台仍是主要缺口。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FDB125E-CDD8-CF05-CA27-3F3285EC64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329" y="1841500"/>
            <a:ext cx="7369342" cy="40005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CB8674C-DEF6-50E4-D983-D048CF905E78}"/>
              </a:ext>
            </a:extLst>
          </p:cNvPr>
          <p:cNvSpPr/>
          <p:nvPr/>
        </p:nvSpPr>
        <p:spPr>
          <a:xfrm>
            <a:off x="1524000" y="5905500"/>
            <a:ext cx="9144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结论：覆盖缺口被转化为后续四个研究问题，而不是直接写成创新结论。</a:t>
            </a:r>
          </a:p>
        </p:txBody>
      </p:sp>
    </p:spTree>
    <p:extLst>
      <p:ext uri="{BB962C8B-B14F-4D97-AF65-F5344CB8AC3E}">
        <p14:creationId xmlns:p14="http://schemas.microsoft.com/office/powerpoint/2010/main" val="3881030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研究目标：问题、目标与边界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F602EC-465C-C2EE-6E3E-981F49A20852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976FC9-559E-4FB0-49CB-C479515BFA4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本研究把三组架构问题与一个平台问题统一到可验证的开题目标中。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FF4C7F6-7768-EF00-168A-56FBE50E4FD5}"/>
              </a:ext>
            </a:extLst>
          </p:cNvPr>
          <p:cNvSpPr/>
          <p:nvPr/>
        </p:nvSpPr>
        <p:spPr>
          <a:xfrm>
            <a:off x="6985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Q1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几何验证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C65F69-F96B-7AA2-8BB5-4C78293B3A5C}"/>
              </a:ext>
            </a:extLst>
          </p:cNvPr>
          <p:cNvSpPr/>
          <p:nvPr/>
        </p:nvSpPr>
        <p:spPr>
          <a:xfrm>
            <a:off x="2794000" y="1841500"/>
            <a:ext cx="5207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验证与修复路径如何进入前馈式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架构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6B06244-E5E4-B4AB-0ED3-539A1FF3DE87}"/>
              </a:ext>
            </a:extLst>
          </p:cNvPr>
          <p:cNvSpPr/>
          <p:nvPr/>
        </p:nvSpPr>
        <p:spPr>
          <a:xfrm>
            <a:off x="8191500" y="1841500"/>
            <a:ext cx="3175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校验模块 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阈值标定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553291-28B2-148F-05A6-773B28278E45}"/>
              </a:ext>
            </a:extLst>
          </p:cNvPr>
          <p:cNvSpPr/>
          <p:nvPr/>
        </p:nvSpPr>
        <p:spPr>
          <a:xfrm>
            <a:off x="698500" y="26797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Q2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长序列内存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0B376C6-E11D-9931-1AA0-360AEF0683F8}"/>
              </a:ext>
            </a:extLst>
          </p:cNvPr>
          <p:cNvSpPr/>
          <p:nvPr/>
        </p:nvSpPr>
        <p:spPr>
          <a:xfrm>
            <a:off x="2794000" y="2679700"/>
            <a:ext cx="5207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多类记忆机制能否在单一架构内并置评估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0B7AB58-24F2-2FD3-9129-2FFC0CEE65E5}"/>
              </a:ext>
            </a:extLst>
          </p:cNvPr>
          <p:cNvSpPr/>
          <p:nvPr/>
        </p:nvSpPr>
        <p:spPr>
          <a:xfrm>
            <a:off x="8191500" y="2679700"/>
            <a:ext cx="3175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记忆模块 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长窗口评测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78D42DF-7C96-394F-E263-D2CD304964C9}"/>
              </a:ext>
            </a:extLst>
          </p:cNvPr>
          <p:cNvSpPr/>
          <p:nvPr/>
        </p:nvSpPr>
        <p:spPr>
          <a:xfrm>
            <a:off x="698500" y="35179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Q3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多专家组合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38DAE7A-C6EB-D8EF-7AA9-6D493AB87881}"/>
              </a:ext>
            </a:extLst>
          </p:cNvPr>
          <p:cNvSpPr/>
          <p:nvPr/>
        </p:nvSpPr>
        <p:spPr>
          <a:xfrm>
            <a:off x="2794000" y="3517900"/>
            <a:ext cx="5207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best-of-N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路由相对单一专家是否有实证价值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4FA0D50-A91A-DA20-FD8C-584A090186E1}"/>
              </a:ext>
            </a:extLst>
          </p:cNvPr>
          <p:cNvSpPr/>
          <p:nvPr/>
        </p:nvSpPr>
        <p:spPr>
          <a:xfrm>
            <a:off x="8191500" y="3517900"/>
            <a:ext cx="3175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编排模块 </a:t>
            </a:r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消融实验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E880E11-FB37-CE80-9A2D-44BB5A58BB62}"/>
              </a:ext>
            </a:extLst>
          </p:cNvPr>
          <p:cNvSpPr/>
          <p:nvPr/>
        </p:nvSpPr>
        <p:spPr>
          <a:xfrm>
            <a:off x="698500" y="43561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Q4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统一平台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3509635-0884-F59D-5C36-7AC29ACAC89E}"/>
              </a:ext>
            </a:extLst>
          </p:cNvPr>
          <p:cNvSpPr/>
          <p:nvPr/>
        </p:nvSpPr>
        <p:spPr>
          <a:xfrm>
            <a:off x="2794000" y="4356100"/>
            <a:ext cx="5207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异构模型如何在同一合同下执行与比较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DDBD3DB-EA3C-7D73-02EF-2478561B03A1}"/>
              </a:ext>
            </a:extLst>
          </p:cNvPr>
          <p:cNvSpPr/>
          <p:nvPr/>
        </p:nvSpPr>
        <p:spPr>
          <a:xfrm>
            <a:off x="8191500" y="4356100"/>
            <a:ext cx="3175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聚合管理平台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D95EEB-5CE0-ABEC-772F-E13E8067E461}"/>
              </a:ext>
            </a:extLst>
          </p:cNvPr>
          <p:cNvSpPr/>
          <p:nvPr/>
        </p:nvSpPr>
        <p:spPr>
          <a:xfrm>
            <a:off x="1206500" y="5397500"/>
            <a:ext cx="9779000" cy="558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边界：开题阶段给出候选设计、评测协议和工程证据，不提前写成最终性能结论。</a:t>
            </a:r>
          </a:p>
        </p:txBody>
      </p:sp>
    </p:spTree>
    <p:extLst>
      <p:ext uri="{BB962C8B-B14F-4D97-AF65-F5344CB8AC3E}">
        <p14:creationId xmlns:p14="http://schemas.microsoft.com/office/powerpoint/2010/main" val="1477379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两大支柱：架构研究与平台支撑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71D4CC3-BCD9-7A0B-45A1-B83C8B7DC31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EBAA26D-FC9C-70F3-86B4-FD50A34E4788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提出待验证机制，支柱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B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保证这些机制能被统一执行和比较。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8788C3-735C-9AC7-91CB-43319145E129}"/>
              </a:ext>
            </a:extLst>
          </p:cNvPr>
          <p:cNvSpPr/>
          <p:nvPr/>
        </p:nvSpPr>
        <p:spPr>
          <a:xfrm>
            <a:off x="762000" y="19685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A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：候选架构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X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331675-7C56-77C4-B4E2-881DFC2EABB9}"/>
              </a:ext>
            </a:extLst>
          </p:cNvPr>
          <p:cNvSpPr/>
          <p:nvPr/>
        </p:nvSpPr>
        <p:spPr>
          <a:xfrm>
            <a:off x="762000" y="2425700"/>
            <a:ext cx="3302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提出校验、记忆、编排等候选机制
形成可退化、可消融的架构对象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907767-ABE6-CEA9-30D3-A336885F7E1E}"/>
              </a:ext>
            </a:extLst>
          </p:cNvPr>
          <p:cNvSpPr/>
          <p:nvPr/>
        </p:nvSpPr>
        <p:spPr>
          <a:xfrm>
            <a:off x="8128000" y="1968500"/>
            <a:ext cx="33020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B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：聚合管理平台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743C47-F13B-478E-8114-8F7FD7605CEA}"/>
              </a:ext>
            </a:extLst>
          </p:cNvPr>
          <p:cNvSpPr/>
          <p:nvPr/>
        </p:nvSpPr>
        <p:spPr>
          <a:xfrm>
            <a:off x="8128000" y="2425700"/>
            <a:ext cx="3302000" cy="157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统一输入、状态、输出和日志
降低多模型对照实验的工程成本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ECA2479-09BB-C927-AB5E-F0CA32281F25}"/>
              </a:ext>
            </a:extLst>
          </p:cNvPr>
          <p:cNvSpPr/>
          <p:nvPr/>
        </p:nvSpPr>
        <p:spPr>
          <a:xfrm>
            <a:off x="4508500" y="2159000"/>
            <a:ext cx="3175000" cy="431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消融需求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2EAB1F-836F-DA61-35A0-0F1F244309EB}"/>
              </a:ext>
            </a:extLst>
          </p:cNvPr>
          <p:cNvSpPr/>
          <p:nvPr/>
        </p:nvSpPr>
        <p:spPr>
          <a:xfrm>
            <a:off x="4508500" y="2857500"/>
            <a:ext cx="3175000" cy="431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统一调度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3D520A-915B-AD19-64E4-483C3D3CE6F5}"/>
              </a:ext>
            </a:extLst>
          </p:cNvPr>
          <p:cNvSpPr/>
          <p:nvPr/>
        </p:nvSpPr>
        <p:spPr>
          <a:xfrm>
            <a:off x="4508500" y="3556000"/>
            <a:ext cx="3175000" cy="431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结果归集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BA29B3A5-89F4-C50A-1146-28E1FA2E617C}"/>
              </a:ext>
            </a:extLst>
          </p:cNvPr>
          <p:cNvSpPr/>
          <p:nvPr/>
        </p:nvSpPr>
        <p:spPr>
          <a:xfrm>
            <a:off x="4127500" y="2667000"/>
            <a:ext cx="457200" cy="2794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4307ECF3-F52B-7CC6-9277-D1F3163F043A}"/>
              </a:ext>
            </a:extLst>
          </p:cNvPr>
          <p:cNvSpPr/>
          <p:nvPr/>
        </p:nvSpPr>
        <p:spPr>
          <a:xfrm>
            <a:off x="7670800" y="2667000"/>
            <a:ext cx="457200" cy="2794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FF1F61-C8FD-5FB6-D25B-A6F312F97022}"/>
              </a:ext>
            </a:extLst>
          </p:cNvPr>
          <p:cNvSpPr/>
          <p:nvPr/>
        </p:nvSpPr>
        <p:spPr>
          <a:xfrm>
            <a:off x="1333500" y="5016500"/>
            <a:ext cx="9525000" cy="69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两者关系：架构问题提出实验需求，平台将实验需求转化为可复现记录。</a:t>
            </a:r>
          </a:p>
        </p:txBody>
      </p:sp>
    </p:spTree>
    <p:extLst>
      <p:ext uri="{BB962C8B-B14F-4D97-AF65-F5344CB8AC3E}">
        <p14:creationId xmlns:p14="http://schemas.microsoft.com/office/powerpoint/2010/main" val="80709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202987F-81AB-8DDA-0E86-7C675F9BC5FE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7EA4C23-EC5A-C333-DB21-E4F2EF24EF1A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4267B46-6F54-3C23-5007-D5913DF8D884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3CA7F58D-3385-F7CE-90D9-00A0BB1C535A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DDDD38B-5E95-7CD6-5ED3-E378F95013D5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CA9D949-6487-EA89-2EC4-CBA1E805C9F9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1F43B56-C034-4458-DD59-F32296A1B193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352616-6534-6366-E1BA-116E95AE0408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ACB6BC4-E160-42F4-533C-FBC4BC486B46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73397C1-341F-6392-8269-D186717CF636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E4264EB4-117E-86F3-A3A6-C4F24BC9E358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B73B36-B7D7-1DE1-48F6-316924D4BC9A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7AD1789-68FD-EE82-76C3-195B7C25B734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D3F25F4-1FF3-270B-92AB-34014BE737E0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6037ABC6-A89B-A349-5386-CC765AC6590B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479E2F-EEF0-F9B6-3B32-1E600FAE3C8B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433D05-4DFF-87A1-6A5B-562BF97E97C4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BA3B682-50BD-CD30-94EB-74A3557E0F39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FF6BEEE9-1372-84CB-3254-6E1E3331080F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9F61B38-A320-0CC5-BDDE-CA6A582FBC26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EC46FA-A00D-3E0F-A74A-03B9B24ECE9F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2AE8834-E45B-702C-2874-A8B0DF41E08B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BCF35FF7-4492-3912-7782-E779F4EEDB28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3051172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X</a:t>
            </a:r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：整体设计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F273C5-12AA-6AE8-BB70-D868D55D902E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307052-F66E-BC03-544C-FC5557F5F3F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候选架构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是可退化、可评估的研究对象，不作为最终模型结论表述。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52676F-6F86-15D8-71C2-32494E7FB51A}"/>
              </a:ext>
            </a:extLst>
          </p:cNvPr>
          <p:cNvSpPr/>
          <p:nvPr/>
        </p:nvSpPr>
        <p:spPr>
          <a:xfrm>
            <a:off x="698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8ED95D-C1CF-B9CC-D8AB-B489B66F314B}"/>
              </a:ext>
            </a:extLst>
          </p:cNvPr>
          <p:cNvSpPr/>
          <p:nvPr/>
        </p:nvSpPr>
        <p:spPr>
          <a:xfrm>
            <a:off x="698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单图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图像对
长序列窗口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718606F-2862-AE9D-37A1-5B98F2E3BE0D}"/>
              </a:ext>
            </a:extLst>
          </p:cNvPr>
          <p:cNvSpPr/>
          <p:nvPr/>
        </p:nvSpPr>
        <p:spPr>
          <a:xfrm>
            <a:off x="2578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6AA8FB-79D6-FEB1-832C-471C588BD497}"/>
              </a:ext>
            </a:extLst>
          </p:cNvPr>
          <p:cNvSpPr/>
          <p:nvPr/>
        </p:nvSpPr>
        <p:spPr>
          <a:xfrm>
            <a:off x="2984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前馈骨干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9E8F1D-D7E2-50DF-8C49-3DB066720F12}"/>
              </a:ext>
            </a:extLst>
          </p:cNvPr>
          <p:cNvSpPr/>
          <p:nvPr/>
        </p:nvSpPr>
        <p:spPr>
          <a:xfrm>
            <a:off x="2984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点图回归
相机估计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C4BF281-7DA3-4C11-C73F-A93E31741AD4}"/>
              </a:ext>
            </a:extLst>
          </p:cNvPr>
          <p:cNvSpPr/>
          <p:nvPr/>
        </p:nvSpPr>
        <p:spPr>
          <a:xfrm>
            <a:off x="4864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FB2F55-B383-E524-4BB7-5E4154CF32B3}"/>
              </a:ext>
            </a:extLst>
          </p:cNvPr>
          <p:cNvSpPr/>
          <p:nvPr/>
        </p:nvSpPr>
        <p:spPr>
          <a:xfrm>
            <a:off x="5270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校验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8A537AB-4712-B7D0-5A13-7DC70223093D}"/>
              </a:ext>
            </a:extLst>
          </p:cNvPr>
          <p:cNvSpPr/>
          <p:nvPr/>
        </p:nvSpPr>
        <p:spPr>
          <a:xfrm>
            <a:off x="5270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对极误差
深度一致性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67019DB0-E901-34A8-6829-FC4051629923}"/>
              </a:ext>
            </a:extLst>
          </p:cNvPr>
          <p:cNvSpPr/>
          <p:nvPr/>
        </p:nvSpPr>
        <p:spPr>
          <a:xfrm>
            <a:off x="7150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2C4E6DD-7DCB-85ED-0260-813B5628A6E5}"/>
              </a:ext>
            </a:extLst>
          </p:cNvPr>
          <p:cNvSpPr/>
          <p:nvPr/>
        </p:nvSpPr>
        <p:spPr>
          <a:xfrm>
            <a:off x="7556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编排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2EA04C-0F0F-649A-A0A6-6194A2C67F50}"/>
              </a:ext>
            </a:extLst>
          </p:cNvPr>
          <p:cNvSpPr/>
          <p:nvPr/>
        </p:nvSpPr>
        <p:spPr>
          <a:xfrm>
            <a:off x="7556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专家池路由
失败触发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EC930EC8-B656-3DD8-B375-7C15B0BFF876}"/>
              </a:ext>
            </a:extLst>
          </p:cNvPr>
          <p:cNvSpPr/>
          <p:nvPr/>
        </p:nvSpPr>
        <p:spPr>
          <a:xfrm>
            <a:off x="9436100" y="2857500"/>
            <a:ext cx="482600" cy="3048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D34B65-55AF-5A93-1D4D-48D06A83200B}"/>
              </a:ext>
            </a:extLst>
          </p:cNvPr>
          <p:cNvSpPr/>
          <p:nvPr/>
        </p:nvSpPr>
        <p:spPr>
          <a:xfrm>
            <a:off x="9842500" y="2095500"/>
            <a:ext cx="1778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A3AB55-1E32-1B2D-B344-959551442F0B}"/>
              </a:ext>
            </a:extLst>
          </p:cNvPr>
          <p:cNvSpPr/>
          <p:nvPr/>
        </p:nvSpPr>
        <p:spPr>
          <a:xfrm>
            <a:off x="9842500" y="2552700"/>
            <a:ext cx="17780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pointmap
mask / metadata</a:t>
            </a:r>
            <a:endParaRPr lang="zh-CN" altLang="en-US" sz="1900">
              <a:solidFill>
                <a:srgbClr val="08183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AFA28E5-E7F8-B3E7-496E-153E5697200D}"/>
              </a:ext>
            </a:extLst>
          </p:cNvPr>
          <p:cNvSpPr/>
          <p:nvPr/>
        </p:nvSpPr>
        <p:spPr>
          <a:xfrm>
            <a:off x="1206500" y="4762500"/>
            <a:ext cx="9779000" cy="6350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285F"/>
                </a:solidFill>
                <a:latin typeface="Microsoft YaHei" panose="020B0503020204020204" pitchFamily="34" charset="-122"/>
              </a:rPr>
              <a:t>设计原则：模块必须能被单独关闭或替换，后续实验只报告对照证据。</a:t>
            </a:r>
          </a:p>
        </p:txBody>
      </p:sp>
    </p:spTree>
    <p:extLst>
      <p:ext uri="{BB962C8B-B14F-4D97-AF65-F5344CB8AC3E}">
        <p14:creationId xmlns:p14="http://schemas.microsoft.com/office/powerpoint/2010/main" val="2362260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问题映射：模块、指标与证据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B46E134-4D65-B892-77CA-4635497F33A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46FE55-7EE6-12FE-D347-B50757613A73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每个研究问题都对应具体模块、实验入口和结果判据，避免只停留在概念描述。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8D6058-F561-C254-2F0D-0D860DC22C96}"/>
              </a:ext>
            </a:extLst>
          </p:cNvPr>
          <p:cNvSpPr/>
          <p:nvPr/>
        </p:nvSpPr>
        <p:spPr>
          <a:xfrm>
            <a:off x="889000" y="1841500"/>
            <a:ext cx="29845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研究问题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CB39959-D4C7-4D4E-F1C6-ABB50159FA93}"/>
              </a:ext>
            </a:extLst>
          </p:cNvPr>
          <p:cNvSpPr/>
          <p:nvPr/>
        </p:nvSpPr>
        <p:spPr>
          <a:xfrm>
            <a:off x="4191000" y="1841500"/>
            <a:ext cx="26670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对应模块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F9366BD-5A72-6B58-8053-3F20F4F8B02E}"/>
              </a:ext>
            </a:extLst>
          </p:cNvPr>
          <p:cNvSpPr/>
          <p:nvPr/>
        </p:nvSpPr>
        <p:spPr>
          <a:xfrm>
            <a:off x="7175500" y="1841500"/>
            <a:ext cx="4127500" cy="482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主要证据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4FB3DB-0DDD-9DB0-B363-46F9F11D69F7}"/>
              </a:ext>
            </a:extLst>
          </p:cNvPr>
          <p:cNvSpPr/>
          <p:nvPr/>
        </p:nvSpPr>
        <p:spPr>
          <a:xfrm>
            <a:off x="889000" y="2413000"/>
            <a:ext cx="2984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Q1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验证机制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10BE9AE-F154-DFDB-53D2-3CA54C056540}"/>
              </a:ext>
            </a:extLst>
          </p:cNvPr>
          <p:cNvSpPr/>
          <p:nvPr/>
        </p:nvSpPr>
        <p:spPr>
          <a:xfrm>
            <a:off x="4191000" y="2413000"/>
            <a:ext cx="2667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校验模块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A50CF1-0389-48A6-6990-5BCA048911CA}"/>
              </a:ext>
            </a:extLst>
          </p:cNvPr>
          <p:cNvSpPr/>
          <p:nvPr/>
        </p:nvSpPr>
        <p:spPr>
          <a:xfrm>
            <a:off x="7175500" y="2413000"/>
            <a:ext cx="4127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失败检出率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修复后误差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A08D0D-A7BB-C9E5-E0DB-C101E3C7000B}"/>
              </a:ext>
            </a:extLst>
          </p:cNvPr>
          <p:cNvSpPr/>
          <p:nvPr/>
        </p:nvSpPr>
        <p:spPr>
          <a:xfrm>
            <a:off x="889000" y="3149600"/>
            <a:ext cx="2984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Q2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长序列内存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7A795F-1A1D-A9E0-82C1-BACD780E6327}"/>
              </a:ext>
            </a:extLst>
          </p:cNvPr>
          <p:cNvSpPr/>
          <p:nvPr/>
        </p:nvSpPr>
        <p:spPr>
          <a:xfrm>
            <a:off x="4191000" y="3149600"/>
            <a:ext cx="2667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记忆模块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8431EF2-E708-EE99-7913-E5A8FCCB4068}"/>
              </a:ext>
            </a:extLst>
          </p:cNvPr>
          <p:cNvSpPr/>
          <p:nvPr/>
        </p:nvSpPr>
        <p:spPr>
          <a:xfrm>
            <a:off x="7175500" y="3149600"/>
            <a:ext cx="4127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尺度漂移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记忆衰减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BDB39FD-3F78-BF52-BB37-51C3D2BC7C62}"/>
              </a:ext>
            </a:extLst>
          </p:cNvPr>
          <p:cNvSpPr/>
          <p:nvPr/>
        </p:nvSpPr>
        <p:spPr>
          <a:xfrm>
            <a:off x="889000" y="3886200"/>
            <a:ext cx="2984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Q3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多专家组合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CC2AEF-038F-79A6-C650-B5223328230D}"/>
              </a:ext>
            </a:extLst>
          </p:cNvPr>
          <p:cNvSpPr/>
          <p:nvPr/>
        </p:nvSpPr>
        <p:spPr>
          <a:xfrm>
            <a:off x="4191000" y="3886200"/>
            <a:ext cx="2667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编排模块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B57998B-B0C6-3CD1-3BAF-BC52106F3E28}"/>
              </a:ext>
            </a:extLst>
          </p:cNvPr>
          <p:cNvSpPr/>
          <p:nvPr/>
        </p:nvSpPr>
        <p:spPr>
          <a:xfrm>
            <a:off x="7175500" y="3886200"/>
            <a:ext cx="4127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路由后悔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单专家对照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D56D50-28BF-D111-26F7-3B6A54504733}"/>
              </a:ext>
            </a:extLst>
          </p:cNvPr>
          <p:cNvSpPr/>
          <p:nvPr/>
        </p:nvSpPr>
        <p:spPr>
          <a:xfrm>
            <a:off x="889000" y="4622800"/>
            <a:ext cx="2984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Q4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统一平台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0101FB7-9C8B-CD59-5D25-68CE6C23C94E}"/>
              </a:ext>
            </a:extLst>
          </p:cNvPr>
          <p:cNvSpPr/>
          <p:nvPr/>
        </p:nvSpPr>
        <p:spPr>
          <a:xfrm>
            <a:off x="4191000" y="4622800"/>
            <a:ext cx="2667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平台合同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AE3E71F-1667-FEF0-6401-876FB7D3FE62}"/>
              </a:ext>
            </a:extLst>
          </p:cNvPr>
          <p:cNvSpPr/>
          <p:nvPr/>
        </p:nvSpPr>
        <p:spPr>
          <a:xfrm>
            <a:off x="7175500" y="4622800"/>
            <a:ext cx="41275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覆盖率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接入成本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9A33DDB-83BB-E8BD-1DC1-5C9E41F8AFD6}"/>
              </a:ext>
            </a:extLst>
          </p:cNvPr>
          <p:cNvSpPr/>
          <p:nvPr/>
        </p:nvSpPr>
        <p:spPr>
          <a:xfrm>
            <a:off x="1333500" y="5524500"/>
            <a:ext cx="9525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后续实验按该映射展开，分别报告模块退化前后的对照证据。</a:t>
            </a:r>
          </a:p>
        </p:txBody>
      </p:sp>
    </p:spTree>
    <p:extLst>
      <p:ext uri="{BB962C8B-B14F-4D97-AF65-F5344CB8AC3E}">
        <p14:creationId xmlns:p14="http://schemas.microsoft.com/office/powerpoint/2010/main" val="2953948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平台设计：统一实验入口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721496-F7A6-1EDF-10F8-055A6AF2CE1B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9DACC6-7CFF-A16E-9D4F-B97070428050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平台不是展示界面，而是为多模型实验提供统一入口、记录和对比能力。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21747B-5611-269D-7737-CF1312D107A6}"/>
              </a:ext>
            </a:extLst>
          </p:cNvPr>
          <p:cNvSpPr/>
          <p:nvPr/>
        </p:nvSpPr>
        <p:spPr>
          <a:xfrm>
            <a:off x="6985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模型入口孤岛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94014A-7364-EFB1-D0DB-31B5E8C8B6DD}"/>
              </a:ext>
            </a:extLst>
          </p:cNvPr>
          <p:cNvSpPr/>
          <p:nvPr/>
        </p:nvSpPr>
        <p:spPr>
          <a:xfrm>
            <a:off x="2794000" y="1841500"/>
            <a:ext cx="4191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不同仓库、环境、脚本分别维护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B412F1-0FC3-0032-AB4D-D83D5957752A}"/>
              </a:ext>
            </a:extLst>
          </p:cNvPr>
          <p:cNvSpPr/>
          <p:nvPr/>
        </p:nvSpPr>
        <p:spPr>
          <a:xfrm>
            <a:off x="7175500" y="1841500"/>
            <a:ext cx="4191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模型注册表统一入口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6C6623-9886-72EB-F5A0-BC4191BD7EC1}"/>
              </a:ext>
            </a:extLst>
          </p:cNvPr>
          <p:cNvSpPr/>
          <p:nvPr/>
        </p:nvSpPr>
        <p:spPr>
          <a:xfrm>
            <a:off x="698500" y="26797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输出结构分散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422EA1-F77F-19DE-6441-C7D833F3B66D}"/>
              </a:ext>
            </a:extLst>
          </p:cNvPr>
          <p:cNvSpPr/>
          <p:nvPr/>
        </p:nvSpPr>
        <p:spPr>
          <a:xfrm>
            <a:off x="2794000" y="2679700"/>
            <a:ext cx="4191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点图、轨迹、网格、日志各不相同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61C5016-8F86-966A-7079-24474A64DAFF}"/>
              </a:ext>
            </a:extLst>
          </p:cNvPr>
          <p:cNvSpPr/>
          <p:nvPr/>
        </p:nvSpPr>
        <p:spPr>
          <a:xfrm>
            <a:off x="7175500" y="2679700"/>
            <a:ext cx="4191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执行合同统一字段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F6084FB-C90D-9E20-A950-4171C4B123AA}"/>
              </a:ext>
            </a:extLst>
          </p:cNvPr>
          <p:cNvSpPr/>
          <p:nvPr/>
        </p:nvSpPr>
        <p:spPr>
          <a:xfrm>
            <a:off x="698500" y="35179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远端执行割裂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3C5336D-A3D4-353E-B295-7C807551A01E}"/>
              </a:ext>
            </a:extLst>
          </p:cNvPr>
          <p:cNvSpPr/>
          <p:nvPr/>
        </p:nvSpPr>
        <p:spPr>
          <a:xfrm>
            <a:off x="2794000" y="3517900"/>
            <a:ext cx="4191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本地交互与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环境耦合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86D833-7714-2049-4BE8-01A92076F47E}"/>
              </a:ext>
            </a:extLst>
          </p:cNvPr>
          <p:cNvSpPr/>
          <p:nvPr/>
        </p:nvSpPr>
        <p:spPr>
          <a:xfrm>
            <a:off x="7175500" y="3517900"/>
            <a:ext cx="4191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SSH/SCP </a:t>
            </a:r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调度层隔离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620FE46-35B8-BE51-37B9-144B1D0FC019}"/>
              </a:ext>
            </a:extLst>
          </p:cNvPr>
          <p:cNvSpPr/>
          <p:nvPr/>
        </p:nvSpPr>
        <p:spPr>
          <a:xfrm>
            <a:off x="698500" y="43561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对比成本较高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F2F87D-C80A-58AB-A89F-7CA827571D1D}"/>
              </a:ext>
            </a:extLst>
          </p:cNvPr>
          <p:cNvSpPr/>
          <p:nvPr/>
        </p:nvSpPr>
        <p:spPr>
          <a:xfrm>
            <a:off x="2794000" y="4356100"/>
            <a:ext cx="4191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多模型结果需要人工整理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80F0593-C736-F5F8-3788-93303D857F79}"/>
              </a:ext>
            </a:extLst>
          </p:cNvPr>
          <p:cNvSpPr/>
          <p:nvPr/>
        </p:nvSpPr>
        <p:spPr>
          <a:xfrm>
            <a:off x="7175500" y="4356100"/>
            <a:ext cx="4191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500" b="1">
                <a:solidFill>
                  <a:srgbClr val="00285F"/>
                </a:solidFill>
                <a:latin typeface="Microsoft YaHei" panose="020B0503020204020204" pitchFamily="34" charset="-122"/>
              </a:rPr>
              <a:t>对比矩阵与报告入口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430442A-ADF3-41C2-EB6A-D01A44FC5AD3}"/>
              </a:ext>
            </a:extLst>
          </p:cNvPr>
          <p:cNvSpPr/>
          <p:nvPr/>
        </p:nvSpPr>
        <p:spPr>
          <a:xfrm>
            <a:off x="1206500" y="5397500"/>
            <a:ext cx="9779000" cy="5334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FFFFFF"/>
                </a:solidFill>
                <a:latin typeface="Microsoft YaHei" panose="020B0503020204020204" pitchFamily="34" charset="-122"/>
              </a:rPr>
              <a:t>设计目标：让候选架构消融、多专家对照和平台评测使用同一套执行记录。</a:t>
            </a:r>
          </a:p>
        </p:txBody>
      </p:sp>
    </p:spTree>
    <p:extLst>
      <p:ext uri="{BB962C8B-B14F-4D97-AF65-F5344CB8AC3E}">
        <p14:creationId xmlns:p14="http://schemas.microsoft.com/office/powerpoint/2010/main" val="3343230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软件设计：聚合管理平台架构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B6D0A0-B5F2-A570-5F9E-955EB043F580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24C722-02EE-CC5A-AC33-A7FD2D13C56B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平台采用桌面端交互、本地服务封装、远端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GPU 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执行的分离架构。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3830405-A162-EB27-1F9D-8D8470C50447}"/>
              </a:ext>
            </a:extLst>
          </p:cNvPr>
          <p:cNvSpPr/>
          <p:nvPr/>
        </p:nvSpPr>
        <p:spPr>
          <a:xfrm>
            <a:off x="698500" y="1841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桌面前端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D57CF2-5F15-BE9D-B4EE-99AD750B39F1}"/>
              </a:ext>
            </a:extLst>
          </p:cNvPr>
          <p:cNvSpPr/>
          <p:nvPr/>
        </p:nvSpPr>
        <p:spPr>
          <a:xfrm>
            <a:off x="2794000" y="1841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Tauri 2 + React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78F6AF5-04D6-60A4-94F2-1733BB5D3547}"/>
              </a:ext>
            </a:extLst>
          </p:cNvPr>
          <p:cNvSpPr/>
          <p:nvPr/>
        </p:nvSpPr>
        <p:spPr>
          <a:xfrm>
            <a:off x="5651500" y="1841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任务提交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状态查看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结果浏览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BEBE84B-58A3-8B3E-AB62-7EE722D1E07B}"/>
              </a:ext>
            </a:extLst>
          </p:cNvPr>
          <p:cNvSpPr/>
          <p:nvPr/>
        </p:nvSpPr>
        <p:spPr>
          <a:xfrm>
            <a:off x="698500" y="2730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本地后端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A3B8EE-6C40-16FA-6D25-ECA1616BC001}"/>
              </a:ext>
            </a:extLst>
          </p:cNvPr>
          <p:cNvSpPr/>
          <p:nvPr/>
        </p:nvSpPr>
        <p:spPr>
          <a:xfrm>
            <a:off x="2794000" y="2730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FastAPI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C8C52FD-29B8-CCCF-D3BD-159EF690FB2D}"/>
              </a:ext>
            </a:extLst>
          </p:cNvPr>
          <p:cNvSpPr/>
          <p:nvPr/>
        </p:nvSpPr>
        <p:spPr>
          <a:xfrm>
            <a:off x="5651500" y="2730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参数校验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合同生成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API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封装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750BA2-71C3-D7B1-66EA-07959FFAADAA}"/>
              </a:ext>
            </a:extLst>
          </p:cNvPr>
          <p:cNvSpPr/>
          <p:nvPr/>
        </p:nvSpPr>
        <p:spPr>
          <a:xfrm>
            <a:off x="698500" y="3619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远端调度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27C42F-5FF9-3668-D6F5-704F33914242}"/>
              </a:ext>
            </a:extLst>
          </p:cNvPr>
          <p:cNvSpPr/>
          <p:nvPr/>
        </p:nvSpPr>
        <p:spPr>
          <a:xfrm>
            <a:off x="2794000" y="3619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SSH / SCP</a:t>
            </a:r>
            <a:endParaRPr lang="zh-CN" altLang="en-US" sz="1600" b="1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C033E3-1966-68E7-D6FD-303579C61DE5}"/>
              </a:ext>
            </a:extLst>
          </p:cNvPr>
          <p:cNvSpPr/>
          <p:nvPr/>
        </p:nvSpPr>
        <p:spPr>
          <a:xfrm>
            <a:off x="5651500" y="3619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环境隔离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日志回传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产物同步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ACC98A-B525-19A6-317D-9D0367BB0900}"/>
              </a:ext>
            </a:extLst>
          </p:cNvPr>
          <p:cNvSpPr/>
          <p:nvPr/>
        </p:nvSpPr>
        <p:spPr>
          <a:xfrm>
            <a:off x="698500" y="4508500"/>
            <a:ext cx="1905000" cy="609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模型执行层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E8122E5-FD86-1DD4-77A3-6E16135AC389}"/>
              </a:ext>
            </a:extLst>
          </p:cNvPr>
          <p:cNvSpPr/>
          <p:nvPr/>
        </p:nvSpPr>
        <p:spPr>
          <a:xfrm>
            <a:off x="2794000" y="4508500"/>
            <a:ext cx="2667000" cy="609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个 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执行器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0FA9AE-022E-9671-D5B0-6BF3C7CCFC28}"/>
              </a:ext>
            </a:extLst>
          </p:cNvPr>
          <p:cNvSpPr/>
          <p:nvPr/>
        </p:nvSpPr>
        <p:spPr>
          <a:xfrm>
            <a:off x="5651500" y="4508500"/>
            <a:ext cx="5715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DUSt3R / MASt3R / MonST3R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3B70327-7A16-4861-3E29-A76E4F256A3C}"/>
              </a:ext>
            </a:extLst>
          </p:cNvPr>
          <p:cNvSpPr/>
          <p:nvPr/>
        </p:nvSpPr>
        <p:spPr>
          <a:xfrm>
            <a:off x="1460500" y="5524500"/>
            <a:ext cx="9271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本页聚焦软件分层，界面展示随平台版本稳定后补充。</a:t>
            </a:r>
          </a:p>
        </p:txBody>
      </p:sp>
    </p:spTree>
    <p:extLst>
      <p:ext uri="{BB962C8B-B14F-4D97-AF65-F5344CB8AC3E}">
        <p14:creationId xmlns:p14="http://schemas.microsoft.com/office/powerpoint/2010/main" val="3601419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任务流程：从提交到远端回传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0531C1-FBD0-21EE-F8A7-F4E9BF1F45C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C90FBE9-36E3-3835-5E8D-2FBF4DB639D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一次平台任务被拆成合同生成、远端执行、状态回传和结果入库四个环节。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A79FC2-23CA-55B2-3E12-219271641901}"/>
              </a:ext>
            </a:extLst>
          </p:cNvPr>
          <p:cNvSpPr/>
          <p:nvPr/>
        </p:nvSpPr>
        <p:spPr>
          <a:xfrm>
            <a:off x="698500" y="20320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1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提交任务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3C6021-5CBB-C0C0-E35C-46717D67DCC6}"/>
              </a:ext>
            </a:extLst>
          </p:cNvPr>
          <p:cNvSpPr/>
          <p:nvPr/>
        </p:nvSpPr>
        <p:spPr>
          <a:xfrm>
            <a:off x="698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选择模型
输入样本
设置参数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33C24D75-8D31-E12B-191B-942B924483ED}"/>
              </a:ext>
            </a:extLst>
          </p:cNvPr>
          <p:cNvSpPr/>
          <p:nvPr/>
        </p:nvSpPr>
        <p:spPr>
          <a:xfrm>
            <a:off x="3175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72A89B-FB17-9ECD-4543-649B3E00DECA}"/>
              </a:ext>
            </a:extLst>
          </p:cNvPr>
          <p:cNvSpPr/>
          <p:nvPr/>
        </p:nvSpPr>
        <p:spPr>
          <a:xfrm>
            <a:off x="3492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2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生成合同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5CC6BB-87C4-DF7F-A5FF-0654BFD393C2}"/>
              </a:ext>
            </a:extLst>
          </p:cNvPr>
          <p:cNvSpPr/>
          <p:nvPr/>
        </p:nvSpPr>
        <p:spPr>
          <a:xfrm>
            <a:off x="3492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task.json
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输出目录
运行约束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1F9F1801-E54E-F853-751E-1F72D4FC13C9}"/>
              </a:ext>
            </a:extLst>
          </p:cNvPr>
          <p:cNvSpPr/>
          <p:nvPr/>
        </p:nvSpPr>
        <p:spPr>
          <a:xfrm>
            <a:off x="5969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71A71B-F4F9-5852-899C-D9075DA2E6BD}"/>
              </a:ext>
            </a:extLst>
          </p:cNvPr>
          <p:cNvSpPr/>
          <p:nvPr/>
        </p:nvSpPr>
        <p:spPr>
          <a:xfrm>
            <a:off x="6286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远端执行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BB30AB-A42F-A1C5-FA8B-C1097B092CE6}"/>
              </a:ext>
            </a:extLst>
          </p:cNvPr>
          <p:cNvSpPr/>
          <p:nvPr/>
        </p:nvSpPr>
        <p:spPr>
          <a:xfrm>
            <a:off x="6286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SSH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启动
日志监听
状态轮询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3C722252-3630-9077-D2E2-E6A394ABE4B6}"/>
              </a:ext>
            </a:extLst>
          </p:cNvPr>
          <p:cNvSpPr/>
          <p:nvPr/>
        </p:nvSpPr>
        <p:spPr>
          <a:xfrm>
            <a:off x="87630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5B3AB3-229A-9A09-71A8-9109CD26E4A6}"/>
              </a:ext>
            </a:extLst>
          </p:cNvPr>
          <p:cNvSpPr/>
          <p:nvPr/>
        </p:nvSpPr>
        <p:spPr>
          <a:xfrm>
            <a:off x="9080500" y="2032000"/>
            <a:ext cx="23495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4 </a:t>
            </a:r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结果回传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66A1BD-0E26-1652-D5AF-BA2C2C769646}"/>
              </a:ext>
            </a:extLst>
          </p:cNvPr>
          <p:cNvSpPr/>
          <p:nvPr/>
        </p:nvSpPr>
        <p:spPr>
          <a:xfrm>
            <a:off x="9080500" y="2489200"/>
            <a:ext cx="2349500" cy="1384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产物同步
状态归档
指标入口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F13FF92-D480-FBAB-F9FB-202D3A5C48F1}"/>
              </a:ext>
            </a:extLst>
          </p:cNvPr>
          <p:cNvSpPr/>
          <p:nvPr/>
        </p:nvSpPr>
        <p:spPr>
          <a:xfrm>
            <a:off x="1206500" y="4762500"/>
            <a:ext cx="9779000" cy="6604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关键点：平台不直接改模型代码，而是通过执行器和合同把模型纳入统一流程。</a:t>
            </a:r>
          </a:p>
        </p:txBody>
      </p:sp>
    </p:spTree>
    <p:extLst>
      <p:ext uri="{BB962C8B-B14F-4D97-AF65-F5344CB8AC3E}">
        <p14:creationId xmlns:p14="http://schemas.microsoft.com/office/powerpoint/2010/main" val="2019547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模型接入：注册表与执行器合同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8837AA-DD4C-9B5C-661B-6BA459DDEF84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DF107B1-9851-481F-0DC5-6793CB37A12F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统一执行合同把异构模型差异封装在执行器层，上层只读取标准字段。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F4FF71-19CD-7A6E-1051-C797FC4C5A68}"/>
              </a:ext>
            </a:extLst>
          </p:cNvPr>
          <p:cNvSpPr/>
          <p:nvPr/>
        </p:nvSpPr>
        <p:spPr>
          <a:xfrm>
            <a:off x="1016000" y="2032000"/>
            <a:ext cx="2667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task.json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8C07ADB-1BD1-A102-4E32-78881521DAD6}"/>
              </a:ext>
            </a:extLst>
          </p:cNvPr>
          <p:cNvSpPr/>
          <p:nvPr/>
        </p:nvSpPr>
        <p:spPr>
          <a:xfrm>
            <a:off x="1016000" y="2489200"/>
            <a:ext cx="2667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输入路径
模型名
运行参数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AF4321ED-3BB7-AC2E-5F03-9EC77AF280D9}"/>
              </a:ext>
            </a:extLst>
          </p:cNvPr>
          <p:cNvSpPr/>
          <p:nvPr/>
        </p:nvSpPr>
        <p:spPr>
          <a:xfrm>
            <a:off x="38354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5C1B30-CA89-3FED-6FD4-33960CB6AB28}"/>
              </a:ext>
            </a:extLst>
          </p:cNvPr>
          <p:cNvSpPr/>
          <p:nvPr/>
        </p:nvSpPr>
        <p:spPr>
          <a:xfrm>
            <a:off x="4699000" y="2032000"/>
            <a:ext cx="2667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status.json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CCDDF7-D198-D71D-E24A-F36A7A47CD49}"/>
              </a:ext>
            </a:extLst>
          </p:cNvPr>
          <p:cNvSpPr/>
          <p:nvPr/>
        </p:nvSpPr>
        <p:spPr>
          <a:xfrm>
            <a:off x="4699000" y="2489200"/>
            <a:ext cx="2667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运行状态
耗时记录
失败原因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5514C9E6-8BD0-A93B-BD20-D095FCBE13D3}"/>
              </a:ext>
            </a:extLst>
          </p:cNvPr>
          <p:cNvSpPr/>
          <p:nvPr/>
        </p:nvSpPr>
        <p:spPr>
          <a:xfrm>
            <a:off x="7518400" y="27305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6F26B8E-F4E0-5701-B176-F2C9326C52FE}"/>
              </a:ext>
            </a:extLst>
          </p:cNvPr>
          <p:cNvSpPr/>
          <p:nvPr/>
        </p:nvSpPr>
        <p:spPr>
          <a:xfrm>
            <a:off x="8382000" y="2032000"/>
            <a:ext cx="2667000" cy="431800"/>
          </a:xfrm>
          <a:prstGeom prst="rect">
            <a:avLst/>
          </a:prstGeom>
          <a:solidFill>
            <a:srgbClr val="286FB9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en-US" altLang="zh-CN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scene_meta.json</a:t>
            </a:r>
            <a:endParaRPr lang="zh-CN" altLang="en-US" sz="19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1E6AF23-1A12-7617-FBF3-63FE7DC6E311}"/>
              </a:ext>
            </a:extLst>
          </p:cNvPr>
          <p:cNvSpPr/>
          <p:nvPr/>
        </p:nvSpPr>
        <p:spPr>
          <a:xfrm>
            <a:off x="8382000" y="2489200"/>
            <a:ext cx="2667000" cy="1257300"/>
          </a:xfrm>
          <a:prstGeom prst="rect">
            <a:avLst/>
          </a:prstGeom>
          <a:solidFill>
            <a:srgbClr val="FFFFFF"/>
          </a:solidFill>
          <a:ln w="12700"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相机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尺度
输出类型
指标入口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1768C5-4C13-EA6E-1427-4FC896DA20CC}"/>
              </a:ext>
            </a:extLst>
          </p:cNvPr>
          <p:cNvSpPr/>
          <p:nvPr/>
        </p:nvSpPr>
        <p:spPr>
          <a:xfrm>
            <a:off x="1143000" y="4318000"/>
            <a:ext cx="9906000" cy="66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执行器负责适配具体模型；平台侧只依赖统一合同，因此可以横向比较不同 </a:t>
            </a:r>
            <a:r>
              <a:rPr lang="en-US" altLang="zh-CN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2000" b="1">
                <a:solidFill>
                  <a:srgbClr val="00285F"/>
                </a:solidFill>
                <a:latin typeface="Microsoft YaHei" panose="020B0503020204020204" pitchFamily="34" charset="-122"/>
              </a:rPr>
              <a:t>方法。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CBF9704-1BF6-AFFB-F6A9-777AC1DF42DB}"/>
              </a:ext>
            </a:extLst>
          </p:cNvPr>
          <p:cNvSpPr/>
          <p:nvPr/>
        </p:nvSpPr>
        <p:spPr>
          <a:xfrm>
            <a:off x="1651000" y="5397500"/>
            <a:ext cx="8890000" cy="457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当前状态：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个模型已注册，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个模型完成端到端验证；</a:t>
            </a:r>
            <a:r>
              <a:rPr lang="en-US" altLang="zh-CN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Align3R </a:t>
            </a:r>
            <a:r>
              <a:rPr lang="zh-CN" altLang="en-US" sz="1600" b="1">
                <a:solidFill>
                  <a:srgbClr val="00285F"/>
                </a:solidFill>
                <a:latin typeface="Microsoft YaHei" panose="020B0503020204020204" pitchFamily="34" charset="-122"/>
              </a:rPr>
              <a:t>待权重补充后验证。</a:t>
            </a:r>
          </a:p>
        </p:txBody>
      </p:sp>
    </p:spTree>
    <p:extLst>
      <p:ext uri="{BB962C8B-B14F-4D97-AF65-F5344CB8AC3E}">
        <p14:creationId xmlns:p14="http://schemas.microsoft.com/office/powerpoint/2010/main" val="3265651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C7F92-9293-B59D-2DE6-2DB6188A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D974B1A9-EA78-9DDD-0C77-372F5B9CAD76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08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F0E9114-BD5E-4531-B04D-1539D4EDDF89}"/>
              </a:ext>
            </a:extLst>
          </p:cNvPr>
          <p:cNvSpPr txBox="1"/>
          <p:nvPr/>
        </p:nvSpPr>
        <p:spPr>
          <a:xfrm>
            <a:off x="946461" y="269201"/>
            <a:ext cx="6440714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结果归集：对比矩阵与评测入口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54271C-0CCE-B948-CD28-05DF9DA5909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2C9668-B1B0-3F49-494D-F39484A56635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平台最终服务于对比矩阵和评测入口，而不是只完成单模型运行。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7D1C69-FFD2-9AB0-BB65-4494A70DFF47}"/>
              </a:ext>
            </a:extLst>
          </p:cNvPr>
          <p:cNvSpPr/>
          <p:nvPr/>
        </p:nvSpPr>
        <p:spPr>
          <a:xfrm>
            <a:off x="889000" y="20320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输入层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FEB2CD-3229-B153-3860-399045A8C4BC}"/>
              </a:ext>
            </a:extLst>
          </p:cNvPr>
          <p:cNvSpPr/>
          <p:nvPr/>
        </p:nvSpPr>
        <p:spPr>
          <a:xfrm>
            <a:off x="889000" y="24892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统一样本
统一参数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938BF416-10E7-1234-80E4-E130E9647C44}"/>
              </a:ext>
            </a:extLst>
          </p:cNvPr>
          <p:cNvSpPr/>
          <p:nvPr/>
        </p:nvSpPr>
        <p:spPr>
          <a:xfrm>
            <a:off x="3365500" y="2794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D6AC1A-1DE6-F7DF-8414-1A8590E4DA0D}"/>
              </a:ext>
            </a:extLst>
          </p:cNvPr>
          <p:cNvSpPr/>
          <p:nvPr/>
        </p:nvSpPr>
        <p:spPr>
          <a:xfrm>
            <a:off x="3683000" y="2032000"/>
            <a:ext cx="23495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执行层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8880C6-E594-4CF2-F9CF-5FDF993A8F76}"/>
              </a:ext>
            </a:extLst>
          </p:cNvPr>
          <p:cNvSpPr/>
          <p:nvPr/>
        </p:nvSpPr>
        <p:spPr>
          <a:xfrm>
            <a:off x="3683000" y="24892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模型执行器
状态文件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49458BF1-0E8F-B84B-4DEE-639565FB1E9C}"/>
              </a:ext>
            </a:extLst>
          </p:cNvPr>
          <p:cNvSpPr/>
          <p:nvPr/>
        </p:nvSpPr>
        <p:spPr>
          <a:xfrm>
            <a:off x="6159500" y="2794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FC11D6-6FF3-D370-9034-247A174B9A04}"/>
              </a:ext>
            </a:extLst>
          </p:cNvPr>
          <p:cNvSpPr/>
          <p:nvPr/>
        </p:nvSpPr>
        <p:spPr>
          <a:xfrm>
            <a:off x="6477000" y="2032000"/>
            <a:ext cx="23495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归集层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9841C6-05DA-EFC2-379F-01608CD271E5}"/>
              </a:ext>
            </a:extLst>
          </p:cNvPr>
          <p:cNvSpPr/>
          <p:nvPr/>
        </p:nvSpPr>
        <p:spPr>
          <a:xfrm>
            <a:off x="6477000" y="24892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输出元数据
耗时日志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4B3058ED-88BC-35E9-30E6-599180CBA0DC}"/>
              </a:ext>
            </a:extLst>
          </p:cNvPr>
          <p:cNvSpPr/>
          <p:nvPr/>
        </p:nvSpPr>
        <p:spPr>
          <a:xfrm>
            <a:off x="8953500" y="2794000"/>
            <a:ext cx="533400" cy="330200"/>
          </a:xfrm>
          <a:prstGeom prst="rightArrow">
            <a:avLst/>
          </a:prstGeom>
          <a:solidFill>
            <a:srgbClr val="286FB9"/>
          </a:solidFill>
          <a:ln>
            <a:solidFill>
              <a:srgbClr val="286F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E71C1F-9034-D7F2-BF85-37DBFE60122F}"/>
              </a:ext>
            </a:extLst>
          </p:cNvPr>
          <p:cNvSpPr/>
          <p:nvPr/>
        </p:nvSpPr>
        <p:spPr>
          <a:xfrm>
            <a:off x="9271000" y="2032000"/>
            <a:ext cx="2349500" cy="431800"/>
          </a:xfrm>
          <a:prstGeom prst="rect">
            <a:avLst/>
          </a:prstGeom>
          <a:solidFill>
            <a:srgbClr val="26915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评测层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2BB3C45-E712-C376-617A-42B2321BDD09}"/>
              </a:ext>
            </a:extLst>
          </p:cNvPr>
          <p:cNvSpPr/>
          <p:nvPr/>
        </p:nvSpPr>
        <p:spPr>
          <a:xfrm>
            <a:off x="9271000" y="2489200"/>
            <a:ext cx="2349500" cy="144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691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指标计算
对比矩阵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17B9CE9-585D-56CA-7527-1B0975954F39}"/>
              </a:ext>
            </a:extLst>
          </p:cNvPr>
          <p:cNvSpPr/>
          <p:nvPr/>
        </p:nvSpPr>
        <p:spPr>
          <a:xfrm>
            <a:off x="1143000" y="4635500"/>
            <a:ext cx="9906000" cy="584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平台评测指标：统一合同覆盖率、跨模型对比矩阵完整性、新模型接入边际成本。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14FA09B-4224-98DE-B04A-90CB574E9FB3}"/>
              </a:ext>
            </a:extLst>
          </p:cNvPr>
          <p:cNvSpPr/>
          <p:nvPr/>
        </p:nvSpPr>
        <p:spPr>
          <a:xfrm>
            <a:off x="1651000" y="5524500"/>
            <a:ext cx="8890000" cy="431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这部分回答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Q4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：能否把异构 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3R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模型纳入可复现实验环境。</a:t>
            </a:r>
          </a:p>
        </p:txBody>
      </p:sp>
    </p:spTree>
    <p:extLst>
      <p:ext uri="{BB962C8B-B14F-4D97-AF65-F5344CB8AC3E}">
        <p14:creationId xmlns:p14="http://schemas.microsoft.com/office/powerpoint/2010/main" val="3135100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89">
            <a:extLst>
              <a:ext uri="{FF2B5EF4-FFF2-40B4-BE49-F238E27FC236}">
                <a16:creationId xmlns:a16="http://schemas.microsoft.com/office/drawing/2014/main" id="{E9CAE631-11B1-6B01-385A-60C92A6A83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 rot="10800000">
            <a:off x="-8340" y="1"/>
            <a:ext cx="12200340" cy="2868908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9C7262D3-C5E7-98B9-085E-5298B67D1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6168"/>
          <a:stretch/>
        </p:blipFill>
        <p:spPr>
          <a:xfrm flipH="1">
            <a:off x="0" y="4270329"/>
            <a:ext cx="12192000" cy="2600960"/>
          </a:xfrm>
          <a:prstGeom prst="rect">
            <a:avLst/>
          </a:prstGeom>
        </p:spPr>
      </p:pic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A03CD020-8E49-BC23-82FE-80B9ABCA3972}"/>
              </a:ext>
            </a:extLst>
          </p:cNvPr>
          <p:cNvSpPr/>
          <p:nvPr/>
        </p:nvSpPr>
        <p:spPr>
          <a:xfrm>
            <a:off x="-100120" y="-79828"/>
            <a:ext cx="4207663" cy="7017657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1"/>
              </a:gs>
              <a:gs pos="100000">
                <a:schemeClr val="accent2">
                  <a:lumMod val="50000"/>
                </a:schemeClr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outerShdw blurRad="165100" dist="38100" dir="2700000" algn="tl" rotWithShape="0">
              <a:sysClr val="window" lastClr="FFFFFF">
                <a:lumMod val="85000"/>
                <a:alpha val="35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EEBD94C-B44D-2A8B-AC9A-D4C40C3FAC2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60" r="29859"/>
          <a:stretch/>
        </p:blipFill>
        <p:spPr>
          <a:xfrm>
            <a:off x="-79458" y="-79829"/>
            <a:ext cx="4215566" cy="701765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80D403F-AF29-6DC2-1C5A-6109371EC1E5}"/>
              </a:ext>
            </a:extLst>
          </p:cNvPr>
          <p:cNvSpPr/>
          <p:nvPr/>
        </p:nvSpPr>
        <p:spPr>
          <a:xfrm>
            <a:off x="3708400" y="1219200"/>
            <a:ext cx="7239000" cy="5080000"/>
          </a:xfrm>
          <a:prstGeom prst="rect">
            <a:avLst/>
          </a:prstGeom>
          <a:solidFill>
            <a:srgbClr val="EBECEE">
              <a:alpha val="92000"/>
            </a:srgbClr>
          </a:solidFill>
          <a:ln>
            <a:solidFill>
              <a:srgbClr val="E6E6E6"/>
            </a:solidFill>
          </a:ln>
          <a:effectLst>
            <a:outerShdw blurRad="101600" dist="37357" dir="2700000" rotWithShape="0">
              <a:scrgbClr r="0" g="0" b="0">
                <a:alpha val="45000"/>
              </a:sc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FFE53B-E51B-E434-E792-914452AB83E6}"/>
              </a:ext>
            </a:extLst>
          </p:cNvPr>
          <p:cNvSpPr txBox="1"/>
          <p:nvPr/>
        </p:nvSpPr>
        <p:spPr>
          <a:xfrm>
            <a:off x="1524000" y="2603500"/>
            <a:ext cx="9525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zh-CN" altLang="en-US" sz="3000" b="1">
                <a:solidFill>
                  <a:srgbClr val="FFFFFF"/>
                </a:solidFill>
                <a:latin typeface="Microsoft YaHei" panose="020B0503020204020204" pitchFamily="34" charset="-122"/>
              </a:rPr>
              <a:t>汇
报
提
纲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E8AD523-1C2B-6A39-2413-CDF99F6BEE3E}"/>
              </a:ext>
            </a:extLst>
          </p:cNvPr>
          <p:cNvCxnSpPr/>
          <p:nvPr/>
        </p:nvCxnSpPr>
        <p:spPr>
          <a:xfrm>
            <a:off x="1422400" y="3175000"/>
            <a:ext cx="0" cy="2540000"/>
          </a:xfrm>
          <a:prstGeom prst="line">
            <a:avLst/>
          </a:prstGeom>
          <a:ln w="6350" cap="flat" cmpd="sng" algn="ctr">
            <a:solidFill>
              <a:srgbClr val="D2E1F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0E3AFA4-7D3A-F90B-404A-3455D2002788}"/>
              </a:ext>
            </a:extLst>
          </p:cNvPr>
          <p:cNvSpPr/>
          <p:nvPr/>
        </p:nvSpPr>
        <p:spPr>
          <a:xfrm>
            <a:off x="4635500" y="14224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B2A561-A1DC-1E24-295A-D1AC80688BDD}"/>
              </a:ext>
            </a:extLst>
          </p:cNvPr>
          <p:cNvSpPr txBox="1"/>
          <p:nvPr/>
        </p:nvSpPr>
        <p:spPr>
          <a:xfrm>
            <a:off x="5143500" y="15113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01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AF2254BB-B594-10BD-DBE2-0013F08BF4A1}"/>
              </a:ext>
            </a:extLst>
          </p:cNvPr>
          <p:cNvCxnSpPr/>
          <p:nvPr/>
        </p:nvCxnSpPr>
        <p:spPr>
          <a:xfrm>
            <a:off x="6172200" y="15748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8AE5879-D1AC-2BDC-7417-F690782D5B5C}"/>
              </a:ext>
            </a:extLst>
          </p:cNvPr>
          <p:cNvSpPr txBox="1"/>
          <p:nvPr/>
        </p:nvSpPr>
        <p:spPr>
          <a:xfrm>
            <a:off x="6477000" y="15367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背景与问题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92A736-D387-780A-FF00-A1F134D9DFBC}"/>
              </a:ext>
            </a:extLst>
          </p:cNvPr>
          <p:cNvSpPr/>
          <p:nvPr/>
        </p:nvSpPr>
        <p:spPr>
          <a:xfrm>
            <a:off x="4635500" y="23495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ECC9EFA-E9FD-806D-DD1C-0355E5175C23}"/>
              </a:ext>
            </a:extLst>
          </p:cNvPr>
          <p:cNvSpPr txBox="1"/>
          <p:nvPr/>
        </p:nvSpPr>
        <p:spPr>
          <a:xfrm>
            <a:off x="5143500" y="24384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02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7A38F4F-17F2-F3D0-BBAB-7D93FAF46296}"/>
              </a:ext>
            </a:extLst>
          </p:cNvPr>
          <p:cNvCxnSpPr/>
          <p:nvPr/>
        </p:nvCxnSpPr>
        <p:spPr>
          <a:xfrm>
            <a:off x="6172200" y="25019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DB94BC7-3D68-AAD3-C43D-172091A03F44}"/>
              </a:ext>
            </a:extLst>
          </p:cNvPr>
          <p:cNvSpPr txBox="1"/>
          <p:nvPr/>
        </p:nvSpPr>
        <p:spPr>
          <a:xfrm>
            <a:off x="6477000" y="24638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研究现状与目标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25576F3-52AD-5D2E-1C02-CF065EEA9DBA}"/>
              </a:ext>
            </a:extLst>
          </p:cNvPr>
          <p:cNvSpPr/>
          <p:nvPr/>
        </p:nvSpPr>
        <p:spPr>
          <a:xfrm>
            <a:off x="4635500" y="32766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5E90D7-0E99-E7AB-FF2C-DCE92A616CC5}"/>
              </a:ext>
            </a:extLst>
          </p:cNvPr>
          <p:cNvSpPr txBox="1"/>
          <p:nvPr/>
        </p:nvSpPr>
        <p:spPr>
          <a:xfrm>
            <a:off x="5143500" y="33655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03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F8B735E5-0CDD-0318-85B4-0E7B41229ADF}"/>
              </a:ext>
            </a:extLst>
          </p:cNvPr>
          <p:cNvCxnSpPr/>
          <p:nvPr/>
        </p:nvCxnSpPr>
        <p:spPr>
          <a:xfrm>
            <a:off x="6172200" y="34290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7728011E-855F-058D-02A5-8A7D0BAD01D3}"/>
              </a:ext>
            </a:extLst>
          </p:cNvPr>
          <p:cNvSpPr txBox="1"/>
          <p:nvPr/>
        </p:nvSpPr>
        <p:spPr>
          <a:xfrm>
            <a:off x="6477000" y="33909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技术路线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EE9225-D5C1-BCAD-319F-C4DF4F7FB40C}"/>
              </a:ext>
            </a:extLst>
          </p:cNvPr>
          <p:cNvSpPr/>
          <p:nvPr/>
        </p:nvSpPr>
        <p:spPr>
          <a:xfrm>
            <a:off x="4635500" y="4203700"/>
            <a:ext cx="5842000" cy="7366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685D4C1-A520-D55E-21A2-3909815D3718}"/>
              </a:ext>
            </a:extLst>
          </p:cNvPr>
          <p:cNvSpPr txBox="1"/>
          <p:nvPr/>
        </p:nvSpPr>
        <p:spPr>
          <a:xfrm>
            <a:off x="5143500" y="42926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FFFFFF"/>
                </a:solidFill>
                <a:latin typeface="Microsoft YaHei" panose="020B0503020204020204" pitchFamily="34" charset="-122"/>
              </a:rPr>
              <a:t>04</a:t>
            </a:r>
            <a:endParaRPr lang="zh-CN" altLang="en-US" sz="27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A10C309-C267-DC59-18A2-42884AD58C71}"/>
              </a:ext>
            </a:extLst>
          </p:cNvPr>
          <p:cNvCxnSpPr/>
          <p:nvPr/>
        </p:nvCxnSpPr>
        <p:spPr>
          <a:xfrm>
            <a:off x="6172200" y="4356100"/>
            <a:ext cx="0" cy="4318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BA72101-77ED-1823-0904-E66FA67DF95B}"/>
              </a:ext>
            </a:extLst>
          </p:cNvPr>
          <p:cNvSpPr txBox="1"/>
          <p:nvPr/>
        </p:nvSpPr>
        <p:spPr>
          <a:xfrm>
            <a:off x="6477000" y="43180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实验与计划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50DAB00-5527-A0DC-B93C-CC1C488A973D}"/>
              </a:ext>
            </a:extLst>
          </p:cNvPr>
          <p:cNvSpPr/>
          <p:nvPr/>
        </p:nvSpPr>
        <p:spPr>
          <a:xfrm>
            <a:off x="4635500" y="5130800"/>
            <a:ext cx="5842000" cy="73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5B179EA-0C51-88D5-6B33-8225E0DE6F2F}"/>
              </a:ext>
            </a:extLst>
          </p:cNvPr>
          <p:cNvSpPr txBox="1"/>
          <p:nvPr/>
        </p:nvSpPr>
        <p:spPr>
          <a:xfrm>
            <a:off x="5143500" y="5219700"/>
            <a:ext cx="889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altLang="zh-CN" sz="2700" b="1">
                <a:solidFill>
                  <a:srgbClr val="BEBEBE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2700" b="1">
              <a:solidFill>
                <a:srgbClr val="BEBEBE"/>
              </a:solidFill>
              <a:latin typeface="Microsoft YaHei" panose="020B0503020204020204" pitchFamily="34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79B1966-9ED7-36D7-22BD-3AE15CCF3D3E}"/>
              </a:ext>
            </a:extLst>
          </p:cNvPr>
          <p:cNvCxnSpPr/>
          <p:nvPr/>
        </p:nvCxnSpPr>
        <p:spPr>
          <a:xfrm>
            <a:off x="6172200" y="5283200"/>
            <a:ext cx="0" cy="43180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8A018815-EEE2-6A9C-9542-55983E519B7B}"/>
              </a:ext>
            </a:extLst>
          </p:cNvPr>
          <p:cNvSpPr txBox="1"/>
          <p:nvPr/>
        </p:nvSpPr>
        <p:spPr>
          <a:xfrm>
            <a:off x="6477000" y="5245100"/>
            <a:ext cx="355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500" b="1">
                <a:solidFill>
                  <a:srgbClr val="BEBEBE"/>
                </a:solidFill>
                <a:latin typeface="Microsoft YaHei" panose="020B0503020204020204" pitchFamily="34" charset="-122"/>
              </a:rPr>
              <a:t>风险与总结</a:t>
            </a:r>
          </a:p>
        </p:txBody>
      </p:sp>
    </p:spTree>
    <p:extLst>
      <p:ext uri="{BB962C8B-B14F-4D97-AF65-F5344CB8AC3E}">
        <p14:creationId xmlns:p14="http://schemas.microsoft.com/office/powerpoint/2010/main" val="1625449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1AC14-4D81-0B48-547E-7159FB0D6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BAF1E447-5F42-9CE3-9E7C-27FABF3FC177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05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32F2B33-3392-C809-868B-8FB43F2C123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实验设计：三层证据链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B6A5B3-CED3-DCA7-7FB8-1F6288756E85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EC942C4-C4D1-9877-C285-DBBDD709716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实验设计先统一执行口径，再分别验证架构模块和平台能力。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3C4F1D-5E52-11E2-973A-28A8708C0A32}"/>
              </a:ext>
            </a:extLst>
          </p:cNvPr>
          <p:cNvSpPr/>
          <p:nvPr/>
        </p:nvSpPr>
        <p:spPr>
          <a:xfrm>
            <a:off x="825500" y="19685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第一层：基线对比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5B57AB-948A-AA86-B94A-4991088D9CAF}"/>
              </a:ext>
            </a:extLst>
          </p:cNvPr>
          <p:cNvSpPr/>
          <p:nvPr/>
        </p:nvSpPr>
        <p:spPr>
          <a:xfrm>
            <a:off x="825500" y="2425700"/>
            <a:ext cx="330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同一输入样本
同一状态记录
同一输出字段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BBCD64-694B-AE83-E3EB-BB5B09790E4F}"/>
              </a:ext>
            </a:extLst>
          </p:cNvPr>
          <p:cNvSpPr/>
          <p:nvPr/>
        </p:nvSpPr>
        <p:spPr>
          <a:xfrm>
            <a:off x="4445000" y="19685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第二层：模块消融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55E6DF-8B18-6B72-6030-CE0F5927CD7F}"/>
              </a:ext>
            </a:extLst>
          </p:cNvPr>
          <p:cNvSpPr/>
          <p:nvPr/>
        </p:nvSpPr>
        <p:spPr>
          <a:xfrm>
            <a:off x="4445000" y="2425700"/>
            <a:ext cx="330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无校验
无记忆
无编排 </a:t>
            </a:r>
            <a:r>
              <a:rPr lang="en-US" altLang="zh-CN" sz="1900">
                <a:solidFill>
                  <a:srgbClr val="08183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单专家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172774-B272-E13B-387C-4E4CB1D495DC}"/>
              </a:ext>
            </a:extLst>
          </p:cNvPr>
          <p:cNvSpPr/>
          <p:nvPr/>
        </p:nvSpPr>
        <p:spPr>
          <a:xfrm>
            <a:off x="8064500" y="1968500"/>
            <a:ext cx="3302000" cy="4318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 b="1">
                <a:solidFill>
                  <a:srgbClr val="FFFFFF"/>
                </a:solidFill>
                <a:latin typeface="Microsoft YaHei" panose="020B0503020204020204" pitchFamily="34" charset="-122"/>
              </a:rPr>
              <a:t>第三层：平台评测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3CD558D-E8AE-C9C2-98B1-5E09934DB3FA}"/>
              </a:ext>
            </a:extLst>
          </p:cNvPr>
          <p:cNvSpPr/>
          <p:nvPr/>
        </p:nvSpPr>
        <p:spPr>
          <a:xfrm>
            <a:off x="8064500" y="2425700"/>
            <a:ext cx="3302000" cy="18923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900">
                <a:solidFill>
                  <a:srgbClr val="081830"/>
                </a:solidFill>
                <a:latin typeface="Microsoft YaHei" panose="020B0503020204020204" pitchFamily="34" charset="-122"/>
              </a:rPr>
              <a:t>合同覆盖率
对比矩阵完整性
新模型接入成本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0981EB-E811-E2C3-116F-0007E75BF8E5}"/>
              </a:ext>
            </a:extLst>
          </p:cNvPr>
          <p:cNvSpPr/>
          <p:nvPr/>
        </p:nvSpPr>
        <p:spPr>
          <a:xfrm>
            <a:off x="1333500" y="5143500"/>
            <a:ext cx="9525000" cy="5842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100" b="1">
                <a:solidFill>
                  <a:srgbClr val="00285F"/>
                </a:solidFill>
                <a:latin typeface="Microsoft YaHei" panose="020B0503020204020204" pitchFamily="34" charset="-122"/>
              </a:rPr>
              <a:t>实验结论只针对指定协议成立，不写成候选架构的总体优越性声明。</a:t>
            </a:r>
          </a:p>
        </p:txBody>
      </p:sp>
    </p:spTree>
    <p:extLst>
      <p:ext uri="{BB962C8B-B14F-4D97-AF65-F5344CB8AC3E}">
        <p14:creationId xmlns:p14="http://schemas.microsoft.com/office/powerpoint/2010/main" val="827568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993F8-A2A5-B371-B6CC-C97E0D162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284BF616-090D-BA5B-20D4-639B4472D780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06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FEA574DC-E824-BEBE-8E95-9476D0FC3CF3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已完成工作：工程证据与边界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FB6C9F4-BFDE-4216-7BDD-D344AFB21618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3D6C1F-7B51-F5B1-6D45-15671FD3980E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已完成工作以工程证据为主，现阶段不把实测耗时解释为模型质量排序。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66D5E2-BEC6-DBA5-8771-D472A27F09BB}"/>
              </a:ext>
            </a:extLst>
          </p:cNvPr>
          <p:cNvSpPr/>
          <p:nvPr/>
        </p:nvSpPr>
        <p:spPr>
          <a:xfrm>
            <a:off x="762000" y="1841500"/>
            <a:ext cx="3238500" cy="381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支柱 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A</a:t>
            </a:r>
            <a:endParaRPr lang="zh-CN" altLang="en-US" sz="20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F13EF2-B891-CC70-1172-5574B8886D30}"/>
              </a:ext>
            </a:extLst>
          </p:cNvPr>
          <p:cNvSpPr/>
          <p:nvPr/>
        </p:nvSpPr>
        <p:spPr>
          <a:xfrm>
            <a:off x="762000" y="22733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架构设计文档已形成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E7C31E-CF4E-CBC5-E0E1-3C7DC76892C9}"/>
              </a:ext>
            </a:extLst>
          </p:cNvPr>
          <p:cNvSpPr/>
          <p:nvPr/>
        </p:nvSpPr>
        <p:spPr>
          <a:xfrm>
            <a:off x="762000" y="28829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实现里程碑 </a:t>
            </a:r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1-18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已完成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368DBA7-C9D0-40AB-540B-05A8EEDE06ED}"/>
              </a:ext>
            </a:extLst>
          </p:cNvPr>
          <p:cNvSpPr/>
          <p:nvPr/>
        </p:nvSpPr>
        <p:spPr>
          <a:xfrm>
            <a:off x="762000" y="3492500"/>
            <a:ext cx="32385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r>
              <a:rPr lang="en-US" altLang="zh-CN" sz="1500">
                <a:solidFill>
                  <a:srgbClr val="081830"/>
                </a:solidFill>
                <a:latin typeface="Microsoft YaHei" panose="020B0503020204020204" pitchFamily="34" charset="-122"/>
              </a:rPr>
              <a:t>KITTI </a:t>
            </a:r>
            <a:r>
              <a:rPr lang="zh-CN" altLang="en-US" sz="1500">
                <a:solidFill>
                  <a:srgbClr val="081830"/>
                </a:solidFill>
                <a:latin typeface="Microsoft YaHei" panose="020B0503020204020204" pitchFamily="34" charset="-122"/>
              </a:rPr>
              <a:t>集成证据已记录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1224D3-5F43-80EE-062E-AAA1D530CB8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11" y="1714500"/>
            <a:ext cx="6316579" cy="3429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73CBFE-08E0-1EC6-02DA-9A266F49EE1D}"/>
              </a:ext>
            </a:extLst>
          </p:cNvPr>
          <p:cNvSpPr/>
          <p:nvPr/>
        </p:nvSpPr>
        <p:spPr>
          <a:xfrm>
            <a:off x="889000" y="5524500"/>
            <a:ext cx="10414000" cy="4826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平台侧：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7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个模型注册，</a:t>
            </a:r>
            <a:r>
              <a:rPr lang="en-US" altLang="zh-CN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6 </a:t>
            </a:r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个完成端到端验证；跨模型耗时用于说明统一调度的必要性。</a:t>
            </a:r>
          </a:p>
        </p:txBody>
      </p:sp>
    </p:spTree>
    <p:extLst>
      <p:ext uri="{BB962C8B-B14F-4D97-AF65-F5344CB8AC3E}">
        <p14:creationId xmlns:p14="http://schemas.microsoft.com/office/powerpoint/2010/main" val="260085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95727-EB63-8B05-C0BA-FC16CEA96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746D9152-48D3-E0A8-3FF3-2116404376ED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03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F154AD5-A70A-1962-3AC7-43543A030B62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后续计划：阶段交付与时间线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任意多边形: 形状 93">
            <a:extLst>
              <a:ext uri="{FF2B5EF4-FFF2-40B4-BE49-F238E27FC236}">
                <a16:creationId xmlns:a16="http://schemas.microsoft.com/office/drawing/2014/main" id="{AF1BF063-7278-CF65-8ADD-CE545C77BE17}"/>
              </a:ext>
            </a:extLst>
          </p:cNvPr>
          <p:cNvSpPr/>
          <p:nvPr/>
        </p:nvSpPr>
        <p:spPr>
          <a:xfrm rot="5400000">
            <a:off x="5590187" y="-4418609"/>
            <a:ext cx="1011626" cy="12192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outerShdw blurRad="152400" dist="190500" dir="13500000" algn="ctr" rotWithShape="0">
              <a:sysClr val="window" lastClr="FFFFFF">
                <a:alpha val="29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74AAA4-17E8-C688-95A6-47ADC99F57E9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12F680-57E1-0E49-DEC0-5D9B5816D5F2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后续计划围绕“基线补齐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模块消融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长序列评测</a:t>
            </a:r>
            <a:r>
              <a:rPr lang="en-US" altLang="zh-CN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论文固化”推进。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14389D-6506-00EF-7B87-FBD68B1F9EB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868" y="1651000"/>
            <a:ext cx="7720263" cy="41910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A6DAD9E7-0333-DC9A-9ED0-3B82B9674A44}"/>
              </a:ext>
            </a:extLst>
          </p:cNvPr>
          <p:cNvSpPr/>
          <p:nvPr/>
        </p:nvSpPr>
        <p:spPr>
          <a:xfrm>
            <a:off x="1206500" y="5905500"/>
            <a:ext cx="9779000" cy="431800"/>
          </a:xfrm>
          <a:prstGeom prst="rect">
            <a:avLst/>
          </a:prstGeom>
          <a:solidFill>
            <a:srgbClr val="E8F2FB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700" b="1">
                <a:solidFill>
                  <a:srgbClr val="00285F"/>
                </a:solidFill>
                <a:latin typeface="Microsoft YaHei" panose="020B0503020204020204" pitchFamily="34" charset="-122"/>
              </a:rPr>
              <a:t>阶段交付物：基线记录、消融结果、平台对比视图、论文与系统说明。</a:t>
            </a:r>
          </a:p>
        </p:txBody>
      </p:sp>
    </p:spTree>
    <p:extLst>
      <p:ext uri="{BB962C8B-B14F-4D97-AF65-F5344CB8AC3E}">
        <p14:creationId xmlns:p14="http://schemas.microsoft.com/office/powerpoint/2010/main" val="31014242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C1C7-72C6-1029-14A1-14DA5782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文本框 89">
            <a:extLst>
              <a:ext uri="{FF2B5EF4-FFF2-40B4-BE49-F238E27FC236}">
                <a16:creationId xmlns:a16="http://schemas.microsoft.com/office/drawing/2014/main" id="{92C25290-25CA-9409-7329-785426950541}"/>
              </a:ext>
            </a:extLst>
          </p:cNvPr>
          <p:cNvSpPr txBox="1"/>
          <p:nvPr/>
        </p:nvSpPr>
        <p:spPr>
          <a:xfrm>
            <a:off x="115452" y="243436"/>
            <a:ext cx="7729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</a:rPr>
              <a:t>02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16D3D87-A82F-7CBB-9ECA-5489B69CC28D}"/>
              </a:ext>
            </a:extLst>
          </p:cNvPr>
          <p:cNvSpPr txBox="1"/>
          <p:nvPr/>
        </p:nvSpPr>
        <p:spPr>
          <a:xfrm>
            <a:off x="946460" y="269201"/>
            <a:ext cx="7626039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100" b="1">
                <a:solidFill>
                  <a:srgbClr val="00285F"/>
                </a:solidFill>
                <a:latin typeface="Microsoft YaHei" panose="020B0503020204020204" pitchFamily="34" charset="-122"/>
              </a:rPr>
              <a:t>风险控制：待验证项与应对</a:t>
            </a:r>
            <a:endParaRPr lang="zh-CN" altLang="en-US" sz="3100" b="1" dirty="0">
              <a:solidFill>
                <a:srgbClr val="00285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5CF3879-6012-7E5B-2168-8D6DB7EE507A}"/>
              </a:ext>
            </a:extLst>
          </p:cNvPr>
          <p:cNvSpPr/>
          <p:nvPr/>
        </p:nvSpPr>
        <p:spPr>
          <a:xfrm>
            <a:off x="0" y="1651000"/>
            <a:ext cx="12192000" cy="520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4223F26-75F0-F24F-F0A1-7C7714F3CE2C}"/>
              </a:ext>
            </a:extLst>
          </p:cNvPr>
          <p:cNvSpPr/>
          <p:nvPr/>
        </p:nvSpPr>
        <p:spPr>
          <a:xfrm>
            <a:off x="431800" y="1168400"/>
            <a:ext cx="11303000" cy="508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开题阶段的主要风险均未被完全消除，后续通过分阶段实验缩小不确定性。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DB9ED28-17EA-E922-255D-EF9049466118}"/>
              </a:ext>
            </a:extLst>
          </p:cNvPr>
          <p:cNvSpPr/>
          <p:nvPr/>
        </p:nvSpPr>
        <p:spPr>
          <a:xfrm>
            <a:off x="825500" y="20320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标定风险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C070429-723B-998D-D51B-930323271381}"/>
              </a:ext>
            </a:extLst>
          </p:cNvPr>
          <p:cNvSpPr/>
          <p:nvPr/>
        </p:nvSpPr>
        <p:spPr>
          <a:xfrm>
            <a:off x="2603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阈值未经真实数据充分标定
保留监督与分位数两类方案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CE7870F-023A-ED80-DFDF-FD588D4AFC86}"/>
              </a:ext>
            </a:extLst>
          </p:cNvPr>
          <p:cNvSpPr/>
          <p:nvPr/>
        </p:nvSpPr>
        <p:spPr>
          <a:xfrm>
            <a:off x="6286500" y="20320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消融风险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030B3C7-CC1D-9A92-B2FA-E6784A6054A4}"/>
              </a:ext>
            </a:extLst>
          </p:cNvPr>
          <p:cNvSpPr/>
          <p:nvPr/>
        </p:nvSpPr>
        <p:spPr>
          <a:xfrm>
            <a:off x="8064500" y="20320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模块贡献可能不稳定
设置退化版本与强基线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643CC34-B5A3-393D-B1CB-A12B4662BCF4}"/>
              </a:ext>
            </a:extLst>
          </p:cNvPr>
          <p:cNvSpPr/>
          <p:nvPr/>
        </p:nvSpPr>
        <p:spPr>
          <a:xfrm>
            <a:off x="825500" y="36195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工程风险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C5F33FE-4F23-B15A-E1C4-417F8E5DCD0B}"/>
              </a:ext>
            </a:extLst>
          </p:cNvPr>
          <p:cNvSpPr/>
          <p:nvPr/>
        </p:nvSpPr>
        <p:spPr>
          <a:xfrm>
            <a:off x="2603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模型权重与环境依赖受限
保留离线执行与回归验证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BB9D01D-6AC2-442B-FA07-7AFDD9AA37BF}"/>
              </a:ext>
            </a:extLst>
          </p:cNvPr>
          <p:cNvSpPr/>
          <p:nvPr/>
        </p:nvSpPr>
        <p:spPr>
          <a:xfrm>
            <a:off x="6286500" y="3619500"/>
            <a:ext cx="1651000" cy="889000"/>
          </a:xfrm>
          <a:prstGeom prst="rect">
            <a:avLst/>
          </a:prstGeom>
          <a:solidFill>
            <a:srgbClr val="00468E"/>
          </a:solidFill>
          <a:ln w="12700">
            <a:solidFill>
              <a:srgbClr val="00468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</a:rPr>
              <a:t>结论边界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D191340-ED6C-8B16-2B11-E6F50A4BFB47}"/>
              </a:ext>
            </a:extLst>
          </p:cNvPr>
          <p:cNvSpPr/>
          <p:nvPr/>
        </p:nvSpPr>
        <p:spPr>
          <a:xfrm>
            <a:off x="8064500" y="3619500"/>
            <a:ext cx="33655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67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计划不写成结果
所有 </a:t>
            </a:r>
            <a:r>
              <a:rPr lang="en-US" altLang="zh-CN" sz="1600">
                <a:solidFill>
                  <a:srgbClr val="081830"/>
                </a:solidFill>
                <a:latin typeface="Microsoft YaHei" panose="020B0503020204020204" pitchFamily="34" charset="-122"/>
              </a:rPr>
              <a:t>claim </a:t>
            </a:r>
            <a:r>
              <a:rPr lang="zh-CN" altLang="en-US" sz="1600">
                <a:solidFill>
                  <a:srgbClr val="081830"/>
                </a:solidFill>
                <a:latin typeface="Microsoft YaHei" panose="020B0503020204020204" pitchFamily="34" charset="-122"/>
              </a:rPr>
              <a:t>绑定实验协议</a:t>
            </a:r>
          </a:p>
        </p:txBody>
      </p:sp>
    </p:spTree>
    <p:extLst>
      <p:ext uri="{BB962C8B-B14F-4D97-AF65-F5344CB8AC3E}">
        <p14:creationId xmlns:p14="http://schemas.microsoft.com/office/powerpoint/2010/main" val="701753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48A6D-C6EE-964D-6C1A-BE3EC5A39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蓝色的火车在站台旁&#10;&#10;描述已自动生成">
            <a:extLst>
              <a:ext uri="{FF2B5EF4-FFF2-40B4-BE49-F238E27FC236}">
                <a16:creationId xmlns:a16="http://schemas.microsoft.com/office/drawing/2014/main" id="{47CB2ABF-6C6A-A145-CBD3-5D4863BE40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" b="33391"/>
          <a:stretch/>
        </p:blipFill>
        <p:spPr>
          <a:xfrm>
            <a:off x="567" y="1099270"/>
            <a:ext cx="12190866" cy="406021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DAA6598-060B-09AF-69C5-C131F0EE830A}"/>
              </a:ext>
            </a:extLst>
          </p:cNvPr>
          <p:cNvSpPr/>
          <p:nvPr/>
        </p:nvSpPr>
        <p:spPr>
          <a:xfrm>
            <a:off x="9859" y="-1"/>
            <a:ext cx="12191999" cy="5159483"/>
          </a:xfrm>
          <a:prstGeom prst="rect">
            <a:avLst/>
          </a:prstGeom>
          <a:gradFill flip="none" rotWithShape="1">
            <a:gsLst>
              <a:gs pos="49000">
                <a:schemeClr val="bg1"/>
              </a:gs>
              <a:gs pos="100000">
                <a:schemeClr val="accent3">
                  <a:alpha val="2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defRPr/>
            </a:pPr>
            <a:endParaRPr lang="zh-CN" altLang="en-US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B7BF0E7-40A8-7FA0-2CDB-5543790FC811}"/>
              </a:ext>
            </a:extLst>
          </p:cNvPr>
          <p:cNvGrpSpPr/>
          <p:nvPr/>
        </p:nvGrpSpPr>
        <p:grpSpPr>
          <a:xfrm>
            <a:off x="9859" y="1239674"/>
            <a:ext cx="12172282" cy="2928257"/>
            <a:chOff x="442611" y="2016251"/>
            <a:chExt cx="10694619" cy="2228850"/>
          </a:xfrm>
          <a:gradFill>
            <a:gsLst>
              <a:gs pos="0">
                <a:schemeClr val="bg1">
                  <a:alpha val="0"/>
                </a:schemeClr>
              </a:gs>
              <a:gs pos="50000">
                <a:schemeClr val="bg1">
                  <a:lumMod val="9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F970E494-61EE-587D-4574-8858E921DFBB}"/>
                </a:ext>
              </a:extLst>
            </p:cNvPr>
            <p:cNvGrpSpPr/>
            <p:nvPr/>
          </p:nvGrpSpPr>
          <p:grpSpPr>
            <a:xfrm>
              <a:off x="442611" y="2016251"/>
              <a:ext cx="10694619" cy="2228849"/>
              <a:chOff x="442611" y="2016251"/>
              <a:chExt cx="10694619" cy="2228849"/>
            </a:xfrm>
            <a:grpFill/>
          </p:grpSpPr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88A2BA-CB61-B07D-37EF-4D0FB144C24D}"/>
                  </a:ext>
                </a:extLst>
              </p:cNvPr>
              <p:cNvSpPr/>
              <p:nvPr/>
            </p:nvSpPr>
            <p:spPr>
              <a:xfrm>
                <a:off x="442611" y="2016251"/>
                <a:ext cx="10694619" cy="2228849"/>
              </a:xfrm>
              <a:prstGeom prst="rect">
                <a:avLst/>
              </a:prstGeom>
              <a:grpFill/>
              <a:ln w="9525">
                <a:noFill/>
              </a:ln>
              <a:effectLst>
                <a:outerShdw blurRad="190500" dist="38100" dir="5400000" algn="t" rotWithShape="0">
                  <a:schemeClr val="bg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50000"/>
                  </a:lnSpc>
                  <a:defRPr/>
                </a:pPr>
                <a:endParaRPr lang="zh-CN" altLang="en-US" sz="1200" b="1" dirty="0">
                  <a:solidFill>
                    <a:srgbClr val="03654E"/>
                  </a:solidFill>
                </a:endParaRPr>
              </a:p>
            </p:txBody>
          </p:sp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158E00CD-2609-D798-C0FA-987A012BEC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49461" y="2016251"/>
                <a:ext cx="8093075" cy="0"/>
              </a:xfrm>
              <a:prstGeom prst="line">
                <a:avLst/>
              </a:prstGeom>
              <a:grpFill/>
              <a:ln w="12700">
                <a:gradFill flip="none" rotWithShape="1">
                  <a:gsLst>
                    <a:gs pos="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  <a:effectLst>
                <a:outerShdw blurRad="50800" dist="38100" dir="7200000" algn="t" rotWithShape="0">
                  <a:schemeClr val="bg1">
                    <a:lumMod val="65000"/>
                    <a:alpha val="42000"/>
                  </a:scheme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A5C04A5-7A49-3B7C-BC7F-3E42593659C0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4245101"/>
              <a:ext cx="8093075" cy="0"/>
            </a:xfrm>
            <a:prstGeom prst="line">
              <a:avLst/>
            </a:prstGeom>
            <a:grpFill/>
            <a:ln w="12700">
              <a:gradFill flip="none" rotWithShape="1">
                <a:gsLst>
                  <a:gs pos="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  <a:effectLst>
              <a:outerShdw blurRad="50800" dist="38100" dir="7200000" algn="t" rotWithShape="0">
                <a:schemeClr val="bg1">
                  <a:lumMod val="85000"/>
                  <a:alpha val="42000"/>
                </a:scheme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88CC83B-3930-EC30-7D36-3B736667F610}"/>
              </a:ext>
            </a:extLst>
          </p:cNvPr>
          <p:cNvSpPr txBox="1"/>
          <p:nvPr/>
        </p:nvSpPr>
        <p:spPr>
          <a:xfrm>
            <a:off x="0" y="1366919"/>
            <a:ext cx="12192000" cy="13463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500"/>
              </a:lnSpc>
              <a:defRPr/>
            </a:pPr>
            <a:endParaRPr lang="zh-CN" altLang="en-US" sz="80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D3FB004-3B93-3E9F-C7A6-53529A5C2DC6}"/>
              </a:ext>
            </a:extLst>
          </p:cNvPr>
          <p:cNvSpPr/>
          <p:nvPr/>
        </p:nvSpPr>
        <p:spPr>
          <a:xfrm>
            <a:off x="2614943" y="-5733"/>
            <a:ext cx="6962115" cy="493598"/>
          </a:xfrm>
          <a:custGeom>
            <a:avLst/>
            <a:gdLst>
              <a:gd name="connsiteX0" fmla="*/ 0 w 8717654"/>
              <a:gd name="connsiteY0" fmla="*/ 0 h 562725"/>
              <a:gd name="connsiteX1" fmla="*/ 1155700 w 8717654"/>
              <a:gd name="connsiteY1" fmla="*/ 0 h 562725"/>
              <a:gd name="connsiteX2" fmla="*/ 7561954 w 8717654"/>
              <a:gd name="connsiteY2" fmla="*/ 0 h 562725"/>
              <a:gd name="connsiteX3" fmla="*/ 8717654 w 8717654"/>
              <a:gd name="connsiteY3" fmla="*/ 0 h 562725"/>
              <a:gd name="connsiteX4" fmla="*/ 8717381 w 8717654"/>
              <a:gd name="connsiteY4" fmla="*/ 1022 h 562725"/>
              <a:gd name="connsiteX5" fmla="*/ 8441286 w 8717654"/>
              <a:gd name="connsiteY5" fmla="*/ 521969 h 562725"/>
              <a:gd name="connsiteX6" fmla="*/ 8383695 w 8717654"/>
              <a:gd name="connsiteY6" fmla="*/ 562725 h 562725"/>
              <a:gd name="connsiteX7" fmla="*/ 7227995 w 8717654"/>
              <a:gd name="connsiteY7" fmla="*/ 562725 h 562725"/>
              <a:gd name="connsiteX8" fmla="*/ 1489659 w 8717654"/>
              <a:gd name="connsiteY8" fmla="*/ 562725 h 562725"/>
              <a:gd name="connsiteX9" fmla="*/ 333959 w 8717654"/>
              <a:gd name="connsiteY9" fmla="*/ 562725 h 562725"/>
              <a:gd name="connsiteX10" fmla="*/ 276368 w 8717654"/>
              <a:gd name="connsiteY10" fmla="*/ 521969 h 562725"/>
              <a:gd name="connsiteX11" fmla="*/ 273 w 8717654"/>
              <a:gd name="connsiteY11" fmla="*/ 1022 h 56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717654" h="562725">
                <a:moveTo>
                  <a:pt x="0" y="0"/>
                </a:moveTo>
                <a:lnTo>
                  <a:pt x="1155700" y="0"/>
                </a:lnTo>
                <a:lnTo>
                  <a:pt x="7561954" y="0"/>
                </a:lnTo>
                <a:lnTo>
                  <a:pt x="8717654" y="0"/>
                </a:lnTo>
                <a:lnTo>
                  <a:pt x="8717381" y="1022"/>
                </a:lnTo>
                <a:lnTo>
                  <a:pt x="8441286" y="521969"/>
                </a:lnTo>
                <a:cubicBezTo>
                  <a:pt x="8427678" y="547645"/>
                  <a:pt x="8406370" y="562725"/>
                  <a:pt x="8383695" y="562725"/>
                </a:cubicBezTo>
                <a:lnTo>
                  <a:pt x="7227995" y="562725"/>
                </a:lnTo>
                <a:lnTo>
                  <a:pt x="1489659" y="562725"/>
                </a:lnTo>
                <a:lnTo>
                  <a:pt x="333959" y="562725"/>
                </a:lnTo>
                <a:cubicBezTo>
                  <a:pt x="311285" y="562725"/>
                  <a:pt x="289976" y="547645"/>
                  <a:pt x="276368" y="521969"/>
                </a:cubicBezTo>
                <a:lnTo>
                  <a:pt x="273" y="1022"/>
                </a:lnTo>
                <a:close/>
              </a:path>
            </a:pathLst>
          </a:cu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C56A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903C5D8-B02C-615F-5E7C-1D735477DD28}"/>
              </a:ext>
            </a:extLst>
          </p:cNvPr>
          <p:cNvSpPr txBox="1"/>
          <p:nvPr/>
        </p:nvSpPr>
        <p:spPr>
          <a:xfrm>
            <a:off x="6003634" y="10234"/>
            <a:ext cx="18473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82FF6B3-E791-92AE-46CC-5FB429465CB0}"/>
              </a:ext>
            </a:extLst>
          </p:cNvPr>
          <p:cNvSpPr/>
          <p:nvPr/>
        </p:nvSpPr>
        <p:spPr>
          <a:xfrm>
            <a:off x="0" y="6632574"/>
            <a:ext cx="12192000" cy="234477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1D367E-5A65-765A-1030-4F35EAF598CC}"/>
              </a:ext>
            </a:extLst>
          </p:cNvPr>
          <p:cNvSpPr/>
          <p:nvPr/>
        </p:nvSpPr>
        <p:spPr>
          <a:xfrm>
            <a:off x="1143000" y="2349500"/>
            <a:ext cx="9906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sz="3400" b="1">
                <a:solidFill>
                  <a:srgbClr val="00468E"/>
                </a:solidFill>
                <a:latin typeface="Microsoft YaHei" panose="020B0503020204020204" pitchFamily="34" charset="-122"/>
              </a:rPr>
              <a:t>总结与致谢
敬请批评指正！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403F02-896F-65C1-5827-E06E6AC7A44A}"/>
              </a:ext>
            </a:extLst>
          </p:cNvPr>
          <p:cNvSpPr/>
          <p:nvPr/>
        </p:nvSpPr>
        <p:spPr>
          <a:xfrm>
            <a:off x="2159000" y="3937000"/>
            <a:ext cx="787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76200" rIns="101600" bIns="50800" rtlCol="0" anchor="ctr"/>
          <a:lstStyle/>
          <a:p>
            <a:pPr algn="ctr"/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本研究以候选架构 </a:t>
            </a:r>
            <a:r>
              <a:rPr lang="en-US" altLang="zh-CN" b="1">
                <a:solidFill>
                  <a:srgbClr val="081830"/>
                </a:solidFill>
                <a:latin typeface="Microsoft YaHei" panose="020B0503020204020204" pitchFamily="34" charset="-122"/>
              </a:rPr>
              <a:t>X </a:t>
            </a:r>
            <a:r>
              <a:rPr lang="zh-CN" altLang="en-US" b="1">
                <a:solidFill>
                  <a:srgbClr val="081830"/>
                </a:solidFill>
                <a:latin typeface="Microsoft YaHei" panose="020B0503020204020204" pitchFamily="34" charset="-122"/>
              </a:rPr>
              <a:t>与聚合管理平台为两大支柱，面向前馈式三维重建提供可对照、可复用的研究框架。</a:t>
            </a:r>
          </a:p>
        </p:txBody>
      </p:sp>
    </p:spTree>
    <p:extLst>
      <p:ext uri="{BB962C8B-B14F-4D97-AF65-F5344CB8AC3E}">
        <p14:creationId xmlns:p14="http://schemas.microsoft.com/office/powerpoint/2010/main" val="264220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1642</Words>
  <Application>Microsoft Office PowerPoint</Application>
  <PresentationFormat>宽屏</PresentationFormat>
  <Paragraphs>255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9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Xe L</dc:creator>
  <cp:lastModifiedBy>Xe L</cp:lastModifiedBy>
  <cp:revision>1</cp:revision>
  <dcterms:created xsi:type="dcterms:W3CDTF">2026-05-17T17:23:38Z</dcterms:created>
  <dcterms:modified xsi:type="dcterms:W3CDTF">2026-05-17T17:23:38Z</dcterms:modified>
</cp:coreProperties>
</file>