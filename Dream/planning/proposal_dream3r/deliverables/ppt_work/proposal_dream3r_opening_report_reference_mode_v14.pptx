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3" r:id="rId2"/>
    <p:sldId id="258" r:id="rId3"/>
    <p:sldId id="327" r:id="rId4"/>
    <p:sldId id="281" r:id="rId5"/>
    <p:sldId id="307" r:id="rId6"/>
    <p:sldId id="328" r:id="rId7"/>
    <p:sldId id="298" r:id="rId8"/>
    <p:sldId id="329" r:id="rId9"/>
    <p:sldId id="330" r:id="rId10"/>
    <p:sldId id="331" r:id="rId11"/>
    <p:sldId id="332" r:id="rId12"/>
    <p:sldId id="333" r:id="rId13"/>
    <p:sldId id="334" r:id="rId14"/>
    <p:sldId id="335" r:id="rId15"/>
    <p:sldId id="336" r:id="rId16"/>
    <p:sldId id="323" r:id="rId17"/>
    <p:sldId id="337" r:id="rId18"/>
    <p:sldId id="338" r:id="rId19"/>
    <p:sldId id="339" r:id="rId20"/>
    <p:sldId id="340" r:id="rId21"/>
    <p:sldId id="341" r:id="rId22"/>
    <p:sldId id="269" r:id="rId23"/>
    <p:sldId id="342" r:id="rId24"/>
    <p:sldId id="294" r:id="rId2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96" y="1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5CDD3FE-3DEE-1A7A-725F-F856302D41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C0152890-7597-FEFA-0CB1-ED56ED0FEB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A812F17-3921-4F3D-34C3-65DF5CB716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A8B1D1-ADE9-459B-86F6-232701BF8A44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48E1181-29A3-8D25-B899-D0C1501F62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20B00F8-2E9A-826B-FF00-C588215483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9F6405-EAF0-43EB-AE0A-2F7D561FB12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769329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90C98D1-4CA2-E75B-A3A7-AA381699B0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9C5A271-23CC-A13A-311F-05F62A3170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BCD62B4-4D82-DF8C-61D3-A094E8C461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A8B1D1-ADE9-459B-86F6-232701BF8A44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B310B3C-3187-DC5E-0C75-327CDDAB72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02E47DF-875A-2CA0-5835-18EAE051D1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9F6405-EAF0-43EB-AE0A-2F7D561FB12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591549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CF55082-D9B6-984D-F629-2AA6F344F5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E9F645D-2E2C-BB5F-D559-F9011FB382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BA2AD02-C24F-D12E-10FB-A8DEC11442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A8B1D1-ADE9-459B-86F6-232701BF8A44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EB28B06-E3E4-A18F-4EA0-AD90A6ECCC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D32BF1C-D2EA-F882-54B8-BD9961C067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9F6405-EAF0-43EB-AE0A-2F7D561FB12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03000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8FDD228-A198-AC49-5E9E-EC5A307732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310014F-0D05-08E9-64CF-E7981A7E145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D2D188F-3463-3C9C-28E2-88DCBC8902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AAE4F7F-3EFA-EF23-42D6-1210C79B8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A8B1D1-ADE9-459B-86F6-232701BF8A44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ED3B651-3AE5-1173-4A13-966B36754F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D7BA835-6007-B725-9C84-752B68E308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9F6405-EAF0-43EB-AE0A-2F7D561FB12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34999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85073AE-E905-01AF-F5AB-DA3F8590E3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4A2DBA9-2D1B-51E7-EB94-7852413953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A5B3CB3-987A-66F1-0D4C-BAB90B046F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9EC34B2E-5A67-9262-3902-09F29B5E831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C37DDE10-62EB-88EB-C6E8-1FEC3CA0F58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4501A053-043E-01C6-ECF0-F3D8B1F0AC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A8B1D1-ADE9-459B-86F6-232701BF8A44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D05ACB7F-C070-2607-3928-127131564C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56954272-CC55-36EC-91B4-64E53D7DC7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9F6405-EAF0-43EB-AE0A-2F7D561FB12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02212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9318A06-06EA-E7E5-6A66-83D67F7FF9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A5A91EDB-6588-0F71-4402-6585E5CAF8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A8B1D1-ADE9-459B-86F6-232701BF8A44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CE8CF227-561C-9AFA-9783-00FEDA412C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64C43A7-0000-F035-E5B8-9A09956036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9F6405-EAF0-43EB-AE0A-2F7D561FB12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117211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A58EB783-44F7-D879-CE8D-692D28119B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A8B1D1-ADE9-459B-86F6-232701BF8A44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A38A821C-970E-2619-2600-F7EB7F64CA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576388E-C932-B19A-C00A-EF269B63A9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9F6405-EAF0-43EB-AE0A-2F7D561FB12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764422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284A85E-A823-EE9B-E863-19EE129470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C103191-08F5-06EB-BD7E-0EE4C92483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57F35E2-E958-C334-1643-021EACC5C4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77E3CA2-953E-2B90-3661-571BE04D74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A8B1D1-ADE9-459B-86F6-232701BF8A44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E1DFF19-2243-6218-3D46-935C5E5B88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883C3D2-2E7E-E292-42AD-CAD606645A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9F6405-EAF0-43EB-AE0A-2F7D561FB12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52941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1B75AE8-3C84-4FB9-75D3-9EFF25039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6B13419C-1E4E-F891-104C-83D661CF374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82D49D0-C648-5954-1D27-9F124E2EBF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18B2AD8-6AE2-25D4-8B49-BC60A0ED05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A8B1D1-ADE9-459B-86F6-232701BF8A44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800B261-63C0-9F42-8F21-08192F82D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815D55C-2910-E8D8-4F00-0593532727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9F6405-EAF0-43EB-AE0A-2F7D561FB12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116222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0EFC496-6813-75A0-FACD-EE9615822B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0420A83-19E1-2A32-37EE-C3C6B48170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90CDD57-98AE-09E7-D94C-69253F392F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A8B1D1-ADE9-459B-86F6-232701BF8A44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E86F820-AF3B-F363-0F8E-5459B457AC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3BC5110-614C-D9F1-E2A8-EF0C5A2C64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9F6405-EAF0-43EB-AE0A-2F7D561FB12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137219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CC67F685-25A4-A05D-C9FE-68D6AC71CD4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4B25C29-B1DD-2519-D70D-DA71454F4A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FF7F478-0386-EB42-63A7-D98473F7C0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A8B1D1-ADE9-459B-86F6-232701BF8A44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8048E81-BE35-1E0D-5CD6-BF02157D97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82F7F2F-1DFC-A6B9-5E97-43090D887D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9F6405-EAF0-43EB-AE0A-2F7D561FB12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4934902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86887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6E983AFD-889E-8C3D-BAC2-C3D5A4985A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C8E95B6-5B5F-B040-3BEB-41D6BE0C9F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0D17372-8AE5-CFF9-0D6F-06B00EC33B5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A8B1D1-ADE9-459B-86F6-232701BF8A44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99C5A5D-8E4B-2E5A-1A2F-6B0DCCA4D7A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1E37FEE-5B62-B21D-5B1C-B01DBF09C4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9F6405-EAF0-43EB-AE0A-2F7D561FB12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14175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jp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A3C712-3CEF-6C6F-815D-BF40CE6AB0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 descr="蓝色的火车在站台旁&#10;&#10;描述已自动生成">
            <a:extLst>
              <a:ext uri="{FF2B5EF4-FFF2-40B4-BE49-F238E27FC236}">
                <a16:creationId xmlns:a16="http://schemas.microsoft.com/office/drawing/2014/main" id="{DC642186-E975-96D8-8408-C4456DEE3F53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1" b="33391"/>
          <a:stretch/>
        </p:blipFill>
        <p:spPr>
          <a:xfrm>
            <a:off x="567" y="1099270"/>
            <a:ext cx="12190866" cy="4060213"/>
          </a:xfrm>
          <a:prstGeom prst="rect">
            <a:avLst/>
          </a:prstGeom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1C9DA934-52C4-4CB2-4D02-075830AA3AF2}"/>
              </a:ext>
            </a:extLst>
          </p:cNvPr>
          <p:cNvSpPr/>
          <p:nvPr/>
        </p:nvSpPr>
        <p:spPr>
          <a:xfrm>
            <a:off x="9859" y="-1"/>
            <a:ext cx="12191999" cy="5159483"/>
          </a:xfrm>
          <a:prstGeom prst="rect">
            <a:avLst/>
          </a:prstGeom>
          <a:gradFill flip="none" rotWithShape="1">
            <a:gsLst>
              <a:gs pos="49000">
                <a:schemeClr val="bg1"/>
              </a:gs>
              <a:gs pos="100000">
                <a:schemeClr val="accent3">
                  <a:alpha val="2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>
              <a:defRPr/>
            </a:pPr>
            <a:endParaRPr lang="zh-CN" altLang="en-US" b="1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F08D48A3-B931-466F-18C0-A1C304D1FEF8}"/>
              </a:ext>
            </a:extLst>
          </p:cNvPr>
          <p:cNvSpPr txBox="1"/>
          <p:nvPr/>
        </p:nvSpPr>
        <p:spPr>
          <a:xfrm>
            <a:off x="685800" y="1366919"/>
            <a:ext cx="10835640" cy="25769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500"/>
              </a:lnSpc>
              <a:defRPr/>
            </a:pPr>
            <a:r>
              <a:rPr lang="zh-CN" altLang="en-US" sz="4200" b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面向前馈式三维重建的
新型架构设计与聚合管理平台</a:t>
            </a:r>
            <a:endParaRPr lang="zh-CN" altLang="en-US" sz="42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4B2EA678-3420-5C54-B4C3-C8CAD209A7CE}"/>
              </a:ext>
            </a:extLst>
          </p:cNvPr>
          <p:cNvSpPr/>
          <p:nvPr/>
        </p:nvSpPr>
        <p:spPr>
          <a:xfrm>
            <a:off x="4839038" y="4461335"/>
            <a:ext cx="2768614" cy="58477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175" cap="flat" cmpd="sng" algn="ctr">
            <a:solidFill>
              <a:schemeClr val="accent1"/>
            </a:solidFill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36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DA1E6CA0-D601-DDA2-0D66-6669E5F33476}"/>
              </a:ext>
            </a:extLst>
          </p:cNvPr>
          <p:cNvSpPr/>
          <p:nvPr/>
        </p:nvSpPr>
        <p:spPr>
          <a:xfrm>
            <a:off x="3768924" y="4454012"/>
            <a:ext cx="1685122" cy="58477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3175" cap="flat" cmpd="sng" algn="ctr">
            <a:solidFill>
              <a:srgbClr val="0C56AE"/>
            </a:solidFill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algn="ctr">
              <a:defRPr/>
            </a:pPr>
            <a:r>
              <a:rPr lang="zh-CN" altLang="en-US" sz="3200" b="1" kern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汇报人</a:t>
            </a:r>
            <a:endParaRPr lang="zh-CN" altLang="en-US" sz="3200" b="1" kern="0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592BA2D-3982-DE10-3446-DA44D71D602C}"/>
              </a:ext>
            </a:extLst>
          </p:cNvPr>
          <p:cNvSpPr txBox="1"/>
          <p:nvPr/>
        </p:nvSpPr>
        <p:spPr>
          <a:xfrm>
            <a:off x="5955943" y="4461337"/>
            <a:ext cx="1045478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3200" b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XXX</a:t>
            </a:r>
            <a:endParaRPr lang="zh-CN" altLang="en-US" sz="32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任意多边形: 形状 5">
            <a:extLst>
              <a:ext uri="{FF2B5EF4-FFF2-40B4-BE49-F238E27FC236}">
                <a16:creationId xmlns:a16="http://schemas.microsoft.com/office/drawing/2014/main" id="{03437287-155F-B97B-812D-904A5FB34C93}"/>
              </a:ext>
            </a:extLst>
          </p:cNvPr>
          <p:cNvSpPr/>
          <p:nvPr/>
        </p:nvSpPr>
        <p:spPr>
          <a:xfrm>
            <a:off x="2614943" y="-5733"/>
            <a:ext cx="6962115" cy="493598"/>
          </a:xfrm>
          <a:custGeom>
            <a:avLst/>
            <a:gdLst>
              <a:gd name="connsiteX0" fmla="*/ 0 w 8717654"/>
              <a:gd name="connsiteY0" fmla="*/ 0 h 562725"/>
              <a:gd name="connsiteX1" fmla="*/ 1155700 w 8717654"/>
              <a:gd name="connsiteY1" fmla="*/ 0 h 562725"/>
              <a:gd name="connsiteX2" fmla="*/ 7561954 w 8717654"/>
              <a:gd name="connsiteY2" fmla="*/ 0 h 562725"/>
              <a:gd name="connsiteX3" fmla="*/ 8717654 w 8717654"/>
              <a:gd name="connsiteY3" fmla="*/ 0 h 562725"/>
              <a:gd name="connsiteX4" fmla="*/ 8717381 w 8717654"/>
              <a:gd name="connsiteY4" fmla="*/ 1022 h 562725"/>
              <a:gd name="connsiteX5" fmla="*/ 8441286 w 8717654"/>
              <a:gd name="connsiteY5" fmla="*/ 521969 h 562725"/>
              <a:gd name="connsiteX6" fmla="*/ 8383695 w 8717654"/>
              <a:gd name="connsiteY6" fmla="*/ 562725 h 562725"/>
              <a:gd name="connsiteX7" fmla="*/ 7227995 w 8717654"/>
              <a:gd name="connsiteY7" fmla="*/ 562725 h 562725"/>
              <a:gd name="connsiteX8" fmla="*/ 1489659 w 8717654"/>
              <a:gd name="connsiteY8" fmla="*/ 562725 h 562725"/>
              <a:gd name="connsiteX9" fmla="*/ 333959 w 8717654"/>
              <a:gd name="connsiteY9" fmla="*/ 562725 h 562725"/>
              <a:gd name="connsiteX10" fmla="*/ 276368 w 8717654"/>
              <a:gd name="connsiteY10" fmla="*/ 521969 h 562725"/>
              <a:gd name="connsiteX11" fmla="*/ 273 w 8717654"/>
              <a:gd name="connsiteY11" fmla="*/ 1022 h 56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8717654" h="562725">
                <a:moveTo>
                  <a:pt x="0" y="0"/>
                </a:moveTo>
                <a:lnTo>
                  <a:pt x="1155700" y="0"/>
                </a:lnTo>
                <a:lnTo>
                  <a:pt x="7561954" y="0"/>
                </a:lnTo>
                <a:lnTo>
                  <a:pt x="8717654" y="0"/>
                </a:lnTo>
                <a:lnTo>
                  <a:pt x="8717381" y="1022"/>
                </a:lnTo>
                <a:lnTo>
                  <a:pt x="8441286" y="521969"/>
                </a:lnTo>
                <a:cubicBezTo>
                  <a:pt x="8427678" y="547645"/>
                  <a:pt x="8406370" y="562725"/>
                  <a:pt x="8383695" y="562725"/>
                </a:cubicBezTo>
                <a:lnTo>
                  <a:pt x="7227995" y="562725"/>
                </a:lnTo>
                <a:lnTo>
                  <a:pt x="1489659" y="562725"/>
                </a:lnTo>
                <a:lnTo>
                  <a:pt x="333959" y="562725"/>
                </a:lnTo>
                <a:cubicBezTo>
                  <a:pt x="311285" y="562725"/>
                  <a:pt x="289976" y="547645"/>
                  <a:pt x="276368" y="521969"/>
                </a:cubicBezTo>
                <a:lnTo>
                  <a:pt x="273" y="1022"/>
                </a:lnTo>
                <a:close/>
              </a:path>
            </a:pathLst>
          </a:cu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1" i="0" u="none" strike="noStrike" kern="0" cap="none" spc="0" normalizeH="0" baseline="0" noProof="0" dirty="0">
              <a:ln>
                <a:noFill/>
              </a:ln>
              <a:solidFill>
                <a:srgbClr val="0C56A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FC05B4F-2BD2-017A-D833-AFB9CBAC897A}"/>
              </a:ext>
            </a:extLst>
          </p:cNvPr>
          <p:cNvSpPr txBox="1"/>
          <p:nvPr/>
        </p:nvSpPr>
        <p:spPr>
          <a:xfrm>
            <a:off x="4464784" y="10234"/>
            <a:ext cx="3262432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zh-CN" altLang="en-US" sz="24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硕士学位论文开题报告</a:t>
            </a:r>
            <a:endParaRPr lang="zh-CN" altLang="en-US" sz="2400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50993921-4A01-0A89-1E61-7A819B4A1E2F}"/>
              </a:ext>
            </a:extLst>
          </p:cNvPr>
          <p:cNvSpPr txBox="1"/>
          <p:nvPr/>
        </p:nvSpPr>
        <p:spPr>
          <a:xfrm>
            <a:off x="5243046" y="5238426"/>
            <a:ext cx="1705916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400">
                <a:ln w="0"/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2026</a:t>
            </a:r>
            <a:r>
              <a:rPr lang="zh-CN" altLang="en-US" sz="2400">
                <a:ln w="0"/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</a:t>
            </a:r>
            <a:r>
              <a:rPr lang="en-US" altLang="zh-CN" sz="2400">
                <a:ln w="0"/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sz="2400">
                <a:ln w="0"/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月</a:t>
            </a:r>
            <a:endParaRPr lang="zh-CN" altLang="en-US" sz="2400" dirty="0">
              <a:ln w="0"/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A13CF40-C608-8D36-562A-C2261D580099}"/>
              </a:ext>
            </a:extLst>
          </p:cNvPr>
          <p:cNvSpPr/>
          <p:nvPr/>
        </p:nvSpPr>
        <p:spPr>
          <a:xfrm>
            <a:off x="0" y="6632574"/>
            <a:ext cx="12192000" cy="234477"/>
          </a:xfrm>
          <a:prstGeom prst="rect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FFDD9BF1-26C1-D8B1-4EF4-E6DFBF680AE0}"/>
              </a:ext>
            </a:extLst>
          </p:cNvPr>
          <p:cNvSpPr txBox="1"/>
          <p:nvPr/>
        </p:nvSpPr>
        <p:spPr>
          <a:xfrm>
            <a:off x="4310896" y="5721158"/>
            <a:ext cx="3570209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80308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Picture 89">
            <a:extLst>
              <a:ext uri="{FF2B5EF4-FFF2-40B4-BE49-F238E27FC236}">
                <a16:creationId xmlns:a16="http://schemas.microsoft.com/office/drawing/2014/main" id="{E9CAE631-11B1-6B01-385A-60C92A6A83B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0000"/>
          </a:blip>
          <a:stretch>
            <a:fillRect/>
          </a:stretch>
        </p:blipFill>
        <p:spPr>
          <a:xfrm rot="10800000">
            <a:off x="-8340" y="1"/>
            <a:ext cx="12200340" cy="2868908"/>
          </a:xfrm>
          <a:prstGeom prst="rect">
            <a:avLst/>
          </a:prstGeom>
        </p:spPr>
      </p:pic>
      <p:pic>
        <p:nvPicPr>
          <p:cNvPr id="45" name="图片 44">
            <a:extLst>
              <a:ext uri="{FF2B5EF4-FFF2-40B4-BE49-F238E27FC236}">
                <a16:creationId xmlns:a16="http://schemas.microsoft.com/office/drawing/2014/main" id="{9C7262D3-C5E7-98B9-085E-5298B67D1C9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16168"/>
          <a:stretch/>
        </p:blipFill>
        <p:spPr>
          <a:xfrm flipH="1">
            <a:off x="0" y="4270329"/>
            <a:ext cx="12192000" cy="2600960"/>
          </a:xfrm>
          <a:prstGeom prst="rect">
            <a:avLst/>
          </a:prstGeom>
        </p:spPr>
      </p:pic>
      <p:sp>
        <p:nvSpPr>
          <p:cNvPr id="47" name="矩形: 圆角 46">
            <a:extLst>
              <a:ext uri="{FF2B5EF4-FFF2-40B4-BE49-F238E27FC236}">
                <a16:creationId xmlns:a16="http://schemas.microsoft.com/office/drawing/2014/main" id="{A03CD020-8E49-BC23-82FE-80B9ABCA3972}"/>
              </a:ext>
            </a:extLst>
          </p:cNvPr>
          <p:cNvSpPr/>
          <p:nvPr/>
        </p:nvSpPr>
        <p:spPr>
          <a:xfrm>
            <a:off x="-100120" y="-79828"/>
            <a:ext cx="4207663" cy="7017657"/>
          </a:xfrm>
          <a:prstGeom prst="roundRect">
            <a:avLst>
              <a:gd name="adj" fmla="val 0"/>
            </a:avLst>
          </a:prstGeom>
          <a:gradFill>
            <a:gsLst>
              <a:gs pos="0">
                <a:schemeClr val="accent1"/>
              </a:gs>
              <a:gs pos="100000">
                <a:schemeClr val="accent2">
                  <a:lumMod val="50000"/>
                </a:schemeClr>
              </a:gs>
            </a:gsLst>
            <a:lin ang="5400000" scaled="1"/>
          </a:gradFill>
          <a:ln w="19050" cap="flat" cmpd="sng" algn="ctr">
            <a:solidFill>
              <a:sysClr val="window" lastClr="FFFFFF"/>
            </a:solidFill>
            <a:prstDash val="solid"/>
            <a:miter lim="800000"/>
          </a:ln>
          <a:effectLst>
            <a:outerShdw blurRad="165100" dist="38100" dir="2700000" algn="tl" rotWithShape="0">
              <a:sysClr val="window" lastClr="FFFFFF">
                <a:lumMod val="85000"/>
                <a:alpha val="35000"/>
              </a:sys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72" name="图片 71">
            <a:extLst>
              <a:ext uri="{FF2B5EF4-FFF2-40B4-BE49-F238E27FC236}">
                <a16:creationId xmlns:a16="http://schemas.microsoft.com/office/drawing/2014/main" id="{9EEBD94C-B44D-2A8B-AC9A-D4C40C3FAC2A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alphaModFix amt="7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460" r="29859"/>
          <a:stretch/>
        </p:blipFill>
        <p:spPr>
          <a:xfrm>
            <a:off x="-79458" y="-79829"/>
            <a:ext cx="4215566" cy="7017657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C31E6A27-3237-93DD-C809-2E8F43CC8EBF}"/>
              </a:ext>
            </a:extLst>
          </p:cNvPr>
          <p:cNvSpPr/>
          <p:nvPr/>
        </p:nvSpPr>
        <p:spPr>
          <a:xfrm>
            <a:off x="3708400" y="1219200"/>
            <a:ext cx="7239000" cy="5080000"/>
          </a:xfrm>
          <a:prstGeom prst="rect">
            <a:avLst/>
          </a:prstGeom>
          <a:solidFill>
            <a:srgbClr val="EBECEE">
              <a:alpha val="92000"/>
            </a:srgbClr>
          </a:solidFill>
          <a:ln>
            <a:solidFill>
              <a:srgbClr val="E6E6E6"/>
            </a:solidFill>
          </a:ln>
          <a:effectLst>
            <a:outerShdw blurRad="101600" dist="37357" dir="2700000" rotWithShape="0">
              <a:scrgbClr r="0" g="0" b="0">
                <a:alpha val="45000"/>
              </a:sc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96EAB3F-8308-9554-F32F-7B589F61D21F}"/>
              </a:ext>
            </a:extLst>
          </p:cNvPr>
          <p:cNvSpPr txBox="1"/>
          <p:nvPr/>
        </p:nvSpPr>
        <p:spPr>
          <a:xfrm>
            <a:off x="1524000" y="2603500"/>
            <a:ext cx="952500" cy="193899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zh-CN" altLang="en-US" sz="3000" b="1">
                <a:solidFill>
                  <a:srgbClr val="FFFFFF"/>
                </a:solidFill>
                <a:latin typeface="Microsoft YaHei" panose="020B0503020204020204" pitchFamily="34" charset="-122"/>
              </a:rPr>
              <a:t>汇
报
提
纲</a:t>
            </a:r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7F151EDE-1245-90BD-27D5-FDC0A1B43FE7}"/>
              </a:ext>
            </a:extLst>
          </p:cNvPr>
          <p:cNvCxnSpPr/>
          <p:nvPr/>
        </p:nvCxnSpPr>
        <p:spPr>
          <a:xfrm>
            <a:off x="1422400" y="3175000"/>
            <a:ext cx="0" cy="2540000"/>
          </a:xfrm>
          <a:prstGeom prst="line">
            <a:avLst/>
          </a:prstGeom>
          <a:ln w="6350" cap="flat" cmpd="sng" algn="ctr">
            <a:solidFill>
              <a:srgbClr val="D2E1F5">
                <a:alpha val="6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矩形 4">
            <a:extLst>
              <a:ext uri="{FF2B5EF4-FFF2-40B4-BE49-F238E27FC236}">
                <a16:creationId xmlns:a16="http://schemas.microsoft.com/office/drawing/2014/main" id="{9157F772-09E6-D75E-9AC3-C011313B1C63}"/>
              </a:ext>
            </a:extLst>
          </p:cNvPr>
          <p:cNvSpPr/>
          <p:nvPr/>
        </p:nvSpPr>
        <p:spPr>
          <a:xfrm>
            <a:off x="4635500" y="1422400"/>
            <a:ext cx="5842000" cy="7366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B5C75439-5113-4C5D-B640-31C73ABCC6B9}"/>
              </a:ext>
            </a:extLst>
          </p:cNvPr>
          <p:cNvSpPr txBox="1"/>
          <p:nvPr/>
        </p:nvSpPr>
        <p:spPr>
          <a:xfrm>
            <a:off x="5143500" y="1511300"/>
            <a:ext cx="889000" cy="5078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altLang="zh-CN" sz="2700" b="1">
                <a:solidFill>
                  <a:srgbClr val="FFFFFF"/>
                </a:solidFill>
                <a:latin typeface="Microsoft YaHei" panose="020B0503020204020204" pitchFamily="34" charset="-122"/>
              </a:rPr>
              <a:t>01</a:t>
            </a:r>
            <a:endParaRPr lang="zh-CN" altLang="en-US" sz="27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8856A9A7-6B20-AA3B-8C8E-95151344BB7A}"/>
              </a:ext>
            </a:extLst>
          </p:cNvPr>
          <p:cNvCxnSpPr/>
          <p:nvPr/>
        </p:nvCxnSpPr>
        <p:spPr>
          <a:xfrm>
            <a:off x="6172200" y="1574800"/>
            <a:ext cx="0" cy="43180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BB7C48EB-7A81-9F4F-C75F-F5261B885019}"/>
              </a:ext>
            </a:extLst>
          </p:cNvPr>
          <p:cNvSpPr txBox="1"/>
          <p:nvPr/>
        </p:nvSpPr>
        <p:spPr>
          <a:xfrm>
            <a:off x="6477000" y="1536700"/>
            <a:ext cx="3556000" cy="4770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500" b="1">
                <a:solidFill>
                  <a:srgbClr val="FFFFFF"/>
                </a:solidFill>
                <a:latin typeface="Microsoft YaHei" panose="020B0503020204020204" pitchFamily="34" charset="-122"/>
              </a:rPr>
              <a:t>研究背景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35AA9509-5899-E5AC-0B8B-E9D37D11578F}"/>
              </a:ext>
            </a:extLst>
          </p:cNvPr>
          <p:cNvSpPr/>
          <p:nvPr/>
        </p:nvSpPr>
        <p:spPr>
          <a:xfrm>
            <a:off x="4635500" y="2349500"/>
            <a:ext cx="5842000" cy="736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821631E3-7A7E-5D77-4C87-A6E09FE8F238}"/>
              </a:ext>
            </a:extLst>
          </p:cNvPr>
          <p:cNvSpPr txBox="1"/>
          <p:nvPr/>
        </p:nvSpPr>
        <p:spPr>
          <a:xfrm>
            <a:off x="5143500" y="2438400"/>
            <a:ext cx="889000" cy="5078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altLang="zh-CN" sz="2700" b="1">
                <a:solidFill>
                  <a:srgbClr val="BEBEBE"/>
                </a:solidFill>
                <a:latin typeface="Microsoft YaHei" panose="020B0503020204020204" pitchFamily="34" charset="-122"/>
              </a:rPr>
              <a:t>02</a:t>
            </a:r>
            <a:endParaRPr lang="zh-CN" altLang="en-US" sz="2700" b="1">
              <a:solidFill>
                <a:srgbClr val="BEBEBE"/>
              </a:solidFill>
              <a:latin typeface="Microsoft YaHei" panose="020B0503020204020204" pitchFamily="34" charset="-122"/>
            </a:endParaRPr>
          </a:p>
        </p:txBody>
      </p: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FA9EEDF4-51B5-9430-7BFD-26074327E21B}"/>
              </a:ext>
            </a:extLst>
          </p:cNvPr>
          <p:cNvCxnSpPr/>
          <p:nvPr/>
        </p:nvCxnSpPr>
        <p:spPr>
          <a:xfrm>
            <a:off x="6172200" y="2501900"/>
            <a:ext cx="0" cy="431800"/>
          </a:xfrm>
          <a:prstGeom prst="line">
            <a:avLst/>
          </a:prstGeom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本框 11">
            <a:extLst>
              <a:ext uri="{FF2B5EF4-FFF2-40B4-BE49-F238E27FC236}">
                <a16:creationId xmlns:a16="http://schemas.microsoft.com/office/drawing/2014/main" id="{A4B37B9A-DF39-3295-5E66-28DD26628C70}"/>
              </a:ext>
            </a:extLst>
          </p:cNvPr>
          <p:cNvSpPr txBox="1"/>
          <p:nvPr/>
        </p:nvSpPr>
        <p:spPr>
          <a:xfrm>
            <a:off x="6477000" y="2463800"/>
            <a:ext cx="3556000" cy="4770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500" b="1">
                <a:solidFill>
                  <a:srgbClr val="BEBEBE"/>
                </a:solidFill>
                <a:latin typeface="Microsoft YaHei" panose="020B0503020204020204" pitchFamily="34" charset="-122"/>
              </a:rPr>
              <a:t>架构设计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60358BC2-AE66-E0A5-8FB3-1B7E26FD79DE}"/>
              </a:ext>
            </a:extLst>
          </p:cNvPr>
          <p:cNvSpPr/>
          <p:nvPr/>
        </p:nvSpPr>
        <p:spPr>
          <a:xfrm>
            <a:off x="4635500" y="3276600"/>
            <a:ext cx="5842000" cy="736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3F8356DB-B38B-29D4-6D8D-441D2312C0FE}"/>
              </a:ext>
            </a:extLst>
          </p:cNvPr>
          <p:cNvSpPr txBox="1"/>
          <p:nvPr/>
        </p:nvSpPr>
        <p:spPr>
          <a:xfrm>
            <a:off x="5143500" y="3365500"/>
            <a:ext cx="889000" cy="5078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altLang="zh-CN" sz="2700" b="1">
                <a:solidFill>
                  <a:srgbClr val="BEBEBE"/>
                </a:solidFill>
                <a:latin typeface="Microsoft YaHei" panose="020B0503020204020204" pitchFamily="34" charset="-122"/>
              </a:rPr>
              <a:t>03</a:t>
            </a:r>
            <a:endParaRPr lang="zh-CN" altLang="en-US" sz="2700" b="1">
              <a:solidFill>
                <a:srgbClr val="BEBEBE"/>
              </a:solidFill>
              <a:latin typeface="Microsoft YaHei" panose="020B0503020204020204" pitchFamily="34" charset="-122"/>
            </a:endParaRPr>
          </a:p>
        </p:txBody>
      </p: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8DB3F8E1-D106-9810-E11B-6CB6F2952BDA}"/>
              </a:ext>
            </a:extLst>
          </p:cNvPr>
          <p:cNvCxnSpPr/>
          <p:nvPr/>
        </p:nvCxnSpPr>
        <p:spPr>
          <a:xfrm>
            <a:off x="6172200" y="3429000"/>
            <a:ext cx="0" cy="431800"/>
          </a:xfrm>
          <a:prstGeom prst="line">
            <a:avLst/>
          </a:prstGeom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本框 15">
            <a:extLst>
              <a:ext uri="{FF2B5EF4-FFF2-40B4-BE49-F238E27FC236}">
                <a16:creationId xmlns:a16="http://schemas.microsoft.com/office/drawing/2014/main" id="{63F4C4EE-F2C9-8042-9A31-072621336CF1}"/>
              </a:ext>
            </a:extLst>
          </p:cNvPr>
          <p:cNvSpPr txBox="1"/>
          <p:nvPr/>
        </p:nvSpPr>
        <p:spPr>
          <a:xfrm>
            <a:off x="6477000" y="3390900"/>
            <a:ext cx="3556000" cy="4770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500" b="1">
                <a:solidFill>
                  <a:srgbClr val="BEBEBE"/>
                </a:solidFill>
                <a:latin typeface="Microsoft YaHei" panose="020B0503020204020204" pitchFamily="34" charset="-122"/>
              </a:rPr>
              <a:t>软件平台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627C68A6-22A2-706D-7005-1EC9EB1044C6}"/>
              </a:ext>
            </a:extLst>
          </p:cNvPr>
          <p:cNvSpPr/>
          <p:nvPr/>
        </p:nvSpPr>
        <p:spPr>
          <a:xfrm>
            <a:off x="4635500" y="4203700"/>
            <a:ext cx="5842000" cy="736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A6015988-3B62-7399-ABA8-04F2FAD06891}"/>
              </a:ext>
            </a:extLst>
          </p:cNvPr>
          <p:cNvSpPr txBox="1"/>
          <p:nvPr/>
        </p:nvSpPr>
        <p:spPr>
          <a:xfrm>
            <a:off x="5143500" y="4292600"/>
            <a:ext cx="889000" cy="5078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altLang="zh-CN" sz="2700" b="1">
                <a:solidFill>
                  <a:srgbClr val="BEBEBE"/>
                </a:solidFill>
                <a:latin typeface="Microsoft YaHei" panose="020B0503020204020204" pitchFamily="34" charset="-122"/>
              </a:rPr>
              <a:t>04</a:t>
            </a:r>
            <a:endParaRPr lang="zh-CN" altLang="en-US" sz="2700" b="1">
              <a:solidFill>
                <a:srgbClr val="BEBEBE"/>
              </a:solidFill>
              <a:latin typeface="Microsoft YaHei" panose="020B0503020204020204" pitchFamily="34" charset="-122"/>
            </a:endParaRPr>
          </a:p>
        </p:txBody>
      </p: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3D89DE30-32E8-A2B1-1432-49BA34DD048E}"/>
              </a:ext>
            </a:extLst>
          </p:cNvPr>
          <p:cNvCxnSpPr/>
          <p:nvPr/>
        </p:nvCxnSpPr>
        <p:spPr>
          <a:xfrm>
            <a:off x="6172200" y="4356100"/>
            <a:ext cx="0" cy="431800"/>
          </a:xfrm>
          <a:prstGeom prst="line">
            <a:avLst/>
          </a:prstGeom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文本框 19">
            <a:extLst>
              <a:ext uri="{FF2B5EF4-FFF2-40B4-BE49-F238E27FC236}">
                <a16:creationId xmlns:a16="http://schemas.microsoft.com/office/drawing/2014/main" id="{EADF21BF-BC5B-D9DB-2FA9-4A9F2F695927}"/>
              </a:ext>
            </a:extLst>
          </p:cNvPr>
          <p:cNvSpPr txBox="1"/>
          <p:nvPr/>
        </p:nvSpPr>
        <p:spPr>
          <a:xfrm>
            <a:off x="6477000" y="4318000"/>
            <a:ext cx="3556000" cy="4770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500" b="1">
                <a:solidFill>
                  <a:srgbClr val="BEBEBE"/>
                </a:solidFill>
                <a:latin typeface="Microsoft YaHei" panose="020B0503020204020204" pitchFamily="34" charset="-122"/>
              </a:rPr>
              <a:t>实验计划与总结</a:t>
            </a:r>
          </a:p>
        </p:txBody>
      </p:sp>
    </p:spTree>
    <p:extLst>
      <p:ext uri="{BB962C8B-B14F-4D97-AF65-F5344CB8AC3E}">
        <p14:creationId xmlns:p14="http://schemas.microsoft.com/office/powerpoint/2010/main" val="8379590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16A3DB-04B7-0F28-5E8A-F56BFA60F4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7C423CAF-2C04-A115-DAA8-7FE393C84F1F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01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40D8A0FD-5522-688B-0919-03AA88600BB6}"/>
              </a:ext>
            </a:extLst>
          </p:cNvPr>
          <p:cNvSpPr txBox="1"/>
          <p:nvPr/>
        </p:nvSpPr>
        <p:spPr>
          <a:xfrm>
            <a:off x="946461" y="269201"/>
            <a:ext cx="6440714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三维重建与 </a:t>
            </a:r>
            <a:r>
              <a:rPr lang="en-US" altLang="zh-CN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3R </a:t>
            </a:r>
            <a:r>
              <a:rPr lang="zh-CN" altLang="en-US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模型的兴起</a:t>
            </a:r>
            <a:endParaRPr lang="zh-CN" altLang="en-US" sz="3100" b="1" dirty="0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C0FEC87-633D-C022-0139-561038652075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7AD10E7B-2309-CE35-09BE-4173AF93A877}"/>
              </a:ext>
            </a:extLst>
          </p:cNvPr>
          <p:cNvSpPr/>
          <p:nvPr/>
        </p:nvSpPr>
        <p:spPr>
          <a:xfrm>
            <a:off x="431800" y="1168400"/>
            <a:ext cx="113030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3R </a:t>
            </a:r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将多步三维重建流程压缩为一次网络前向推理。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C5185BB0-E146-7A48-A3EE-73CB03825627}"/>
              </a:ext>
            </a:extLst>
          </p:cNvPr>
          <p:cNvSpPr/>
          <p:nvPr/>
        </p:nvSpPr>
        <p:spPr>
          <a:xfrm>
            <a:off x="889000" y="2159000"/>
            <a:ext cx="3302000" cy="431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传统三维重建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581FD399-8740-3C39-7E26-B6E66BD71364}"/>
              </a:ext>
            </a:extLst>
          </p:cNvPr>
          <p:cNvSpPr/>
          <p:nvPr/>
        </p:nvSpPr>
        <p:spPr>
          <a:xfrm>
            <a:off x="889000" y="2616200"/>
            <a:ext cx="3302000" cy="1701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特征提取
特征匹配
位姿估计
稠密重建</a:t>
            </a:r>
          </a:p>
        </p:txBody>
      </p:sp>
      <p:sp>
        <p:nvSpPr>
          <p:cNvPr id="34" name="箭头: 右 33">
            <a:extLst>
              <a:ext uri="{FF2B5EF4-FFF2-40B4-BE49-F238E27FC236}">
                <a16:creationId xmlns:a16="http://schemas.microsoft.com/office/drawing/2014/main" id="{91BE0641-4898-9847-CF41-B01524C23FDE}"/>
              </a:ext>
            </a:extLst>
          </p:cNvPr>
          <p:cNvSpPr/>
          <p:nvPr/>
        </p:nvSpPr>
        <p:spPr>
          <a:xfrm>
            <a:off x="4445000" y="2984500"/>
            <a:ext cx="609600" cy="355600"/>
          </a:xfrm>
          <a:prstGeom prst="rightArrow">
            <a:avLst/>
          </a:prstGeom>
          <a:solidFill>
            <a:srgbClr val="286FB9"/>
          </a:solidFill>
          <a:ln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F9DD23E7-2730-A42A-DDE8-D89C97918513}"/>
              </a:ext>
            </a:extLst>
          </p:cNvPr>
          <p:cNvSpPr/>
          <p:nvPr/>
        </p:nvSpPr>
        <p:spPr>
          <a:xfrm>
            <a:off x="5334000" y="2159000"/>
            <a:ext cx="3302000" cy="431800"/>
          </a:xfrm>
          <a:prstGeom prst="rect">
            <a:avLst/>
          </a:prstGeom>
          <a:solidFill>
            <a:srgbClr val="286FB9"/>
          </a:solidFill>
          <a:ln w="12700"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前馈式 </a:t>
            </a:r>
            <a:r>
              <a:rPr lang="en-US" altLang="zh-CN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3R</a:t>
            </a:r>
            <a:endParaRPr lang="zh-CN" altLang="en-US" sz="19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D578307E-C811-9511-3A7C-83CCC66065EB}"/>
              </a:ext>
            </a:extLst>
          </p:cNvPr>
          <p:cNvSpPr/>
          <p:nvPr/>
        </p:nvSpPr>
        <p:spPr>
          <a:xfrm>
            <a:off x="5334000" y="2616200"/>
            <a:ext cx="3302000" cy="1701800"/>
          </a:xfrm>
          <a:prstGeom prst="rect">
            <a:avLst/>
          </a:prstGeom>
          <a:solidFill>
            <a:srgbClr val="FFFFFF"/>
          </a:solidFill>
          <a:ln w="12700"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输入图像对 </a:t>
            </a:r>
            <a:r>
              <a:rPr lang="en-US" altLang="zh-CN" sz="1900">
                <a:solidFill>
                  <a:srgbClr val="081830"/>
                </a:solidFill>
                <a:latin typeface="Microsoft YaHei" panose="020B0503020204020204" pitchFamily="34" charset="-122"/>
              </a:rPr>
              <a:t>/ </a:t>
            </a:r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序列
一次前向推理
输出三维点图</a:t>
            </a:r>
          </a:p>
        </p:txBody>
      </p:sp>
      <p:sp>
        <p:nvSpPr>
          <p:cNvPr id="37" name="箭头: 右 36">
            <a:extLst>
              <a:ext uri="{FF2B5EF4-FFF2-40B4-BE49-F238E27FC236}">
                <a16:creationId xmlns:a16="http://schemas.microsoft.com/office/drawing/2014/main" id="{33E7A6C7-5621-3953-6B05-A03CD8E3B5CA}"/>
              </a:ext>
            </a:extLst>
          </p:cNvPr>
          <p:cNvSpPr/>
          <p:nvPr/>
        </p:nvSpPr>
        <p:spPr>
          <a:xfrm>
            <a:off x="8890000" y="2984500"/>
            <a:ext cx="609600" cy="355600"/>
          </a:xfrm>
          <a:prstGeom prst="rightArrow">
            <a:avLst/>
          </a:prstGeom>
          <a:solidFill>
            <a:srgbClr val="286FB9"/>
          </a:solidFill>
          <a:ln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6A8D3BAA-BC51-D8DC-EB5B-93767D3FFE48}"/>
              </a:ext>
            </a:extLst>
          </p:cNvPr>
          <p:cNvSpPr/>
          <p:nvPr/>
        </p:nvSpPr>
        <p:spPr>
          <a:xfrm>
            <a:off x="9652000" y="2159000"/>
            <a:ext cx="1651000" cy="431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代表起点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FAF807E7-DE1C-3723-919B-7F84A2042EE0}"/>
              </a:ext>
            </a:extLst>
          </p:cNvPr>
          <p:cNvSpPr/>
          <p:nvPr/>
        </p:nvSpPr>
        <p:spPr>
          <a:xfrm>
            <a:off x="9652000" y="2616200"/>
            <a:ext cx="1651000" cy="1701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900">
                <a:solidFill>
                  <a:srgbClr val="081830"/>
                </a:solidFill>
                <a:latin typeface="Microsoft YaHei" panose="020B0503020204020204" pitchFamily="34" charset="-122"/>
              </a:rPr>
              <a:t>DUSt3R
2024
</a:t>
            </a:r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后续快速发展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4FF52823-69DE-6A46-5297-800600C2A757}"/>
              </a:ext>
            </a:extLst>
          </p:cNvPr>
          <p:cNvSpPr/>
          <p:nvPr/>
        </p:nvSpPr>
        <p:spPr>
          <a:xfrm>
            <a:off x="1079500" y="5016500"/>
            <a:ext cx="10033000" cy="6096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b="1">
                <a:solidFill>
                  <a:srgbClr val="00285F"/>
                </a:solidFill>
                <a:latin typeface="Microsoft YaHei" panose="020B0503020204020204" pitchFamily="34" charset="-122"/>
              </a:rPr>
              <a:t>前馈式 </a:t>
            </a:r>
            <a:r>
              <a:rPr lang="en-US" altLang="zh-CN" b="1">
                <a:solidFill>
                  <a:srgbClr val="00285F"/>
                </a:solidFill>
                <a:latin typeface="Microsoft YaHei" panose="020B0503020204020204" pitchFamily="34" charset="-122"/>
              </a:rPr>
              <a:t>3R </a:t>
            </a:r>
            <a:r>
              <a:rPr lang="zh-CN" altLang="en-US" b="1">
                <a:solidFill>
                  <a:srgbClr val="00285F"/>
                </a:solidFill>
                <a:latin typeface="Microsoft YaHei" panose="020B0503020204020204" pitchFamily="34" charset="-122"/>
              </a:rPr>
              <a:t>提供了新的重建入口，也带来了长序列和动态场景中的新问题。</a:t>
            </a:r>
          </a:p>
        </p:txBody>
      </p:sp>
    </p:spTree>
    <p:extLst>
      <p:ext uri="{BB962C8B-B14F-4D97-AF65-F5344CB8AC3E}">
        <p14:creationId xmlns:p14="http://schemas.microsoft.com/office/powerpoint/2010/main" val="8562706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E9C1C7-72C6-1029-14A1-14DA57824D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92C25290-25CA-9409-7329-785426950541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02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816D3D87-A82F-7CBB-9ECA-5489B69CC28D}"/>
              </a:ext>
            </a:extLst>
          </p:cNvPr>
          <p:cNvSpPr txBox="1"/>
          <p:nvPr/>
        </p:nvSpPr>
        <p:spPr>
          <a:xfrm>
            <a:off x="946460" y="269201"/>
            <a:ext cx="7626039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3R </a:t>
            </a:r>
            <a:r>
              <a:rPr lang="zh-CN" altLang="en-US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模型的优势</a:t>
            </a:r>
            <a:endParaRPr lang="zh-CN" altLang="en-US" sz="3100" b="1" dirty="0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9EC6F4EC-22AC-E93D-EDED-B41185BC9FFE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1D604BDF-2A4B-C414-ECAD-CA2C6B2577C1}"/>
              </a:ext>
            </a:extLst>
          </p:cNvPr>
          <p:cNvSpPr/>
          <p:nvPr/>
        </p:nvSpPr>
        <p:spPr>
          <a:xfrm>
            <a:off x="431800" y="1168400"/>
            <a:ext cx="113030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3R </a:t>
            </a:r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模型的优势集中在速度、端到端学习、统一输出和特色机制。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D928C170-4E52-1F78-7A8D-739E71B2CE4C}"/>
              </a:ext>
            </a:extLst>
          </p:cNvPr>
          <p:cNvSpPr/>
          <p:nvPr/>
        </p:nvSpPr>
        <p:spPr>
          <a:xfrm>
            <a:off x="762000" y="2095500"/>
            <a:ext cx="2286000" cy="431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速度快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A00A84EF-143D-DDBE-67DB-0DE6BEB8B399}"/>
              </a:ext>
            </a:extLst>
          </p:cNvPr>
          <p:cNvSpPr/>
          <p:nvPr/>
        </p:nvSpPr>
        <p:spPr>
          <a:xfrm>
            <a:off x="762000" y="2552700"/>
            <a:ext cx="2286000" cy="1447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单次前向
无需迭代优化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1E33D45E-721F-3972-B79F-C9D59CC5AF9D}"/>
              </a:ext>
            </a:extLst>
          </p:cNvPr>
          <p:cNvSpPr/>
          <p:nvPr/>
        </p:nvSpPr>
        <p:spPr>
          <a:xfrm>
            <a:off x="3556000" y="2095500"/>
            <a:ext cx="2286000" cy="431800"/>
          </a:xfrm>
          <a:prstGeom prst="rect">
            <a:avLst/>
          </a:prstGeom>
          <a:solidFill>
            <a:srgbClr val="286FB9"/>
          </a:solidFill>
          <a:ln w="12700"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端到端学习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97C7198E-2DE1-8756-212F-DC201085799C}"/>
              </a:ext>
            </a:extLst>
          </p:cNvPr>
          <p:cNvSpPr/>
          <p:nvPr/>
        </p:nvSpPr>
        <p:spPr>
          <a:xfrm>
            <a:off x="3556000" y="2552700"/>
            <a:ext cx="2286000" cy="1447800"/>
          </a:xfrm>
          <a:prstGeom prst="rect">
            <a:avLst/>
          </a:prstGeom>
          <a:solidFill>
            <a:srgbClr val="FFFFFF"/>
          </a:solidFill>
          <a:ln w="12700"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几何先验
隐式写入权重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3F891F06-F43C-9364-37F1-E148E4A76D19}"/>
              </a:ext>
            </a:extLst>
          </p:cNvPr>
          <p:cNvSpPr/>
          <p:nvPr/>
        </p:nvSpPr>
        <p:spPr>
          <a:xfrm>
            <a:off x="6350000" y="2095500"/>
            <a:ext cx="2286000" cy="431800"/>
          </a:xfrm>
          <a:prstGeom prst="rect">
            <a:avLst/>
          </a:prstGeom>
          <a:solidFill>
            <a:srgbClr val="286FB9"/>
          </a:solidFill>
          <a:ln w="12700"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统一输出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B9E84F95-8CF0-1954-F9EF-2F93FA15774A}"/>
              </a:ext>
            </a:extLst>
          </p:cNvPr>
          <p:cNvSpPr/>
          <p:nvPr/>
        </p:nvSpPr>
        <p:spPr>
          <a:xfrm>
            <a:off x="6350000" y="2552700"/>
            <a:ext cx="2286000" cy="1447800"/>
          </a:xfrm>
          <a:prstGeom prst="rect">
            <a:avLst/>
          </a:prstGeom>
          <a:solidFill>
            <a:srgbClr val="FFFFFF"/>
          </a:solidFill>
          <a:ln w="12700"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900">
                <a:solidFill>
                  <a:srgbClr val="081830"/>
                </a:solidFill>
                <a:latin typeface="Microsoft YaHei" panose="020B0503020204020204" pitchFamily="34" charset="-122"/>
              </a:rPr>
              <a:t>pointmap </a:t>
            </a:r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支持
深度 </a:t>
            </a:r>
            <a:r>
              <a:rPr lang="en-US" altLang="zh-CN" sz="1900">
                <a:solidFill>
                  <a:srgbClr val="081830"/>
                </a:solidFill>
                <a:latin typeface="Microsoft YaHei" panose="020B0503020204020204" pitchFamily="34" charset="-122"/>
              </a:rPr>
              <a:t>/ </a:t>
            </a:r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位姿 </a:t>
            </a:r>
            <a:r>
              <a:rPr lang="en-US" altLang="zh-CN" sz="1900">
                <a:solidFill>
                  <a:srgbClr val="081830"/>
                </a:solidFill>
                <a:latin typeface="Microsoft YaHei" panose="020B0503020204020204" pitchFamily="34" charset="-122"/>
              </a:rPr>
              <a:t>/ </a:t>
            </a:r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法线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1A2D0AB6-7313-6EC2-12C8-77CB3B110F72}"/>
              </a:ext>
            </a:extLst>
          </p:cNvPr>
          <p:cNvSpPr/>
          <p:nvPr/>
        </p:nvSpPr>
        <p:spPr>
          <a:xfrm>
            <a:off x="9144000" y="2095500"/>
            <a:ext cx="2286000" cy="431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特色机制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2CC0B591-CFB7-2F6B-81AC-315B2A7AC309}"/>
              </a:ext>
            </a:extLst>
          </p:cNvPr>
          <p:cNvSpPr/>
          <p:nvPr/>
        </p:nvSpPr>
        <p:spPr>
          <a:xfrm>
            <a:off x="9144000" y="2552700"/>
            <a:ext cx="2286000" cy="1447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记忆、递推
校验、匹配增强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D95A5A6F-AADB-7B4E-6020-03501D8626AD}"/>
              </a:ext>
            </a:extLst>
          </p:cNvPr>
          <p:cNvSpPr/>
          <p:nvPr/>
        </p:nvSpPr>
        <p:spPr>
          <a:xfrm>
            <a:off x="1143000" y="4826000"/>
            <a:ext cx="9906000" cy="6604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900" b="1">
                <a:solidFill>
                  <a:srgbClr val="00285F"/>
                </a:solidFill>
                <a:latin typeface="Microsoft YaHei" panose="020B0503020204020204" pitchFamily="34" charset="-122"/>
              </a:rPr>
              <a:t>Spann3R</a:t>
            </a:r>
            <a:r>
              <a:rPr lang="zh-CN" altLang="en-US" sz="1900" b="1">
                <a:solidFill>
                  <a:srgbClr val="00285F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1900" b="1">
                <a:solidFill>
                  <a:srgbClr val="00285F"/>
                </a:solidFill>
                <a:latin typeface="Microsoft YaHei" panose="020B0503020204020204" pitchFamily="34" charset="-122"/>
              </a:rPr>
              <a:t>CUT3R</a:t>
            </a:r>
            <a:r>
              <a:rPr lang="zh-CN" altLang="en-US" sz="1900" b="1">
                <a:solidFill>
                  <a:srgbClr val="00285F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1900" b="1">
                <a:solidFill>
                  <a:srgbClr val="00285F"/>
                </a:solidFill>
                <a:latin typeface="Microsoft YaHei" panose="020B0503020204020204" pitchFamily="34" charset="-122"/>
              </a:rPr>
              <a:t>Test3R</a:t>
            </a:r>
            <a:r>
              <a:rPr lang="zh-CN" altLang="en-US" sz="1900" b="1">
                <a:solidFill>
                  <a:srgbClr val="00285F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1900" b="1">
                <a:solidFill>
                  <a:srgbClr val="00285F"/>
                </a:solidFill>
                <a:latin typeface="Microsoft YaHei" panose="020B0503020204020204" pitchFamily="34" charset="-122"/>
              </a:rPr>
              <a:t>MASt3R </a:t>
            </a:r>
            <a:r>
              <a:rPr lang="zh-CN" altLang="en-US" sz="1900" b="1">
                <a:solidFill>
                  <a:srgbClr val="00285F"/>
                </a:solidFill>
                <a:latin typeface="Microsoft YaHei" panose="020B0503020204020204" pitchFamily="34" charset="-122"/>
              </a:rPr>
              <a:t>等工作提供了可借鉴的机制来源。</a:t>
            </a:r>
          </a:p>
        </p:txBody>
      </p:sp>
    </p:spTree>
    <p:extLst>
      <p:ext uri="{BB962C8B-B14F-4D97-AF65-F5344CB8AC3E}">
        <p14:creationId xmlns:p14="http://schemas.microsoft.com/office/powerpoint/2010/main" val="22155773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795727-EB63-8B05-C0BA-FC16CEA965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746D9152-48D3-E0A8-3FF3-2116404376ED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03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BF154AD5-A70A-1962-3AC7-43543A030B62}"/>
              </a:ext>
            </a:extLst>
          </p:cNvPr>
          <p:cNvSpPr txBox="1"/>
          <p:nvPr/>
        </p:nvSpPr>
        <p:spPr>
          <a:xfrm>
            <a:off x="946460" y="269201"/>
            <a:ext cx="7626039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3R </a:t>
            </a:r>
            <a:r>
              <a:rPr lang="zh-CN" altLang="en-US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模型面临的共性缺陷</a:t>
            </a:r>
            <a:endParaRPr lang="zh-CN" altLang="en-US" sz="3100" b="1" dirty="0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4" name="任意多边形: 形状 93">
            <a:extLst>
              <a:ext uri="{FF2B5EF4-FFF2-40B4-BE49-F238E27FC236}">
                <a16:creationId xmlns:a16="http://schemas.microsoft.com/office/drawing/2014/main" id="{AF1BF063-7278-CF65-8ADD-CE545C77BE17}"/>
              </a:ext>
            </a:extLst>
          </p:cNvPr>
          <p:cNvSpPr/>
          <p:nvPr/>
        </p:nvSpPr>
        <p:spPr>
          <a:xfrm rot="5400000">
            <a:off x="5590187" y="-4418609"/>
            <a:ext cx="1011626" cy="12192000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2">
                  <a:lumMod val="75000"/>
                </a:schemeClr>
              </a:gs>
            </a:gsLst>
            <a:lin ang="5400000" scaled="1"/>
          </a:gradFill>
          <a:ln w="19050" cap="flat" cmpd="sng" algn="ctr">
            <a:noFill/>
            <a:prstDash val="solid"/>
            <a:miter lim="800000"/>
          </a:ln>
          <a:effectLst>
            <a:outerShdw blurRad="152400" dist="190500" dir="13500000" algn="ctr" rotWithShape="0">
              <a:sysClr val="window" lastClr="FFFFFF">
                <a:alpha val="29000"/>
              </a:sys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34653C5-632B-3915-1FE1-ADECB5B17A36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2B9CFE9-7C2F-A300-6B56-6E0C7F6059C4}"/>
              </a:ext>
            </a:extLst>
          </p:cNvPr>
          <p:cNvSpPr/>
          <p:nvPr/>
        </p:nvSpPr>
        <p:spPr>
          <a:xfrm>
            <a:off x="431800" y="1168400"/>
            <a:ext cx="113030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现有 </a:t>
            </a:r>
            <a:r>
              <a:rPr lang="en-US" altLang="zh-CN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3R </a:t>
            </a:r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模型在长序列、动态场景、自检查和多模型协同方面仍有短板。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D2B5282-745A-F8DC-FCF5-7979258F039E}"/>
              </a:ext>
            </a:extLst>
          </p:cNvPr>
          <p:cNvSpPr/>
          <p:nvPr/>
        </p:nvSpPr>
        <p:spPr>
          <a:xfrm>
            <a:off x="952500" y="1841500"/>
            <a:ext cx="20955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长序列漂移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30381E9-B26E-1600-E4FD-4295CA7CE0C2}"/>
              </a:ext>
            </a:extLst>
          </p:cNvPr>
          <p:cNvSpPr/>
          <p:nvPr/>
        </p:nvSpPr>
        <p:spPr>
          <a:xfrm>
            <a:off x="3302000" y="1841500"/>
            <a:ext cx="7874000" cy="50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>
                <a:solidFill>
                  <a:srgbClr val="00285F"/>
                </a:solidFill>
                <a:latin typeface="Microsoft YaHei" panose="020B0503020204020204" pitchFamily="34" charset="-122"/>
              </a:rPr>
              <a:t>视频长度增加后几何逐渐跑偏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C2958207-17D7-5F3E-E948-381C75506741}"/>
              </a:ext>
            </a:extLst>
          </p:cNvPr>
          <p:cNvSpPr/>
          <p:nvPr/>
        </p:nvSpPr>
        <p:spPr>
          <a:xfrm>
            <a:off x="952500" y="2540000"/>
            <a:ext cx="20955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动态场景干扰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53464C7-295B-6BE9-E2B5-FB5CE9A72026}"/>
              </a:ext>
            </a:extLst>
          </p:cNvPr>
          <p:cNvSpPr/>
          <p:nvPr/>
        </p:nvSpPr>
        <p:spPr>
          <a:xfrm>
            <a:off x="3302000" y="2540000"/>
            <a:ext cx="7874000" cy="5080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>
                <a:solidFill>
                  <a:srgbClr val="00285F"/>
                </a:solidFill>
                <a:latin typeface="Microsoft YaHei" panose="020B0503020204020204" pitchFamily="34" charset="-122"/>
              </a:rPr>
              <a:t>移动物体破坏静态重建假设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35D453B3-FF32-3C8A-B91B-C97C41CDB97A}"/>
              </a:ext>
            </a:extLst>
          </p:cNvPr>
          <p:cNvSpPr/>
          <p:nvPr/>
        </p:nvSpPr>
        <p:spPr>
          <a:xfrm>
            <a:off x="952500" y="3238500"/>
            <a:ext cx="20955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缺乏自检查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C182BE83-A5B8-2D75-3422-B0E93344973A}"/>
              </a:ext>
            </a:extLst>
          </p:cNvPr>
          <p:cNvSpPr/>
          <p:nvPr/>
        </p:nvSpPr>
        <p:spPr>
          <a:xfrm>
            <a:off x="3302000" y="3238500"/>
            <a:ext cx="7874000" cy="50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>
                <a:solidFill>
                  <a:srgbClr val="00285F"/>
                </a:solidFill>
                <a:latin typeface="Microsoft YaHei" panose="020B0503020204020204" pitchFamily="34" charset="-122"/>
              </a:rPr>
              <a:t>结果错误难以及时发现和修复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8DD0326B-9EB8-C407-D003-8731E293AA81}"/>
              </a:ext>
            </a:extLst>
          </p:cNvPr>
          <p:cNvSpPr/>
          <p:nvPr/>
        </p:nvSpPr>
        <p:spPr>
          <a:xfrm>
            <a:off x="952500" y="3937000"/>
            <a:ext cx="20955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单模型上限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BB8D920A-0DEA-D9D6-B289-0B410C7DAC8D}"/>
              </a:ext>
            </a:extLst>
          </p:cNvPr>
          <p:cNvSpPr/>
          <p:nvPr/>
        </p:nvSpPr>
        <p:spPr>
          <a:xfrm>
            <a:off x="3302000" y="3937000"/>
            <a:ext cx="7874000" cy="5080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>
                <a:solidFill>
                  <a:srgbClr val="00285F"/>
                </a:solidFill>
                <a:latin typeface="Microsoft YaHei" panose="020B0503020204020204" pitchFamily="34" charset="-122"/>
              </a:rPr>
              <a:t>弱纹理、镜面、快速运动各有短板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75E5FB19-D23B-A7DD-55A6-4DC434B1495D}"/>
              </a:ext>
            </a:extLst>
          </p:cNvPr>
          <p:cNvSpPr/>
          <p:nvPr/>
        </p:nvSpPr>
        <p:spPr>
          <a:xfrm>
            <a:off x="952500" y="4635500"/>
            <a:ext cx="20955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模型之间孤立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F99E0212-08A0-5800-82FE-69398F3D0520}"/>
              </a:ext>
            </a:extLst>
          </p:cNvPr>
          <p:cNvSpPr/>
          <p:nvPr/>
        </p:nvSpPr>
        <p:spPr>
          <a:xfrm>
            <a:off x="3302000" y="4635500"/>
            <a:ext cx="7874000" cy="50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>
                <a:solidFill>
                  <a:srgbClr val="00285F"/>
                </a:solidFill>
                <a:latin typeface="Microsoft YaHei" panose="020B0503020204020204" pitchFamily="34" charset="-122"/>
              </a:rPr>
              <a:t>缺少统一对比与组合框架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F53A49B-103F-4EF3-1515-FEE62FAE3C23}"/>
              </a:ext>
            </a:extLst>
          </p:cNvPr>
          <p:cNvSpPr/>
          <p:nvPr/>
        </p:nvSpPr>
        <p:spPr>
          <a:xfrm>
            <a:off x="1397000" y="5524500"/>
            <a:ext cx="9398000" cy="4826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 b="1">
                <a:solidFill>
                  <a:srgbClr val="FFFFFF"/>
                </a:solidFill>
                <a:latin typeface="Microsoft YaHei" panose="020B0503020204020204" pitchFamily="34" charset="-122"/>
              </a:rPr>
              <a:t>课题目标由这些短板自然引出：记忆、校验、多专家编排和统一平台。</a:t>
            </a:r>
          </a:p>
        </p:txBody>
      </p:sp>
    </p:spTree>
    <p:extLst>
      <p:ext uri="{BB962C8B-B14F-4D97-AF65-F5344CB8AC3E}">
        <p14:creationId xmlns:p14="http://schemas.microsoft.com/office/powerpoint/2010/main" val="42264347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795727-EB63-8B05-C0BA-FC16CEA965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746D9152-48D3-E0A8-3FF3-2116404376ED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03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BF154AD5-A70A-1962-3AC7-43543A030B62}"/>
              </a:ext>
            </a:extLst>
          </p:cNvPr>
          <p:cNvSpPr txBox="1"/>
          <p:nvPr/>
        </p:nvSpPr>
        <p:spPr>
          <a:xfrm>
            <a:off x="946460" y="269201"/>
            <a:ext cx="7626039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设计思路：学习与补足</a:t>
            </a:r>
            <a:endParaRPr lang="zh-CN" altLang="en-US" sz="3100" b="1" dirty="0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4" name="任意多边形: 形状 93">
            <a:extLst>
              <a:ext uri="{FF2B5EF4-FFF2-40B4-BE49-F238E27FC236}">
                <a16:creationId xmlns:a16="http://schemas.microsoft.com/office/drawing/2014/main" id="{AF1BF063-7278-CF65-8ADD-CE545C77BE17}"/>
              </a:ext>
            </a:extLst>
          </p:cNvPr>
          <p:cNvSpPr/>
          <p:nvPr/>
        </p:nvSpPr>
        <p:spPr>
          <a:xfrm rot="5400000">
            <a:off x="5590187" y="-4418609"/>
            <a:ext cx="1011626" cy="12192000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2">
                  <a:lumMod val="75000"/>
                </a:schemeClr>
              </a:gs>
            </a:gsLst>
            <a:lin ang="5400000" scaled="1"/>
          </a:gradFill>
          <a:ln w="19050" cap="flat" cmpd="sng" algn="ctr">
            <a:noFill/>
            <a:prstDash val="solid"/>
            <a:miter lim="800000"/>
          </a:ln>
          <a:effectLst>
            <a:outerShdw blurRad="152400" dist="190500" dir="13500000" algn="ctr" rotWithShape="0">
              <a:sysClr val="window" lastClr="FFFFFF">
                <a:alpha val="29000"/>
              </a:sys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AB12C38-F258-0776-5BA1-6AC71E57FBDA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8C080ED-5321-17B0-7A42-1AEBBA8981BE}"/>
              </a:ext>
            </a:extLst>
          </p:cNvPr>
          <p:cNvSpPr/>
          <p:nvPr/>
        </p:nvSpPr>
        <p:spPr>
          <a:xfrm>
            <a:off x="431800" y="1168400"/>
            <a:ext cx="113030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设计思路分为两步：提取 </a:t>
            </a:r>
            <a:r>
              <a:rPr lang="en-US" altLang="zh-CN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3R </a:t>
            </a:r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有效机制，再引入新方法补足短板。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7258BD0-2749-F662-ADBD-75FD4ED89AAC}"/>
              </a:ext>
            </a:extLst>
          </p:cNvPr>
          <p:cNvSpPr/>
          <p:nvPr/>
        </p:nvSpPr>
        <p:spPr>
          <a:xfrm>
            <a:off x="698500" y="2032000"/>
            <a:ext cx="4953000" cy="431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从 </a:t>
            </a:r>
            <a:r>
              <a:rPr lang="en-US" altLang="zh-CN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3R </a:t>
            </a:r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中学习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50BC7CB7-07AB-C967-5FCA-A197E36A1AFD}"/>
              </a:ext>
            </a:extLst>
          </p:cNvPr>
          <p:cNvSpPr/>
          <p:nvPr/>
        </p:nvSpPr>
        <p:spPr>
          <a:xfrm>
            <a:off x="698500" y="2489200"/>
            <a:ext cx="4953000" cy="18923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空间记忆：保留已见区域
流式递推：支持长视频
几何校验：推理时自检查
多模型互补：专家各取所长</a:t>
            </a:r>
          </a:p>
        </p:txBody>
      </p:sp>
      <p:sp>
        <p:nvSpPr>
          <p:cNvPr id="10" name="箭头: 右 9">
            <a:extLst>
              <a:ext uri="{FF2B5EF4-FFF2-40B4-BE49-F238E27FC236}">
                <a16:creationId xmlns:a16="http://schemas.microsoft.com/office/drawing/2014/main" id="{B6576154-3718-5832-38F9-44D45848D6C7}"/>
              </a:ext>
            </a:extLst>
          </p:cNvPr>
          <p:cNvSpPr/>
          <p:nvPr/>
        </p:nvSpPr>
        <p:spPr>
          <a:xfrm>
            <a:off x="5905500" y="2921000"/>
            <a:ext cx="533400" cy="330200"/>
          </a:xfrm>
          <a:prstGeom prst="rightArrow">
            <a:avLst/>
          </a:prstGeom>
          <a:solidFill>
            <a:srgbClr val="286FB9"/>
          </a:solidFill>
          <a:ln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12AE759B-3DA3-4E57-EF60-0425FF39DE83}"/>
              </a:ext>
            </a:extLst>
          </p:cNvPr>
          <p:cNvSpPr/>
          <p:nvPr/>
        </p:nvSpPr>
        <p:spPr>
          <a:xfrm>
            <a:off x="6667500" y="2032000"/>
            <a:ext cx="4953000" cy="431800"/>
          </a:xfrm>
          <a:prstGeom prst="rect">
            <a:avLst/>
          </a:prstGeom>
          <a:solidFill>
            <a:srgbClr val="286FB9"/>
          </a:solidFill>
          <a:ln w="12700"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用新方法补足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76CEF459-E8F8-E748-F7E5-E143A418975E}"/>
              </a:ext>
            </a:extLst>
          </p:cNvPr>
          <p:cNvSpPr/>
          <p:nvPr/>
        </p:nvSpPr>
        <p:spPr>
          <a:xfrm>
            <a:off x="6667500" y="2489200"/>
            <a:ext cx="4953000" cy="1892300"/>
          </a:xfrm>
          <a:prstGeom prst="rect">
            <a:avLst/>
          </a:prstGeom>
          <a:solidFill>
            <a:srgbClr val="FFFFFF"/>
          </a:solidFill>
          <a:ln w="12700"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稀疏注意力：管理长序列
</a:t>
            </a:r>
            <a:r>
              <a:rPr lang="en-US" altLang="zh-CN" sz="1900">
                <a:solidFill>
                  <a:srgbClr val="081830"/>
                </a:solidFill>
                <a:latin typeface="Microsoft YaHei" panose="020B0503020204020204" pitchFamily="34" charset="-122"/>
              </a:rPr>
              <a:t>Mamba</a:t>
            </a:r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：线性复杂度递推
</a:t>
            </a:r>
            <a:r>
              <a:rPr lang="en-US" altLang="zh-CN" sz="1900">
                <a:solidFill>
                  <a:srgbClr val="081830"/>
                </a:solidFill>
                <a:latin typeface="Microsoft YaHei" panose="020B0503020204020204" pitchFamily="34" charset="-122"/>
              </a:rPr>
              <a:t>Slot Attention</a:t>
            </a:r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：动静分离
能力描述符：多专家路由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9CDAC3E-06A7-A3B8-AA5E-E7BBD8EC7379}"/>
              </a:ext>
            </a:extLst>
          </p:cNvPr>
          <p:cNvSpPr/>
          <p:nvPr/>
        </p:nvSpPr>
        <p:spPr>
          <a:xfrm>
            <a:off x="1206500" y="5143500"/>
            <a:ext cx="9779000" cy="5334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b="1">
                <a:solidFill>
                  <a:srgbClr val="00285F"/>
                </a:solidFill>
                <a:latin typeface="Microsoft YaHei" panose="020B0503020204020204" pitchFamily="34" charset="-122"/>
              </a:rPr>
              <a:t>本课题的架构由这些机制组合自然推出，并通过实验检验各模块作用。</a:t>
            </a:r>
          </a:p>
        </p:txBody>
      </p:sp>
    </p:spTree>
    <p:extLst>
      <p:ext uri="{BB962C8B-B14F-4D97-AF65-F5344CB8AC3E}">
        <p14:creationId xmlns:p14="http://schemas.microsoft.com/office/powerpoint/2010/main" val="7149736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6C7F92-9293-B59D-2DE6-2DB6188AD3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D974B1A9-EA78-9DDD-0C77-372F5B9CAD76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08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0F0E9114-BD5E-4531-B04D-1539D4EDDF89}"/>
              </a:ext>
            </a:extLst>
          </p:cNvPr>
          <p:cNvSpPr txBox="1"/>
          <p:nvPr/>
        </p:nvSpPr>
        <p:spPr>
          <a:xfrm>
            <a:off x="946461" y="269201"/>
            <a:ext cx="6440714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设计目标与课题两条主线</a:t>
            </a:r>
            <a:endParaRPr lang="zh-CN" altLang="en-US" sz="3100" b="1" dirty="0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6F7A6DB-74F2-141E-CA7D-B028FADACAD5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EC198D8-5643-438F-0B7D-DC131B1D8B96}"/>
              </a:ext>
            </a:extLst>
          </p:cNvPr>
          <p:cNvSpPr/>
          <p:nvPr/>
        </p:nvSpPr>
        <p:spPr>
          <a:xfrm>
            <a:off x="431800" y="1168400"/>
            <a:ext cx="113030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课题包含新架构设计和聚合管理平台两条主线，二者服务于同一组实验目标。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00F1836-771E-DDB0-FA18-BECB61ECB400}"/>
              </a:ext>
            </a:extLst>
          </p:cNvPr>
          <p:cNvSpPr/>
          <p:nvPr/>
        </p:nvSpPr>
        <p:spPr>
          <a:xfrm>
            <a:off x="889000" y="2095500"/>
            <a:ext cx="4445000" cy="431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主线一：新架构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58D34E9-4C01-4ED2-CBA6-1A7BCAACE670}"/>
              </a:ext>
            </a:extLst>
          </p:cNvPr>
          <p:cNvSpPr/>
          <p:nvPr/>
        </p:nvSpPr>
        <p:spPr>
          <a:xfrm>
            <a:off x="889000" y="2552700"/>
            <a:ext cx="4445000" cy="17653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空间记忆
几何校验
多专家编排
长序列与动态场景评测</a:t>
            </a:r>
          </a:p>
        </p:txBody>
      </p:sp>
      <p:sp>
        <p:nvSpPr>
          <p:cNvPr id="6" name="箭头: 右 5">
            <a:extLst>
              <a:ext uri="{FF2B5EF4-FFF2-40B4-BE49-F238E27FC236}">
                <a16:creationId xmlns:a16="http://schemas.microsoft.com/office/drawing/2014/main" id="{D60691FC-D83D-12CE-245A-775235B58CD8}"/>
              </a:ext>
            </a:extLst>
          </p:cNvPr>
          <p:cNvSpPr/>
          <p:nvPr/>
        </p:nvSpPr>
        <p:spPr>
          <a:xfrm>
            <a:off x="5715000" y="2921000"/>
            <a:ext cx="635000" cy="381000"/>
          </a:xfrm>
          <a:prstGeom prst="rightArrow">
            <a:avLst/>
          </a:prstGeom>
          <a:solidFill>
            <a:srgbClr val="286FB9"/>
          </a:solidFill>
          <a:ln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BA9F716-F635-C7DF-2FA4-8D6F67FD28FD}"/>
              </a:ext>
            </a:extLst>
          </p:cNvPr>
          <p:cNvSpPr/>
          <p:nvPr/>
        </p:nvSpPr>
        <p:spPr>
          <a:xfrm>
            <a:off x="6858000" y="2095500"/>
            <a:ext cx="4445000" cy="431800"/>
          </a:xfrm>
          <a:prstGeom prst="rect">
            <a:avLst/>
          </a:prstGeom>
          <a:solidFill>
            <a:srgbClr val="286FB9"/>
          </a:solidFill>
          <a:ln w="12700"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主线二：管理平台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3D4DDCC-FE7C-444C-083A-F3E450D33AF6}"/>
              </a:ext>
            </a:extLst>
          </p:cNvPr>
          <p:cNvSpPr/>
          <p:nvPr/>
        </p:nvSpPr>
        <p:spPr>
          <a:xfrm>
            <a:off x="6858000" y="2552700"/>
            <a:ext cx="4445000" cy="1765300"/>
          </a:xfrm>
          <a:prstGeom prst="rect">
            <a:avLst/>
          </a:prstGeom>
          <a:solidFill>
            <a:srgbClr val="FFFFFF"/>
          </a:solidFill>
          <a:ln w="12700"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模型统一调度
结果统一归集
跨模型对比
新模型快速接入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9A1C10C-6876-9EC7-0383-CECB5270B2D7}"/>
              </a:ext>
            </a:extLst>
          </p:cNvPr>
          <p:cNvSpPr/>
          <p:nvPr/>
        </p:nvSpPr>
        <p:spPr>
          <a:xfrm>
            <a:off x="1206500" y="5080000"/>
            <a:ext cx="9779000" cy="6096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b="1" dirty="0">
                <a:solidFill>
                  <a:srgbClr val="00285F"/>
                </a:solidFill>
                <a:latin typeface="Microsoft YaHei" panose="020B0503020204020204" pitchFamily="34" charset="-122"/>
              </a:rPr>
              <a:t>平台提供统一实验条件；新架构完成</a:t>
            </a:r>
            <a:r>
              <a:rPr lang="zh-CN" altLang="en-US" b="1">
                <a:solidFill>
                  <a:srgbClr val="00285F"/>
                </a:solidFill>
                <a:latin typeface="Microsoft YaHei" panose="020B0503020204020204" pitchFamily="34" charset="-122"/>
              </a:rPr>
              <a:t>后作为新模型</a:t>
            </a:r>
            <a:r>
              <a:rPr lang="zh-CN" altLang="en-US" b="1" dirty="0">
                <a:solidFill>
                  <a:srgbClr val="00285F"/>
                </a:solidFill>
                <a:latin typeface="Microsoft YaHei" panose="020B0503020204020204" pitchFamily="34" charset="-122"/>
              </a:rPr>
              <a:t>接入平台进行同条件比较。</a:t>
            </a:r>
          </a:p>
        </p:txBody>
      </p:sp>
    </p:spTree>
    <p:extLst>
      <p:ext uri="{BB962C8B-B14F-4D97-AF65-F5344CB8AC3E}">
        <p14:creationId xmlns:p14="http://schemas.microsoft.com/office/powerpoint/2010/main" val="9567200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6C7F92-9293-B59D-2DE6-2DB6188AD3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D974B1A9-EA78-9DDD-0C77-372F5B9CAD76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08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0F0E9114-BD5E-4531-B04D-1539D4EDDF89}"/>
              </a:ext>
            </a:extLst>
          </p:cNvPr>
          <p:cNvSpPr txBox="1"/>
          <p:nvPr/>
        </p:nvSpPr>
        <p:spPr>
          <a:xfrm>
            <a:off x="946461" y="269201"/>
            <a:ext cx="6440714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总体架构一览</a:t>
            </a:r>
            <a:endParaRPr lang="zh-CN" altLang="en-US" sz="3100" b="1" dirty="0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D8DB2098-B9D3-7D9F-61D6-CCCB52DE5002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B3F9747-0019-C635-134A-D6B56E0B6EA2}"/>
              </a:ext>
            </a:extLst>
          </p:cNvPr>
          <p:cNvSpPr/>
          <p:nvPr/>
        </p:nvSpPr>
        <p:spPr>
          <a:xfrm>
            <a:off x="431800" y="1168400"/>
            <a:ext cx="113030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输入图像序列后，六个模块依次完成感知、记忆、动静分离、校验和编排。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3CD2EBE-C526-7574-BCF8-910660820300}"/>
              </a:ext>
            </a:extLst>
          </p:cNvPr>
          <p:cNvSpPr/>
          <p:nvPr/>
        </p:nvSpPr>
        <p:spPr>
          <a:xfrm>
            <a:off x="4445000" y="2984500"/>
            <a:ext cx="3302000" cy="10414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MemoryBus
CR-1 </a:t>
            </a:r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至 </a:t>
            </a:r>
            <a:r>
              <a:rPr lang="en-US" altLang="zh-CN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CR-6 </a:t>
            </a:r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类型化交接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74EE202-852E-8FEE-160E-E378C0E159CC}"/>
              </a:ext>
            </a:extLst>
          </p:cNvPr>
          <p:cNvSpPr/>
          <p:nvPr/>
        </p:nvSpPr>
        <p:spPr>
          <a:xfrm>
            <a:off x="889000" y="1905000"/>
            <a:ext cx="3175000" cy="3556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Perceiver</a:t>
            </a:r>
            <a:endParaRPr lang="zh-CN" altLang="en-US" sz="20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DC3E5E7-5DE8-6373-0CCD-F6877EE9E724}"/>
              </a:ext>
            </a:extLst>
          </p:cNvPr>
          <p:cNvSpPr/>
          <p:nvPr/>
        </p:nvSpPr>
        <p:spPr>
          <a:xfrm>
            <a:off x="889000" y="2286000"/>
            <a:ext cx="3175000" cy="4064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500">
                <a:solidFill>
                  <a:srgbClr val="081830"/>
                </a:solidFill>
                <a:latin typeface="Microsoft YaHei" panose="020B0503020204020204" pitchFamily="34" charset="-122"/>
              </a:rPr>
              <a:t>视觉骨干 </a:t>
            </a:r>
            <a:r>
              <a:rPr lang="en-US" altLang="zh-CN" sz="1500">
                <a:solidFill>
                  <a:srgbClr val="081830"/>
                </a:solidFill>
                <a:latin typeface="Microsoft YaHei" panose="020B0503020204020204" pitchFamily="34" charset="-122"/>
              </a:rPr>
              <a:t>/ </a:t>
            </a:r>
            <a:r>
              <a:rPr lang="zh-CN" altLang="en-US" sz="1500">
                <a:solidFill>
                  <a:srgbClr val="081830"/>
                </a:solidFill>
                <a:latin typeface="Microsoft YaHei" panose="020B0503020204020204" pitchFamily="34" charset="-122"/>
              </a:rPr>
              <a:t>特征 </a:t>
            </a:r>
            <a:r>
              <a:rPr lang="en-US" altLang="zh-CN" sz="1500">
                <a:solidFill>
                  <a:srgbClr val="081830"/>
                </a:solidFill>
                <a:latin typeface="Microsoft YaHei" panose="020B0503020204020204" pitchFamily="34" charset="-122"/>
              </a:rPr>
              <a:t>token</a:t>
            </a:r>
            <a:endParaRPr lang="zh-CN" altLang="en-US" sz="1500">
              <a:solidFill>
                <a:srgbClr val="08183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24670C0-38AC-09B5-3DE2-AEA6F5EFF04C}"/>
              </a:ext>
            </a:extLst>
          </p:cNvPr>
          <p:cNvSpPr/>
          <p:nvPr/>
        </p:nvSpPr>
        <p:spPr>
          <a:xfrm>
            <a:off x="8128000" y="1905000"/>
            <a:ext cx="3175000" cy="3556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SpatialMemory</a:t>
            </a:r>
            <a:endParaRPr lang="zh-CN" altLang="en-US" sz="20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9AC2495-B53C-FBB8-C07F-EF297B353214}"/>
              </a:ext>
            </a:extLst>
          </p:cNvPr>
          <p:cNvSpPr/>
          <p:nvPr/>
        </p:nvSpPr>
        <p:spPr>
          <a:xfrm>
            <a:off x="8128000" y="2286000"/>
            <a:ext cx="3175000" cy="4064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500">
                <a:solidFill>
                  <a:srgbClr val="081830"/>
                </a:solidFill>
                <a:latin typeface="Microsoft YaHei" panose="020B0503020204020204" pitchFamily="34" charset="-122"/>
              </a:rPr>
              <a:t>三分支注意力 </a:t>
            </a:r>
            <a:r>
              <a:rPr lang="en-US" altLang="zh-CN" sz="1500">
                <a:solidFill>
                  <a:srgbClr val="081830"/>
                </a:solidFill>
                <a:latin typeface="Microsoft YaHei" panose="020B0503020204020204" pitchFamily="34" charset="-122"/>
              </a:rPr>
              <a:t>/ </a:t>
            </a:r>
            <a:r>
              <a:rPr lang="zh-CN" altLang="en-US" sz="1500">
                <a:solidFill>
                  <a:srgbClr val="081830"/>
                </a:solidFill>
                <a:latin typeface="Microsoft YaHei" panose="020B0503020204020204" pitchFamily="34" charset="-122"/>
              </a:rPr>
              <a:t>空间锚点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CB0785D-4E03-10B2-71DF-55D123F78758}"/>
              </a:ext>
            </a:extLst>
          </p:cNvPr>
          <p:cNvSpPr/>
          <p:nvPr/>
        </p:nvSpPr>
        <p:spPr>
          <a:xfrm>
            <a:off x="889000" y="4318000"/>
            <a:ext cx="3175000" cy="3556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Critic</a:t>
            </a:r>
            <a:endParaRPr lang="zh-CN" altLang="en-US" sz="20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841B18FF-2D55-DB91-CC1C-D644144286D2}"/>
              </a:ext>
            </a:extLst>
          </p:cNvPr>
          <p:cNvSpPr/>
          <p:nvPr/>
        </p:nvSpPr>
        <p:spPr>
          <a:xfrm>
            <a:off x="889000" y="4699000"/>
            <a:ext cx="3175000" cy="4064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500">
                <a:solidFill>
                  <a:srgbClr val="081830"/>
                </a:solidFill>
                <a:latin typeface="Microsoft YaHei" panose="020B0503020204020204" pitchFamily="34" charset="-122"/>
              </a:rPr>
              <a:t>几何冲突检测 </a:t>
            </a:r>
            <a:r>
              <a:rPr lang="en-US" altLang="zh-CN" sz="1500">
                <a:solidFill>
                  <a:srgbClr val="081830"/>
                </a:solidFill>
                <a:latin typeface="Microsoft YaHei" panose="020B0503020204020204" pitchFamily="34" charset="-122"/>
              </a:rPr>
              <a:t>/ </a:t>
            </a:r>
            <a:r>
              <a:rPr lang="zh-CN" altLang="en-US" sz="1500">
                <a:solidFill>
                  <a:srgbClr val="081830"/>
                </a:solidFill>
                <a:latin typeface="Microsoft YaHei" panose="020B0503020204020204" pitchFamily="34" charset="-122"/>
              </a:rPr>
              <a:t>修复动作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8B1A951E-4186-FD5A-B29C-295A0538718C}"/>
              </a:ext>
            </a:extLst>
          </p:cNvPr>
          <p:cNvSpPr/>
          <p:nvPr/>
        </p:nvSpPr>
        <p:spPr>
          <a:xfrm>
            <a:off x="8128000" y="4318000"/>
            <a:ext cx="3175000" cy="3556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Composer</a:t>
            </a:r>
            <a:endParaRPr lang="zh-CN" altLang="en-US" sz="20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5658FEE7-367A-9A3E-2BC8-2192C8D929A1}"/>
              </a:ext>
            </a:extLst>
          </p:cNvPr>
          <p:cNvSpPr/>
          <p:nvPr/>
        </p:nvSpPr>
        <p:spPr>
          <a:xfrm>
            <a:off x="8128000" y="4699000"/>
            <a:ext cx="3175000" cy="4064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500">
                <a:solidFill>
                  <a:srgbClr val="081830"/>
                </a:solidFill>
                <a:latin typeface="Microsoft YaHei" panose="020B0503020204020204" pitchFamily="34" charset="-122"/>
              </a:rPr>
              <a:t>7 </a:t>
            </a:r>
            <a:r>
              <a:rPr lang="zh-CN" altLang="en-US" sz="1500">
                <a:solidFill>
                  <a:srgbClr val="081830"/>
                </a:solidFill>
                <a:latin typeface="Microsoft YaHei" panose="020B0503020204020204" pitchFamily="34" charset="-122"/>
              </a:rPr>
              <a:t>专家池 </a:t>
            </a:r>
            <a:r>
              <a:rPr lang="en-US" altLang="zh-CN" sz="1500">
                <a:solidFill>
                  <a:srgbClr val="081830"/>
                </a:solidFill>
                <a:latin typeface="Microsoft YaHei" panose="020B0503020204020204" pitchFamily="34" charset="-122"/>
              </a:rPr>
              <a:t>/ </a:t>
            </a:r>
            <a:r>
              <a:rPr lang="zh-CN" altLang="en-US" sz="1500">
                <a:solidFill>
                  <a:srgbClr val="081830"/>
                </a:solidFill>
                <a:latin typeface="Microsoft YaHei" panose="020B0503020204020204" pitchFamily="34" charset="-122"/>
              </a:rPr>
              <a:t>能力路由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F0086AC0-752D-E805-8E49-0E0108ACF748}"/>
              </a:ext>
            </a:extLst>
          </p:cNvPr>
          <p:cNvSpPr/>
          <p:nvPr/>
        </p:nvSpPr>
        <p:spPr>
          <a:xfrm>
            <a:off x="4635500" y="4635500"/>
            <a:ext cx="2921000" cy="3556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Permanence</a:t>
            </a:r>
            <a:endParaRPr lang="zh-CN" altLang="en-US" sz="20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5F320782-D792-B6BC-03BF-8433B6243D6B}"/>
              </a:ext>
            </a:extLst>
          </p:cNvPr>
          <p:cNvSpPr/>
          <p:nvPr/>
        </p:nvSpPr>
        <p:spPr>
          <a:xfrm>
            <a:off x="4635500" y="5016500"/>
            <a:ext cx="2921000" cy="4064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500">
                <a:solidFill>
                  <a:srgbClr val="081830"/>
                </a:solidFill>
                <a:latin typeface="Microsoft YaHei" panose="020B0503020204020204" pitchFamily="34" charset="-122"/>
              </a:rPr>
              <a:t>对象身份 </a:t>
            </a:r>
            <a:r>
              <a:rPr lang="en-US" altLang="zh-CN" sz="1500">
                <a:solidFill>
                  <a:srgbClr val="081830"/>
                </a:solidFill>
                <a:latin typeface="Microsoft YaHei" panose="020B0503020204020204" pitchFamily="34" charset="-122"/>
              </a:rPr>
              <a:t>/ </a:t>
            </a:r>
            <a:r>
              <a:rPr lang="zh-CN" altLang="en-US" sz="1500">
                <a:solidFill>
                  <a:srgbClr val="081830"/>
                </a:solidFill>
                <a:latin typeface="Microsoft YaHei" panose="020B0503020204020204" pitchFamily="34" charset="-122"/>
              </a:rPr>
              <a:t>动静分离</a:t>
            </a:r>
          </a:p>
        </p:txBody>
      </p: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4C18AB3F-2C7C-B4AC-0892-F60EB6721841}"/>
              </a:ext>
            </a:extLst>
          </p:cNvPr>
          <p:cNvCxnSpPr/>
          <p:nvPr/>
        </p:nvCxnSpPr>
        <p:spPr>
          <a:xfrm>
            <a:off x="4000500" y="2540000"/>
            <a:ext cx="444500" cy="762000"/>
          </a:xfrm>
          <a:prstGeom prst="line">
            <a:avLst/>
          </a:prstGeom>
          <a:ln w="25400">
            <a:solidFill>
              <a:srgbClr val="286FB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AE123E09-A7A9-92C8-B0F1-398C361EB631}"/>
              </a:ext>
            </a:extLst>
          </p:cNvPr>
          <p:cNvCxnSpPr/>
          <p:nvPr/>
        </p:nvCxnSpPr>
        <p:spPr>
          <a:xfrm flipH="1">
            <a:off x="7747000" y="2540000"/>
            <a:ext cx="444500" cy="762000"/>
          </a:xfrm>
          <a:prstGeom prst="line">
            <a:avLst/>
          </a:prstGeom>
          <a:ln w="25400">
            <a:solidFill>
              <a:srgbClr val="286FB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2818D894-F845-5D08-9B3D-7FBA139250B8}"/>
              </a:ext>
            </a:extLst>
          </p:cNvPr>
          <p:cNvCxnSpPr/>
          <p:nvPr/>
        </p:nvCxnSpPr>
        <p:spPr>
          <a:xfrm flipV="1">
            <a:off x="4000500" y="3708400"/>
            <a:ext cx="444500" cy="990600"/>
          </a:xfrm>
          <a:prstGeom prst="line">
            <a:avLst/>
          </a:prstGeom>
          <a:ln w="25400">
            <a:solidFill>
              <a:srgbClr val="286FB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0D4D5735-9353-C4CB-7AD6-19378E148DDA}"/>
              </a:ext>
            </a:extLst>
          </p:cNvPr>
          <p:cNvCxnSpPr/>
          <p:nvPr/>
        </p:nvCxnSpPr>
        <p:spPr>
          <a:xfrm flipH="1" flipV="1">
            <a:off x="7747000" y="3708400"/>
            <a:ext cx="444500" cy="990600"/>
          </a:xfrm>
          <a:prstGeom prst="line">
            <a:avLst/>
          </a:prstGeom>
          <a:ln w="25400">
            <a:solidFill>
              <a:srgbClr val="286FB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56661890-C039-15F1-5287-B9468F4B98A6}"/>
              </a:ext>
            </a:extLst>
          </p:cNvPr>
          <p:cNvCxnSpPr/>
          <p:nvPr/>
        </p:nvCxnSpPr>
        <p:spPr>
          <a:xfrm flipV="1">
            <a:off x="6096000" y="4025900"/>
            <a:ext cx="0" cy="609600"/>
          </a:xfrm>
          <a:prstGeom prst="line">
            <a:avLst/>
          </a:prstGeom>
          <a:ln w="25400">
            <a:solidFill>
              <a:srgbClr val="286FB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矩形 24">
            <a:extLst>
              <a:ext uri="{FF2B5EF4-FFF2-40B4-BE49-F238E27FC236}">
                <a16:creationId xmlns:a16="http://schemas.microsoft.com/office/drawing/2014/main" id="{5F9F267A-9F7C-E2B7-5244-2D04D143AEAD}"/>
              </a:ext>
            </a:extLst>
          </p:cNvPr>
          <p:cNvSpPr/>
          <p:nvPr/>
        </p:nvSpPr>
        <p:spPr>
          <a:xfrm>
            <a:off x="1524000" y="5588000"/>
            <a:ext cx="9144000" cy="4826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 b="1">
                <a:solidFill>
                  <a:srgbClr val="00285F"/>
                </a:solidFill>
                <a:latin typeface="Microsoft YaHei" panose="020B0503020204020204" pitchFamily="34" charset="-122"/>
              </a:rPr>
              <a:t>输出包括逐帧三维点图、动态掩码和用于复核的中间证据。</a:t>
            </a:r>
          </a:p>
        </p:txBody>
      </p:sp>
    </p:spTree>
    <p:extLst>
      <p:ext uri="{BB962C8B-B14F-4D97-AF65-F5344CB8AC3E}">
        <p14:creationId xmlns:p14="http://schemas.microsoft.com/office/powerpoint/2010/main" val="28437977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6C7F92-9293-B59D-2DE6-2DB6188AD3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D974B1A9-EA78-9DDD-0C77-372F5B9CAD76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08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0F0E9114-BD5E-4531-B04D-1539D4EDDF89}"/>
              </a:ext>
            </a:extLst>
          </p:cNvPr>
          <p:cNvSpPr txBox="1"/>
          <p:nvPr/>
        </p:nvSpPr>
        <p:spPr>
          <a:xfrm>
            <a:off x="946461" y="269201"/>
            <a:ext cx="6440714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空间记忆模块</a:t>
            </a:r>
            <a:endParaRPr lang="zh-CN" altLang="en-US" sz="3100" b="1" dirty="0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7040ED8-4576-77C6-6499-F796A9D4DD17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EA7D747-5643-AB8B-A994-B1EC0165342B}"/>
              </a:ext>
            </a:extLst>
          </p:cNvPr>
          <p:cNvSpPr/>
          <p:nvPr/>
        </p:nvSpPr>
        <p:spPr>
          <a:xfrm>
            <a:off x="431800" y="1168400"/>
            <a:ext cx="113030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空间记忆模块用三条分支同时处理远程记忆、精确回忆和当前上下文。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B5B4EBC-A66A-653F-41D3-0144C23787FE}"/>
              </a:ext>
            </a:extLst>
          </p:cNvPr>
          <p:cNvSpPr/>
          <p:nvPr/>
        </p:nvSpPr>
        <p:spPr>
          <a:xfrm>
            <a:off x="762000" y="2095500"/>
            <a:ext cx="3048000" cy="431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压缩分支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9531BC4-F253-34DB-F566-0B22CF670669}"/>
              </a:ext>
            </a:extLst>
          </p:cNvPr>
          <p:cNvSpPr/>
          <p:nvPr/>
        </p:nvSpPr>
        <p:spPr>
          <a:xfrm>
            <a:off x="762000" y="2552700"/>
            <a:ext cx="3048000" cy="13843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固定长度状态
学习 </a:t>
            </a:r>
            <a:r>
              <a:rPr lang="en-US" altLang="zh-CN" sz="1900">
                <a:solidFill>
                  <a:srgbClr val="081830"/>
                </a:solidFill>
                <a:latin typeface="Microsoft YaHei" panose="020B0503020204020204" pitchFamily="34" charset="-122"/>
              </a:rPr>
              <a:t>CUT3R </a:t>
            </a:r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递推思路</a:t>
            </a:r>
          </a:p>
        </p:txBody>
      </p:sp>
      <p:sp>
        <p:nvSpPr>
          <p:cNvPr id="6" name="箭头: 右 5">
            <a:extLst>
              <a:ext uri="{FF2B5EF4-FFF2-40B4-BE49-F238E27FC236}">
                <a16:creationId xmlns:a16="http://schemas.microsoft.com/office/drawing/2014/main" id="{89CA6D78-3A45-11AA-1C70-EFD3BE809FB9}"/>
              </a:ext>
            </a:extLst>
          </p:cNvPr>
          <p:cNvSpPr/>
          <p:nvPr/>
        </p:nvSpPr>
        <p:spPr>
          <a:xfrm>
            <a:off x="3937000" y="2794000"/>
            <a:ext cx="482600" cy="304800"/>
          </a:xfrm>
          <a:prstGeom prst="rightArrow">
            <a:avLst/>
          </a:prstGeom>
          <a:solidFill>
            <a:srgbClr val="286FB9"/>
          </a:solidFill>
          <a:ln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C0FA253-0B26-9A57-5608-758120C8215B}"/>
              </a:ext>
            </a:extLst>
          </p:cNvPr>
          <p:cNvSpPr/>
          <p:nvPr/>
        </p:nvSpPr>
        <p:spPr>
          <a:xfrm>
            <a:off x="4572000" y="2095500"/>
            <a:ext cx="3048000" cy="431800"/>
          </a:xfrm>
          <a:prstGeom prst="rect">
            <a:avLst/>
          </a:prstGeom>
          <a:solidFill>
            <a:srgbClr val="286FB9"/>
          </a:solidFill>
          <a:ln w="12700"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选择分支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ED624D6-CB5C-2D68-B2DA-E9F8C9A020D7}"/>
              </a:ext>
            </a:extLst>
          </p:cNvPr>
          <p:cNvSpPr/>
          <p:nvPr/>
        </p:nvSpPr>
        <p:spPr>
          <a:xfrm>
            <a:off x="4572000" y="2552700"/>
            <a:ext cx="3048000" cy="1384300"/>
          </a:xfrm>
          <a:prstGeom prst="rect">
            <a:avLst/>
          </a:prstGeom>
          <a:solidFill>
            <a:srgbClr val="FFFFFF"/>
          </a:solidFill>
          <a:ln w="12700"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空间锚点存储
学习 </a:t>
            </a:r>
            <a:r>
              <a:rPr lang="en-US" altLang="zh-CN" sz="1900">
                <a:solidFill>
                  <a:srgbClr val="081830"/>
                </a:solidFill>
                <a:latin typeface="Microsoft YaHei" panose="020B0503020204020204" pitchFamily="34" charset="-122"/>
              </a:rPr>
              <a:t>Spann3R </a:t>
            </a:r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记忆</a:t>
            </a:r>
          </a:p>
        </p:txBody>
      </p:sp>
      <p:sp>
        <p:nvSpPr>
          <p:cNvPr id="9" name="箭头: 右 8">
            <a:extLst>
              <a:ext uri="{FF2B5EF4-FFF2-40B4-BE49-F238E27FC236}">
                <a16:creationId xmlns:a16="http://schemas.microsoft.com/office/drawing/2014/main" id="{A913A72D-AF6C-6AB0-A991-1A50EA8C0F6A}"/>
              </a:ext>
            </a:extLst>
          </p:cNvPr>
          <p:cNvSpPr/>
          <p:nvPr/>
        </p:nvSpPr>
        <p:spPr>
          <a:xfrm>
            <a:off x="7747000" y="2794000"/>
            <a:ext cx="482600" cy="304800"/>
          </a:xfrm>
          <a:prstGeom prst="rightArrow">
            <a:avLst/>
          </a:prstGeom>
          <a:solidFill>
            <a:srgbClr val="286FB9"/>
          </a:solidFill>
          <a:ln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8270DA45-0378-237D-0D1F-0F4092A635D0}"/>
              </a:ext>
            </a:extLst>
          </p:cNvPr>
          <p:cNvSpPr/>
          <p:nvPr/>
        </p:nvSpPr>
        <p:spPr>
          <a:xfrm>
            <a:off x="8382000" y="2095500"/>
            <a:ext cx="3048000" cy="431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滑窗分支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E69199B-2094-2200-4F94-8B9CED0E2E0E}"/>
              </a:ext>
            </a:extLst>
          </p:cNvPr>
          <p:cNvSpPr/>
          <p:nvPr/>
        </p:nvSpPr>
        <p:spPr>
          <a:xfrm>
            <a:off x="8382000" y="2552700"/>
            <a:ext cx="3048000" cy="13843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900">
                <a:solidFill>
                  <a:srgbClr val="081830"/>
                </a:solidFill>
                <a:latin typeface="Microsoft YaHei" panose="020B0503020204020204" pitchFamily="34" charset="-122"/>
              </a:rPr>
              <a:t>Mamba + Transformer
</a:t>
            </a:r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兼顾效率与精度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A10F9E02-CE68-B8B0-B326-4EB8B68EBED1}"/>
              </a:ext>
            </a:extLst>
          </p:cNvPr>
          <p:cNvSpPr/>
          <p:nvPr/>
        </p:nvSpPr>
        <p:spPr>
          <a:xfrm>
            <a:off x="1206500" y="4635500"/>
            <a:ext cx="9779000" cy="5842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00285F"/>
                </a:solidFill>
                <a:latin typeface="Microsoft YaHei" panose="020B0503020204020204" pitchFamily="34" charset="-122"/>
              </a:rPr>
              <a:t>压缩管远，选择管精，滑窗管近；后续实验检验三者贡献。</a:t>
            </a:r>
          </a:p>
        </p:txBody>
      </p:sp>
    </p:spTree>
    <p:extLst>
      <p:ext uri="{BB962C8B-B14F-4D97-AF65-F5344CB8AC3E}">
        <p14:creationId xmlns:p14="http://schemas.microsoft.com/office/powerpoint/2010/main" val="42688027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6C7F92-9293-B59D-2DE6-2DB6188AD3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D974B1A9-EA78-9DDD-0C77-372F5B9CAD76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08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0F0E9114-BD5E-4531-B04D-1539D4EDDF89}"/>
              </a:ext>
            </a:extLst>
          </p:cNvPr>
          <p:cNvSpPr txBox="1"/>
          <p:nvPr/>
        </p:nvSpPr>
        <p:spPr>
          <a:xfrm>
            <a:off x="946461" y="269201"/>
            <a:ext cx="6440714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几何校验模块</a:t>
            </a:r>
            <a:endParaRPr lang="zh-CN" altLang="en-US" sz="3100" b="1" dirty="0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526666D5-1709-97DC-A2FB-D6466A4168C6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E4966C1-AE2C-3CF8-93F8-E6E9F6111908}"/>
              </a:ext>
            </a:extLst>
          </p:cNvPr>
          <p:cNvSpPr/>
          <p:nvPr/>
        </p:nvSpPr>
        <p:spPr>
          <a:xfrm>
            <a:off x="431800" y="1168400"/>
            <a:ext cx="113030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几何校验模块用三类信号检测错误，并按冲突强度选择修复动作。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30657F9-A863-64B3-0209-B451FB383681}"/>
              </a:ext>
            </a:extLst>
          </p:cNvPr>
          <p:cNvSpPr/>
          <p:nvPr/>
        </p:nvSpPr>
        <p:spPr>
          <a:xfrm>
            <a:off x="952500" y="2222500"/>
            <a:ext cx="2667000" cy="431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输入信号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69426E7-40FF-9E0E-07E0-886FCB907E98}"/>
              </a:ext>
            </a:extLst>
          </p:cNvPr>
          <p:cNvSpPr/>
          <p:nvPr/>
        </p:nvSpPr>
        <p:spPr>
          <a:xfrm>
            <a:off x="952500" y="2679700"/>
            <a:ext cx="2667000" cy="1193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点图对
置信度
共视关系</a:t>
            </a:r>
          </a:p>
        </p:txBody>
      </p:sp>
      <p:sp>
        <p:nvSpPr>
          <p:cNvPr id="6" name="箭头: 右 5">
            <a:extLst>
              <a:ext uri="{FF2B5EF4-FFF2-40B4-BE49-F238E27FC236}">
                <a16:creationId xmlns:a16="http://schemas.microsoft.com/office/drawing/2014/main" id="{FF4782D8-8881-DED3-F239-2DFC15EFB6FF}"/>
              </a:ext>
            </a:extLst>
          </p:cNvPr>
          <p:cNvSpPr/>
          <p:nvPr/>
        </p:nvSpPr>
        <p:spPr>
          <a:xfrm>
            <a:off x="3810000" y="2857500"/>
            <a:ext cx="533400" cy="330200"/>
          </a:xfrm>
          <a:prstGeom prst="rightArrow">
            <a:avLst/>
          </a:prstGeom>
          <a:solidFill>
            <a:srgbClr val="286FB9"/>
          </a:solidFill>
          <a:ln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DA82822-8C82-E81C-C171-E8877271127C}"/>
              </a:ext>
            </a:extLst>
          </p:cNvPr>
          <p:cNvSpPr/>
          <p:nvPr/>
        </p:nvSpPr>
        <p:spPr>
          <a:xfrm>
            <a:off x="4635500" y="1968500"/>
            <a:ext cx="2921000" cy="431800"/>
          </a:xfrm>
          <a:prstGeom prst="rect">
            <a:avLst/>
          </a:prstGeom>
          <a:solidFill>
            <a:srgbClr val="286FB9"/>
          </a:solidFill>
          <a:ln w="12700"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几何 </a:t>
            </a:r>
            <a:r>
              <a:rPr lang="en-US" altLang="zh-CN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Critic</a:t>
            </a:r>
            <a:endParaRPr lang="zh-CN" altLang="en-US" sz="19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F432901-A9FF-A591-9018-1EB8E90A90C2}"/>
              </a:ext>
            </a:extLst>
          </p:cNvPr>
          <p:cNvSpPr/>
          <p:nvPr/>
        </p:nvSpPr>
        <p:spPr>
          <a:xfrm>
            <a:off x="4635500" y="2425700"/>
            <a:ext cx="2921000" cy="1701800"/>
          </a:xfrm>
          <a:prstGeom prst="rect">
            <a:avLst/>
          </a:prstGeom>
          <a:solidFill>
            <a:srgbClr val="FFFFFF"/>
          </a:solidFill>
          <a:ln w="12700"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900">
                <a:solidFill>
                  <a:srgbClr val="081830"/>
                </a:solidFill>
                <a:latin typeface="Microsoft YaHei" panose="020B0503020204020204" pitchFamily="34" charset="-122"/>
              </a:rPr>
              <a:t>Sampson </a:t>
            </a:r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残差
深度一致性
共视冲突
冲突评分</a:t>
            </a:r>
          </a:p>
        </p:txBody>
      </p:sp>
      <p:sp>
        <p:nvSpPr>
          <p:cNvPr id="9" name="箭头: 右 8">
            <a:extLst>
              <a:ext uri="{FF2B5EF4-FFF2-40B4-BE49-F238E27FC236}">
                <a16:creationId xmlns:a16="http://schemas.microsoft.com/office/drawing/2014/main" id="{A7471056-D185-3314-EDA4-2E81F6AA8EA0}"/>
              </a:ext>
            </a:extLst>
          </p:cNvPr>
          <p:cNvSpPr/>
          <p:nvPr/>
        </p:nvSpPr>
        <p:spPr>
          <a:xfrm>
            <a:off x="7747000" y="2857500"/>
            <a:ext cx="533400" cy="330200"/>
          </a:xfrm>
          <a:prstGeom prst="rightArrow">
            <a:avLst/>
          </a:prstGeom>
          <a:solidFill>
            <a:srgbClr val="286FB9"/>
          </a:solidFill>
          <a:ln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3A8C10D6-62C8-403C-30D7-1C1334D92A86}"/>
              </a:ext>
            </a:extLst>
          </p:cNvPr>
          <p:cNvSpPr/>
          <p:nvPr/>
        </p:nvSpPr>
        <p:spPr>
          <a:xfrm>
            <a:off x="8572500" y="2222500"/>
            <a:ext cx="2667000" cy="431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修复动作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862B3BC3-D15C-E55D-613E-A77485181D38}"/>
              </a:ext>
            </a:extLst>
          </p:cNvPr>
          <p:cNvSpPr/>
          <p:nvPr/>
        </p:nvSpPr>
        <p:spPr>
          <a:xfrm>
            <a:off x="8572500" y="2679700"/>
            <a:ext cx="2667000" cy="1193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不修复
局部重跑
全窗口重跑
路由切换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E0A6F437-2290-2B30-DF3B-675BFC72BDC6}"/>
              </a:ext>
            </a:extLst>
          </p:cNvPr>
          <p:cNvSpPr/>
          <p:nvPr/>
        </p:nvSpPr>
        <p:spPr>
          <a:xfrm>
            <a:off x="1206500" y="4889500"/>
            <a:ext cx="9779000" cy="5842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b="1">
                <a:solidFill>
                  <a:srgbClr val="00285F"/>
                </a:solidFill>
                <a:latin typeface="Microsoft YaHei" panose="020B0503020204020204" pitchFamily="34" charset="-122"/>
              </a:rPr>
              <a:t>校验理念来自 </a:t>
            </a:r>
            <a:r>
              <a:rPr lang="en-US" altLang="zh-CN" b="1">
                <a:solidFill>
                  <a:srgbClr val="00285F"/>
                </a:solidFill>
                <a:latin typeface="Microsoft YaHei" panose="020B0503020204020204" pitchFamily="34" charset="-122"/>
              </a:rPr>
              <a:t>Test3R</a:t>
            </a:r>
            <a:r>
              <a:rPr lang="zh-CN" altLang="en-US" b="1">
                <a:solidFill>
                  <a:srgbClr val="00285F"/>
                </a:solidFill>
                <a:latin typeface="Microsoft YaHei" panose="020B0503020204020204" pitchFamily="34" charset="-122"/>
              </a:rPr>
              <a:t>，本课题将其纳入架构内部并连接修复动作。</a:t>
            </a:r>
          </a:p>
        </p:txBody>
      </p:sp>
    </p:spTree>
    <p:extLst>
      <p:ext uri="{BB962C8B-B14F-4D97-AF65-F5344CB8AC3E}">
        <p14:creationId xmlns:p14="http://schemas.microsoft.com/office/powerpoint/2010/main" val="25482529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6C7F92-9293-B59D-2DE6-2DB6188AD3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D974B1A9-EA78-9DDD-0C77-372F5B9CAD76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08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0F0E9114-BD5E-4531-B04D-1539D4EDDF89}"/>
              </a:ext>
            </a:extLst>
          </p:cNvPr>
          <p:cNvSpPr txBox="1"/>
          <p:nvPr/>
        </p:nvSpPr>
        <p:spPr>
          <a:xfrm>
            <a:off x="946461" y="269201"/>
            <a:ext cx="6440714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多专家编排模块</a:t>
            </a:r>
            <a:endParaRPr lang="zh-CN" altLang="en-US" sz="3100" b="1" dirty="0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B7C72C5-C896-C23C-58D2-13FEBA1E42AF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5C134C9-B54D-5944-839E-BCFABDE0D4B4}"/>
              </a:ext>
            </a:extLst>
          </p:cNvPr>
          <p:cNvSpPr/>
          <p:nvPr/>
        </p:nvSpPr>
        <p:spPr>
          <a:xfrm>
            <a:off x="431800" y="1168400"/>
            <a:ext cx="113030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多专家编排模块根据输入条件和校验结果在七个模型专家之间切换。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6B61629-9E66-7B91-6DEC-D7EFC2B2CFAB}"/>
              </a:ext>
            </a:extLst>
          </p:cNvPr>
          <p:cNvSpPr/>
          <p:nvPr/>
        </p:nvSpPr>
        <p:spPr>
          <a:xfrm>
            <a:off x="609600" y="1905000"/>
            <a:ext cx="2286000" cy="6350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500" b="1">
                <a:solidFill>
                  <a:srgbClr val="00285F"/>
                </a:solidFill>
                <a:latin typeface="Microsoft YaHei" panose="020B0503020204020204" pitchFamily="34" charset="-122"/>
              </a:rPr>
              <a:t>MASt3R
</a:t>
            </a:r>
            <a:r>
              <a:rPr lang="zh-CN" altLang="en-US" sz="1500" b="1">
                <a:solidFill>
                  <a:srgbClr val="00285F"/>
                </a:solidFill>
                <a:latin typeface="Microsoft YaHei" panose="020B0503020204020204" pitchFamily="34" charset="-122"/>
              </a:rPr>
              <a:t>静态对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009E2A2-D1DC-710B-F379-1B72D48F804C}"/>
              </a:ext>
            </a:extLst>
          </p:cNvPr>
          <p:cNvSpPr/>
          <p:nvPr/>
        </p:nvSpPr>
        <p:spPr>
          <a:xfrm>
            <a:off x="3340100" y="1905000"/>
            <a:ext cx="2286000" cy="6350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500" b="1">
                <a:solidFill>
                  <a:srgbClr val="00285F"/>
                </a:solidFill>
                <a:latin typeface="Microsoft YaHei" panose="020B0503020204020204" pitchFamily="34" charset="-122"/>
              </a:rPr>
              <a:t>Fast3R
</a:t>
            </a:r>
            <a:r>
              <a:rPr lang="zh-CN" altLang="en-US" sz="1500" b="1">
                <a:solidFill>
                  <a:srgbClr val="00285F"/>
                </a:solidFill>
                <a:latin typeface="Microsoft YaHei" panose="020B0503020204020204" pitchFamily="34" charset="-122"/>
              </a:rPr>
              <a:t>多视图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7F88748-46F9-40E3-40C4-783B744CE7F6}"/>
              </a:ext>
            </a:extLst>
          </p:cNvPr>
          <p:cNvSpPr/>
          <p:nvPr/>
        </p:nvSpPr>
        <p:spPr>
          <a:xfrm>
            <a:off x="6070600" y="1905000"/>
            <a:ext cx="2286000" cy="6350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500" b="1">
                <a:solidFill>
                  <a:srgbClr val="00285F"/>
                </a:solidFill>
                <a:latin typeface="Microsoft YaHei" panose="020B0503020204020204" pitchFamily="34" charset="-122"/>
              </a:rPr>
              <a:t>Spann3R
</a:t>
            </a:r>
            <a:r>
              <a:rPr lang="zh-CN" altLang="en-US" sz="1500" b="1">
                <a:solidFill>
                  <a:srgbClr val="00285F"/>
                </a:solidFill>
                <a:latin typeface="Microsoft YaHei" panose="020B0503020204020204" pitchFamily="34" charset="-122"/>
              </a:rPr>
              <a:t>流式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BE3708D-83D4-EF95-9DDE-07E1807C0795}"/>
              </a:ext>
            </a:extLst>
          </p:cNvPr>
          <p:cNvSpPr/>
          <p:nvPr/>
        </p:nvSpPr>
        <p:spPr>
          <a:xfrm>
            <a:off x="8801100" y="1905000"/>
            <a:ext cx="2286000" cy="6350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500" b="1">
                <a:solidFill>
                  <a:srgbClr val="00285F"/>
                </a:solidFill>
                <a:latin typeface="Microsoft YaHei" panose="020B0503020204020204" pitchFamily="34" charset="-122"/>
              </a:rPr>
              <a:t>CUT3R
</a:t>
            </a:r>
            <a:r>
              <a:rPr lang="zh-CN" altLang="en-US" sz="1500" b="1">
                <a:solidFill>
                  <a:srgbClr val="00285F"/>
                </a:solidFill>
                <a:latin typeface="Microsoft YaHei" panose="020B0503020204020204" pitchFamily="34" charset="-122"/>
              </a:rPr>
              <a:t>动态容忍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E8884C1-9EF1-F7C6-1008-D5FB4FB20787}"/>
              </a:ext>
            </a:extLst>
          </p:cNvPr>
          <p:cNvSpPr/>
          <p:nvPr/>
        </p:nvSpPr>
        <p:spPr>
          <a:xfrm>
            <a:off x="609600" y="2857500"/>
            <a:ext cx="2286000" cy="6350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500" b="1">
                <a:solidFill>
                  <a:srgbClr val="00285F"/>
                </a:solidFill>
                <a:latin typeface="Microsoft YaHei" panose="020B0503020204020204" pitchFamily="34" charset="-122"/>
              </a:rPr>
              <a:t>MoGe-2
</a:t>
            </a:r>
            <a:r>
              <a:rPr lang="zh-CN" altLang="en-US" sz="1500" b="1">
                <a:solidFill>
                  <a:srgbClr val="00285F"/>
                </a:solidFill>
                <a:latin typeface="Microsoft YaHei" panose="020B0503020204020204" pitchFamily="34" charset="-122"/>
              </a:rPr>
              <a:t>单目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83C195E-4443-216A-0292-EDAC28E21188}"/>
              </a:ext>
            </a:extLst>
          </p:cNvPr>
          <p:cNvSpPr/>
          <p:nvPr/>
        </p:nvSpPr>
        <p:spPr>
          <a:xfrm>
            <a:off x="3340100" y="2857500"/>
            <a:ext cx="2286000" cy="6350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500" b="1">
                <a:solidFill>
                  <a:srgbClr val="00285F"/>
                </a:solidFill>
                <a:latin typeface="Microsoft YaHei" panose="020B0503020204020204" pitchFamily="34" charset="-122"/>
              </a:rPr>
              <a:t>DepthAnything
</a:t>
            </a:r>
            <a:r>
              <a:rPr lang="zh-CN" altLang="en-US" sz="1500" b="1">
                <a:solidFill>
                  <a:srgbClr val="00285F"/>
                </a:solidFill>
                <a:latin typeface="Microsoft YaHei" panose="020B0503020204020204" pitchFamily="34" charset="-122"/>
              </a:rPr>
              <a:t>深度先验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3E42A0DD-ACA7-734B-A026-1E5377FA8A31}"/>
              </a:ext>
            </a:extLst>
          </p:cNvPr>
          <p:cNvSpPr/>
          <p:nvPr/>
        </p:nvSpPr>
        <p:spPr>
          <a:xfrm>
            <a:off x="6070600" y="2857500"/>
            <a:ext cx="2286000" cy="6350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500" b="1">
                <a:solidFill>
                  <a:srgbClr val="00285F"/>
                </a:solidFill>
                <a:latin typeface="Microsoft YaHei" panose="020B0503020204020204" pitchFamily="34" charset="-122"/>
              </a:rPr>
              <a:t>Test3R
</a:t>
            </a:r>
            <a:r>
              <a:rPr lang="zh-CN" altLang="en-US" sz="1500" b="1">
                <a:solidFill>
                  <a:srgbClr val="00285F"/>
                </a:solidFill>
                <a:latin typeface="Microsoft YaHei" panose="020B0503020204020204" pitchFamily="34" charset="-122"/>
              </a:rPr>
              <a:t>校验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A0C5DC6E-7A35-CF4C-9117-843B5DFF886D}"/>
              </a:ext>
            </a:extLst>
          </p:cNvPr>
          <p:cNvSpPr/>
          <p:nvPr/>
        </p:nvSpPr>
        <p:spPr>
          <a:xfrm>
            <a:off x="1841500" y="4191000"/>
            <a:ext cx="2667000" cy="7366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b="1">
                <a:solidFill>
                  <a:srgbClr val="00285F"/>
                </a:solidFill>
                <a:latin typeface="Microsoft YaHei" panose="020B0503020204020204" pitchFamily="34" charset="-122"/>
              </a:rPr>
              <a:t>能力匹配度跨度</a:t>
            </a:r>
          </a:p>
        </p:txBody>
      </p:sp>
      <p:sp>
        <p:nvSpPr>
          <p:cNvPr id="12" name="箭头: 右 11">
            <a:extLst>
              <a:ext uri="{FF2B5EF4-FFF2-40B4-BE49-F238E27FC236}">
                <a16:creationId xmlns:a16="http://schemas.microsoft.com/office/drawing/2014/main" id="{D962B292-119B-95FA-6AAD-703204A1CDA8}"/>
              </a:ext>
            </a:extLst>
          </p:cNvPr>
          <p:cNvSpPr/>
          <p:nvPr/>
        </p:nvSpPr>
        <p:spPr>
          <a:xfrm>
            <a:off x="4635500" y="4419600"/>
            <a:ext cx="508000" cy="304800"/>
          </a:xfrm>
          <a:prstGeom prst="rightArrow">
            <a:avLst/>
          </a:prstGeom>
          <a:solidFill>
            <a:srgbClr val="286FB9"/>
          </a:solidFill>
          <a:ln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B0A4F155-E5D3-2722-DEE1-2972A07A9063}"/>
              </a:ext>
            </a:extLst>
          </p:cNvPr>
          <p:cNvSpPr/>
          <p:nvPr/>
        </p:nvSpPr>
        <p:spPr>
          <a:xfrm>
            <a:off x="5270500" y="4191000"/>
            <a:ext cx="2667000" cy="7366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b="1">
                <a:solidFill>
                  <a:srgbClr val="00285F"/>
                </a:solidFill>
                <a:latin typeface="Microsoft YaHei" panose="020B0503020204020204" pitchFamily="34" charset="-122"/>
              </a:rPr>
              <a:t>成本调整解析平局</a:t>
            </a:r>
          </a:p>
        </p:txBody>
      </p:sp>
      <p:sp>
        <p:nvSpPr>
          <p:cNvPr id="14" name="箭头: 右 13">
            <a:extLst>
              <a:ext uri="{FF2B5EF4-FFF2-40B4-BE49-F238E27FC236}">
                <a16:creationId xmlns:a16="http://schemas.microsoft.com/office/drawing/2014/main" id="{7479B4CA-5537-2221-E191-AA4A8C819AC5}"/>
              </a:ext>
            </a:extLst>
          </p:cNvPr>
          <p:cNvSpPr/>
          <p:nvPr/>
        </p:nvSpPr>
        <p:spPr>
          <a:xfrm>
            <a:off x="8064500" y="4419600"/>
            <a:ext cx="508000" cy="304800"/>
          </a:xfrm>
          <a:prstGeom prst="rightArrow">
            <a:avLst/>
          </a:prstGeom>
          <a:solidFill>
            <a:srgbClr val="286FB9"/>
          </a:solidFill>
          <a:ln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D1F0AE54-59FB-18ED-E7B6-FAC91EEC04CF}"/>
              </a:ext>
            </a:extLst>
          </p:cNvPr>
          <p:cNvSpPr/>
          <p:nvPr/>
        </p:nvSpPr>
        <p:spPr>
          <a:xfrm>
            <a:off x="8699500" y="4191000"/>
            <a:ext cx="1905000" cy="7366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b="1">
                <a:solidFill>
                  <a:srgbClr val="00285F"/>
                </a:solidFill>
                <a:latin typeface="Microsoft YaHei" panose="020B0503020204020204" pitchFamily="34" charset="-122"/>
              </a:rPr>
              <a:t>失败退化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BC6C487D-0121-48EB-C444-5B6258FC73FB}"/>
              </a:ext>
            </a:extLst>
          </p:cNvPr>
          <p:cNvSpPr/>
          <p:nvPr/>
        </p:nvSpPr>
        <p:spPr>
          <a:xfrm>
            <a:off x="1206500" y="5461000"/>
            <a:ext cx="9779000" cy="4826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 b="1">
                <a:solidFill>
                  <a:srgbClr val="FFFFFF"/>
                </a:solidFill>
                <a:latin typeface="Microsoft YaHei" panose="020B0503020204020204" pitchFamily="34" charset="-122"/>
              </a:rPr>
              <a:t>单模型各有优势场景，多专家路由用于提升复杂输入下的适应能力。</a:t>
            </a:r>
          </a:p>
        </p:txBody>
      </p:sp>
    </p:spTree>
    <p:extLst>
      <p:ext uri="{BB962C8B-B14F-4D97-AF65-F5344CB8AC3E}">
        <p14:creationId xmlns:p14="http://schemas.microsoft.com/office/powerpoint/2010/main" val="9408729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795727-EB63-8B05-C0BA-FC16CEA965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746D9152-48D3-E0A8-3FF3-2116404376ED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03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BF154AD5-A70A-1962-3AC7-43543A030B62}"/>
              </a:ext>
            </a:extLst>
          </p:cNvPr>
          <p:cNvSpPr txBox="1"/>
          <p:nvPr/>
        </p:nvSpPr>
        <p:spPr>
          <a:xfrm>
            <a:off x="946460" y="269201"/>
            <a:ext cx="7626039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当前实现进展</a:t>
            </a:r>
            <a:endParaRPr lang="zh-CN" altLang="en-US" sz="3100" b="1" dirty="0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4" name="任意多边形: 形状 93">
            <a:extLst>
              <a:ext uri="{FF2B5EF4-FFF2-40B4-BE49-F238E27FC236}">
                <a16:creationId xmlns:a16="http://schemas.microsoft.com/office/drawing/2014/main" id="{AF1BF063-7278-CF65-8ADD-CE545C77BE17}"/>
              </a:ext>
            </a:extLst>
          </p:cNvPr>
          <p:cNvSpPr/>
          <p:nvPr/>
        </p:nvSpPr>
        <p:spPr>
          <a:xfrm rot="5400000">
            <a:off x="5590187" y="-4418609"/>
            <a:ext cx="1011626" cy="12192000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2">
                  <a:lumMod val="75000"/>
                </a:schemeClr>
              </a:gs>
            </a:gsLst>
            <a:lin ang="5400000" scaled="1"/>
          </a:gradFill>
          <a:ln w="19050" cap="flat" cmpd="sng" algn="ctr">
            <a:noFill/>
            <a:prstDash val="solid"/>
            <a:miter lim="800000"/>
          </a:ln>
          <a:effectLst>
            <a:outerShdw blurRad="152400" dist="190500" dir="13500000" algn="ctr" rotWithShape="0">
              <a:sysClr val="window" lastClr="FFFFFF">
                <a:alpha val="29000"/>
              </a:sys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FA923EE-D57C-9E89-A266-8DB2F0F86C1E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F67E522-DA93-B8A9-C33A-E0247284A7E2}"/>
              </a:ext>
            </a:extLst>
          </p:cNvPr>
          <p:cNvSpPr/>
          <p:nvPr/>
        </p:nvSpPr>
        <p:spPr>
          <a:xfrm>
            <a:off x="431800" y="1168400"/>
            <a:ext cx="113030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架构原型 </a:t>
            </a:r>
            <a:r>
              <a:rPr lang="en-US" altLang="zh-CN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v0.3 </a:t>
            </a:r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已跑通端到端流水线，当前为集成验证阶段。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046EDE8-B82F-E520-9357-C1B13CC092D6}"/>
              </a:ext>
            </a:extLst>
          </p:cNvPr>
          <p:cNvSpPr/>
          <p:nvPr/>
        </p:nvSpPr>
        <p:spPr>
          <a:xfrm>
            <a:off x="1016000" y="1841500"/>
            <a:ext cx="1905000" cy="558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原型状态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B0308FA0-B3D2-811A-5E04-7E2C80338896}"/>
              </a:ext>
            </a:extLst>
          </p:cNvPr>
          <p:cNvSpPr/>
          <p:nvPr/>
        </p:nvSpPr>
        <p:spPr>
          <a:xfrm>
            <a:off x="3238500" y="1841500"/>
            <a:ext cx="7747000" cy="55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700">
                <a:solidFill>
                  <a:srgbClr val="081830"/>
                </a:solidFill>
                <a:latin typeface="Microsoft YaHei" panose="020B0503020204020204" pitchFamily="34" charset="-122"/>
              </a:rPr>
              <a:t>v0.3 </a:t>
            </a:r>
            <a:r>
              <a:rPr lang="zh-CN" altLang="en-US" sz="1700">
                <a:solidFill>
                  <a:srgbClr val="081830"/>
                </a:solidFill>
                <a:latin typeface="Microsoft YaHei" panose="020B0503020204020204" pitchFamily="34" charset="-122"/>
              </a:rPr>
              <a:t>端到端流水线已跑通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629A64CB-928D-2B1E-EEF1-CDCD515E888A}"/>
              </a:ext>
            </a:extLst>
          </p:cNvPr>
          <p:cNvSpPr/>
          <p:nvPr/>
        </p:nvSpPr>
        <p:spPr>
          <a:xfrm>
            <a:off x="1016000" y="2628900"/>
            <a:ext cx="1905000" cy="558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技术里程碑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902E3F5D-88FB-0A05-89A7-3AEF5F4D53AF}"/>
              </a:ext>
            </a:extLst>
          </p:cNvPr>
          <p:cNvSpPr/>
          <p:nvPr/>
        </p:nvSpPr>
        <p:spPr>
          <a:xfrm>
            <a:off x="3238500" y="2628900"/>
            <a:ext cx="7747000" cy="5588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700">
                <a:solidFill>
                  <a:srgbClr val="00285F"/>
                </a:solidFill>
                <a:latin typeface="Microsoft YaHei" panose="020B0503020204020204" pitchFamily="34" charset="-122"/>
              </a:rPr>
              <a:t>18 </a:t>
            </a:r>
            <a:r>
              <a:rPr lang="zh-CN" altLang="en-US" sz="1700">
                <a:solidFill>
                  <a:srgbClr val="00285F"/>
                </a:solidFill>
                <a:latin typeface="Microsoft YaHei" panose="020B0503020204020204" pitchFamily="34" charset="-122"/>
              </a:rPr>
              <a:t>项完成：视觉骨干、三维检索、校验流程、</a:t>
            </a:r>
            <a:r>
              <a:rPr lang="en-US" altLang="zh-CN" sz="1700">
                <a:solidFill>
                  <a:srgbClr val="00285F"/>
                </a:solidFill>
                <a:latin typeface="Microsoft YaHei" panose="020B0503020204020204" pitchFamily="34" charset="-122"/>
              </a:rPr>
              <a:t>Mamba </a:t>
            </a:r>
            <a:r>
              <a:rPr lang="zh-CN" altLang="en-US" sz="1700">
                <a:solidFill>
                  <a:srgbClr val="00285F"/>
                </a:solidFill>
                <a:latin typeface="Microsoft YaHei" panose="020B0503020204020204" pitchFamily="34" charset="-122"/>
              </a:rPr>
              <a:t>循环等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2CF32CB0-971B-2621-9B2D-6D98EB41063D}"/>
              </a:ext>
            </a:extLst>
          </p:cNvPr>
          <p:cNvSpPr/>
          <p:nvPr/>
        </p:nvSpPr>
        <p:spPr>
          <a:xfrm>
            <a:off x="1016000" y="3416300"/>
            <a:ext cx="1905000" cy="558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KITTI </a:t>
            </a:r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验证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20F393A-182E-0B65-54A4-1B2D920E203E}"/>
              </a:ext>
            </a:extLst>
          </p:cNvPr>
          <p:cNvSpPr/>
          <p:nvPr/>
        </p:nvSpPr>
        <p:spPr>
          <a:xfrm>
            <a:off x="3238500" y="3416300"/>
            <a:ext cx="7747000" cy="55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>
                <a:solidFill>
                  <a:srgbClr val="081830"/>
                </a:solidFill>
                <a:latin typeface="Microsoft YaHei" panose="020B0503020204020204" pitchFamily="34" charset="-122"/>
              </a:rPr>
              <a:t>端到端运行无崩溃，点图 </a:t>
            </a:r>
            <a:r>
              <a:rPr lang="en-US" altLang="zh-CN" sz="1700">
                <a:solidFill>
                  <a:srgbClr val="081830"/>
                </a:solidFill>
                <a:latin typeface="Microsoft YaHei" panose="020B0503020204020204" pitchFamily="34" charset="-122"/>
              </a:rPr>
              <a:t>L2 = 20.47</a:t>
            </a:r>
            <a:endParaRPr lang="zh-CN" altLang="en-US" sz="1700">
              <a:solidFill>
                <a:srgbClr val="08183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CA9E3D57-5B83-03E8-D30A-E55B9DD241D8}"/>
              </a:ext>
            </a:extLst>
          </p:cNvPr>
          <p:cNvSpPr/>
          <p:nvPr/>
        </p:nvSpPr>
        <p:spPr>
          <a:xfrm>
            <a:off x="1016000" y="4203700"/>
            <a:ext cx="1905000" cy="558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阶段边界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1B7DBCFF-52CD-DB70-3454-126AC8329D93}"/>
              </a:ext>
            </a:extLst>
          </p:cNvPr>
          <p:cNvSpPr/>
          <p:nvPr/>
        </p:nvSpPr>
        <p:spPr>
          <a:xfrm>
            <a:off x="3238500" y="4203700"/>
            <a:ext cx="7747000" cy="5588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 b="1">
                <a:solidFill>
                  <a:srgbClr val="00285F"/>
                </a:solidFill>
                <a:latin typeface="Microsoft YaHei" panose="020B0503020204020204" pitchFamily="34" charset="-122"/>
              </a:rPr>
              <a:t>集成验证数据，非训练后质量指标</a:t>
            </a:r>
          </a:p>
        </p:txBody>
      </p:sp>
    </p:spTree>
    <p:extLst>
      <p:ext uri="{BB962C8B-B14F-4D97-AF65-F5344CB8AC3E}">
        <p14:creationId xmlns:p14="http://schemas.microsoft.com/office/powerpoint/2010/main" val="33562604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6C7F92-9293-B59D-2DE6-2DB6188AD3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D974B1A9-EA78-9DDD-0C77-372F5B9CAD76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08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0F0E9114-BD5E-4531-B04D-1539D4EDDF89}"/>
              </a:ext>
            </a:extLst>
          </p:cNvPr>
          <p:cNvSpPr txBox="1"/>
          <p:nvPr/>
        </p:nvSpPr>
        <p:spPr>
          <a:xfrm>
            <a:off x="946461" y="269201"/>
            <a:ext cx="6440714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为什么需要一个聚合平台</a:t>
            </a:r>
            <a:endParaRPr lang="zh-CN" altLang="en-US" sz="3100" b="1" dirty="0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ED9C8F3-F0A0-823B-8C80-9141364D10EF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86CC2FD-0878-3C96-D6ED-95935440B0A5}"/>
              </a:ext>
            </a:extLst>
          </p:cNvPr>
          <p:cNvSpPr/>
          <p:nvPr/>
        </p:nvSpPr>
        <p:spPr>
          <a:xfrm>
            <a:off x="431800" y="1168400"/>
            <a:ext cx="113030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多模型对比实验需要统一调度、统一格式和统一结果归集。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37DD930-A073-6C53-B479-0425023DD5B7}"/>
              </a:ext>
            </a:extLst>
          </p:cNvPr>
          <p:cNvSpPr/>
          <p:nvPr/>
        </p:nvSpPr>
        <p:spPr>
          <a:xfrm>
            <a:off x="1016000" y="1905000"/>
            <a:ext cx="1905000" cy="558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环境差异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0F591A9-FB75-CDCB-361D-A2FE0668D724}"/>
              </a:ext>
            </a:extLst>
          </p:cNvPr>
          <p:cNvSpPr/>
          <p:nvPr/>
        </p:nvSpPr>
        <p:spPr>
          <a:xfrm>
            <a:off x="3238500" y="1905000"/>
            <a:ext cx="7747000" cy="55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>
                <a:solidFill>
                  <a:srgbClr val="00285F"/>
                </a:solidFill>
                <a:latin typeface="Microsoft YaHei" panose="020B0503020204020204" pitchFamily="34" charset="-122"/>
              </a:rPr>
              <a:t>每个模型都有自己的运行环境和依赖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FAF4696-3F92-DF76-036A-FC8C90BBF199}"/>
              </a:ext>
            </a:extLst>
          </p:cNvPr>
          <p:cNvSpPr/>
          <p:nvPr/>
        </p:nvSpPr>
        <p:spPr>
          <a:xfrm>
            <a:off x="1016000" y="2692400"/>
            <a:ext cx="1905000" cy="558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格式差异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AA799B5-7F86-B60B-8794-FD75941E6D17}"/>
              </a:ext>
            </a:extLst>
          </p:cNvPr>
          <p:cNvSpPr/>
          <p:nvPr/>
        </p:nvSpPr>
        <p:spPr>
          <a:xfrm>
            <a:off x="3238500" y="2692400"/>
            <a:ext cx="7747000" cy="5588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>
                <a:solidFill>
                  <a:srgbClr val="00285F"/>
                </a:solidFill>
                <a:latin typeface="Microsoft YaHei" panose="020B0503020204020204" pitchFamily="34" charset="-122"/>
              </a:rPr>
              <a:t>输入、输出和结果目录结构各不相同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7C3AB5B4-035B-A3A2-8B80-04F385640B77}"/>
              </a:ext>
            </a:extLst>
          </p:cNvPr>
          <p:cNvSpPr/>
          <p:nvPr/>
        </p:nvSpPr>
        <p:spPr>
          <a:xfrm>
            <a:off x="1016000" y="3479800"/>
            <a:ext cx="1905000" cy="558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工具限制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F38BDAA2-EB5C-3E94-F0CC-C5B92AC8C76B}"/>
              </a:ext>
            </a:extLst>
          </p:cNvPr>
          <p:cNvSpPr/>
          <p:nvPr/>
        </p:nvSpPr>
        <p:spPr>
          <a:xfrm>
            <a:off x="3238500" y="3479800"/>
            <a:ext cx="7747000" cy="55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700">
                <a:solidFill>
                  <a:srgbClr val="00285F"/>
                </a:solidFill>
                <a:latin typeface="Microsoft YaHei" panose="020B0503020204020204" pitchFamily="34" charset="-122"/>
              </a:rPr>
              <a:t>Nerfstudio </a:t>
            </a:r>
            <a:r>
              <a:rPr lang="zh-CN" altLang="en-US" sz="1700">
                <a:solidFill>
                  <a:srgbClr val="00285F"/>
                </a:solidFill>
                <a:latin typeface="Microsoft YaHei" panose="020B0503020204020204" pitchFamily="34" charset="-122"/>
              </a:rPr>
              <a:t>面向 </a:t>
            </a:r>
            <a:r>
              <a:rPr lang="en-US" altLang="zh-CN" sz="1700">
                <a:solidFill>
                  <a:srgbClr val="00285F"/>
                </a:solidFill>
                <a:latin typeface="Microsoft YaHei" panose="020B0503020204020204" pitchFamily="34" charset="-122"/>
              </a:rPr>
              <a:t>NeRF</a:t>
            </a:r>
            <a:r>
              <a:rPr lang="zh-CN" altLang="en-US" sz="1700">
                <a:solidFill>
                  <a:srgbClr val="00285F"/>
                </a:solidFill>
                <a:latin typeface="Microsoft YaHei" panose="020B0503020204020204" pitchFamily="34" charset="-122"/>
              </a:rPr>
              <a:t>；商业产品闭源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5179370-334D-6030-8133-FE90B05DC34C}"/>
              </a:ext>
            </a:extLst>
          </p:cNvPr>
          <p:cNvSpPr/>
          <p:nvPr/>
        </p:nvSpPr>
        <p:spPr>
          <a:xfrm>
            <a:off x="1016000" y="4267200"/>
            <a:ext cx="1905000" cy="558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平台需求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A1B0C21-2FBC-8CCD-9D62-E6D3C2080894}"/>
              </a:ext>
            </a:extLst>
          </p:cNvPr>
          <p:cNvSpPr/>
          <p:nvPr/>
        </p:nvSpPr>
        <p:spPr>
          <a:xfrm>
            <a:off x="3238500" y="4267200"/>
            <a:ext cx="7747000" cy="5588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 b="1">
                <a:solidFill>
                  <a:srgbClr val="00285F"/>
                </a:solidFill>
                <a:latin typeface="Microsoft YaHei" panose="020B0503020204020204" pitchFamily="34" charset="-122"/>
              </a:rPr>
              <a:t>统一模型调度、结果格式化和多专家对照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F31075EF-22C7-C9F2-79E4-D8CE60B508CD}"/>
              </a:ext>
            </a:extLst>
          </p:cNvPr>
          <p:cNvSpPr/>
          <p:nvPr/>
        </p:nvSpPr>
        <p:spPr>
          <a:xfrm>
            <a:off x="1460500" y="5461000"/>
            <a:ext cx="9271000" cy="4826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 b="1">
                <a:solidFill>
                  <a:srgbClr val="FFFFFF"/>
                </a:solidFill>
                <a:latin typeface="Microsoft YaHei" panose="020B0503020204020204" pitchFamily="34" charset="-122"/>
              </a:rPr>
              <a:t>聚合平台用于降低多模型实验的人工配置和手动对比成本。</a:t>
            </a:r>
          </a:p>
        </p:txBody>
      </p:sp>
    </p:spTree>
    <p:extLst>
      <p:ext uri="{BB962C8B-B14F-4D97-AF65-F5344CB8AC3E}">
        <p14:creationId xmlns:p14="http://schemas.microsoft.com/office/powerpoint/2010/main" val="1475483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6C7F92-9293-B59D-2DE6-2DB6188AD3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D974B1A9-EA78-9DDD-0C77-372F5B9CAD76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08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0F0E9114-BD5E-4531-B04D-1539D4EDDF89}"/>
              </a:ext>
            </a:extLst>
          </p:cNvPr>
          <p:cNvSpPr txBox="1"/>
          <p:nvPr/>
        </p:nvSpPr>
        <p:spPr>
          <a:xfrm>
            <a:off x="946461" y="269201"/>
            <a:ext cx="6440714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平台核心功能</a:t>
            </a:r>
            <a:endParaRPr lang="zh-CN" altLang="en-US" sz="3100" b="1" dirty="0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421E4A3-4B9A-1980-AE02-4BCAA7C77580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D2B196A-37BF-F715-D0F2-6C79B41377D5}"/>
              </a:ext>
            </a:extLst>
          </p:cNvPr>
          <p:cNvSpPr/>
          <p:nvPr/>
        </p:nvSpPr>
        <p:spPr>
          <a:xfrm>
            <a:off x="431800" y="1168400"/>
            <a:ext cx="113030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平台围绕任务提交、状态追踪、结果对比、模型注册和远程调度展开。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861EE85-5FD9-79BF-A866-4F358868CD30}"/>
              </a:ext>
            </a:extLst>
          </p:cNvPr>
          <p:cNvSpPr/>
          <p:nvPr/>
        </p:nvSpPr>
        <p:spPr>
          <a:xfrm>
            <a:off x="533400" y="2095500"/>
            <a:ext cx="1841500" cy="431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命令中心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2CBE78B-BB46-7B17-B12B-323CC7B93776}"/>
              </a:ext>
            </a:extLst>
          </p:cNvPr>
          <p:cNvSpPr/>
          <p:nvPr/>
        </p:nvSpPr>
        <p:spPr>
          <a:xfrm>
            <a:off x="533400" y="2552700"/>
            <a:ext cx="1841500" cy="13843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提交任务
查看状态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263ABBD-1749-98E2-A9CD-C38D0BF04265}"/>
              </a:ext>
            </a:extLst>
          </p:cNvPr>
          <p:cNvSpPr/>
          <p:nvPr/>
        </p:nvSpPr>
        <p:spPr>
          <a:xfrm>
            <a:off x="2755900" y="2095500"/>
            <a:ext cx="1841500" cy="431800"/>
          </a:xfrm>
          <a:prstGeom prst="rect">
            <a:avLst/>
          </a:prstGeom>
          <a:solidFill>
            <a:srgbClr val="286FB9"/>
          </a:solidFill>
          <a:ln w="12700"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任务工作台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7933516-48C6-F02F-6E65-0699BCE0401D}"/>
              </a:ext>
            </a:extLst>
          </p:cNvPr>
          <p:cNvSpPr/>
          <p:nvPr/>
        </p:nvSpPr>
        <p:spPr>
          <a:xfrm>
            <a:off x="2755900" y="2552700"/>
            <a:ext cx="1841500" cy="1384300"/>
          </a:xfrm>
          <a:prstGeom prst="rect">
            <a:avLst/>
          </a:prstGeom>
          <a:solidFill>
            <a:srgbClr val="FFFFFF"/>
          </a:solidFill>
          <a:ln w="12700"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上传→运行
回传→完成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6DF7B98-D35F-1D94-5314-4C5CEC49DC0E}"/>
              </a:ext>
            </a:extLst>
          </p:cNvPr>
          <p:cNvSpPr/>
          <p:nvPr/>
        </p:nvSpPr>
        <p:spPr>
          <a:xfrm>
            <a:off x="4978400" y="2095500"/>
            <a:ext cx="1841500" cy="431800"/>
          </a:xfrm>
          <a:prstGeom prst="rect">
            <a:avLst/>
          </a:prstGeom>
          <a:solidFill>
            <a:srgbClr val="286FB9"/>
          </a:solidFill>
          <a:ln w="12700"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样本矩阵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6A0ABB4-AD79-D725-D64A-B54ED6A940A6}"/>
              </a:ext>
            </a:extLst>
          </p:cNvPr>
          <p:cNvSpPr/>
          <p:nvPr/>
        </p:nvSpPr>
        <p:spPr>
          <a:xfrm>
            <a:off x="4978400" y="2552700"/>
            <a:ext cx="1841500" cy="1384300"/>
          </a:xfrm>
          <a:prstGeom prst="rect">
            <a:avLst/>
          </a:prstGeom>
          <a:solidFill>
            <a:srgbClr val="FFFFFF"/>
          </a:solidFill>
          <a:ln w="12700"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同一输入
多模型并排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3BE14A3B-D2F2-E84A-B97F-26FA6E2FE147}"/>
              </a:ext>
            </a:extLst>
          </p:cNvPr>
          <p:cNvSpPr/>
          <p:nvPr/>
        </p:nvSpPr>
        <p:spPr>
          <a:xfrm>
            <a:off x="7200900" y="2095500"/>
            <a:ext cx="1841500" cy="431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模型注册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75C97F2B-45D3-C5FB-5454-D10A4FB21C30}"/>
              </a:ext>
            </a:extLst>
          </p:cNvPr>
          <p:cNvSpPr/>
          <p:nvPr/>
        </p:nvSpPr>
        <p:spPr>
          <a:xfrm>
            <a:off x="7200900" y="2552700"/>
            <a:ext cx="1841500" cy="13843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一个执行器
接入新模型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DD0201BD-F999-10CD-8205-2E89F6E96C0C}"/>
              </a:ext>
            </a:extLst>
          </p:cNvPr>
          <p:cNvSpPr/>
          <p:nvPr/>
        </p:nvSpPr>
        <p:spPr>
          <a:xfrm>
            <a:off x="9423400" y="2095500"/>
            <a:ext cx="1841500" cy="431800"/>
          </a:xfrm>
          <a:prstGeom prst="rect">
            <a:avLst/>
          </a:prstGeom>
          <a:solidFill>
            <a:srgbClr val="286FB9"/>
          </a:solidFill>
          <a:ln w="12700"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结果归集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8EC26DA1-873B-0F39-EF83-D46E27EB2007}"/>
              </a:ext>
            </a:extLst>
          </p:cNvPr>
          <p:cNvSpPr/>
          <p:nvPr/>
        </p:nvSpPr>
        <p:spPr>
          <a:xfrm>
            <a:off x="9423400" y="2552700"/>
            <a:ext cx="1841500" cy="1384300"/>
          </a:xfrm>
          <a:prstGeom prst="rect">
            <a:avLst/>
          </a:prstGeom>
          <a:solidFill>
            <a:srgbClr val="FFFFFF"/>
          </a:solidFill>
          <a:ln w="12700"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统一输出
导出报告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1551EA32-CB03-EE0F-61D6-7425497DC399}"/>
              </a:ext>
            </a:extLst>
          </p:cNvPr>
          <p:cNvSpPr/>
          <p:nvPr/>
        </p:nvSpPr>
        <p:spPr>
          <a:xfrm>
            <a:off x="1143000" y="4826000"/>
            <a:ext cx="9906000" cy="6604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00285F"/>
                </a:solidFill>
                <a:latin typeface="Microsoft YaHei" panose="020B0503020204020204" pitchFamily="34" charset="-122"/>
              </a:rPr>
              <a:t>平台 </a:t>
            </a:r>
            <a:r>
              <a:rPr lang="en-US" altLang="zh-CN" sz="1900" b="1">
                <a:solidFill>
                  <a:srgbClr val="00285F"/>
                </a:solidFill>
                <a:latin typeface="Microsoft YaHei" panose="020B0503020204020204" pitchFamily="34" charset="-122"/>
              </a:rPr>
              <a:t>UI </a:t>
            </a:r>
            <a:r>
              <a:rPr lang="zh-CN" altLang="en-US" sz="1900" b="1">
                <a:solidFill>
                  <a:srgbClr val="00285F"/>
                </a:solidFill>
                <a:latin typeface="Microsoft YaHei" panose="020B0503020204020204" pitchFamily="34" charset="-122"/>
              </a:rPr>
              <a:t>截图待用户补充；本版先用功能框图说明系统能力。</a:t>
            </a:r>
          </a:p>
        </p:txBody>
      </p:sp>
    </p:spTree>
    <p:extLst>
      <p:ext uri="{BB962C8B-B14F-4D97-AF65-F5344CB8AC3E}">
        <p14:creationId xmlns:p14="http://schemas.microsoft.com/office/powerpoint/2010/main" val="30416695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6C7F92-9293-B59D-2DE6-2DB6188AD3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D974B1A9-EA78-9DDD-0C77-372F5B9CAD76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08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0F0E9114-BD5E-4531-B04D-1539D4EDDF89}"/>
              </a:ext>
            </a:extLst>
          </p:cNvPr>
          <p:cNvSpPr txBox="1"/>
          <p:nvPr/>
        </p:nvSpPr>
        <p:spPr>
          <a:xfrm>
            <a:off x="946461" y="269201"/>
            <a:ext cx="6440714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技术架构</a:t>
            </a:r>
            <a:endParaRPr lang="zh-CN" altLang="en-US" sz="3100" b="1" dirty="0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9A97980-87AD-C57E-6D5A-1D0BA7B9DEE7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64C1E22-8032-3CFD-D531-BDDCAEC27350}"/>
              </a:ext>
            </a:extLst>
          </p:cNvPr>
          <p:cNvSpPr/>
          <p:nvPr/>
        </p:nvSpPr>
        <p:spPr>
          <a:xfrm>
            <a:off x="431800" y="1168400"/>
            <a:ext cx="113030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平台采用桌面前端、本地后端、远端调度和模型执行器四层设计。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C875AB1-112F-A47E-8807-5689F7B1BDAD}"/>
              </a:ext>
            </a:extLst>
          </p:cNvPr>
          <p:cNvSpPr/>
          <p:nvPr/>
        </p:nvSpPr>
        <p:spPr>
          <a:xfrm>
            <a:off x="1270000" y="1841500"/>
            <a:ext cx="9652000" cy="584200"/>
          </a:xfrm>
          <a:prstGeom prst="rect">
            <a:avLst/>
          </a:prstGeom>
          <a:solidFill>
            <a:srgbClr val="00468E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b="1">
                <a:solidFill>
                  <a:srgbClr val="FFFFFF"/>
                </a:solidFill>
                <a:latin typeface="Microsoft YaHei" panose="020B0503020204020204" pitchFamily="34" charset="-122"/>
              </a:rPr>
              <a:t>桌面应用层    </a:t>
            </a:r>
            <a:r>
              <a:rPr lang="en-US" altLang="zh-CN" b="1">
                <a:solidFill>
                  <a:srgbClr val="FFFFFF"/>
                </a:solidFill>
                <a:latin typeface="Microsoft YaHei" panose="020B0503020204020204" pitchFamily="34" charset="-122"/>
              </a:rPr>
              <a:t>Tauri 2 + React</a:t>
            </a:r>
            <a:r>
              <a:rPr lang="zh-CN" altLang="en-US" b="1">
                <a:solidFill>
                  <a:srgbClr val="FFFFFF"/>
                </a:solidFill>
                <a:latin typeface="Microsoft YaHei" panose="020B0503020204020204" pitchFamily="34" charset="-122"/>
              </a:rPr>
              <a:t>：命令中心、任务工作台、样本矩阵</a:t>
            </a:r>
          </a:p>
        </p:txBody>
      </p:sp>
      <p:sp>
        <p:nvSpPr>
          <p:cNvPr id="5" name="箭头: 右 4">
            <a:extLst>
              <a:ext uri="{FF2B5EF4-FFF2-40B4-BE49-F238E27FC236}">
                <a16:creationId xmlns:a16="http://schemas.microsoft.com/office/drawing/2014/main" id="{49FC0BFC-AD4E-0A2A-E9A0-DAFD127163F5}"/>
              </a:ext>
            </a:extLst>
          </p:cNvPr>
          <p:cNvSpPr/>
          <p:nvPr/>
        </p:nvSpPr>
        <p:spPr>
          <a:xfrm>
            <a:off x="5842000" y="2463800"/>
            <a:ext cx="431800" cy="254000"/>
          </a:xfrm>
          <a:prstGeom prst="rightArrow">
            <a:avLst/>
          </a:prstGeom>
          <a:solidFill>
            <a:srgbClr val="286FB9"/>
          </a:solidFill>
          <a:ln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066CCECD-BE15-8B13-7D64-3D708BA1479F}"/>
              </a:ext>
            </a:extLst>
          </p:cNvPr>
          <p:cNvSpPr/>
          <p:nvPr/>
        </p:nvSpPr>
        <p:spPr>
          <a:xfrm>
            <a:off x="1270000" y="2667000"/>
            <a:ext cx="9652000" cy="5842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b="1">
                <a:solidFill>
                  <a:srgbClr val="00285F"/>
                </a:solidFill>
                <a:latin typeface="Microsoft YaHei" panose="020B0503020204020204" pitchFamily="34" charset="-122"/>
              </a:rPr>
              <a:t>本地后端层    </a:t>
            </a:r>
            <a:r>
              <a:rPr lang="en-US" altLang="zh-CN" b="1">
                <a:solidFill>
                  <a:srgbClr val="00285F"/>
                </a:solidFill>
                <a:latin typeface="Microsoft YaHei" panose="020B0503020204020204" pitchFamily="34" charset="-122"/>
              </a:rPr>
              <a:t>FastAPI</a:t>
            </a:r>
            <a:r>
              <a:rPr lang="zh-CN" altLang="en-US" b="1">
                <a:solidFill>
                  <a:srgbClr val="00285F"/>
                </a:solidFill>
                <a:latin typeface="Microsoft YaHei" panose="020B0503020204020204" pitchFamily="34" charset="-122"/>
              </a:rPr>
              <a:t>：模型注册、任务队列、合同验证</a:t>
            </a:r>
          </a:p>
        </p:txBody>
      </p:sp>
      <p:sp>
        <p:nvSpPr>
          <p:cNvPr id="7" name="箭头: 右 6">
            <a:extLst>
              <a:ext uri="{FF2B5EF4-FFF2-40B4-BE49-F238E27FC236}">
                <a16:creationId xmlns:a16="http://schemas.microsoft.com/office/drawing/2014/main" id="{67429309-4360-98A3-1C7B-56C3F88B6252}"/>
              </a:ext>
            </a:extLst>
          </p:cNvPr>
          <p:cNvSpPr/>
          <p:nvPr/>
        </p:nvSpPr>
        <p:spPr>
          <a:xfrm>
            <a:off x="5842000" y="3289300"/>
            <a:ext cx="431800" cy="254000"/>
          </a:xfrm>
          <a:prstGeom prst="rightArrow">
            <a:avLst/>
          </a:prstGeom>
          <a:solidFill>
            <a:srgbClr val="286FB9"/>
          </a:solidFill>
          <a:ln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AB923B9-8BC1-4E23-9977-68F3E78145F0}"/>
              </a:ext>
            </a:extLst>
          </p:cNvPr>
          <p:cNvSpPr/>
          <p:nvPr/>
        </p:nvSpPr>
        <p:spPr>
          <a:xfrm>
            <a:off x="1270000" y="3492500"/>
            <a:ext cx="9652000" cy="584200"/>
          </a:xfrm>
          <a:prstGeom prst="rect">
            <a:avLst/>
          </a:prstGeom>
          <a:solidFill>
            <a:srgbClr val="286FB9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b="1">
                <a:solidFill>
                  <a:srgbClr val="FFFFFF"/>
                </a:solidFill>
                <a:latin typeface="Microsoft YaHei" panose="020B0503020204020204" pitchFamily="34" charset="-122"/>
              </a:rPr>
              <a:t>远端调度层    </a:t>
            </a:r>
            <a:r>
              <a:rPr lang="en-US" altLang="zh-CN" b="1">
                <a:solidFill>
                  <a:srgbClr val="FFFFFF"/>
                </a:solidFill>
                <a:latin typeface="Microsoft YaHei" panose="020B0503020204020204" pitchFamily="34" charset="-122"/>
              </a:rPr>
              <a:t>SSH / SCP</a:t>
            </a:r>
            <a:r>
              <a:rPr lang="zh-CN" altLang="en-US" b="1">
                <a:solidFill>
                  <a:srgbClr val="FFFFFF"/>
                </a:solidFill>
                <a:latin typeface="Microsoft YaHei" panose="020B0503020204020204" pitchFamily="34" charset="-122"/>
              </a:rPr>
              <a:t>：启动任务、监听日志、同步产物</a:t>
            </a:r>
          </a:p>
        </p:txBody>
      </p:sp>
      <p:sp>
        <p:nvSpPr>
          <p:cNvPr id="9" name="箭头: 右 8">
            <a:extLst>
              <a:ext uri="{FF2B5EF4-FFF2-40B4-BE49-F238E27FC236}">
                <a16:creationId xmlns:a16="http://schemas.microsoft.com/office/drawing/2014/main" id="{F2A9273D-2543-9397-A326-C2C559AD35D0}"/>
              </a:ext>
            </a:extLst>
          </p:cNvPr>
          <p:cNvSpPr/>
          <p:nvPr/>
        </p:nvSpPr>
        <p:spPr>
          <a:xfrm>
            <a:off x="5842000" y="4114800"/>
            <a:ext cx="431800" cy="254000"/>
          </a:xfrm>
          <a:prstGeom prst="rightArrow">
            <a:avLst/>
          </a:prstGeom>
          <a:solidFill>
            <a:srgbClr val="286FB9"/>
          </a:solidFill>
          <a:ln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37A9C791-E2FC-51C5-BCD8-A1C892BFAB61}"/>
              </a:ext>
            </a:extLst>
          </p:cNvPr>
          <p:cNvSpPr/>
          <p:nvPr/>
        </p:nvSpPr>
        <p:spPr>
          <a:xfrm>
            <a:off x="1270000" y="4318000"/>
            <a:ext cx="9652000" cy="5842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b="1">
                <a:solidFill>
                  <a:srgbClr val="00285F"/>
                </a:solidFill>
                <a:latin typeface="Microsoft YaHei" panose="020B0503020204020204" pitchFamily="34" charset="-122"/>
              </a:rPr>
              <a:t>模型执行层    </a:t>
            </a:r>
            <a:r>
              <a:rPr lang="en-US" altLang="zh-CN" b="1">
                <a:solidFill>
                  <a:srgbClr val="00285F"/>
                </a:solidFill>
                <a:latin typeface="Microsoft YaHei" panose="020B0503020204020204" pitchFamily="34" charset="-122"/>
              </a:rPr>
              <a:t>7 </a:t>
            </a:r>
            <a:r>
              <a:rPr lang="zh-CN" altLang="en-US" b="1">
                <a:solidFill>
                  <a:srgbClr val="00285F"/>
                </a:solidFill>
                <a:latin typeface="Microsoft YaHei" panose="020B0503020204020204" pitchFamily="34" charset="-122"/>
              </a:rPr>
              <a:t>个执行器：封装各模型推理差异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7381447-F4AA-6BD4-3050-0380A4AE88A4}"/>
              </a:ext>
            </a:extLst>
          </p:cNvPr>
          <p:cNvSpPr/>
          <p:nvPr/>
        </p:nvSpPr>
        <p:spPr>
          <a:xfrm>
            <a:off x="1460500" y="5524500"/>
            <a:ext cx="9271000" cy="4826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 b="1">
                <a:solidFill>
                  <a:srgbClr val="00285F"/>
                </a:solidFill>
                <a:latin typeface="Microsoft YaHei" panose="020B0503020204020204" pitchFamily="34" charset="-122"/>
              </a:rPr>
              <a:t>核心抽象为统一执行合同：任务描述、状态文件和输出元数据。</a:t>
            </a:r>
          </a:p>
        </p:txBody>
      </p:sp>
    </p:spTree>
    <p:extLst>
      <p:ext uri="{BB962C8B-B14F-4D97-AF65-F5344CB8AC3E}">
        <p14:creationId xmlns:p14="http://schemas.microsoft.com/office/powerpoint/2010/main" val="276004758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8993F8-A2A5-B371-B6CC-C97E0D1624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284BF616-090D-BA5B-20D4-639B4472D780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06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FEA574DC-E824-BEBE-8E95-9476D0FC3CF3}"/>
              </a:ext>
            </a:extLst>
          </p:cNvPr>
          <p:cNvSpPr txBox="1"/>
          <p:nvPr/>
        </p:nvSpPr>
        <p:spPr>
          <a:xfrm>
            <a:off x="946460" y="269201"/>
            <a:ext cx="7626039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已接入模型与实测数据</a:t>
            </a:r>
            <a:endParaRPr lang="zh-CN" altLang="en-US" sz="3100" b="1" dirty="0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7992DA2-76D3-84F6-A7A7-21C0184FC184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5CF11B4-8AA6-6484-49D2-702F947F5F26}"/>
              </a:ext>
            </a:extLst>
          </p:cNvPr>
          <p:cNvSpPr/>
          <p:nvPr/>
        </p:nvSpPr>
        <p:spPr>
          <a:xfrm>
            <a:off x="431800" y="1168400"/>
            <a:ext cx="113030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6 </a:t>
            </a:r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个模型端到端验证通过，统一输入下的推理耗时差异明显。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BF6D664-5B05-E151-D5CD-63AAB492BAB9}"/>
              </a:ext>
            </a:extLst>
          </p:cNvPr>
          <p:cNvSpPr/>
          <p:nvPr/>
        </p:nvSpPr>
        <p:spPr>
          <a:xfrm>
            <a:off x="762000" y="1841500"/>
            <a:ext cx="3238500" cy="381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接入模型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2C40EF6-6A47-5AE3-3487-354AE101E856}"/>
              </a:ext>
            </a:extLst>
          </p:cNvPr>
          <p:cNvSpPr/>
          <p:nvPr/>
        </p:nvSpPr>
        <p:spPr>
          <a:xfrm>
            <a:off x="762000" y="2273300"/>
            <a:ext cx="3238500" cy="53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r>
              <a:rPr lang="en-US" altLang="zh-CN" sz="1500">
                <a:solidFill>
                  <a:srgbClr val="081830"/>
                </a:solidFill>
                <a:latin typeface="Microsoft YaHei" panose="020B0503020204020204" pitchFamily="34" charset="-122"/>
              </a:rPr>
              <a:t>DUSt3R / MASt3R</a:t>
            </a:r>
            <a:endParaRPr lang="zh-CN" altLang="en-US" sz="1500">
              <a:solidFill>
                <a:srgbClr val="08183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6440F84-B000-C0E5-10AA-E368E7BBE56C}"/>
              </a:ext>
            </a:extLst>
          </p:cNvPr>
          <p:cNvSpPr/>
          <p:nvPr/>
        </p:nvSpPr>
        <p:spPr>
          <a:xfrm>
            <a:off x="762000" y="2882900"/>
            <a:ext cx="3238500" cy="53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r>
              <a:rPr lang="en-US" altLang="zh-CN" sz="1500">
                <a:solidFill>
                  <a:srgbClr val="081830"/>
                </a:solidFill>
                <a:latin typeface="Microsoft YaHei" panose="020B0503020204020204" pitchFamily="34" charset="-122"/>
              </a:rPr>
              <a:t>MonST3R / Spann3R</a:t>
            </a:r>
            <a:endParaRPr lang="zh-CN" altLang="en-US" sz="1500">
              <a:solidFill>
                <a:srgbClr val="08183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F56DFBBC-0D3E-0334-F8F2-F69F5E3DFDBD}"/>
              </a:ext>
            </a:extLst>
          </p:cNvPr>
          <p:cNvSpPr/>
          <p:nvPr/>
        </p:nvSpPr>
        <p:spPr>
          <a:xfrm>
            <a:off x="762000" y="3492500"/>
            <a:ext cx="3238500" cy="53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r>
              <a:rPr lang="en-US" altLang="zh-CN" sz="1500">
                <a:solidFill>
                  <a:srgbClr val="081830"/>
                </a:solidFill>
                <a:latin typeface="Microsoft YaHei" panose="020B0503020204020204" pitchFamily="34" charset="-122"/>
              </a:rPr>
              <a:t>Fast3R / CUT3R</a:t>
            </a:r>
            <a:endParaRPr lang="zh-CN" altLang="en-US" sz="1500">
              <a:solidFill>
                <a:srgbClr val="08183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83242584-35B1-225D-5940-3CFC7933F64D}"/>
              </a:ext>
            </a:extLst>
          </p:cNvPr>
          <p:cNvSpPr/>
          <p:nvPr/>
        </p:nvSpPr>
        <p:spPr>
          <a:xfrm>
            <a:off x="762000" y="4102100"/>
            <a:ext cx="3238500" cy="53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r>
              <a:rPr lang="en-US" altLang="zh-CN" sz="1500">
                <a:solidFill>
                  <a:srgbClr val="081830"/>
                </a:solidFill>
                <a:latin typeface="Microsoft YaHei" panose="020B0503020204020204" pitchFamily="34" charset="-122"/>
              </a:rPr>
              <a:t>Align3R </a:t>
            </a:r>
            <a:r>
              <a:rPr lang="zh-CN" altLang="en-US" sz="1500">
                <a:solidFill>
                  <a:srgbClr val="081830"/>
                </a:solidFill>
                <a:latin typeface="Microsoft YaHei" panose="020B0503020204020204" pitchFamily="34" charset="-122"/>
              </a:rPr>
              <a:t>权重待补</a:t>
            </a: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61F62668-613F-60FD-91BC-BC0304972C5F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25211" y="1714500"/>
            <a:ext cx="6316579" cy="3429000"/>
          </a:xfrm>
          <a:prstGeom prst="rect">
            <a:avLst/>
          </a:prstGeom>
        </p:spPr>
      </p:pic>
      <p:sp>
        <p:nvSpPr>
          <p:cNvPr id="13" name="矩形 12">
            <a:extLst>
              <a:ext uri="{FF2B5EF4-FFF2-40B4-BE49-F238E27FC236}">
                <a16:creationId xmlns:a16="http://schemas.microsoft.com/office/drawing/2014/main" id="{FC445287-46CE-0F96-88A1-FDBC382C0DF0}"/>
              </a:ext>
            </a:extLst>
          </p:cNvPr>
          <p:cNvSpPr/>
          <p:nvPr/>
        </p:nvSpPr>
        <p:spPr>
          <a:xfrm>
            <a:off x="889000" y="5524500"/>
            <a:ext cx="10414000" cy="4826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 b="1">
                <a:solidFill>
                  <a:srgbClr val="00285F"/>
                </a:solidFill>
                <a:latin typeface="Microsoft YaHei" panose="020B0503020204020204" pitchFamily="34" charset="-122"/>
              </a:rPr>
              <a:t>统一输入为 </a:t>
            </a:r>
            <a:r>
              <a:rPr lang="en-US" altLang="zh-CN" sz="1700" b="1">
                <a:solidFill>
                  <a:srgbClr val="00285F"/>
                </a:solidFill>
                <a:latin typeface="Microsoft YaHei" panose="020B0503020204020204" pitchFamily="34" charset="-122"/>
              </a:rPr>
              <a:t>13 </a:t>
            </a:r>
            <a:r>
              <a:rPr lang="zh-CN" altLang="en-US" sz="1700" b="1">
                <a:solidFill>
                  <a:srgbClr val="00285F"/>
                </a:solidFill>
                <a:latin typeface="Microsoft YaHei" panose="020B0503020204020204" pitchFamily="34" charset="-122"/>
              </a:rPr>
              <a:t>帧 </a:t>
            </a:r>
            <a:r>
              <a:rPr lang="en-US" altLang="zh-CN" sz="1700" b="1">
                <a:solidFill>
                  <a:srgbClr val="00285F"/>
                </a:solidFill>
                <a:latin typeface="Microsoft YaHei" panose="020B0503020204020204" pitchFamily="34" charset="-122"/>
              </a:rPr>
              <a:t>1920×1080</a:t>
            </a:r>
            <a:r>
              <a:rPr lang="zh-CN" altLang="en-US" sz="1700" b="1">
                <a:solidFill>
                  <a:srgbClr val="00285F"/>
                </a:solidFill>
                <a:latin typeface="Microsoft YaHei" panose="020B0503020204020204" pitchFamily="34" charset="-122"/>
              </a:rPr>
              <a:t>；耗时差异说明统一调度的必要性。</a:t>
            </a:r>
          </a:p>
        </p:txBody>
      </p:sp>
    </p:spTree>
    <p:extLst>
      <p:ext uri="{BB962C8B-B14F-4D97-AF65-F5344CB8AC3E}">
        <p14:creationId xmlns:p14="http://schemas.microsoft.com/office/powerpoint/2010/main" val="263641551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6C7F92-9293-B59D-2DE6-2DB6188AD3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D974B1A9-EA78-9DDD-0C77-372F5B9CAD76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08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0F0E9114-BD5E-4531-B04D-1539D4EDDF89}"/>
              </a:ext>
            </a:extLst>
          </p:cNvPr>
          <p:cNvSpPr txBox="1"/>
          <p:nvPr/>
        </p:nvSpPr>
        <p:spPr>
          <a:xfrm>
            <a:off x="946461" y="269201"/>
            <a:ext cx="6440714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后续更新方向与应用场景</a:t>
            </a:r>
            <a:endParaRPr lang="zh-CN" altLang="en-US" sz="3100" b="1" dirty="0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55CF69BA-1891-3AA5-5B9E-4B3160A757A3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1A0699F-C882-4043-5DBA-30597A865F5B}"/>
              </a:ext>
            </a:extLst>
          </p:cNvPr>
          <p:cNvSpPr/>
          <p:nvPr/>
        </p:nvSpPr>
        <p:spPr>
          <a:xfrm>
            <a:off x="431800" y="1168400"/>
            <a:ext cx="113030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平台后续将围绕模型验证、对比视图、报告导出和下游接口推进。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880BF3E-0916-306E-8FA5-CFF26EE7D428}"/>
              </a:ext>
            </a:extLst>
          </p:cNvPr>
          <p:cNvSpPr/>
          <p:nvPr/>
        </p:nvSpPr>
        <p:spPr>
          <a:xfrm>
            <a:off x="1143000" y="1905000"/>
            <a:ext cx="1714500" cy="558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短期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0725815-1CEF-E157-44A8-7EBF4B783BBE}"/>
              </a:ext>
            </a:extLst>
          </p:cNvPr>
          <p:cNvSpPr/>
          <p:nvPr/>
        </p:nvSpPr>
        <p:spPr>
          <a:xfrm>
            <a:off x="3175000" y="1905000"/>
            <a:ext cx="7747000" cy="55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>
                <a:solidFill>
                  <a:srgbClr val="00285F"/>
                </a:solidFill>
                <a:latin typeface="Microsoft YaHei" panose="020B0503020204020204" pitchFamily="34" charset="-122"/>
              </a:rPr>
              <a:t>补齐 </a:t>
            </a:r>
            <a:r>
              <a:rPr lang="en-US" altLang="zh-CN" sz="1700">
                <a:solidFill>
                  <a:srgbClr val="00285F"/>
                </a:solidFill>
                <a:latin typeface="Microsoft YaHei" panose="020B0503020204020204" pitchFamily="34" charset="-122"/>
              </a:rPr>
              <a:t>Align3R </a:t>
            </a:r>
            <a:r>
              <a:rPr lang="zh-CN" altLang="en-US" sz="1700">
                <a:solidFill>
                  <a:srgbClr val="00285F"/>
                </a:solidFill>
                <a:latin typeface="Microsoft YaHei" panose="020B0503020204020204" pitchFamily="34" charset="-122"/>
              </a:rPr>
              <a:t>验证，完善跨模型对比视图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5E2CFB4-0468-8DD0-67D5-46D008468159}"/>
              </a:ext>
            </a:extLst>
          </p:cNvPr>
          <p:cNvSpPr/>
          <p:nvPr/>
        </p:nvSpPr>
        <p:spPr>
          <a:xfrm>
            <a:off x="1143000" y="2692400"/>
            <a:ext cx="1714500" cy="558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中期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9AADB07-2CD9-B0DE-CC7A-21DEFBEBC000}"/>
              </a:ext>
            </a:extLst>
          </p:cNvPr>
          <p:cNvSpPr/>
          <p:nvPr/>
        </p:nvSpPr>
        <p:spPr>
          <a:xfrm>
            <a:off x="3175000" y="2692400"/>
            <a:ext cx="7747000" cy="5588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>
                <a:solidFill>
                  <a:srgbClr val="00285F"/>
                </a:solidFill>
                <a:latin typeface="Microsoft YaHei" panose="020B0503020204020204" pitchFamily="34" charset="-122"/>
              </a:rPr>
              <a:t>导出论文表格和图表，设计 </a:t>
            </a:r>
            <a:r>
              <a:rPr lang="en-US" altLang="zh-CN" sz="1700">
                <a:solidFill>
                  <a:srgbClr val="00285F"/>
                </a:solidFill>
                <a:latin typeface="Microsoft YaHei" panose="020B0503020204020204" pitchFamily="34" charset="-122"/>
              </a:rPr>
              <a:t>API </a:t>
            </a:r>
            <a:r>
              <a:rPr lang="zh-CN" altLang="en-US" sz="1700">
                <a:solidFill>
                  <a:srgbClr val="00285F"/>
                </a:solidFill>
                <a:latin typeface="Microsoft YaHei" panose="020B0503020204020204" pitchFamily="34" charset="-122"/>
              </a:rPr>
              <a:t>层接口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E0996FC-EFF0-4418-05F1-A9F0F3DDF635}"/>
              </a:ext>
            </a:extLst>
          </p:cNvPr>
          <p:cNvSpPr/>
          <p:nvPr/>
        </p:nvSpPr>
        <p:spPr>
          <a:xfrm>
            <a:off x="1143000" y="3479800"/>
            <a:ext cx="1714500" cy="558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长期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5E9BDE28-66A9-120B-9BD9-287514D7730F}"/>
              </a:ext>
            </a:extLst>
          </p:cNvPr>
          <p:cNvSpPr/>
          <p:nvPr/>
        </p:nvSpPr>
        <p:spPr>
          <a:xfrm>
            <a:off x="3175000" y="3479800"/>
            <a:ext cx="7747000" cy="55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>
                <a:solidFill>
                  <a:srgbClr val="00285F"/>
                </a:solidFill>
                <a:latin typeface="Microsoft YaHei" panose="020B0503020204020204" pitchFamily="34" charset="-122"/>
              </a:rPr>
              <a:t>面向 </a:t>
            </a:r>
            <a:r>
              <a:rPr lang="en-US" altLang="zh-CN" sz="1700">
                <a:solidFill>
                  <a:srgbClr val="00285F"/>
                </a:solidFill>
                <a:latin typeface="Microsoft YaHei" panose="020B0503020204020204" pitchFamily="34" charset="-122"/>
              </a:rPr>
              <a:t>SLAM </a:t>
            </a:r>
            <a:r>
              <a:rPr lang="zh-CN" altLang="en-US" sz="1700">
                <a:solidFill>
                  <a:srgbClr val="00285F"/>
                </a:solidFill>
                <a:latin typeface="Microsoft YaHei" panose="020B0503020204020204" pitchFamily="34" charset="-122"/>
              </a:rPr>
              <a:t>初始化、</a:t>
            </a:r>
            <a:r>
              <a:rPr lang="en-US" altLang="zh-CN" sz="1700">
                <a:solidFill>
                  <a:srgbClr val="00285F"/>
                </a:solidFill>
                <a:latin typeface="Microsoft YaHei" panose="020B0503020204020204" pitchFamily="34" charset="-122"/>
              </a:rPr>
              <a:t>AR </a:t>
            </a:r>
            <a:r>
              <a:rPr lang="zh-CN" altLang="en-US" sz="1700">
                <a:solidFill>
                  <a:srgbClr val="00285F"/>
                </a:solidFill>
                <a:latin typeface="Microsoft YaHei" panose="020B0503020204020204" pitchFamily="34" charset="-122"/>
              </a:rPr>
              <a:t>建模和机器人场景理解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3378D377-C214-C422-E976-C6195D2F69B1}"/>
              </a:ext>
            </a:extLst>
          </p:cNvPr>
          <p:cNvSpPr/>
          <p:nvPr/>
        </p:nvSpPr>
        <p:spPr>
          <a:xfrm>
            <a:off x="1143000" y="4267200"/>
            <a:ext cx="1714500" cy="558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应用场景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6D0B027-5243-16D4-19EC-2F44C988E578}"/>
              </a:ext>
            </a:extLst>
          </p:cNvPr>
          <p:cNvSpPr/>
          <p:nvPr/>
        </p:nvSpPr>
        <p:spPr>
          <a:xfrm>
            <a:off x="3175000" y="4267200"/>
            <a:ext cx="7747000" cy="5588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>
                <a:solidFill>
                  <a:srgbClr val="00285F"/>
                </a:solidFill>
                <a:latin typeface="Microsoft YaHei" panose="020B0503020204020204" pitchFamily="34" charset="-122"/>
              </a:rPr>
              <a:t>科研实验、模型评估、教学演示</a:t>
            </a:r>
          </a:p>
        </p:txBody>
      </p:sp>
    </p:spTree>
    <p:extLst>
      <p:ext uri="{BB962C8B-B14F-4D97-AF65-F5344CB8AC3E}">
        <p14:creationId xmlns:p14="http://schemas.microsoft.com/office/powerpoint/2010/main" val="376359616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795727-EB63-8B05-C0BA-FC16CEA965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746D9152-48D3-E0A8-3FF3-2116404376ED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03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BF154AD5-A70A-1962-3AC7-43543A030B62}"/>
              </a:ext>
            </a:extLst>
          </p:cNvPr>
          <p:cNvSpPr txBox="1"/>
          <p:nvPr/>
        </p:nvSpPr>
        <p:spPr>
          <a:xfrm>
            <a:off x="946460" y="269201"/>
            <a:ext cx="7626039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平台如何支撑架构研究</a:t>
            </a:r>
            <a:endParaRPr lang="zh-CN" altLang="en-US" sz="3100" b="1" dirty="0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4" name="任意多边形: 形状 93">
            <a:extLst>
              <a:ext uri="{FF2B5EF4-FFF2-40B4-BE49-F238E27FC236}">
                <a16:creationId xmlns:a16="http://schemas.microsoft.com/office/drawing/2014/main" id="{AF1BF063-7278-CF65-8ADD-CE545C77BE17}"/>
              </a:ext>
            </a:extLst>
          </p:cNvPr>
          <p:cNvSpPr/>
          <p:nvPr/>
        </p:nvSpPr>
        <p:spPr>
          <a:xfrm rot="5400000">
            <a:off x="5590187" y="-4418609"/>
            <a:ext cx="1011626" cy="12192000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2">
                  <a:lumMod val="75000"/>
                </a:schemeClr>
              </a:gs>
            </a:gsLst>
            <a:lin ang="5400000" scaled="1"/>
          </a:gradFill>
          <a:ln w="19050" cap="flat" cmpd="sng" algn="ctr">
            <a:noFill/>
            <a:prstDash val="solid"/>
            <a:miter lim="800000"/>
          </a:ln>
          <a:effectLst>
            <a:outerShdw blurRad="152400" dist="190500" dir="13500000" algn="ctr" rotWithShape="0">
              <a:sysClr val="window" lastClr="FFFFFF">
                <a:alpha val="29000"/>
              </a:sys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3CFD65B-6AEC-C6F1-3E1B-1DE33FDC069B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9D6BF79-E5BF-5B77-1818-5E1C62B9D98E}"/>
              </a:ext>
            </a:extLst>
          </p:cNvPr>
          <p:cNvSpPr/>
          <p:nvPr/>
        </p:nvSpPr>
        <p:spPr>
          <a:xfrm>
            <a:off x="431800" y="1168400"/>
            <a:ext cx="113030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平台为架构消融提供统一运行环境和结果对比条件。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8FBAD54-15B0-8194-EA66-CF880081E65E}"/>
              </a:ext>
            </a:extLst>
          </p:cNvPr>
          <p:cNvSpPr/>
          <p:nvPr/>
        </p:nvSpPr>
        <p:spPr>
          <a:xfrm>
            <a:off x="1016000" y="2095500"/>
            <a:ext cx="3810000" cy="431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架构研究需求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FFE1BE4-6C50-C7B0-9A33-DA148F08244F}"/>
              </a:ext>
            </a:extLst>
          </p:cNvPr>
          <p:cNvSpPr/>
          <p:nvPr/>
        </p:nvSpPr>
        <p:spPr>
          <a:xfrm>
            <a:off x="1016000" y="2552700"/>
            <a:ext cx="3810000" cy="15113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多专家对照
模块消融
长序列评测
新架构接入</a:t>
            </a:r>
          </a:p>
        </p:txBody>
      </p:sp>
      <p:sp>
        <p:nvSpPr>
          <p:cNvPr id="10" name="箭头: 右 9">
            <a:extLst>
              <a:ext uri="{FF2B5EF4-FFF2-40B4-BE49-F238E27FC236}">
                <a16:creationId xmlns:a16="http://schemas.microsoft.com/office/drawing/2014/main" id="{953DB2C1-0940-E0D7-DB40-E1B588EC5306}"/>
              </a:ext>
            </a:extLst>
          </p:cNvPr>
          <p:cNvSpPr/>
          <p:nvPr/>
        </p:nvSpPr>
        <p:spPr>
          <a:xfrm>
            <a:off x="5080000" y="2794000"/>
            <a:ext cx="635000" cy="381000"/>
          </a:xfrm>
          <a:prstGeom prst="rightArrow">
            <a:avLst/>
          </a:prstGeom>
          <a:solidFill>
            <a:srgbClr val="286FB9"/>
          </a:solidFill>
          <a:ln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7E84A5AC-E983-091B-E2E4-AC8990C88E6F}"/>
              </a:ext>
            </a:extLst>
          </p:cNvPr>
          <p:cNvSpPr/>
          <p:nvPr/>
        </p:nvSpPr>
        <p:spPr>
          <a:xfrm>
            <a:off x="6604000" y="2095500"/>
            <a:ext cx="4064000" cy="431800"/>
          </a:xfrm>
          <a:prstGeom prst="rect">
            <a:avLst/>
          </a:prstGeom>
          <a:solidFill>
            <a:srgbClr val="26915F"/>
          </a:solidFill>
          <a:ln w="12700">
            <a:solidFill>
              <a:srgbClr val="26915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平台支撑方式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1B37015E-2790-1C16-4B2B-C62075CA8788}"/>
              </a:ext>
            </a:extLst>
          </p:cNvPr>
          <p:cNvSpPr/>
          <p:nvPr/>
        </p:nvSpPr>
        <p:spPr>
          <a:xfrm>
            <a:off x="6604000" y="2552700"/>
            <a:ext cx="4064000" cy="1511300"/>
          </a:xfrm>
          <a:prstGeom prst="rect">
            <a:avLst/>
          </a:prstGeom>
          <a:solidFill>
            <a:srgbClr val="FFFFFF"/>
          </a:solidFill>
          <a:ln w="12700">
            <a:solidFill>
              <a:srgbClr val="26915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统一调度
统一输出格式
同条件对比
运行数据记录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9E86060B-313D-D961-DEF2-7247E1FE1E6B}"/>
              </a:ext>
            </a:extLst>
          </p:cNvPr>
          <p:cNvSpPr/>
          <p:nvPr/>
        </p:nvSpPr>
        <p:spPr>
          <a:xfrm>
            <a:off x="1206500" y="4953000"/>
            <a:ext cx="9779000" cy="6096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b="1">
                <a:solidFill>
                  <a:srgbClr val="00285F"/>
                </a:solidFill>
                <a:latin typeface="Microsoft YaHei" panose="020B0503020204020204" pitchFamily="34" charset="-122"/>
              </a:rPr>
              <a:t>新架构训练完成后可作为第 </a:t>
            </a:r>
            <a:r>
              <a:rPr lang="en-US" altLang="zh-CN" b="1">
                <a:solidFill>
                  <a:srgbClr val="00285F"/>
                </a:solidFill>
                <a:latin typeface="Microsoft YaHei" panose="020B0503020204020204" pitchFamily="34" charset="-122"/>
              </a:rPr>
              <a:t>8 </a:t>
            </a:r>
            <a:r>
              <a:rPr lang="zh-CN" altLang="en-US" b="1">
                <a:solidFill>
                  <a:srgbClr val="00285F"/>
                </a:solidFill>
                <a:latin typeface="Microsoft YaHei" panose="020B0503020204020204" pitchFamily="34" charset="-122"/>
              </a:rPr>
              <a:t>个模型接入平台，与现有模型同条件比较。</a:t>
            </a:r>
          </a:p>
        </p:txBody>
      </p:sp>
    </p:spTree>
    <p:extLst>
      <p:ext uri="{BB962C8B-B14F-4D97-AF65-F5344CB8AC3E}">
        <p14:creationId xmlns:p14="http://schemas.microsoft.com/office/powerpoint/2010/main" val="424787821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6C7F92-9293-B59D-2DE6-2DB6188AD3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D974B1A9-EA78-9DDD-0C77-372F5B9CAD76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08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0F0E9114-BD5E-4531-B04D-1539D4EDDF89}"/>
              </a:ext>
            </a:extLst>
          </p:cNvPr>
          <p:cNvSpPr txBox="1"/>
          <p:nvPr/>
        </p:nvSpPr>
        <p:spPr>
          <a:xfrm>
            <a:off x="946461" y="269201"/>
            <a:ext cx="6440714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实验设计</a:t>
            </a:r>
            <a:endParaRPr lang="zh-CN" altLang="en-US" sz="3100" b="1" dirty="0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20D3119-8304-980B-9044-6D9843C40F83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02B941C-345C-152C-6089-F9331975B7C5}"/>
              </a:ext>
            </a:extLst>
          </p:cNvPr>
          <p:cNvSpPr/>
          <p:nvPr/>
        </p:nvSpPr>
        <p:spPr>
          <a:xfrm>
            <a:off x="431800" y="1168400"/>
            <a:ext cx="113030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实验设计分为架构侧实验和平台侧评测两部分。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3565E51-AAFC-E6FF-560D-F6861F46F7CA}"/>
              </a:ext>
            </a:extLst>
          </p:cNvPr>
          <p:cNvSpPr/>
          <p:nvPr/>
        </p:nvSpPr>
        <p:spPr>
          <a:xfrm>
            <a:off x="698500" y="1905000"/>
            <a:ext cx="5080000" cy="431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架构侧实验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EA5690A-0CF3-7913-BF6B-4285752AC6CA}"/>
              </a:ext>
            </a:extLst>
          </p:cNvPr>
          <p:cNvSpPr/>
          <p:nvPr/>
        </p:nvSpPr>
        <p:spPr>
          <a:xfrm>
            <a:off x="698500" y="2362200"/>
            <a:ext cx="5080000" cy="2463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消融实验：移除记忆、校验、多专家路由
长序列评测：</a:t>
            </a:r>
            <a:r>
              <a:rPr lang="en-US" altLang="zh-CN" sz="1900">
                <a:solidFill>
                  <a:srgbClr val="081830"/>
                </a:solidFill>
                <a:latin typeface="Microsoft YaHei" panose="020B0503020204020204" pitchFamily="34" charset="-122"/>
              </a:rPr>
              <a:t>10 / 20 / 50 / 100 </a:t>
            </a:r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帧
多专家与单专家对照
六类场景阈值标定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2B0D980-4CC6-CA35-E20C-9856AC124712}"/>
              </a:ext>
            </a:extLst>
          </p:cNvPr>
          <p:cNvSpPr/>
          <p:nvPr/>
        </p:nvSpPr>
        <p:spPr>
          <a:xfrm>
            <a:off x="6413500" y="1905000"/>
            <a:ext cx="5080000" cy="431800"/>
          </a:xfrm>
          <a:prstGeom prst="rect">
            <a:avLst/>
          </a:prstGeom>
          <a:solidFill>
            <a:srgbClr val="286FB9"/>
          </a:solidFill>
          <a:ln w="12700"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平台侧评测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E47B870-70CA-4D07-B582-CEA961C638BF}"/>
              </a:ext>
            </a:extLst>
          </p:cNvPr>
          <p:cNvSpPr/>
          <p:nvPr/>
        </p:nvSpPr>
        <p:spPr>
          <a:xfrm>
            <a:off x="6413500" y="2362200"/>
            <a:ext cx="5080000" cy="2463800"/>
          </a:xfrm>
          <a:prstGeom prst="rect">
            <a:avLst/>
          </a:prstGeom>
          <a:solidFill>
            <a:srgbClr val="FFFFFF"/>
          </a:solidFill>
          <a:ln w="12700"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模型接入覆盖率：目标 </a:t>
            </a:r>
            <a:r>
              <a:rPr lang="en-US" altLang="zh-CN" sz="1900">
                <a:solidFill>
                  <a:srgbClr val="081830"/>
                </a:solidFill>
                <a:latin typeface="Microsoft YaHei" panose="020B0503020204020204" pitchFamily="34" charset="-122"/>
              </a:rPr>
              <a:t>7/7
</a:t>
            </a:r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跨模型对比矩阵完整性
新模型接入边际成本
报告导出能力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B3A259D5-5EE5-928F-7D34-FF55805827BC}"/>
              </a:ext>
            </a:extLst>
          </p:cNvPr>
          <p:cNvSpPr/>
          <p:nvPr/>
        </p:nvSpPr>
        <p:spPr>
          <a:xfrm>
            <a:off x="1460500" y="5334000"/>
            <a:ext cx="9271000" cy="4826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700" b="1">
                <a:solidFill>
                  <a:srgbClr val="00285F"/>
                </a:solidFill>
                <a:latin typeface="Microsoft YaHei" panose="020B0503020204020204" pitchFamily="34" charset="-122"/>
              </a:rPr>
              <a:t>GPU </a:t>
            </a:r>
            <a:r>
              <a:rPr lang="zh-CN" altLang="en-US" sz="1700" b="1">
                <a:solidFill>
                  <a:srgbClr val="00285F"/>
                </a:solidFill>
                <a:latin typeface="Microsoft YaHei" panose="020B0503020204020204" pitchFamily="34" charset="-122"/>
              </a:rPr>
              <a:t>预算约 </a:t>
            </a:r>
            <a:r>
              <a:rPr lang="en-US" altLang="zh-CN" sz="1700" b="1">
                <a:solidFill>
                  <a:srgbClr val="00285F"/>
                </a:solidFill>
                <a:latin typeface="Microsoft YaHei" panose="020B0503020204020204" pitchFamily="34" charset="-122"/>
              </a:rPr>
              <a:t>1400 </a:t>
            </a:r>
            <a:r>
              <a:rPr lang="zh-CN" altLang="en-US" sz="1700" b="1">
                <a:solidFill>
                  <a:srgbClr val="00285F"/>
                </a:solidFill>
                <a:latin typeface="Microsoft YaHei" panose="020B0503020204020204" pitchFamily="34" charset="-122"/>
              </a:rPr>
              <a:t>小时，按里程碑分批申请。</a:t>
            </a:r>
          </a:p>
        </p:txBody>
      </p:sp>
    </p:spTree>
    <p:extLst>
      <p:ext uri="{BB962C8B-B14F-4D97-AF65-F5344CB8AC3E}">
        <p14:creationId xmlns:p14="http://schemas.microsoft.com/office/powerpoint/2010/main" val="170923453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6C7F92-9293-B59D-2DE6-2DB6188AD3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D974B1A9-EA78-9DDD-0C77-372F5B9CAD76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08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0F0E9114-BD5E-4531-B04D-1539D4EDDF89}"/>
              </a:ext>
            </a:extLst>
          </p:cNvPr>
          <p:cNvSpPr txBox="1"/>
          <p:nvPr/>
        </p:nvSpPr>
        <p:spPr>
          <a:xfrm>
            <a:off x="946461" y="269201"/>
            <a:ext cx="6440714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创新点总结</a:t>
            </a:r>
            <a:endParaRPr lang="zh-CN" altLang="en-US" sz="3100" b="1" dirty="0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F3F944C-EEF7-497D-5BC8-B6183F5B42C6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6FB3216-A343-BC7E-DE11-4C654DDF8153}"/>
              </a:ext>
            </a:extLst>
          </p:cNvPr>
          <p:cNvSpPr/>
          <p:nvPr/>
        </p:nvSpPr>
        <p:spPr>
          <a:xfrm>
            <a:off x="431800" y="1168400"/>
            <a:ext cx="113030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创新点围绕几何校验、多专家编排、长序列记忆和聚合平台展开。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02947AC-8456-714C-BEAD-24FBFB2094EB}"/>
              </a:ext>
            </a:extLst>
          </p:cNvPr>
          <p:cNvSpPr/>
          <p:nvPr/>
        </p:nvSpPr>
        <p:spPr>
          <a:xfrm>
            <a:off x="1143000" y="2095500"/>
            <a:ext cx="889000" cy="6604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1</a:t>
            </a:r>
            <a:endParaRPr lang="zh-CN" altLang="en-US" sz="20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F1C457B-C417-8F89-150E-4F9490EAA7C1}"/>
              </a:ext>
            </a:extLst>
          </p:cNvPr>
          <p:cNvSpPr/>
          <p:nvPr/>
        </p:nvSpPr>
        <p:spPr>
          <a:xfrm>
            <a:off x="2286000" y="2095500"/>
            <a:ext cx="3429000" cy="66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b="1">
                <a:solidFill>
                  <a:srgbClr val="00285F"/>
                </a:solidFill>
                <a:latin typeface="Microsoft YaHei" panose="020B0503020204020204" pitchFamily="34" charset="-122"/>
              </a:rPr>
              <a:t>几何校验作为架构内置组件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92ACEC9-FB56-3D36-0C86-7C8139C19E5F}"/>
              </a:ext>
            </a:extLst>
          </p:cNvPr>
          <p:cNvSpPr/>
          <p:nvPr/>
        </p:nvSpPr>
        <p:spPr>
          <a:xfrm>
            <a:off x="6350000" y="2095500"/>
            <a:ext cx="889000" cy="6604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2</a:t>
            </a:r>
            <a:endParaRPr lang="zh-CN" altLang="en-US" sz="20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57AEC45-74E7-A915-B59D-7D5B7A6B9E12}"/>
              </a:ext>
            </a:extLst>
          </p:cNvPr>
          <p:cNvSpPr/>
          <p:nvPr/>
        </p:nvSpPr>
        <p:spPr>
          <a:xfrm>
            <a:off x="7493000" y="2095500"/>
            <a:ext cx="3429000" cy="6604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b="1">
                <a:solidFill>
                  <a:srgbClr val="00285F"/>
                </a:solidFill>
                <a:latin typeface="Microsoft YaHei" panose="020B0503020204020204" pitchFamily="34" charset="-122"/>
              </a:rPr>
              <a:t>异构多专家组合与路由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8451ED07-1297-41C1-8CA2-654B93CA06D8}"/>
              </a:ext>
            </a:extLst>
          </p:cNvPr>
          <p:cNvSpPr/>
          <p:nvPr/>
        </p:nvSpPr>
        <p:spPr>
          <a:xfrm>
            <a:off x="1143000" y="3517900"/>
            <a:ext cx="889000" cy="6604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3</a:t>
            </a:r>
            <a:endParaRPr lang="zh-CN" altLang="en-US" sz="20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BE33FFE-6B91-B5FA-766A-39C11BF80411}"/>
              </a:ext>
            </a:extLst>
          </p:cNvPr>
          <p:cNvSpPr/>
          <p:nvPr/>
        </p:nvSpPr>
        <p:spPr>
          <a:xfrm>
            <a:off x="2286000" y="3517900"/>
            <a:ext cx="3429000" cy="66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b="1">
                <a:solidFill>
                  <a:srgbClr val="00285F"/>
                </a:solidFill>
                <a:latin typeface="Microsoft YaHei" panose="020B0503020204020204" pitchFamily="34" charset="-122"/>
              </a:rPr>
              <a:t>三分支稀疏注意力记忆统一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8AD6DD0-5355-DCA7-8702-1717440C410D}"/>
              </a:ext>
            </a:extLst>
          </p:cNvPr>
          <p:cNvSpPr/>
          <p:nvPr/>
        </p:nvSpPr>
        <p:spPr>
          <a:xfrm>
            <a:off x="6350000" y="3517900"/>
            <a:ext cx="889000" cy="6604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4</a:t>
            </a:r>
            <a:endParaRPr lang="zh-CN" altLang="en-US" sz="20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D6C772A9-18EC-2B1F-3D6A-7C97A0423C13}"/>
              </a:ext>
            </a:extLst>
          </p:cNvPr>
          <p:cNvSpPr/>
          <p:nvPr/>
        </p:nvSpPr>
        <p:spPr>
          <a:xfrm>
            <a:off x="7493000" y="3517900"/>
            <a:ext cx="3429000" cy="6604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b="1">
                <a:solidFill>
                  <a:srgbClr val="00285F"/>
                </a:solidFill>
                <a:latin typeface="Microsoft YaHei" panose="020B0503020204020204" pitchFamily="34" charset="-122"/>
              </a:rPr>
              <a:t>统一 </a:t>
            </a:r>
            <a:r>
              <a:rPr lang="en-US" altLang="zh-CN" b="1">
                <a:solidFill>
                  <a:srgbClr val="00285F"/>
                </a:solidFill>
                <a:latin typeface="Microsoft YaHei" panose="020B0503020204020204" pitchFamily="34" charset="-122"/>
              </a:rPr>
              <a:t>3R </a:t>
            </a:r>
            <a:r>
              <a:rPr lang="zh-CN" altLang="en-US" b="1">
                <a:solidFill>
                  <a:srgbClr val="00285F"/>
                </a:solidFill>
                <a:latin typeface="Microsoft YaHei" panose="020B0503020204020204" pitchFamily="34" charset="-122"/>
              </a:rPr>
              <a:t>模型聚合管理平台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665B9ED3-DDDD-CCB4-7D71-5D805CFC9620}"/>
              </a:ext>
            </a:extLst>
          </p:cNvPr>
          <p:cNvSpPr/>
          <p:nvPr/>
        </p:nvSpPr>
        <p:spPr>
          <a:xfrm>
            <a:off x="1460500" y="5334000"/>
            <a:ext cx="9271000" cy="4826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 b="1">
                <a:solidFill>
                  <a:srgbClr val="FFFFFF"/>
                </a:solidFill>
                <a:latin typeface="Microsoft YaHei" panose="020B0503020204020204" pitchFamily="34" charset="-122"/>
              </a:rPr>
              <a:t>各创新点均需通过后续消融和对比实验支撑。</a:t>
            </a:r>
          </a:p>
        </p:txBody>
      </p:sp>
    </p:spTree>
    <p:extLst>
      <p:ext uri="{BB962C8B-B14F-4D97-AF65-F5344CB8AC3E}">
        <p14:creationId xmlns:p14="http://schemas.microsoft.com/office/powerpoint/2010/main" val="308172680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795727-EB63-8B05-C0BA-FC16CEA965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746D9152-48D3-E0A8-3FF3-2116404376ED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03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BF154AD5-A70A-1962-3AC7-43543A030B62}"/>
              </a:ext>
            </a:extLst>
          </p:cNvPr>
          <p:cNvSpPr txBox="1"/>
          <p:nvPr/>
        </p:nvSpPr>
        <p:spPr>
          <a:xfrm>
            <a:off x="946460" y="269201"/>
            <a:ext cx="7626039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已完成工作</a:t>
            </a:r>
            <a:endParaRPr lang="zh-CN" altLang="en-US" sz="3100" b="1" dirty="0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4" name="任意多边形: 形状 93">
            <a:extLst>
              <a:ext uri="{FF2B5EF4-FFF2-40B4-BE49-F238E27FC236}">
                <a16:creationId xmlns:a16="http://schemas.microsoft.com/office/drawing/2014/main" id="{AF1BF063-7278-CF65-8ADD-CE545C77BE17}"/>
              </a:ext>
            </a:extLst>
          </p:cNvPr>
          <p:cNvSpPr/>
          <p:nvPr/>
        </p:nvSpPr>
        <p:spPr>
          <a:xfrm rot="5400000">
            <a:off x="5590187" y="-4418609"/>
            <a:ext cx="1011626" cy="12192000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2">
                  <a:lumMod val="75000"/>
                </a:schemeClr>
              </a:gs>
            </a:gsLst>
            <a:lin ang="5400000" scaled="1"/>
          </a:gradFill>
          <a:ln w="19050" cap="flat" cmpd="sng" algn="ctr">
            <a:noFill/>
            <a:prstDash val="solid"/>
            <a:miter lim="800000"/>
          </a:ln>
          <a:effectLst>
            <a:outerShdw blurRad="152400" dist="190500" dir="13500000" algn="ctr" rotWithShape="0">
              <a:sysClr val="window" lastClr="FFFFFF">
                <a:alpha val="29000"/>
              </a:sys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D0A63473-433E-4163-BE11-92785448B44E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B51662D-4F7B-5D58-17CF-D4F73C22E3D8}"/>
              </a:ext>
            </a:extLst>
          </p:cNvPr>
          <p:cNvSpPr/>
          <p:nvPr/>
        </p:nvSpPr>
        <p:spPr>
          <a:xfrm>
            <a:off x="431800" y="1168400"/>
            <a:ext cx="113030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当前已完成架构文档、原型验证、平台代码和阶段综述。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787B560-0313-93A0-5A0E-1C2C3BECBCDE}"/>
              </a:ext>
            </a:extLst>
          </p:cNvPr>
          <p:cNvSpPr/>
          <p:nvPr/>
        </p:nvSpPr>
        <p:spPr>
          <a:xfrm>
            <a:off x="889000" y="1968500"/>
            <a:ext cx="4826000" cy="431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架构侧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D1E0E06-3D08-39F0-EFDC-5FF0A0CB7698}"/>
              </a:ext>
            </a:extLst>
          </p:cNvPr>
          <p:cNvSpPr/>
          <p:nvPr/>
        </p:nvSpPr>
        <p:spPr>
          <a:xfrm>
            <a:off x="889000" y="2425700"/>
            <a:ext cx="4826000" cy="2082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900">
                <a:solidFill>
                  <a:srgbClr val="081830"/>
                </a:solidFill>
                <a:latin typeface="Microsoft YaHei" panose="020B0503020204020204" pitchFamily="34" charset="-122"/>
              </a:rPr>
              <a:t>7 </a:t>
            </a:r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份设计文档
跨模块信号规约 </a:t>
            </a:r>
            <a:r>
              <a:rPr lang="en-US" altLang="zh-CN" sz="1900">
                <a:solidFill>
                  <a:srgbClr val="081830"/>
                </a:solidFill>
                <a:latin typeface="Microsoft YaHei" panose="020B0503020204020204" pitchFamily="34" charset="-122"/>
              </a:rPr>
              <a:t>v2.1
</a:t>
            </a:r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原型 </a:t>
            </a:r>
            <a:r>
              <a:rPr lang="en-US" altLang="zh-CN" sz="1900">
                <a:solidFill>
                  <a:srgbClr val="081830"/>
                </a:solidFill>
                <a:latin typeface="Microsoft YaHei" panose="020B0503020204020204" pitchFamily="34" charset="-122"/>
              </a:rPr>
              <a:t>v0.3 </a:t>
            </a:r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跑通
</a:t>
            </a:r>
            <a:r>
              <a:rPr lang="en-US" altLang="zh-CN" sz="1900">
                <a:solidFill>
                  <a:srgbClr val="081830"/>
                </a:solidFill>
                <a:latin typeface="Microsoft YaHei" panose="020B0503020204020204" pitchFamily="34" charset="-122"/>
              </a:rPr>
              <a:t>18 </a:t>
            </a:r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项技术里程碑完成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BDB4440F-E7FD-594B-DDC8-82F48085292E}"/>
              </a:ext>
            </a:extLst>
          </p:cNvPr>
          <p:cNvSpPr/>
          <p:nvPr/>
        </p:nvSpPr>
        <p:spPr>
          <a:xfrm>
            <a:off x="6477000" y="1968500"/>
            <a:ext cx="4826000" cy="431800"/>
          </a:xfrm>
          <a:prstGeom prst="rect">
            <a:avLst/>
          </a:prstGeom>
          <a:solidFill>
            <a:srgbClr val="26915F"/>
          </a:solidFill>
          <a:ln w="12700">
            <a:solidFill>
              <a:srgbClr val="26915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平台侧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1D7BA23F-E3E7-71C7-6793-425F6D6D6790}"/>
              </a:ext>
            </a:extLst>
          </p:cNvPr>
          <p:cNvSpPr/>
          <p:nvPr/>
        </p:nvSpPr>
        <p:spPr>
          <a:xfrm>
            <a:off x="6477000" y="2425700"/>
            <a:ext cx="4826000" cy="2082800"/>
          </a:xfrm>
          <a:prstGeom prst="rect">
            <a:avLst/>
          </a:prstGeom>
          <a:solidFill>
            <a:srgbClr val="FFFFFF"/>
          </a:solidFill>
          <a:ln w="12700">
            <a:solidFill>
              <a:srgbClr val="26915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约 </a:t>
            </a:r>
            <a:r>
              <a:rPr lang="en-US" altLang="zh-CN" sz="1900">
                <a:solidFill>
                  <a:srgbClr val="081830"/>
                </a:solidFill>
                <a:latin typeface="Microsoft YaHei" panose="020B0503020204020204" pitchFamily="34" charset="-122"/>
              </a:rPr>
              <a:t>15000 </a:t>
            </a:r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行代码
</a:t>
            </a:r>
            <a:r>
              <a:rPr lang="en-US" altLang="zh-CN" sz="1900">
                <a:solidFill>
                  <a:srgbClr val="081830"/>
                </a:solidFill>
                <a:latin typeface="Microsoft YaHei" panose="020B0503020204020204" pitchFamily="34" charset="-122"/>
              </a:rPr>
              <a:t>7 </a:t>
            </a:r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个执行器完成
</a:t>
            </a:r>
            <a:r>
              <a:rPr lang="en-US" altLang="zh-CN" sz="1900">
                <a:solidFill>
                  <a:srgbClr val="081830"/>
                </a:solidFill>
                <a:latin typeface="Microsoft YaHei" panose="020B0503020204020204" pitchFamily="34" charset="-122"/>
              </a:rPr>
              <a:t>6 </a:t>
            </a:r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个端到端验证
跨模型对比数据已生成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771A4DB7-0BB5-69C9-4C27-42413DBF438D}"/>
              </a:ext>
            </a:extLst>
          </p:cNvPr>
          <p:cNvSpPr/>
          <p:nvPr/>
        </p:nvSpPr>
        <p:spPr>
          <a:xfrm>
            <a:off x="1460500" y="5270500"/>
            <a:ext cx="9271000" cy="4826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 b="1">
                <a:solidFill>
                  <a:srgbClr val="00285F"/>
                </a:solidFill>
                <a:latin typeface="Microsoft YaHei" panose="020B0503020204020204" pitchFamily="34" charset="-122"/>
              </a:rPr>
              <a:t>同期完成 </a:t>
            </a:r>
            <a:r>
              <a:rPr lang="en-US" altLang="zh-CN" sz="1700" b="1">
                <a:solidFill>
                  <a:srgbClr val="00285F"/>
                </a:solidFill>
                <a:latin typeface="Microsoft YaHei" panose="020B0503020204020204" pitchFamily="34" charset="-122"/>
              </a:rPr>
              <a:t>18 </a:t>
            </a:r>
            <a:r>
              <a:rPr lang="zh-CN" altLang="en-US" sz="1700" b="1">
                <a:solidFill>
                  <a:srgbClr val="00285F"/>
                </a:solidFill>
                <a:latin typeface="Microsoft YaHei" panose="020B0503020204020204" pitchFamily="34" charset="-122"/>
              </a:rPr>
              <a:t>页中文综述，包含 </a:t>
            </a:r>
            <a:r>
              <a:rPr lang="en-US" altLang="zh-CN" sz="1700" b="1">
                <a:solidFill>
                  <a:srgbClr val="00285F"/>
                </a:solidFill>
                <a:latin typeface="Microsoft YaHei" panose="020B0503020204020204" pitchFamily="34" charset="-122"/>
              </a:rPr>
              <a:t>44 </a:t>
            </a:r>
            <a:r>
              <a:rPr lang="zh-CN" altLang="en-US" sz="1700" b="1">
                <a:solidFill>
                  <a:srgbClr val="00285F"/>
                </a:solidFill>
                <a:latin typeface="Microsoft YaHei" panose="020B0503020204020204" pitchFamily="34" charset="-122"/>
              </a:rPr>
              <a:t>篇引用、</a:t>
            </a:r>
            <a:r>
              <a:rPr lang="en-US" altLang="zh-CN" sz="1700" b="1">
                <a:solidFill>
                  <a:srgbClr val="00285F"/>
                </a:solidFill>
                <a:latin typeface="Microsoft YaHei" panose="020B0503020204020204" pitchFamily="34" charset="-122"/>
              </a:rPr>
              <a:t>6 </a:t>
            </a:r>
            <a:r>
              <a:rPr lang="zh-CN" altLang="en-US" sz="1700" b="1">
                <a:solidFill>
                  <a:srgbClr val="00285F"/>
                </a:solidFill>
                <a:latin typeface="Microsoft YaHei" panose="020B0503020204020204" pitchFamily="34" charset="-122"/>
              </a:rPr>
              <a:t>图和 </a:t>
            </a:r>
            <a:r>
              <a:rPr lang="en-US" altLang="zh-CN" sz="1700" b="1">
                <a:solidFill>
                  <a:srgbClr val="00285F"/>
                </a:solidFill>
                <a:latin typeface="Microsoft YaHei" panose="020B0503020204020204" pitchFamily="34" charset="-122"/>
              </a:rPr>
              <a:t>5 </a:t>
            </a:r>
            <a:r>
              <a:rPr lang="zh-CN" altLang="en-US" sz="1700" b="1">
                <a:solidFill>
                  <a:srgbClr val="00285F"/>
                </a:solidFill>
                <a:latin typeface="Microsoft YaHei" panose="020B0503020204020204" pitchFamily="34" charset="-122"/>
              </a:rPr>
              <a:t>表。</a:t>
            </a:r>
          </a:p>
        </p:txBody>
      </p:sp>
    </p:spTree>
    <p:extLst>
      <p:ext uri="{BB962C8B-B14F-4D97-AF65-F5344CB8AC3E}">
        <p14:creationId xmlns:p14="http://schemas.microsoft.com/office/powerpoint/2010/main" val="424919178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F1AC14-4D81-0B48-547E-7159FB0D64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BAF1E447-5F42-9CE3-9E7C-27FABF3FC177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05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032F2B33-3392-C809-868B-8FB43F2C1232}"/>
              </a:ext>
            </a:extLst>
          </p:cNvPr>
          <p:cNvSpPr txBox="1"/>
          <p:nvPr/>
        </p:nvSpPr>
        <p:spPr>
          <a:xfrm>
            <a:off x="946460" y="269201"/>
            <a:ext cx="7626039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时间安排</a:t>
            </a:r>
            <a:endParaRPr lang="zh-CN" altLang="en-US" sz="3100" b="1" dirty="0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7ED13EE-E318-E0B6-AE48-98D94F8BB367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9D43D4C-6874-9F2E-02F8-BD019E31E246}"/>
              </a:ext>
            </a:extLst>
          </p:cNvPr>
          <p:cNvSpPr/>
          <p:nvPr/>
        </p:nvSpPr>
        <p:spPr>
          <a:xfrm>
            <a:off x="431800" y="1168400"/>
            <a:ext cx="113030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后续时间安排分为近期、中期和后期三个阶段。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EB4E03FC-1702-A932-522D-D401AE6E108A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52842" y="1651000"/>
            <a:ext cx="7486316" cy="4064000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7F6A34D7-B255-9246-9120-3B34E1DC662F}"/>
              </a:ext>
            </a:extLst>
          </p:cNvPr>
          <p:cNvSpPr/>
          <p:nvPr/>
        </p:nvSpPr>
        <p:spPr>
          <a:xfrm>
            <a:off x="1016000" y="5778500"/>
            <a:ext cx="10160000" cy="5334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 b="1">
                <a:solidFill>
                  <a:srgbClr val="00285F"/>
                </a:solidFill>
                <a:latin typeface="Microsoft YaHei" panose="020B0503020204020204" pitchFamily="34" charset="-122"/>
              </a:rPr>
              <a:t>近期完成开题和平台补充，中期推进训练消融，后期撰写论文并补充实验。</a:t>
            </a:r>
          </a:p>
        </p:txBody>
      </p:sp>
    </p:spTree>
    <p:extLst>
      <p:ext uri="{BB962C8B-B14F-4D97-AF65-F5344CB8AC3E}">
        <p14:creationId xmlns:p14="http://schemas.microsoft.com/office/powerpoint/2010/main" val="257491985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795727-EB63-8B05-C0BA-FC16CEA965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746D9152-48D3-E0A8-3FF3-2116404376ED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03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BF154AD5-A70A-1962-3AC7-43543A030B62}"/>
              </a:ext>
            </a:extLst>
          </p:cNvPr>
          <p:cNvSpPr txBox="1"/>
          <p:nvPr/>
        </p:nvSpPr>
        <p:spPr>
          <a:xfrm>
            <a:off x="946460" y="269201"/>
            <a:ext cx="7626039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风险与应对</a:t>
            </a:r>
            <a:endParaRPr lang="zh-CN" altLang="en-US" sz="3100" b="1" dirty="0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4" name="任意多边形: 形状 93">
            <a:extLst>
              <a:ext uri="{FF2B5EF4-FFF2-40B4-BE49-F238E27FC236}">
                <a16:creationId xmlns:a16="http://schemas.microsoft.com/office/drawing/2014/main" id="{AF1BF063-7278-CF65-8ADD-CE545C77BE17}"/>
              </a:ext>
            </a:extLst>
          </p:cNvPr>
          <p:cNvSpPr/>
          <p:nvPr/>
        </p:nvSpPr>
        <p:spPr>
          <a:xfrm rot="5400000">
            <a:off x="5590187" y="-4418609"/>
            <a:ext cx="1011626" cy="12192000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2">
                  <a:lumMod val="75000"/>
                </a:schemeClr>
              </a:gs>
            </a:gsLst>
            <a:lin ang="5400000" scaled="1"/>
          </a:gradFill>
          <a:ln w="19050" cap="flat" cmpd="sng" algn="ctr">
            <a:noFill/>
            <a:prstDash val="solid"/>
            <a:miter lim="800000"/>
          </a:ln>
          <a:effectLst>
            <a:outerShdw blurRad="152400" dist="190500" dir="13500000" algn="ctr" rotWithShape="0">
              <a:sysClr val="window" lastClr="FFFFFF">
                <a:alpha val="29000"/>
              </a:sys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5E5A122-378A-0BD1-CF8D-21932404794A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637BB0E-74C5-0303-4DB4-2D141AD0714D}"/>
              </a:ext>
            </a:extLst>
          </p:cNvPr>
          <p:cNvSpPr/>
          <p:nvPr/>
        </p:nvSpPr>
        <p:spPr>
          <a:xfrm>
            <a:off x="431800" y="1168400"/>
            <a:ext cx="113030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主要风险来自训练质量、算力约束、多专家效果和校验标定复杂度。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B40F0D4-FC6E-28A1-24FE-21CB9E8A157F}"/>
              </a:ext>
            </a:extLst>
          </p:cNvPr>
          <p:cNvSpPr/>
          <p:nvPr/>
        </p:nvSpPr>
        <p:spPr>
          <a:xfrm>
            <a:off x="889000" y="1905000"/>
            <a:ext cx="2413000" cy="6096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训练质量未知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04F370DA-007C-512D-5B88-FCD677AD5A90}"/>
              </a:ext>
            </a:extLst>
          </p:cNvPr>
          <p:cNvSpPr/>
          <p:nvPr/>
        </p:nvSpPr>
        <p:spPr>
          <a:xfrm>
            <a:off x="3619500" y="1905000"/>
            <a:ext cx="7493000" cy="6096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>
                <a:solidFill>
                  <a:srgbClr val="00285F"/>
                </a:solidFill>
                <a:latin typeface="Microsoft YaHei" panose="020B0503020204020204" pitchFamily="34" charset="-122"/>
              </a:rPr>
              <a:t>消融实验逐步推进，每一步保留独立结论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E32BDC8E-4C9C-B02D-D499-F1DBB97A40D9}"/>
              </a:ext>
            </a:extLst>
          </p:cNvPr>
          <p:cNvSpPr/>
          <p:nvPr/>
        </p:nvSpPr>
        <p:spPr>
          <a:xfrm>
            <a:off x="889000" y="2768600"/>
            <a:ext cx="2413000" cy="6096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GPU </a:t>
            </a:r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算力限制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61F47488-322A-158F-6B93-6821A8E70752}"/>
              </a:ext>
            </a:extLst>
          </p:cNvPr>
          <p:cNvSpPr/>
          <p:nvPr/>
        </p:nvSpPr>
        <p:spPr>
          <a:xfrm>
            <a:off x="3619500" y="2768600"/>
            <a:ext cx="7493000" cy="6096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>
                <a:solidFill>
                  <a:srgbClr val="00285F"/>
                </a:solidFill>
                <a:latin typeface="Microsoft YaHei" panose="020B0503020204020204" pitchFamily="34" charset="-122"/>
              </a:rPr>
              <a:t>按里程碑分批申请，优先小规模验证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65EACA4B-0A44-580F-E28E-5D5E8BE8E501}"/>
              </a:ext>
            </a:extLst>
          </p:cNvPr>
          <p:cNvSpPr/>
          <p:nvPr/>
        </p:nvSpPr>
        <p:spPr>
          <a:xfrm>
            <a:off x="889000" y="3632200"/>
            <a:ext cx="2413000" cy="6096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多专家收益不稳定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CDF3D68-64FF-6EBB-32AA-67C383768D97}"/>
              </a:ext>
            </a:extLst>
          </p:cNvPr>
          <p:cNvSpPr/>
          <p:nvPr/>
        </p:nvSpPr>
        <p:spPr>
          <a:xfrm>
            <a:off x="3619500" y="3632200"/>
            <a:ext cx="7493000" cy="6096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>
                <a:solidFill>
                  <a:srgbClr val="00285F"/>
                </a:solidFill>
                <a:latin typeface="Microsoft YaHei" panose="020B0503020204020204" pitchFamily="34" charset="-122"/>
              </a:rPr>
              <a:t>保留单模型 </a:t>
            </a:r>
            <a:r>
              <a:rPr lang="en-US" altLang="zh-CN" sz="1700">
                <a:solidFill>
                  <a:srgbClr val="00285F"/>
                </a:solidFill>
                <a:latin typeface="Microsoft YaHei" panose="020B0503020204020204" pitchFamily="34" charset="-122"/>
              </a:rPr>
              <a:t>baseline </a:t>
            </a:r>
            <a:r>
              <a:rPr lang="zh-CN" altLang="en-US" sz="1700">
                <a:solidFill>
                  <a:srgbClr val="00285F"/>
                </a:solidFill>
                <a:latin typeface="Microsoft YaHei" panose="020B0503020204020204" pitchFamily="34" charset="-122"/>
              </a:rPr>
              <a:t>作为对照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1C381091-31BE-8B16-DD91-905840810FCE}"/>
              </a:ext>
            </a:extLst>
          </p:cNvPr>
          <p:cNvSpPr/>
          <p:nvPr/>
        </p:nvSpPr>
        <p:spPr>
          <a:xfrm>
            <a:off x="889000" y="4495800"/>
            <a:ext cx="2413000" cy="6096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阈值标定复杂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7868ABD2-B0F3-0C8E-7612-B2B5F4F8FF7B}"/>
              </a:ext>
            </a:extLst>
          </p:cNvPr>
          <p:cNvSpPr/>
          <p:nvPr/>
        </p:nvSpPr>
        <p:spPr>
          <a:xfrm>
            <a:off x="3619500" y="4495800"/>
            <a:ext cx="7493000" cy="6096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>
                <a:solidFill>
                  <a:srgbClr val="00285F"/>
                </a:solidFill>
                <a:latin typeface="Microsoft YaHei" panose="020B0503020204020204" pitchFamily="34" charset="-122"/>
              </a:rPr>
              <a:t>先标定主要失败模式，再逐步扩展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873EEB77-3CEA-D5BB-DE3D-824BB071749D}"/>
              </a:ext>
            </a:extLst>
          </p:cNvPr>
          <p:cNvSpPr/>
          <p:nvPr/>
        </p:nvSpPr>
        <p:spPr>
          <a:xfrm>
            <a:off x="1460500" y="5461000"/>
            <a:ext cx="9271000" cy="4826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 b="1">
                <a:solidFill>
                  <a:srgbClr val="FFFFFF"/>
                </a:solidFill>
                <a:latin typeface="Microsoft YaHei" panose="020B0503020204020204" pitchFamily="34" charset="-122"/>
              </a:rPr>
              <a:t>后续按优先级推进，确保每个阶段都有可复核产出。</a:t>
            </a:r>
          </a:p>
        </p:txBody>
      </p:sp>
    </p:spTree>
    <p:extLst>
      <p:ext uri="{BB962C8B-B14F-4D97-AF65-F5344CB8AC3E}">
        <p14:creationId xmlns:p14="http://schemas.microsoft.com/office/powerpoint/2010/main" val="220714890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248A6D-C6EE-964D-6C1A-BE3EC5A39D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 descr="蓝色的火车在站台旁&#10;&#10;描述已自动生成">
            <a:extLst>
              <a:ext uri="{FF2B5EF4-FFF2-40B4-BE49-F238E27FC236}">
                <a16:creationId xmlns:a16="http://schemas.microsoft.com/office/drawing/2014/main" id="{47CB2ABF-6C6A-A145-CBD3-5D4863BE40CD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1" b="33391"/>
          <a:stretch/>
        </p:blipFill>
        <p:spPr>
          <a:xfrm>
            <a:off x="567" y="1099270"/>
            <a:ext cx="12190866" cy="4060213"/>
          </a:xfrm>
          <a:prstGeom prst="rect">
            <a:avLst/>
          </a:prstGeom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6DAA6598-060B-09AF-69C5-C131F0EE830A}"/>
              </a:ext>
            </a:extLst>
          </p:cNvPr>
          <p:cNvSpPr/>
          <p:nvPr/>
        </p:nvSpPr>
        <p:spPr>
          <a:xfrm>
            <a:off x="9859" y="-1"/>
            <a:ext cx="12191999" cy="5159483"/>
          </a:xfrm>
          <a:prstGeom prst="rect">
            <a:avLst/>
          </a:prstGeom>
          <a:gradFill flip="none" rotWithShape="1">
            <a:gsLst>
              <a:gs pos="49000">
                <a:schemeClr val="bg1"/>
              </a:gs>
              <a:gs pos="100000">
                <a:schemeClr val="accent3">
                  <a:alpha val="2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>
              <a:defRPr/>
            </a:pPr>
            <a:endParaRPr lang="zh-CN" altLang="en-US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8B7BF0E7-40A8-7FA0-2CDB-5543790FC811}"/>
              </a:ext>
            </a:extLst>
          </p:cNvPr>
          <p:cNvGrpSpPr/>
          <p:nvPr/>
        </p:nvGrpSpPr>
        <p:grpSpPr>
          <a:xfrm>
            <a:off x="9859" y="1239674"/>
            <a:ext cx="12172282" cy="2928257"/>
            <a:chOff x="442611" y="2016251"/>
            <a:chExt cx="10694619" cy="2228850"/>
          </a:xfrm>
          <a:gradFill>
            <a:gsLst>
              <a:gs pos="0">
                <a:schemeClr val="bg1">
                  <a:alpha val="0"/>
                </a:schemeClr>
              </a:gs>
              <a:gs pos="50000">
                <a:schemeClr val="bg1">
                  <a:lumMod val="95000"/>
                </a:schemeClr>
              </a:gs>
              <a:gs pos="100000">
                <a:schemeClr val="bg1">
                  <a:alpha val="0"/>
                </a:schemeClr>
              </a:gs>
            </a:gsLst>
            <a:lin ang="0" scaled="1"/>
          </a:gradFill>
        </p:grpSpPr>
        <p:grpSp>
          <p:nvGrpSpPr>
            <p:cNvPr id="14" name="组合 13">
              <a:extLst>
                <a:ext uri="{FF2B5EF4-FFF2-40B4-BE49-F238E27FC236}">
                  <a16:creationId xmlns:a16="http://schemas.microsoft.com/office/drawing/2014/main" id="{F970E494-61EE-587D-4574-8858E921DFBB}"/>
                </a:ext>
              </a:extLst>
            </p:cNvPr>
            <p:cNvGrpSpPr/>
            <p:nvPr/>
          </p:nvGrpSpPr>
          <p:grpSpPr>
            <a:xfrm>
              <a:off x="442611" y="2016251"/>
              <a:ext cx="10694619" cy="2228849"/>
              <a:chOff x="442611" y="2016251"/>
              <a:chExt cx="10694619" cy="2228849"/>
            </a:xfrm>
            <a:grpFill/>
          </p:grpSpPr>
          <p:sp>
            <p:nvSpPr>
              <p:cNvPr id="16" name="矩形 15">
                <a:extLst>
                  <a:ext uri="{FF2B5EF4-FFF2-40B4-BE49-F238E27FC236}">
                    <a16:creationId xmlns:a16="http://schemas.microsoft.com/office/drawing/2014/main" id="{4B88A2BA-CB61-B07D-37EF-4D0FB144C24D}"/>
                  </a:ext>
                </a:extLst>
              </p:cNvPr>
              <p:cNvSpPr/>
              <p:nvPr/>
            </p:nvSpPr>
            <p:spPr>
              <a:xfrm>
                <a:off x="442611" y="2016251"/>
                <a:ext cx="10694619" cy="2228849"/>
              </a:xfrm>
              <a:prstGeom prst="rect">
                <a:avLst/>
              </a:prstGeom>
              <a:grpFill/>
              <a:ln w="9525">
                <a:noFill/>
              </a:ln>
              <a:effectLst>
                <a:outerShdw blurRad="190500" dist="38100" dir="5400000" algn="t" rotWithShape="0">
                  <a:schemeClr val="bg1">
                    <a:lumMod val="75000"/>
                    <a:alpha val="17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lnSpc>
                    <a:spcPct val="150000"/>
                  </a:lnSpc>
                  <a:defRPr/>
                </a:pPr>
                <a:endParaRPr lang="zh-CN" altLang="en-US" sz="1200" b="1" dirty="0">
                  <a:solidFill>
                    <a:srgbClr val="03654E"/>
                  </a:solidFill>
                </a:endParaRPr>
              </a:p>
            </p:txBody>
          </p:sp>
          <p:cxnSp>
            <p:nvCxnSpPr>
              <p:cNvPr id="17" name="直接连接符 16">
                <a:extLst>
                  <a:ext uri="{FF2B5EF4-FFF2-40B4-BE49-F238E27FC236}">
                    <a16:creationId xmlns:a16="http://schemas.microsoft.com/office/drawing/2014/main" id="{158E00CD-2609-D798-C0FA-987A012BEC4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049461" y="2016251"/>
                <a:ext cx="8093075" cy="0"/>
              </a:xfrm>
              <a:prstGeom prst="line">
                <a:avLst/>
              </a:prstGeom>
              <a:grpFill/>
              <a:ln w="12700">
                <a:gradFill flip="none" rotWithShape="1">
                  <a:gsLst>
                    <a:gs pos="0">
                      <a:schemeClr val="accent6">
                        <a:alpha val="0"/>
                      </a:schemeClr>
                    </a:gs>
                    <a:gs pos="50000">
                      <a:schemeClr val="accent6"/>
                    </a:gs>
                    <a:gs pos="100000">
                      <a:schemeClr val="accent6">
                        <a:alpha val="0"/>
                      </a:schemeClr>
                    </a:gs>
                  </a:gsLst>
                  <a:lin ang="0" scaled="1"/>
                  <a:tileRect/>
                </a:gradFill>
              </a:ln>
              <a:effectLst>
                <a:outerShdw blurRad="50800" dist="38100" dir="7200000" algn="t" rotWithShape="0">
                  <a:schemeClr val="bg1">
                    <a:lumMod val="65000"/>
                    <a:alpha val="42000"/>
                  </a:schemeClr>
                </a:outerShd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5" name="直接连接符 14">
              <a:extLst>
                <a:ext uri="{FF2B5EF4-FFF2-40B4-BE49-F238E27FC236}">
                  <a16:creationId xmlns:a16="http://schemas.microsoft.com/office/drawing/2014/main" id="{9A5C04A5-7A49-3B7C-BC7F-3E42593659C0}"/>
                </a:ext>
              </a:extLst>
            </p:cNvPr>
            <p:cNvCxnSpPr>
              <a:cxnSpLocks/>
            </p:cNvCxnSpPr>
            <p:nvPr/>
          </p:nvCxnSpPr>
          <p:spPr>
            <a:xfrm>
              <a:off x="2049461" y="4245101"/>
              <a:ext cx="8093075" cy="0"/>
            </a:xfrm>
            <a:prstGeom prst="line">
              <a:avLst/>
            </a:prstGeom>
            <a:grpFill/>
            <a:ln w="12700">
              <a:gradFill flip="none" rotWithShape="1">
                <a:gsLst>
                  <a:gs pos="0">
                    <a:schemeClr val="accent6">
                      <a:alpha val="0"/>
                    </a:schemeClr>
                  </a:gs>
                  <a:gs pos="50000">
                    <a:schemeClr val="accent6"/>
                  </a:gs>
                  <a:gs pos="100000">
                    <a:schemeClr val="accent6">
                      <a:alpha val="0"/>
                    </a:schemeClr>
                  </a:gs>
                </a:gsLst>
                <a:lin ang="0" scaled="1"/>
                <a:tileRect/>
              </a:gradFill>
            </a:ln>
            <a:effectLst>
              <a:outerShdw blurRad="50800" dist="38100" dir="7200000" algn="t" rotWithShape="0">
                <a:schemeClr val="bg1">
                  <a:lumMod val="85000"/>
                  <a:alpha val="42000"/>
                </a:scheme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文本框 1">
            <a:extLst>
              <a:ext uri="{FF2B5EF4-FFF2-40B4-BE49-F238E27FC236}">
                <a16:creationId xmlns:a16="http://schemas.microsoft.com/office/drawing/2014/main" id="{A88CC83B-3930-EC30-7D36-3B736667F610}"/>
              </a:ext>
            </a:extLst>
          </p:cNvPr>
          <p:cNvSpPr txBox="1"/>
          <p:nvPr/>
        </p:nvSpPr>
        <p:spPr>
          <a:xfrm>
            <a:off x="0" y="1366919"/>
            <a:ext cx="12192000" cy="13463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500"/>
              </a:lnSpc>
              <a:defRPr/>
            </a:pPr>
            <a:endParaRPr lang="zh-CN" altLang="en-US" sz="80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任意多边形: 形状 5">
            <a:extLst>
              <a:ext uri="{FF2B5EF4-FFF2-40B4-BE49-F238E27FC236}">
                <a16:creationId xmlns:a16="http://schemas.microsoft.com/office/drawing/2014/main" id="{AD3FB004-3B93-3E9F-C7A6-53529A5C2DC6}"/>
              </a:ext>
            </a:extLst>
          </p:cNvPr>
          <p:cNvSpPr/>
          <p:nvPr/>
        </p:nvSpPr>
        <p:spPr>
          <a:xfrm>
            <a:off x="2614943" y="-5733"/>
            <a:ext cx="6962115" cy="493598"/>
          </a:xfrm>
          <a:custGeom>
            <a:avLst/>
            <a:gdLst>
              <a:gd name="connsiteX0" fmla="*/ 0 w 8717654"/>
              <a:gd name="connsiteY0" fmla="*/ 0 h 562725"/>
              <a:gd name="connsiteX1" fmla="*/ 1155700 w 8717654"/>
              <a:gd name="connsiteY1" fmla="*/ 0 h 562725"/>
              <a:gd name="connsiteX2" fmla="*/ 7561954 w 8717654"/>
              <a:gd name="connsiteY2" fmla="*/ 0 h 562725"/>
              <a:gd name="connsiteX3" fmla="*/ 8717654 w 8717654"/>
              <a:gd name="connsiteY3" fmla="*/ 0 h 562725"/>
              <a:gd name="connsiteX4" fmla="*/ 8717381 w 8717654"/>
              <a:gd name="connsiteY4" fmla="*/ 1022 h 562725"/>
              <a:gd name="connsiteX5" fmla="*/ 8441286 w 8717654"/>
              <a:gd name="connsiteY5" fmla="*/ 521969 h 562725"/>
              <a:gd name="connsiteX6" fmla="*/ 8383695 w 8717654"/>
              <a:gd name="connsiteY6" fmla="*/ 562725 h 562725"/>
              <a:gd name="connsiteX7" fmla="*/ 7227995 w 8717654"/>
              <a:gd name="connsiteY7" fmla="*/ 562725 h 562725"/>
              <a:gd name="connsiteX8" fmla="*/ 1489659 w 8717654"/>
              <a:gd name="connsiteY8" fmla="*/ 562725 h 562725"/>
              <a:gd name="connsiteX9" fmla="*/ 333959 w 8717654"/>
              <a:gd name="connsiteY9" fmla="*/ 562725 h 562725"/>
              <a:gd name="connsiteX10" fmla="*/ 276368 w 8717654"/>
              <a:gd name="connsiteY10" fmla="*/ 521969 h 562725"/>
              <a:gd name="connsiteX11" fmla="*/ 273 w 8717654"/>
              <a:gd name="connsiteY11" fmla="*/ 1022 h 56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8717654" h="562725">
                <a:moveTo>
                  <a:pt x="0" y="0"/>
                </a:moveTo>
                <a:lnTo>
                  <a:pt x="1155700" y="0"/>
                </a:lnTo>
                <a:lnTo>
                  <a:pt x="7561954" y="0"/>
                </a:lnTo>
                <a:lnTo>
                  <a:pt x="8717654" y="0"/>
                </a:lnTo>
                <a:lnTo>
                  <a:pt x="8717381" y="1022"/>
                </a:lnTo>
                <a:lnTo>
                  <a:pt x="8441286" y="521969"/>
                </a:lnTo>
                <a:cubicBezTo>
                  <a:pt x="8427678" y="547645"/>
                  <a:pt x="8406370" y="562725"/>
                  <a:pt x="8383695" y="562725"/>
                </a:cubicBezTo>
                <a:lnTo>
                  <a:pt x="7227995" y="562725"/>
                </a:lnTo>
                <a:lnTo>
                  <a:pt x="1489659" y="562725"/>
                </a:lnTo>
                <a:lnTo>
                  <a:pt x="333959" y="562725"/>
                </a:lnTo>
                <a:cubicBezTo>
                  <a:pt x="311285" y="562725"/>
                  <a:pt x="289976" y="547645"/>
                  <a:pt x="276368" y="521969"/>
                </a:cubicBezTo>
                <a:lnTo>
                  <a:pt x="273" y="1022"/>
                </a:lnTo>
                <a:close/>
              </a:path>
            </a:pathLst>
          </a:cu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0" i="0" u="none" strike="noStrike" kern="0" cap="none" spc="0" normalizeH="0" baseline="0" noProof="0" dirty="0">
              <a:ln>
                <a:noFill/>
              </a:ln>
              <a:solidFill>
                <a:srgbClr val="0C56A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903C5D8-B02C-615F-5E7C-1D735477DD28}"/>
              </a:ext>
            </a:extLst>
          </p:cNvPr>
          <p:cNvSpPr txBox="1"/>
          <p:nvPr/>
        </p:nvSpPr>
        <p:spPr>
          <a:xfrm>
            <a:off x="6003634" y="10234"/>
            <a:ext cx="184731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endParaRPr lang="zh-CN" altLang="en-US" sz="24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82FF6B3-E791-92AE-46CC-5FB429465CB0}"/>
              </a:ext>
            </a:extLst>
          </p:cNvPr>
          <p:cNvSpPr/>
          <p:nvPr/>
        </p:nvSpPr>
        <p:spPr>
          <a:xfrm>
            <a:off x="0" y="6632574"/>
            <a:ext cx="12192000" cy="234477"/>
          </a:xfrm>
          <a:prstGeom prst="rect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326BD87-7F07-A577-78B5-CCE7A8C660FD}"/>
              </a:ext>
            </a:extLst>
          </p:cNvPr>
          <p:cNvSpPr/>
          <p:nvPr/>
        </p:nvSpPr>
        <p:spPr>
          <a:xfrm>
            <a:off x="1143000" y="2095500"/>
            <a:ext cx="9906000" cy="88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3400" b="1">
                <a:solidFill>
                  <a:srgbClr val="00468E"/>
                </a:solidFill>
                <a:latin typeface="Microsoft YaHei" panose="020B0503020204020204" pitchFamily="34" charset="-122"/>
              </a:rPr>
              <a:t>总结致谢
敬请批评指正！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DD6CD9B-7B35-2EB1-34F0-09760AB44D80}"/>
              </a:ext>
            </a:extLst>
          </p:cNvPr>
          <p:cNvSpPr/>
          <p:nvPr/>
        </p:nvSpPr>
        <p:spPr>
          <a:xfrm>
            <a:off x="1905000" y="3492500"/>
            <a:ext cx="83820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b="1">
                <a:solidFill>
                  <a:srgbClr val="081830"/>
                </a:solidFill>
                <a:latin typeface="Microsoft YaHei" panose="020B0503020204020204" pitchFamily="34" charset="-122"/>
              </a:rPr>
              <a:t>本课题从 </a:t>
            </a:r>
            <a:r>
              <a:rPr lang="en-US" altLang="zh-CN" b="1">
                <a:solidFill>
                  <a:srgbClr val="081830"/>
                </a:solidFill>
                <a:latin typeface="Microsoft YaHei" panose="020B0503020204020204" pitchFamily="34" charset="-122"/>
              </a:rPr>
              <a:t>3R </a:t>
            </a:r>
            <a:r>
              <a:rPr lang="zh-CN" altLang="en-US" b="1">
                <a:solidFill>
                  <a:srgbClr val="081830"/>
                </a:solidFill>
                <a:latin typeface="Microsoft YaHei" panose="020B0503020204020204" pitchFamily="34" charset="-122"/>
              </a:rPr>
              <a:t>模型的优势出发，针对长序列漂移、缺乏校验和单模型局限三个问题，设计融合空间记忆、几何校验和多专家编排的新型架构。
同时开发聚合管理平台，支撑多模型对比实验和后续架构评测。</a:t>
            </a:r>
          </a:p>
        </p:txBody>
      </p:sp>
    </p:spTree>
    <p:extLst>
      <p:ext uri="{BB962C8B-B14F-4D97-AF65-F5344CB8AC3E}">
        <p14:creationId xmlns:p14="http://schemas.microsoft.com/office/powerpoint/2010/main" val="15963472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1770</Words>
  <Application>Microsoft Office PowerPoint</Application>
  <PresentationFormat>宽屏</PresentationFormat>
  <Paragraphs>234</Paragraphs>
  <Slides>24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24</vt:i4>
      </vt:variant>
    </vt:vector>
  </HeadingPairs>
  <TitlesOfParts>
    <vt:vector size="30" baseType="lpstr">
      <vt:lpstr>等线</vt:lpstr>
      <vt:lpstr>等线 Light</vt:lpstr>
      <vt:lpstr>微软雅黑</vt:lpstr>
      <vt:lpstr>微软雅黑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Xe L</dc:creator>
  <cp:lastModifiedBy>Xe L</cp:lastModifiedBy>
  <cp:revision>2</cp:revision>
  <dcterms:created xsi:type="dcterms:W3CDTF">2026-05-18T02:40:50Z</dcterms:created>
  <dcterms:modified xsi:type="dcterms:W3CDTF">2026-05-18T02:47:08Z</dcterms:modified>
</cp:coreProperties>
</file>