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284" r:id="rId4"/>
    <p:sldId id="327" r:id="rId5"/>
    <p:sldId id="281" r:id="rId6"/>
    <p:sldId id="328" r:id="rId7"/>
    <p:sldId id="321" r:id="rId8"/>
    <p:sldId id="307" r:id="rId9"/>
    <p:sldId id="269" r:id="rId10"/>
    <p:sldId id="329" r:id="rId11"/>
    <p:sldId id="298" r:id="rId12"/>
    <p:sldId id="330" r:id="rId13"/>
    <p:sldId id="331" r:id="rId14"/>
    <p:sldId id="332" r:id="rId15"/>
    <p:sldId id="333" r:id="rId16"/>
    <p:sldId id="334" r:id="rId17"/>
    <p:sldId id="323" r:id="rId18"/>
    <p:sldId id="335" r:id="rId19"/>
    <p:sldId id="336" r:id="rId20"/>
    <p:sldId id="2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6D97C5-0A87-8783-B39A-D8AE99362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5B6B4A-BACF-2260-7563-2013085D8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05839-2C06-A692-5DD7-42676494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0E89F-EAF7-DEF0-D5B4-0EAF34B0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32EB6-8B06-098B-5005-96604ACB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158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E1E23-4931-A94A-AA23-77C29BB6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498F3E-B70D-B14D-4016-A1E9CDAB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485D8-4057-B1BE-F703-94F431B17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928C4-931A-8503-16F2-19A28A97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0EF2FF-055B-05C0-5706-E9AA3F0C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037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952B9-D233-0B40-D696-A60E4E9A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E10612-DC2A-BDD1-8980-7478D084C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F8510A-0876-FCF3-B228-F49B8938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72EE6-8FAE-730A-29E9-C5B2EB26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04588A-C926-4011-B632-F7B9AA590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48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E5F7A-DEB6-7EE2-B111-EE22461F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BCCC4F-9D2A-DD12-48C3-B18D72B5D9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F68896-B0E3-12B2-B5F8-03652870D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339E59-EE42-0A49-78CB-6C6E2185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BB84B5-3C03-C1EE-1FD0-AC4469AF0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1CE931-7774-B335-C783-B8315A4D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17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C2D14-B03A-4AD0-D2F3-C768E3E1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0750A2-5D4F-058C-5B0E-CD7370473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0DAA80-CC20-BAE0-3366-D3B5DFF96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413FFA-25C1-891E-A38B-1C9C24F06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D17FFE-60DF-00C7-CD42-3C6B5BB19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5337CA-E8F0-38F2-DBC3-5BF3E7D3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7E97A3F-AD59-C2EB-E7DE-410298E0A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D46191-35AB-F60A-9AAD-A1C40B8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5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B922D-58E4-84C5-0DB5-37BEFD911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217B8D-8BC2-73A3-1923-9EBB95CD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BDCF2B-A8AA-D9E2-1B94-7403E679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655AAB-78AC-7FD1-FDCA-56EF9DD4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76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41B250-BA35-E5A1-1709-F9D22384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171F33-B6ED-4F69-BBA0-41D43C47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3E4121-B0FE-FA28-70CB-6959AEB3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37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D4660-0EF6-5D6A-FD62-00AAFD657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F39FB2-43EC-E167-0C9C-5000A7717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5E3189-CA7B-26A4-1904-06CC8EAAA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D1F8D1-0BDE-F1B1-9C39-8D942DF0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FF500F-E8A3-B11D-075F-9A5E0BEA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C05C78-822A-249E-382E-B6D140A4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27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D02EA-3886-E328-E478-BCCEDA95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1BEE7F-7C8B-96C4-DACC-64CE8AEA7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421D6A-4522-243B-7E5C-F58F0A368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5F5FEF-C829-0198-F2AB-09BE70B6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377340-4D5B-9A32-46E5-401D2F05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2F7155-2716-8736-845D-A16419B2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43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D478B-3516-9E41-CC97-3A202032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C4928C-7809-96DF-F6D0-A0D6DA4CA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70536F-B5C5-BA3C-8465-37F902C7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E8E29E-194D-43DF-6FB0-CD5520F9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C9FB6-E844-5C20-68A8-4E4491CF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92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0A0CA6-31A5-5196-4B15-18F5D916B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658D88-DA22-DA65-F41A-FF1D204CB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2CA5E0-0BC6-AEA4-24D5-5D889A08F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E0E405-33E5-723F-DB9B-3B83DA0F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B03773-E05B-81BC-A486-B0A9B59E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305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64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F14095-C7A3-7FF2-FB06-D1C573F6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293C79-8BFA-642A-9388-E8E00F027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F212E-1D4E-891F-252F-94AFFA991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CB6EC-FBBC-47A7-A7AB-938F05BD5EF7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FE0259-33C9-1421-6E45-531046A05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B87064-F285-509E-7F3F-77A3C50B9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93F06-B3F6-4207-B689-4E21A7E56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49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46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FB645B8-4253-C03A-3717-B69FA31F3B91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620035-E79F-740B-D124-ADB10604577E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92269FC-EEF2-0911-131B-F272623AF365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4E897D1B-D0FC-7A2A-952A-598EF31B4268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7C0F16-03E6-1E89-A6E4-D4107BA27F4A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CEEA575-72C2-C7EC-6226-944F9D97C728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26FE3EB-4995-CE16-D845-4C9B8EB80200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04F469-0514-FE26-9A7B-7E744EF0D7E7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48AAA3-2C58-2838-46B2-6D5DC9C22293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0FDD791-86CF-C003-DA65-E20DDA7AF31D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79DFC47-FEFE-65D8-D44D-DA73D70A187C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F31358-63F8-3DFA-141B-01D241422585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087618-AB7A-0050-1040-274B9EF1116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C3CD684-4684-2750-BE3D-49E288C8972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C9D8461-B57F-3476-1B1E-A4951FCE8B14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E3AA4-6920-1C94-5734-24B70F8E2741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B393A4-EA91-6971-2711-7E1D7B0B8F03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76B6954-00B6-1C82-EAC4-2F5426EA3F39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1A156DD-1D81-1F16-C39E-871401B01FB9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CB44E2-6A6A-0333-6A16-4BD8AD8CBDAC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31D88D-3B85-9FED-31B1-3908A313C100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3D9D595-3D7F-62E6-1ED3-9EBBB3FD7235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277FC1E-AE34-666F-C409-EABB9371C8F1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3980685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22AE199-AA1D-4BE3-866F-244C66141CCB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2977B73-CDF9-5F80-7E58-37D792908CD1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97C7B9C-903E-193F-1899-3A976444A245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3BFEB274-EBA6-DA4B-5C22-005DFF8C0BC8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25D9DD-713B-E029-1127-080CA5CAACC5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45930D7-2499-D28A-B83C-28A26DB4859D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72976C4-F964-E98A-3047-FE4D6AA80773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2092C8-4A4E-472D-269B-9041EF6D87D5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0C4B13-80C3-FC9E-E1C8-CE88DE155153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84A9C8F-5058-6E77-D4E5-276BB08E4510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6877925-AB28-2383-DD9E-93DE97F9F502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D21763-FCE8-975F-BDF8-01483B97802D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A295B2-2DEF-C3CB-BDC3-79970DD446A3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DFE501A-A15F-E4B7-93C8-CB997E5BAB16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7B25F6D-9500-056D-F757-7ED314B2DA4C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955A3A-18B9-B460-4702-5D311F7D5F41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F4F22F-E47C-C18D-D84D-CACA65AD5A6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8E23A2B-C8D7-BE3B-6D91-4094C75ED780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360954D-C4D4-AFF9-2456-CB7D53CC31F5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0B9830-54D0-D6B4-8921-B00A35A4D33D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5361C0-A2E5-8A83-E7B6-71D3F65AB48D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D7C6BC5-A52D-CE77-2DDC-177EDA9C6601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1CD09C3-0DAA-E337-B208-42C63292EB26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426395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方向快速演进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6581FB-635F-0C39-D8B9-9F1D4E62C23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850A4D-EFCD-7334-AA16-6413C90C929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前馈式三维重建由点图回归起步，已扩展到匹配、动态场景与长序列建模。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21BE85-CB04-02F6-5B1B-A578775F0E82}"/>
              </a:ext>
            </a:extLst>
          </p:cNvPr>
          <p:cNvSpPr/>
          <p:nvPr/>
        </p:nvSpPr>
        <p:spPr>
          <a:xfrm>
            <a:off x="635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
DUSt3R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6A381B5-9FD3-53D0-352B-EB926EE34E0A}"/>
              </a:ext>
            </a:extLst>
          </p:cNvPr>
          <p:cNvSpPr/>
          <p:nvPr/>
        </p:nvSpPr>
        <p:spPr>
          <a:xfrm>
            <a:off x="635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pose-free
pointmap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B4955BC-14A9-CB88-A25E-3910F3AED1A2}"/>
              </a:ext>
            </a:extLst>
          </p:cNvPr>
          <p:cNvSpPr/>
          <p:nvPr/>
        </p:nvSpPr>
        <p:spPr>
          <a:xfrm>
            <a:off x="2476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
MASt3R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84355AB-0717-33F7-4646-5989B5489FBD}"/>
              </a:ext>
            </a:extLst>
          </p:cNvPr>
          <p:cNvSpPr/>
          <p:nvPr/>
        </p:nvSpPr>
        <p:spPr>
          <a:xfrm>
            <a:off x="2476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3D grounding
matching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1F6C7A-4B61-C939-7B37-4C861ED0DFA8}"/>
              </a:ext>
            </a:extLst>
          </p:cNvPr>
          <p:cNvSpPr/>
          <p:nvPr/>
        </p:nvSpPr>
        <p:spPr>
          <a:xfrm>
            <a:off x="4318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Fast3R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F81E2F9-5154-1F03-D648-AD4CF1ECC68E}"/>
              </a:ext>
            </a:extLst>
          </p:cNvPr>
          <p:cNvSpPr/>
          <p:nvPr/>
        </p:nvSpPr>
        <p:spPr>
          <a:xfrm>
            <a:off x="4318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many-view
single forward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7096E3-4D03-AD4E-4E23-4E7416564213}"/>
              </a:ext>
            </a:extLst>
          </p:cNvPr>
          <p:cNvSpPr/>
          <p:nvPr/>
        </p:nvSpPr>
        <p:spPr>
          <a:xfrm>
            <a:off x="6159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2024-25
MonST3R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CFE9169-658C-A592-335F-6A58E86A7807}"/>
              </a:ext>
            </a:extLst>
          </p:cNvPr>
          <p:cNvSpPr/>
          <p:nvPr/>
        </p:nvSpPr>
        <p:spPr>
          <a:xfrm>
            <a:off x="6159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video / dynamic
4D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553A4EE-D42D-5CAA-A6F9-04FC5370C269}"/>
              </a:ext>
            </a:extLst>
          </p:cNvPr>
          <p:cNvSpPr/>
          <p:nvPr/>
        </p:nvSpPr>
        <p:spPr>
          <a:xfrm>
            <a:off x="8001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Spann3R / CUT3R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07BF663-F6F2-5AC0-E6E8-C133D3B25BFE}"/>
              </a:ext>
            </a:extLst>
          </p:cNvPr>
          <p:cNvSpPr/>
          <p:nvPr/>
        </p:nvSpPr>
        <p:spPr>
          <a:xfrm>
            <a:off x="8001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long-sequence
memory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6699B8B-6BD5-A6AD-D430-689CC6344D44}"/>
              </a:ext>
            </a:extLst>
          </p:cNvPr>
          <p:cNvSpPr/>
          <p:nvPr/>
        </p:nvSpPr>
        <p:spPr>
          <a:xfrm>
            <a:off x="9842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Test3R / TTT3R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8F5C2E-D858-64E5-397B-45264E4518BC}"/>
              </a:ext>
            </a:extLst>
          </p:cNvPr>
          <p:cNvSpPr/>
          <p:nvPr/>
        </p:nvSpPr>
        <p:spPr>
          <a:xfrm>
            <a:off x="9842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test-time
mechanisms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9423D38-D58B-2039-4ADA-9DF1A20518FF}"/>
              </a:ext>
            </a:extLst>
          </p:cNvPr>
          <p:cNvSpPr/>
          <p:nvPr/>
        </p:nvSpPr>
        <p:spPr>
          <a:xfrm>
            <a:off x="889000" y="4445000"/>
            <a:ext cx="10414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468E"/>
                </a:solidFill>
                <a:latin typeface="Microsoft YaHei" panose="020B0503020204020204" pitchFamily="34" charset="-122"/>
              </a:rPr>
              <a:t>研究难点：模型体系快速扩展，但比较口径、复现入口和实验记录尚未统一。</a:t>
            </a:r>
          </a:p>
        </p:txBody>
      </p:sp>
    </p:spTree>
    <p:extLst>
      <p:ext uri="{BB962C8B-B14F-4D97-AF65-F5344CB8AC3E}">
        <p14:creationId xmlns:p14="http://schemas.microsoft.com/office/powerpoint/2010/main" val="3841387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问题收束：从失败模式到研究问题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7FC79E-CC9C-44E0-166B-D872F9B39D4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CC6464-9C19-FA7D-F601-7919884D67E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本研究将典型失败模式收束为四类问题，作为后续架构设计与实验评估的入口。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97BD7CB-7DC3-DF88-D7D0-D1079CD93B3E}"/>
              </a:ext>
            </a:extLst>
          </p:cNvPr>
          <p:cNvSpPr/>
          <p:nvPr/>
        </p:nvSpPr>
        <p:spPr>
          <a:xfrm>
            <a:off x="698500" y="2095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2AB7E3-A1B4-BC0D-549C-FEE4D2B5E313}"/>
              </a:ext>
            </a:extLst>
          </p:cNvPr>
          <p:cNvSpPr/>
          <p:nvPr/>
        </p:nvSpPr>
        <p:spPr>
          <a:xfrm>
            <a:off x="23495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尺度漂移、重投影误差
缺少反馈入口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E99570-0751-5F5A-8C25-8D118FC8A188}"/>
              </a:ext>
            </a:extLst>
          </p:cNvPr>
          <p:cNvSpPr/>
          <p:nvPr/>
        </p:nvSpPr>
        <p:spPr>
          <a:xfrm>
            <a:off x="6477000" y="2095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长序列内存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CB8C3BE-1E87-3A82-F961-CCD6D4E5638D}"/>
              </a:ext>
            </a:extLst>
          </p:cNvPr>
          <p:cNvSpPr/>
          <p:nvPr/>
        </p:nvSpPr>
        <p:spPr>
          <a:xfrm>
            <a:off x="81280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跨片段状态衰减
一致性难保持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DA6029B-3B09-971B-114B-ECC6009EB867}"/>
              </a:ext>
            </a:extLst>
          </p:cNvPr>
          <p:cNvSpPr/>
          <p:nvPr/>
        </p:nvSpPr>
        <p:spPr>
          <a:xfrm>
            <a:off x="698500" y="3746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多专家组合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3D7258E-70F1-2443-1213-C571424A3DDA}"/>
              </a:ext>
            </a:extLst>
          </p:cNvPr>
          <p:cNvSpPr/>
          <p:nvPr/>
        </p:nvSpPr>
        <p:spPr>
          <a:xfrm>
            <a:off x="23495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模型能力互补
但缺少编排接口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5DAB5F-DE07-E912-220B-A86D078ED65B}"/>
              </a:ext>
            </a:extLst>
          </p:cNvPr>
          <p:cNvSpPr/>
          <p:nvPr/>
        </p:nvSpPr>
        <p:spPr>
          <a:xfrm>
            <a:off x="6477000" y="3746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统一平台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AE36F88-B4FF-1637-88DC-5950F8DAB287}"/>
              </a:ext>
            </a:extLst>
          </p:cNvPr>
          <p:cNvSpPr/>
          <p:nvPr/>
        </p:nvSpPr>
        <p:spPr>
          <a:xfrm>
            <a:off x="81280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入口、格式、日志
难以横向比较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5C5623F-357D-3945-4456-88F868BD6BF9}"/>
              </a:ext>
            </a:extLst>
          </p:cNvPr>
          <p:cNvSpPr/>
          <p:nvPr/>
        </p:nvSpPr>
        <p:spPr>
          <a:xfrm>
            <a:off x="1079500" y="5524500"/>
            <a:ext cx="10033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468E"/>
                </a:solidFill>
                <a:latin typeface="Microsoft YaHei" panose="020B0503020204020204" pitchFamily="34" charset="-122"/>
              </a:rPr>
              <a:t>研究边界：候选架构作为评估对象，不作为已收敛方案进行表述。</a:t>
            </a:r>
          </a:p>
        </p:txBody>
      </p:sp>
    </p:spTree>
    <p:extLst>
      <p:ext uri="{BB962C8B-B14F-4D97-AF65-F5344CB8AC3E}">
        <p14:creationId xmlns:p14="http://schemas.microsoft.com/office/powerpoint/2010/main" val="3333208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1D0D57B-07DF-4180-C29B-33917B8300B5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CA7CC5-06CB-BE2C-532C-12419B3FC707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6EB12D-1F35-9525-4F69-75CB5044CAE9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E46262EA-9A3F-30EB-EBA9-38B7EF9B53A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41BF52-0403-6189-0A14-21AABD92EDF8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E78DB7E-E94E-A8B5-67ED-58BA9D610C2B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206E4F1-B47A-B5BA-B265-A5E54D2161C7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632F78-59E4-B563-F7A1-89D705C0BB4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A26096-8BFC-B3F9-7BEC-BF0FA433EB35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220F5E4-B2B8-8FBF-DC61-3E6EC3749189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2C30F5F-EDE2-C63F-A049-3F91B349D04A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9BA2A2-EFBD-AD62-2120-EFA4F6E19DAB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BF00A2-5887-7454-C9BA-7AA0CB9C5531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586450E-7171-5DA4-B271-9A3F85A7A656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E32B182-693A-7FA9-AEA1-5023CFCBBEB8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59F0FE-6D56-CE96-D1FD-A27E81DB09D4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ADAD2F-A4D5-6825-6798-7F0F0F90B538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91FC1FC-3357-CB61-9C7E-E379EC9E8A7C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F282656-A430-7E09-B3B3-4F24E2FF3459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8D9161-8BA9-2FDD-0578-6B2AB0915B50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D95463-9D8A-32BB-6870-25C812F8F1D0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63FE8D7-8BCE-CEBF-EA16-A85A7FD59EF4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40206E9B-0264-2F9C-552F-D01467E321B4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873579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研究现状：四轴覆盖矩阵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E0A59E-F20F-EB1F-0C1A-F13DBC34FB0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10CAC7-FE26-C395-4AD7-F00BEFE2F82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基于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篇文献的四轴整理，校验反馈、多专家组合与统一平台仍是主要缺口。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0F2CBB-5911-C97B-DEB0-2A0F000209A8}"/>
              </a:ext>
            </a:extLst>
          </p:cNvPr>
          <p:cNvSpPr/>
          <p:nvPr/>
        </p:nvSpPr>
        <p:spPr>
          <a:xfrm>
            <a:off x="889000" y="2032000"/>
            <a:ext cx="3048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核心覆盖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D0EF7B-E4CD-BA72-21A6-7771715D6827}"/>
              </a:ext>
            </a:extLst>
          </p:cNvPr>
          <p:cNvSpPr/>
          <p:nvPr/>
        </p:nvSpPr>
        <p:spPr>
          <a:xfrm>
            <a:off x="889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
已有明确核心机制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BEF0F3-EB2A-F080-5D52-D726560CF756}"/>
              </a:ext>
            </a:extLst>
          </p:cNvPr>
          <p:cNvSpPr/>
          <p:nvPr/>
        </p:nvSpPr>
        <p:spPr>
          <a:xfrm>
            <a:off x="4572000" y="2032000"/>
            <a:ext cx="3048000" cy="431800"/>
          </a:xfrm>
          <a:prstGeom prst="rect">
            <a:avLst/>
          </a:prstGeom>
          <a:solidFill>
            <a:srgbClr val="EB8A2E"/>
          </a:solidFill>
          <a:ln w="12700"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局部覆盖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40225E-4305-6550-6ABC-5CA7745CA91A}"/>
              </a:ext>
            </a:extLst>
          </p:cNvPr>
          <p:cNvSpPr/>
          <p:nvPr/>
        </p:nvSpPr>
        <p:spPr>
          <a:xfrm>
            <a:off x="4572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11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
只在局部环节涉及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1516C4-F5C9-847D-198C-CC7025F63F26}"/>
              </a:ext>
            </a:extLst>
          </p:cNvPr>
          <p:cNvSpPr/>
          <p:nvPr/>
        </p:nvSpPr>
        <p:spPr>
          <a:xfrm>
            <a:off x="8255000" y="2032000"/>
            <a:ext cx="3048000" cy="431800"/>
          </a:xfrm>
          <a:prstGeom prst="rect">
            <a:avLst/>
          </a:prstGeom>
          <a:solidFill>
            <a:srgbClr val="BE4646"/>
          </a:solidFill>
          <a:ln w="12700">
            <a:solidFill>
              <a:srgbClr val="BE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明确缺口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D66C46-03AA-3874-B991-4B70527AB3FD}"/>
              </a:ext>
            </a:extLst>
          </p:cNvPr>
          <p:cNvSpPr/>
          <p:nvPr/>
        </p:nvSpPr>
        <p:spPr>
          <a:xfrm>
            <a:off x="8255000" y="2489200"/>
            <a:ext cx="3048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E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
缺少清晰接口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017299-B952-7F75-041C-AA5B0D4BB9A9}"/>
              </a:ext>
            </a:extLst>
          </p:cNvPr>
          <p:cNvSpPr/>
          <p:nvPr/>
        </p:nvSpPr>
        <p:spPr>
          <a:xfrm>
            <a:off x="1206500" y="4635500"/>
            <a:ext cx="9779000" cy="762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2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研究落点：把综述中识别出的缺口落实为候选架构、评测协议和平台支撑任务。</a:t>
            </a:r>
          </a:p>
        </p:txBody>
      </p:sp>
    </p:spTree>
    <p:extLst>
      <p:ext uri="{BB962C8B-B14F-4D97-AF65-F5344CB8AC3E}">
        <p14:creationId xmlns:p14="http://schemas.microsoft.com/office/powerpoint/2010/main" val="17073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工具链空白：支柱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B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的动机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0C7469-6984-A038-C027-149BF3CD143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951F1C-CAE7-E5F7-DEB8-BE3A4B4211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现有模型多以独立演示程序发布，难以支撑同一输入下的系统对比。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561C36-324E-0ADF-D457-CF6A9626BC6D}"/>
              </a:ext>
            </a:extLst>
          </p:cNvPr>
          <p:cNvSpPr/>
          <p:nvPr/>
        </p:nvSpPr>
        <p:spPr>
          <a:xfrm>
            <a:off x="1016000" y="1968500"/>
            <a:ext cx="1905000" cy="685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模型入口分散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AF69FB-6DAC-3E03-FF25-2DDE1AFC6D31}"/>
              </a:ext>
            </a:extLst>
          </p:cNvPr>
          <p:cNvSpPr/>
          <p:nvPr/>
        </p:nvSpPr>
        <p:spPr>
          <a:xfrm>
            <a:off x="3111500" y="19685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不同仓库、环境与脚本割裂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94997B-034D-2EA2-1EBD-A66869D06F63}"/>
              </a:ext>
            </a:extLst>
          </p:cNvPr>
          <p:cNvSpPr/>
          <p:nvPr/>
        </p:nvSpPr>
        <p:spPr>
          <a:xfrm>
            <a:off x="1016000" y="3086100"/>
            <a:ext cx="1905000" cy="685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输出格式异构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A3787DD-8785-C266-2027-F3E113C253CE}"/>
              </a:ext>
            </a:extLst>
          </p:cNvPr>
          <p:cNvSpPr/>
          <p:nvPr/>
        </p:nvSpPr>
        <p:spPr>
          <a:xfrm>
            <a:off x="3111500" y="30861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点图、网格、动态轨迹难以横向比较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B4E815-B9C8-8C85-254A-114F6F120CF2}"/>
              </a:ext>
            </a:extLst>
          </p:cNvPr>
          <p:cNvSpPr/>
          <p:nvPr/>
        </p:nvSpPr>
        <p:spPr>
          <a:xfrm>
            <a:off x="1016000" y="4203700"/>
            <a:ext cx="1905000" cy="685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日志口径不一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E43CE4-BCA9-10C0-3227-D4D300AA842B}"/>
              </a:ext>
            </a:extLst>
          </p:cNvPr>
          <p:cNvSpPr/>
          <p:nvPr/>
        </p:nvSpPr>
        <p:spPr>
          <a:xfrm>
            <a:off x="3111500" y="4203700"/>
            <a:ext cx="7874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耗时、状态、失败原因缺少统一记录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11965B8-C815-06E4-9601-13E74B5A5F83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B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的定位：为多模型对照实验提供统一执行与结果归集环境。</a:t>
            </a:r>
          </a:p>
        </p:txBody>
      </p:sp>
    </p:spTree>
    <p:extLst>
      <p:ext uri="{BB962C8B-B14F-4D97-AF65-F5344CB8AC3E}">
        <p14:creationId xmlns:p14="http://schemas.microsoft.com/office/powerpoint/2010/main" val="396443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研究目标：两大支柱与边界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9D7D58-A052-C1FC-453B-1EC68E5A9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DE6B59-9D90-DAB3-A41B-CFE55007B1D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研究目标由两部分组成：候选架构提出待验证机制，平台提供实验支撑。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FBA6F6-B004-BC84-8F4B-4E1A02D3B1E5}"/>
              </a:ext>
            </a:extLst>
          </p:cNvPr>
          <p:cNvSpPr/>
          <p:nvPr/>
        </p:nvSpPr>
        <p:spPr>
          <a:xfrm>
            <a:off x="762000" y="1968500"/>
            <a:ext cx="31750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913CFD-C52C-EF78-6471-F9012388A499}"/>
              </a:ext>
            </a:extLst>
          </p:cNvPr>
          <p:cNvSpPr/>
          <p:nvPr/>
        </p:nvSpPr>
        <p:spPr>
          <a:xfrm>
            <a:off x="762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X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3A8084-C961-1096-633B-FD2E433006BD}"/>
              </a:ext>
            </a:extLst>
          </p:cNvPr>
          <p:cNvSpPr/>
          <p:nvPr/>
        </p:nvSpPr>
        <p:spPr>
          <a:xfrm>
            <a:off x="762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编排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记忆模块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CF6B8A-BA85-F542-F342-580442DDBA35}"/>
              </a:ext>
            </a:extLst>
          </p:cNvPr>
          <p:cNvSpPr/>
          <p:nvPr/>
        </p:nvSpPr>
        <p:spPr>
          <a:xfrm>
            <a:off x="762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消融实验与对照评估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256BFDF-6F47-1F06-5776-44E2C76715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500" y="2360856"/>
            <a:ext cx="3683000" cy="207278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CEF1160-2569-49CA-BA6C-56E46077CB7D}"/>
              </a:ext>
            </a:extLst>
          </p:cNvPr>
          <p:cNvSpPr/>
          <p:nvPr/>
        </p:nvSpPr>
        <p:spPr>
          <a:xfrm>
            <a:off x="8255000" y="1968500"/>
            <a:ext cx="31750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B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29F386-2A96-CAE7-9BF9-65D74C19BBC7}"/>
              </a:ext>
            </a:extLst>
          </p:cNvPr>
          <p:cNvSpPr/>
          <p:nvPr/>
        </p:nvSpPr>
        <p:spPr>
          <a:xfrm>
            <a:off x="8255000" y="24003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统一执行合同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108ECF-C4C6-BCD9-169C-E33736245150}"/>
              </a:ext>
            </a:extLst>
          </p:cNvPr>
          <p:cNvSpPr/>
          <p:nvPr/>
        </p:nvSpPr>
        <p:spPr>
          <a:xfrm>
            <a:off x="8255000" y="30099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多模型接入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CBBE4B-2E9A-CC1C-EDA2-55F5D793EAC8}"/>
              </a:ext>
            </a:extLst>
          </p:cNvPr>
          <p:cNvSpPr/>
          <p:nvPr/>
        </p:nvSpPr>
        <p:spPr>
          <a:xfrm>
            <a:off x="8255000" y="3619500"/>
            <a:ext cx="3175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远端调度与日志记录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138A6D-E9E0-F3C4-041A-18ED0E66F87B}"/>
              </a:ext>
            </a:extLst>
          </p:cNvPr>
          <p:cNvSpPr/>
          <p:nvPr/>
        </p:nvSpPr>
        <p:spPr>
          <a:xfrm>
            <a:off x="1270000" y="5461000"/>
            <a:ext cx="9652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468E"/>
                </a:solidFill>
                <a:latin typeface="Microsoft YaHei" panose="020B0503020204020204" pitchFamily="34" charset="-122"/>
              </a:rPr>
              <a:t>表述约束：候选不等于结论，不预设单一支线优越，只报告对照实验依据。</a:t>
            </a:r>
          </a:p>
        </p:txBody>
      </p:sp>
    </p:spTree>
    <p:extLst>
      <p:ext uri="{BB962C8B-B14F-4D97-AF65-F5344CB8AC3E}">
        <p14:creationId xmlns:p14="http://schemas.microsoft.com/office/powerpoint/2010/main" val="76281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17F3E7D-0A70-C065-A162-E6836D12240E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460D98-F894-A8CB-06EC-864E65B7EE0E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6536E99-D99E-33AD-AD50-95B2755B8F7B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8EC78187-2C53-CEB0-FCFB-D330D33AE746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58DCBF-49AA-C711-F58A-CEAF58D09020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31647DD-C285-1430-4650-F2ACED56D484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954A32F-CE5B-EF99-CE96-A7FBC08EC331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8E0A4F-02F2-5A80-5F44-3B2F07F07229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352D39-920C-98D5-EC37-23286998AAF6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8DBBB15-B86A-B835-D353-147D0C26DB3C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E318066-7330-519F-3D06-C428A4F45C62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57A4E9-E9E0-B12D-0462-4AC375D95745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0B1566-BFF1-9BF4-6A0A-0FB6F05BC056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16EAE13-6871-19F8-8D0E-CA32F10A75DB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31B3315-3D1D-64E2-CA69-983167E2AA46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5504FD-D39C-1B95-C705-AF0A3F8770CA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75C7058-74B3-25B0-59EF-631249DE6013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DBCAD15-7441-FFE0-D0B7-4C1B2C99E1EF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228D0DE-4D19-3116-6C1E-26C2FEDDAC0C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E6AB5A-114C-6529-E292-E896882B7AC6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36F836-9DAC-E666-B792-0FE51A3BA7EA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144E3D8-85C0-6784-A63F-D3FD119A5FA9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88C617D-48C0-3A22-E758-CE3EDF0574D2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475486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：整体设计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9D559D-BFD3-864E-5001-4BC8C2730A8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608091-D329-1A6A-D2FE-6D41BEC3576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用于组织待验证机制，当前阶段不把它表述为最终模型。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63C17F-7508-68B5-1263-CF2A3B0AADA8}"/>
              </a:ext>
            </a:extLst>
          </p:cNvPr>
          <p:cNvSpPr/>
          <p:nvPr/>
        </p:nvSpPr>
        <p:spPr>
          <a:xfrm>
            <a:off x="698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2BBA44-93B8-074E-D9D0-23B54A91E80D}"/>
              </a:ext>
            </a:extLst>
          </p:cNvPr>
          <p:cNvSpPr/>
          <p:nvPr/>
        </p:nvSpPr>
        <p:spPr>
          <a:xfrm>
            <a:off x="698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图像序列
单图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图像对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95F799F-04DA-CB34-80C4-464F85D89753}"/>
              </a:ext>
            </a:extLst>
          </p:cNvPr>
          <p:cNvSpPr/>
          <p:nvPr/>
        </p:nvSpPr>
        <p:spPr>
          <a:xfrm>
            <a:off x="2578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3EE990-69F5-F313-FC3C-54074751508D}"/>
              </a:ext>
            </a:extLst>
          </p:cNvPr>
          <p:cNvSpPr/>
          <p:nvPr/>
        </p:nvSpPr>
        <p:spPr>
          <a:xfrm>
            <a:off x="2984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D044F0-59FE-006C-A9A2-322A49C642B7}"/>
              </a:ext>
            </a:extLst>
          </p:cNvPr>
          <p:cNvSpPr/>
          <p:nvPr/>
        </p:nvSpPr>
        <p:spPr>
          <a:xfrm>
            <a:off x="2984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DUSt3R
MASt3R
Fast3R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D905AFF7-1A64-03CC-6752-E4DBAE89F5AA}"/>
              </a:ext>
            </a:extLst>
          </p:cNvPr>
          <p:cNvSpPr/>
          <p:nvPr/>
        </p:nvSpPr>
        <p:spPr>
          <a:xfrm>
            <a:off x="4864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51A74C-AD62-F4B7-67B9-CC833723B64C}"/>
              </a:ext>
            </a:extLst>
          </p:cNvPr>
          <p:cNvSpPr/>
          <p:nvPr/>
        </p:nvSpPr>
        <p:spPr>
          <a:xfrm>
            <a:off x="5270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631B2F-D0F0-21F4-904E-41737C4A499A}"/>
              </a:ext>
            </a:extLst>
          </p:cNvPr>
          <p:cNvSpPr/>
          <p:nvPr/>
        </p:nvSpPr>
        <p:spPr>
          <a:xfrm>
            <a:off x="5270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几何一致性
失败信号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9E73E619-ACA2-2804-C567-3FE3C78571D0}"/>
              </a:ext>
            </a:extLst>
          </p:cNvPr>
          <p:cNvSpPr/>
          <p:nvPr/>
        </p:nvSpPr>
        <p:spPr>
          <a:xfrm>
            <a:off x="7150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7910D2-8219-F997-2B71-B0D8A0A9B53D}"/>
              </a:ext>
            </a:extLst>
          </p:cNvPr>
          <p:cNvSpPr/>
          <p:nvPr/>
        </p:nvSpPr>
        <p:spPr>
          <a:xfrm>
            <a:off x="7556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编排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B10A94-7982-DD4B-8547-846F062D1AC5}"/>
              </a:ext>
            </a:extLst>
          </p:cNvPr>
          <p:cNvSpPr/>
          <p:nvPr/>
        </p:nvSpPr>
        <p:spPr>
          <a:xfrm>
            <a:off x="7556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选择专家
记录决策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BDE55F99-7229-D557-0989-BE7D8F873206}"/>
              </a:ext>
            </a:extLst>
          </p:cNvPr>
          <p:cNvSpPr/>
          <p:nvPr/>
        </p:nvSpPr>
        <p:spPr>
          <a:xfrm>
            <a:off x="9436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703C7A-524A-BEDD-B560-AC89F5353AD9}"/>
              </a:ext>
            </a:extLst>
          </p:cNvPr>
          <p:cNvSpPr/>
          <p:nvPr/>
        </p:nvSpPr>
        <p:spPr>
          <a:xfrm>
            <a:off x="9842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9A0CD9-940D-9412-0F24-85775283ACC3}"/>
              </a:ext>
            </a:extLst>
          </p:cNvPr>
          <p:cNvSpPr/>
          <p:nvPr/>
        </p:nvSpPr>
        <p:spPr>
          <a:xfrm>
            <a:off x="9842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mask / mesh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ED9345-F136-D675-951A-747CD0163A50}"/>
              </a:ext>
            </a:extLst>
          </p:cNvPr>
          <p:cNvSpPr/>
          <p:nvPr/>
        </p:nvSpPr>
        <p:spPr>
          <a:xfrm>
            <a:off x="1206500" y="4762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285F"/>
                </a:solidFill>
                <a:latin typeface="Microsoft YaHei" panose="020B0503020204020204" pitchFamily="34" charset="-122"/>
              </a:rPr>
              <a:t>评估原则：每个模块均保留退化对照，避免把组合效果误写成单模块贡献。</a:t>
            </a:r>
          </a:p>
        </p:txBody>
      </p:sp>
    </p:spTree>
    <p:extLst>
      <p:ext uri="{BB962C8B-B14F-4D97-AF65-F5344CB8AC3E}">
        <p14:creationId xmlns:p14="http://schemas.microsoft.com/office/powerpoint/2010/main" val="305018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校验模块：几何一致性反馈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5C76EE-6E65-46EC-47ED-E2817FF785E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DFAAA8-909A-3DE3-D935-3A103001356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校验模块将几何一致性转化为可记录信号，用于支撑失败识别与后续修正。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EA5806-375C-2047-D3B8-BA488FE3F11A}"/>
              </a:ext>
            </a:extLst>
          </p:cNvPr>
          <p:cNvSpPr/>
          <p:nvPr/>
        </p:nvSpPr>
        <p:spPr>
          <a:xfrm>
            <a:off x="889000" y="21590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2C46B4-1AE0-0BFD-2DD9-089A051B51FE}"/>
              </a:ext>
            </a:extLst>
          </p:cNvPr>
          <p:cNvSpPr/>
          <p:nvPr/>
        </p:nvSpPr>
        <p:spPr>
          <a:xfrm>
            <a:off x="889000" y="2616200"/>
            <a:ext cx="2667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相机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匹配关系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BBC0529-8AE8-ABAE-C2A5-F25D949866AF}"/>
              </a:ext>
            </a:extLst>
          </p:cNvPr>
          <p:cNvSpPr/>
          <p:nvPr/>
        </p:nvSpPr>
        <p:spPr>
          <a:xfrm>
            <a:off x="38100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47124F-2B15-912E-1772-95E0281F4B58}"/>
              </a:ext>
            </a:extLst>
          </p:cNvPr>
          <p:cNvSpPr/>
          <p:nvPr/>
        </p:nvSpPr>
        <p:spPr>
          <a:xfrm>
            <a:off x="4635500" y="2159000"/>
            <a:ext cx="2921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校验信号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58FF56-376E-F878-BE28-A4AD4C0D2DD5}"/>
              </a:ext>
            </a:extLst>
          </p:cNvPr>
          <p:cNvSpPr/>
          <p:nvPr/>
        </p:nvSpPr>
        <p:spPr>
          <a:xfrm>
            <a:off x="4635500" y="2616200"/>
            <a:ext cx="2921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重投影误差
深度一致性
动态区域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3F01E63-760D-993E-81CE-77FC93322F8C}"/>
              </a:ext>
            </a:extLst>
          </p:cNvPr>
          <p:cNvSpPr/>
          <p:nvPr/>
        </p:nvSpPr>
        <p:spPr>
          <a:xfrm>
            <a:off x="7810500" y="2857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52B0B8-DD71-8E48-2666-8DE7D00507AE}"/>
              </a:ext>
            </a:extLst>
          </p:cNvPr>
          <p:cNvSpPr/>
          <p:nvPr/>
        </p:nvSpPr>
        <p:spPr>
          <a:xfrm>
            <a:off x="8636000" y="21590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反馈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768C6C-0783-ECB2-18AF-4D3D32A1956B}"/>
              </a:ext>
            </a:extLst>
          </p:cNvPr>
          <p:cNvSpPr/>
          <p:nvPr/>
        </p:nvSpPr>
        <p:spPr>
          <a:xfrm>
            <a:off x="8636000" y="2616200"/>
            <a:ext cx="2667000" cy="132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继续执行
触发修正
交给编排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C09231-3F3F-8923-F904-CF754C88B0A9}"/>
              </a:ext>
            </a:extLst>
          </p:cNvPr>
          <p:cNvSpPr/>
          <p:nvPr/>
        </p:nvSpPr>
        <p:spPr>
          <a:xfrm>
            <a:off x="1270000" y="4762500"/>
            <a:ext cx="9652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285F"/>
                </a:solidFill>
                <a:latin typeface="Microsoft YaHei" panose="020B0503020204020204" pitchFamily="34" charset="-122"/>
              </a:rPr>
              <a:t>评估重点：校验信号是否能稳定对应典型失败模式，并改善后续路由决策。</a:t>
            </a:r>
          </a:p>
        </p:txBody>
      </p:sp>
    </p:spTree>
    <p:extLst>
      <p:ext uri="{BB962C8B-B14F-4D97-AF65-F5344CB8AC3E}">
        <p14:creationId xmlns:p14="http://schemas.microsoft.com/office/powerpoint/2010/main" val="38777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编排与记忆：组合机制与长序列状态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2C1A71-757A-27CF-C4AC-1296E8B00C5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0CF226-121F-A4A2-E25B-B6C5545902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编排模块面向多专家组合，记忆模块面向长序列状态维护，二者分别评估。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760CB3-8E4E-DEFE-2D7B-C669DA2AACEF}"/>
              </a:ext>
            </a:extLst>
          </p:cNvPr>
          <p:cNvSpPr/>
          <p:nvPr/>
        </p:nvSpPr>
        <p:spPr>
          <a:xfrm>
            <a:off x="889000" y="1968500"/>
            <a:ext cx="457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编排模块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33CC55-E14E-2C03-98E7-BA68F1C9138B}"/>
              </a:ext>
            </a:extLst>
          </p:cNvPr>
          <p:cNvSpPr/>
          <p:nvPr/>
        </p:nvSpPr>
        <p:spPr>
          <a:xfrm>
            <a:off x="889000" y="2425700"/>
            <a:ext cx="457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按场景和失败信号选择专家
快速模型：控制成本
鲁棒模型：处理困难样本
动态模型：处理运动场景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947CD78-3A08-F522-C3AD-D0E5F0EA31D4}"/>
              </a:ext>
            </a:extLst>
          </p:cNvPr>
          <p:cNvSpPr/>
          <p:nvPr/>
        </p:nvSpPr>
        <p:spPr>
          <a:xfrm>
            <a:off x="6731000" y="1968500"/>
            <a:ext cx="457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记忆模块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1D1200-4DE2-BF3E-003C-4CF937ABCD01}"/>
              </a:ext>
            </a:extLst>
          </p:cNvPr>
          <p:cNvSpPr/>
          <p:nvPr/>
        </p:nvSpPr>
        <p:spPr>
          <a:xfrm>
            <a:off x="6731000" y="2425700"/>
            <a:ext cx="457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维护长序列状态
短期：局部帧间信息
长期：跨片段信息
检索：相似状态补充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9BBE24-C899-B31C-B1FF-F3E54DEAE22D}"/>
              </a:ext>
            </a:extLst>
          </p:cNvPr>
          <p:cNvSpPr/>
          <p:nvPr/>
        </p:nvSpPr>
        <p:spPr>
          <a:xfrm>
            <a:off x="1460500" y="5016500"/>
            <a:ext cx="9271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评估方式：在指定场景和退化版本之间比较，避免只用整体平均分判断模块价值。</a:t>
            </a:r>
          </a:p>
        </p:txBody>
      </p:sp>
    </p:spTree>
    <p:extLst>
      <p:ext uri="{BB962C8B-B14F-4D97-AF65-F5344CB8AC3E}">
        <p14:creationId xmlns:p14="http://schemas.microsoft.com/office/powerpoint/2010/main" val="1230659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平台与合同：统一接入和执行记录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76229E-C4F9-97EB-7C5E-C4C15895B49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889F56-6569-A15F-1493-EBDD2F84B647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平台侧统一模型入口、执行状态和结果记录，为后续横向对比提供基础。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D9EF99-996C-0F77-8ECD-4A6A58791CE5}"/>
              </a:ext>
            </a:extLst>
          </p:cNvPr>
          <p:cNvSpPr/>
          <p:nvPr/>
        </p:nvSpPr>
        <p:spPr>
          <a:xfrm>
            <a:off x="1016000" y="1968500"/>
            <a:ext cx="2286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桌面前端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9D8B51-89D8-13BA-1B23-8B228BE00A76}"/>
              </a:ext>
            </a:extLst>
          </p:cNvPr>
          <p:cNvSpPr/>
          <p:nvPr/>
        </p:nvSpPr>
        <p:spPr>
          <a:xfrm>
            <a:off x="3556000" y="19685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874F65-47A5-6699-ED0D-102284B85C43}"/>
              </a:ext>
            </a:extLst>
          </p:cNvPr>
          <p:cNvSpPr/>
          <p:nvPr/>
        </p:nvSpPr>
        <p:spPr>
          <a:xfrm>
            <a:off x="1016000" y="2755900"/>
            <a:ext cx="2286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本地后端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4BF1FB-3928-DEB4-67B9-8023FFCFFB8B}"/>
              </a:ext>
            </a:extLst>
          </p:cNvPr>
          <p:cNvSpPr/>
          <p:nvPr/>
        </p:nvSpPr>
        <p:spPr>
          <a:xfrm>
            <a:off x="3556000" y="27559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参数校验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任务封装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699465-BACF-DA6B-5D85-52A9D2B57679}"/>
              </a:ext>
            </a:extLst>
          </p:cNvPr>
          <p:cNvSpPr/>
          <p:nvPr/>
        </p:nvSpPr>
        <p:spPr>
          <a:xfrm>
            <a:off x="1016000" y="3543300"/>
            <a:ext cx="2286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远端调度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97FFFB-8033-3AD9-6436-0DE5A8C0C491}"/>
              </a:ext>
            </a:extLst>
          </p:cNvPr>
          <p:cNvSpPr/>
          <p:nvPr/>
        </p:nvSpPr>
        <p:spPr>
          <a:xfrm>
            <a:off x="3556000" y="35433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SSH 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日志 </a:t>
            </a:r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结果回传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6D255B-E13E-9636-9CBC-59AC5E6A9C6B}"/>
              </a:ext>
            </a:extLst>
          </p:cNvPr>
          <p:cNvSpPr/>
          <p:nvPr/>
        </p:nvSpPr>
        <p:spPr>
          <a:xfrm>
            <a:off x="1016000" y="4330700"/>
            <a:ext cx="2286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模型执行层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832C80-2985-2263-722B-E6FEB71DB57A}"/>
              </a:ext>
            </a:extLst>
          </p:cNvPr>
          <p:cNvSpPr/>
          <p:nvPr/>
        </p:nvSpPr>
        <p:spPr>
          <a:xfrm>
            <a:off x="3556000" y="4330700"/>
            <a:ext cx="7620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 / Fast3R </a:t>
            </a:r>
            <a:r>
              <a:rPr lang="zh-CN" altLang="en-US" sz="2000">
                <a:solidFill>
                  <a:srgbClr val="081830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CDFE4-A200-71E1-AA4F-45F099F4EC45}"/>
              </a:ext>
            </a:extLst>
          </p:cNvPr>
          <p:cNvSpPr/>
          <p:nvPr/>
        </p:nvSpPr>
        <p:spPr>
          <a:xfrm>
            <a:off x="1905000" y="5461000"/>
            <a:ext cx="8382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0285F"/>
                </a:solidFill>
                <a:latin typeface="Microsoft YaHei" panose="020B0503020204020204" pitchFamily="34" charset="-122"/>
              </a:rPr>
              <a:t>平台界面暂不展示；待版本稳定后再补充截图。</a:t>
            </a:r>
          </a:p>
        </p:txBody>
      </p:sp>
    </p:spTree>
    <p:extLst>
      <p:ext uri="{BB962C8B-B14F-4D97-AF65-F5344CB8AC3E}">
        <p14:creationId xmlns:p14="http://schemas.microsoft.com/office/powerpoint/2010/main" val="1676800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2003EA3-47CD-7182-696E-AF711F993C00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96FF7B-FBA0-9938-D581-24B9CF684AC5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C6777D-AE5E-1BD5-4C32-6D909C3E78D2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3640A06B-E61E-A6AF-A5B5-D7BB08C4A589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9C25D3-61BD-30E9-B437-43F719355C60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FF9303F-954F-15D7-7951-7667AF728C68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6DF2748-32C7-5C5B-6E01-87698ECC7078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887C48-85C9-3162-EF31-00EC77D306AB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F3E6FA-95F3-407C-A3DB-EC3DA64502F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8B5FFD7-B4D9-C0D7-A266-FF186555C062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1C1D1B8-D8B4-9DB8-3CF0-B6CFD8D8959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D25046-CB99-EC2B-BA37-C6F6A3B39C55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F01CF5-583A-4004-65C5-F92D71F6C5B6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72BD4B5-CC0E-D56E-4411-7B27794F737E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32683AE-A93F-72DC-75E1-93571164A736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D6B3B3-F2B7-D9E6-FBB5-721E1B2CFDB3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D15A9B2-F567-234F-1078-5F9FC19014B6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597F9F5-4D96-6FE9-DFF6-5FD1E3790478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8ECB6FA-9C74-3A17-624D-878B729EAFCE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4522CD-2A7C-1051-81C6-613058C47841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9DE33C5-FD30-D876-DADF-140328D001CD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31F9787-082F-24A1-EC75-4C7B40184B10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9EDA1ACF-953C-DA46-5428-037215E34AB0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71139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实验设计：三层证据链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4A1EC1-610B-B615-49BC-311B96294E4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3BB00E-BDE0-9A4A-7887-B44585F3859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实验设计围绕三层证据展开：基线对比、模块消融与平台评测。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3654DD-9850-C32A-94F2-FF33A8D662D1}"/>
              </a:ext>
            </a:extLst>
          </p:cNvPr>
          <p:cNvSpPr/>
          <p:nvPr/>
        </p:nvSpPr>
        <p:spPr>
          <a:xfrm>
            <a:off x="825500" y="20320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第一层：基线对比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B64F36-F4CB-A7DB-D15F-98642D06DE7D}"/>
              </a:ext>
            </a:extLst>
          </p:cNvPr>
          <p:cNvSpPr/>
          <p:nvPr/>
        </p:nvSpPr>
        <p:spPr>
          <a:xfrm>
            <a:off x="8255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同一日志
同一输出字段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CDF356-F6D7-0418-DE87-52F686474407}"/>
              </a:ext>
            </a:extLst>
          </p:cNvPr>
          <p:cNvSpPr/>
          <p:nvPr/>
        </p:nvSpPr>
        <p:spPr>
          <a:xfrm>
            <a:off x="4445000" y="20320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第二层：模块消融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8F8A52-B352-AEDB-E4C5-4D8423CA55A0}"/>
              </a:ext>
            </a:extLst>
          </p:cNvPr>
          <p:cNvSpPr/>
          <p:nvPr/>
        </p:nvSpPr>
        <p:spPr>
          <a:xfrm>
            <a:off x="44450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无校验
无编排
无记忆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7AA18B-E516-8BAF-DD25-75197823B78E}"/>
              </a:ext>
            </a:extLst>
          </p:cNvPr>
          <p:cNvSpPr/>
          <p:nvPr/>
        </p:nvSpPr>
        <p:spPr>
          <a:xfrm>
            <a:off x="8064500" y="20320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第三层：平台评估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97EFC8-B13E-0C2A-2A35-DF30274290D1}"/>
              </a:ext>
            </a:extLst>
          </p:cNvPr>
          <p:cNvSpPr/>
          <p:nvPr/>
        </p:nvSpPr>
        <p:spPr>
          <a:xfrm>
            <a:off x="8064500" y="2489200"/>
            <a:ext cx="3302000" cy="195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任务提交
状态记录
结果回传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2EE989-5E81-17D3-5CCB-BC3A11E9A1BE}"/>
              </a:ext>
            </a:extLst>
          </p:cNvPr>
          <p:cNvSpPr/>
          <p:nvPr/>
        </p:nvSpPr>
        <p:spPr>
          <a:xfrm>
            <a:off x="1333500" y="5207000"/>
            <a:ext cx="9525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200" b="1">
                <a:solidFill>
                  <a:srgbClr val="00285F"/>
                </a:solidFill>
                <a:latin typeface="Microsoft YaHei" panose="020B0503020204020204" pitchFamily="34" charset="-122"/>
              </a:rPr>
              <a:t>基本原则：先统一输入、输出与记录口径，再讨论候选机制的实证价值。</a:t>
            </a:r>
          </a:p>
        </p:txBody>
      </p:sp>
    </p:spTree>
    <p:extLst>
      <p:ext uri="{BB962C8B-B14F-4D97-AF65-F5344CB8AC3E}">
        <p14:creationId xmlns:p14="http://schemas.microsoft.com/office/powerpoint/2010/main" val="1995847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已有证据：平台测量与模型接入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EEF938-629C-1FC0-3863-EF21C63F0C7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D9D920-8E10-D668-F7A9-60BCBC3CF15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已有平台测量表明，不同模型耗时差异明显，统一调度与记录是必要前提。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A08C6C-16CB-AE0D-E23A-6189C8FC1C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382" y="1714500"/>
            <a:ext cx="7837237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56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进展安排：阶段交付与时间线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335364-1D5C-3511-316B-A21F18B3FB6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B6CD7D-93A1-88DC-DF19-5D60A41A693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后续工作按基线复现、模块消融、长序列实验和论文整理四个阶段推进。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43EF58-3814-5E58-441A-8B3E18FF6E5F}"/>
              </a:ext>
            </a:extLst>
          </p:cNvPr>
          <p:cNvSpPr/>
          <p:nvPr/>
        </p:nvSpPr>
        <p:spPr>
          <a:xfrm>
            <a:off x="1016000" y="22225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M1-M2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2C53EE-D80A-6E91-3580-5B29FCA12E88}"/>
              </a:ext>
            </a:extLst>
          </p:cNvPr>
          <p:cNvSpPr/>
          <p:nvPr/>
        </p:nvSpPr>
        <p:spPr>
          <a:xfrm>
            <a:off x="1016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基线复现
平台稳定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176F408-49C7-57DE-ABA0-542B2729EE1E}"/>
              </a:ext>
            </a:extLst>
          </p:cNvPr>
          <p:cNvSpPr/>
          <p:nvPr/>
        </p:nvSpPr>
        <p:spPr>
          <a:xfrm>
            <a:off x="3492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3EC643-0738-4EE2-D01F-34CB640760C3}"/>
              </a:ext>
            </a:extLst>
          </p:cNvPr>
          <p:cNvSpPr/>
          <p:nvPr/>
        </p:nvSpPr>
        <p:spPr>
          <a:xfrm>
            <a:off x="3810000" y="22225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M3-M4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C3324D-34B1-F17D-68CA-C7A78B61ED5B}"/>
              </a:ext>
            </a:extLst>
          </p:cNvPr>
          <p:cNvSpPr/>
          <p:nvPr/>
        </p:nvSpPr>
        <p:spPr>
          <a:xfrm>
            <a:off x="3810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
对照实验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400751C6-FFF9-8971-EE8C-8D7754FB6098}"/>
              </a:ext>
            </a:extLst>
          </p:cNvPr>
          <p:cNvSpPr/>
          <p:nvPr/>
        </p:nvSpPr>
        <p:spPr>
          <a:xfrm>
            <a:off x="6286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B604BC0-DA7B-5F2A-810B-F12680332E51}"/>
              </a:ext>
            </a:extLst>
          </p:cNvPr>
          <p:cNvSpPr/>
          <p:nvPr/>
        </p:nvSpPr>
        <p:spPr>
          <a:xfrm>
            <a:off x="6604000" y="22225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M5-M6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C1BAFA9-6716-F219-864E-8E7027B00906}"/>
              </a:ext>
            </a:extLst>
          </p:cNvPr>
          <p:cNvSpPr/>
          <p:nvPr/>
        </p:nvSpPr>
        <p:spPr>
          <a:xfrm>
            <a:off x="6604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长序列
动态场景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6023126F-5A07-C061-6441-92677110DA1F}"/>
              </a:ext>
            </a:extLst>
          </p:cNvPr>
          <p:cNvSpPr/>
          <p:nvPr/>
        </p:nvSpPr>
        <p:spPr>
          <a:xfrm>
            <a:off x="9080500" y="2984500"/>
            <a:ext cx="5715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9C6EDCC-EA7E-A16B-072E-203E0A68E452}"/>
              </a:ext>
            </a:extLst>
          </p:cNvPr>
          <p:cNvSpPr/>
          <p:nvPr/>
        </p:nvSpPr>
        <p:spPr>
          <a:xfrm>
            <a:off x="9398000" y="22225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M7-M8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95D54DC-A96B-D7E9-D13B-1932F501AF7B}"/>
              </a:ext>
            </a:extLst>
          </p:cNvPr>
          <p:cNvSpPr/>
          <p:nvPr/>
        </p:nvSpPr>
        <p:spPr>
          <a:xfrm>
            <a:off x="9398000" y="26797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论文整理
系统固化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FF9F80C-3FC5-1FD4-3ED7-A95C266DA266}"/>
              </a:ext>
            </a:extLst>
          </p:cNvPr>
          <p:cNvSpPr/>
          <p:nvPr/>
        </p:nvSpPr>
        <p:spPr>
          <a:xfrm>
            <a:off x="1206500" y="4953000"/>
            <a:ext cx="9779000" cy="5715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285F"/>
                </a:solidFill>
                <a:latin typeface="Microsoft YaHei" panose="020B0503020204020204" pitchFamily="34" charset="-122"/>
              </a:rPr>
              <a:t>阶段交付物：基线记录、消融结果、长序列评测、平台使用说明。</a:t>
            </a:r>
          </a:p>
        </p:txBody>
      </p:sp>
    </p:spTree>
    <p:extLst>
      <p:ext uri="{BB962C8B-B14F-4D97-AF65-F5344CB8AC3E}">
        <p14:creationId xmlns:p14="http://schemas.microsoft.com/office/powerpoint/2010/main" val="2412063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风险与预期成果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91FD4F-164F-0DFA-59F0-751C49E735F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97C19C6-675A-EB50-347C-063DF1D055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风险主要来自实验波动、工程适配和结论边界，预期成果以可检查交付物为准。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B9B77-E0A2-28A4-0D6A-683A81731212}"/>
              </a:ext>
            </a:extLst>
          </p:cNvPr>
          <p:cNvSpPr/>
          <p:nvPr/>
        </p:nvSpPr>
        <p:spPr>
          <a:xfrm>
            <a:off x="825500" y="20320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实验风险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CAAA1A1-5EA7-F905-3860-99E60FA3795F}"/>
              </a:ext>
            </a:extLst>
          </p:cNvPr>
          <p:cNvSpPr/>
          <p:nvPr/>
        </p:nvSpPr>
        <p:spPr>
          <a:xfrm>
            <a:off x="2603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性能波动或提升不稳定
设置强基线与消融组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43716F6-ED6B-2FB2-C895-F41EBAF6CF05}"/>
              </a:ext>
            </a:extLst>
          </p:cNvPr>
          <p:cNvSpPr/>
          <p:nvPr/>
        </p:nvSpPr>
        <p:spPr>
          <a:xfrm>
            <a:off x="6286500" y="20320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工程风险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6C10E3E-7016-907E-6D2B-31218E15644D}"/>
              </a:ext>
            </a:extLst>
          </p:cNvPr>
          <p:cNvSpPr/>
          <p:nvPr/>
        </p:nvSpPr>
        <p:spPr>
          <a:xfrm>
            <a:off x="8064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模型适配与资源受限
保留离线执行方案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123C1B0-54D0-030C-033D-BEF0A2F4363E}"/>
              </a:ext>
            </a:extLst>
          </p:cNvPr>
          <p:cNvSpPr/>
          <p:nvPr/>
        </p:nvSpPr>
        <p:spPr>
          <a:xfrm>
            <a:off x="825500" y="36195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表述风险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F5A4114-0361-B11A-4DA3-FC66ECAFD7F6}"/>
              </a:ext>
            </a:extLst>
          </p:cNvPr>
          <p:cNvSpPr/>
          <p:nvPr/>
        </p:nvSpPr>
        <p:spPr>
          <a:xfrm>
            <a:off x="2603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避免计划写成结果
统一使用候选与评估表述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E02EC5-1CBA-145D-C272-E39A1CE7B24B}"/>
              </a:ext>
            </a:extLst>
          </p:cNvPr>
          <p:cNvSpPr/>
          <p:nvPr/>
        </p:nvSpPr>
        <p:spPr>
          <a:xfrm>
            <a:off x="6286500" y="36195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预期成果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D7BAE6C-83BE-D9D1-D32A-A94B4AA9C03D}"/>
              </a:ext>
            </a:extLst>
          </p:cNvPr>
          <p:cNvSpPr/>
          <p:nvPr/>
        </p:nvSpPr>
        <p:spPr>
          <a:xfrm>
            <a:off x="8064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对照实验数据
可复用聚合管理平台</a:t>
            </a:r>
          </a:p>
        </p:txBody>
      </p:sp>
    </p:spTree>
    <p:extLst>
      <p:ext uri="{BB962C8B-B14F-4D97-AF65-F5344CB8AC3E}">
        <p14:creationId xmlns:p14="http://schemas.microsoft.com/office/powerpoint/2010/main" val="3111924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7BD1F6-DA38-41D6-0745-F2FF319FFA00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B0A56D-BC97-6BA7-66CD-7DE9E7B47C72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3233275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1228</Words>
  <Application>Microsoft Office PowerPoint</Application>
  <PresentationFormat>宽屏</PresentationFormat>
  <Paragraphs>202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2026-05-17T16:41:54Z</dcterms:created>
  <dcterms:modified xsi:type="dcterms:W3CDTF">2026-05-17T16:41:54Z</dcterms:modified>
</cp:coreProperties>
</file>