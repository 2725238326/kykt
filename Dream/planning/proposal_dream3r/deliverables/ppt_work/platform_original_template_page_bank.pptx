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3" r:id="rId2"/>
    <p:sldId id="258" r:id="rId3"/>
    <p:sldId id="321" r:id="rId4"/>
    <p:sldId id="302" r:id="rId5"/>
    <p:sldId id="298" r:id="rId6"/>
    <p:sldId id="295" r:id="rId7"/>
    <p:sldId id="296" r:id="rId8"/>
    <p:sldId id="275" r:id="rId9"/>
    <p:sldId id="291" r:id="rId10"/>
    <p:sldId id="292" r:id="rId11"/>
    <p:sldId id="261" r:id="rId12"/>
    <p:sldId id="268" r:id="rId13"/>
    <p:sldId id="307" r:id="rId14"/>
    <p:sldId id="322" r:id="rId15"/>
    <p:sldId id="281" r:id="rId16"/>
    <p:sldId id="294"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B30E2732-B6CD-4016-8125-8C9C5955B4C4}">
          <p14:sldIdLst>
            <p14:sldId id="283"/>
          </p14:sldIdLst>
        </p14:section>
        <p14:section name="目录" id="{1649F515-5087-4452-9C2A-094DCD2A6B8D}">
          <p14:sldIdLst>
            <p14:sldId id="258"/>
          </p14:sldIdLst>
        </p14:section>
        <p14:section name="内容页" id="{E94E708C-BDAF-4385-99CC-B9916BC46A39}">
          <p14:sldIdLst>
            <p14:sldId id="321"/>
            <p14:sldId id="302"/>
            <p14:sldId id="298"/>
            <p14:sldId id="295"/>
            <p14:sldId id="296"/>
            <p14:sldId id="275"/>
            <p14:sldId id="291"/>
            <p14:sldId id="292"/>
            <p14:sldId id="261"/>
          </p14:sldIdLst>
        </p14:section>
        <p14:section name="团队介绍" id="{AC225BA1-A069-468E-A448-071EB15C6D37}">
          <p14:sldIdLst>
            <p14:sldId id="268"/>
            <p14:sldId id="307"/>
            <p14:sldId id="322"/>
            <p14:sldId id="281"/>
          </p14:sldIdLst>
        </p14:section>
        <p14:section name="结尾页" id="{2789DAE9-464C-45B2-A358-66E039C959B0}">
          <p14:sldIdLst>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4" d="100"/>
          <a:sy n="104" d="100"/>
        </p:scale>
        <p:origin x="80" y="156"/>
      </p:cViewPr>
      <p:guideLst>
        <p:guide orient="horz" pos="2160"/>
        <p:guide pos="3840"/>
      </p:guideLst>
    </p:cSldViewPr>
  </p:slideViewPr>
  <p:notesTextViewPr>
    <p:cViewPr>
      <p:scale>
        <a:sx n="1" d="1"/>
        <a:sy n="1" d="1"/>
      </p:scale>
      <p:origin x="0" y="0"/>
    </p:cViewPr>
  </p:notesTextViewPr>
  <p:sorterViewPr>
    <p:cViewPr>
      <p:scale>
        <a:sx n="100" d="100"/>
        <a:sy n="100" d="100"/>
      </p:scale>
      <p:origin x="0" y="-1473"/>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3332097501265265E-2"/>
          <c:y val="8.5251887716540076E-2"/>
          <c:w val="0.94726116074055766"/>
          <c:h val="0.80651416774640616"/>
        </c:manualLayout>
      </c:layout>
      <c:barChart>
        <c:barDir val="col"/>
        <c:grouping val="clustered"/>
        <c:varyColors val="0"/>
        <c:ser>
          <c:idx val="0"/>
          <c:order val="0"/>
          <c:tx>
            <c:strRef>
              <c:f>Sheet1!$B$1</c:f>
              <c:strCache>
                <c:ptCount val="1"/>
                <c:pt idx="0">
                  <c:v>费用支出项目</c:v>
                </c:pt>
              </c:strCache>
            </c:strRef>
          </c:tx>
          <c:spPr>
            <a:solidFill>
              <a:srgbClr val="9A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员工薪酬</c:v>
                </c:pt>
                <c:pt idx="1">
                  <c:v>办公租赁</c:v>
                </c:pt>
                <c:pt idx="2">
                  <c:v>设备采购</c:v>
                </c:pt>
                <c:pt idx="3">
                  <c:v>市场营销</c:v>
                </c:pt>
                <c:pt idx="4">
                  <c:v>研发投入</c:v>
                </c:pt>
                <c:pt idx="5">
                  <c:v>材料采购</c:v>
                </c:pt>
                <c:pt idx="6">
                  <c:v>物流运输</c:v>
                </c:pt>
                <c:pt idx="7">
                  <c:v>行政管理</c:v>
                </c:pt>
                <c:pt idx="8">
                  <c:v>法律咨询</c:v>
                </c:pt>
              </c:strCache>
            </c:strRef>
          </c:cat>
          <c:val>
            <c:numRef>
              <c:f>Sheet1!$B$2:$B$10</c:f>
              <c:numCache>
                <c:formatCode>General</c:formatCode>
                <c:ptCount val="9"/>
                <c:pt idx="0">
                  <c:v>24</c:v>
                </c:pt>
                <c:pt idx="1">
                  <c:v>26</c:v>
                </c:pt>
                <c:pt idx="2">
                  <c:v>55</c:v>
                </c:pt>
                <c:pt idx="3">
                  <c:v>27</c:v>
                </c:pt>
                <c:pt idx="4">
                  <c:v>23</c:v>
                </c:pt>
                <c:pt idx="5">
                  <c:v>28</c:v>
                </c:pt>
                <c:pt idx="6">
                  <c:v>22</c:v>
                </c:pt>
                <c:pt idx="7">
                  <c:v>29</c:v>
                </c:pt>
                <c:pt idx="8">
                  <c:v>21</c:v>
                </c:pt>
              </c:numCache>
            </c:numRef>
          </c:val>
          <c:extLst>
            <c:ext xmlns:c16="http://schemas.microsoft.com/office/drawing/2014/chart" uri="{C3380CC4-5D6E-409C-BE32-E72D297353CC}">
              <c16:uniqueId val="{00000000-F6FD-441B-AA3C-615FF2E1C46E}"/>
            </c:ext>
          </c:extLst>
        </c:ser>
        <c:dLbls>
          <c:showLegendKey val="0"/>
          <c:showVal val="0"/>
          <c:showCatName val="0"/>
          <c:showSerName val="0"/>
          <c:showPercent val="0"/>
          <c:showBubbleSize val="0"/>
        </c:dLbls>
        <c:gapWidth val="357"/>
        <c:axId val="1531171824"/>
        <c:axId val="1531174576"/>
      </c:barChart>
      <c:catAx>
        <c:axId val="15311718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OPPOSans R" panose="00020600040101010101" pitchFamily="18" charset="-122"/>
                <a:ea typeface="OPPOSans R" panose="00020600040101010101" pitchFamily="18" charset="-122"/>
                <a:cs typeface="OPPOSans R" panose="00020600040101010101" pitchFamily="18" charset="-122"/>
              </a:defRPr>
            </a:pPr>
            <a:endParaRPr lang="zh-CN"/>
          </a:p>
        </c:txPr>
        <c:crossAx val="1531174576"/>
        <c:crosses val="autoZero"/>
        <c:auto val="1"/>
        <c:lblAlgn val="ctr"/>
        <c:lblOffset val="100"/>
        <c:noMultiLvlLbl val="0"/>
      </c:catAx>
      <c:valAx>
        <c:axId val="1531174576"/>
        <c:scaling>
          <c:orientation val="minMax"/>
        </c:scaling>
        <c:delete val="0"/>
        <c:axPos val="l"/>
        <c:majorGridlines>
          <c:spPr>
            <a:ln w="9525" cap="flat" cmpd="sng" algn="ctr">
              <a:solidFill>
                <a:schemeClr val="tx1">
                  <a:alpha val="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ontserrat Light" panose="00000400000000000000" pitchFamily="2" charset="0"/>
                <a:ea typeface="+mn-ea"/>
                <a:cs typeface="+mn-cs"/>
              </a:defRPr>
            </a:pPr>
            <a:endParaRPr lang="zh-CN"/>
          </a:p>
        </c:txPr>
        <c:crossAx val="1531171824"/>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销售额</c:v>
                </c:pt>
              </c:strCache>
            </c:strRef>
          </c:tx>
          <c:dPt>
            <c:idx val="0"/>
            <c:bubble3D val="0"/>
            <c:spPr>
              <a:solidFill>
                <a:srgbClr val="9A0000"/>
              </a:solidFill>
              <a:ln w="19050">
                <a:noFill/>
              </a:ln>
              <a:effectLst/>
            </c:spPr>
            <c:extLst>
              <c:ext xmlns:c16="http://schemas.microsoft.com/office/drawing/2014/chart" uri="{C3380CC4-5D6E-409C-BE32-E72D297353CC}">
                <c16:uniqueId val="{00000001-1FBC-4581-8228-3744258C8C6A}"/>
              </c:ext>
            </c:extLst>
          </c:dPt>
          <c:dPt>
            <c:idx val="1"/>
            <c:bubble3D val="0"/>
            <c:spPr>
              <a:solidFill>
                <a:schemeClr val="bg1">
                  <a:lumMod val="75000"/>
                </a:schemeClr>
              </a:solidFill>
              <a:ln w="19050">
                <a:noFill/>
              </a:ln>
              <a:effectLst/>
            </c:spPr>
            <c:extLst>
              <c:ext xmlns:c16="http://schemas.microsoft.com/office/drawing/2014/chart" uri="{C3380CC4-5D6E-409C-BE32-E72D297353CC}">
                <c16:uniqueId val="{00000003-1FBC-4581-8228-3744258C8C6A}"/>
              </c:ext>
            </c:extLst>
          </c:dPt>
          <c:cat>
            <c:strRef>
              <c:f>Sheet1!$A$2:$A$3</c:f>
              <c:strCache>
                <c:ptCount val="2"/>
                <c:pt idx="0">
                  <c:v>第一季度</c:v>
                </c:pt>
                <c:pt idx="1">
                  <c:v>第二季度</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1FBC-4581-8228-3744258C8C6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销售额</c:v>
                </c:pt>
              </c:strCache>
            </c:strRef>
          </c:tx>
          <c:dPt>
            <c:idx val="0"/>
            <c:bubble3D val="0"/>
            <c:spPr>
              <a:solidFill>
                <a:srgbClr val="9A0000"/>
              </a:solidFill>
              <a:ln w="19050">
                <a:noFill/>
              </a:ln>
              <a:effectLst/>
            </c:spPr>
            <c:extLst>
              <c:ext xmlns:c16="http://schemas.microsoft.com/office/drawing/2014/chart" uri="{C3380CC4-5D6E-409C-BE32-E72D297353CC}">
                <c16:uniqueId val="{00000001-07F6-4446-9966-04896FE1A3DA}"/>
              </c:ext>
            </c:extLst>
          </c:dPt>
          <c:dPt>
            <c:idx val="1"/>
            <c:bubble3D val="0"/>
            <c:spPr>
              <a:solidFill>
                <a:schemeClr val="bg1">
                  <a:lumMod val="75000"/>
                </a:schemeClr>
              </a:solidFill>
              <a:ln w="19050">
                <a:noFill/>
              </a:ln>
              <a:effectLst/>
            </c:spPr>
            <c:extLst>
              <c:ext xmlns:c16="http://schemas.microsoft.com/office/drawing/2014/chart" uri="{C3380CC4-5D6E-409C-BE32-E72D297353CC}">
                <c16:uniqueId val="{00000003-07F6-4446-9966-04896FE1A3DA}"/>
              </c:ext>
            </c:extLst>
          </c:dPt>
          <c:cat>
            <c:strRef>
              <c:f>Sheet1!$A$2:$A$3</c:f>
              <c:strCache>
                <c:ptCount val="2"/>
                <c:pt idx="0">
                  <c:v>第一季度</c:v>
                </c:pt>
                <c:pt idx="1">
                  <c:v>第二季度</c:v>
                </c:pt>
              </c:strCache>
            </c:strRef>
          </c:cat>
          <c:val>
            <c:numRef>
              <c:f>Sheet1!$B$2:$B$3</c:f>
              <c:numCache>
                <c:formatCode>General</c:formatCode>
                <c:ptCount val="2"/>
                <c:pt idx="0">
                  <c:v>30</c:v>
                </c:pt>
                <c:pt idx="1">
                  <c:v>70</c:v>
                </c:pt>
              </c:numCache>
            </c:numRef>
          </c:val>
          <c:extLst>
            <c:ext xmlns:c16="http://schemas.microsoft.com/office/drawing/2014/chart" uri="{C3380CC4-5D6E-409C-BE32-E72D297353CC}">
              <c16:uniqueId val="{00000004-07F6-4446-9966-04896FE1A3D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销售额</c:v>
                </c:pt>
              </c:strCache>
            </c:strRef>
          </c:tx>
          <c:dPt>
            <c:idx val="0"/>
            <c:bubble3D val="0"/>
            <c:spPr>
              <a:solidFill>
                <a:srgbClr val="9A0000"/>
              </a:solidFill>
              <a:ln w="19050">
                <a:noFill/>
              </a:ln>
              <a:effectLst/>
            </c:spPr>
            <c:extLst>
              <c:ext xmlns:c16="http://schemas.microsoft.com/office/drawing/2014/chart" uri="{C3380CC4-5D6E-409C-BE32-E72D297353CC}">
                <c16:uniqueId val="{00000001-A76C-43ED-9E2E-1D3940A8DCF5}"/>
              </c:ext>
            </c:extLst>
          </c:dPt>
          <c:dPt>
            <c:idx val="1"/>
            <c:bubble3D val="0"/>
            <c:spPr>
              <a:solidFill>
                <a:schemeClr val="bg1">
                  <a:lumMod val="75000"/>
                </a:schemeClr>
              </a:solidFill>
              <a:ln w="19050">
                <a:noFill/>
              </a:ln>
              <a:effectLst/>
            </c:spPr>
            <c:extLst>
              <c:ext xmlns:c16="http://schemas.microsoft.com/office/drawing/2014/chart" uri="{C3380CC4-5D6E-409C-BE32-E72D297353CC}">
                <c16:uniqueId val="{00000003-A76C-43ED-9E2E-1D3940A8DCF5}"/>
              </c:ext>
            </c:extLst>
          </c:dPt>
          <c:cat>
            <c:strRef>
              <c:f>Sheet1!$A$2:$A$3</c:f>
              <c:strCache>
                <c:ptCount val="2"/>
                <c:pt idx="0">
                  <c:v>第一季度</c:v>
                </c:pt>
                <c:pt idx="1">
                  <c:v>第二季度</c:v>
                </c:pt>
              </c:strCache>
            </c:strRef>
          </c:cat>
          <c:val>
            <c:numRef>
              <c:f>Sheet1!$B$2:$B$3</c:f>
              <c:numCache>
                <c:formatCode>General</c:formatCode>
                <c:ptCount val="2"/>
                <c:pt idx="0">
                  <c:v>20</c:v>
                </c:pt>
                <c:pt idx="1">
                  <c:v>80</c:v>
                </c:pt>
              </c:numCache>
            </c:numRef>
          </c:val>
          <c:extLst>
            <c:ext xmlns:c16="http://schemas.microsoft.com/office/drawing/2014/chart" uri="{C3380CC4-5D6E-409C-BE32-E72D297353CC}">
              <c16:uniqueId val="{00000004-A76C-43ED-9E2E-1D3940A8DCF5}"/>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2026/5/25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grpSp>
        <p:nvGrpSpPr>
          <p:cNvPr id="7" name="组合 6">
            <a:extLst>
              <a:ext uri="{FF2B5EF4-FFF2-40B4-BE49-F238E27FC236}">
                <a16:creationId xmlns:a16="http://schemas.microsoft.com/office/drawing/2014/main" id="{F2B7C29D-6568-4857-552B-0BAC8D214A8D}"/>
              </a:ext>
            </a:extLst>
          </p:cNvPr>
          <p:cNvGrpSpPr/>
          <p:nvPr userDrawn="1"/>
        </p:nvGrpSpPr>
        <p:grpSpPr>
          <a:xfrm>
            <a:off x="-133710" y="99267"/>
            <a:ext cx="12459420" cy="938977"/>
            <a:chOff x="-133710" y="99267"/>
            <a:chExt cx="12459420" cy="938977"/>
          </a:xfrm>
        </p:grpSpPr>
        <p:grpSp>
          <p:nvGrpSpPr>
            <p:cNvPr id="8" name="组合 7">
              <a:extLst>
                <a:ext uri="{FF2B5EF4-FFF2-40B4-BE49-F238E27FC236}">
                  <a16:creationId xmlns:a16="http://schemas.microsoft.com/office/drawing/2014/main" id="{7CB162ED-A712-3ED4-1002-55807FCE5C20}"/>
                </a:ext>
              </a:extLst>
            </p:cNvPr>
            <p:cNvGrpSpPr/>
            <p:nvPr/>
          </p:nvGrpSpPr>
          <p:grpSpPr>
            <a:xfrm>
              <a:off x="-133710" y="99267"/>
              <a:ext cx="12459420" cy="938977"/>
              <a:chOff x="169652" y="191323"/>
              <a:chExt cx="12459420" cy="938977"/>
            </a:xfrm>
          </p:grpSpPr>
          <p:sp>
            <p:nvSpPr>
              <p:cNvPr id="10" name="矩形: 圆角 9">
                <a:extLst>
                  <a:ext uri="{FF2B5EF4-FFF2-40B4-BE49-F238E27FC236}">
                    <a16:creationId xmlns:a16="http://schemas.microsoft.com/office/drawing/2014/main" id="{D284D105-7F94-4231-77F8-0ACB30974C94}"/>
                  </a:ext>
                </a:extLst>
              </p:cNvPr>
              <p:cNvSpPr/>
              <p:nvPr/>
            </p:nvSpPr>
            <p:spPr>
              <a:xfrm>
                <a:off x="169652" y="310551"/>
                <a:ext cx="12459420" cy="621102"/>
              </a:xfrm>
              <a:prstGeom prst="roundRect">
                <a:avLst>
                  <a:gd name="adj" fmla="val 50000"/>
                </a:avLst>
              </a:prstGeom>
              <a:solidFill>
                <a:schemeClr val="bg1"/>
              </a:solidFill>
              <a:ln>
                <a:noFill/>
              </a:ln>
              <a:effectLst>
                <a:outerShdw blurRad="177800" dist="38100" dir="2700000" algn="tl" rotWithShape="0">
                  <a:prstClr val="black">
                    <a:alpha val="2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j-ea"/>
                  <a:ea typeface="+mj-ea"/>
                </a:endParaRPr>
              </a:p>
            </p:txBody>
          </p:sp>
          <p:sp>
            <p:nvSpPr>
              <p:cNvPr id="11" name="任意多边形: 形状 10">
                <a:extLst>
                  <a:ext uri="{FF2B5EF4-FFF2-40B4-BE49-F238E27FC236}">
                    <a16:creationId xmlns:a16="http://schemas.microsoft.com/office/drawing/2014/main" id="{4191AB39-E592-8538-0EBC-D2E5DFDF761D}"/>
                  </a:ext>
                </a:extLst>
              </p:cNvPr>
              <p:cNvSpPr/>
              <p:nvPr/>
            </p:nvSpPr>
            <p:spPr>
              <a:xfrm>
                <a:off x="496498" y="191323"/>
                <a:ext cx="621102" cy="938977"/>
              </a:xfrm>
              <a:custGeom>
                <a:avLst/>
                <a:gdLst>
                  <a:gd name="connsiteX0" fmla="*/ 0 w 914400"/>
                  <a:gd name="connsiteY0" fmla="*/ 0 h 1382383"/>
                  <a:gd name="connsiteX1" fmla="*/ 914400 w 914400"/>
                  <a:gd name="connsiteY1" fmla="*/ 0 h 1382383"/>
                  <a:gd name="connsiteX2" fmla="*/ 914400 w 914400"/>
                  <a:gd name="connsiteY2" fmla="*/ 914400 h 1382383"/>
                  <a:gd name="connsiteX3" fmla="*/ 913313 w 914400"/>
                  <a:gd name="connsiteY3" fmla="*/ 914400 h 1382383"/>
                  <a:gd name="connsiteX4" fmla="*/ 914400 w 914400"/>
                  <a:gd name="connsiteY4" fmla="*/ 925183 h 1382383"/>
                  <a:gd name="connsiteX5" fmla="*/ 457200 w 914400"/>
                  <a:gd name="connsiteY5" fmla="*/ 1382383 h 1382383"/>
                  <a:gd name="connsiteX6" fmla="*/ 0 w 914400"/>
                  <a:gd name="connsiteY6" fmla="*/ 925183 h 1382383"/>
                  <a:gd name="connsiteX7" fmla="*/ 1087 w 914400"/>
                  <a:gd name="connsiteY7" fmla="*/ 914400 h 1382383"/>
                  <a:gd name="connsiteX8" fmla="*/ 0 w 914400"/>
                  <a:gd name="connsiteY8" fmla="*/ 914400 h 138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 h="1382383">
                    <a:moveTo>
                      <a:pt x="0" y="0"/>
                    </a:moveTo>
                    <a:lnTo>
                      <a:pt x="914400" y="0"/>
                    </a:lnTo>
                    <a:lnTo>
                      <a:pt x="914400" y="914400"/>
                    </a:lnTo>
                    <a:lnTo>
                      <a:pt x="913313" y="914400"/>
                    </a:lnTo>
                    <a:lnTo>
                      <a:pt x="914400" y="925183"/>
                    </a:lnTo>
                    <a:cubicBezTo>
                      <a:pt x="914400" y="1177688"/>
                      <a:pt x="709705" y="1382383"/>
                      <a:pt x="457200" y="1382383"/>
                    </a:cubicBezTo>
                    <a:cubicBezTo>
                      <a:pt x="204695" y="1382383"/>
                      <a:pt x="0" y="1177688"/>
                      <a:pt x="0" y="925183"/>
                    </a:cubicBezTo>
                    <a:lnTo>
                      <a:pt x="1087" y="914400"/>
                    </a:lnTo>
                    <a:lnTo>
                      <a:pt x="0" y="914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j-ea"/>
                  <a:ea typeface="+mj-ea"/>
                </a:endParaRPr>
              </a:p>
            </p:txBody>
          </p:sp>
          <p:sp>
            <p:nvSpPr>
              <p:cNvPr id="12" name="直角三角形 11">
                <a:extLst>
                  <a:ext uri="{FF2B5EF4-FFF2-40B4-BE49-F238E27FC236}">
                    <a16:creationId xmlns:a16="http://schemas.microsoft.com/office/drawing/2014/main" id="{2FCA685B-777B-697A-F4FF-5AFC369EB658}"/>
                  </a:ext>
                </a:extLst>
              </p:cNvPr>
              <p:cNvSpPr/>
              <p:nvPr/>
            </p:nvSpPr>
            <p:spPr>
              <a:xfrm>
                <a:off x="1117600" y="191323"/>
                <a:ext cx="119228" cy="119228"/>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mj-ea"/>
                  <a:ea typeface="+mj-ea"/>
                </a:endParaRPr>
              </a:p>
            </p:txBody>
          </p:sp>
        </p:grpSp>
        <p:pic>
          <p:nvPicPr>
            <p:cNvPr id="9" name="图片 8">
              <a:extLst>
                <a:ext uri="{FF2B5EF4-FFF2-40B4-BE49-F238E27FC236}">
                  <a16:creationId xmlns:a16="http://schemas.microsoft.com/office/drawing/2014/main" id="{142A2F22-0801-5499-34F2-BDBCD034F454}"/>
                </a:ext>
              </a:extLst>
            </p:cNvPr>
            <p:cNvPicPr>
              <a:picLocks noChangeAspect="1"/>
            </p:cNvPicPr>
            <p:nvPr/>
          </p:nvPicPr>
          <p:blipFill>
            <a:blip r:embed="rId13">
              <a:duotone>
                <a:schemeClr val="accent1">
                  <a:shade val="45000"/>
                  <a:satMod val="135000"/>
                </a:schemeClr>
                <a:prstClr val="white"/>
              </a:duotone>
              <a:extLst>
                <a:ext uri="{28A0092B-C50C-407E-A947-70E740481C1C}">
                  <a14:useLocalDpi xmlns:a14="http://schemas.microsoft.com/office/drawing/2010/main" val="0"/>
                </a:ext>
              </a:extLst>
            </a:blip>
            <a:srcRect l="3108" r="3108"/>
            <a:stretch/>
          </p:blipFill>
          <p:spPr>
            <a:xfrm>
              <a:off x="10276676" y="252847"/>
              <a:ext cx="1722188" cy="552397"/>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slideLayout" Target="../slideLayouts/slideLayout7.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0" Type="http://schemas.openxmlformats.org/officeDocument/2006/relationships/tags" Target="../tags/tag15.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17.jpe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16.jpeg"/><Relationship Id="rId5" Type="http://schemas.openxmlformats.org/officeDocument/2006/relationships/tags" Target="../tags/tag22.xml"/><Relationship Id="rId10" Type="http://schemas.openxmlformats.org/officeDocument/2006/relationships/chart" Target="../charts/chart1.xml"/><Relationship Id="rId4" Type="http://schemas.openxmlformats.org/officeDocument/2006/relationships/tags" Target="../tags/tag21.xml"/><Relationship Id="rId9"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tags" Target="../tags/tag28.xml"/><Relationship Id="rId7" Type="http://schemas.openxmlformats.org/officeDocument/2006/relationships/slideLayout" Target="../slideLayouts/slideLayout7.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21.jpeg"/><Relationship Id="rId5" Type="http://schemas.openxmlformats.org/officeDocument/2006/relationships/tags" Target="../tags/tag30.xml"/><Relationship Id="rId10" Type="http://schemas.openxmlformats.org/officeDocument/2006/relationships/image" Target="../media/image20.png"/><Relationship Id="rId4" Type="http://schemas.openxmlformats.org/officeDocument/2006/relationships/tags" Target="../tags/tag29.xml"/><Relationship Id="rId9" Type="http://schemas.openxmlformats.org/officeDocument/2006/relationships/image" Target="../media/image1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jpg"/></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30.jpeg"/><Relationship Id="rId2" Type="http://schemas.openxmlformats.org/officeDocument/2006/relationships/chart" Target="../charts/chart2.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3C712-3CEF-6C6F-815D-BF40CE6AB0AC}"/>
            </a:ext>
          </a:extLst>
        </p:cNvPr>
        <p:cNvGrpSpPr/>
        <p:nvPr/>
      </p:nvGrpSpPr>
      <p:grpSpPr>
        <a:xfrm>
          <a:off x="0" y="0"/>
          <a:ext cx="0" cy="0"/>
          <a:chOff x="0" y="0"/>
          <a:chExt cx="0" cy="0"/>
        </a:xfrm>
      </p:grpSpPr>
      <p:pic>
        <p:nvPicPr>
          <p:cNvPr id="11" name="图片 10" descr="蓝色的火车在站台旁&#10;&#10;描述已自动生成">
            <a:extLst>
              <a:ext uri="{FF2B5EF4-FFF2-40B4-BE49-F238E27FC236}">
                <a16:creationId xmlns:a16="http://schemas.microsoft.com/office/drawing/2014/main" id="{DC642186-E975-96D8-8408-C4456DEE3F53}"/>
              </a:ext>
            </a:extLst>
          </p:cNvPr>
          <p:cNvPicPr>
            <a:picLocks noChangeAspect="1"/>
          </p:cNvPicPr>
          <p:nvPr/>
        </p:nvPicPr>
        <p:blipFill rotWithShape="1">
          <a:blip r:embed="rId2" cstate="print">
            <a:duotone>
              <a:schemeClr val="accent6">
                <a:shade val="45000"/>
                <a:satMod val="135000"/>
              </a:schemeClr>
              <a:prstClr val="white"/>
            </a:duotone>
            <a:extLst>
              <a:ext uri="{BEBA8EAE-BF5A-486C-A8C5-ECC9F3942E4B}">
                <a14:imgProps xmlns:a14="http://schemas.microsoft.com/office/drawing/2010/main">
                  <a14:imgLayer r:embed="rId3">
                    <a14:imgEffect>
                      <a14:saturation sat="0"/>
                    </a14:imgEffect>
                    <a14:imgEffect>
                      <a14:brightnessContrast contrast="-40000"/>
                    </a14:imgEffect>
                  </a14:imgLayer>
                </a14:imgProps>
              </a:ext>
              <a:ext uri="{28A0092B-C50C-407E-A947-70E740481C1C}">
                <a14:useLocalDpi xmlns:a14="http://schemas.microsoft.com/office/drawing/2010/main" val="0"/>
              </a:ext>
            </a:extLst>
          </a:blip>
          <a:srcRect l="51" b="33391"/>
          <a:stretch/>
        </p:blipFill>
        <p:spPr>
          <a:xfrm>
            <a:off x="567" y="1099270"/>
            <a:ext cx="12190866" cy="4060213"/>
          </a:xfrm>
          <a:prstGeom prst="rect">
            <a:avLst/>
          </a:prstGeom>
        </p:spPr>
      </p:pic>
      <p:sp>
        <p:nvSpPr>
          <p:cNvPr id="12" name="矩形 11">
            <a:extLst>
              <a:ext uri="{FF2B5EF4-FFF2-40B4-BE49-F238E27FC236}">
                <a16:creationId xmlns:a16="http://schemas.microsoft.com/office/drawing/2014/main" id="{1C9DA934-52C4-4CB2-4D02-075830AA3AF2}"/>
              </a:ext>
            </a:extLst>
          </p:cNvPr>
          <p:cNvSpPr/>
          <p:nvPr/>
        </p:nvSpPr>
        <p:spPr>
          <a:xfrm>
            <a:off x="9859" y="-1"/>
            <a:ext cx="12191999" cy="5159483"/>
          </a:xfrm>
          <a:prstGeom prst="rect">
            <a:avLst/>
          </a:prstGeom>
          <a:gradFill flip="none" rotWithShape="1">
            <a:gsLst>
              <a:gs pos="49000">
                <a:schemeClr val="bg1"/>
              </a:gs>
              <a:gs pos="100000">
                <a:schemeClr val="accent3">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b="1" dirty="0">
              <a:solidFill>
                <a:prstClr val="white"/>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F08D48A3-B931-466F-18C0-A1C304D1FEF8}"/>
              </a:ext>
            </a:extLst>
          </p:cNvPr>
          <p:cNvSpPr txBox="1"/>
          <p:nvPr/>
        </p:nvSpPr>
        <p:spPr>
          <a:xfrm>
            <a:off x="0" y="1366919"/>
            <a:ext cx="12192000" cy="2693751"/>
          </a:xfrm>
          <a:prstGeom prst="rect">
            <a:avLst/>
          </a:prstGeom>
          <a:noFill/>
        </p:spPr>
        <p:txBody>
          <a:bodyPr wrap="square">
            <a:spAutoFit/>
          </a:bodyPr>
          <a:lstStyle/>
          <a:p>
            <a:pPr algn="ctr">
              <a:lnSpc>
                <a:spcPts val="10500"/>
              </a:lnSpc>
              <a:defRPr/>
            </a:pPr>
            <a:r>
              <a:rPr lang="zh-CN" altLang="en-US" sz="8000" b="1" dirty="0">
                <a:solidFill>
                  <a:schemeClr val="accent1"/>
                </a:solidFill>
                <a:latin typeface="微软雅黑" panose="020B0503020204020204" pitchFamily="34" charset="-122"/>
                <a:ea typeface="微软雅黑" panose="020B0503020204020204" pitchFamily="34" charset="-122"/>
              </a:rPr>
              <a:t>国家自然科学项目</a:t>
            </a:r>
            <a:endParaRPr lang="en-US" altLang="zh-CN" sz="8000" b="1" dirty="0">
              <a:solidFill>
                <a:schemeClr val="accent1"/>
              </a:solidFill>
              <a:latin typeface="微软雅黑" panose="020B0503020204020204" pitchFamily="34" charset="-122"/>
              <a:ea typeface="微软雅黑" panose="020B0503020204020204" pitchFamily="34" charset="-122"/>
            </a:endParaRPr>
          </a:p>
          <a:p>
            <a:pPr algn="ctr">
              <a:lnSpc>
                <a:spcPts val="10500"/>
              </a:lnSpc>
              <a:defRPr/>
            </a:pPr>
            <a:r>
              <a:rPr lang="zh-CN" altLang="en-US" sz="8000" b="1" dirty="0">
                <a:solidFill>
                  <a:schemeClr val="accent1"/>
                </a:solidFill>
                <a:latin typeface="微软雅黑" panose="020B0503020204020204" pitchFamily="34" charset="-122"/>
                <a:ea typeface="微软雅黑" panose="020B0503020204020204" pitchFamily="34" charset="-122"/>
              </a:rPr>
              <a:t>申请答辩结题汇报</a:t>
            </a:r>
            <a:r>
              <a:rPr lang="en-US" altLang="zh-CN" sz="8000" b="1" dirty="0">
                <a:solidFill>
                  <a:schemeClr val="accent1"/>
                </a:solidFill>
                <a:latin typeface="微软雅黑" panose="020B0503020204020204" pitchFamily="34" charset="-122"/>
                <a:ea typeface="微软雅黑" panose="020B0503020204020204" pitchFamily="34" charset="-122"/>
              </a:rPr>
              <a:t>PPT</a:t>
            </a:r>
            <a:endParaRPr lang="zh-CN" altLang="en-US" sz="8000" b="1" dirty="0">
              <a:solidFill>
                <a:schemeClr val="accent1"/>
              </a:solidFill>
              <a:latin typeface="微软雅黑" panose="020B0503020204020204" pitchFamily="34" charset="-122"/>
              <a:ea typeface="微软雅黑" panose="020B0503020204020204" pitchFamily="34" charset="-122"/>
            </a:endParaRPr>
          </a:p>
        </p:txBody>
      </p:sp>
      <p:sp>
        <p:nvSpPr>
          <p:cNvPr id="3" name="矩形: 圆角 2">
            <a:extLst>
              <a:ext uri="{FF2B5EF4-FFF2-40B4-BE49-F238E27FC236}">
                <a16:creationId xmlns:a16="http://schemas.microsoft.com/office/drawing/2014/main" id="{4B2EA678-3420-5C54-B4C3-C8CAD209A7CE}"/>
              </a:ext>
            </a:extLst>
          </p:cNvPr>
          <p:cNvSpPr/>
          <p:nvPr/>
        </p:nvSpPr>
        <p:spPr>
          <a:xfrm>
            <a:off x="4839038" y="4461335"/>
            <a:ext cx="2768614" cy="584778"/>
          </a:xfrm>
          <a:prstGeom prst="roundRect">
            <a:avLst>
              <a:gd name="adj" fmla="val 50000"/>
            </a:avLst>
          </a:prstGeom>
          <a:solidFill>
            <a:srgbClr val="FFFFFF"/>
          </a:solidFill>
          <a:ln w="3175" cap="flat" cmpd="sng" algn="ctr">
            <a:solidFill>
              <a:schemeClr val="accent1"/>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dirty="0">
              <a:ln>
                <a:noFill/>
              </a:ln>
              <a:solidFill>
                <a:prstClr val="white"/>
              </a:solidFill>
              <a:effectLst/>
              <a:uLnTx/>
              <a:uFillTx/>
              <a:latin typeface="微软雅黑"/>
            </a:endParaRPr>
          </a:p>
        </p:txBody>
      </p:sp>
      <p:sp>
        <p:nvSpPr>
          <p:cNvPr id="4" name="矩形: 圆角 3">
            <a:extLst>
              <a:ext uri="{FF2B5EF4-FFF2-40B4-BE49-F238E27FC236}">
                <a16:creationId xmlns:a16="http://schemas.microsoft.com/office/drawing/2014/main" id="{DA1E6CA0-D601-DDA2-0D66-6669E5F33476}"/>
              </a:ext>
            </a:extLst>
          </p:cNvPr>
          <p:cNvSpPr/>
          <p:nvPr/>
        </p:nvSpPr>
        <p:spPr>
          <a:xfrm>
            <a:off x="3768924" y="4454012"/>
            <a:ext cx="1685122" cy="584776"/>
          </a:xfrm>
          <a:prstGeom prst="roundRect">
            <a:avLst>
              <a:gd name="adj" fmla="val 50000"/>
            </a:avLst>
          </a:prstGeom>
          <a:solidFill>
            <a:schemeClr val="accent1"/>
          </a:solidFill>
          <a:ln w="3175" cap="flat" cmpd="sng" algn="ctr">
            <a:solidFill>
              <a:srgbClr val="0C56AE"/>
            </a:solidFill>
            <a:prstDash val="solid"/>
            <a:miter lim="800000"/>
          </a:ln>
          <a:effectLst/>
        </p:spPr>
        <p:txBody>
          <a:bodyPr wrap="square" rtlCol="0" anchor="ctr">
            <a:noAutofit/>
          </a:bodyPr>
          <a:lstStyle/>
          <a:p>
            <a:pPr algn="ctr">
              <a:defRPr/>
            </a:pPr>
            <a:r>
              <a:rPr lang="zh-CN" altLang="en-US" sz="3200" b="1" kern="0" dirty="0">
                <a:solidFill>
                  <a:prstClr val="white"/>
                </a:solidFill>
                <a:latin typeface="微软雅黑" panose="020B0503020204020204" pitchFamily="34" charset="-122"/>
                <a:ea typeface="微软雅黑" panose="020B0503020204020204" pitchFamily="34" charset="-122"/>
              </a:rPr>
              <a:t>汇报人</a:t>
            </a:r>
          </a:p>
        </p:txBody>
      </p:sp>
      <p:sp>
        <p:nvSpPr>
          <p:cNvPr id="5" name="文本框 4">
            <a:extLst>
              <a:ext uri="{FF2B5EF4-FFF2-40B4-BE49-F238E27FC236}">
                <a16:creationId xmlns:a16="http://schemas.microsoft.com/office/drawing/2014/main" id="{E592BA2D-3982-DE10-3446-DA44D71D602C}"/>
              </a:ext>
            </a:extLst>
          </p:cNvPr>
          <p:cNvSpPr txBox="1"/>
          <p:nvPr/>
        </p:nvSpPr>
        <p:spPr>
          <a:xfrm>
            <a:off x="5812474" y="4461337"/>
            <a:ext cx="1332416" cy="584775"/>
          </a:xfrm>
          <a:prstGeom prst="rect">
            <a:avLst/>
          </a:prstGeom>
          <a:noFill/>
        </p:spPr>
        <p:txBody>
          <a:bodyPr wrap="none">
            <a:spAutoFit/>
          </a:bodyPr>
          <a:lstStyle/>
          <a:p>
            <a:pPr algn="ctr">
              <a:defRPr/>
            </a:pPr>
            <a:r>
              <a:rPr lang="en-US" altLang="zh-CN" sz="3200" b="1" dirty="0">
                <a:solidFill>
                  <a:schemeClr val="accent1"/>
                </a:solidFill>
                <a:latin typeface="微软雅黑" panose="020B0503020204020204" pitchFamily="34" charset="-122"/>
                <a:ea typeface="微软雅黑" panose="020B0503020204020204" pitchFamily="34" charset="-122"/>
              </a:rPr>
              <a:t>XXXX</a:t>
            </a:r>
            <a:endParaRPr lang="zh-CN" altLang="en-US" sz="3200" b="1" dirty="0">
              <a:solidFill>
                <a:schemeClr val="accent1"/>
              </a:solidFill>
              <a:latin typeface="微软雅黑" panose="020B0503020204020204" pitchFamily="34" charset="-122"/>
              <a:ea typeface="微软雅黑" panose="020B0503020204020204" pitchFamily="34" charset="-122"/>
            </a:endParaRPr>
          </a:p>
        </p:txBody>
      </p:sp>
      <p:sp>
        <p:nvSpPr>
          <p:cNvPr id="6" name="任意多边形: 形状 5">
            <a:extLst>
              <a:ext uri="{FF2B5EF4-FFF2-40B4-BE49-F238E27FC236}">
                <a16:creationId xmlns:a16="http://schemas.microsoft.com/office/drawing/2014/main" id="{03437287-155F-B97B-812D-904A5FB34C93}"/>
              </a:ext>
            </a:extLst>
          </p:cNvPr>
          <p:cNvSpPr/>
          <p:nvPr/>
        </p:nvSpPr>
        <p:spPr>
          <a:xfrm>
            <a:off x="2614943" y="-5733"/>
            <a:ext cx="6962115" cy="493598"/>
          </a:xfrm>
          <a:custGeom>
            <a:avLst/>
            <a:gdLst>
              <a:gd name="connsiteX0" fmla="*/ 0 w 8717654"/>
              <a:gd name="connsiteY0" fmla="*/ 0 h 562725"/>
              <a:gd name="connsiteX1" fmla="*/ 1155700 w 8717654"/>
              <a:gd name="connsiteY1" fmla="*/ 0 h 562725"/>
              <a:gd name="connsiteX2" fmla="*/ 7561954 w 8717654"/>
              <a:gd name="connsiteY2" fmla="*/ 0 h 562725"/>
              <a:gd name="connsiteX3" fmla="*/ 8717654 w 8717654"/>
              <a:gd name="connsiteY3" fmla="*/ 0 h 562725"/>
              <a:gd name="connsiteX4" fmla="*/ 8717381 w 8717654"/>
              <a:gd name="connsiteY4" fmla="*/ 1022 h 562725"/>
              <a:gd name="connsiteX5" fmla="*/ 8441286 w 8717654"/>
              <a:gd name="connsiteY5" fmla="*/ 521969 h 562725"/>
              <a:gd name="connsiteX6" fmla="*/ 8383695 w 8717654"/>
              <a:gd name="connsiteY6" fmla="*/ 562725 h 562725"/>
              <a:gd name="connsiteX7" fmla="*/ 7227995 w 8717654"/>
              <a:gd name="connsiteY7" fmla="*/ 562725 h 562725"/>
              <a:gd name="connsiteX8" fmla="*/ 1489659 w 8717654"/>
              <a:gd name="connsiteY8" fmla="*/ 562725 h 562725"/>
              <a:gd name="connsiteX9" fmla="*/ 333959 w 8717654"/>
              <a:gd name="connsiteY9" fmla="*/ 562725 h 562725"/>
              <a:gd name="connsiteX10" fmla="*/ 276368 w 8717654"/>
              <a:gd name="connsiteY10" fmla="*/ 521969 h 562725"/>
              <a:gd name="connsiteX11" fmla="*/ 273 w 8717654"/>
              <a:gd name="connsiteY11" fmla="*/ 1022 h 56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17654" h="562725">
                <a:moveTo>
                  <a:pt x="0" y="0"/>
                </a:moveTo>
                <a:lnTo>
                  <a:pt x="1155700" y="0"/>
                </a:lnTo>
                <a:lnTo>
                  <a:pt x="7561954" y="0"/>
                </a:lnTo>
                <a:lnTo>
                  <a:pt x="8717654" y="0"/>
                </a:lnTo>
                <a:lnTo>
                  <a:pt x="8717381" y="1022"/>
                </a:lnTo>
                <a:lnTo>
                  <a:pt x="8441286" y="521969"/>
                </a:lnTo>
                <a:cubicBezTo>
                  <a:pt x="8427678" y="547645"/>
                  <a:pt x="8406370" y="562725"/>
                  <a:pt x="8383695" y="562725"/>
                </a:cubicBezTo>
                <a:lnTo>
                  <a:pt x="7227995" y="562725"/>
                </a:lnTo>
                <a:lnTo>
                  <a:pt x="1489659" y="562725"/>
                </a:lnTo>
                <a:lnTo>
                  <a:pt x="333959" y="562725"/>
                </a:lnTo>
                <a:cubicBezTo>
                  <a:pt x="311285" y="562725"/>
                  <a:pt x="289976" y="547645"/>
                  <a:pt x="276368" y="521969"/>
                </a:cubicBezTo>
                <a:lnTo>
                  <a:pt x="273" y="1022"/>
                </a:lnTo>
                <a:close/>
              </a:path>
            </a:pathLst>
          </a:custGeom>
          <a:solidFill>
            <a:schemeClr val="accent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dirty="0">
              <a:ln>
                <a:noFill/>
              </a:ln>
              <a:solidFill>
                <a:srgbClr val="0C56AE"/>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FFC05B4F-2BD2-017A-D833-AFB9CBAC897A}"/>
              </a:ext>
            </a:extLst>
          </p:cNvPr>
          <p:cNvSpPr txBox="1"/>
          <p:nvPr/>
        </p:nvSpPr>
        <p:spPr>
          <a:xfrm>
            <a:off x="2925902" y="10234"/>
            <a:ext cx="6340197" cy="461665"/>
          </a:xfrm>
          <a:prstGeom prst="rect">
            <a:avLst/>
          </a:prstGeom>
          <a:noFill/>
        </p:spPr>
        <p:txBody>
          <a:bodyPr wrap="none">
            <a:spAutoFit/>
          </a:bodyPr>
          <a:lstStyle/>
          <a:p>
            <a:pPr>
              <a:defRPr/>
            </a:pPr>
            <a:r>
              <a:rPr lang="zh-CN" altLang="en-US" sz="2400" b="1" dirty="0">
                <a:solidFill>
                  <a:srgbClr val="FFFFFF"/>
                </a:solidFill>
                <a:latin typeface="微软雅黑" panose="020B0503020204020204" pitchFamily="34" charset="-122"/>
                <a:ea typeface="微软雅黑" panose="020B0503020204020204" pitchFamily="34" charset="-122"/>
              </a:rPr>
              <a:t>新型铁基非常规多铁材料设计与磁电调控研究</a:t>
            </a:r>
          </a:p>
        </p:txBody>
      </p:sp>
      <p:sp>
        <p:nvSpPr>
          <p:cNvPr id="8" name="文本框 7">
            <a:extLst>
              <a:ext uri="{FF2B5EF4-FFF2-40B4-BE49-F238E27FC236}">
                <a16:creationId xmlns:a16="http://schemas.microsoft.com/office/drawing/2014/main" id="{50993921-4A01-0A89-1E61-7A819B4A1E2F}"/>
              </a:ext>
            </a:extLst>
          </p:cNvPr>
          <p:cNvSpPr txBox="1"/>
          <p:nvPr/>
        </p:nvSpPr>
        <p:spPr>
          <a:xfrm>
            <a:off x="5080338" y="5238426"/>
            <a:ext cx="2031326" cy="461665"/>
          </a:xfrm>
          <a:prstGeom prst="rect">
            <a:avLst/>
          </a:prstGeom>
          <a:noFill/>
        </p:spPr>
        <p:txBody>
          <a:bodyPr wrap="none">
            <a:spAutoFit/>
          </a:bodyPr>
          <a:lstStyle/>
          <a:p>
            <a:pPr algn="ctr">
              <a:defRPr/>
            </a:pPr>
            <a:r>
              <a:rPr lang="zh-CN" altLang="en-US" sz="2400" dirty="0">
                <a:ln w="0"/>
                <a:solidFill>
                  <a:prstClr val="black"/>
                </a:solidFill>
                <a:latin typeface="微软雅黑" panose="020B0503020204020204" pitchFamily="34" charset="-122"/>
                <a:ea typeface="微软雅黑" panose="020B0503020204020204" pitchFamily="34" charset="-122"/>
              </a:rPr>
              <a:t>中国科研大学</a:t>
            </a:r>
          </a:p>
        </p:txBody>
      </p:sp>
      <p:sp>
        <p:nvSpPr>
          <p:cNvPr id="9" name="矩形 8">
            <a:extLst>
              <a:ext uri="{FF2B5EF4-FFF2-40B4-BE49-F238E27FC236}">
                <a16:creationId xmlns:a16="http://schemas.microsoft.com/office/drawing/2014/main" id="{6A13CF40-C608-8D36-562A-C2261D580099}"/>
              </a:ext>
            </a:extLst>
          </p:cNvPr>
          <p:cNvSpPr/>
          <p:nvPr/>
        </p:nvSpPr>
        <p:spPr>
          <a:xfrm>
            <a:off x="0" y="6632574"/>
            <a:ext cx="12192000" cy="23447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文本框 9">
            <a:extLst>
              <a:ext uri="{FF2B5EF4-FFF2-40B4-BE49-F238E27FC236}">
                <a16:creationId xmlns:a16="http://schemas.microsoft.com/office/drawing/2014/main" id="{FFDD9BF1-26C1-D8B1-4EF4-E6DFBF680AE0}"/>
              </a:ext>
            </a:extLst>
          </p:cNvPr>
          <p:cNvSpPr txBox="1"/>
          <p:nvPr/>
        </p:nvSpPr>
        <p:spPr>
          <a:xfrm>
            <a:off x="4310896" y="5721158"/>
            <a:ext cx="3570209" cy="461665"/>
          </a:xfrm>
          <a:prstGeom prst="rect">
            <a:avLst/>
          </a:prstGeom>
          <a:noFill/>
        </p:spPr>
        <p:txBody>
          <a:bodyPr wrap="none">
            <a:spAutoFit/>
          </a:bodyPr>
          <a:lstStyle/>
          <a:p>
            <a:pPr algn="ctr">
              <a:defRPr/>
            </a:pPr>
            <a:r>
              <a:rPr lang="zh-CN" altLang="en-US" sz="2400" dirty="0">
                <a:ln w="0"/>
                <a:solidFill>
                  <a:prstClr val="black"/>
                </a:solidFill>
                <a:latin typeface="微软雅黑" panose="020B0503020204020204" pitchFamily="34" charset="-122"/>
                <a:ea typeface="微软雅黑" panose="020B0503020204020204" pitchFamily="34" charset="-122"/>
              </a:rPr>
              <a:t>自然科学研究重点实验室</a:t>
            </a:r>
          </a:p>
        </p:txBody>
      </p:sp>
    </p:spTree>
    <p:extLst>
      <p:ext uri="{BB962C8B-B14F-4D97-AF65-F5344CB8AC3E}">
        <p14:creationId xmlns:p14="http://schemas.microsoft.com/office/powerpoint/2010/main" val="2883745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89">
            <a:extLst>
              <a:ext uri="{FF2B5EF4-FFF2-40B4-BE49-F238E27FC236}">
                <a16:creationId xmlns:a16="http://schemas.microsoft.com/office/drawing/2014/main" id="{E9CAE631-11B1-6B01-385A-60C92A6A83B3}"/>
              </a:ext>
            </a:extLst>
          </p:cNvPr>
          <p:cNvPicPr>
            <a:picLocks noChangeAspect="1"/>
          </p:cNvPicPr>
          <p:nvPr/>
        </p:nvPicPr>
        <p:blipFill>
          <a:blip r:embed="rId7">
            <a:alphaModFix amt="60000"/>
          </a:blip>
          <a:stretch>
            <a:fillRect/>
          </a:stretch>
        </p:blipFill>
        <p:spPr>
          <a:xfrm rot="10800000">
            <a:off x="-8340" y="1"/>
            <a:ext cx="12200340" cy="2868908"/>
          </a:xfrm>
          <a:prstGeom prst="rect">
            <a:avLst/>
          </a:prstGeom>
        </p:spPr>
      </p:pic>
      <p:pic>
        <p:nvPicPr>
          <p:cNvPr id="45" name="图片 44">
            <a:extLst>
              <a:ext uri="{FF2B5EF4-FFF2-40B4-BE49-F238E27FC236}">
                <a16:creationId xmlns:a16="http://schemas.microsoft.com/office/drawing/2014/main" id="{9C7262D3-C5E7-98B9-085E-5298B67D1C9A}"/>
              </a:ext>
            </a:extLst>
          </p:cNvPr>
          <p:cNvPicPr>
            <a:picLocks noChangeAspect="1"/>
          </p:cNvPicPr>
          <p:nvPr/>
        </p:nvPicPr>
        <p:blipFill rotWithShape="1">
          <a:blip r:embed="rId8"/>
          <a:srcRect r="16168"/>
          <a:stretch/>
        </p:blipFill>
        <p:spPr>
          <a:xfrm flipH="1">
            <a:off x="0" y="4270329"/>
            <a:ext cx="12192000" cy="2600960"/>
          </a:xfrm>
          <a:prstGeom prst="rect">
            <a:avLst/>
          </a:prstGeom>
        </p:spPr>
      </p:pic>
      <p:sp>
        <p:nvSpPr>
          <p:cNvPr id="46" name="矩形: 圆角 45">
            <a:extLst>
              <a:ext uri="{FF2B5EF4-FFF2-40B4-BE49-F238E27FC236}">
                <a16:creationId xmlns:a16="http://schemas.microsoft.com/office/drawing/2014/main" id="{8850DB52-E07B-E457-2D16-03191921B357}"/>
              </a:ext>
            </a:extLst>
          </p:cNvPr>
          <p:cNvSpPr/>
          <p:nvPr/>
        </p:nvSpPr>
        <p:spPr>
          <a:xfrm flipH="1">
            <a:off x="2579592" y="1079699"/>
            <a:ext cx="8422734" cy="5146730"/>
          </a:xfrm>
          <a:prstGeom prst="roundRect">
            <a:avLst>
              <a:gd name="adj" fmla="val 841"/>
            </a:avLst>
          </a:prstGeom>
          <a:gradFill flip="none" rotWithShape="1">
            <a:gsLst>
              <a:gs pos="25000">
                <a:schemeClr val="accent3"/>
              </a:gs>
              <a:gs pos="99083">
                <a:schemeClr val="bg1"/>
              </a:gs>
            </a:gsLst>
            <a:lin ang="5400000" scaled="1"/>
            <a:tileRect/>
          </a:gradFill>
          <a:ln w="3175" cap="flat" cmpd="sng" algn="ctr">
            <a:gradFill flip="none" rotWithShape="1">
              <a:gsLst>
                <a:gs pos="0">
                  <a:schemeClr val="accent3"/>
                </a:gs>
                <a:gs pos="100000">
                  <a:schemeClr val="accent1"/>
                </a:gs>
              </a:gsLst>
              <a:lin ang="10800000" scaled="1"/>
              <a:tileRect/>
            </a:gradFill>
            <a:prstDash val="solid"/>
            <a:miter lim="800000"/>
          </a:ln>
          <a:effectLst>
            <a:outerShdw blurRad="304800" sx="102000" sy="102000" algn="ctr" rotWithShape="0">
              <a:srgbClr val="0B4FA1">
                <a:lumMod val="20000"/>
                <a:lumOff val="80000"/>
                <a:alpha val="16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47" name="矩形: 圆角 46">
            <a:extLst>
              <a:ext uri="{FF2B5EF4-FFF2-40B4-BE49-F238E27FC236}">
                <a16:creationId xmlns:a16="http://schemas.microsoft.com/office/drawing/2014/main" id="{A03CD020-8E49-BC23-82FE-80B9ABCA3972}"/>
              </a:ext>
            </a:extLst>
          </p:cNvPr>
          <p:cNvSpPr/>
          <p:nvPr/>
        </p:nvSpPr>
        <p:spPr>
          <a:xfrm>
            <a:off x="-100120" y="-79828"/>
            <a:ext cx="4207663" cy="7017657"/>
          </a:xfrm>
          <a:prstGeom prst="roundRect">
            <a:avLst>
              <a:gd name="adj" fmla="val 0"/>
            </a:avLst>
          </a:prstGeom>
          <a:gradFill>
            <a:gsLst>
              <a:gs pos="0">
                <a:schemeClr val="accent1"/>
              </a:gs>
              <a:gs pos="100000">
                <a:schemeClr val="accent2">
                  <a:lumMod val="50000"/>
                </a:schemeClr>
              </a:gs>
            </a:gsLst>
            <a:lin ang="5400000" scaled="1"/>
          </a:gradFill>
          <a:ln w="19050" cap="flat" cmpd="sng" algn="ctr">
            <a:solidFill>
              <a:sysClr val="window" lastClr="FFFFFF"/>
            </a:solidFill>
            <a:prstDash val="solid"/>
            <a:miter lim="800000"/>
          </a:ln>
          <a:effectLst>
            <a:outerShdw blurRad="165100" dist="38100" dir="2700000" algn="tl" rotWithShape="0">
              <a:sysClr val="window" lastClr="FFFFFF">
                <a:lumMod val="85000"/>
                <a:alpha val="35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grpSp>
        <p:nvGrpSpPr>
          <p:cNvPr id="48" name="组合 47">
            <a:extLst>
              <a:ext uri="{FF2B5EF4-FFF2-40B4-BE49-F238E27FC236}">
                <a16:creationId xmlns:a16="http://schemas.microsoft.com/office/drawing/2014/main" id="{2075B5A1-8EA3-C140-6558-7D305793ECD4}"/>
              </a:ext>
            </a:extLst>
          </p:cNvPr>
          <p:cNvGrpSpPr/>
          <p:nvPr/>
        </p:nvGrpSpPr>
        <p:grpSpPr>
          <a:xfrm>
            <a:off x="4866627" y="1421463"/>
            <a:ext cx="5384517" cy="747324"/>
            <a:chOff x="4874973" y="1293731"/>
            <a:chExt cx="5384517" cy="747324"/>
          </a:xfrm>
        </p:grpSpPr>
        <p:sp>
          <p:nvSpPr>
            <p:cNvPr id="49" name="PA-圆角矩形 5824">
              <a:extLst>
                <a:ext uri="{FF2B5EF4-FFF2-40B4-BE49-F238E27FC236}">
                  <a16:creationId xmlns:a16="http://schemas.microsoft.com/office/drawing/2014/main" id="{97A53DB7-BAA8-AAC0-903F-78EFA2529DE9}"/>
                </a:ext>
              </a:extLst>
            </p:cNvPr>
            <p:cNvSpPr/>
            <p:nvPr>
              <p:custDataLst>
                <p:tags r:id="rId5"/>
              </p:custDataLst>
            </p:nvPr>
          </p:nvSpPr>
          <p:spPr>
            <a:xfrm>
              <a:off x="4874973" y="1350313"/>
              <a:ext cx="5384517" cy="690742"/>
            </a:xfrm>
            <a:prstGeom prst="roundRect">
              <a:avLst>
                <a:gd name="adj" fmla="val 4123"/>
              </a:avLst>
            </a:prstGeom>
            <a:solidFill>
              <a:schemeClr val="accent1"/>
            </a:solidFill>
            <a:ln w="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50" name="组合 49">
              <a:extLst>
                <a:ext uri="{FF2B5EF4-FFF2-40B4-BE49-F238E27FC236}">
                  <a16:creationId xmlns:a16="http://schemas.microsoft.com/office/drawing/2014/main" id="{67CC0FB4-A977-6105-2E34-7E7F25DC6E0C}"/>
                </a:ext>
              </a:extLst>
            </p:cNvPr>
            <p:cNvGrpSpPr/>
            <p:nvPr/>
          </p:nvGrpSpPr>
          <p:grpSpPr>
            <a:xfrm>
              <a:off x="5124372" y="1293731"/>
              <a:ext cx="4885719" cy="746522"/>
              <a:chOff x="5220820" y="1308122"/>
              <a:chExt cx="4633253" cy="746522"/>
            </a:xfrm>
          </p:grpSpPr>
          <p:cxnSp>
            <p:nvCxnSpPr>
              <p:cNvPr id="51" name="直接连接符 50">
                <a:extLst>
                  <a:ext uri="{FF2B5EF4-FFF2-40B4-BE49-F238E27FC236}">
                    <a16:creationId xmlns:a16="http://schemas.microsoft.com/office/drawing/2014/main" id="{A284F074-C6D5-7033-8336-D70A9D53D6EF}"/>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52" name="矩形 51">
                <a:extLst>
                  <a:ext uri="{FF2B5EF4-FFF2-40B4-BE49-F238E27FC236}">
                    <a16:creationId xmlns:a16="http://schemas.microsoft.com/office/drawing/2014/main" id="{55DA4B51-29E0-1486-4901-A69DAAC1270A}"/>
                  </a:ext>
                </a:extLst>
              </p:cNvPr>
              <p:cNvSpPr/>
              <p:nvPr/>
            </p:nvSpPr>
            <p:spPr>
              <a:xfrm>
                <a:off x="6267875" y="1428373"/>
                <a:ext cx="3586198" cy="550136"/>
              </a:xfrm>
              <a:prstGeom prst="rect">
                <a:avLst/>
              </a:prstGeom>
            </p:spPr>
            <p:txBody>
              <a:bodyPr wrap="square" lIns="68499" tIns="34251" rIns="68499" bIns="34251" anchor="ctr">
                <a:spAutoFit/>
              </a:bodyPr>
              <a:lstStyle/>
              <a:p>
                <a:pPr marL="0" marR="0" lvl="0" indent="0" defTabSz="514350" eaLnBrk="1" fontAlgn="auto" latinLnBrk="0" hangingPunct="1">
                  <a:lnSpc>
                    <a:spcPct val="120000"/>
                  </a:lnSpc>
                  <a:spcBef>
                    <a:spcPts val="0"/>
                  </a:spcBef>
                  <a:spcAft>
                    <a:spcPts val="0"/>
                  </a:spcAft>
                  <a:buClr>
                    <a:srgbClr val="6EC8AA"/>
                  </a:buClr>
                  <a:buSzTx/>
                  <a:buFontTx/>
                  <a:buNone/>
                  <a:tabLst/>
                  <a:defRPr/>
                </a:pPr>
                <a:r>
                  <a:rPr kumimoji="0" lang="zh-CN" altLang="en-US" sz="2800" b="1" i="0" u="none" strike="noStrike" kern="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微软雅黑" panose="020B0503020204020204" pitchFamily="34" charset="-122"/>
                    <a:ea typeface="微软雅黑" panose="020B0503020204020204" pitchFamily="34" charset="-122"/>
                    <a:cs typeface="+mn-ea"/>
                  </a:rPr>
                  <a:t>项目背景与研究现状</a:t>
                </a:r>
              </a:p>
            </p:txBody>
          </p:sp>
          <p:sp>
            <p:nvSpPr>
              <p:cNvPr id="53" name="标题占位符 27">
                <a:extLst>
                  <a:ext uri="{FF2B5EF4-FFF2-40B4-BE49-F238E27FC236}">
                    <a16:creationId xmlns:a16="http://schemas.microsoft.com/office/drawing/2014/main" id="{B42CD262-5953-A448-F38F-35E2E40A78ED}"/>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2200" kern="1200">
                    <a:solidFill>
                      <a:srgbClr val="D7000F"/>
                    </a:solidFill>
                    <a:latin typeface="+mj-ea"/>
                    <a:ea typeface="+mj-ea"/>
                    <a:cs typeface="+mj-cs"/>
                  </a:defRPr>
                </a:lvl1pPr>
              </a:lstStyle>
              <a:p>
                <a:pPr marL="0" marR="0" lvl="0" indent="0" algn="ctr" defTabSz="685800" rtl="0" eaLnBrk="1" fontAlgn="auto" latinLnBrk="0" hangingPunct="1">
                  <a:lnSpc>
                    <a:spcPct val="120000"/>
                  </a:lnSpc>
                  <a:spcBef>
                    <a:spcPct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Arial" panose="020B0604020202020204" pitchFamily="34" charset="0"/>
                    <a:ea typeface="微软雅黑" panose="020B0503020204020204" pitchFamily="34" charset="-122"/>
                    <a:cs typeface="+mj-cs"/>
                  </a:rPr>
                  <a:t>01</a:t>
                </a:r>
                <a:endParaRPr kumimoji="0" lang="en-US" altLang="zh-CN" sz="4400" b="1" i="0" u="none" strike="noStrike" kern="120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Arial" panose="020B0604020202020204" pitchFamily="34" charset="0"/>
                  <a:ea typeface="微软雅黑" panose="020B0503020204020204" pitchFamily="34" charset="-122"/>
                  <a:cs typeface="+mj-cs"/>
                </a:endParaRPr>
              </a:p>
            </p:txBody>
          </p:sp>
        </p:grpSp>
      </p:grpSp>
      <p:grpSp>
        <p:nvGrpSpPr>
          <p:cNvPr id="54" name="组合 53">
            <a:extLst>
              <a:ext uri="{FF2B5EF4-FFF2-40B4-BE49-F238E27FC236}">
                <a16:creationId xmlns:a16="http://schemas.microsoft.com/office/drawing/2014/main" id="{8BACE6A6-5BB8-1F47-A1C7-FF1BFF42128F}"/>
              </a:ext>
            </a:extLst>
          </p:cNvPr>
          <p:cNvGrpSpPr/>
          <p:nvPr/>
        </p:nvGrpSpPr>
        <p:grpSpPr>
          <a:xfrm>
            <a:off x="4866627" y="2348432"/>
            <a:ext cx="5384517" cy="747324"/>
            <a:chOff x="4874973" y="1293731"/>
            <a:chExt cx="5384517" cy="747324"/>
          </a:xfrm>
        </p:grpSpPr>
        <p:sp>
          <p:nvSpPr>
            <p:cNvPr id="55" name="PA-圆角矩形 5824">
              <a:extLst>
                <a:ext uri="{FF2B5EF4-FFF2-40B4-BE49-F238E27FC236}">
                  <a16:creationId xmlns:a16="http://schemas.microsoft.com/office/drawing/2014/main" id="{FEBFA8E8-8406-F7EC-EDA0-B2CB91888460}"/>
                </a:ext>
              </a:extLst>
            </p:cNvPr>
            <p:cNvSpPr/>
            <p:nvPr>
              <p:custDataLst>
                <p:tags r:id="rId4"/>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56" name="组合 55">
              <a:extLst>
                <a:ext uri="{FF2B5EF4-FFF2-40B4-BE49-F238E27FC236}">
                  <a16:creationId xmlns:a16="http://schemas.microsoft.com/office/drawing/2014/main" id="{C2E521D8-A37A-97AD-A065-9D5BA2FADAD9}"/>
                </a:ext>
              </a:extLst>
            </p:cNvPr>
            <p:cNvGrpSpPr/>
            <p:nvPr/>
          </p:nvGrpSpPr>
          <p:grpSpPr>
            <a:xfrm>
              <a:off x="5124372" y="1293731"/>
              <a:ext cx="4885719" cy="746522"/>
              <a:chOff x="5220820" y="1308122"/>
              <a:chExt cx="4633253" cy="746522"/>
            </a:xfrm>
          </p:grpSpPr>
          <p:cxnSp>
            <p:nvCxnSpPr>
              <p:cNvPr id="57" name="直接连接符 56">
                <a:extLst>
                  <a:ext uri="{FF2B5EF4-FFF2-40B4-BE49-F238E27FC236}">
                    <a16:creationId xmlns:a16="http://schemas.microsoft.com/office/drawing/2014/main" id="{494B665A-0B14-6079-0EA2-EA96330CCB61}"/>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58" name="矩形 57">
                <a:extLst>
                  <a:ext uri="{FF2B5EF4-FFF2-40B4-BE49-F238E27FC236}">
                    <a16:creationId xmlns:a16="http://schemas.microsoft.com/office/drawing/2014/main" id="{B528DCA6-688F-2EC2-45C4-3B0680A1F19F}"/>
                  </a:ext>
                </a:extLst>
              </p:cNvPr>
              <p:cNvSpPr/>
              <p:nvPr/>
            </p:nvSpPr>
            <p:spPr>
              <a:xfrm>
                <a:off x="6267875" y="1428373"/>
                <a:ext cx="3586198" cy="550136"/>
              </a:xfrm>
              <a:prstGeom prst="rect">
                <a:avLst/>
              </a:prstGeom>
            </p:spPr>
            <p:txBody>
              <a:bodyPr wrap="square" lIns="68499" tIns="34251" rIns="68499" bIns="34251" anchor="ctr">
                <a:spAutoFit/>
              </a:bodyPr>
              <a:lstStyle/>
              <a:p>
                <a:pPr marL="0" marR="0" lvl="0" indent="0" defTabSz="514350" eaLnBrk="1" fontAlgn="auto" latinLnBrk="0" hangingPunct="1">
                  <a:lnSpc>
                    <a:spcPct val="120000"/>
                  </a:lnSpc>
                  <a:spcBef>
                    <a:spcPts val="0"/>
                  </a:spcBef>
                  <a:spcAft>
                    <a:spcPts val="0"/>
                  </a:spcAft>
                  <a:buClr>
                    <a:srgbClr val="6EC8AA"/>
                  </a:buClr>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课题分解与研究内容</a:t>
                </a:r>
              </a:p>
            </p:txBody>
          </p:sp>
          <p:sp>
            <p:nvSpPr>
              <p:cNvPr id="59" name="标题占位符 27">
                <a:extLst>
                  <a:ext uri="{FF2B5EF4-FFF2-40B4-BE49-F238E27FC236}">
                    <a16:creationId xmlns:a16="http://schemas.microsoft.com/office/drawing/2014/main" id="{BB8E6F84-8606-0F4E-54D6-4698755378AA}"/>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02</a:t>
                </a:r>
              </a:p>
            </p:txBody>
          </p:sp>
        </p:grpSp>
      </p:grpSp>
      <p:grpSp>
        <p:nvGrpSpPr>
          <p:cNvPr id="60" name="组合 59">
            <a:extLst>
              <a:ext uri="{FF2B5EF4-FFF2-40B4-BE49-F238E27FC236}">
                <a16:creationId xmlns:a16="http://schemas.microsoft.com/office/drawing/2014/main" id="{D8702272-84E0-6B6F-E959-B91E5B3FE887}"/>
              </a:ext>
            </a:extLst>
          </p:cNvPr>
          <p:cNvGrpSpPr/>
          <p:nvPr/>
        </p:nvGrpSpPr>
        <p:grpSpPr>
          <a:xfrm>
            <a:off x="4866627" y="3275401"/>
            <a:ext cx="5384517" cy="747324"/>
            <a:chOff x="4874973" y="1293731"/>
            <a:chExt cx="5384517" cy="747324"/>
          </a:xfrm>
        </p:grpSpPr>
        <p:sp>
          <p:nvSpPr>
            <p:cNvPr id="61" name="PA-圆角矩形 5824">
              <a:extLst>
                <a:ext uri="{FF2B5EF4-FFF2-40B4-BE49-F238E27FC236}">
                  <a16:creationId xmlns:a16="http://schemas.microsoft.com/office/drawing/2014/main" id="{14FA4A3C-392E-F489-D2CA-49C218B8F847}"/>
                </a:ext>
              </a:extLst>
            </p:cNvPr>
            <p:cNvSpPr/>
            <p:nvPr>
              <p:custDataLst>
                <p:tags r:id="rId3"/>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algn="ctr"/>
              <a:endParaRPr lang="zh-CN" altLang="en-US" sz="1350" b="1" kern="0" dirty="0">
                <a:solidFill>
                  <a:prstClr val="white"/>
                </a:solidFill>
                <a:latin typeface="微软雅黑" panose="020B0503020204020204" pitchFamily="34" charset="-122"/>
                <a:ea typeface="微软雅黑" panose="020B0503020204020204" pitchFamily="34" charset="-122"/>
              </a:endParaRPr>
            </a:p>
          </p:txBody>
        </p:sp>
        <p:grpSp>
          <p:nvGrpSpPr>
            <p:cNvPr id="62" name="组合 61">
              <a:extLst>
                <a:ext uri="{FF2B5EF4-FFF2-40B4-BE49-F238E27FC236}">
                  <a16:creationId xmlns:a16="http://schemas.microsoft.com/office/drawing/2014/main" id="{0733EA0C-62D1-99E8-6C6C-8AD6C17214B4}"/>
                </a:ext>
              </a:extLst>
            </p:cNvPr>
            <p:cNvGrpSpPr/>
            <p:nvPr/>
          </p:nvGrpSpPr>
          <p:grpSpPr>
            <a:xfrm>
              <a:off x="5124372" y="1293731"/>
              <a:ext cx="4885719" cy="746522"/>
              <a:chOff x="5220820" y="1308122"/>
              <a:chExt cx="4633253" cy="746522"/>
            </a:xfrm>
          </p:grpSpPr>
          <p:cxnSp>
            <p:nvCxnSpPr>
              <p:cNvPr id="63" name="直接连接符 62">
                <a:extLst>
                  <a:ext uri="{FF2B5EF4-FFF2-40B4-BE49-F238E27FC236}">
                    <a16:creationId xmlns:a16="http://schemas.microsoft.com/office/drawing/2014/main" id="{17C31866-82D3-EAEE-A81D-FB6B2A07D4A4}"/>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64" name="矩形 63">
                <a:extLst>
                  <a:ext uri="{FF2B5EF4-FFF2-40B4-BE49-F238E27FC236}">
                    <a16:creationId xmlns:a16="http://schemas.microsoft.com/office/drawing/2014/main" id="{2B79F03A-2F00-0381-CAA5-E3421FB7EF9E}"/>
                  </a:ext>
                </a:extLst>
              </p:cNvPr>
              <p:cNvSpPr/>
              <p:nvPr/>
            </p:nvSpPr>
            <p:spPr>
              <a:xfrm>
                <a:off x="6267875" y="1453412"/>
                <a:ext cx="3586198" cy="500058"/>
              </a:xfrm>
              <a:prstGeom prst="rect">
                <a:avLst/>
              </a:prstGeom>
            </p:spPr>
            <p:txBody>
              <a:bodyPr wrap="square" lIns="68499" tIns="34251" rIns="68499" bIns="34251"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任务分解与进度安排</a:t>
                </a:r>
              </a:p>
            </p:txBody>
          </p:sp>
          <p:sp>
            <p:nvSpPr>
              <p:cNvPr id="65" name="标题占位符 27">
                <a:extLst>
                  <a:ext uri="{FF2B5EF4-FFF2-40B4-BE49-F238E27FC236}">
                    <a16:creationId xmlns:a16="http://schemas.microsoft.com/office/drawing/2014/main" id="{4692B76A-417A-5F95-019F-4B8ECB694772}"/>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03</a:t>
                </a:r>
              </a:p>
            </p:txBody>
          </p:sp>
        </p:grpSp>
      </p:grpSp>
      <p:grpSp>
        <p:nvGrpSpPr>
          <p:cNvPr id="66" name="组合 65">
            <a:extLst>
              <a:ext uri="{FF2B5EF4-FFF2-40B4-BE49-F238E27FC236}">
                <a16:creationId xmlns:a16="http://schemas.microsoft.com/office/drawing/2014/main" id="{A85FC275-0468-7B2C-4F40-8D545F69CE5D}"/>
              </a:ext>
            </a:extLst>
          </p:cNvPr>
          <p:cNvGrpSpPr/>
          <p:nvPr/>
        </p:nvGrpSpPr>
        <p:grpSpPr>
          <a:xfrm>
            <a:off x="4866627" y="4202370"/>
            <a:ext cx="5384517" cy="747324"/>
            <a:chOff x="4874973" y="1293731"/>
            <a:chExt cx="5384517" cy="747324"/>
          </a:xfrm>
        </p:grpSpPr>
        <p:sp>
          <p:nvSpPr>
            <p:cNvPr id="67" name="PA-圆角矩形 5824">
              <a:extLst>
                <a:ext uri="{FF2B5EF4-FFF2-40B4-BE49-F238E27FC236}">
                  <a16:creationId xmlns:a16="http://schemas.microsoft.com/office/drawing/2014/main" id="{13BAD14B-9D8E-AD64-67DA-223C45B514CA}"/>
                </a:ext>
              </a:extLst>
            </p:cNvPr>
            <p:cNvSpPr/>
            <p:nvPr>
              <p:custDataLst>
                <p:tags r:id="rId2"/>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algn="ctr"/>
              <a:endParaRPr lang="zh-CN" altLang="en-US" sz="1350" b="1" kern="0" dirty="0">
                <a:solidFill>
                  <a:prstClr val="white"/>
                </a:solidFill>
                <a:latin typeface="微软雅黑" panose="020B0503020204020204" pitchFamily="34" charset="-122"/>
                <a:ea typeface="微软雅黑" panose="020B0503020204020204" pitchFamily="34" charset="-122"/>
              </a:endParaRPr>
            </a:p>
          </p:txBody>
        </p:sp>
        <p:grpSp>
          <p:nvGrpSpPr>
            <p:cNvPr id="68" name="组合 67">
              <a:extLst>
                <a:ext uri="{FF2B5EF4-FFF2-40B4-BE49-F238E27FC236}">
                  <a16:creationId xmlns:a16="http://schemas.microsoft.com/office/drawing/2014/main" id="{951756C6-F51E-9B9D-2177-0ADD004EC199}"/>
                </a:ext>
              </a:extLst>
            </p:cNvPr>
            <p:cNvGrpSpPr/>
            <p:nvPr/>
          </p:nvGrpSpPr>
          <p:grpSpPr>
            <a:xfrm>
              <a:off x="5124372" y="1293731"/>
              <a:ext cx="4885719" cy="746522"/>
              <a:chOff x="5220820" y="1308122"/>
              <a:chExt cx="4633253" cy="746522"/>
            </a:xfrm>
          </p:grpSpPr>
          <p:cxnSp>
            <p:nvCxnSpPr>
              <p:cNvPr id="69" name="直接连接符 68">
                <a:extLst>
                  <a:ext uri="{FF2B5EF4-FFF2-40B4-BE49-F238E27FC236}">
                    <a16:creationId xmlns:a16="http://schemas.microsoft.com/office/drawing/2014/main" id="{C6812289-70B4-7198-196C-DDBAFC27EAE2}"/>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70" name="矩形 69">
                <a:extLst>
                  <a:ext uri="{FF2B5EF4-FFF2-40B4-BE49-F238E27FC236}">
                    <a16:creationId xmlns:a16="http://schemas.microsoft.com/office/drawing/2014/main" id="{73AB15A1-7629-AB0B-8C46-DCC90380FFBD}"/>
                  </a:ext>
                </a:extLst>
              </p:cNvPr>
              <p:cNvSpPr/>
              <p:nvPr/>
            </p:nvSpPr>
            <p:spPr>
              <a:xfrm>
                <a:off x="6267875" y="1453412"/>
                <a:ext cx="3586198" cy="500058"/>
              </a:xfrm>
              <a:prstGeom prst="rect">
                <a:avLst/>
              </a:prstGeom>
            </p:spPr>
            <p:txBody>
              <a:bodyPr wrap="square" lIns="68499" tIns="34251" rIns="68499" bIns="34251"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研发团队与工作基础</a:t>
                </a:r>
              </a:p>
            </p:txBody>
          </p:sp>
          <p:sp>
            <p:nvSpPr>
              <p:cNvPr id="71" name="标题占位符 27">
                <a:extLst>
                  <a:ext uri="{FF2B5EF4-FFF2-40B4-BE49-F238E27FC236}">
                    <a16:creationId xmlns:a16="http://schemas.microsoft.com/office/drawing/2014/main" id="{564A85F3-0338-1680-DA01-D208708734BB}"/>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04</a:t>
                </a:r>
              </a:p>
            </p:txBody>
          </p:sp>
        </p:grpSp>
      </p:grpSp>
      <p:pic>
        <p:nvPicPr>
          <p:cNvPr id="72" name="图片 71">
            <a:extLst>
              <a:ext uri="{FF2B5EF4-FFF2-40B4-BE49-F238E27FC236}">
                <a16:creationId xmlns:a16="http://schemas.microsoft.com/office/drawing/2014/main" id="{9EEBD94C-B44D-2A8B-AC9A-D4C40C3FAC2A}"/>
              </a:ext>
            </a:extLst>
          </p:cNvPr>
          <p:cNvPicPr>
            <a:picLocks noChangeAspect="1"/>
          </p:cNvPicPr>
          <p:nvPr/>
        </p:nvPicPr>
        <p:blipFill rotWithShape="1">
          <a:blip r:embed="rId9">
            <a:alphaModFix amt="7000"/>
            <a:extLst>
              <a:ext uri="{28A0092B-C50C-407E-A947-70E740481C1C}">
                <a14:useLocalDpi xmlns:a14="http://schemas.microsoft.com/office/drawing/2010/main" val="0"/>
              </a:ext>
            </a:extLst>
          </a:blip>
          <a:srcRect l="29460" r="29859"/>
          <a:stretch/>
        </p:blipFill>
        <p:spPr>
          <a:xfrm>
            <a:off x="-79458" y="-79829"/>
            <a:ext cx="4215566" cy="7017657"/>
          </a:xfrm>
          <a:prstGeom prst="rect">
            <a:avLst/>
          </a:prstGeom>
        </p:spPr>
      </p:pic>
      <p:grpSp>
        <p:nvGrpSpPr>
          <p:cNvPr id="73" name="组合 72">
            <a:extLst>
              <a:ext uri="{FF2B5EF4-FFF2-40B4-BE49-F238E27FC236}">
                <a16:creationId xmlns:a16="http://schemas.microsoft.com/office/drawing/2014/main" id="{F10A3A7F-8E83-4014-E614-25C9E95EE201}"/>
              </a:ext>
            </a:extLst>
          </p:cNvPr>
          <p:cNvGrpSpPr/>
          <p:nvPr/>
        </p:nvGrpSpPr>
        <p:grpSpPr>
          <a:xfrm>
            <a:off x="4866627" y="5129338"/>
            <a:ext cx="5384517" cy="747324"/>
            <a:chOff x="4874973" y="1293731"/>
            <a:chExt cx="5384517" cy="747324"/>
          </a:xfrm>
        </p:grpSpPr>
        <p:sp>
          <p:nvSpPr>
            <p:cNvPr id="74" name="PA-圆角矩形 5824">
              <a:extLst>
                <a:ext uri="{FF2B5EF4-FFF2-40B4-BE49-F238E27FC236}">
                  <a16:creationId xmlns:a16="http://schemas.microsoft.com/office/drawing/2014/main" id="{95943574-BE53-23A2-FDFD-5F088519B918}"/>
                </a:ext>
              </a:extLst>
            </p:cNvPr>
            <p:cNvSpPr/>
            <p:nvPr>
              <p:custDataLst>
                <p:tags r:id="rId1"/>
              </p:custDataLst>
            </p:nvPr>
          </p:nvSpPr>
          <p:spPr>
            <a:xfrm>
              <a:off x="4874973" y="1350313"/>
              <a:ext cx="5384517" cy="690742"/>
            </a:xfrm>
            <a:prstGeom prst="roundRect">
              <a:avLst>
                <a:gd name="adj" fmla="val 4123"/>
              </a:avLst>
            </a:prstGeom>
            <a:solidFill>
              <a:schemeClr val="bg1"/>
            </a:solidFill>
            <a:ln w="0" cap="flat" cmpd="sng" algn="ctr">
              <a:solidFill>
                <a:schemeClr val="bg2"/>
              </a:solidFill>
              <a:prstDash val="solid"/>
              <a:miter lim="800000"/>
            </a:ln>
            <a:effectLst/>
          </p:spPr>
          <p:txBody>
            <a:bodyPr rtlCol="0" anchor="ctr"/>
            <a:lstStyle/>
            <a:p>
              <a:pPr algn="ctr"/>
              <a:endParaRPr lang="zh-CN" altLang="en-US" sz="1350" b="1" kern="0" dirty="0">
                <a:solidFill>
                  <a:prstClr val="white"/>
                </a:solidFill>
                <a:latin typeface="微软雅黑" panose="020B0503020204020204" pitchFamily="34" charset="-122"/>
                <a:ea typeface="微软雅黑" panose="020B0503020204020204" pitchFamily="34" charset="-122"/>
              </a:endParaRPr>
            </a:p>
          </p:txBody>
        </p:sp>
        <p:grpSp>
          <p:nvGrpSpPr>
            <p:cNvPr id="75" name="组合 74">
              <a:extLst>
                <a:ext uri="{FF2B5EF4-FFF2-40B4-BE49-F238E27FC236}">
                  <a16:creationId xmlns:a16="http://schemas.microsoft.com/office/drawing/2014/main" id="{F5AB95B1-3191-5CD6-6A7A-4EA4DC499377}"/>
                </a:ext>
              </a:extLst>
            </p:cNvPr>
            <p:cNvGrpSpPr/>
            <p:nvPr/>
          </p:nvGrpSpPr>
          <p:grpSpPr>
            <a:xfrm>
              <a:off x="5124372" y="1293731"/>
              <a:ext cx="4885719" cy="746522"/>
              <a:chOff x="5220820" y="1308122"/>
              <a:chExt cx="4633253" cy="746522"/>
            </a:xfrm>
          </p:grpSpPr>
          <p:cxnSp>
            <p:nvCxnSpPr>
              <p:cNvPr id="76" name="直接连接符 75">
                <a:extLst>
                  <a:ext uri="{FF2B5EF4-FFF2-40B4-BE49-F238E27FC236}">
                    <a16:creationId xmlns:a16="http://schemas.microsoft.com/office/drawing/2014/main" id="{5719E891-DECF-963B-4E78-C486DBBD4229}"/>
                  </a:ext>
                </a:extLst>
              </p:cNvPr>
              <p:cNvCxnSpPr>
                <a:cxnSpLocks/>
              </p:cNvCxnSpPr>
              <p:nvPr/>
            </p:nvCxnSpPr>
            <p:spPr>
              <a:xfrm>
                <a:off x="6138577" y="1462265"/>
                <a:ext cx="0" cy="482352"/>
              </a:xfrm>
              <a:prstGeom prst="line">
                <a:avLst/>
              </a:prstGeom>
              <a:noFill/>
              <a:ln w="9525" cap="flat" cmpd="sng" algn="ctr">
                <a:solidFill>
                  <a:sysClr val="window" lastClr="FFFFFF">
                    <a:lumMod val="85000"/>
                  </a:sysClr>
                </a:solidFill>
                <a:prstDash val="solid"/>
                <a:miter lim="800000"/>
              </a:ln>
              <a:effectLst/>
            </p:spPr>
          </p:cxnSp>
          <p:sp>
            <p:nvSpPr>
              <p:cNvPr id="77" name="矩形 76">
                <a:extLst>
                  <a:ext uri="{FF2B5EF4-FFF2-40B4-BE49-F238E27FC236}">
                    <a16:creationId xmlns:a16="http://schemas.microsoft.com/office/drawing/2014/main" id="{D8A625D4-E931-039E-B140-2104937F7432}"/>
                  </a:ext>
                </a:extLst>
              </p:cNvPr>
              <p:cNvSpPr/>
              <p:nvPr/>
            </p:nvSpPr>
            <p:spPr>
              <a:xfrm>
                <a:off x="6267875" y="1453412"/>
                <a:ext cx="3586198" cy="500058"/>
              </a:xfrm>
              <a:prstGeom prst="rect">
                <a:avLst/>
              </a:prstGeom>
            </p:spPr>
            <p:txBody>
              <a:bodyPr wrap="square" lIns="68499" tIns="34251" rIns="68499" bIns="34251"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lumMod val="85000"/>
                      </a:prstClr>
                    </a:solidFill>
                    <a:effectLst/>
                    <a:uLnTx/>
                    <a:uFillTx/>
                    <a:latin typeface="微软雅黑" panose="020B0503020204020204" pitchFamily="34" charset="-122"/>
                    <a:ea typeface="微软雅黑" panose="020B0503020204020204" pitchFamily="34" charset="-122"/>
                    <a:cs typeface="+mn-ea"/>
                  </a:rPr>
                  <a:t>预期成果与风险分析</a:t>
                </a:r>
              </a:p>
            </p:txBody>
          </p:sp>
          <p:sp>
            <p:nvSpPr>
              <p:cNvPr id="78" name="标题占位符 27">
                <a:extLst>
                  <a:ext uri="{FF2B5EF4-FFF2-40B4-BE49-F238E27FC236}">
                    <a16:creationId xmlns:a16="http://schemas.microsoft.com/office/drawing/2014/main" id="{2EADEA33-2133-578E-84C7-327ABC33CD51}"/>
                  </a:ext>
                </a:extLst>
              </p:cNvPr>
              <p:cNvSpPr txBox="1">
                <a:spLocks/>
              </p:cNvSpPr>
              <p:nvPr/>
            </p:nvSpPr>
            <p:spPr>
              <a:xfrm>
                <a:off x="5220820" y="1308122"/>
                <a:ext cx="872036" cy="746522"/>
              </a:xfrm>
              <a:prstGeom prst="rect">
                <a:avLst/>
              </a:prstGeom>
            </p:spPr>
            <p:txBody>
              <a:bodyPr vert="horz" lIns="68580" tIns="34290" rIns="68580" bIns="34290" rtlCol="0" anchor="ctr">
                <a:normAutofit/>
              </a:bodyPr>
              <a:lstStyle>
                <a:defPPr>
                  <a:defRPr lang="zh-CN"/>
                </a:defPPr>
                <a:lvl1pPr algn="ctr" defTabSz="685800">
                  <a:lnSpc>
                    <a:spcPct val="120000"/>
                  </a:lnSpc>
                  <a:spcBef>
                    <a:spcPct val="0"/>
                  </a:spcBef>
                  <a:buNone/>
                  <a:defRPr sz="4000">
                    <a:solidFill>
                      <a:schemeClr val="accent6"/>
                    </a:solidFill>
                    <a:latin typeface="+mj-lt"/>
                    <a:ea typeface="思源宋体 CN Heavy" panose="02020900000000000000" pitchFamily="18" charset="-122"/>
                    <a:cs typeface="+mj-cs"/>
                  </a:defRPr>
                </a:lvl1pPr>
              </a:lstStyle>
              <a:p>
                <a:pPr marL="0" marR="0" lvl="0" indent="0" algn="ctr" defTabSz="685800" eaLnBrk="1" fontAlgn="auto" latinLnBrk="0" hangingPunct="1">
                  <a:lnSpc>
                    <a:spcPct val="120000"/>
                  </a:lnSpc>
                  <a:spcBef>
                    <a:spcPct val="0"/>
                  </a:spcBef>
                  <a:spcAft>
                    <a:spcPts val="0"/>
                  </a:spcAft>
                  <a:buClrTx/>
                  <a:buSzTx/>
                  <a:buFontTx/>
                  <a:buNone/>
                  <a:tabLst/>
                  <a:defRPr/>
                </a:pPr>
                <a:r>
                  <a:rPr kumimoji="0" lang="en-US" altLang="zh-CN" sz="4000" b="1" i="0" u="none" strike="noStrike" kern="0" cap="none" spc="0" normalizeH="0" baseline="0" noProof="0" dirty="0">
                    <a:ln>
                      <a:noFill/>
                    </a:ln>
                    <a:solidFill>
                      <a:prstClr val="white">
                        <a:lumMod val="85000"/>
                      </a:prstClr>
                    </a:solidFill>
                    <a:effectLst/>
                    <a:uLnTx/>
                    <a:uFillTx/>
                    <a:latin typeface="Arial" panose="020B0604020202020204" pitchFamily="34" charset="0"/>
                    <a:ea typeface="微软雅黑" panose="020B0503020204020204" pitchFamily="34" charset="-122"/>
                    <a:cs typeface="+mj-cs"/>
                  </a:rPr>
                  <a:t>05</a:t>
                </a:r>
              </a:p>
            </p:txBody>
          </p:sp>
        </p:grpSp>
      </p:grpSp>
      <p:grpSp>
        <p:nvGrpSpPr>
          <p:cNvPr id="79" name="组合 78">
            <a:extLst>
              <a:ext uri="{FF2B5EF4-FFF2-40B4-BE49-F238E27FC236}">
                <a16:creationId xmlns:a16="http://schemas.microsoft.com/office/drawing/2014/main" id="{A880724A-D213-04F5-5924-6FFB3394C479}"/>
              </a:ext>
            </a:extLst>
          </p:cNvPr>
          <p:cNvGrpSpPr/>
          <p:nvPr/>
        </p:nvGrpSpPr>
        <p:grpSpPr>
          <a:xfrm>
            <a:off x="1142593" y="1199713"/>
            <a:ext cx="1384986" cy="4593613"/>
            <a:chOff x="1267368" y="1564791"/>
            <a:chExt cx="1124127" cy="3728416"/>
          </a:xfrm>
        </p:grpSpPr>
        <p:grpSp>
          <p:nvGrpSpPr>
            <p:cNvPr id="80" name="组合 79">
              <a:extLst>
                <a:ext uri="{FF2B5EF4-FFF2-40B4-BE49-F238E27FC236}">
                  <a16:creationId xmlns:a16="http://schemas.microsoft.com/office/drawing/2014/main" id="{A7CF90BC-AD78-6A18-1081-6DE8AEDED568}"/>
                </a:ext>
              </a:extLst>
            </p:cNvPr>
            <p:cNvGrpSpPr/>
            <p:nvPr/>
          </p:nvGrpSpPr>
          <p:grpSpPr>
            <a:xfrm>
              <a:off x="1267368" y="1564791"/>
              <a:ext cx="1097439" cy="3728416"/>
              <a:chOff x="2430187" y="1489115"/>
              <a:chExt cx="1097439" cy="3728416"/>
            </a:xfrm>
          </p:grpSpPr>
          <p:sp>
            <p:nvSpPr>
              <p:cNvPr id="82" name="文本框 81">
                <a:extLst>
                  <a:ext uri="{FF2B5EF4-FFF2-40B4-BE49-F238E27FC236}">
                    <a16:creationId xmlns:a16="http://schemas.microsoft.com/office/drawing/2014/main" id="{14884942-1DA1-A612-FCF1-B5011D606609}"/>
                  </a:ext>
                </a:extLst>
              </p:cNvPr>
              <p:cNvSpPr txBox="1"/>
              <p:nvPr/>
            </p:nvSpPr>
            <p:spPr>
              <a:xfrm rot="5400000">
                <a:off x="1260788" y="3523537"/>
                <a:ext cx="2863393" cy="524596"/>
              </a:xfrm>
              <a:prstGeom prst="rect">
                <a:avLst/>
              </a:prstGeom>
              <a:noFill/>
            </p:spPr>
            <p:txBody>
              <a:bodyPr vert="horz" wrap="square">
                <a:spAutoFit/>
              </a:bodyPr>
              <a:lstStyle/>
              <a:p>
                <a:pPr marL="0" marR="0" lvl="0" indent="0" algn="dist" defTabSz="914400" eaLnBrk="1" fontAlgn="auto" latinLnBrk="0" hangingPunct="1">
                  <a:lnSpc>
                    <a:spcPct val="100000"/>
                  </a:lnSpc>
                  <a:spcBef>
                    <a:spcPts val="0"/>
                  </a:spcBef>
                  <a:spcAft>
                    <a:spcPts val="0"/>
                  </a:spcAft>
                  <a:buClrTx/>
                  <a:buSzTx/>
                  <a:buFontTx/>
                  <a:buNone/>
                  <a:tabLst/>
                  <a:defRPr/>
                </a:pPr>
                <a:r>
                  <a:rPr kumimoji="0" lang="en-US" altLang="zh-CN" sz="3600" b="1" i="0" u="none" strike="noStrike" kern="0" cap="none" spc="0" normalizeH="0" baseline="0" noProof="0" dirty="0">
                    <a:ln>
                      <a:solidFill>
                        <a:schemeClr val="accent3">
                          <a:alpha val="22000"/>
                        </a:schemeClr>
                      </a:solidFill>
                    </a:ln>
                    <a:noFill/>
                    <a:effectLst/>
                    <a:uLnTx/>
                    <a:uFillTx/>
                    <a:latin typeface="Arial" panose="020B0604020202020204" pitchFamily="34" charset="0"/>
                    <a:cs typeface="阿里巴巴普惠体 Heavy" panose="00020600040101010101" pitchFamily="18" charset="-122"/>
                  </a:rPr>
                  <a:t>CONTENTS</a:t>
                </a:r>
              </a:p>
            </p:txBody>
          </p:sp>
          <p:sp>
            <p:nvSpPr>
              <p:cNvPr id="83" name="平行四边形 82">
                <a:extLst>
                  <a:ext uri="{FF2B5EF4-FFF2-40B4-BE49-F238E27FC236}">
                    <a16:creationId xmlns:a16="http://schemas.microsoft.com/office/drawing/2014/main" id="{83FDD8D8-6F77-1402-0C4F-C66FCBB741AE}"/>
                  </a:ext>
                </a:extLst>
              </p:cNvPr>
              <p:cNvSpPr/>
              <p:nvPr/>
            </p:nvSpPr>
            <p:spPr>
              <a:xfrm>
                <a:off x="2610429" y="1489115"/>
                <a:ext cx="917197" cy="1784366"/>
              </a:xfrm>
              <a:prstGeom prst="parallelogram">
                <a:avLst>
                  <a:gd name="adj" fmla="val 43802"/>
                </a:avLst>
              </a:prstGeom>
              <a:gradFill>
                <a:gsLst>
                  <a:gs pos="73000">
                    <a:schemeClr val="accent3">
                      <a:alpha val="0"/>
                    </a:schemeClr>
                  </a:gs>
                  <a:gs pos="0">
                    <a:schemeClr val="accent3">
                      <a:alpha val="35000"/>
                    </a:schemeClr>
                  </a:gs>
                </a:gsLst>
                <a:lin ang="5400000" scaled="0"/>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4" name="平行四边形 83">
                <a:extLst>
                  <a:ext uri="{FF2B5EF4-FFF2-40B4-BE49-F238E27FC236}">
                    <a16:creationId xmlns:a16="http://schemas.microsoft.com/office/drawing/2014/main" id="{4C00609F-15B5-23CA-AFDD-A83D3AE2DC1D}"/>
                  </a:ext>
                </a:extLst>
              </p:cNvPr>
              <p:cNvSpPr/>
              <p:nvPr/>
            </p:nvSpPr>
            <p:spPr>
              <a:xfrm>
                <a:off x="2439546" y="1936465"/>
                <a:ext cx="584776" cy="1137656"/>
              </a:xfrm>
              <a:prstGeom prst="parallelogram">
                <a:avLst>
                  <a:gd name="adj" fmla="val 43802"/>
                </a:avLst>
              </a:prstGeom>
              <a:gradFill>
                <a:gsLst>
                  <a:gs pos="73000">
                    <a:schemeClr val="accent3">
                      <a:alpha val="0"/>
                    </a:schemeClr>
                  </a:gs>
                  <a:gs pos="0">
                    <a:schemeClr val="accent3">
                      <a:alpha val="40000"/>
                    </a:schemeClr>
                  </a:gs>
                </a:gsLst>
                <a:lin ang="5400000" scaled="0"/>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85" name="直接连接符 84">
                <a:extLst>
                  <a:ext uri="{FF2B5EF4-FFF2-40B4-BE49-F238E27FC236}">
                    <a16:creationId xmlns:a16="http://schemas.microsoft.com/office/drawing/2014/main" id="{F0C106D5-8F14-9273-F3E5-C35A522043DD}"/>
                  </a:ext>
                </a:extLst>
              </p:cNvPr>
              <p:cNvCxnSpPr/>
              <p:nvPr/>
            </p:nvCxnSpPr>
            <p:spPr>
              <a:xfrm>
                <a:off x="3069028" y="2981499"/>
                <a:ext cx="0" cy="2056789"/>
              </a:xfrm>
              <a:prstGeom prst="line">
                <a:avLst/>
              </a:prstGeom>
              <a:noFill/>
              <a:ln w="12700" cap="flat" cmpd="sng" algn="ctr">
                <a:solidFill>
                  <a:sysClr val="window" lastClr="FFFFFF">
                    <a:alpha val="17000"/>
                  </a:sysClr>
                </a:solidFill>
                <a:prstDash val="solid"/>
                <a:miter lim="800000"/>
              </a:ln>
              <a:effectLst/>
            </p:spPr>
          </p:cxnSp>
        </p:grpSp>
        <p:sp>
          <p:nvSpPr>
            <p:cNvPr id="81" name="文本框 80">
              <a:extLst>
                <a:ext uri="{FF2B5EF4-FFF2-40B4-BE49-F238E27FC236}">
                  <a16:creationId xmlns:a16="http://schemas.microsoft.com/office/drawing/2014/main" id="{8447F2A9-035D-DC61-D599-7FB886503E68}"/>
                </a:ext>
              </a:extLst>
            </p:cNvPr>
            <p:cNvSpPr txBox="1"/>
            <p:nvPr/>
          </p:nvSpPr>
          <p:spPr>
            <a:xfrm>
              <a:off x="1986274" y="1616018"/>
              <a:ext cx="405221" cy="337240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66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汇报提纲</a:t>
              </a:r>
            </a:p>
          </p:txBody>
        </p:sp>
      </p:grpSp>
    </p:spTree>
    <p:extLst>
      <p:ext uri="{BB962C8B-B14F-4D97-AF65-F5344CB8AC3E}">
        <p14:creationId xmlns:p14="http://schemas.microsoft.com/office/powerpoint/2010/main" val="868139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3DD42-58F1-BF23-F1D1-911D6ECA1AC9}"/>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25103B3E-9250-E6B9-EDDC-2ED6F90CF039}"/>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C27D3A61-0DEC-BA16-46CE-C27F01A6C4A8}"/>
              </a:ext>
            </a:extLst>
          </p:cNvPr>
          <p:cNvSpPr txBox="1"/>
          <p:nvPr/>
        </p:nvSpPr>
        <p:spPr>
          <a:xfrm>
            <a:off x="946461" y="269201"/>
            <a:ext cx="6440714" cy="523220"/>
          </a:xfrm>
          <a:prstGeom prst="rect">
            <a:avLst/>
          </a:prstGeom>
          <a:noFill/>
        </p:spPr>
        <p:txBody>
          <a:bodyPr wrap="square">
            <a:spAutoFit/>
          </a:bodyPr>
          <a:lstStyle/>
          <a:p>
            <a:r>
              <a:rPr lang="zh-CN" altLang="en-US" sz="2800" b="1" dirty="0">
                <a:solidFill>
                  <a:schemeClr val="accent1"/>
                </a:solidFill>
              </a:rPr>
              <a:t>研究内容与技术方案</a:t>
            </a:r>
            <a:r>
              <a:rPr lang="en-US" altLang="zh-CN" sz="2800" b="1" dirty="0">
                <a:solidFill>
                  <a:schemeClr val="accent1"/>
                </a:solidFill>
              </a:rPr>
              <a:t>——</a:t>
            </a:r>
            <a:r>
              <a:rPr lang="zh-CN" altLang="en-US" sz="2800" b="1" dirty="0">
                <a:solidFill>
                  <a:schemeClr val="accent1"/>
                </a:solidFill>
              </a:rPr>
              <a:t>技术路线</a:t>
            </a:r>
          </a:p>
        </p:txBody>
      </p:sp>
      <p:sp>
        <p:nvSpPr>
          <p:cNvPr id="6" name="矩形 5">
            <a:extLst>
              <a:ext uri="{FF2B5EF4-FFF2-40B4-BE49-F238E27FC236}">
                <a16:creationId xmlns:a16="http://schemas.microsoft.com/office/drawing/2014/main" id="{204B3276-1D6D-A659-B777-7A8B73B43410}"/>
              </a:ext>
            </a:extLst>
          </p:cNvPr>
          <p:cNvSpPr/>
          <p:nvPr/>
        </p:nvSpPr>
        <p:spPr>
          <a:xfrm>
            <a:off x="488951" y="1148185"/>
            <a:ext cx="11214099" cy="573683"/>
          </a:xfrm>
          <a:prstGeom prst="rect">
            <a:avLst/>
          </a:prstGeom>
          <a:solidFill>
            <a:schemeClr val="accent1"/>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17E4BB18-6BF3-E577-1061-8ED13EE92896}"/>
              </a:ext>
            </a:extLst>
          </p:cNvPr>
          <p:cNvSpPr txBox="1"/>
          <p:nvPr/>
        </p:nvSpPr>
        <p:spPr>
          <a:xfrm>
            <a:off x="1848684" y="1204194"/>
            <a:ext cx="8494633" cy="461665"/>
          </a:xfrm>
          <a:prstGeom prst="rect">
            <a:avLst/>
          </a:prstGeom>
          <a:noFill/>
        </p:spPr>
        <p:txBody>
          <a:bodyPr wrap="none">
            <a:spAutoFit/>
          </a:bodyPr>
          <a:lstStyle/>
          <a:p>
            <a:pPr algn="ctr"/>
            <a:r>
              <a:rPr lang="zh-CN" altLang="en-US" sz="2400" b="1" dirty="0">
                <a:solidFill>
                  <a:schemeClr val="accent3"/>
                </a:solidFill>
                <a:latin typeface="微软雅黑" panose="020B0503020204020204" pitchFamily="34" charset="-122"/>
                <a:ea typeface="微软雅黑" panose="020B0503020204020204" pitchFamily="34" charset="-122"/>
              </a:rPr>
              <a:t>选择热带季风区中具有不同岩性的森林生态系统作为研究对象</a:t>
            </a:r>
          </a:p>
        </p:txBody>
      </p:sp>
      <p:grpSp>
        <p:nvGrpSpPr>
          <p:cNvPr id="16" name="组合 15">
            <a:extLst>
              <a:ext uri="{FF2B5EF4-FFF2-40B4-BE49-F238E27FC236}">
                <a16:creationId xmlns:a16="http://schemas.microsoft.com/office/drawing/2014/main" id="{78EB1953-AD90-70D1-101F-4F57C659A9D3}"/>
              </a:ext>
            </a:extLst>
          </p:cNvPr>
          <p:cNvGrpSpPr/>
          <p:nvPr/>
        </p:nvGrpSpPr>
        <p:grpSpPr>
          <a:xfrm>
            <a:off x="485774" y="1706080"/>
            <a:ext cx="11210925" cy="308759"/>
            <a:chOff x="490655" y="3938634"/>
            <a:chExt cx="5140454" cy="204788"/>
          </a:xfrm>
        </p:grpSpPr>
        <p:sp>
          <p:nvSpPr>
            <p:cNvPr id="17" name="任意多边形: 形状 16">
              <a:extLst>
                <a:ext uri="{FF2B5EF4-FFF2-40B4-BE49-F238E27FC236}">
                  <a16:creationId xmlns:a16="http://schemas.microsoft.com/office/drawing/2014/main" id="{1EB340B5-558D-4A4C-C06D-67931BC6006C}"/>
                </a:ext>
              </a:extLst>
            </p:cNvPr>
            <p:cNvSpPr/>
            <p:nvPr/>
          </p:nvSpPr>
          <p:spPr>
            <a:xfrm>
              <a:off x="490655" y="3943397"/>
              <a:ext cx="4600015" cy="200025"/>
            </a:xfrm>
            <a:custGeom>
              <a:avLst/>
              <a:gdLst>
                <a:gd name="connsiteX0" fmla="*/ 0 w 5229225"/>
                <a:gd name="connsiteY0" fmla="*/ 200025 h 200025"/>
                <a:gd name="connsiteX1" fmla="*/ 1047750 w 5229225"/>
                <a:gd name="connsiteY1" fmla="*/ 200025 h 200025"/>
                <a:gd name="connsiteX2" fmla="*/ 5229225 w 5229225"/>
                <a:gd name="connsiteY2" fmla="*/ 0 h 200025"/>
                <a:gd name="connsiteX3" fmla="*/ 642938 w 5229225"/>
                <a:gd name="connsiteY3" fmla="*/ 0 h 200025"/>
                <a:gd name="connsiteX4" fmla="*/ 0 w 5229225"/>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9225" h="200025">
                  <a:moveTo>
                    <a:pt x="0" y="200025"/>
                  </a:moveTo>
                  <a:lnTo>
                    <a:pt x="1047750" y="200025"/>
                  </a:lnTo>
                  <a:lnTo>
                    <a:pt x="5229225" y="0"/>
                  </a:lnTo>
                  <a:lnTo>
                    <a:pt x="642938" y="0"/>
                  </a:lnTo>
                  <a:lnTo>
                    <a:pt x="0"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形状 17">
              <a:extLst>
                <a:ext uri="{FF2B5EF4-FFF2-40B4-BE49-F238E27FC236}">
                  <a16:creationId xmlns:a16="http://schemas.microsoft.com/office/drawing/2014/main" id="{6063A832-FEA9-6E9B-BA1A-55F0A270B69D}"/>
                </a:ext>
              </a:extLst>
            </p:cNvPr>
            <p:cNvSpPr/>
            <p:nvPr/>
          </p:nvSpPr>
          <p:spPr>
            <a:xfrm>
              <a:off x="1068799" y="3943397"/>
              <a:ext cx="4009303" cy="195262"/>
            </a:xfrm>
            <a:custGeom>
              <a:avLst/>
              <a:gdLst>
                <a:gd name="connsiteX0" fmla="*/ 928688 w 4557713"/>
                <a:gd name="connsiteY0" fmla="*/ 195262 h 195262"/>
                <a:gd name="connsiteX1" fmla="*/ 1990725 w 4557713"/>
                <a:gd name="connsiteY1" fmla="*/ 195262 h 195262"/>
                <a:gd name="connsiteX2" fmla="*/ 4557713 w 4557713"/>
                <a:gd name="connsiteY2" fmla="*/ 0 h 195262"/>
                <a:gd name="connsiteX3" fmla="*/ 0 w 4557713"/>
                <a:gd name="connsiteY3" fmla="*/ 0 h 195262"/>
                <a:gd name="connsiteX4" fmla="*/ 928688 w 4557713"/>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7713" h="195262">
                  <a:moveTo>
                    <a:pt x="928688" y="195262"/>
                  </a:moveTo>
                  <a:lnTo>
                    <a:pt x="1990725" y="195262"/>
                  </a:lnTo>
                  <a:lnTo>
                    <a:pt x="4557713" y="0"/>
                  </a:lnTo>
                  <a:lnTo>
                    <a:pt x="0" y="0"/>
                  </a:lnTo>
                  <a:lnTo>
                    <a:pt x="928688"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任意多边形: 形状 18">
              <a:extLst>
                <a:ext uri="{FF2B5EF4-FFF2-40B4-BE49-F238E27FC236}">
                  <a16:creationId xmlns:a16="http://schemas.microsoft.com/office/drawing/2014/main" id="{3051218A-398A-D30B-0989-EADE8277FE7C}"/>
                </a:ext>
              </a:extLst>
            </p:cNvPr>
            <p:cNvSpPr/>
            <p:nvPr/>
          </p:nvSpPr>
          <p:spPr>
            <a:xfrm>
              <a:off x="1064610" y="3943397"/>
              <a:ext cx="4013492" cy="195262"/>
            </a:xfrm>
            <a:custGeom>
              <a:avLst/>
              <a:gdLst>
                <a:gd name="connsiteX0" fmla="*/ 2552700 w 4562475"/>
                <a:gd name="connsiteY0" fmla="*/ 195262 h 195262"/>
                <a:gd name="connsiteX1" fmla="*/ 3600450 w 4562475"/>
                <a:gd name="connsiteY1" fmla="*/ 195262 h 195262"/>
                <a:gd name="connsiteX2" fmla="*/ 4562475 w 4562475"/>
                <a:gd name="connsiteY2" fmla="*/ 0 h 195262"/>
                <a:gd name="connsiteX3" fmla="*/ 0 w 4562475"/>
                <a:gd name="connsiteY3" fmla="*/ 0 h 195262"/>
                <a:gd name="connsiteX4" fmla="*/ 2552700 w 4562475"/>
                <a:gd name="connsiteY4" fmla="*/ 195262 h 1952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2475" h="195262">
                  <a:moveTo>
                    <a:pt x="2552700" y="195262"/>
                  </a:moveTo>
                  <a:lnTo>
                    <a:pt x="3600450" y="195262"/>
                  </a:lnTo>
                  <a:lnTo>
                    <a:pt x="4562475" y="0"/>
                  </a:lnTo>
                  <a:lnTo>
                    <a:pt x="0" y="0"/>
                  </a:lnTo>
                  <a:lnTo>
                    <a:pt x="2552700" y="195262"/>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任意多边形: 形状 19">
              <a:extLst>
                <a:ext uri="{FF2B5EF4-FFF2-40B4-BE49-F238E27FC236}">
                  <a16:creationId xmlns:a16="http://schemas.microsoft.com/office/drawing/2014/main" id="{357FB65C-0A83-ABDE-A352-DD2F29CE1D1D}"/>
                </a:ext>
              </a:extLst>
            </p:cNvPr>
            <p:cNvSpPr/>
            <p:nvPr/>
          </p:nvSpPr>
          <p:spPr>
            <a:xfrm>
              <a:off x="1085557" y="3938634"/>
              <a:ext cx="4545552" cy="200025"/>
            </a:xfrm>
            <a:custGeom>
              <a:avLst/>
              <a:gdLst>
                <a:gd name="connsiteX0" fmla="*/ 5167313 w 5167313"/>
                <a:gd name="connsiteY0" fmla="*/ 200025 h 200025"/>
                <a:gd name="connsiteX1" fmla="*/ 4138613 w 5167313"/>
                <a:gd name="connsiteY1" fmla="*/ 200025 h 200025"/>
                <a:gd name="connsiteX2" fmla="*/ 0 w 5167313"/>
                <a:gd name="connsiteY2" fmla="*/ 0 h 200025"/>
                <a:gd name="connsiteX3" fmla="*/ 4538663 w 5167313"/>
                <a:gd name="connsiteY3" fmla="*/ 0 h 200025"/>
                <a:gd name="connsiteX4" fmla="*/ 5167313 w 5167313"/>
                <a:gd name="connsiteY4" fmla="*/ 200025 h 200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67313" h="200025">
                  <a:moveTo>
                    <a:pt x="5167313" y="200025"/>
                  </a:moveTo>
                  <a:lnTo>
                    <a:pt x="4138613" y="200025"/>
                  </a:lnTo>
                  <a:lnTo>
                    <a:pt x="0" y="0"/>
                  </a:lnTo>
                  <a:lnTo>
                    <a:pt x="4538663" y="0"/>
                  </a:lnTo>
                  <a:lnTo>
                    <a:pt x="5167313" y="200025"/>
                  </a:lnTo>
                  <a:close/>
                </a:path>
              </a:pathLst>
            </a:custGeom>
            <a:gradFill>
              <a:gsLst>
                <a:gs pos="0">
                  <a:schemeClr val="accent1">
                    <a:alpha val="30000"/>
                  </a:schemeClr>
                </a:gs>
                <a:gs pos="100000">
                  <a:schemeClr val="accent1">
                    <a:alpha val="0"/>
                  </a:scheme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a:extLst>
              <a:ext uri="{FF2B5EF4-FFF2-40B4-BE49-F238E27FC236}">
                <a16:creationId xmlns:a16="http://schemas.microsoft.com/office/drawing/2014/main" id="{A337F25B-75BB-78BD-8329-594463BC8D29}"/>
              </a:ext>
            </a:extLst>
          </p:cNvPr>
          <p:cNvGrpSpPr/>
          <p:nvPr/>
        </p:nvGrpSpPr>
        <p:grpSpPr>
          <a:xfrm>
            <a:off x="2219490" y="2028529"/>
            <a:ext cx="1906711" cy="400110"/>
            <a:chOff x="2033153" y="2026823"/>
            <a:chExt cx="1906711" cy="400110"/>
          </a:xfrm>
        </p:grpSpPr>
        <p:sp>
          <p:nvSpPr>
            <p:cNvPr id="22" name="矩形: 圆角 21">
              <a:extLst>
                <a:ext uri="{FF2B5EF4-FFF2-40B4-BE49-F238E27FC236}">
                  <a16:creationId xmlns:a16="http://schemas.microsoft.com/office/drawing/2014/main" id="{56F2A4A9-3F6C-758C-AEC2-E8A9455B3278}"/>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92C5F401-9FE6-D01C-68E1-0975F2BDFCF9}"/>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成果一</a:t>
              </a:r>
            </a:p>
          </p:txBody>
        </p:sp>
      </p:grpSp>
      <p:grpSp>
        <p:nvGrpSpPr>
          <p:cNvPr id="24" name="组合 23">
            <a:extLst>
              <a:ext uri="{FF2B5EF4-FFF2-40B4-BE49-F238E27FC236}">
                <a16:creationId xmlns:a16="http://schemas.microsoft.com/office/drawing/2014/main" id="{1E948EF5-ABCA-ABBC-67C4-B88F8DF67D24}"/>
              </a:ext>
            </a:extLst>
          </p:cNvPr>
          <p:cNvGrpSpPr/>
          <p:nvPr/>
        </p:nvGrpSpPr>
        <p:grpSpPr>
          <a:xfrm>
            <a:off x="5694416" y="2028529"/>
            <a:ext cx="1906711" cy="400110"/>
            <a:chOff x="2033153" y="2026823"/>
            <a:chExt cx="1906711" cy="400110"/>
          </a:xfrm>
        </p:grpSpPr>
        <p:sp>
          <p:nvSpPr>
            <p:cNvPr id="25" name="矩形: 圆角 24">
              <a:extLst>
                <a:ext uri="{FF2B5EF4-FFF2-40B4-BE49-F238E27FC236}">
                  <a16:creationId xmlns:a16="http://schemas.microsoft.com/office/drawing/2014/main" id="{ABB2AA48-84F2-78A0-636A-B843AF0BE02F}"/>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B38D0028-98C4-6B15-9865-E694273DC8B7}"/>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成果二</a:t>
              </a:r>
            </a:p>
          </p:txBody>
        </p:sp>
      </p:grpSp>
      <p:grpSp>
        <p:nvGrpSpPr>
          <p:cNvPr id="35" name="组合 34">
            <a:extLst>
              <a:ext uri="{FF2B5EF4-FFF2-40B4-BE49-F238E27FC236}">
                <a16:creationId xmlns:a16="http://schemas.microsoft.com/office/drawing/2014/main" id="{2ABD8B06-C8C6-7EBA-AE9B-6C0A373452D9}"/>
              </a:ext>
            </a:extLst>
          </p:cNvPr>
          <p:cNvGrpSpPr/>
          <p:nvPr/>
        </p:nvGrpSpPr>
        <p:grpSpPr>
          <a:xfrm>
            <a:off x="9169342" y="2028529"/>
            <a:ext cx="1906711" cy="400110"/>
            <a:chOff x="2033153" y="2026823"/>
            <a:chExt cx="1906711" cy="400110"/>
          </a:xfrm>
        </p:grpSpPr>
        <p:sp>
          <p:nvSpPr>
            <p:cNvPr id="36" name="矩形: 圆角 35">
              <a:extLst>
                <a:ext uri="{FF2B5EF4-FFF2-40B4-BE49-F238E27FC236}">
                  <a16:creationId xmlns:a16="http://schemas.microsoft.com/office/drawing/2014/main" id="{6A045275-8036-6984-3C30-7A1B96368070}"/>
                </a:ext>
              </a:extLst>
            </p:cNvPr>
            <p:cNvSpPr/>
            <p:nvPr/>
          </p:nvSpPr>
          <p:spPr>
            <a:xfrm>
              <a:off x="2033153" y="2027933"/>
              <a:ext cx="1906711" cy="397891"/>
            </a:xfrm>
            <a:prstGeom prst="roundRect">
              <a:avLst>
                <a:gd name="adj" fmla="val 50000"/>
              </a:avLst>
            </a:prstGeom>
            <a:gradFill flip="none" rotWithShape="1">
              <a:gsLst>
                <a:gs pos="0">
                  <a:schemeClr val="accent1">
                    <a:alpha val="10000"/>
                  </a:schemeClr>
                </a:gs>
                <a:gs pos="30000">
                  <a:schemeClr val="accent1">
                    <a:alpha val="0"/>
                  </a:schemeClr>
                </a:gs>
                <a:gs pos="100000">
                  <a:schemeClr val="accent1">
                    <a:alpha val="10000"/>
                  </a:schemeClr>
                </a:gs>
                <a:gs pos="70000">
                  <a:schemeClr val="accent1">
                    <a:alpha val="0"/>
                  </a:schemeClr>
                </a:gs>
              </a:gsLst>
              <a:lin ang="2700000" scaled="1"/>
              <a:tileRect/>
            </a:gradFill>
            <a:ln w="3175" cap="flat" cmpd="sng" algn="ctr">
              <a:solidFill>
                <a:srgbClr val="0249A1">
                  <a:alpha val="50000"/>
                </a:srgbClr>
              </a:solid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C7722346-123C-7DEC-235E-D36422CD5622}"/>
                </a:ext>
              </a:extLst>
            </p:cNvPr>
            <p:cNvSpPr txBox="1"/>
            <p:nvPr/>
          </p:nvSpPr>
          <p:spPr>
            <a:xfrm>
              <a:off x="2459548" y="2026823"/>
              <a:ext cx="1053920" cy="400110"/>
            </a:xfrm>
            <a:prstGeom prst="rect">
              <a:avLst/>
            </a:prstGeom>
            <a:noFill/>
          </p:spPr>
          <p:txBody>
            <a:bodyPr wrap="square">
              <a:spAutoFit/>
            </a:bodyPr>
            <a:lstStyle/>
            <a:p>
              <a:pPr marL="0" marR="0" lvl="0" indent="0" algn="dist" defTabSz="914400" eaLnBrk="1" fontAlgn="auto" latinLnBrk="0" hangingPunct="1">
                <a:lnSpc>
                  <a:spcPct val="100000"/>
                </a:lnSpc>
                <a:spcBef>
                  <a:spcPct val="0"/>
                </a:spcBef>
                <a:spcAft>
                  <a:spcPts val="0"/>
                </a:spcAft>
                <a:buClrTx/>
                <a:buSzTx/>
                <a:buFontTx/>
                <a:buNone/>
                <a:tabLst/>
                <a:defRPr/>
              </a:pPr>
              <a:r>
                <a:rPr kumimoji="0" lang="zh-CN" altLang="en-US" sz="2000" b="1" i="0" u="none" strike="noStrike" kern="0" cap="none" spc="15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sym typeface="+mn-ea"/>
                </a:rPr>
                <a:t>成果三</a:t>
              </a:r>
            </a:p>
          </p:txBody>
        </p:sp>
      </p:grpSp>
      <p:sp>
        <p:nvSpPr>
          <p:cNvPr id="38" name="矩形: 圆角 37">
            <a:extLst>
              <a:ext uri="{FF2B5EF4-FFF2-40B4-BE49-F238E27FC236}">
                <a16:creationId xmlns:a16="http://schemas.microsoft.com/office/drawing/2014/main" id="{BA3777C8-6A7C-0AF8-37BB-17F0D6E24F82}"/>
              </a:ext>
            </a:extLst>
          </p:cNvPr>
          <p:cNvSpPr/>
          <p:nvPr/>
        </p:nvSpPr>
        <p:spPr>
          <a:xfrm flipH="1">
            <a:off x="475463" y="2909026"/>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a:extLst>
              <a:ext uri="{FF2B5EF4-FFF2-40B4-BE49-F238E27FC236}">
                <a16:creationId xmlns:a16="http://schemas.microsoft.com/office/drawing/2014/main" id="{7D23964C-1875-6C93-78D7-0165D5A1151B}"/>
              </a:ext>
            </a:extLst>
          </p:cNvPr>
          <p:cNvSpPr txBox="1"/>
          <p:nvPr/>
        </p:nvSpPr>
        <p:spPr>
          <a:xfrm>
            <a:off x="578503" y="3090944"/>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问 题</a:t>
            </a:r>
          </a:p>
        </p:txBody>
      </p:sp>
      <p:sp>
        <p:nvSpPr>
          <p:cNvPr id="40" name="矩形: 圆角 39">
            <a:extLst>
              <a:ext uri="{FF2B5EF4-FFF2-40B4-BE49-F238E27FC236}">
                <a16:creationId xmlns:a16="http://schemas.microsoft.com/office/drawing/2014/main" id="{4FE91C36-DE1D-7ECE-23BA-505ED9EC4BCD}"/>
              </a:ext>
            </a:extLst>
          </p:cNvPr>
          <p:cNvSpPr/>
          <p:nvPr/>
        </p:nvSpPr>
        <p:spPr>
          <a:xfrm flipH="1">
            <a:off x="475463" y="4187718"/>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58F343BA-F168-2AE3-87BE-36512791E7F7}"/>
              </a:ext>
            </a:extLst>
          </p:cNvPr>
          <p:cNvSpPr txBox="1"/>
          <p:nvPr/>
        </p:nvSpPr>
        <p:spPr>
          <a:xfrm>
            <a:off x="578503" y="4369636"/>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思 路</a:t>
            </a:r>
          </a:p>
        </p:txBody>
      </p:sp>
      <p:sp>
        <p:nvSpPr>
          <p:cNvPr id="51" name="矩形: 圆角 50">
            <a:extLst>
              <a:ext uri="{FF2B5EF4-FFF2-40B4-BE49-F238E27FC236}">
                <a16:creationId xmlns:a16="http://schemas.microsoft.com/office/drawing/2014/main" id="{905CECEA-C436-4B9B-27CE-15031E7216DF}"/>
              </a:ext>
            </a:extLst>
          </p:cNvPr>
          <p:cNvSpPr/>
          <p:nvPr/>
        </p:nvSpPr>
        <p:spPr>
          <a:xfrm flipH="1">
            <a:off x="475463" y="5466411"/>
            <a:ext cx="1262062" cy="825500"/>
          </a:xfrm>
          <a:prstGeom prst="roundRect">
            <a:avLst>
              <a:gd name="adj" fmla="val 0"/>
            </a:avLst>
          </a:prstGeom>
          <a:gradFill>
            <a:gsLst>
              <a:gs pos="100000">
                <a:schemeClr val="accent2">
                  <a:alpha val="10000"/>
                </a:schemeClr>
              </a:gs>
              <a:gs pos="0">
                <a:schemeClr val="accent2">
                  <a:alpha val="0"/>
                </a:schemeClr>
              </a:gs>
            </a:gsLst>
            <a:lin ang="0" scaled="1"/>
          </a:gra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2" name="文本框 51">
            <a:extLst>
              <a:ext uri="{FF2B5EF4-FFF2-40B4-BE49-F238E27FC236}">
                <a16:creationId xmlns:a16="http://schemas.microsoft.com/office/drawing/2014/main" id="{9C855167-6E48-7646-F165-2DDF82402DFA}"/>
              </a:ext>
            </a:extLst>
          </p:cNvPr>
          <p:cNvSpPr txBox="1"/>
          <p:nvPr/>
        </p:nvSpPr>
        <p:spPr>
          <a:xfrm>
            <a:off x="578503" y="5648329"/>
            <a:ext cx="910842" cy="461665"/>
          </a:xfrm>
          <a:prstGeom prst="rect">
            <a:avLst/>
          </a:prstGeom>
          <a:noFill/>
        </p:spPr>
        <p:txBody>
          <a:bodyPr wrap="square">
            <a:spAutoFit/>
          </a:bodyPr>
          <a:lstStyle/>
          <a:p>
            <a:pPr algn="ctr"/>
            <a:r>
              <a:rPr lang="zh-CN" altLang="en-US" sz="2400" b="1" dirty="0">
                <a:solidFill>
                  <a:schemeClr val="accent1"/>
                </a:solidFill>
                <a:latin typeface="微软雅黑" panose="020B0503020204020204" pitchFamily="34" charset="-122"/>
                <a:ea typeface="微软雅黑" panose="020B0503020204020204" pitchFamily="34" charset="-122"/>
                <a:cs typeface="+mn-ea"/>
              </a:rPr>
              <a:t>技 术</a:t>
            </a:r>
          </a:p>
        </p:txBody>
      </p:sp>
      <p:sp>
        <p:nvSpPr>
          <p:cNvPr id="53" name="矩形 52">
            <a:extLst>
              <a:ext uri="{FF2B5EF4-FFF2-40B4-BE49-F238E27FC236}">
                <a16:creationId xmlns:a16="http://schemas.microsoft.com/office/drawing/2014/main" id="{4E0BF1BB-346F-55F9-9689-106CA5E9BC1C}"/>
              </a:ext>
            </a:extLst>
          </p:cNvPr>
          <p:cNvSpPr/>
          <p:nvPr/>
        </p:nvSpPr>
        <p:spPr>
          <a:xfrm>
            <a:off x="1592492"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矩形 53">
            <a:extLst>
              <a:ext uri="{FF2B5EF4-FFF2-40B4-BE49-F238E27FC236}">
                <a16:creationId xmlns:a16="http://schemas.microsoft.com/office/drawing/2014/main" id="{D16C79F1-6191-5EFA-B569-569A4A32FD81}"/>
              </a:ext>
            </a:extLst>
          </p:cNvPr>
          <p:cNvSpPr/>
          <p:nvPr/>
        </p:nvSpPr>
        <p:spPr>
          <a:xfrm>
            <a:off x="5067418"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D12842D0-00DC-D431-3515-614FA2B126BE}"/>
              </a:ext>
            </a:extLst>
          </p:cNvPr>
          <p:cNvSpPr/>
          <p:nvPr/>
        </p:nvSpPr>
        <p:spPr>
          <a:xfrm>
            <a:off x="8542344" y="2612138"/>
            <a:ext cx="3160706" cy="3976661"/>
          </a:xfrm>
          <a:prstGeom prst="rect">
            <a:avLst/>
          </a:prstGeom>
          <a:solidFill>
            <a:sysClr val="window" lastClr="FFFFFF"/>
          </a:solidFill>
          <a:ln w="3175" cap="flat" cmpd="sng" algn="ctr">
            <a:gradFill flip="none" rotWithShape="1">
              <a:gsLst>
                <a:gs pos="0">
                  <a:schemeClr val="accent1">
                    <a:alpha val="50000"/>
                  </a:schemeClr>
                </a:gs>
                <a:gs pos="100000">
                  <a:schemeClr val="accent1">
                    <a:alpha val="0"/>
                  </a:schemeClr>
                </a:gs>
              </a:gsLst>
              <a:lin ang="5400000" scaled="1"/>
              <a:tileRect/>
            </a:gradFill>
            <a:prstDash val="solid"/>
            <a:miter lim="800000"/>
          </a:ln>
          <a:effectLst>
            <a:outerShdw blurRad="190500" dist="25400" algn="ctr" rotWithShape="0">
              <a:schemeClr val="accent1">
                <a:alpha val="8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4AC2AEAD-5504-5947-BA36-366E67D5A7D1}"/>
              </a:ext>
            </a:extLst>
          </p:cNvPr>
          <p:cNvSpPr/>
          <p:nvPr/>
        </p:nvSpPr>
        <p:spPr>
          <a:xfrm>
            <a:off x="1592385"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矩形 56">
            <a:extLst>
              <a:ext uri="{FF2B5EF4-FFF2-40B4-BE49-F238E27FC236}">
                <a16:creationId xmlns:a16="http://schemas.microsoft.com/office/drawing/2014/main" id="{7C14FEFA-3FA9-FF21-A0EC-C5BC22762BDB}"/>
              </a:ext>
            </a:extLst>
          </p:cNvPr>
          <p:cNvSpPr/>
          <p:nvPr/>
        </p:nvSpPr>
        <p:spPr>
          <a:xfrm>
            <a:off x="5067418"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64959D66-F3F3-D977-9C4D-D3ED3F39250A}"/>
              </a:ext>
            </a:extLst>
          </p:cNvPr>
          <p:cNvSpPr/>
          <p:nvPr/>
        </p:nvSpPr>
        <p:spPr>
          <a:xfrm>
            <a:off x="8542344" y="2901845"/>
            <a:ext cx="3160706" cy="832680"/>
          </a:xfrm>
          <a:prstGeom prst="rect">
            <a:avLst/>
          </a:prstGeom>
          <a:solidFill>
            <a:schemeClr val="accent2">
              <a:alpha val="7000"/>
            </a:schemeClr>
          </a:solidFill>
          <a:ln w="12700" cap="flat" cmpd="sng" algn="ctr">
            <a:noFill/>
            <a:prstDash val="solid"/>
            <a:miter lim="800000"/>
          </a:ln>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sp>
        <p:nvSpPr>
          <p:cNvPr id="59" name="等腰三角形 58">
            <a:extLst>
              <a:ext uri="{FF2B5EF4-FFF2-40B4-BE49-F238E27FC236}">
                <a16:creationId xmlns:a16="http://schemas.microsoft.com/office/drawing/2014/main" id="{D59EDA26-FD78-12C7-586B-35D6B8EBC0B1}"/>
              </a:ext>
            </a:extLst>
          </p:cNvPr>
          <p:cNvSpPr/>
          <p:nvPr/>
        </p:nvSpPr>
        <p:spPr>
          <a:xfrm flipV="1">
            <a:off x="3065642" y="382850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0" name="等腰三角形 59">
            <a:extLst>
              <a:ext uri="{FF2B5EF4-FFF2-40B4-BE49-F238E27FC236}">
                <a16:creationId xmlns:a16="http://schemas.microsoft.com/office/drawing/2014/main" id="{3452B0F5-AC3C-96DF-2AB7-962C02284681}"/>
              </a:ext>
            </a:extLst>
          </p:cNvPr>
          <p:cNvSpPr/>
          <p:nvPr/>
        </p:nvSpPr>
        <p:spPr>
          <a:xfrm flipV="1">
            <a:off x="6540675"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1" name="等腰三角形 60">
            <a:extLst>
              <a:ext uri="{FF2B5EF4-FFF2-40B4-BE49-F238E27FC236}">
                <a16:creationId xmlns:a16="http://schemas.microsoft.com/office/drawing/2014/main" id="{43983FB1-228E-6A9D-5963-092096A90D04}"/>
              </a:ext>
            </a:extLst>
          </p:cNvPr>
          <p:cNvSpPr/>
          <p:nvPr/>
        </p:nvSpPr>
        <p:spPr>
          <a:xfrm flipV="1">
            <a:off x="10015601" y="3854708"/>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2" name="矩形 61">
            <a:extLst>
              <a:ext uri="{FF2B5EF4-FFF2-40B4-BE49-F238E27FC236}">
                <a16:creationId xmlns:a16="http://schemas.microsoft.com/office/drawing/2014/main" id="{459BCD59-3B30-BDB8-DAC9-16149B016808}"/>
              </a:ext>
            </a:extLst>
          </p:cNvPr>
          <p:cNvSpPr/>
          <p:nvPr/>
        </p:nvSpPr>
        <p:spPr>
          <a:xfrm>
            <a:off x="159238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3" name="矩形 62">
            <a:extLst>
              <a:ext uri="{FF2B5EF4-FFF2-40B4-BE49-F238E27FC236}">
                <a16:creationId xmlns:a16="http://schemas.microsoft.com/office/drawing/2014/main" id="{7720F624-449C-5BCF-EECD-DF9D9BFB46A4}"/>
              </a:ext>
            </a:extLst>
          </p:cNvPr>
          <p:cNvSpPr/>
          <p:nvPr/>
        </p:nvSpPr>
        <p:spPr>
          <a:xfrm>
            <a:off x="1778493"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4" name="等腰三角形 63">
            <a:extLst>
              <a:ext uri="{FF2B5EF4-FFF2-40B4-BE49-F238E27FC236}">
                <a16:creationId xmlns:a16="http://schemas.microsoft.com/office/drawing/2014/main" id="{3802D0B9-20A9-55E5-0B98-E787D98C6305}"/>
              </a:ext>
            </a:extLst>
          </p:cNvPr>
          <p:cNvSpPr/>
          <p:nvPr/>
        </p:nvSpPr>
        <p:spPr>
          <a:xfrm flipV="1">
            <a:off x="3065642" y="5261772"/>
            <a:ext cx="214192" cy="111065"/>
          </a:xfrm>
          <a:prstGeom prst="triangle">
            <a:avLst/>
          </a:prstGeom>
          <a:solidFill>
            <a:schemeClr val="accent1"/>
          </a:solidFill>
          <a:ln w="12700" cap="flat" cmpd="sng" algn="ctr">
            <a:noFill/>
            <a:prstDash val="solid"/>
            <a:miter lim="800000"/>
          </a:ln>
          <a:effectLst>
            <a:outerShdw blurRad="76200" sx="102000" sy="102000" algn="ctr" rotWithShape="0">
              <a:prstClr val="black">
                <a:alpha val="1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endParaRPr>
          </a:p>
        </p:txBody>
      </p:sp>
      <p:sp>
        <p:nvSpPr>
          <p:cNvPr id="65" name="文本框 64">
            <a:extLst>
              <a:ext uri="{FF2B5EF4-FFF2-40B4-BE49-F238E27FC236}">
                <a16:creationId xmlns:a16="http://schemas.microsoft.com/office/drawing/2014/main" id="{BFE24891-0057-15FE-6336-F130CDF367A4}"/>
              </a:ext>
            </a:extLst>
          </p:cNvPr>
          <p:cNvSpPr txBox="1"/>
          <p:nvPr/>
        </p:nvSpPr>
        <p:spPr>
          <a:xfrm>
            <a:off x="1762681"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带季风区气候复杂，干旱的时空分布不均</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56EF7A17-F78E-CFCE-9C42-83AA064815CF}"/>
              </a:ext>
            </a:extLst>
          </p:cNvPr>
          <p:cNvSpPr txBox="1"/>
          <p:nvPr/>
        </p:nvSpPr>
        <p:spPr>
          <a:xfrm>
            <a:off x="5238662"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岩溶区土壤层较薄，保水能力弱，植物更容易受到干旱胁迫</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314CA427-B0F6-5C83-FFE1-E2F2F78E15CD}"/>
              </a:ext>
            </a:extLst>
          </p:cNvPr>
          <p:cNvSpPr txBox="1"/>
          <p:nvPr/>
        </p:nvSpPr>
        <p:spPr>
          <a:xfrm>
            <a:off x="8717890" y="2939804"/>
            <a:ext cx="2891781" cy="705962"/>
          </a:xfrm>
          <a:prstGeom prst="rect">
            <a:avLst/>
          </a:prstGeom>
          <a:noFill/>
        </p:spPr>
        <p:txBody>
          <a:bodyPr wrap="square">
            <a:spAutoFit/>
          </a:bodyPr>
          <a:lstStyle/>
          <a:p>
            <a:pPr>
              <a:lnSpc>
                <a:spcPct val="130000"/>
              </a:lnSpc>
            </a:pPr>
            <a:r>
              <a:rPr lang="zh-CN" altLang="en-US" sz="1600" dirty="0">
                <a:solidFill>
                  <a:srgbClr val="060607"/>
                </a:solidFill>
                <a:latin typeface="微软雅黑" panose="020B0503020204020204" pitchFamily="34" charset="-122"/>
                <a:ea typeface="微软雅黑" panose="020B0503020204020204" pitchFamily="34" charset="-122"/>
              </a:rPr>
              <a:t>不同岩性区域的土壤水、地下水和降水的同位素组成差异</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68" name="矩形 67">
            <a:extLst>
              <a:ext uri="{FF2B5EF4-FFF2-40B4-BE49-F238E27FC236}">
                <a16:creationId xmlns:a16="http://schemas.microsoft.com/office/drawing/2014/main" id="{C0898607-B318-3E2E-1246-3DE6C6BEE82C}"/>
              </a:ext>
            </a:extLst>
          </p:cNvPr>
          <p:cNvSpPr/>
          <p:nvPr/>
        </p:nvSpPr>
        <p:spPr>
          <a:xfrm>
            <a:off x="5253419"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9" name="矩形 68">
            <a:extLst>
              <a:ext uri="{FF2B5EF4-FFF2-40B4-BE49-F238E27FC236}">
                <a16:creationId xmlns:a16="http://schemas.microsoft.com/office/drawing/2014/main" id="{D92AC5AE-1008-76D1-98E6-9D052A98ED0C}"/>
              </a:ext>
            </a:extLst>
          </p:cNvPr>
          <p:cNvSpPr/>
          <p:nvPr/>
        </p:nvSpPr>
        <p:spPr>
          <a:xfrm>
            <a:off x="8728345" y="4033544"/>
            <a:ext cx="2788704" cy="1134251"/>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70" name="矩形 69">
            <a:extLst>
              <a:ext uri="{FF2B5EF4-FFF2-40B4-BE49-F238E27FC236}">
                <a16:creationId xmlns:a16="http://schemas.microsoft.com/office/drawing/2014/main" id="{EFCB47EC-864B-AAD5-A472-00AA391549FE}"/>
              </a:ext>
            </a:extLst>
          </p:cNvPr>
          <p:cNvSpPr/>
          <p:nvPr/>
        </p:nvSpPr>
        <p:spPr>
          <a:xfrm>
            <a:off x="5067365"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1" name="矩形 70">
            <a:extLst>
              <a:ext uri="{FF2B5EF4-FFF2-40B4-BE49-F238E27FC236}">
                <a16:creationId xmlns:a16="http://schemas.microsoft.com/office/drawing/2014/main" id="{D499CDC0-6EAF-4CDE-EC69-384809F6400E}"/>
              </a:ext>
            </a:extLst>
          </p:cNvPr>
          <p:cNvSpPr/>
          <p:nvPr/>
        </p:nvSpPr>
        <p:spPr>
          <a:xfrm>
            <a:off x="8542344" y="5466814"/>
            <a:ext cx="3160706" cy="83268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2" name="文本框 71">
            <a:extLst>
              <a:ext uri="{FF2B5EF4-FFF2-40B4-BE49-F238E27FC236}">
                <a16:creationId xmlns:a16="http://schemas.microsoft.com/office/drawing/2014/main" id="{328EC5CD-7D02-F580-116B-8C1346812E9D}"/>
              </a:ext>
            </a:extLst>
          </p:cNvPr>
          <p:cNvSpPr txBox="1"/>
          <p:nvPr/>
        </p:nvSpPr>
        <p:spPr>
          <a:xfrm>
            <a:off x="1887321"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构建综合干旱监测模型</a:t>
            </a: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记录土壤水分含量，评估干旱发生的时间、强度和持续时间</a:t>
            </a:r>
          </a:p>
        </p:txBody>
      </p:sp>
      <p:sp>
        <p:nvSpPr>
          <p:cNvPr id="73" name="文本框 72">
            <a:extLst>
              <a:ext uri="{FF2B5EF4-FFF2-40B4-BE49-F238E27FC236}">
                <a16:creationId xmlns:a16="http://schemas.microsoft.com/office/drawing/2014/main" id="{71C87C36-C89F-C97A-ACCF-307579A4CD32}"/>
              </a:ext>
            </a:extLst>
          </p:cNvPr>
          <p:cNvSpPr txBox="1"/>
          <p:nvPr/>
        </p:nvSpPr>
        <p:spPr>
          <a:xfrm>
            <a:off x="5362487"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分析植物的水分来源和效率</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测量植物叶片厚度、比叶面积等功能性状，分析其在不同岩性区域的变异</a:t>
            </a:r>
          </a:p>
        </p:txBody>
      </p:sp>
      <p:sp>
        <p:nvSpPr>
          <p:cNvPr id="74" name="文本框 73">
            <a:extLst>
              <a:ext uri="{FF2B5EF4-FFF2-40B4-BE49-F238E27FC236}">
                <a16:creationId xmlns:a16="http://schemas.microsoft.com/office/drawing/2014/main" id="{C39EBB13-14FE-D424-94A3-54641B4E3265}"/>
              </a:ext>
            </a:extLst>
          </p:cNvPr>
          <p:cNvSpPr txBox="1"/>
          <p:nvPr/>
        </p:nvSpPr>
        <p:spPr>
          <a:xfrm>
            <a:off x="8839955" y="4046254"/>
            <a:ext cx="2586289" cy="1108830"/>
          </a:xfrm>
          <a:prstGeom prst="rect">
            <a:avLst/>
          </a:prstGeom>
          <a:noFill/>
        </p:spPr>
        <p:txBody>
          <a:bodyPr wrap="square">
            <a:spAutoFit/>
          </a:bodyPr>
          <a:lstStyle/>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分析不同岩性区域土壤结构裂隙发育程度地下水分布</a:t>
            </a:r>
            <a:endParaRPr lang="en-US" altLang="zh-CN" sz="1400" dirty="0">
              <a:latin typeface="微软雅黑" panose="020B0503020204020204" pitchFamily="34" charset="-122"/>
              <a:ea typeface="微软雅黑" panose="020B0503020204020204" pitchFamily="34" charset="-122"/>
            </a:endParaRPr>
          </a:p>
          <a:p>
            <a:pPr marL="252000" indent="-252000">
              <a:lnSpc>
                <a:spcPct val="120000"/>
              </a:lnSpc>
              <a:buFont typeface="+mj-lt"/>
              <a:buAutoNum type="arabicPeriod"/>
            </a:pPr>
            <a:r>
              <a:rPr lang="zh-CN" altLang="en-US" sz="1400" dirty="0">
                <a:latin typeface="微软雅黑" panose="020B0503020204020204" pitchFamily="34" charset="-122"/>
                <a:ea typeface="微软雅黑" panose="020B0503020204020204" pitchFamily="34" charset="-122"/>
              </a:rPr>
              <a:t>模拟不同岩性森林在干旱条件下水分循环和动态变化</a:t>
            </a:r>
          </a:p>
        </p:txBody>
      </p:sp>
      <p:sp>
        <p:nvSpPr>
          <p:cNvPr id="75" name="文本框 74">
            <a:extLst>
              <a:ext uri="{FF2B5EF4-FFF2-40B4-BE49-F238E27FC236}">
                <a16:creationId xmlns:a16="http://schemas.microsoft.com/office/drawing/2014/main" id="{1EE41AD5-F1C9-DA54-A175-E37395E49415}"/>
              </a:ext>
            </a:extLst>
          </p:cNvPr>
          <p:cNvSpPr txBox="1"/>
          <p:nvPr/>
        </p:nvSpPr>
        <p:spPr>
          <a:xfrm>
            <a:off x="178318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构建综合干旱指数（</a:t>
            </a:r>
            <a:r>
              <a:rPr lang="en-US" altLang="zh-CN" sz="1600" dirty="0">
                <a:solidFill>
                  <a:prstClr val="white"/>
                </a:solidFill>
                <a:latin typeface="微软雅黑" panose="020B0503020204020204" pitchFamily="34" charset="-122"/>
                <a:ea typeface="微软雅黑" panose="020B0503020204020204" pitchFamily="34" charset="-122"/>
              </a:rPr>
              <a:t>CDI</a:t>
            </a:r>
            <a:r>
              <a:rPr lang="zh-CN" altLang="en-US" sz="1600" dirty="0">
                <a:solidFill>
                  <a:prstClr val="white"/>
                </a:solidFill>
                <a:latin typeface="微软雅黑" panose="020B0503020204020204" pitchFamily="34" charset="-122"/>
                <a:ea typeface="微软雅黑" panose="020B0503020204020204" pitchFamily="34" charset="-122"/>
              </a:rPr>
              <a:t>）以提高干旱监测的精度</a:t>
            </a:r>
          </a:p>
        </p:txBody>
      </p:sp>
      <p:sp>
        <p:nvSpPr>
          <p:cNvPr id="76" name="文本框 75">
            <a:extLst>
              <a:ext uri="{FF2B5EF4-FFF2-40B4-BE49-F238E27FC236}">
                <a16:creationId xmlns:a16="http://schemas.microsoft.com/office/drawing/2014/main" id="{0471995B-0ADD-228F-7FB6-8755CF317F35}"/>
              </a:ext>
            </a:extLst>
          </p:cNvPr>
          <p:cNvSpPr txBox="1"/>
          <p:nvPr/>
        </p:nvSpPr>
        <p:spPr>
          <a:xfrm>
            <a:off x="5227373" y="5540428"/>
            <a:ext cx="2978120"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模拟不同岩性森林对干旱的响应机制，预测未来气候变化</a:t>
            </a:r>
          </a:p>
        </p:txBody>
      </p:sp>
      <p:sp>
        <p:nvSpPr>
          <p:cNvPr id="77" name="文本框 76">
            <a:extLst>
              <a:ext uri="{FF2B5EF4-FFF2-40B4-BE49-F238E27FC236}">
                <a16:creationId xmlns:a16="http://schemas.microsoft.com/office/drawing/2014/main" id="{55346BD5-E333-F829-FAEC-63EC306B2F91}"/>
              </a:ext>
            </a:extLst>
          </p:cNvPr>
          <p:cNvSpPr txBox="1"/>
          <p:nvPr/>
        </p:nvSpPr>
        <p:spPr>
          <a:xfrm>
            <a:off x="8739634" y="5540428"/>
            <a:ext cx="2801686" cy="662874"/>
          </a:xfrm>
          <a:prstGeom prst="rect">
            <a:avLst/>
          </a:prstGeom>
          <a:noFill/>
        </p:spPr>
        <p:txBody>
          <a:bodyPr wrap="square">
            <a:spAutoFit/>
          </a:bodyPr>
          <a:lstStyle/>
          <a:p>
            <a:pPr>
              <a:lnSpc>
                <a:spcPct val="120000"/>
              </a:lnSpc>
            </a:pPr>
            <a:r>
              <a:rPr lang="zh-CN" altLang="en-US" sz="1600" dirty="0">
                <a:solidFill>
                  <a:prstClr val="white"/>
                </a:solidFill>
                <a:latin typeface="微软雅黑" panose="020B0503020204020204" pitchFamily="34" charset="-122"/>
                <a:ea typeface="微软雅黑" panose="020B0503020204020204" pitchFamily="34" charset="-122"/>
              </a:rPr>
              <a:t>建立干旱指标与生态系统响应之间的关联模型</a:t>
            </a:r>
          </a:p>
        </p:txBody>
      </p:sp>
    </p:spTree>
    <p:extLst>
      <p:ext uri="{BB962C8B-B14F-4D97-AF65-F5344CB8AC3E}">
        <p14:creationId xmlns:p14="http://schemas.microsoft.com/office/powerpoint/2010/main" val="2857911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1EAE4-6472-D17B-AE46-895E1F389AA5}"/>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98145D44-1CE2-DFB8-865A-6C18EB914DE0}"/>
              </a:ext>
            </a:extLst>
          </p:cNvPr>
          <p:cNvSpPr/>
          <p:nvPr/>
        </p:nvSpPr>
        <p:spPr>
          <a:xfrm>
            <a:off x="4746003" y="2313832"/>
            <a:ext cx="7003084" cy="4165603"/>
          </a:xfrm>
          <a:prstGeom prst="roundRect">
            <a:avLst>
              <a:gd name="adj" fmla="val 1384"/>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r>
              <a:rPr lang="en-US" altLang="zh-CN" kern="0" dirty="0">
                <a:solidFill>
                  <a:prstClr val="white"/>
                </a:solidFill>
                <a:latin typeface="Arial" panose="020B0604020202020204" pitchFamily="34" charset="0"/>
                <a:ea typeface="微软雅黑" panose="020B0503020204020204" pitchFamily="34" charset="-122"/>
              </a:rPr>
              <a:t>0.25</a:t>
            </a:r>
          </a:p>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7" name="矩形 6">
            <a:extLst>
              <a:ext uri="{FF2B5EF4-FFF2-40B4-BE49-F238E27FC236}">
                <a16:creationId xmlns:a16="http://schemas.microsoft.com/office/drawing/2014/main" id="{764D790B-92A7-989F-28B9-C977FE3CDBF9}"/>
              </a:ext>
            </a:extLst>
          </p:cNvPr>
          <p:cNvSpPr>
            <a:spLocks/>
          </p:cNvSpPr>
          <p:nvPr/>
        </p:nvSpPr>
        <p:spPr>
          <a:xfrm rot="16200000">
            <a:off x="505249" y="2412682"/>
            <a:ext cx="4165602" cy="3967903"/>
          </a:xfrm>
          <a:prstGeom prst="rect">
            <a:avLst/>
          </a:prstGeom>
          <a:gradFill flip="none" rotWithShape="1">
            <a:gsLst>
              <a:gs pos="25000">
                <a:schemeClr val="accent3"/>
              </a:gs>
              <a:gs pos="99083">
                <a:schemeClr val="bg1"/>
              </a:gs>
            </a:gsLst>
            <a:lin ang="5400000" scaled="1"/>
            <a:tileRect/>
          </a:gradFill>
          <a:ln w="3175" cap="flat" cmpd="sng" algn="ctr">
            <a:solidFill>
              <a:srgbClr val="0B4FA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90" name="文本框 89">
            <a:extLst>
              <a:ext uri="{FF2B5EF4-FFF2-40B4-BE49-F238E27FC236}">
                <a16:creationId xmlns:a16="http://schemas.microsoft.com/office/drawing/2014/main" id="{9497BA88-AC6C-71C4-5B6A-1C8C808E98EA}"/>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E0FF6C81-BA6D-113C-44C5-5D2EA3A76F7A}"/>
              </a:ext>
            </a:extLst>
          </p:cNvPr>
          <p:cNvSpPr txBox="1"/>
          <p:nvPr/>
        </p:nvSpPr>
        <p:spPr>
          <a:xfrm>
            <a:off x="946461" y="269201"/>
            <a:ext cx="6440714" cy="523220"/>
          </a:xfrm>
          <a:prstGeom prst="rect">
            <a:avLst/>
          </a:prstGeom>
          <a:noFill/>
        </p:spPr>
        <p:txBody>
          <a:bodyPr wrap="square">
            <a:spAutoFit/>
          </a:bodyPr>
          <a:lstStyle/>
          <a:p>
            <a:r>
              <a:rPr lang="zh-CN" altLang="en-US" sz="2800" b="1" dirty="0">
                <a:solidFill>
                  <a:schemeClr val="accent1"/>
                </a:solidFill>
              </a:rPr>
              <a:t>研究背景</a:t>
            </a:r>
          </a:p>
        </p:txBody>
      </p:sp>
      <p:sp>
        <p:nvSpPr>
          <p:cNvPr id="2" name="矩形: 圆角 1">
            <a:extLst>
              <a:ext uri="{FF2B5EF4-FFF2-40B4-BE49-F238E27FC236}">
                <a16:creationId xmlns:a16="http://schemas.microsoft.com/office/drawing/2014/main" id="{0EFE5007-6376-64C6-7AF9-D235A04A80FC}"/>
              </a:ext>
            </a:extLst>
          </p:cNvPr>
          <p:cNvSpPr/>
          <p:nvPr/>
        </p:nvSpPr>
        <p:spPr>
          <a:xfrm>
            <a:off x="442912" y="1147650"/>
            <a:ext cx="11306175" cy="1011350"/>
          </a:xfrm>
          <a:prstGeom prst="roundRect">
            <a:avLst>
              <a:gd name="adj" fmla="val 4650"/>
            </a:avLst>
          </a:prstGeom>
          <a:solidFill>
            <a:schemeClr val="bg1"/>
          </a:solidFill>
          <a:ln w="3175" cap="flat" cmpd="sng" algn="ctr">
            <a:solidFill>
              <a:schemeClr val="accent1"/>
            </a:solidFill>
            <a:prstDash val="solid"/>
            <a:miter lim="800000"/>
          </a:ln>
          <a:effectLst>
            <a:outerShdw blurRad="266700" dist="215900" dir="8100000" algn="tr" rotWithShape="0">
              <a:schemeClr val="accent1">
                <a:alpha val="8000"/>
              </a:schemeClr>
            </a:outerShdw>
          </a:effectLst>
        </p:spPr>
        <p:txBody>
          <a:bodyPr rtlCol="0" anchor="ctr"/>
          <a:lstStyle/>
          <a:p>
            <a:pPr algn="ctr"/>
            <a:r>
              <a:rPr lang="en-US" altLang="zh-CN" kern="0" dirty="0">
                <a:solidFill>
                  <a:prstClr val="white"/>
                </a:solidFill>
                <a:latin typeface="Arial" panose="020B0604020202020204" pitchFamily="34" charset="0"/>
                <a:ea typeface="微软雅黑" panose="020B0503020204020204" pitchFamily="34" charset="-122"/>
              </a:rPr>
              <a:t>0.25</a:t>
            </a:r>
          </a:p>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3" name="文本框 2">
            <a:extLst>
              <a:ext uri="{FF2B5EF4-FFF2-40B4-BE49-F238E27FC236}">
                <a16:creationId xmlns:a16="http://schemas.microsoft.com/office/drawing/2014/main" id="{A69212DD-8DB6-7A68-A050-12670D321F9C}"/>
              </a:ext>
            </a:extLst>
          </p:cNvPr>
          <p:cNvSpPr txBox="1"/>
          <p:nvPr/>
        </p:nvSpPr>
        <p:spPr>
          <a:xfrm>
            <a:off x="442913" y="1214744"/>
            <a:ext cx="11306176" cy="876843"/>
          </a:xfrm>
          <a:prstGeom prst="rect">
            <a:avLst/>
          </a:prstGeom>
          <a:noFill/>
        </p:spPr>
        <p:txBody>
          <a:bodyPr wrap="square">
            <a:spAutoFit/>
          </a:bodyPr>
          <a:lstStyle/>
          <a:p>
            <a:pPr marL="342900" indent="-342900">
              <a:lnSpc>
                <a:spcPct val="120000"/>
              </a:lnSpc>
              <a:buFont typeface="Wingdings" panose="05000000000000000000" pitchFamily="2" charset="2"/>
              <a:buChar char="Ø"/>
            </a:pPr>
            <a:r>
              <a:rPr lang="zh-CN" altLang="en-US" sz="2200" b="1" dirty="0">
                <a:latin typeface="微软雅黑" panose="020B0503020204020204" pitchFamily="34" charset="-122"/>
                <a:ea typeface="微软雅黑" panose="020B0503020204020204" pitchFamily="34" charset="-122"/>
              </a:rPr>
              <a:t>高光谱</a:t>
            </a:r>
            <a:r>
              <a:rPr lang="en-US" altLang="zh-CN" sz="2200" b="1" dirty="0">
                <a:latin typeface="微软雅黑" panose="020B0503020204020204" pitchFamily="34" charset="-122"/>
                <a:ea typeface="微软雅黑" panose="020B0503020204020204" pitchFamily="34" charset="-122"/>
              </a:rPr>
              <a:t>3D</a:t>
            </a:r>
            <a:r>
              <a:rPr lang="zh-CN" altLang="en-US" sz="2200" b="1" dirty="0">
                <a:latin typeface="微软雅黑" panose="020B0503020204020204" pitchFamily="34" charset="-122"/>
                <a:ea typeface="微软雅黑" panose="020B0503020204020204" pitchFamily="34" charset="-122"/>
              </a:rPr>
              <a:t>图像解混是指：从混合像元中分解与提取各个地物光谱并求得其对应比例，即将混合像元分解成不同的端元组合，并求得端元在该像元中所占的比例</a:t>
            </a:r>
          </a:p>
        </p:txBody>
      </p:sp>
      <p:pic>
        <p:nvPicPr>
          <p:cNvPr id="5" name="图片 4" descr="图示&#10;&#10;描述已自动生成">
            <a:extLst>
              <a:ext uri="{FF2B5EF4-FFF2-40B4-BE49-F238E27FC236}">
                <a16:creationId xmlns:a16="http://schemas.microsoft.com/office/drawing/2014/main" id="{DA2705C0-9165-E0C9-64D5-799D1F598D1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74329" y="2998391"/>
            <a:ext cx="3483429" cy="2519772"/>
          </a:xfrm>
          <a:prstGeom prst="roundRect">
            <a:avLst>
              <a:gd name="adj" fmla="val 308"/>
            </a:avLst>
          </a:prstGeom>
          <a:ln w="1270">
            <a:solidFill>
              <a:srgbClr val="0B4FA1"/>
            </a:solidFill>
          </a:ln>
        </p:spPr>
      </p:pic>
      <p:sp>
        <p:nvSpPr>
          <p:cNvPr id="8" name="直角三角形 7">
            <a:extLst>
              <a:ext uri="{FF2B5EF4-FFF2-40B4-BE49-F238E27FC236}">
                <a16:creationId xmlns:a16="http://schemas.microsoft.com/office/drawing/2014/main" id="{ED38C6BF-2DCA-C070-AEFD-0BD580B86469}"/>
              </a:ext>
            </a:extLst>
          </p:cNvPr>
          <p:cNvSpPr/>
          <p:nvPr/>
        </p:nvSpPr>
        <p:spPr>
          <a:xfrm rot="16200000" flipH="1">
            <a:off x="476962" y="2784297"/>
            <a:ext cx="80272" cy="173997"/>
          </a:xfrm>
          <a:prstGeom prst="rtTriangle">
            <a:avLst/>
          </a:prstGeom>
          <a:solidFill>
            <a:schemeClr val="accent1">
              <a:lumMod val="50000"/>
            </a:scheme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9" name="矩形: 单圆角 8">
            <a:extLst>
              <a:ext uri="{FF2B5EF4-FFF2-40B4-BE49-F238E27FC236}">
                <a16:creationId xmlns:a16="http://schemas.microsoft.com/office/drawing/2014/main" id="{9B0A6EE0-945D-AE85-72E0-0F5B34E4059E}"/>
              </a:ext>
            </a:extLst>
          </p:cNvPr>
          <p:cNvSpPr>
            <a:spLocks/>
          </p:cNvSpPr>
          <p:nvPr/>
        </p:nvSpPr>
        <p:spPr>
          <a:xfrm>
            <a:off x="430097" y="2442753"/>
            <a:ext cx="1901623" cy="393169"/>
          </a:xfrm>
          <a:prstGeom prst="round1Rect">
            <a:avLst>
              <a:gd name="adj" fmla="val 50000"/>
            </a:avLst>
          </a:prstGeom>
          <a:solidFill>
            <a:schemeClr val="accent1"/>
          </a:solidFill>
          <a:ln w="19050" cap="flat" cmpd="sng" algn="ctr">
            <a:noFill/>
            <a:prstDash val="solid"/>
            <a:miter lim="800000"/>
          </a:ln>
          <a:effectLst>
            <a:outerShdw blurRad="139700" dist="38100" dir="2700000" sx="103000" sy="103000" algn="tl" rotWithShape="0">
              <a:prstClr val="black">
                <a:alpha val="15000"/>
              </a:prstClr>
            </a:outerShdw>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ED9511C6-438C-1701-441C-35072BBF4CCC}"/>
              </a:ext>
            </a:extLst>
          </p:cNvPr>
          <p:cNvSpPr txBox="1"/>
          <p:nvPr/>
        </p:nvSpPr>
        <p:spPr>
          <a:xfrm>
            <a:off x="604097" y="2450060"/>
            <a:ext cx="1727624" cy="400110"/>
          </a:xfrm>
          <a:prstGeom prst="rect">
            <a:avLst/>
          </a:prstGeom>
          <a:noFill/>
        </p:spPr>
        <p:txBody>
          <a:bodyPr wrap="square">
            <a:spAutoFit/>
          </a:bodyPr>
          <a:lstStyle/>
          <a:p>
            <a:pPr algn="ctr"/>
            <a:r>
              <a:rPr lang="zh-CN" altLang="en-US" sz="20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光谱遥感</a:t>
            </a:r>
          </a:p>
        </p:txBody>
      </p:sp>
      <p:sp>
        <p:nvSpPr>
          <p:cNvPr id="11" name="矩形 10">
            <a:extLst>
              <a:ext uri="{FF2B5EF4-FFF2-40B4-BE49-F238E27FC236}">
                <a16:creationId xmlns:a16="http://schemas.microsoft.com/office/drawing/2014/main" id="{860931B6-05B6-AB1E-185C-281A9ADCFC1C}"/>
              </a:ext>
            </a:extLst>
          </p:cNvPr>
          <p:cNvSpPr/>
          <p:nvPr/>
        </p:nvSpPr>
        <p:spPr>
          <a:xfrm>
            <a:off x="874329" y="5160261"/>
            <a:ext cx="3483429" cy="357902"/>
          </a:xfrm>
          <a:prstGeom prst="rect">
            <a:avLst/>
          </a:prstGeom>
          <a:solidFill>
            <a:schemeClr val="accent1"/>
          </a:solidFill>
          <a:ln w="127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54A1F4A3-36E3-3BA7-11D8-BEDB95D60543}"/>
              </a:ext>
            </a:extLst>
          </p:cNvPr>
          <p:cNvSpPr txBox="1"/>
          <p:nvPr/>
        </p:nvSpPr>
        <p:spPr>
          <a:xfrm>
            <a:off x="981619" y="5148831"/>
            <a:ext cx="3304650" cy="369332"/>
          </a:xfrm>
          <a:prstGeom prst="rect">
            <a:avLst/>
          </a:prstGeom>
          <a:noFill/>
        </p:spPr>
        <p:txBody>
          <a:bodyPr wrap="square">
            <a:spAutoFit/>
          </a:bodyPr>
          <a:lstStyle/>
          <a:p>
            <a:pPr algn="ctr"/>
            <a:r>
              <a:rPr lang="zh-CN" altLang="en-US"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高光谱遥感原理图</a:t>
            </a:r>
          </a:p>
        </p:txBody>
      </p:sp>
      <p:sp>
        <p:nvSpPr>
          <p:cNvPr id="13" name="文本框 12">
            <a:extLst>
              <a:ext uri="{FF2B5EF4-FFF2-40B4-BE49-F238E27FC236}">
                <a16:creationId xmlns:a16="http://schemas.microsoft.com/office/drawing/2014/main" id="{25681A15-0FBC-A2D1-3C74-D9A34D4502B1}"/>
              </a:ext>
            </a:extLst>
          </p:cNvPr>
          <p:cNvSpPr txBox="1"/>
          <p:nvPr/>
        </p:nvSpPr>
        <p:spPr>
          <a:xfrm>
            <a:off x="798219" y="5648770"/>
            <a:ext cx="3579661" cy="663130"/>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作为遥感技术发展过程中的重大创新，为观测地物提供了有效手段</a:t>
            </a:r>
            <a:endParaRPr lang="en-US" altLang="zh-CN" sz="1600" dirty="0">
              <a:latin typeface="微软雅黑" panose="020B0503020204020204" pitchFamily="34" charset="-122"/>
              <a:ea typeface="微软雅黑" panose="020B0503020204020204" pitchFamily="34" charset="-122"/>
            </a:endParaRPr>
          </a:p>
        </p:txBody>
      </p:sp>
      <p:pic>
        <p:nvPicPr>
          <p:cNvPr id="14" name="图片 13">
            <a:extLst>
              <a:ext uri="{FF2B5EF4-FFF2-40B4-BE49-F238E27FC236}">
                <a16:creationId xmlns:a16="http://schemas.microsoft.com/office/drawing/2014/main" id="{6C596D9B-5A71-3788-7C34-954C184236B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36365" y="2987699"/>
            <a:ext cx="4143203" cy="2068760"/>
          </a:xfrm>
          <a:prstGeom prst="roundRect">
            <a:avLst>
              <a:gd name="adj" fmla="val 528"/>
            </a:avLst>
          </a:prstGeom>
          <a:ln w="3175">
            <a:solidFill>
              <a:srgbClr val="0B4FA1"/>
            </a:solidFill>
          </a:ln>
        </p:spPr>
      </p:pic>
      <p:sp>
        <p:nvSpPr>
          <p:cNvPr id="15" name="文本框 14">
            <a:extLst>
              <a:ext uri="{FF2B5EF4-FFF2-40B4-BE49-F238E27FC236}">
                <a16:creationId xmlns:a16="http://schemas.microsoft.com/office/drawing/2014/main" id="{736F137E-901A-56AD-DA2E-84C5E59D10C7}"/>
              </a:ext>
            </a:extLst>
          </p:cNvPr>
          <p:cNvSpPr txBox="1"/>
          <p:nvPr/>
        </p:nvSpPr>
        <p:spPr>
          <a:xfrm>
            <a:off x="4833314" y="2435812"/>
            <a:ext cx="5985012" cy="400110"/>
          </a:xfrm>
          <a:prstGeom prst="rect">
            <a:avLst/>
          </a:prstGeom>
          <a:noFill/>
        </p:spPr>
        <p:txBody>
          <a:bodyPr wrap="square">
            <a:spAutoFit/>
          </a:bodyPr>
          <a:lstStyle/>
          <a:p>
            <a:pPr marL="285750" indent="-285750">
              <a:buFont typeface="Wingdings" panose="05000000000000000000" pitchFamily="2" charset="2"/>
              <a:buChar char="Ø"/>
            </a:pPr>
            <a:r>
              <a:rPr lang="zh-CN" altLang="en-US" sz="2000" b="1" dirty="0">
                <a:solidFill>
                  <a:schemeClr val="accent1"/>
                </a:solidFill>
                <a:latin typeface="微软雅黑" panose="020B0503020204020204" pitchFamily="34" charset="-122"/>
                <a:ea typeface="微软雅黑" panose="020B0503020204020204" pitchFamily="34" charset="-122"/>
              </a:rPr>
              <a:t>基于协同稀疏和</a:t>
            </a:r>
            <a:r>
              <a:rPr lang="en-US" altLang="zh-CN" sz="2000" b="1" dirty="0">
                <a:solidFill>
                  <a:schemeClr val="accent1"/>
                </a:solidFill>
                <a:latin typeface="微软雅黑" panose="020B0503020204020204" pitchFamily="34" charset="-122"/>
                <a:ea typeface="微软雅黑" panose="020B0503020204020204" pitchFamily="34" charset="-122"/>
              </a:rPr>
              <a:t>TV</a:t>
            </a:r>
            <a:r>
              <a:rPr lang="zh-CN" altLang="en-US" sz="2000" b="1" dirty="0">
                <a:solidFill>
                  <a:schemeClr val="accent1"/>
                </a:solidFill>
                <a:latin typeface="微软雅黑" panose="020B0503020204020204" pitchFamily="34" charset="-122"/>
                <a:ea typeface="微软雅黑" panose="020B0503020204020204" pitchFamily="34" charset="-122"/>
              </a:rPr>
              <a:t>正则项的高光谱线性解混方法</a:t>
            </a:r>
          </a:p>
        </p:txBody>
      </p:sp>
      <p:sp>
        <p:nvSpPr>
          <p:cNvPr id="24" name="矩形: 圆角 23">
            <a:extLst>
              <a:ext uri="{FF2B5EF4-FFF2-40B4-BE49-F238E27FC236}">
                <a16:creationId xmlns:a16="http://schemas.microsoft.com/office/drawing/2014/main" id="{F5028CAC-A28C-E5AD-C14F-6C29AB51DE39}"/>
              </a:ext>
            </a:extLst>
          </p:cNvPr>
          <p:cNvSpPr/>
          <p:nvPr/>
        </p:nvSpPr>
        <p:spPr>
          <a:xfrm>
            <a:off x="9338003" y="3307602"/>
            <a:ext cx="2154921" cy="365838"/>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5" name="文本框 24">
            <a:extLst>
              <a:ext uri="{FF2B5EF4-FFF2-40B4-BE49-F238E27FC236}">
                <a16:creationId xmlns:a16="http://schemas.microsoft.com/office/drawing/2014/main" id="{6128CFAB-D96C-E8F4-0909-534167721054}"/>
              </a:ext>
            </a:extLst>
          </p:cNvPr>
          <p:cNvSpPr txBox="1"/>
          <p:nvPr/>
        </p:nvSpPr>
        <p:spPr>
          <a:xfrm>
            <a:off x="9635143" y="3316627"/>
            <a:ext cx="1591771" cy="347788"/>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rPr>
              <a:t>提高解混精度</a:t>
            </a:r>
          </a:p>
        </p:txBody>
      </p:sp>
      <p:sp>
        <p:nvSpPr>
          <p:cNvPr id="22" name="矩形: 圆角 21">
            <a:extLst>
              <a:ext uri="{FF2B5EF4-FFF2-40B4-BE49-F238E27FC236}">
                <a16:creationId xmlns:a16="http://schemas.microsoft.com/office/drawing/2014/main" id="{6550DE41-9230-4853-79B9-C7A3C5FE9ACC}"/>
              </a:ext>
            </a:extLst>
          </p:cNvPr>
          <p:cNvSpPr/>
          <p:nvPr/>
        </p:nvSpPr>
        <p:spPr>
          <a:xfrm>
            <a:off x="9338003" y="4370718"/>
            <a:ext cx="2154921" cy="365838"/>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3" name="文本框 22">
            <a:extLst>
              <a:ext uri="{FF2B5EF4-FFF2-40B4-BE49-F238E27FC236}">
                <a16:creationId xmlns:a16="http://schemas.microsoft.com/office/drawing/2014/main" id="{2F659CBF-CB65-7C4D-1D77-669674C82130}"/>
              </a:ext>
            </a:extLst>
          </p:cNvPr>
          <p:cNvSpPr txBox="1"/>
          <p:nvPr/>
        </p:nvSpPr>
        <p:spPr>
          <a:xfrm>
            <a:off x="9485511" y="4349552"/>
            <a:ext cx="1891034" cy="376642"/>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rPr>
              <a:t>全局施加协同稀疏</a:t>
            </a:r>
          </a:p>
        </p:txBody>
      </p:sp>
      <p:sp>
        <p:nvSpPr>
          <p:cNvPr id="20" name="矩形: 圆角 19">
            <a:extLst>
              <a:ext uri="{FF2B5EF4-FFF2-40B4-BE49-F238E27FC236}">
                <a16:creationId xmlns:a16="http://schemas.microsoft.com/office/drawing/2014/main" id="{723E9D72-C5F8-06C9-15F2-74E589D85E7E}"/>
              </a:ext>
            </a:extLst>
          </p:cNvPr>
          <p:cNvSpPr/>
          <p:nvPr/>
        </p:nvSpPr>
        <p:spPr>
          <a:xfrm>
            <a:off x="9338003" y="3839160"/>
            <a:ext cx="2154921" cy="365838"/>
          </a:xfrm>
          <a:prstGeom prst="roundRect">
            <a:avLst>
              <a:gd name="adj" fmla="val 50000"/>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1" name="文本框 20">
            <a:extLst>
              <a:ext uri="{FF2B5EF4-FFF2-40B4-BE49-F238E27FC236}">
                <a16:creationId xmlns:a16="http://schemas.microsoft.com/office/drawing/2014/main" id="{6B8DBD49-F9A7-8D97-6F18-E2FFCCD7FEE6}"/>
              </a:ext>
            </a:extLst>
          </p:cNvPr>
          <p:cNvSpPr txBox="1"/>
          <p:nvPr/>
        </p:nvSpPr>
        <p:spPr>
          <a:xfrm>
            <a:off x="9601890" y="3817994"/>
            <a:ext cx="1625024" cy="376642"/>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rPr>
              <a:t>利用行稀疏特性</a:t>
            </a:r>
          </a:p>
        </p:txBody>
      </p:sp>
      <p:sp>
        <p:nvSpPr>
          <p:cNvPr id="26" name="矩形: 圆角 25">
            <a:extLst>
              <a:ext uri="{FF2B5EF4-FFF2-40B4-BE49-F238E27FC236}">
                <a16:creationId xmlns:a16="http://schemas.microsoft.com/office/drawing/2014/main" id="{70D4581F-27FC-6A87-2D66-C555633C72B4}"/>
              </a:ext>
            </a:extLst>
          </p:cNvPr>
          <p:cNvSpPr/>
          <p:nvPr/>
        </p:nvSpPr>
        <p:spPr>
          <a:xfrm>
            <a:off x="5046108" y="5222180"/>
            <a:ext cx="6541793" cy="1089720"/>
          </a:xfrm>
          <a:prstGeom prst="roundRect">
            <a:avLst>
              <a:gd name="adj" fmla="val 5371"/>
            </a:avLst>
          </a:prstGeom>
          <a:solidFill>
            <a:schemeClr val="accent1">
              <a:alpha val="5000"/>
            </a:schemeClr>
          </a:solidFill>
          <a:ln w="635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8DB874B4-1FB4-366F-AD92-6F09CF27FF12}"/>
              </a:ext>
            </a:extLst>
          </p:cNvPr>
          <p:cNvSpPr txBox="1"/>
          <p:nvPr/>
        </p:nvSpPr>
        <p:spPr>
          <a:xfrm>
            <a:off x="5161530" y="5365712"/>
            <a:ext cx="1795861" cy="802656"/>
          </a:xfrm>
          <a:prstGeom prst="rect">
            <a:avLst/>
          </a:prstGeom>
          <a:noFill/>
        </p:spPr>
        <p:txBody>
          <a:bodyPr wrap="square">
            <a:spAutoFit/>
          </a:bodyPr>
          <a:lstStyle/>
          <a:p>
            <a:pPr algn="ctr">
              <a:lnSpc>
                <a:spcPct val="120000"/>
              </a:lnSpc>
            </a:pPr>
            <a:r>
              <a:rPr lang="zh-CN" altLang="en-US" sz="2000" b="1" dirty="0">
                <a:latin typeface="微软雅黑" panose="020B0503020204020204" pitchFamily="34" charset="-122"/>
                <a:ea typeface="微软雅黑" panose="020B0503020204020204" pitchFamily="34" charset="-122"/>
              </a:rPr>
              <a:t>稀疏性高光谱解混模型</a:t>
            </a:r>
          </a:p>
        </p:txBody>
      </p:sp>
      <p:cxnSp>
        <p:nvCxnSpPr>
          <p:cNvPr id="28" name="直接连接符 27">
            <a:extLst>
              <a:ext uri="{FF2B5EF4-FFF2-40B4-BE49-F238E27FC236}">
                <a16:creationId xmlns:a16="http://schemas.microsoft.com/office/drawing/2014/main" id="{6F870A4D-5763-68BC-39A4-5D18DC40E6CF}"/>
              </a:ext>
            </a:extLst>
          </p:cNvPr>
          <p:cNvCxnSpPr>
            <a:cxnSpLocks/>
          </p:cNvCxnSpPr>
          <p:nvPr/>
        </p:nvCxnSpPr>
        <p:spPr>
          <a:xfrm>
            <a:off x="7107966" y="5319515"/>
            <a:ext cx="0" cy="895050"/>
          </a:xfrm>
          <a:prstGeom prst="line">
            <a:avLst/>
          </a:prstGeom>
          <a:noFill/>
          <a:ln w="2540" cap="flat" cmpd="sng" algn="ctr">
            <a:solidFill>
              <a:sysClr val="window" lastClr="FFFFFF">
                <a:lumMod val="85000"/>
              </a:sysClr>
            </a:solidFill>
            <a:prstDash val="solid"/>
            <a:miter lim="800000"/>
          </a:ln>
          <a:effectLst/>
        </p:spPr>
      </p:cxnSp>
      <p:sp>
        <p:nvSpPr>
          <p:cNvPr id="29" name="文本框 28">
            <a:extLst>
              <a:ext uri="{FF2B5EF4-FFF2-40B4-BE49-F238E27FC236}">
                <a16:creationId xmlns:a16="http://schemas.microsoft.com/office/drawing/2014/main" id="{88B218F7-C27A-A7C8-FE1D-51DE65D30E78}"/>
              </a:ext>
            </a:extLst>
          </p:cNvPr>
          <p:cNvSpPr txBox="1"/>
          <p:nvPr/>
        </p:nvSpPr>
        <p:spPr>
          <a:xfrm>
            <a:off x="7148103" y="5419455"/>
            <a:ext cx="4344822" cy="663130"/>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mn-ea"/>
              </a:rPr>
              <a:t>基于非负矩阵分解的稀疏性高光谱解混方法</a:t>
            </a:r>
            <a:endParaRPr lang="en-US" altLang="zh-CN" sz="1600" dirty="0">
              <a:latin typeface="+mn-ea"/>
            </a:endParaRPr>
          </a:p>
          <a:p>
            <a:pPr marL="285750" indent="-285750">
              <a:lnSpc>
                <a:spcPct val="120000"/>
              </a:lnSpc>
              <a:buFont typeface="Wingdings" panose="05000000000000000000" pitchFamily="2" charset="2"/>
              <a:buChar char="Ø"/>
            </a:pPr>
            <a:r>
              <a:rPr lang="zh-CN" altLang="en-US" sz="1600" dirty="0">
                <a:latin typeface="+mn-ea"/>
              </a:rPr>
              <a:t>基于光谱库的稀疏性高光谱解混方法</a:t>
            </a:r>
          </a:p>
        </p:txBody>
      </p:sp>
    </p:spTree>
    <p:extLst>
      <p:ext uri="{BB962C8B-B14F-4D97-AF65-F5344CB8AC3E}">
        <p14:creationId xmlns:p14="http://schemas.microsoft.com/office/powerpoint/2010/main" val="418611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C7F92-9293-B59D-2DE6-2DB6188AD385}"/>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D974B1A9-EA78-9DDD-0C77-372F5B9CAD76}"/>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0F0E9114-BD5E-4531-B04D-1539D4EDDF89}"/>
              </a:ext>
            </a:extLst>
          </p:cNvPr>
          <p:cNvSpPr txBox="1"/>
          <p:nvPr/>
        </p:nvSpPr>
        <p:spPr>
          <a:xfrm>
            <a:off x="946461" y="269201"/>
            <a:ext cx="6440714" cy="523220"/>
          </a:xfrm>
          <a:prstGeom prst="rect">
            <a:avLst/>
          </a:prstGeom>
          <a:noFill/>
        </p:spPr>
        <p:txBody>
          <a:bodyPr wrap="square">
            <a:spAutoFit/>
          </a:bodyPr>
          <a:lstStyle/>
          <a:p>
            <a:r>
              <a:rPr lang="zh-CN" altLang="en-US" sz="2800" b="1" dirty="0">
                <a:solidFill>
                  <a:schemeClr val="accent1"/>
                </a:solidFill>
              </a:rPr>
              <a:t>立项依据与研究现状</a:t>
            </a:r>
          </a:p>
        </p:txBody>
      </p:sp>
      <p:sp>
        <p:nvSpPr>
          <p:cNvPr id="20" name="矩形 19">
            <a:extLst>
              <a:ext uri="{FF2B5EF4-FFF2-40B4-BE49-F238E27FC236}">
                <a16:creationId xmlns:a16="http://schemas.microsoft.com/office/drawing/2014/main" id="{0EEF0EFC-D9C9-A29D-1C2A-1FE96C668B77}"/>
              </a:ext>
            </a:extLst>
          </p:cNvPr>
          <p:cNvSpPr/>
          <p:nvPr/>
        </p:nvSpPr>
        <p:spPr>
          <a:xfrm>
            <a:off x="472442" y="1316990"/>
            <a:ext cx="11071860" cy="461665"/>
          </a:xfrm>
          <a:prstGeom prst="rect">
            <a:avLst/>
          </a:prstGeom>
          <a:noFill/>
          <a:ln w="15875" cap="flat" cmpd="sng" algn="ctr">
            <a:solidFill>
              <a:schemeClr val="accent1"/>
            </a:solidFill>
            <a:prstDash val="solid"/>
            <a:miter lim="800000"/>
          </a:ln>
          <a:effectLst/>
          <a:extLst>
            <a:ext uri="{909E8E84-426E-40DD-AFC4-6F175D3DCCD1}">
              <a14:hiddenFill xmlns:a14="http://schemas.microsoft.com/office/drawing/2010/main">
                <a:solidFill>
                  <a:srgbClr val="0070C0"/>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21" name="任意多边形: 形状 20">
            <a:extLst>
              <a:ext uri="{FF2B5EF4-FFF2-40B4-BE49-F238E27FC236}">
                <a16:creationId xmlns:a16="http://schemas.microsoft.com/office/drawing/2014/main" id="{A28C3A2E-B382-7FDA-FE64-54C0532F6FAF}"/>
              </a:ext>
            </a:extLst>
          </p:cNvPr>
          <p:cNvSpPr/>
          <p:nvPr/>
        </p:nvSpPr>
        <p:spPr>
          <a:xfrm>
            <a:off x="472442" y="1316989"/>
            <a:ext cx="1819275" cy="461665"/>
          </a:xfrm>
          <a:custGeom>
            <a:avLst/>
            <a:gdLst>
              <a:gd name="connsiteX0" fmla="*/ 0 w 1819275"/>
              <a:gd name="connsiteY0" fmla="*/ 0 h 461665"/>
              <a:gd name="connsiteX1" fmla="*/ 1819275 w 1819275"/>
              <a:gd name="connsiteY1" fmla="*/ 0 h 461665"/>
              <a:gd name="connsiteX2" fmla="*/ 1637905 w 1819275"/>
              <a:gd name="connsiteY2" fmla="*/ 461665 h 461665"/>
              <a:gd name="connsiteX3" fmla="*/ 0 w 1819275"/>
              <a:gd name="connsiteY3" fmla="*/ 461665 h 461665"/>
            </a:gdLst>
            <a:ahLst/>
            <a:cxnLst>
              <a:cxn ang="0">
                <a:pos x="connsiteX0" y="connsiteY0"/>
              </a:cxn>
              <a:cxn ang="0">
                <a:pos x="connsiteX1" y="connsiteY1"/>
              </a:cxn>
              <a:cxn ang="0">
                <a:pos x="connsiteX2" y="connsiteY2"/>
              </a:cxn>
              <a:cxn ang="0">
                <a:pos x="connsiteX3" y="connsiteY3"/>
              </a:cxn>
            </a:cxnLst>
            <a:rect l="l" t="t" r="r" b="b"/>
            <a:pathLst>
              <a:path w="1819275" h="461665">
                <a:moveTo>
                  <a:pt x="0" y="0"/>
                </a:moveTo>
                <a:lnTo>
                  <a:pt x="1819275" y="0"/>
                </a:lnTo>
                <a:lnTo>
                  <a:pt x="1637905" y="461665"/>
                </a:lnTo>
                <a:lnTo>
                  <a:pt x="0" y="461665"/>
                </a:lnTo>
                <a:close/>
              </a:path>
            </a:pathLst>
          </a:custGeom>
          <a:solidFill>
            <a:schemeClr val="accent1"/>
          </a:solidFill>
          <a:ln w="15875"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solidFill>
                  <a:srgbClr val="0070C0"/>
                </a:solid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22" name="文本框 21">
            <a:extLst>
              <a:ext uri="{FF2B5EF4-FFF2-40B4-BE49-F238E27FC236}">
                <a16:creationId xmlns:a16="http://schemas.microsoft.com/office/drawing/2014/main" id="{337D067A-1454-74F9-EE67-216E997D92D2}"/>
              </a:ext>
            </a:extLst>
          </p:cNvPr>
          <p:cNvSpPr txBox="1"/>
          <p:nvPr/>
        </p:nvSpPr>
        <p:spPr>
          <a:xfrm>
            <a:off x="592457" y="1349492"/>
            <a:ext cx="1525905" cy="400110"/>
          </a:xfrm>
          <a:prstGeom prst="rect">
            <a:avLst/>
          </a:prstGeom>
          <a:noFill/>
        </p:spPr>
        <p:txBody>
          <a:bodyPr wrap="square">
            <a:spAutoFit/>
          </a:bodyPr>
          <a:lstStyle/>
          <a:p>
            <a:r>
              <a:rPr lang="zh-CN" altLang="en-US" sz="2000" b="1" dirty="0">
                <a:solidFill>
                  <a:prstClr val="white"/>
                </a:solidFill>
                <a:latin typeface="微软雅黑" panose="020B0503020204020204" pitchFamily="34" charset="-122"/>
                <a:ea typeface="微软雅黑" panose="020B0503020204020204" pitchFamily="34" charset="-122"/>
                <a:cs typeface="+mn-ea"/>
                <a:sym typeface="汉仪旗黑-55简" panose="00020600040101010101" pitchFamily="18" charset="-122"/>
              </a:rPr>
              <a:t>研究方案一</a:t>
            </a:r>
          </a:p>
        </p:txBody>
      </p:sp>
      <p:sp>
        <p:nvSpPr>
          <p:cNvPr id="23" name="文本框 22">
            <a:extLst>
              <a:ext uri="{FF2B5EF4-FFF2-40B4-BE49-F238E27FC236}">
                <a16:creationId xmlns:a16="http://schemas.microsoft.com/office/drawing/2014/main" id="{AD203EE6-611B-3471-E8A9-83F06E0BFB83}"/>
              </a:ext>
            </a:extLst>
          </p:cNvPr>
          <p:cNvSpPr txBox="1"/>
          <p:nvPr/>
        </p:nvSpPr>
        <p:spPr>
          <a:xfrm>
            <a:off x="2424114" y="1363155"/>
            <a:ext cx="8906827" cy="400110"/>
          </a:xfrm>
          <a:prstGeom prst="rect">
            <a:avLst/>
          </a:prstGeom>
          <a:noFill/>
        </p:spPr>
        <p:txBody>
          <a:bodyPr wrap="square">
            <a:spAutoFit/>
          </a:bodyPr>
          <a:lstStyle>
            <a:defPPr>
              <a:defRPr lang="zh-CN"/>
            </a:defPPr>
            <a:lvl1pPr>
              <a:defRPr sz="2000" b="1">
                <a:solidFill>
                  <a:prstClr val="black"/>
                </a:solidFill>
                <a:latin typeface="汉仪旗黑-55简" panose="00020600040101010101" pitchFamily="18" charset="-122"/>
                <a:ea typeface="汉仪旗黑-55简" panose="00020600040101010101" pitchFamily="18" charset="-122"/>
                <a:cs typeface="+mn-ea"/>
              </a:defRPr>
            </a:lvl1pPr>
          </a:lstStyle>
          <a:p>
            <a:r>
              <a:rPr lang="zh-CN" altLang="en-US" dirty="0">
                <a:latin typeface="微软雅黑" panose="020B0503020204020204" pitchFamily="34" charset="-122"/>
                <a:ea typeface="微软雅黑" panose="020B0503020204020204" pitchFamily="34" charset="-122"/>
                <a:sym typeface="汉仪旗黑-55简" panose="00020600040101010101" pitchFamily="18" charset="-122"/>
              </a:rPr>
              <a:t>单击此处输入你的正文，文字是您思想的提炼为了最终演示发布的良好效果。</a:t>
            </a:r>
          </a:p>
        </p:txBody>
      </p:sp>
      <p:sp>
        <p:nvSpPr>
          <p:cNvPr id="24" name="矩形 23">
            <a:extLst>
              <a:ext uri="{FF2B5EF4-FFF2-40B4-BE49-F238E27FC236}">
                <a16:creationId xmlns:a16="http://schemas.microsoft.com/office/drawing/2014/main" id="{FA0BCD13-EC50-2935-7349-AC89CE19BBBA}"/>
              </a:ext>
            </a:extLst>
          </p:cNvPr>
          <p:cNvSpPr/>
          <p:nvPr/>
        </p:nvSpPr>
        <p:spPr>
          <a:xfrm>
            <a:off x="472442" y="1966302"/>
            <a:ext cx="11071860" cy="3589948"/>
          </a:xfrm>
          <a:prstGeom prst="rect">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sym typeface="汉仪旗黑-55简" panose="00020600040101010101" pitchFamily="18" charset="-122"/>
            </a:endParaRPr>
          </a:p>
        </p:txBody>
      </p:sp>
      <p:pic>
        <p:nvPicPr>
          <p:cNvPr id="25" name="图片 24" descr="电脑前的男人&#10;&#10;低可信度描述已自动生成">
            <a:extLst>
              <a:ext uri="{FF2B5EF4-FFF2-40B4-BE49-F238E27FC236}">
                <a16:creationId xmlns:a16="http://schemas.microsoft.com/office/drawing/2014/main" id="{382D45C4-8F20-01E3-E855-49FBC9E3CE9F}"/>
              </a:ext>
            </a:extLst>
          </p:cNvPr>
          <p:cNvPicPr>
            <a:picLocks noChangeAspect="1"/>
          </p:cNvPicPr>
          <p:nvPr/>
        </p:nvPicPr>
        <p:blipFill>
          <a:blip r:embed="rId2" cstate="screen"/>
          <a:srcRect/>
          <a:stretch>
            <a:fillRect/>
          </a:stretch>
        </p:blipFill>
        <p:spPr>
          <a:xfrm>
            <a:off x="721149" y="2176357"/>
            <a:ext cx="2483556" cy="1397000"/>
          </a:xfrm>
          <a:prstGeom prst="rect">
            <a:avLst/>
          </a:prstGeom>
        </p:spPr>
      </p:pic>
      <p:pic>
        <p:nvPicPr>
          <p:cNvPr id="26" name="图片 25" descr="图片包含 人, 穿着, 服装, 领带&#10;&#10;描述已自动生成">
            <a:extLst>
              <a:ext uri="{FF2B5EF4-FFF2-40B4-BE49-F238E27FC236}">
                <a16:creationId xmlns:a16="http://schemas.microsoft.com/office/drawing/2014/main" id="{2A1E1D73-65C4-110D-4023-E7156BA8CD8D}"/>
              </a:ext>
            </a:extLst>
          </p:cNvPr>
          <p:cNvPicPr>
            <a:picLocks noChangeAspect="1"/>
          </p:cNvPicPr>
          <p:nvPr/>
        </p:nvPicPr>
        <p:blipFill>
          <a:blip r:embed="rId3" cstate="screen"/>
          <a:srcRect/>
          <a:stretch>
            <a:fillRect/>
          </a:stretch>
        </p:blipFill>
        <p:spPr>
          <a:xfrm>
            <a:off x="3408662" y="2176357"/>
            <a:ext cx="2483556" cy="1397000"/>
          </a:xfrm>
          <a:prstGeom prst="rect">
            <a:avLst/>
          </a:prstGeom>
        </p:spPr>
      </p:pic>
      <p:pic>
        <p:nvPicPr>
          <p:cNvPr id="27" name="图片 26" descr="穿白色衣服的人&#10;&#10;描述已自动生成">
            <a:extLst>
              <a:ext uri="{FF2B5EF4-FFF2-40B4-BE49-F238E27FC236}">
                <a16:creationId xmlns:a16="http://schemas.microsoft.com/office/drawing/2014/main" id="{3E290501-96C1-3293-E73D-C53C53F43446}"/>
              </a:ext>
            </a:extLst>
          </p:cNvPr>
          <p:cNvPicPr>
            <a:picLocks noChangeAspect="1"/>
          </p:cNvPicPr>
          <p:nvPr/>
        </p:nvPicPr>
        <p:blipFill rotWithShape="1">
          <a:blip r:embed="rId4" cstate="screen"/>
          <a:srcRect/>
          <a:stretch>
            <a:fillRect/>
          </a:stretch>
        </p:blipFill>
        <p:spPr>
          <a:xfrm>
            <a:off x="6096175" y="2176357"/>
            <a:ext cx="2483556" cy="1397000"/>
          </a:xfrm>
          <a:prstGeom prst="rect">
            <a:avLst/>
          </a:prstGeom>
        </p:spPr>
      </p:pic>
      <p:pic>
        <p:nvPicPr>
          <p:cNvPr id="28" name="图片 27" descr="图片包含 人, 室内, 男人, 穿着&#10;&#10;描述已自动生成">
            <a:extLst>
              <a:ext uri="{FF2B5EF4-FFF2-40B4-BE49-F238E27FC236}">
                <a16:creationId xmlns:a16="http://schemas.microsoft.com/office/drawing/2014/main" id="{4288273B-0602-9783-F511-C21332917718}"/>
              </a:ext>
            </a:extLst>
          </p:cNvPr>
          <p:cNvPicPr>
            <a:picLocks noChangeAspect="1"/>
          </p:cNvPicPr>
          <p:nvPr/>
        </p:nvPicPr>
        <p:blipFill>
          <a:blip r:embed="rId5" cstate="screen"/>
          <a:srcRect/>
          <a:stretch>
            <a:fillRect/>
          </a:stretch>
        </p:blipFill>
        <p:spPr>
          <a:xfrm>
            <a:off x="8783689" y="2176357"/>
            <a:ext cx="2483556" cy="1397000"/>
          </a:xfrm>
          <a:prstGeom prst="rect">
            <a:avLst/>
          </a:prstGeom>
        </p:spPr>
      </p:pic>
      <p:grpSp>
        <p:nvGrpSpPr>
          <p:cNvPr id="29" name="组合 28">
            <a:extLst>
              <a:ext uri="{FF2B5EF4-FFF2-40B4-BE49-F238E27FC236}">
                <a16:creationId xmlns:a16="http://schemas.microsoft.com/office/drawing/2014/main" id="{0F14BE7B-E19D-B038-D377-9F71859D3C29}"/>
              </a:ext>
            </a:extLst>
          </p:cNvPr>
          <p:cNvGrpSpPr/>
          <p:nvPr/>
        </p:nvGrpSpPr>
        <p:grpSpPr>
          <a:xfrm>
            <a:off x="720485" y="3197225"/>
            <a:ext cx="2478626" cy="1530253"/>
            <a:chOff x="824406" y="2800350"/>
            <a:chExt cx="2478626" cy="1530253"/>
          </a:xfrm>
        </p:grpSpPr>
        <p:sp>
          <p:nvSpPr>
            <p:cNvPr id="30" name="矩形: 圆角 29">
              <a:extLst>
                <a:ext uri="{FF2B5EF4-FFF2-40B4-BE49-F238E27FC236}">
                  <a16:creationId xmlns:a16="http://schemas.microsoft.com/office/drawing/2014/main" id="{4E1280F1-EEFC-F22B-3DB3-C43D4639055D}"/>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1" name="矩形 30">
              <a:extLst>
                <a:ext uri="{FF2B5EF4-FFF2-40B4-BE49-F238E27FC236}">
                  <a16:creationId xmlns:a16="http://schemas.microsoft.com/office/drawing/2014/main" id="{04A07656-AA7B-C3CF-1A80-D3A92F83E225}"/>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32" name="文本框 31">
              <a:extLst>
                <a:ext uri="{FF2B5EF4-FFF2-40B4-BE49-F238E27FC236}">
                  <a16:creationId xmlns:a16="http://schemas.microsoft.com/office/drawing/2014/main" id="{55E929DF-61EA-6CF0-A307-6EE1C26929A3}"/>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33" name="组合 32">
            <a:extLst>
              <a:ext uri="{FF2B5EF4-FFF2-40B4-BE49-F238E27FC236}">
                <a16:creationId xmlns:a16="http://schemas.microsoft.com/office/drawing/2014/main" id="{92971DE1-D33B-1D83-B4B5-A55EE6AEE7EC}"/>
              </a:ext>
            </a:extLst>
          </p:cNvPr>
          <p:cNvGrpSpPr/>
          <p:nvPr/>
        </p:nvGrpSpPr>
        <p:grpSpPr>
          <a:xfrm>
            <a:off x="3402404" y="3197225"/>
            <a:ext cx="2478626" cy="1530253"/>
            <a:chOff x="824406" y="2800350"/>
            <a:chExt cx="2478626" cy="1530253"/>
          </a:xfrm>
        </p:grpSpPr>
        <p:sp>
          <p:nvSpPr>
            <p:cNvPr id="34" name="矩形: 圆角 33">
              <a:extLst>
                <a:ext uri="{FF2B5EF4-FFF2-40B4-BE49-F238E27FC236}">
                  <a16:creationId xmlns:a16="http://schemas.microsoft.com/office/drawing/2014/main" id="{3A2FED03-6FAE-E548-AFBC-4C526E7D92BC}"/>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5" name="矩形 34">
              <a:extLst>
                <a:ext uri="{FF2B5EF4-FFF2-40B4-BE49-F238E27FC236}">
                  <a16:creationId xmlns:a16="http://schemas.microsoft.com/office/drawing/2014/main" id="{6029FF79-2B53-E037-1B73-14F6F8EA3F2A}"/>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36" name="文本框 35">
              <a:extLst>
                <a:ext uri="{FF2B5EF4-FFF2-40B4-BE49-F238E27FC236}">
                  <a16:creationId xmlns:a16="http://schemas.microsoft.com/office/drawing/2014/main" id="{C11ECEF7-B290-A1B3-9A4B-98853A61806C}"/>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37" name="组合 36">
            <a:extLst>
              <a:ext uri="{FF2B5EF4-FFF2-40B4-BE49-F238E27FC236}">
                <a16:creationId xmlns:a16="http://schemas.microsoft.com/office/drawing/2014/main" id="{AB89AEF3-2EB4-ACDF-CA72-DD7A2A2CE732}"/>
              </a:ext>
            </a:extLst>
          </p:cNvPr>
          <p:cNvGrpSpPr/>
          <p:nvPr/>
        </p:nvGrpSpPr>
        <p:grpSpPr>
          <a:xfrm>
            <a:off x="6097869" y="3197225"/>
            <a:ext cx="2478626" cy="1530253"/>
            <a:chOff x="824406" y="2800350"/>
            <a:chExt cx="2478626" cy="1530253"/>
          </a:xfrm>
        </p:grpSpPr>
        <p:sp>
          <p:nvSpPr>
            <p:cNvPr id="38" name="矩形: 圆角 37">
              <a:extLst>
                <a:ext uri="{FF2B5EF4-FFF2-40B4-BE49-F238E27FC236}">
                  <a16:creationId xmlns:a16="http://schemas.microsoft.com/office/drawing/2014/main" id="{79D7AF8E-4AF6-FE37-30A6-E14D65991A28}"/>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39" name="矩形 38">
              <a:extLst>
                <a:ext uri="{FF2B5EF4-FFF2-40B4-BE49-F238E27FC236}">
                  <a16:creationId xmlns:a16="http://schemas.microsoft.com/office/drawing/2014/main" id="{D61D2B28-8B1A-058D-C8EB-BD8B632426C2}"/>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40" name="文本框 39">
              <a:extLst>
                <a:ext uri="{FF2B5EF4-FFF2-40B4-BE49-F238E27FC236}">
                  <a16:creationId xmlns:a16="http://schemas.microsoft.com/office/drawing/2014/main" id="{A32058E9-66AE-E5B0-B015-D4BC84A275D0}"/>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grpSp>
        <p:nvGrpSpPr>
          <p:cNvPr id="41" name="组合 40">
            <a:extLst>
              <a:ext uri="{FF2B5EF4-FFF2-40B4-BE49-F238E27FC236}">
                <a16:creationId xmlns:a16="http://schemas.microsoft.com/office/drawing/2014/main" id="{2BA83B85-9452-5F01-01CA-8575652A8DFD}"/>
              </a:ext>
            </a:extLst>
          </p:cNvPr>
          <p:cNvGrpSpPr/>
          <p:nvPr/>
        </p:nvGrpSpPr>
        <p:grpSpPr>
          <a:xfrm>
            <a:off x="8793334" y="3197225"/>
            <a:ext cx="2478626" cy="1530253"/>
            <a:chOff x="824406" y="2800350"/>
            <a:chExt cx="2478626" cy="1530253"/>
          </a:xfrm>
        </p:grpSpPr>
        <p:sp>
          <p:nvSpPr>
            <p:cNvPr id="42" name="矩形: 圆角 41">
              <a:extLst>
                <a:ext uri="{FF2B5EF4-FFF2-40B4-BE49-F238E27FC236}">
                  <a16:creationId xmlns:a16="http://schemas.microsoft.com/office/drawing/2014/main" id="{0D0001F5-3946-8279-4966-FCEDFF60435F}"/>
                </a:ext>
              </a:extLst>
            </p:cNvPr>
            <p:cNvSpPr/>
            <p:nvPr/>
          </p:nvSpPr>
          <p:spPr>
            <a:xfrm>
              <a:off x="824406" y="2800350"/>
              <a:ext cx="2473032" cy="1530253"/>
            </a:xfrm>
            <a:prstGeom prst="roundRect">
              <a:avLst>
                <a:gd name="adj" fmla="val 0"/>
              </a:avLst>
            </a:prstGeom>
            <a:noFill/>
            <a:ln w="15875" cap="flat" cmpd="sng" algn="ctr">
              <a:gradFill flip="none" rotWithShape="1">
                <a:gsLst>
                  <a:gs pos="0">
                    <a:schemeClr val="accent1"/>
                  </a:gs>
                  <a:gs pos="100000">
                    <a:schemeClr val="accent1">
                      <a:alpha val="0"/>
                    </a:schemeClr>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43" name="矩形 42">
              <a:extLst>
                <a:ext uri="{FF2B5EF4-FFF2-40B4-BE49-F238E27FC236}">
                  <a16:creationId xmlns:a16="http://schemas.microsoft.com/office/drawing/2014/main" id="{03EC2048-50C4-A6C4-9CE3-A2D5F099077E}"/>
                </a:ext>
              </a:extLst>
            </p:cNvPr>
            <p:cNvSpPr/>
            <p:nvPr/>
          </p:nvSpPr>
          <p:spPr>
            <a:xfrm>
              <a:off x="1219164" y="3331234"/>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sp>
          <p:nvSpPr>
            <p:cNvPr id="44" name="文本框 43">
              <a:extLst>
                <a:ext uri="{FF2B5EF4-FFF2-40B4-BE49-F238E27FC236}">
                  <a16:creationId xmlns:a16="http://schemas.microsoft.com/office/drawing/2014/main" id="{93E7F931-93CB-70CD-65F4-E8E34DE09B6C}"/>
                </a:ext>
              </a:extLst>
            </p:cNvPr>
            <p:cNvSpPr txBox="1"/>
            <p:nvPr/>
          </p:nvSpPr>
          <p:spPr>
            <a:xfrm>
              <a:off x="897424" y="3634664"/>
              <a:ext cx="2405608" cy="634469"/>
            </a:xfrm>
            <a:prstGeom prst="rect">
              <a:avLst/>
            </a:prstGeom>
            <a:noFill/>
          </p:spPr>
          <p:txBody>
            <a:bodyPr wrap="square">
              <a:sp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单击此处输入你的正文</a:t>
              </a:r>
              <a:endParaRPr kumimoji="0" lang="en-US" altLang="zh-CN"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文字是您思想的提炼</a:t>
              </a:r>
            </a:p>
          </p:txBody>
        </p:sp>
      </p:grpSp>
      <p:sp>
        <p:nvSpPr>
          <p:cNvPr id="46" name="矩形 45">
            <a:extLst>
              <a:ext uri="{FF2B5EF4-FFF2-40B4-BE49-F238E27FC236}">
                <a16:creationId xmlns:a16="http://schemas.microsoft.com/office/drawing/2014/main" id="{B81F3778-B70F-03FE-C55C-AE85E4BBAF61}"/>
              </a:ext>
            </a:extLst>
          </p:cNvPr>
          <p:cNvSpPr/>
          <p:nvPr/>
        </p:nvSpPr>
        <p:spPr>
          <a:xfrm>
            <a:off x="720485" y="4826607"/>
            <a:ext cx="10537595" cy="536466"/>
          </a:xfrm>
          <a:prstGeom prst="rect">
            <a:avLst/>
          </a:prstGeom>
          <a:solidFill>
            <a:schemeClr val="accent1"/>
          </a:solidFill>
          <a:ln w="34925" cap="flat" cmpd="sng" algn="ctr">
            <a:noFill/>
            <a:prstDash val="solid"/>
            <a:miter lim="800000"/>
          </a:ln>
          <a:effectLst>
            <a:outerShdw blurRad="152400" dist="38100" dir="2700000" algn="tl" rotWithShape="0">
              <a:schemeClr val="accent2">
                <a:alpha val="2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3" name="矩形 92">
            <a:extLst>
              <a:ext uri="{FF2B5EF4-FFF2-40B4-BE49-F238E27FC236}">
                <a16:creationId xmlns:a16="http://schemas.microsoft.com/office/drawing/2014/main" id="{ABD29489-DF21-605B-5BE8-DC980759E7DC}"/>
              </a:ext>
            </a:extLst>
          </p:cNvPr>
          <p:cNvSpPr/>
          <p:nvPr/>
        </p:nvSpPr>
        <p:spPr>
          <a:xfrm>
            <a:off x="472441" y="5705525"/>
            <a:ext cx="11071859" cy="731661"/>
          </a:xfrm>
          <a:prstGeom prst="rect">
            <a:avLst/>
          </a:prstGeom>
          <a:solidFill>
            <a:sysClr val="window" lastClr="FFFFFF">
              <a:alpha val="94000"/>
            </a:sysClr>
          </a:solidFill>
          <a:ln w="12700" cap="flat" cmpd="sng" algn="ctr">
            <a:gradFill>
              <a:gsLst>
                <a:gs pos="0">
                  <a:sysClr val="window" lastClr="FFFFFF">
                    <a:lumMod val="95000"/>
                  </a:sysClr>
                </a:gs>
                <a:gs pos="100000">
                  <a:sysClr val="window" lastClr="FFFFFF">
                    <a:lumMod val="85000"/>
                  </a:sysClr>
                </a:gs>
              </a:gsLst>
              <a:lin ang="5400000" scaled="1"/>
            </a:gradFill>
            <a:prstDash val="solid"/>
            <a:miter lim="800000"/>
          </a:ln>
          <a:effectLst>
            <a:outerShdw blurRad="152400" dist="114300" dir="2700000" algn="tl" rotWithShape="0">
              <a:prstClr val="black">
                <a:alpha val="6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grpSp>
        <p:nvGrpSpPr>
          <p:cNvPr id="94" name="组合 93">
            <a:extLst>
              <a:ext uri="{FF2B5EF4-FFF2-40B4-BE49-F238E27FC236}">
                <a16:creationId xmlns:a16="http://schemas.microsoft.com/office/drawing/2014/main" id="{8C98561D-2F59-0FB9-2783-4ADF11E0D919}"/>
              </a:ext>
            </a:extLst>
          </p:cNvPr>
          <p:cNvGrpSpPr/>
          <p:nvPr/>
        </p:nvGrpSpPr>
        <p:grpSpPr>
          <a:xfrm>
            <a:off x="749089" y="5856902"/>
            <a:ext cx="2018452" cy="428906"/>
            <a:chOff x="1115772" y="5583852"/>
            <a:chExt cx="2018452" cy="428906"/>
          </a:xfrm>
        </p:grpSpPr>
        <p:sp>
          <p:nvSpPr>
            <p:cNvPr id="95" name="矩形: 圆角 94">
              <a:extLst>
                <a:ext uri="{FF2B5EF4-FFF2-40B4-BE49-F238E27FC236}">
                  <a16:creationId xmlns:a16="http://schemas.microsoft.com/office/drawing/2014/main" id="{7958552B-91EF-58E7-1936-D3EEA5C610C5}"/>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6" name="矩形 95">
              <a:extLst>
                <a:ext uri="{FF2B5EF4-FFF2-40B4-BE49-F238E27FC236}">
                  <a16:creationId xmlns:a16="http://schemas.microsoft.com/office/drawing/2014/main" id="{6A49FE15-5D7E-5D58-6DBB-1E56937A8044}"/>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97" name="组合 96">
            <a:extLst>
              <a:ext uri="{FF2B5EF4-FFF2-40B4-BE49-F238E27FC236}">
                <a16:creationId xmlns:a16="http://schemas.microsoft.com/office/drawing/2014/main" id="{EE38CE60-C10E-5EBF-4151-518D8BAEA44D}"/>
              </a:ext>
            </a:extLst>
          </p:cNvPr>
          <p:cNvGrpSpPr/>
          <p:nvPr/>
        </p:nvGrpSpPr>
        <p:grpSpPr>
          <a:xfrm>
            <a:off x="2874328" y="5856902"/>
            <a:ext cx="2018452" cy="428906"/>
            <a:chOff x="1115772" y="5583852"/>
            <a:chExt cx="2018452" cy="428906"/>
          </a:xfrm>
        </p:grpSpPr>
        <p:sp>
          <p:nvSpPr>
            <p:cNvPr id="98" name="矩形: 圆角 97">
              <a:extLst>
                <a:ext uri="{FF2B5EF4-FFF2-40B4-BE49-F238E27FC236}">
                  <a16:creationId xmlns:a16="http://schemas.microsoft.com/office/drawing/2014/main" id="{F41082BD-FC93-ECB5-13F3-CF171D48B178}"/>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99" name="矩形 98">
              <a:extLst>
                <a:ext uri="{FF2B5EF4-FFF2-40B4-BE49-F238E27FC236}">
                  <a16:creationId xmlns:a16="http://schemas.microsoft.com/office/drawing/2014/main" id="{5433A26D-5B4A-8886-E07E-73260B3CAF90}"/>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0" name="组合 99">
            <a:extLst>
              <a:ext uri="{FF2B5EF4-FFF2-40B4-BE49-F238E27FC236}">
                <a16:creationId xmlns:a16="http://schemas.microsoft.com/office/drawing/2014/main" id="{8290007A-59BD-BBB1-8412-1CC89F007981}"/>
              </a:ext>
            </a:extLst>
          </p:cNvPr>
          <p:cNvGrpSpPr/>
          <p:nvPr/>
        </p:nvGrpSpPr>
        <p:grpSpPr>
          <a:xfrm>
            <a:off x="4999567" y="5856902"/>
            <a:ext cx="2018452" cy="428906"/>
            <a:chOff x="1115772" y="5583852"/>
            <a:chExt cx="2018452" cy="428906"/>
          </a:xfrm>
        </p:grpSpPr>
        <p:sp>
          <p:nvSpPr>
            <p:cNvPr id="101" name="矩形: 圆角 100">
              <a:extLst>
                <a:ext uri="{FF2B5EF4-FFF2-40B4-BE49-F238E27FC236}">
                  <a16:creationId xmlns:a16="http://schemas.microsoft.com/office/drawing/2014/main" id="{B4F82BBA-0FFF-43A3-5CDB-473B31902DBC}"/>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2" name="矩形 101">
              <a:extLst>
                <a:ext uri="{FF2B5EF4-FFF2-40B4-BE49-F238E27FC236}">
                  <a16:creationId xmlns:a16="http://schemas.microsoft.com/office/drawing/2014/main" id="{4B880483-AE3E-181A-C12C-4064B8FC0A2A}"/>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3" name="组合 102">
            <a:extLst>
              <a:ext uri="{FF2B5EF4-FFF2-40B4-BE49-F238E27FC236}">
                <a16:creationId xmlns:a16="http://schemas.microsoft.com/office/drawing/2014/main" id="{BA2F6111-7FBD-AB7F-484D-EE8827EBFA97}"/>
              </a:ext>
            </a:extLst>
          </p:cNvPr>
          <p:cNvGrpSpPr/>
          <p:nvPr/>
        </p:nvGrpSpPr>
        <p:grpSpPr>
          <a:xfrm>
            <a:off x="7124806" y="5856902"/>
            <a:ext cx="2018452" cy="428906"/>
            <a:chOff x="1115772" y="5583852"/>
            <a:chExt cx="2018452" cy="428906"/>
          </a:xfrm>
        </p:grpSpPr>
        <p:sp>
          <p:nvSpPr>
            <p:cNvPr id="104" name="矩形: 圆角 103">
              <a:extLst>
                <a:ext uri="{FF2B5EF4-FFF2-40B4-BE49-F238E27FC236}">
                  <a16:creationId xmlns:a16="http://schemas.microsoft.com/office/drawing/2014/main" id="{065EFFCA-BA49-251A-E756-26CDAEDC3C52}"/>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5" name="矩形 104">
              <a:extLst>
                <a:ext uri="{FF2B5EF4-FFF2-40B4-BE49-F238E27FC236}">
                  <a16:creationId xmlns:a16="http://schemas.microsoft.com/office/drawing/2014/main" id="{7F6387E9-B5D5-D645-5B9B-374F158B5954}"/>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grpSp>
        <p:nvGrpSpPr>
          <p:cNvPr id="106" name="组合 105">
            <a:extLst>
              <a:ext uri="{FF2B5EF4-FFF2-40B4-BE49-F238E27FC236}">
                <a16:creationId xmlns:a16="http://schemas.microsoft.com/office/drawing/2014/main" id="{A475E780-8FD7-4898-90BB-67EC32A68A84}"/>
              </a:ext>
            </a:extLst>
          </p:cNvPr>
          <p:cNvGrpSpPr/>
          <p:nvPr/>
        </p:nvGrpSpPr>
        <p:grpSpPr>
          <a:xfrm>
            <a:off x="9250046" y="5856902"/>
            <a:ext cx="2018452" cy="428906"/>
            <a:chOff x="1115772" y="5583852"/>
            <a:chExt cx="2018452" cy="428906"/>
          </a:xfrm>
        </p:grpSpPr>
        <p:sp>
          <p:nvSpPr>
            <p:cNvPr id="107" name="矩形: 圆角 106">
              <a:extLst>
                <a:ext uri="{FF2B5EF4-FFF2-40B4-BE49-F238E27FC236}">
                  <a16:creationId xmlns:a16="http://schemas.microsoft.com/office/drawing/2014/main" id="{CE9F11D4-7FC1-8F47-70FE-B2C407AF155A}"/>
                </a:ext>
              </a:extLst>
            </p:cNvPr>
            <p:cNvSpPr/>
            <p:nvPr/>
          </p:nvSpPr>
          <p:spPr>
            <a:xfrm>
              <a:off x="1115772" y="5583852"/>
              <a:ext cx="2018452" cy="428906"/>
            </a:xfrm>
            <a:prstGeom prst="roundRect">
              <a:avLst>
                <a:gd name="adj" fmla="val 50000"/>
              </a:avLst>
            </a:prstGeom>
            <a:solidFill>
              <a:schemeClr val="accent3">
                <a:alpha val="8000"/>
              </a:schemeClr>
            </a:solidFill>
            <a:ln w="12700" cap="flat" cmpd="sng" algn="ctr">
              <a:solidFill>
                <a:schemeClr val="accent1"/>
              </a:solidFill>
              <a:prstDash val="solid"/>
              <a:miter lim="800000"/>
            </a:ln>
            <a:effectLst/>
          </p:spPr>
          <p:txBody>
            <a:bodyPr rtlCol="0" anchor="ctr"/>
            <a:lstStyle/>
            <a:p>
              <a:pPr algn="ctr"/>
              <a:endParaRPr lang="zh-CN" altLang="en-US" kern="0" dirty="0">
                <a:solidFill>
                  <a:srgbClr val="0070C0"/>
                </a:solidFill>
                <a:latin typeface="微软雅黑" panose="020B0503020204020204" pitchFamily="34" charset="-122"/>
                <a:ea typeface="微软雅黑" panose="020B0503020204020204" pitchFamily="34" charset="-122"/>
                <a:cs typeface="+mn-ea"/>
                <a:sym typeface="汉仪旗黑-55简" panose="00020600040101010101" pitchFamily="18" charset="-122"/>
              </a:endParaRPr>
            </a:p>
          </p:txBody>
        </p:sp>
        <p:sp>
          <p:nvSpPr>
            <p:cNvPr id="108" name="矩形 107">
              <a:extLst>
                <a:ext uri="{FF2B5EF4-FFF2-40B4-BE49-F238E27FC236}">
                  <a16:creationId xmlns:a16="http://schemas.microsoft.com/office/drawing/2014/main" id="{51AF8AC4-E4F8-50E9-8B09-B2C11094F0DE}"/>
                </a:ext>
              </a:extLst>
            </p:cNvPr>
            <p:cNvSpPr/>
            <p:nvPr/>
          </p:nvSpPr>
          <p:spPr>
            <a:xfrm>
              <a:off x="1303697" y="5672986"/>
              <a:ext cx="1683516" cy="264184"/>
            </a:xfrm>
            <a:prstGeom prst="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汉仪旗黑-55简" panose="00020600040101010101" pitchFamily="18" charset="-122"/>
                </a:rPr>
                <a:t>添加关键词</a:t>
              </a:r>
            </a:p>
          </p:txBody>
        </p:sp>
      </p:grpSp>
      <p:sp>
        <p:nvSpPr>
          <p:cNvPr id="109" name="文本框 108">
            <a:extLst>
              <a:ext uri="{FF2B5EF4-FFF2-40B4-BE49-F238E27FC236}">
                <a16:creationId xmlns:a16="http://schemas.microsoft.com/office/drawing/2014/main" id="{63107852-D247-AB26-F1EE-939D860E703E}"/>
              </a:ext>
            </a:extLst>
          </p:cNvPr>
          <p:cNvSpPr txBox="1"/>
          <p:nvPr/>
        </p:nvSpPr>
        <p:spPr>
          <a:xfrm>
            <a:off x="1554956" y="4894785"/>
            <a:ext cx="8906827" cy="400110"/>
          </a:xfrm>
          <a:prstGeom prst="rect">
            <a:avLst/>
          </a:prstGeom>
          <a:noFill/>
        </p:spPr>
        <p:txBody>
          <a:bodyPr wrap="square">
            <a:spAutoFit/>
          </a:bodyPr>
          <a:lstStyle>
            <a:defPPr>
              <a:defRPr lang="zh-CN"/>
            </a:defPPr>
            <a:lvl1pPr>
              <a:defRPr sz="2000" b="1">
                <a:solidFill>
                  <a:prstClr val="black"/>
                </a:solidFill>
                <a:latin typeface="汉仪旗黑-55简" panose="00020600040101010101" pitchFamily="18" charset="-122"/>
                <a:ea typeface="汉仪旗黑-55简" panose="00020600040101010101" pitchFamily="18" charset="-122"/>
                <a:cs typeface="+mn-ea"/>
              </a:defRPr>
            </a:lvl1pPr>
          </a:lstStyle>
          <a:p>
            <a:r>
              <a:rPr lang="zh-CN" altLang="en-US" dirty="0">
                <a:solidFill>
                  <a:schemeClr val="bg1"/>
                </a:solidFill>
                <a:latin typeface="微软雅黑" panose="020B0503020204020204" pitchFamily="34" charset="-122"/>
                <a:ea typeface="微软雅黑" panose="020B0503020204020204" pitchFamily="34" charset="-122"/>
                <a:sym typeface="汉仪旗黑-55简" panose="00020600040101010101" pitchFamily="18" charset="-122"/>
              </a:rPr>
              <a:t>单击此处输入你的正文，文字是您思想的提炼为了最终演示发布的良好效果。</a:t>
            </a:r>
          </a:p>
        </p:txBody>
      </p:sp>
    </p:spTree>
    <p:extLst>
      <p:ext uri="{BB962C8B-B14F-4D97-AF65-F5344CB8AC3E}">
        <p14:creationId xmlns:p14="http://schemas.microsoft.com/office/powerpoint/2010/main" val="3329859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5F0AE-6874-E7DF-6AF7-342F4C63BAD8}"/>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5E474CA4-34DD-34F7-0D24-214E0D46DA2E}"/>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D1555A10-4BBD-2873-4C78-9CC9A267A194}"/>
              </a:ext>
            </a:extLst>
          </p:cNvPr>
          <p:cNvSpPr txBox="1"/>
          <p:nvPr/>
        </p:nvSpPr>
        <p:spPr>
          <a:xfrm>
            <a:off x="946461" y="269201"/>
            <a:ext cx="7601650" cy="523220"/>
          </a:xfrm>
          <a:prstGeom prst="rect">
            <a:avLst/>
          </a:prstGeom>
          <a:noFill/>
        </p:spPr>
        <p:txBody>
          <a:bodyPr wrap="square">
            <a:spAutoFit/>
          </a:bodyPr>
          <a:lstStyle/>
          <a:p>
            <a:r>
              <a:rPr lang="zh-CN" altLang="en-US" sz="2800" b="1" dirty="0">
                <a:solidFill>
                  <a:schemeClr val="accent1"/>
                </a:solidFill>
              </a:rPr>
              <a:t>研究内容</a:t>
            </a:r>
            <a:r>
              <a:rPr lang="en-US" altLang="zh-CN" sz="2800" b="1" dirty="0">
                <a:solidFill>
                  <a:schemeClr val="accent1"/>
                </a:solidFill>
              </a:rPr>
              <a:t>——</a:t>
            </a:r>
            <a:r>
              <a:rPr lang="zh-CN" altLang="en-US" sz="2800" b="1" dirty="0">
                <a:solidFill>
                  <a:schemeClr val="accent1"/>
                </a:solidFill>
              </a:rPr>
              <a:t>典型的扫描探针显微镜技术</a:t>
            </a:r>
          </a:p>
        </p:txBody>
      </p:sp>
      <p:pic>
        <p:nvPicPr>
          <p:cNvPr id="2" name="图片 1">
            <a:extLst>
              <a:ext uri="{FF2B5EF4-FFF2-40B4-BE49-F238E27FC236}">
                <a16:creationId xmlns:a16="http://schemas.microsoft.com/office/drawing/2014/main" id="{B908F270-7929-B2BE-749D-7D7EF98949EC}"/>
              </a:ext>
            </a:extLst>
          </p:cNvPr>
          <p:cNvPicPr>
            <a:picLocks/>
          </p:cNvPicPr>
          <p:nvPr/>
        </p:nvPicPr>
        <p:blipFill>
          <a:blip r:embed="rId14"/>
          <a:srcRect t="31878" b="35213"/>
          <a:stretch/>
        </p:blipFill>
        <p:spPr>
          <a:xfrm>
            <a:off x="4693774" y="4561229"/>
            <a:ext cx="2818390" cy="1558800"/>
          </a:xfrm>
          <a:prstGeom prst="rect">
            <a:avLst/>
          </a:prstGeom>
          <a:ln>
            <a:solidFill>
              <a:sysClr val="windowText" lastClr="000000"/>
            </a:solidFill>
          </a:ln>
          <a:effectLst>
            <a:reflection blurRad="6350" stA="52000" endA="300" endPos="11000" dir="5400000" sy="-100000" algn="bl" rotWithShape="0"/>
          </a:effectLst>
        </p:spPr>
      </p:pic>
      <p:pic>
        <p:nvPicPr>
          <p:cNvPr id="3" name="图片 2">
            <a:extLst>
              <a:ext uri="{FF2B5EF4-FFF2-40B4-BE49-F238E27FC236}">
                <a16:creationId xmlns:a16="http://schemas.microsoft.com/office/drawing/2014/main" id="{B99FBB27-4572-5F09-4520-BCE03FD3B176}"/>
              </a:ext>
            </a:extLst>
          </p:cNvPr>
          <p:cNvPicPr>
            <a:picLocks/>
          </p:cNvPicPr>
          <p:nvPr/>
        </p:nvPicPr>
        <p:blipFill>
          <a:blip r:embed="rId14"/>
          <a:srcRect t="66190"/>
          <a:stretch/>
        </p:blipFill>
        <p:spPr>
          <a:xfrm>
            <a:off x="8548111" y="4561230"/>
            <a:ext cx="2832100" cy="1558800"/>
          </a:xfrm>
          <a:prstGeom prst="rect">
            <a:avLst/>
          </a:prstGeom>
          <a:ln>
            <a:solidFill>
              <a:sysClr val="windowText" lastClr="000000"/>
            </a:solidFill>
          </a:ln>
          <a:effectLst>
            <a:reflection blurRad="6350" stA="52000" endA="300" endPos="11000" dir="5400000" sy="-100000" algn="bl" rotWithShape="0"/>
          </a:effectLst>
        </p:spPr>
      </p:pic>
      <p:sp>
        <p:nvSpPr>
          <p:cNvPr id="4" name="椭圆 3">
            <a:extLst>
              <a:ext uri="{FF2B5EF4-FFF2-40B4-BE49-F238E27FC236}">
                <a16:creationId xmlns:a16="http://schemas.microsoft.com/office/drawing/2014/main" id="{A4B95AAB-31EB-8945-E0D1-E69FE69C75A2}"/>
              </a:ext>
            </a:extLst>
          </p:cNvPr>
          <p:cNvSpPr/>
          <p:nvPr/>
        </p:nvSpPr>
        <p:spPr>
          <a:xfrm>
            <a:off x="546846" y="6167825"/>
            <a:ext cx="3387278" cy="230883"/>
          </a:xfrm>
          <a:prstGeom prst="ellipse">
            <a:avLst/>
          </a:prstGeom>
          <a:noFill/>
          <a:ln w="25400" cap="flat" cmpd="sng" algn="ctr">
            <a:gradFill>
              <a:gsLst>
                <a:gs pos="0">
                  <a:schemeClr val="accent2">
                    <a:lumMod val="20000"/>
                    <a:lumOff val="80000"/>
                    <a:alpha val="0"/>
                  </a:schemeClr>
                </a:gs>
                <a:gs pos="100000">
                  <a:schemeClr val="accent2">
                    <a:lumMod val="50000"/>
                  </a:schemeClr>
                </a:gs>
              </a:gsLst>
              <a:lin ang="5400000" scaled="1"/>
            </a:gradFill>
            <a:prstDash val="solid"/>
            <a:miter lim="800000"/>
          </a:ln>
          <a:effectLst>
            <a:outerShdw blurRad="127000" dist="88900" dir="5400000" algn="t" rotWithShape="0">
              <a:srgbClr val="0F6FC6">
                <a:alpha val="38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Source Han Sans CN Regular" panose="020B0500000000000000" pitchFamily="34" charset="-128"/>
              <a:cs typeface="+mn-cs"/>
            </a:endParaRPr>
          </a:p>
        </p:txBody>
      </p:sp>
      <p:pic>
        <p:nvPicPr>
          <p:cNvPr id="5" name="图片 4">
            <a:extLst>
              <a:ext uri="{FF2B5EF4-FFF2-40B4-BE49-F238E27FC236}">
                <a16:creationId xmlns:a16="http://schemas.microsoft.com/office/drawing/2014/main" id="{0C50CFA6-E42F-362C-67BE-6792B8D87CBA}"/>
              </a:ext>
            </a:extLst>
          </p:cNvPr>
          <p:cNvPicPr>
            <a:picLocks/>
          </p:cNvPicPr>
          <p:nvPr/>
        </p:nvPicPr>
        <p:blipFill>
          <a:blip r:embed="rId14"/>
          <a:srcRect r="-359" b="70990"/>
          <a:stretch/>
        </p:blipFill>
        <p:spPr>
          <a:xfrm>
            <a:off x="832303" y="4561230"/>
            <a:ext cx="2818947" cy="1558844"/>
          </a:xfrm>
          <a:prstGeom prst="rect">
            <a:avLst/>
          </a:prstGeom>
          <a:ln>
            <a:solidFill>
              <a:sysClr val="windowText" lastClr="000000"/>
            </a:solidFill>
          </a:ln>
          <a:effectLst>
            <a:reflection blurRad="6350" stA="52000" endA="300" endPos="11000" dir="5400000" sy="-100000" algn="bl" rotWithShape="0"/>
          </a:effectLst>
        </p:spPr>
      </p:pic>
      <p:sp>
        <p:nvSpPr>
          <p:cNvPr id="6" name="椭圆 5">
            <a:extLst>
              <a:ext uri="{FF2B5EF4-FFF2-40B4-BE49-F238E27FC236}">
                <a16:creationId xmlns:a16="http://schemas.microsoft.com/office/drawing/2014/main" id="{B3F125C6-B641-9700-BAA4-CD480BB41630}"/>
              </a:ext>
            </a:extLst>
          </p:cNvPr>
          <p:cNvSpPr/>
          <p:nvPr/>
        </p:nvSpPr>
        <p:spPr>
          <a:xfrm>
            <a:off x="4408038" y="6167825"/>
            <a:ext cx="3387278" cy="230883"/>
          </a:xfrm>
          <a:prstGeom prst="ellipse">
            <a:avLst/>
          </a:prstGeom>
          <a:noFill/>
          <a:ln w="25400" cap="flat" cmpd="sng" algn="ctr">
            <a:gradFill>
              <a:gsLst>
                <a:gs pos="0">
                  <a:schemeClr val="accent2">
                    <a:lumMod val="20000"/>
                    <a:lumOff val="80000"/>
                    <a:alpha val="0"/>
                  </a:schemeClr>
                </a:gs>
                <a:gs pos="100000">
                  <a:schemeClr val="accent2">
                    <a:lumMod val="50000"/>
                  </a:schemeClr>
                </a:gs>
              </a:gsLst>
              <a:lin ang="5400000" scaled="1"/>
            </a:gradFill>
            <a:prstDash val="solid"/>
            <a:miter lim="800000"/>
          </a:ln>
          <a:effectLst>
            <a:outerShdw blurRad="127000" dist="88900" dir="5400000" algn="t" rotWithShape="0">
              <a:srgbClr val="0F6FC6">
                <a:alpha val="38000"/>
              </a:srgbClr>
            </a:outerShdw>
          </a:effectLst>
        </p:spPr>
        <p:txBody>
          <a:bodyPr rtlCol="0" anchor="ctr"/>
          <a:lstStyle/>
          <a:p>
            <a:pPr algn="ctr"/>
            <a:endParaRPr kumimoji="1" lang="zh-CN" altLang="en-US" kern="0" dirty="0">
              <a:solidFill>
                <a:prstClr val="white"/>
              </a:solidFill>
              <a:latin typeface="微软雅黑" panose="020B0503020204020204" pitchFamily="34" charset="-122"/>
              <a:ea typeface="Source Han Sans CN Regular" panose="020B0500000000000000" pitchFamily="34" charset="-128"/>
            </a:endParaRPr>
          </a:p>
        </p:txBody>
      </p:sp>
      <p:sp>
        <p:nvSpPr>
          <p:cNvPr id="7" name="椭圆 6">
            <a:extLst>
              <a:ext uri="{FF2B5EF4-FFF2-40B4-BE49-F238E27FC236}">
                <a16:creationId xmlns:a16="http://schemas.microsoft.com/office/drawing/2014/main" id="{5EE8924C-1324-1B68-ABFE-7094B88D1222}"/>
              </a:ext>
            </a:extLst>
          </p:cNvPr>
          <p:cNvSpPr/>
          <p:nvPr/>
        </p:nvSpPr>
        <p:spPr>
          <a:xfrm>
            <a:off x="8269230" y="6167825"/>
            <a:ext cx="3387278" cy="230883"/>
          </a:xfrm>
          <a:prstGeom prst="ellipse">
            <a:avLst/>
          </a:prstGeom>
          <a:noFill/>
          <a:ln w="25400" cap="flat" cmpd="sng" algn="ctr">
            <a:gradFill>
              <a:gsLst>
                <a:gs pos="0">
                  <a:schemeClr val="accent2">
                    <a:lumMod val="20000"/>
                    <a:lumOff val="80000"/>
                    <a:alpha val="0"/>
                  </a:schemeClr>
                </a:gs>
                <a:gs pos="100000">
                  <a:schemeClr val="accent2">
                    <a:lumMod val="50000"/>
                  </a:schemeClr>
                </a:gs>
              </a:gsLst>
              <a:lin ang="5400000" scaled="1"/>
            </a:gradFill>
            <a:prstDash val="solid"/>
            <a:miter lim="800000"/>
          </a:ln>
          <a:effectLst>
            <a:outerShdw blurRad="127000" dist="88900" dir="5400000" algn="t" rotWithShape="0">
              <a:srgbClr val="0F6FC6">
                <a:alpha val="38000"/>
              </a:srgbClr>
            </a:outerShdw>
          </a:effectLst>
        </p:spPr>
        <p:txBody>
          <a:bodyPr rtlCol="0" anchor="ctr"/>
          <a:lstStyle/>
          <a:p>
            <a:pPr algn="ctr"/>
            <a:endParaRPr kumimoji="1" lang="zh-CN" altLang="en-US" kern="0" dirty="0">
              <a:solidFill>
                <a:prstClr val="white"/>
              </a:solidFill>
              <a:latin typeface="微软雅黑" panose="020B0503020204020204" pitchFamily="34" charset="-122"/>
              <a:ea typeface="Source Han Sans CN Regular" panose="020B0500000000000000" pitchFamily="34" charset="-128"/>
            </a:endParaRPr>
          </a:p>
        </p:txBody>
      </p:sp>
      <p:sp>
        <p:nvSpPr>
          <p:cNvPr id="8" name="Object 22" descr="preencoded.png">
            <a:extLst>
              <a:ext uri="{FF2B5EF4-FFF2-40B4-BE49-F238E27FC236}">
                <a16:creationId xmlns:a16="http://schemas.microsoft.com/office/drawing/2014/main" id="{A0AEAC90-764A-3AD0-85B8-953247D4CFD7}"/>
              </a:ext>
            </a:extLst>
          </p:cNvPr>
          <p:cNvSpPr/>
          <p:nvPr>
            <p:custDataLst>
              <p:tags r:id="rId1"/>
            </p:custDataLst>
          </p:nvPr>
        </p:nvSpPr>
        <p:spPr>
          <a:xfrm>
            <a:off x="482600" y="2219325"/>
            <a:ext cx="3473611" cy="2047876"/>
          </a:xfrm>
          <a:custGeom>
            <a:avLst/>
            <a:gdLst>
              <a:gd name="connsiteX0" fmla="*/ 0 w 3200343"/>
              <a:gd name="connsiteY0" fmla="*/ 84953 h 4381458"/>
              <a:gd name="connsiteX1" fmla="*/ 85021 w 3200343"/>
              <a:gd name="connsiteY1" fmla="*/ 0 h 4381458"/>
              <a:gd name="connsiteX2" fmla="*/ 1534254 w 3200343"/>
              <a:gd name="connsiteY2" fmla="*/ 0 h 4381458"/>
              <a:gd name="connsiteX3" fmla="*/ 1614024 w 3200343"/>
              <a:gd name="connsiteY3" fmla="*/ 55554 h 4381458"/>
              <a:gd name="connsiteX4" fmla="*/ 1783346 w 3200343"/>
              <a:gd name="connsiteY4" fmla="*/ 514247 h 4381458"/>
              <a:gd name="connsiteX5" fmla="*/ 1881038 w 3200343"/>
              <a:gd name="connsiteY5" fmla="*/ 582285 h 4381458"/>
              <a:gd name="connsiteX6" fmla="*/ 3115320 w 3200343"/>
              <a:gd name="connsiteY6" fmla="*/ 582285 h 4381458"/>
              <a:gd name="connsiteX7" fmla="*/ 3200344 w 3200343"/>
              <a:gd name="connsiteY7" fmla="*/ 667239 h 4381458"/>
              <a:gd name="connsiteX8" fmla="*/ 3200344 w 3200343"/>
              <a:gd name="connsiteY8" fmla="*/ 4296503 h 4381458"/>
              <a:gd name="connsiteX9" fmla="*/ 3115320 w 3200343"/>
              <a:gd name="connsiteY9" fmla="*/ 4381459 h 4381458"/>
              <a:gd name="connsiteX10" fmla="*/ 85021 w 3200343"/>
              <a:gd name="connsiteY10" fmla="*/ 4381459 h 4381458"/>
              <a:gd name="connsiteX11" fmla="*/ 0 w 3200343"/>
              <a:gd name="connsiteY11" fmla="*/ 4296503 h 4381458"/>
              <a:gd name="connsiteX12" fmla="*/ 0 w 3200343"/>
              <a:gd name="connsiteY12" fmla="*/ 84953 h 4381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0343" h="4381458">
                <a:moveTo>
                  <a:pt x="0" y="84953"/>
                </a:moveTo>
                <a:cubicBezTo>
                  <a:pt x="0" y="38035"/>
                  <a:pt x="38065" y="0"/>
                  <a:pt x="85021" y="0"/>
                </a:cubicBezTo>
                <a:lnTo>
                  <a:pt x="1534254" y="0"/>
                </a:lnTo>
                <a:cubicBezTo>
                  <a:pt x="1569859" y="0"/>
                  <a:pt x="1601700" y="22172"/>
                  <a:pt x="1614024" y="55554"/>
                </a:cubicBezTo>
                <a:lnTo>
                  <a:pt x="1783346" y="514247"/>
                </a:lnTo>
                <a:cubicBezTo>
                  <a:pt x="1798440" y="555130"/>
                  <a:pt x="1837427" y="582285"/>
                  <a:pt x="1881038" y="582285"/>
                </a:cubicBezTo>
                <a:lnTo>
                  <a:pt x="3115320" y="582285"/>
                </a:lnTo>
                <a:cubicBezTo>
                  <a:pt x="3162274" y="582285"/>
                  <a:pt x="3200344" y="620320"/>
                  <a:pt x="3200344" y="667239"/>
                </a:cubicBezTo>
                <a:lnTo>
                  <a:pt x="3200344" y="4296503"/>
                </a:lnTo>
                <a:cubicBezTo>
                  <a:pt x="3200344" y="4343429"/>
                  <a:pt x="3162283" y="4381459"/>
                  <a:pt x="3115320" y="4381459"/>
                </a:cubicBezTo>
                <a:lnTo>
                  <a:pt x="85021" y="4381459"/>
                </a:lnTo>
                <a:cubicBezTo>
                  <a:pt x="38065" y="4381459"/>
                  <a:pt x="0" y="4343429"/>
                  <a:pt x="0" y="4296503"/>
                </a:cubicBezTo>
                <a:lnTo>
                  <a:pt x="0" y="84953"/>
                </a:lnTo>
                <a:close/>
              </a:path>
            </a:pathLst>
          </a:custGeom>
          <a:solidFill>
            <a:schemeClr val="accent3">
              <a:alpha val="43000"/>
            </a:schemeClr>
          </a:solidFill>
          <a:ln w="12700" cap="flat">
            <a:solidFill>
              <a:schemeClr val="accent1"/>
            </a:solidFill>
            <a:prstDash val="solid"/>
            <a:miter lim="800000"/>
          </a:ln>
          <a:effectLst/>
          <a:sp3d/>
        </p:spPr>
        <p:txBody>
          <a:bodyPr rot="0" spcFirstLastPara="1" vertOverflow="overflow" horzOverflow="overflow" vert="horz" wrap="square" lIns="45719" tIns="45719" rIns="45719" bIns="45719" numCol="1" spcCol="38100" rtlCol="0" fromWordArt="0" anchor="ctr" anchorCtr="0" forceAA="0" compatLnSpc="1">
            <a:noAutofit/>
          </a:bodyPr>
          <a:lstStyle/>
          <a:p>
            <a:pPr marL="0" marR="0" lvl="0" indent="0" defTabSz="914400" eaLnBrk="1"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cs typeface="+mn-ea"/>
              <a:sym typeface="+mn-lt"/>
            </a:endParaRPr>
          </a:p>
        </p:txBody>
      </p:sp>
      <p:sp>
        <p:nvSpPr>
          <p:cNvPr id="9" name="矩形: 圆角 81">
            <a:extLst>
              <a:ext uri="{FF2B5EF4-FFF2-40B4-BE49-F238E27FC236}">
                <a16:creationId xmlns:a16="http://schemas.microsoft.com/office/drawing/2014/main" id="{D08B54BF-8FA3-30EB-7664-77388B885DFE}"/>
              </a:ext>
            </a:extLst>
          </p:cNvPr>
          <p:cNvSpPr/>
          <p:nvPr>
            <p:custDataLst>
              <p:tags r:id="rId2"/>
            </p:custDataLst>
          </p:nvPr>
        </p:nvSpPr>
        <p:spPr>
          <a:xfrm>
            <a:off x="2066381" y="2205264"/>
            <a:ext cx="1905129" cy="758729"/>
          </a:xfrm>
          <a:custGeom>
            <a:avLst/>
            <a:gdLst>
              <a:gd name="adj" fmla="val 12565"/>
              <a:gd name="a" fmla="pin 0 adj 50000"/>
              <a:gd name="x1" fmla="*/ ss a 100000"/>
              <a:gd name="x2" fmla="+- r 0 x1"/>
              <a:gd name="y2" fmla="+- b 0 x1"/>
              <a:gd name="il" fmla="*/ x1 29289 100000"/>
              <a:gd name="ir" fmla="+- r 0 il"/>
              <a:gd name="ib" fmla="+- b 0 il"/>
            </a:gdLst>
            <a:ahLst/>
            <a:cxnLst>
              <a:cxn ang="3cd4">
                <a:pos x="hc" y="t"/>
              </a:cxn>
              <a:cxn ang="cd2">
                <a:pos x="l" y="vc"/>
              </a:cxn>
              <a:cxn ang="cd4">
                <a:pos x="hc" y="b"/>
              </a:cxn>
              <a:cxn ang="0">
                <a:pos x="r" y="vc"/>
              </a:cxn>
            </a:cxnLst>
            <a:rect l="l" t="t" r="r" b="b"/>
            <a:pathLst>
              <a:path w="3000" h="1195">
                <a:moveTo>
                  <a:pt x="0" y="10"/>
                </a:moveTo>
                <a:cubicBezTo>
                  <a:pt x="9" y="5"/>
                  <a:pt x="45" y="-1"/>
                  <a:pt x="56" y="0"/>
                </a:cubicBezTo>
                <a:lnTo>
                  <a:pt x="2839" y="0"/>
                </a:lnTo>
                <a:cubicBezTo>
                  <a:pt x="2929" y="-3"/>
                  <a:pt x="3002" y="80"/>
                  <a:pt x="3000" y="162"/>
                </a:cubicBezTo>
                <a:lnTo>
                  <a:pt x="3000" y="1124"/>
                </a:lnTo>
                <a:cubicBezTo>
                  <a:pt x="3001" y="1149"/>
                  <a:pt x="2991" y="1180"/>
                  <a:pt x="2984" y="1195"/>
                </a:cubicBezTo>
                <a:lnTo>
                  <a:pt x="2984" y="1157"/>
                </a:lnTo>
                <a:cubicBezTo>
                  <a:pt x="2986" y="1075"/>
                  <a:pt x="2911" y="1009"/>
                  <a:pt x="2838" y="1011"/>
                </a:cubicBezTo>
                <a:lnTo>
                  <a:pt x="717" y="1011"/>
                </a:lnTo>
                <a:cubicBezTo>
                  <a:pt x="642" y="1013"/>
                  <a:pt x="571" y="958"/>
                  <a:pt x="549" y="894"/>
                </a:cubicBezTo>
                <a:lnTo>
                  <a:pt x="258" y="106"/>
                </a:lnTo>
                <a:cubicBezTo>
                  <a:pt x="239" y="47"/>
                  <a:pt x="177" y="9"/>
                  <a:pt x="121" y="10"/>
                </a:cubicBezTo>
                <a:lnTo>
                  <a:pt x="0" y="10"/>
                </a:lnTo>
                <a:close/>
              </a:path>
            </a:pathLst>
          </a:custGeom>
          <a:solidFill>
            <a:schemeClr val="accent1"/>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lvl="0" indent="0" defTabSz="914400" eaLnBrk="1"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cs typeface="+mn-ea"/>
              <a:sym typeface="+mn-lt"/>
            </a:endParaRPr>
          </a:p>
        </p:txBody>
      </p:sp>
      <p:sp>
        <p:nvSpPr>
          <p:cNvPr id="10" name="Object29">
            <a:extLst>
              <a:ext uri="{FF2B5EF4-FFF2-40B4-BE49-F238E27FC236}">
                <a16:creationId xmlns:a16="http://schemas.microsoft.com/office/drawing/2014/main" id="{9B751E08-51C9-166C-5F3D-399E711285B7}"/>
              </a:ext>
            </a:extLst>
          </p:cNvPr>
          <p:cNvSpPr/>
          <p:nvPr>
            <p:custDataLst>
              <p:tags r:id="rId3"/>
            </p:custDataLst>
          </p:nvPr>
        </p:nvSpPr>
        <p:spPr>
          <a:xfrm>
            <a:off x="761435" y="2898982"/>
            <a:ext cx="3034665" cy="1287256"/>
          </a:xfrm>
          <a:prstGeom prst="rect">
            <a:avLst/>
          </a:prstGeom>
          <a:noFill/>
        </p:spPr>
        <p:txBody>
          <a:bodyPr wrap="square" lIns="0" tIns="0" rIns="0" bIns="0" rtlCol="0" anchor="ctr"/>
          <a:lstStyle/>
          <a:p>
            <a:pPr>
              <a:lnSpc>
                <a:spcPct val="130000"/>
              </a:lnSpc>
            </a:pPr>
            <a:r>
              <a:rPr lang="zh-CN" altLang="en-US" dirty="0">
                <a:latin typeface="微软雅黑"/>
              </a:rPr>
              <a:t>针尖与样品表面处于完全接触状态，二者间距为负，相互作用力全部表现为</a:t>
            </a:r>
            <a:r>
              <a:rPr lang="zh-CN" altLang="en-US" sz="2000" b="1" dirty="0">
                <a:latin typeface="微软雅黑"/>
              </a:rPr>
              <a:t>排斥力</a:t>
            </a:r>
          </a:p>
        </p:txBody>
      </p:sp>
      <p:sp>
        <p:nvSpPr>
          <p:cNvPr id="11" name="Object37">
            <a:extLst>
              <a:ext uri="{FF2B5EF4-FFF2-40B4-BE49-F238E27FC236}">
                <a16:creationId xmlns:a16="http://schemas.microsoft.com/office/drawing/2014/main" id="{52136E60-CA3A-7560-028C-494FD5D55BC7}"/>
              </a:ext>
            </a:extLst>
          </p:cNvPr>
          <p:cNvSpPr/>
          <p:nvPr/>
        </p:nvSpPr>
        <p:spPr>
          <a:xfrm>
            <a:off x="2583387" y="2367559"/>
            <a:ext cx="1215854" cy="389513"/>
          </a:xfrm>
          <a:prstGeom prst="rect">
            <a:avLst/>
          </a:prstGeom>
          <a:noFill/>
        </p:spPr>
        <p:txBody>
          <a:bodyPr wrap="square" lIns="0" tIns="0" rIns="0" bIns="0" rtlCol="0" anchor="ctr"/>
          <a:lstStyle/>
          <a:p>
            <a:pPr algn="ctr"/>
            <a:r>
              <a:rPr lang="zh-CN" altLang="en-US" sz="2000" b="1" dirty="0">
                <a:solidFill>
                  <a:prstClr val="white"/>
                </a:solidFill>
                <a:latin typeface="微软雅黑"/>
              </a:rPr>
              <a:t>接触模式</a:t>
            </a:r>
          </a:p>
        </p:txBody>
      </p:sp>
      <p:sp>
        <p:nvSpPr>
          <p:cNvPr id="12" name="Object38">
            <a:extLst>
              <a:ext uri="{FF2B5EF4-FFF2-40B4-BE49-F238E27FC236}">
                <a16:creationId xmlns:a16="http://schemas.microsoft.com/office/drawing/2014/main" id="{DF32BE7E-4234-35BD-EDF0-BC4514DF36AC}"/>
              </a:ext>
            </a:extLst>
          </p:cNvPr>
          <p:cNvSpPr/>
          <p:nvPr>
            <p:custDataLst>
              <p:tags r:id="rId4"/>
            </p:custDataLst>
          </p:nvPr>
        </p:nvSpPr>
        <p:spPr>
          <a:xfrm>
            <a:off x="685588" y="2367558"/>
            <a:ext cx="1050235" cy="425857"/>
          </a:xfrm>
          <a:prstGeom prst="rect">
            <a:avLst/>
          </a:prstGeom>
          <a:noFill/>
        </p:spPr>
        <p:txBody>
          <a:bodyPr wrap="square" lIns="0" tIns="0" rIns="0" bIns="0" rtlCol="0" anchor="ctr"/>
          <a:lstStyle/>
          <a:p>
            <a:pPr defTabSz="731520">
              <a:lnSpc>
                <a:spcPts val="1920"/>
              </a:lnSpc>
            </a:pPr>
            <a:r>
              <a:rPr lang="en-US" sz="2000" b="1" dirty="0">
                <a:latin typeface="微软雅黑"/>
                <a:cs typeface="+mn-ea"/>
                <a:sym typeface="+mn-lt"/>
              </a:rPr>
              <a:t>01</a:t>
            </a:r>
          </a:p>
        </p:txBody>
      </p:sp>
      <p:sp>
        <p:nvSpPr>
          <p:cNvPr id="13" name="Object 22" descr="preencoded.png">
            <a:extLst>
              <a:ext uri="{FF2B5EF4-FFF2-40B4-BE49-F238E27FC236}">
                <a16:creationId xmlns:a16="http://schemas.microsoft.com/office/drawing/2014/main" id="{C200ADA5-C2E0-C9C8-B98E-49ED6252879A}"/>
              </a:ext>
            </a:extLst>
          </p:cNvPr>
          <p:cNvSpPr/>
          <p:nvPr>
            <p:custDataLst>
              <p:tags r:id="rId5"/>
            </p:custDataLst>
          </p:nvPr>
        </p:nvSpPr>
        <p:spPr>
          <a:xfrm>
            <a:off x="4349957" y="2219325"/>
            <a:ext cx="3473611" cy="2047876"/>
          </a:xfrm>
          <a:custGeom>
            <a:avLst/>
            <a:gdLst>
              <a:gd name="connsiteX0" fmla="*/ 0 w 3200343"/>
              <a:gd name="connsiteY0" fmla="*/ 84953 h 4381458"/>
              <a:gd name="connsiteX1" fmla="*/ 85021 w 3200343"/>
              <a:gd name="connsiteY1" fmla="*/ 0 h 4381458"/>
              <a:gd name="connsiteX2" fmla="*/ 1534254 w 3200343"/>
              <a:gd name="connsiteY2" fmla="*/ 0 h 4381458"/>
              <a:gd name="connsiteX3" fmla="*/ 1614024 w 3200343"/>
              <a:gd name="connsiteY3" fmla="*/ 55554 h 4381458"/>
              <a:gd name="connsiteX4" fmla="*/ 1783346 w 3200343"/>
              <a:gd name="connsiteY4" fmla="*/ 514247 h 4381458"/>
              <a:gd name="connsiteX5" fmla="*/ 1881038 w 3200343"/>
              <a:gd name="connsiteY5" fmla="*/ 582285 h 4381458"/>
              <a:gd name="connsiteX6" fmla="*/ 3115320 w 3200343"/>
              <a:gd name="connsiteY6" fmla="*/ 582285 h 4381458"/>
              <a:gd name="connsiteX7" fmla="*/ 3200344 w 3200343"/>
              <a:gd name="connsiteY7" fmla="*/ 667239 h 4381458"/>
              <a:gd name="connsiteX8" fmla="*/ 3200344 w 3200343"/>
              <a:gd name="connsiteY8" fmla="*/ 4296503 h 4381458"/>
              <a:gd name="connsiteX9" fmla="*/ 3115320 w 3200343"/>
              <a:gd name="connsiteY9" fmla="*/ 4381459 h 4381458"/>
              <a:gd name="connsiteX10" fmla="*/ 85021 w 3200343"/>
              <a:gd name="connsiteY10" fmla="*/ 4381459 h 4381458"/>
              <a:gd name="connsiteX11" fmla="*/ 0 w 3200343"/>
              <a:gd name="connsiteY11" fmla="*/ 4296503 h 4381458"/>
              <a:gd name="connsiteX12" fmla="*/ 0 w 3200343"/>
              <a:gd name="connsiteY12" fmla="*/ 84953 h 4381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0343" h="4381458">
                <a:moveTo>
                  <a:pt x="0" y="84953"/>
                </a:moveTo>
                <a:cubicBezTo>
                  <a:pt x="0" y="38035"/>
                  <a:pt x="38065" y="0"/>
                  <a:pt x="85021" y="0"/>
                </a:cubicBezTo>
                <a:lnTo>
                  <a:pt x="1534254" y="0"/>
                </a:lnTo>
                <a:cubicBezTo>
                  <a:pt x="1569859" y="0"/>
                  <a:pt x="1601700" y="22172"/>
                  <a:pt x="1614024" y="55554"/>
                </a:cubicBezTo>
                <a:lnTo>
                  <a:pt x="1783346" y="514247"/>
                </a:lnTo>
                <a:cubicBezTo>
                  <a:pt x="1798440" y="555130"/>
                  <a:pt x="1837427" y="582285"/>
                  <a:pt x="1881038" y="582285"/>
                </a:cubicBezTo>
                <a:lnTo>
                  <a:pt x="3115320" y="582285"/>
                </a:lnTo>
                <a:cubicBezTo>
                  <a:pt x="3162274" y="582285"/>
                  <a:pt x="3200344" y="620320"/>
                  <a:pt x="3200344" y="667239"/>
                </a:cubicBezTo>
                <a:lnTo>
                  <a:pt x="3200344" y="4296503"/>
                </a:lnTo>
                <a:cubicBezTo>
                  <a:pt x="3200344" y="4343429"/>
                  <a:pt x="3162283" y="4381459"/>
                  <a:pt x="3115320" y="4381459"/>
                </a:cubicBezTo>
                <a:lnTo>
                  <a:pt x="85021" y="4381459"/>
                </a:lnTo>
                <a:cubicBezTo>
                  <a:pt x="38065" y="4381459"/>
                  <a:pt x="0" y="4343429"/>
                  <a:pt x="0" y="4296503"/>
                </a:cubicBezTo>
                <a:lnTo>
                  <a:pt x="0" y="84953"/>
                </a:lnTo>
                <a:close/>
              </a:path>
            </a:pathLst>
          </a:custGeom>
          <a:solidFill>
            <a:schemeClr val="accent3">
              <a:alpha val="43000"/>
            </a:schemeClr>
          </a:solidFill>
          <a:ln w="12700" cap="flat">
            <a:solidFill>
              <a:schemeClr val="accent1"/>
            </a:solidFill>
            <a:prstDash val="solid"/>
            <a:miter lim="800000"/>
          </a:ln>
          <a:effectLst/>
          <a:sp3d/>
        </p:spPr>
        <p:txBody>
          <a:bodyPr rot="0" spcFirstLastPara="1" vertOverflow="overflow" horzOverflow="overflow" vert="horz" wrap="square" lIns="45719" tIns="45719" rIns="45719" bIns="45719" numCol="1" spcCol="38100" rtlCol="0" fromWordArt="0" anchor="ctr" anchorCtr="0" forceAA="0" compatLnSpc="1">
            <a:noAutofit/>
          </a:bodyPr>
          <a:lstStyle/>
          <a:p>
            <a:pPr hangingPunct="0"/>
            <a:endParaRPr lang="zh-CN" altLang="en-US" kern="0" dirty="0">
              <a:solidFill>
                <a:srgbClr val="000000"/>
              </a:solidFill>
              <a:latin typeface="微软雅黑" panose="020B0503020204020204" pitchFamily="34" charset="-122"/>
              <a:cs typeface="+mn-ea"/>
              <a:sym typeface="+mn-lt"/>
            </a:endParaRPr>
          </a:p>
        </p:txBody>
      </p:sp>
      <p:sp>
        <p:nvSpPr>
          <p:cNvPr id="14" name="矩形: 圆角 81">
            <a:extLst>
              <a:ext uri="{FF2B5EF4-FFF2-40B4-BE49-F238E27FC236}">
                <a16:creationId xmlns:a16="http://schemas.microsoft.com/office/drawing/2014/main" id="{B3AA4FB0-8356-9E8F-E024-6827A6428C05}"/>
              </a:ext>
            </a:extLst>
          </p:cNvPr>
          <p:cNvSpPr/>
          <p:nvPr>
            <p:custDataLst>
              <p:tags r:id="rId6"/>
            </p:custDataLst>
          </p:nvPr>
        </p:nvSpPr>
        <p:spPr>
          <a:xfrm>
            <a:off x="5933738" y="2211614"/>
            <a:ext cx="1905129" cy="758729"/>
          </a:xfrm>
          <a:custGeom>
            <a:avLst/>
            <a:gdLst>
              <a:gd name="adj" fmla="val 12565"/>
              <a:gd name="a" fmla="pin 0 adj 50000"/>
              <a:gd name="x1" fmla="*/ ss a 100000"/>
              <a:gd name="x2" fmla="+- r 0 x1"/>
              <a:gd name="y2" fmla="+- b 0 x1"/>
              <a:gd name="il" fmla="*/ x1 29289 100000"/>
              <a:gd name="ir" fmla="+- r 0 il"/>
              <a:gd name="ib" fmla="+- b 0 il"/>
            </a:gdLst>
            <a:ahLst/>
            <a:cxnLst>
              <a:cxn ang="3cd4">
                <a:pos x="hc" y="t"/>
              </a:cxn>
              <a:cxn ang="cd2">
                <a:pos x="l" y="vc"/>
              </a:cxn>
              <a:cxn ang="cd4">
                <a:pos x="hc" y="b"/>
              </a:cxn>
              <a:cxn ang="0">
                <a:pos x="r" y="vc"/>
              </a:cxn>
            </a:cxnLst>
            <a:rect l="l" t="t" r="r" b="b"/>
            <a:pathLst>
              <a:path w="3000" h="1195">
                <a:moveTo>
                  <a:pt x="0" y="10"/>
                </a:moveTo>
                <a:cubicBezTo>
                  <a:pt x="9" y="5"/>
                  <a:pt x="45" y="-1"/>
                  <a:pt x="56" y="0"/>
                </a:cubicBezTo>
                <a:lnTo>
                  <a:pt x="2839" y="0"/>
                </a:lnTo>
                <a:cubicBezTo>
                  <a:pt x="2929" y="-3"/>
                  <a:pt x="3002" y="80"/>
                  <a:pt x="3000" y="162"/>
                </a:cubicBezTo>
                <a:lnTo>
                  <a:pt x="3000" y="1124"/>
                </a:lnTo>
                <a:cubicBezTo>
                  <a:pt x="3001" y="1149"/>
                  <a:pt x="2991" y="1180"/>
                  <a:pt x="2984" y="1195"/>
                </a:cubicBezTo>
                <a:lnTo>
                  <a:pt x="2984" y="1157"/>
                </a:lnTo>
                <a:cubicBezTo>
                  <a:pt x="2986" y="1075"/>
                  <a:pt x="2911" y="1009"/>
                  <a:pt x="2838" y="1011"/>
                </a:cubicBezTo>
                <a:lnTo>
                  <a:pt x="717" y="1011"/>
                </a:lnTo>
                <a:cubicBezTo>
                  <a:pt x="642" y="1013"/>
                  <a:pt x="571" y="958"/>
                  <a:pt x="549" y="894"/>
                </a:cubicBezTo>
                <a:lnTo>
                  <a:pt x="258" y="106"/>
                </a:lnTo>
                <a:cubicBezTo>
                  <a:pt x="239" y="47"/>
                  <a:pt x="177" y="9"/>
                  <a:pt x="121" y="10"/>
                </a:cubicBezTo>
                <a:lnTo>
                  <a:pt x="0" y="10"/>
                </a:lnTo>
                <a:close/>
              </a:path>
            </a:pathLst>
          </a:custGeom>
          <a:solidFill>
            <a:schemeClr val="accent1"/>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lvl="0" indent="0" defTabSz="914400" eaLnBrk="1"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cs typeface="+mn-ea"/>
              <a:sym typeface="+mn-lt"/>
            </a:endParaRPr>
          </a:p>
        </p:txBody>
      </p:sp>
      <p:sp>
        <p:nvSpPr>
          <p:cNvPr id="15" name="Object29">
            <a:extLst>
              <a:ext uri="{FF2B5EF4-FFF2-40B4-BE49-F238E27FC236}">
                <a16:creationId xmlns:a16="http://schemas.microsoft.com/office/drawing/2014/main" id="{00D1F92D-3649-A5E6-4B30-77E1671050E8}"/>
              </a:ext>
            </a:extLst>
          </p:cNvPr>
          <p:cNvSpPr/>
          <p:nvPr>
            <p:custDataLst>
              <p:tags r:id="rId7"/>
            </p:custDataLst>
          </p:nvPr>
        </p:nvSpPr>
        <p:spPr>
          <a:xfrm>
            <a:off x="4628792" y="2856119"/>
            <a:ext cx="3034665" cy="1372981"/>
          </a:xfrm>
          <a:prstGeom prst="rect">
            <a:avLst/>
          </a:prstGeom>
          <a:noFill/>
        </p:spPr>
        <p:txBody>
          <a:bodyPr wrap="square" lIns="0" tIns="0" rIns="0" bIns="0" rtlCol="0" anchor="ctr"/>
          <a:lstStyle/>
          <a:p>
            <a:pPr>
              <a:lnSpc>
                <a:spcPct val="130000"/>
              </a:lnSpc>
            </a:pPr>
            <a:r>
              <a:rPr lang="zh-CN" altLang="en-US" dirty="0">
                <a:latin typeface="微软雅黑"/>
              </a:rPr>
              <a:t>探针与样品之间存在微小间距</a:t>
            </a:r>
            <a:r>
              <a:rPr lang="en-US" altLang="zh-CN" dirty="0">
                <a:latin typeface="微软雅黑"/>
              </a:rPr>
              <a:t>, </a:t>
            </a:r>
            <a:r>
              <a:rPr lang="zh-CN" altLang="en-US" dirty="0">
                <a:latin typeface="微软雅黑"/>
              </a:rPr>
              <a:t>相互作用力中排斥力与吸引力共存</a:t>
            </a:r>
            <a:r>
              <a:rPr lang="en-US" altLang="zh-CN" dirty="0">
                <a:latin typeface="微软雅黑"/>
              </a:rPr>
              <a:t>, </a:t>
            </a:r>
            <a:r>
              <a:rPr lang="zh-CN" altLang="en-US" dirty="0">
                <a:latin typeface="微软雅黑"/>
              </a:rPr>
              <a:t>整体表现为</a:t>
            </a:r>
            <a:r>
              <a:rPr lang="zh-CN" altLang="en-US" sz="2000" b="1" dirty="0">
                <a:latin typeface="微软雅黑"/>
              </a:rPr>
              <a:t>吸引力</a:t>
            </a:r>
            <a:endParaRPr lang="en-US" altLang="zh-CN" sz="2000" b="1" dirty="0">
              <a:latin typeface="微软雅黑"/>
            </a:endParaRPr>
          </a:p>
        </p:txBody>
      </p:sp>
      <p:sp>
        <p:nvSpPr>
          <p:cNvPr id="16" name="Object37">
            <a:extLst>
              <a:ext uri="{FF2B5EF4-FFF2-40B4-BE49-F238E27FC236}">
                <a16:creationId xmlns:a16="http://schemas.microsoft.com/office/drawing/2014/main" id="{B5FFAD55-9BE9-F4A6-D1CB-F46BBD5B3F41}"/>
              </a:ext>
            </a:extLst>
          </p:cNvPr>
          <p:cNvSpPr/>
          <p:nvPr/>
        </p:nvSpPr>
        <p:spPr>
          <a:xfrm>
            <a:off x="6370320" y="2367559"/>
            <a:ext cx="1296278" cy="389513"/>
          </a:xfrm>
          <a:prstGeom prst="rect">
            <a:avLst/>
          </a:prstGeom>
          <a:noFill/>
        </p:spPr>
        <p:txBody>
          <a:bodyPr wrap="square" lIns="0" tIns="0" rIns="0" bIns="0" rtlCol="0" anchor="ctr"/>
          <a:lstStyle/>
          <a:p>
            <a:pPr algn="ctr"/>
            <a:r>
              <a:rPr lang="zh-CN" altLang="en-US" sz="2000" b="1" dirty="0">
                <a:solidFill>
                  <a:prstClr val="white"/>
                </a:solidFill>
                <a:latin typeface="微软雅黑"/>
              </a:rPr>
              <a:t>非接触模式</a:t>
            </a:r>
          </a:p>
        </p:txBody>
      </p:sp>
      <p:sp>
        <p:nvSpPr>
          <p:cNvPr id="17" name="Object38">
            <a:extLst>
              <a:ext uri="{FF2B5EF4-FFF2-40B4-BE49-F238E27FC236}">
                <a16:creationId xmlns:a16="http://schemas.microsoft.com/office/drawing/2014/main" id="{D5CC5FE1-F9D9-88A2-90C7-86782A365088}"/>
              </a:ext>
            </a:extLst>
          </p:cNvPr>
          <p:cNvSpPr/>
          <p:nvPr>
            <p:custDataLst>
              <p:tags r:id="rId8"/>
            </p:custDataLst>
          </p:nvPr>
        </p:nvSpPr>
        <p:spPr>
          <a:xfrm>
            <a:off x="4552945" y="2367558"/>
            <a:ext cx="1050235" cy="425857"/>
          </a:xfrm>
          <a:prstGeom prst="rect">
            <a:avLst/>
          </a:prstGeom>
          <a:noFill/>
        </p:spPr>
        <p:txBody>
          <a:bodyPr wrap="square" lIns="0" tIns="0" rIns="0" bIns="0" rtlCol="0" anchor="ctr"/>
          <a:lstStyle/>
          <a:p>
            <a:pPr defTabSz="731520">
              <a:lnSpc>
                <a:spcPts val="1920"/>
              </a:lnSpc>
            </a:pPr>
            <a:r>
              <a:rPr lang="en-US" sz="2000" b="1" dirty="0">
                <a:latin typeface="微软雅黑"/>
                <a:cs typeface="+mn-ea"/>
                <a:sym typeface="+mn-lt"/>
              </a:rPr>
              <a:t>02</a:t>
            </a:r>
          </a:p>
        </p:txBody>
      </p:sp>
      <p:sp>
        <p:nvSpPr>
          <p:cNvPr id="18" name="Object 22" descr="preencoded.png">
            <a:extLst>
              <a:ext uri="{FF2B5EF4-FFF2-40B4-BE49-F238E27FC236}">
                <a16:creationId xmlns:a16="http://schemas.microsoft.com/office/drawing/2014/main" id="{10BA7327-73A8-F36F-6741-323558075A6B}"/>
              </a:ext>
            </a:extLst>
          </p:cNvPr>
          <p:cNvSpPr/>
          <p:nvPr>
            <p:custDataLst>
              <p:tags r:id="rId9"/>
            </p:custDataLst>
          </p:nvPr>
        </p:nvSpPr>
        <p:spPr>
          <a:xfrm>
            <a:off x="8217314" y="2219325"/>
            <a:ext cx="3473611" cy="2047876"/>
          </a:xfrm>
          <a:custGeom>
            <a:avLst/>
            <a:gdLst>
              <a:gd name="connsiteX0" fmla="*/ 0 w 3200343"/>
              <a:gd name="connsiteY0" fmla="*/ 84953 h 4381458"/>
              <a:gd name="connsiteX1" fmla="*/ 85021 w 3200343"/>
              <a:gd name="connsiteY1" fmla="*/ 0 h 4381458"/>
              <a:gd name="connsiteX2" fmla="*/ 1534254 w 3200343"/>
              <a:gd name="connsiteY2" fmla="*/ 0 h 4381458"/>
              <a:gd name="connsiteX3" fmla="*/ 1614024 w 3200343"/>
              <a:gd name="connsiteY3" fmla="*/ 55554 h 4381458"/>
              <a:gd name="connsiteX4" fmla="*/ 1783346 w 3200343"/>
              <a:gd name="connsiteY4" fmla="*/ 514247 h 4381458"/>
              <a:gd name="connsiteX5" fmla="*/ 1881038 w 3200343"/>
              <a:gd name="connsiteY5" fmla="*/ 582285 h 4381458"/>
              <a:gd name="connsiteX6" fmla="*/ 3115320 w 3200343"/>
              <a:gd name="connsiteY6" fmla="*/ 582285 h 4381458"/>
              <a:gd name="connsiteX7" fmla="*/ 3200344 w 3200343"/>
              <a:gd name="connsiteY7" fmla="*/ 667239 h 4381458"/>
              <a:gd name="connsiteX8" fmla="*/ 3200344 w 3200343"/>
              <a:gd name="connsiteY8" fmla="*/ 4296503 h 4381458"/>
              <a:gd name="connsiteX9" fmla="*/ 3115320 w 3200343"/>
              <a:gd name="connsiteY9" fmla="*/ 4381459 h 4381458"/>
              <a:gd name="connsiteX10" fmla="*/ 85021 w 3200343"/>
              <a:gd name="connsiteY10" fmla="*/ 4381459 h 4381458"/>
              <a:gd name="connsiteX11" fmla="*/ 0 w 3200343"/>
              <a:gd name="connsiteY11" fmla="*/ 4296503 h 4381458"/>
              <a:gd name="connsiteX12" fmla="*/ 0 w 3200343"/>
              <a:gd name="connsiteY12" fmla="*/ 84953 h 4381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0343" h="4381458">
                <a:moveTo>
                  <a:pt x="0" y="84953"/>
                </a:moveTo>
                <a:cubicBezTo>
                  <a:pt x="0" y="38035"/>
                  <a:pt x="38065" y="0"/>
                  <a:pt x="85021" y="0"/>
                </a:cubicBezTo>
                <a:lnTo>
                  <a:pt x="1534254" y="0"/>
                </a:lnTo>
                <a:cubicBezTo>
                  <a:pt x="1569859" y="0"/>
                  <a:pt x="1601700" y="22172"/>
                  <a:pt x="1614024" y="55554"/>
                </a:cubicBezTo>
                <a:lnTo>
                  <a:pt x="1783346" y="514247"/>
                </a:lnTo>
                <a:cubicBezTo>
                  <a:pt x="1798440" y="555130"/>
                  <a:pt x="1837427" y="582285"/>
                  <a:pt x="1881038" y="582285"/>
                </a:cubicBezTo>
                <a:lnTo>
                  <a:pt x="3115320" y="582285"/>
                </a:lnTo>
                <a:cubicBezTo>
                  <a:pt x="3162274" y="582285"/>
                  <a:pt x="3200344" y="620320"/>
                  <a:pt x="3200344" y="667239"/>
                </a:cubicBezTo>
                <a:lnTo>
                  <a:pt x="3200344" y="4296503"/>
                </a:lnTo>
                <a:cubicBezTo>
                  <a:pt x="3200344" y="4343429"/>
                  <a:pt x="3162283" y="4381459"/>
                  <a:pt x="3115320" y="4381459"/>
                </a:cubicBezTo>
                <a:lnTo>
                  <a:pt x="85021" y="4381459"/>
                </a:lnTo>
                <a:cubicBezTo>
                  <a:pt x="38065" y="4381459"/>
                  <a:pt x="0" y="4343429"/>
                  <a:pt x="0" y="4296503"/>
                </a:cubicBezTo>
                <a:lnTo>
                  <a:pt x="0" y="84953"/>
                </a:lnTo>
                <a:close/>
              </a:path>
            </a:pathLst>
          </a:custGeom>
          <a:solidFill>
            <a:schemeClr val="accent3">
              <a:alpha val="43000"/>
            </a:schemeClr>
          </a:solidFill>
          <a:ln w="12700" cap="flat">
            <a:solidFill>
              <a:schemeClr val="accent1"/>
            </a:solidFill>
            <a:prstDash val="solid"/>
            <a:miter lim="800000"/>
          </a:ln>
          <a:effectLst/>
          <a:sp3d/>
        </p:spPr>
        <p:txBody>
          <a:bodyPr rot="0" spcFirstLastPara="1" vertOverflow="overflow" horzOverflow="overflow" vert="horz" wrap="square" lIns="45719" tIns="45719" rIns="45719" bIns="45719" numCol="1" spcCol="38100" rtlCol="0" fromWordArt="0" anchor="ctr" anchorCtr="0" forceAA="0" compatLnSpc="1">
            <a:noAutofit/>
          </a:bodyPr>
          <a:lstStyle/>
          <a:p>
            <a:pPr hangingPunct="0"/>
            <a:endParaRPr lang="zh-CN" altLang="en-US" kern="0" dirty="0">
              <a:solidFill>
                <a:srgbClr val="000000"/>
              </a:solidFill>
              <a:latin typeface="微软雅黑" panose="020B0503020204020204" pitchFamily="34" charset="-122"/>
              <a:cs typeface="+mn-ea"/>
              <a:sym typeface="+mn-lt"/>
            </a:endParaRPr>
          </a:p>
        </p:txBody>
      </p:sp>
      <p:sp>
        <p:nvSpPr>
          <p:cNvPr id="19" name="矩形: 圆角 81">
            <a:extLst>
              <a:ext uri="{FF2B5EF4-FFF2-40B4-BE49-F238E27FC236}">
                <a16:creationId xmlns:a16="http://schemas.microsoft.com/office/drawing/2014/main" id="{DF4B417C-0DD3-F3EC-28AB-026447896A4C}"/>
              </a:ext>
            </a:extLst>
          </p:cNvPr>
          <p:cNvSpPr/>
          <p:nvPr>
            <p:custDataLst>
              <p:tags r:id="rId10"/>
            </p:custDataLst>
          </p:nvPr>
        </p:nvSpPr>
        <p:spPr>
          <a:xfrm>
            <a:off x="9799507" y="2210026"/>
            <a:ext cx="1905129" cy="758729"/>
          </a:xfrm>
          <a:custGeom>
            <a:avLst/>
            <a:gdLst>
              <a:gd name="adj" fmla="val 12565"/>
              <a:gd name="a" fmla="pin 0 adj 50000"/>
              <a:gd name="x1" fmla="*/ ss a 100000"/>
              <a:gd name="x2" fmla="+- r 0 x1"/>
              <a:gd name="y2" fmla="+- b 0 x1"/>
              <a:gd name="il" fmla="*/ x1 29289 100000"/>
              <a:gd name="ir" fmla="+- r 0 il"/>
              <a:gd name="ib" fmla="+- b 0 il"/>
            </a:gdLst>
            <a:ahLst/>
            <a:cxnLst>
              <a:cxn ang="3cd4">
                <a:pos x="hc" y="t"/>
              </a:cxn>
              <a:cxn ang="cd2">
                <a:pos x="l" y="vc"/>
              </a:cxn>
              <a:cxn ang="cd4">
                <a:pos x="hc" y="b"/>
              </a:cxn>
              <a:cxn ang="0">
                <a:pos x="r" y="vc"/>
              </a:cxn>
            </a:cxnLst>
            <a:rect l="l" t="t" r="r" b="b"/>
            <a:pathLst>
              <a:path w="3000" h="1195">
                <a:moveTo>
                  <a:pt x="0" y="10"/>
                </a:moveTo>
                <a:cubicBezTo>
                  <a:pt x="9" y="5"/>
                  <a:pt x="45" y="-1"/>
                  <a:pt x="56" y="0"/>
                </a:cubicBezTo>
                <a:lnTo>
                  <a:pt x="2839" y="0"/>
                </a:lnTo>
                <a:cubicBezTo>
                  <a:pt x="2929" y="-3"/>
                  <a:pt x="3002" y="80"/>
                  <a:pt x="3000" y="162"/>
                </a:cubicBezTo>
                <a:lnTo>
                  <a:pt x="3000" y="1124"/>
                </a:lnTo>
                <a:cubicBezTo>
                  <a:pt x="3001" y="1149"/>
                  <a:pt x="2991" y="1180"/>
                  <a:pt x="2984" y="1195"/>
                </a:cubicBezTo>
                <a:lnTo>
                  <a:pt x="2984" y="1157"/>
                </a:lnTo>
                <a:cubicBezTo>
                  <a:pt x="2986" y="1075"/>
                  <a:pt x="2911" y="1009"/>
                  <a:pt x="2838" y="1011"/>
                </a:cubicBezTo>
                <a:lnTo>
                  <a:pt x="717" y="1011"/>
                </a:lnTo>
                <a:cubicBezTo>
                  <a:pt x="642" y="1013"/>
                  <a:pt x="571" y="958"/>
                  <a:pt x="549" y="894"/>
                </a:cubicBezTo>
                <a:lnTo>
                  <a:pt x="258" y="106"/>
                </a:lnTo>
                <a:cubicBezTo>
                  <a:pt x="239" y="47"/>
                  <a:pt x="177" y="9"/>
                  <a:pt x="121" y="10"/>
                </a:cubicBezTo>
                <a:lnTo>
                  <a:pt x="0" y="10"/>
                </a:lnTo>
                <a:close/>
              </a:path>
            </a:pathLst>
          </a:custGeom>
          <a:solidFill>
            <a:schemeClr val="accent1"/>
          </a:solid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marL="0" marR="0" lvl="0" indent="0" defTabSz="914400" eaLnBrk="1" fontAlgn="auto" latinLnBrk="0" hangingPunct="0">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微软雅黑" panose="020B0503020204020204" pitchFamily="34" charset="-122"/>
              <a:cs typeface="+mn-ea"/>
              <a:sym typeface="+mn-lt"/>
            </a:endParaRPr>
          </a:p>
        </p:txBody>
      </p:sp>
      <p:sp>
        <p:nvSpPr>
          <p:cNvPr id="20" name="Object29">
            <a:extLst>
              <a:ext uri="{FF2B5EF4-FFF2-40B4-BE49-F238E27FC236}">
                <a16:creationId xmlns:a16="http://schemas.microsoft.com/office/drawing/2014/main" id="{EEAC4341-3A56-8B68-C9A7-BF1A495CD9AE}"/>
              </a:ext>
            </a:extLst>
          </p:cNvPr>
          <p:cNvSpPr/>
          <p:nvPr>
            <p:custDataLst>
              <p:tags r:id="rId11"/>
            </p:custDataLst>
          </p:nvPr>
        </p:nvSpPr>
        <p:spPr>
          <a:xfrm>
            <a:off x="8496149" y="2875169"/>
            <a:ext cx="3034665" cy="1334881"/>
          </a:xfrm>
          <a:prstGeom prst="rect">
            <a:avLst/>
          </a:prstGeom>
          <a:noFill/>
        </p:spPr>
        <p:txBody>
          <a:bodyPr wrap="square" lIns="0" tIns="0" rIns="0" bIns="0" rtlCol="0" anchor="ctr"/>
          <a:lstStyle/>
          <a:p>
            <a:pPr>
              <a:lnSpc>
                <a:spcPct val="130000"/>
              </a:lnSpc>
            </a:pPr>
            <a:r>
              <a:rPr lang="zh-CN" altLang="en-US" dirty="0">
                <a:latin typeface="微软雅黑"/>
              </a:rPr>
              <a:t>微悬臂探针将由压电驱动器激励</a:t>
            </a:r>
            <a:r>
              <a:rPr lang="en-US" altLang="zh-CN" dirty="0">
                <a:latin typeface="微软雅黑"/>
              </a:rPr>
              <a:t>, </a:t>
            </a:r>
            <a:r>
              <a:rPr lang="zh-CN" altLang="en-US" dirty="0">
                <a:latin typeface="微软雅黑"/>
              </a:rPr>
              <a:t>在其固有频率下产生</a:t>
            </a:r>
            <a:r>
              <a:rPr lang="zh-CN" altLang="en-US" sz="2000" b="1" dirty="0">
                <a:latin typeface="微软雅黑"/>
              </a:rPr>
              <a:t>共振运动</a:t>
            </a:r>
          </a:p>
        </p:txBody>
      </p:sp>
      <p:sp>
        <p:nvSpPr>
          <p:cNvPr id="21" name="Object37">
            <a:extLst>
              <a:ext uri="{FF2B5EF4-FFF2-40B4-BE49-F238E27FC236}">
                <a16:creationId xmlns:a16="http://schemas.microsoft.com/office/drawing/2014/main" id="{FD8EFD73-CC3A-DD9F-25AB-ED5835CC71FF}"/>
              </a:ext>
            </a:extLst>
          </p:cNvPr>
          <p:cNvSpPr/>
          <p:nvPr/>
        </p:nvSpPr>
        <p:spPr>
          <a:xfrm>
            <a:off x="10318101" y="2367559"/>
            <a:ext cx="1215854" cy="389513"/>
          </a:xfrm>
          <a:prstGeom prst="rect">
            <a:avLst/>
          </a:prstGeom>
          <a:noFill/>
        </p:spPr>
        <p:txBody>
          <a:bodyPr wrap="square" lIns="0" tIns="0" rIns="0" bIns="0" rtlCol="0" anchor="ctr"/>
          <a:lstStyle/>
          <a:p>
            <a:pPr algn="ctr"/>
            <a:r>
              <a:rPr lang="zh-CN" altLang="en-US" sz="2000" b="1" dirty="0">
                <a:solidFill>
                  <a:prstClr val="white"/>
                </a:solidFill>
                <a:latin typeface="微软雅黑"/>
              </a:rPr>
              <a:t>轻敲模式</a:t>
            </a:r>
          </a:p>
        </p:txBody>
      </p:sp>
      <p:sp>
        <p:nvSpPr>
          <p:cNvPr id="22" name="Object38">
            <a:extLst>
              <a:ext uri="{FF2B5EF4-FFF2-40B4-BE49-F238E27FC236}">
                <a16:creationId xmlns:a16="http://schemas.microsoft.com/office/drawing/2014/main" id="{B8324E96-51E9-10E3-CFF9-F6F2DFEB7CA9}"/>
              </a:ext>
            </a:extLst>
          </p:cNvPr>
          <p:cNvSpPr/>
          <p:nvPr>
            <p:custDataLst>
              <p:tags r:id="rId12"/>
            </p:custDataLst>
          </p:nvPr>
        </p:nvSpPr>
        <p:spPr>
          <a:xfrm>
            <a:off x="8420302" y="2367558"/>
            <a:ext cx="1050235" cy="425857"/>
          </a:xfrm>
          <a:prstGeom prst="rect">
            <a:avLst/>
          </a:prstGeom>
          <a:noFill/>
        </p:spPr>
        <p:txBody>
          <a:bodyPr wrap="square" lIns="0" tIns="0" rIns="0" bIns="0" rtlCol="0" anchor="ctr"/>
          <a:lstStyle/>
          <a:p>
            <a:pPr defTabSz="731520">
              <a:lnSpc>
                <a:spcPts val="1920"/>
              </a:lnSpc>
            </a:pPr>
            <a:r>
              <a:rPr lang="en-US" sz="2000" b="1" dirty="0">
                <a:latin typeface="微软雅黑"/>
                <a:cs typeface="+mn-ea"/>
                <a:sym typeface="+mn-lt"/>
              </a:rPr>
              <a:t>03</a:t>
            </a:r>
          </a:p>
        </p:txBody>
      </p:sp>
      <p:sp>
        <p:nvSpPr>
          <p:cNvPr id="23" name="圆角矩形 38">
            <a:extLst>
              <a:ext uri="{FF2B5EF4-FFF2-40B4-BE49-F238E27FC236}">
                <a16:creationId xmlns:a16="http://schemas.microsoft.com/office/drawing/2014/main" id="{C35B4238-B6DB-F9D8-A415-E3C87B21A7C9}"/>
              </a:ext>
            </a:extLst>
          </p:cNvPr>
          <p:cNvSpPr/>
          <p:nvPr/>
        </p:nvSpPr>
        <p:spPr>
          <a:xfrm>
            <a:off x="482601" y="1194458"/>
            <a:ext cx="11214100" cy="735941"/>
          </a:xfrm>
          <a:prstGeom prst="roundRect">
            <a:avLst>
              <a:gd name="adj" fmla="val 1658"/>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a:cs typeface="+mn-cs"/>
            </a:endParaRPr>
          </a:p>
        </p:txBody>
      </p:sp>
      <p:sp>
        <p:nvSpPr>
          <p:cNvPr id="24" name="文本框 23">
            <a:extLst>
              <a:ext uri="{FF2B5EF4-FFF2-40B4-BE49-F238E27FC236}">
                <a16:creationId xmlns:a16="http://schemas.microsoft.com/office/drawing/2014/main" id="{05A87673-F5E3-DC53-2ECD-CF6CA3BC5F5F}"/>
              </a:ext>
            </a:extLst>
          </p:cNvPr>
          <p:cNvSpPr txBox="1"/>
          <p:nvPr/>
        </p:nvSpPr>
        <p:spPr>
          <a:xfrm>
            <a:off x="2318239" y="1309956"/>
            <a:ext cx="7542823" cy="504946"/>
          </a:xfrm>
          <a:prstGeom prst="rect">
            <a:avLst/>
          </a:prstGeom>
          <a:noFill/>
        </p:spPr>
        <p:txBody>
          <a:bodyPr wrap="square">
            <a:spAutoFit/>
          </a:bodyPr>
          <a:lstStyle/>
          <a:p>
            <a:pPr algn="ctr">
              <a:lnSpc>
                <a:spcPct val="120000"/>
              </a:lnSpc>
            </a:pPr>
            <a:r>
              <a:rPr lang="zh-CN" altLang="en-US" sz="2400" b="1" dirty="0">
                <a:solidFill>
                  <a:prstClr val="white"/>
                </a:solidFill>
                <a:latin typeface="微软雅黑"/>
              </a:rPr>
              <a:t>原子力显微镜</a:t>
            </a:r>
            <a:r>
              <a:rPr lang="en-US" altLang="zh-CN" sz="2400" b="1" dirty="0">
                <a:solidFill>
                  <a:prstClr val="white"/>
                </a:solidFill>
                <a:latin typeface="微软雅黑"/>
              </a:rPr>
              <a:t>(AFM)</a:t>
            </a:r>
            <a:r>
              <a:rPr lang="zh-CN" altLang="en-US" sz="2400" b="1" dirty="0">
                <a:solidFill>
                  <a:prstClr val="white"/>
                </a:solidFill>
                <a:latin typeface="微软雅黑"/>
              </a:rPr>
              <a:t>的工作模式</a:t>
            </a:r>
          </a:p>
        </p:txBody>
      </p:sp>
    </p:spTree>
    <p:extLst>
      <p:ext uri="{BB962C8B-B14F-4D97-AF65-F5344CB8AC3E}">
        <p14:creationId xmlns:p14="http://schemas.microsoft.com/office/powerpoint/2010/main" val="2103363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27FD1-5071-04C3-3546-D16C2E491440}"/>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08D59C11-5FCB-C90F-0D4C-3FB6020C81F6}"/>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C75FE44A-7078-1C9E-3D06-81DA3D3741EF}"/>
              </a:ext>
            </a:extLst>
          </p:cNvPr>
          <p:cNvSpPr txBox="1"/>
          <p:nvPr/>
        </p:nvSpPr>
        <p:spPr>
          <a:xfrm>
            <a:off x="946461" y="269201"/>
            <a:ext cx="7601650" cy="523220"/>
          </a:xfrm>
          <a:prstGeom prst="rect">
            <a:avLst/>
          </a:prstGeom>
          <a:noFill/>
        </p:spPr>
        <p:txBody>
          <a:bodyPr wrap="square">
            <a:spAutoFit/>
          </a:bodyPr>
          <a:lstStyle/>
          <a:p>
            <a:r>
              <a:rPr lang="zh-CN" altLang="en-US" sz="2800" b="1" dirty="0">
                <a:solidFill>
                  <a:schemeClr val="accent1"/>
                </a:solidFill>
              </a:rPr>
              <a:t>研究内容</a:t>
            </a:r>
            <a:r>
              <a:rPr lang="en-US" altLang="zh-CN" sz="2800" b="1" dirty="0">
                <a:solidFill>
                  <a:schemeClr val="accent1"/>
                </a:solidFill>
              </a:rPr>
              <a:t>——</a:t>
            </a:r>
            <a:r>
              <a:rPr lang="zh-CN" altLang="en-US" sz="2800" b="1" dirty="0">
                <a:solidFill>
                  <a:schemeClr val="accent1"/>
                </a:solidFill>
              </a:rPr>
              <a:t>典型的扫描探针显微镜技术</a:t>
            </a:r>
          </a:p>
        </p:txBody>
      </p:sp>
      <p:sp>
        <p:nvSpPr>
          <p:cNvPr id="25" name="矩形: 圆角 24">
            <a:extLst>
              <a:ext uri="{FF2B5EF4-FFF2-40B4-BE49-F238E27FC236}">
                <a16:creationId xmlns:a16="http://schemas.microsoft.com/office/drawing/2014/main" id="{F8E9B12E-26C9-96BF-FA03-792EEDAAD1EB}"/>
              </a:ext>
            </a:extLst>
          </p:cNvPr>
          <p:cNvSpPr/>
          <p:nvPr/>
        </p:nvSpPr>
        <p:spPr>
          <a:xfrm>
            <a:off x="482600" y="3048000"/>
            <a:ext cx="5194300" cy="3390900"/>
          </a:xfrm>
          <a:prstGeom prst="roundRect">
            <a:avLst>
              <a:gd name="adj" fmla="val 806"/>
            </a:avLst>
          </a:prstGeom>
          <a:gradFill>
            <a:gsLst>
              <a:gs pos="0">
                <a:sysClr val="window" lastClr="FFFFFF"/>
              </a:gs>
              <a:gs pos="100000">
                <a:sysClr val="window" lastClr="FFFFFF"/>
              </a:gs>
              <a:gs pos="46000">
                <a:sysClr val="window" lastClr="FFFFFF">
                  <a:lumMod val="5000"/>
                  <a:lumOff val="95000"/>
                </a:sysClr>
              </a:gs>
            </a:gsLst>
            <a:path path="circle">
              <a:fillToRect r="100000" b="100000"/>
            </a:path>
          </a:gradFill>
          <a:ln w="11430" cap="flat" cmpd="sng" algn="ctr">
            <a:solidFill>
              <a:sysClr val="window" lastClr="FFFFFF">
                <a:lumMod val="65000"/>
              </a:sys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a:cs typeface="+mn-cs"/>
              <a:sym typeface="思源黑体 CN Heavy" panose="020B0A00000000000000" pitchFamily="34" charset="-122"/>
            </a:endParaRPr>
          </a:p>
        </p:txBody>
      </p:sp>
      <p:pic>
        <p:nvPicPr>
          <p:cNvPr id="26" name="图片 25">
            <a:extLst>
              <a:ext uri="{FF2B5EF4-FFF2-40B4-BE49-F238E27FC236}">
                <a16:creationId xmlns:a16="http://schemas.microsoft.com/office/drawing/2014/main" id="{2B0D93C9-8B7B-35EC-7FC4-86411418F1CB}"/>
              </a:ext>
            </a:extLst>
          </p:cNvPr>
          <p:cNvPicPr>
            <a:picLocks/>
          </p:cNvPicPr>
          <p:nvPr/>
        </p:nvPicPr>
        <p:blipFill>
          <a:blip r:embed="rId2"/>
          <a:stretch>
            <a:fillRect/>
          </a:stretch>
        </p:blipFill>
        <p:spPr>
          <a:xfrm>
            <a:off x="1111600" y="3559810"/>
            <a:ext cx="3936301" cy="2777490"/>
          </a:xfrm>
          <a:prstGeom prst="rect">
            <a:avLst/>
          </a:prstGeom>
        </p:spPr>
      </p:pic>
      <p:sp>
        <p:nvSpPr>
          <p:cNvPr id="27" name="文本框 26">
            <a:extLst>
              <a:ext uri="{FF2B5EF4-FFF2-40B4-BE49-F238E27FC236}">
                <a16:creationId xmlns:a16="http://schemas.microsoft.com/office/drawing/2014/main" id="{9B754EF8-4110-0660-465D-6970D566897F}"/>
              </a:ext>
            </a:extLst>
          </p:cNvPr>
          <p:cNvSpPr txBox="1"/>
          <p:nvPr/>
        </p:nvSpPr>
        <p:spPr>
          <a:xfrm>
            <a:off x="1140459" y="3135852"/>
            <a:ext cx="3878581" cy="338554"/>
          </a:xfrm>
          <a:prstGeom prst="rect">
            <a:avLst/>
          </a:prstGeom>
          <a:noFill/>
        </p:spPr>
        <p:txBody>
          <a:bodyPr wrap="square">
            <a:spAutoFit/>
          </a:bodyPr>
          <a:lstStyle/>
          <a:p>
            <a:pPr marL="285750" indent="-285750" algn="ctr">
              <a:buFont typeface="Wingdings" panose="05000000000000000000" pitchFamily="2" charset="2"/>
              <a:buChar char="n"/>
            </a:pPr>
            <a:r>
              <a:rPr lang="zh-CN" altLang="en-US" sz="1600" dirty="0">
                <a:solidFill>
                  <a:prstClr val="white">
                    <a:lumMod val="50000"/>
                  </a:prstClr>
                </a:solidFill>
                <a:latin typeface="Arial" panose="020B0604020202020204" pitchFamily="34" charset="0"/>
              </a:rPr>
              <a:t>难适用于三维微纳器件表面特征检测</a:t>
            </a:r>
            <a:endParaRPr lang="zh-CN" altLang="en-US" sz="1600" dirty="0">
              <a:solidFill>
                <a:prstClr val="white">
                  <a:lumMod val="50000"/>
                </a:prstClr>
              </a:solidFill>
              <a:latin typeface="微软雅黑" panose="020B0503020204020204" pitchFamily="34" charset="-122"/>
            </a:endParaRPr>
          </a:p>
        </p:txBody>
      </p:sp>
      <p:sp>
        <p:nvSpPr>
          <p:cNvPr id="28" name="文本框 27">
            <a:extLst>
              <a:ext uri="{FF2B5EF4-FFF2-40B4-BE49-F238E27FC236}">
                <a16:creationId xmlns:a16="http://schemas.microsoft.com/office/drawing/2014/main" id="{9CD32DCD-D56C-59E5-0818-30BA6E755614}"/>
              </a:ext>
            </a:extLst>
          </p:cNvPr>
          <p:cNvSpPr txBox="1"/>
          <p:nvPr/>
        </p:nvSpPr>
        <p:spPr>
          <a:xfrm>
            <a:off x="5544457" y="4963408"/>
            <a:ext cx="1103086" cy="461665"/>
          </a:xfrm>
          <a:prstGeom prst="rect">
            <a:avLst/>
          </a:prstGeom>
          <a:noFill/>
        </p:spPr>
        <p:txBody>
          <a:bodyPr wrap="square">
            <a:spAutoFit/>
          </a:bodyPr>
          <a:lstStyle/>
          <a:p>
            <a:pPr algn="ctr"/>
            <a:r>
              <a:rPr lang="zh-CN" altLang="en-US" sz="2400" dirty="0">
                <a:solidFill>
                  <a:schemeClr val="accent1"/>
                </a:solidFill>
                <a:latin typeface="微软雅黑"/>
              </a:rPr>
              <a:t>改良</a:t>
            </a:r>
          </a:p>
        </p:txBody>
      </p:sp>
      <p:sp>
        <p:nvSpPr>
          <p:cNvPr id="29" name="矩形: 圆角 28">
            <a:extLst>
              <a:ext uri="{FF2B5EF4-FFF2-40B4-BE49-F238E27FC236}">
                <a16:creationId xmlns:a16="http://schemas.microsoft.com/office/drawing/2014/main" id="{220EA55B-F46E-4D3F-0C4E-6994C72B7DE7}"/>
              </a:ext>
            </a:extLst>
          </p:cNvPr>
          <p:cNvSpPr/>
          <p:nvPr/>
        </p:nvSpPr>
        <p:spPr>
          <a:xfrm>
            <a:off x="482600" y="1209341"/>
            <a:ext cx="11214100" cy="981409"/>
          </a:xfrm>
          <a:prstGeom prst="roundRect">
            <a:avLst>
              <a:gd name="adj" fmla="val 1434"/>
            </a:avLst>
          </a:prstGeom>
          <a:solidFill>
            <a:sysClr val="window" lastClr="FFFFFF"/>
          </a:solidFill>
          <a:ln w="31750" cap="flat" cmpd="sng" algn="ctr">
            <a:solidFill>
              <a:schemeClr val="accent1"/>
            </a:solidFill>
            <a:prstDash val="solid"/>
            <a:miter lim="800000"/>
          </a:ln>
          <a:effectLst>
            <a:outerShdw blurRad="203200" dist="38100" dir="2700000" algn="tl" rotWithShape="0">
              <a:schemeClr val="accent1">
                <a:alpha val="11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panose="020B0604020202020204" pitchFamily="34" charset="0"/>
              <a:ea typeface="微软雅黑"/>
              <a:cs typeface="+mn-cs"/>
            </a:endParaRPr>
          </a:p>
        </p:txBody>
      </p:sp>
      <p:sp>
        <p:nvSpPr>
          <p:cNvPr id="30" name="文本框 29">
            <a:extLst>
              <a:ext uri="{FF2B5EF4-FFF2-40B4-BE49-F238E27FC236}">
                <a16:creationId xmlns:a16="http://schemas.microsoft.com/office/drawing/2014/main" id="{C1EBC5AF-2E47-254C-BE40-5E71C8F1600E}"/>
              </a:ext>
            </a:extLst>
          </p:cNvPr>
          <p:cNvSpPr txBox="1"/>
          <p:nvPr/>
        </p:nvSpPr>
        <p:spPr>
          <a:xfrm>
            <a:off x="1031792" y="1297307"/>
            <a:ext cx="10115716" cy="805477"/>
          </a:xfrm>
          <a:prstGeom prst="rect">
            <a:avLst/>
          </a:prstGeom>
          <a:noFill/>
        </p:spPr>
        <p:txBody>
          <a:bodyPr wrap="square">
            <a:spAutoFit/>
          </a:bodyPr>
          <a:lstStyle/>
          <a:p>
            <a:pPr>
              <a:lnSpc>
                <a:spcPct val="120000"/>
              </a:lnSpc>
            </a:pPr>
            <a:r>
              <a:rPr lang="zh-CN" altLang="en-US" sz="2000" b="1" dirty="0">
                <a:solidFill>
                  <a:schemeClr val="accent1"/>
                </a:solidFill>
                <a:latin typeface="微软雅黑"/>
              </a:rPr>
              <a:t>在</a:t>
            </a:r>
            <a:r>
              <a:rPr lang="en-US" altLang="zh-CN" sz="2000" b="1" dirty="0">
                <a:solidFill>
                  <a:schemeClr val="accent1"/>
                </a:solidFill>
                <a:latin typeface="微软雅黑"/>
              </a:rPr>
              <a:t>AFM</a:t>
            </a:r>
            <a:r>
              <a:rPr lang="zh-CN" altLang="en-US" sz="2000" b="1" dirty="0">
                <a:solidFill>
                  <a:schemeClr val="accent1"/>
                </a:solidFill>
                <a:latin typeface="微软雅黑"/>
              </a:rPr>
              <a:t>系统中</a:t>
            </a:r>
            <a:r>
              <a:rPr lang="en-US" altLang="zh-CN" sz="2000" b="1" dirty="0">
                <a:solidFill>
                  <a:schemeClr val="accent1"/>
                </a:solidFill>
                <a:latin typeface="微软雅黑"/>
              </a:rPr>
              <a:t>, </a:t>
            </a:r>
            <a:r>
              <a:rPr lang="zh-CN" altLang="en-US" sz="2000" b="1" dirty="0">
                <a:solidFill>
                  <a:schemeClr val="accent1"/>
                </a:solidFill>
                <a:latin typeface="微软雅黑"/>
              </a:rPr>
              <a:t>作为微力传感器的微悬臂探针上集成有十几微米高的针尖</a:t>
            </a:r>
            <a:r>
              <a:rPr lang="en-US" altLang="zh-CN" sz="2000" b="1" dirty="0">
                <a:solidFill>
                  <a:schemeClr val="accent1"/>
                </a:solidFill>
                <a:latin typeface="微软雅黑"/>
              </a:rPr>
              <a:t>, </a:t>
            </a:r>
            <a:r>
              <a:rPr lang="zh-CN" altLang="en-US" sz="2000" b="1" dirty="0">
                <a:solidFill>
                  <a:schemeClr val="accent1"/>
                </a:solidFill>
                <a:latin typeface="微软雅黑"/>
              </a:rPr>
              <a:t>受限于针尖结构参数</a:t>
            </a:r>
            <a:r>
              <a:rPr lang="en-US" altLang="zh-CN" sz="2000" b="1" dirty="0">
                <a:solidFill>
                  <a:schemeClr val="accent1"/>
                </a:solidFill>
                <a:latin typeface="微软雅黑"/>
              </a:rPr>
              <a:t>, </a:t>
            </a:r>
            <a:r>
              <a:rPr lang="zh-CN" altLang="en-US" sz="2000" b="1" dirty="0">
                <a:solidFill>
                  <a:schemeClr val="accent1"/>
                </a:solidFill>
                <a:latin typeface="微软雅黑"/>
              </a:rPr>
              <a:t>传统</a:t>
            </a:r>
            <a:r>
              <a:rPr lang="en-US" altLang="zh-CN" sz="2000" b="1" dirty="0">
                <a:solidFill>
                  <a:schemeClr val="accent1"/>
                </a:solidFill>
                <a:latin typeface="微软雅黑"/>
              </a:rPr>
              <a:t>AFM</a:t>
            </a:r>
            <a:r>
              <a:rPr lang="zh-CN" altLang="en-US" sz="2000" b="1" dirty="0">
                <a:solidFill>
                  <a:schemeClr val="accent1"/>
                </a:solidFill>
                <a:latin typeface="微软雅黑"/>
              </a:rPr>
              <a:t>主要面向具有纳米级或亚微米级高度变化的二维样品表面进行扫描表征。</a:t>
            </a:r>
          </a:p>
        </p:txBody>
      </p:sp>
      <p:sp>
        <p:nvSpPr>
          <p:cNvPr id="31" name="矩形 30">
            <a:extLst>
              <a:ext uri="{FF2B5EF4-FFF2-40B4-BE49-F238E27FC236}">
                <a16:creationId xmlns:a16="http://schemas.microsoft.com/office/drawing/2014/main" id="{7D79D7A0-71C5-A559-E20E-FF9B82F33CC4}"/>
              </a:ext>
            </a:extLst>
          </p:cNvPr>
          <p:cNvSpPr/>
          <p:nvPr/>
        </p:nvSpPr>
        <p:spPr>
          <a:xfrm>
            <a:off x="6005945" y="2383351"/>
            <a:ext cx="5690755" cy="520861"/>
          </a:xfrm>
          <a:prstGeom prst="rect">
            <a:avLst/>
          </a:prstGeom>
          <a:solidFill>
            <a:schemeClr val="accent2">
              <a:lumMod val="50000"/>
            </a:scheme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a:cs typeface="+mn-cs"/>
            </a:endParaRPr>
          </a:p>
        </p:txBody>
      </p:sp>
      <p:sp>
        <p:nvSpPr>
          <p:cNvPr id="32" name="矩形 31">
            <a:extLst>
              <a:ext uri="{FF2B5EF4-FFF2-40B4-BE49-F238E27FC236}">
                <a16:creationId xmlns:a16="http://schemas.microsoft.com/office/drawing/2014/main" id="{D8C5F2D1-36C2-111B-8F9C-2D5994C0F1AF}"/>
              </a:ext>
            </a:extLst>
          </p:cNvPr>
          <p:cNvSpPr/>
          <p:nvPr/>
        </p:nvSpPr>
        <p:spPr>
          <a:xfrm>
            <a:off x="479424" y="2383351"/>
            <a:ext cx="5241513" cy="520861"/>
          </a:xfrm>
          <a:prstGeom prst="rect">
            <a:avLst/>
          </a:prstGeom>
          <a:solidFill>
            <a:sysClr val="window" lastClr="FFFFFF">
              <a:lumMod val="50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a:cs typeface="+mn-cs"/>
            </a:endParaRPr>
          </a:p>
        </p:txBody>
      </p:sp>
      <p:cxnSp>
        <p:nvCxnSpPr>
          <p:cNvPr id="33" name="直线连接符 206">
            <a:extLst>
              <a:ext uri="{FF2B5EF4-FFF2-40B4-BE49-F238E27FC236}">
                <a16:creationId xmlns:a16="http://schemas.microsoft.com/office/drawing/2014/main" id="{BB5E8543-70E3-AE40-BDE5-6968B7E1C3B4}"/>
              </a:ext>
            </a:extLst>
          </p:cNvPr>
          <p:cNvCxnSpPr>
            <a:cxnSpLocks/>
          </p:cNvCxnSpPr>
          <p:nvPr/>
        </p:nvCxnSpPr>
        <p:spPr>
          <a:xfrm>
            <a:off x="6102109" y="3193000"/>
            <a:ext cx="0" cy="876080"/>
          </a:xfrm>
          <a:prstGeom prst="line">
            <a:avLst/>
          </a:prstGeom>
          <a:noFill/>
          <a:ln w="15875" cap="flat" cmpd="sng" algn="ctr">
            <a:solidFill>
              <a:schemeClr val="accent1"/>
            </a:solidFill>
            <a:prstDash val="solid"/>
            <a:miter lim="800000"/>
          </a:ln>
          <a:effectLst/>
        </p:spPr>
      </p:cxnSp>
      <p:sp>
        <p:nvSpPr>
          <p:cNvPr id="34" name="燕尾形 207">
            <a:extLst>
              <a:ext uri="{FF2B5EF4-FFF2-40B4-BE49-F238E27FC236}">
                <a16:creationId xmlns:a16="http://schemas.microsoft.com/office/drawing/2014/main" id="{5F4FC2F6-6B47-6823-7A53-3BBFAE0E9B52}"/>
              </a:ext>
            </a:extLst>
          </p:cNvPr>
          <p:cNvSpPr/>
          <p:nvPr/>
        </p:nvSpPr>
        <p:spPr>
          <a:xfrm>
            <a:off x="6021085" y="4178781"/>
            <a:ext cx="231494" cy="763929"/>
          </a:xfrm>
          <a:prstGeom prst="chevron">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black"/>
              </a:solidFill>
              <a:effectLst/>
              <a:uLnTx/>
              <a:uFillTx/>
              <a:latin typeface="微软雅黑" panose="020B0503020204020204" pitchFamily="34" charset="-122"/>
              <a:ea typeface="微软雅黑"/>
              <a:cs typeface="+mn-cs"/>
            </a:endParaRPr>
          </a:p>
        </p:txBody>
      </p:sp>
      <p:cxnSp>
        <p:nvCxnSpPr>
          <p:cNvPr id="35" name="直线连接符 208">
            <a:extLst>
              <a:ext uri="{FF2B5EF4-FFF2-40B4-BE49-F238E27FC236}">
                <a16:creationId xmlns:a16="http://schemas.microsoft.com/office/drawing/2014/main" id="{358C5F4E-866E-23DF-9C76-97950675FEAB}"/>
              </a:ext>
            </a:extLst>
          </p:cNvPr>
          <p:cNvCxnSpPr>
            <a:cxnSpLocks/>
          </p:cNvCxnSpPr>
          <p:nvPr/>
        </p:nvCxnSpPr>
        <p:spPr>
          <a:xfrm>
            <a:off x="6102109" y="5532120"/>
            <a:ext cx="0" cy="906780"/>
          </a:xfrm>
          <a:prstGeom prst="line">
            <a:avLst/>
          </a:prstGeom>
          <a:noFill/>
          <a:ln w="15875" cap="flat" cmpd="sng" algn="ctr">
            <a:solidFill>
              <a:schemeClr val="accent1"/>
            </a:solidFill>
            <a:prstDash val="solid"/>
            <a:miter lim="800000"/>
          </a:ln>
          <a:effectLst/>
        </p:spPr>
      </p:cxnSp>
      <p:sp>
        <p:nvSpPr>
          <p:cNvPr id="36" name="三角形 204">
            <a:extLst>
              <a:ext uri="{FF2B5EF4-FFF2-40B4-BE49-F238E27FC236}">
                <a16:creationId xmlns:a16="http://schemas.microsoft.com/office/drawing/2014/main" id="{1CF4BBAE-D4E3-2A7F-8146-D6650077D282}"/>
              </a:ext>
            </a:extLst>
          </p:cNvPr>
          <p:cNvSpPr/>
          <p:nvPr/>
        </p:nvSpPr>
        <p:spPr>
          <a:xfrm rot="5400000">
            <a:off x="6005945" y="2347618"/>
            <a:ext cx="520863" cy="578734"/>
          </a:xfrm>
          <a:prstGeom prst="triangle">
            <a:avLst/>
          </a:prstGeom>
          <a:solidFill>
            <a:sysClr val="window" lastClr="FFFFFF"/>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a:cs typeface="+mn-cs"/>
            </a:endParaRPr>
          </a:p>
        </p:txBody>
      </p:sp>
      <p:sp>
        <p:nvSpPr>
          <p:cNvPr id="37" name="三角形 201">
            <a:extLst>
              <a:ext uri="{FF2B5EF4-FFF2-40B4-BE49-F238E27FC236}">
                <a16:creationId xmlns:a16="http://schemas.microsoft.com/office/drawing/2014/main" id="{A186ED54-6746-47A6-6242-7182D5FC3CB3}"/>
              </a:ext>
            </a:extLst>
          </p:cNvPr>
          <p:cNvSpPr/>
          <p:nvPr/>
        </p:nvSpPr>
        <p:spPr>
          <a:xfrm rot="5400000">
            <a:off x="5741273" y="2354417"/>
            <a:ext cx="520863" cy="578734"/>
          </a:xfrm>
          <a:prstGeom prst="triangle">
            <a:avLst/>
          </a:prstGeom>
          <a:solidFill>
            <a:sysClr val="window" lastClr="FFFFFF">
              <a:lumMod val="50000"/>
            </a:sys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a:cs typeface="+mn-cs"/>
            </a:endParaRPr>
          </a:p>
        </p:txBody>
      </p:sp>
      <p:sp>
        <p:nvSpPr>
          <p:cNvPr id="38" name="文本框 37">
            <a:extLst>
              <a:ext uri="{FF2B5EF4-FFF2-40B4-BE49-F238E27FC236}">
                <a16:creationId xmlns:a16="http://schemas.microsoft.com/office/drawing/2014/main" id="{5EFAD90C-2DA9-E5DA-797E-E828D53B487D}"/>
              </a:ext>
            </a:extLst>
          </p:cNvPr>
          <p:cNvSpPr txBox="1"/>
          <p:nvPr/>
        </p:nvSpPr>
        <p:spPr>
          <a:xfrm>
            <a:off x="1010124" y="2443727"/>
            <a:ext cx="4180114" cy="400110"/>
          </a:xfrm>
          <a:prstGeom prst="rect">
            <a:avLst/>
          </a:prstGeom>
          <a:noFill/>
        </p:spPr>
        <p:txBody>
          <a:bodyPr wrap="square">
            <a:spAutoFit/>
          </a:bodyPr>
          <a:lstStyle/>
          <a:p>
            <a:pPr algn="ctr"/>
            <a:r>
              <a:rPr lang="zh-CN" altLang="en-US" sz="2000" b="1" dirty="0">
                <a:solidFill>
                  <a:prstClr val="white"/>
                </a:solidFill>
                <a:latin typeface="微软雅黑"/>
              </a:rPr>
              <a:t>传统</a:t>
            </a:r>
            <a:r>
              <a:rPr lang="en-US" altLang="zh-CN" sz="2000" b="1" dirty="0">
                <a:solidFill>
                  <a:prstClr val="white"/>
                </a:solidFill>
                <a:latin typeface="微软雅黑"/>
              </a:rPr>
              <a:t>AFM</a:t>
            </a:r>
            <a:r>
              <a:rPr lang="zh-CN" altLang="en-US" sz="2000" b="1" dirty="0">
                <a:solidFill>
                  <a:prstClr val="white"/>
                </a:solidFill>
                <a:latin typeface="微软雅黑"/>
              </a:rPr>
              <a:t>应用于三维特征测量限制</a:t>
            </a:r>
          </a:p>
        </p:txBody>
      </p:sp>
      <p:sp>
        <p:nvSpPr>
          <p:cNvPr id="39" name="文本框 38">
            <a:extLst>
              <a:ext uri="{FF2B5EF4-FFF2-40B4-BE49-F238E27FC236}">
                <a16:creationId xmlns:a16="http://schemas.microsoft.com/office/drawing/2014/main" id="{08D0C2B3-8726-0036-7D83-30AD36B9CB4F}"/>
              </a:ext>
            </a:extLst>
          </p:cNvPr>
          <p:cNvSpPr txBox="1"/>
          <p:nvPr/>
        </p:nvSpPr>
        <p:spPr>
          <a:xfrm>
            <a:off x="6960609" y="2443727"/>
            <a:ext cx="3781426" cy="400110"/>
          </a:xfrm>
          <a:prstGeom prst="rect">
            <a:avLst/>
          </a:prstGeom>
          <a:noFill/>
        </p:spPr>
        <p:txBody>
          <a:bodyPr wrap="square">
            <a:spAutoFit/>
          </a:bodyPr>
          <a:lstStyle/>
          <a:p>
            <a:pPr algn="ctr"/>
            <a:r>
              <a:rPr lang="zh-CN" altLang="en-US" sz="2000" b="1" dirty="0">
                <a:solidFill>
                  <a:prstClr val="white"/>
                </a:solidFill>
                <a:latin typeface="微软雅黑"/>
              </a:rPr>
              <a:t>倾斜式</a:t>
            </a:r>
            <a:r>
              <a:rPr lang="en-US" altLang="zh-CN" sz="2000" b="1" dirty="0">
                <a:solidFill>
                  <a:prstClr val="white"/>
                </a:solidFill>
                <a:latin typeface="微软雅黑"/>
              </a:rPr>
              <a:t>AFM</a:t>
            </a:r>
            <a:r>
              <a:rPr lang="zh-CN" altLang="en-US" sz="2000" b="1" dirty="0">
                <a:solidFill>
                  <a:prstClr val="white"/>
                </a:solidFill>
                <a:latin typeface="微软雅黑"/>
              </a:rPr>
              <a:t>三维表面形貌测量</a:t>
            </a:r>
          </a:p>
        </p:txBody>
      </p:sp>
      <p:sp>
        <p:nvSpPr>
          <p:cNvPr id="40" name="矩形: 圆角 39">
            <a:extLst>
              <a:ext uri="{FF2B5EF4-FFF2-40B4-BE49-F238E27FC236}">
                <a16:creationId xmlns:a16="http://schemas.microsoft.com/office/drawing/2014/main" id="{77D5FA4B-6E65-D44C-BBFA-BB614E5F8E38}"/>
              </a:ext>
            </a:extLst>
          </p:cNvPr>
          <p:cNvSpPr/>
          <p:nvPr/>
        </p:nvSpPr>
        <p:spPr>
          <a:xfrm>
            <a:off x="6502400" y="3048000"/>
            <a:ext cx="5194300" cy="3390900"/>
          </a:xfrm>
          <a:prstGeom prst="roundRect">
            <a:avLst>
              <a:gd name="adj" fmla="val 806"/>
            </a:avLst>
          </a:prstGeom>
          <a:gradFill>
            <a:gsLst>
              <a:gs pos="0">
                <a:sysClr val="window" lastClr="FFFFFF"/>
              </a:gs>
              <a:gs pos="100000">
                <a:sysClr val="window" lastClr="FFFFFF"/>
              </a:gs>
              <a:gs pos="46000">
                <a:schemeClr val="accent3"/>
              </a:gs>
            </a:gsLst>
            <a:path path="circle">
              <a:fillToRect r="100000" b="100000"/>
            </a:path>
          </a:gradFill>
          <a:ln w="11430" cap="flat" cmpd="sng" algn="ctr">
            <a:solidFill>
              <a:schemeClr val="accent1"/>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a:cs typeface="+mn-cs"/>
              <a:sym typeface="思源黑体 CN Heavy" panose="020B0A00000000000000" pitchFamily="34" charset="-122"/>
            </a:endParaRPr>
          </a:p>
        </p:txBody>
      </p:sp>
      <p:sp>
        <p:nvSpPr>
          <p:cNvPr id="41" name="文本框 40">
            <a:extLst>
              <a:ext uri="{FF2B5EF4-FFF2-40B4-BE49-F238E27FC236}">
                <a16:creationId xmlns:a16="http://schemas.microsoft.com/office/drawing/2014/main" id="{01CE0404-F71A-69C9-4C6A-D27FC63663F0}"/>
              </a:ext>
            </a:extLst>
          </p:cNvPr>
          <p:cNvSpPr txBox="1"/>
          <p:nvPr/>
        </p:nvSpPr>
        <p:spPr>
          <a:xfrm>
            <a:off x="6721435" y="3135852"/>
            <a:ext cx="4785756" cy="612475"/>
          </a:xfrm>
          <a:prstGeom prst="rect">
            <a:avLst/>
          </a:prstGeom>
          <a:noFill/>
        </p:spPr>
        <p:txBody>
          <a:bodyPr wrap="square">
            <a:spAutoFit/>
          </a:bodyPr>
          <a:lstStyle/>
          <a:p>
            <a:pPr marL="285750" indent="-285750" algn="ctr">
              <a:lnSpc>
                <a:spcPct val="110000"/>
              </a:lnSpc>
              <a:buFont typeface="Wingdings" panose="05000000000000000000" pitchFamily="2" charset="2"/>
              <a:buChar char="n"/>
            </a:pPr>
            <a:r>
              <a:rPr lang="zh-CN" altLang="en-US" sz="1600" dirty="0">
                <a:solidFill>
                  <a:schemeClr val="accent1"/>
                </a:solidFill>
                <a:latin typeface="Arial" panose="020B0604020202020204" pitchFamily="34" charset="0"/>
              </a:rPr>
              <a:t>利用集成的倾斜定位平台、旋转样品或探针一定角度完成三维微纳表面形貌的全方位扫描成像</a:t>
            </a:r>
          </a:p>
        </p:txBody>
      </p:sp>
      <p:pic>
        <p:nvPicPr>
          <p:cNvPr id="42" name="图片 41">
            <a:extLst>
              <a:ext uri="{FF2B5EF4-FFF2-40B4-BE49-F238E27FC236}">
                <a16:creationId xmlns:a16="http://schemas.microsoft.com/office/drawing/2014/main" id="{D3D1EC74-84CC-8536-02FA-CB32A18963F5}"/>
              </a:ext>
            </a:extLst>
          </p:cNvPr>
          <p:cNvPicPr>
            <a:picLocks/>
          </p:cNvPicPr>
          <p:nvPr/>
        </p:nvPicPr>
        <p:blipFill>
          <a:blip r:embed="rId3"/>
          <a:stretch>
            <a:fillRect/>
          </a:stretch>
        </p:blipFill>
        <p:spPr>
          <a:xfrm>
            <a:off x="7301948" y="3813192"/>
            <a:ext cx="3595203" cy="2536808"/>
          </a:xfrm>
          <a:prstGeom prst="rect">
            <a:avLst/>
          </a:prstGeom>
        </p:spPr>
      </p:pic>
    </p:spTree>
    <p:extLst>
      <p:ext uri="{BB962C8B-B14F-4D97-AF65-F5344CB8AC3E}">
        <p14:creationId xmlns:p14="http://schemas.microsoft.com/office/powerpoint/2010/main" val="39647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200FB-E7F6-9EDF-7A42-552B3168F012}"/>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A16A27DE-0CC3-E2DF-043F-108E3E31018F}"/>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3FAA32E8-1BA4-370D-93AB-7CBC6F780926}"/>
              </a:ext>
            </a:extLst>
          </p:cNvPr>
          <p:cNvSpPr txBox="1"/>
          <p:nvPr/>
        </p:nvSpPr>
        <p:spPr>
          <a:xfrm>
            <a:off x="946461" y="269201"/>
            <a:ext cx="6440714" cy="523220"/>
          </a:xfrm>
          <a:prstGeom prst="rect">
            <a:avLst/>
          </a:prstGeom>
          <a:noFill/>
        </p:spPr>
        <p:txBody>
          <a:bodyPr wrap="square">
            <a:spAutoFit/>
          </a:bodyPr>
          <a:lstStyle/>
          <a:p>
            <a:r>
              <a:rPr lang="zh-CN" altLang="en-US" sz="2800" b="1" dirty="0">
                <a:solidFill>
                  <a:schemeClr val="accent1"/>
                </a:solidFill>
              </a:rPr>
              <a:t>研究热点</a:t>
            </a:r>
          </a:p>
        </p:txBody>
      </p:sp>
      <p:sp>
        <p:nvSpPr>
          <p:cNvPr id="8" name="矩形: 圆角 7">
            <a:extLst>
              <a:ext uri="{FF2B5EF4-FFF2-40B4-BE49-F238E27FC236}">
                <a16:creationId xmlns:a16="http://schemas.microsoft.com/office/drawing/2014/main" id="{8B0C900E-EE19-3EC2-4408-C9195BC0D313}"/>
              </a:ext>
            </a:extLst>
          </p:cNvPr>
          <p:cNvSpPr/>
          <p:nvPr/>
        </p:nvSpPr>
        <p:spPr>
          <a:xfrm>
            <a:off x="460262" y="1154391"/>
            <a:ext cx="3217658" cy="2447925"/>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9" name="矩形: 圆角 8">
            <a:extLst>
              <a:ext uri="{FF2B5EF4-FFF2-40B4-BE49-F238E27FC236}">
                <a16:creationId xmlns:a16="http://schemas.microsoft.com/office/drawing/2014/main" id="{D9ACB5EF-E4B1-5042-609C-A27EC6DEFCAC}"/>
              </a:ext>
            </a:extLst>
          </p:cNvPr>
          <p:cNvSpPr/>
          <p:nvPr/>
        </p:nvSpPr>
        <p:spPr>
          <a:xfrm>
            <a:off x="460262" y="1154391"/>
            <a:ext cx="3217657" cy="529971"/>
          </a:xfrm>
          <a:prstGeom prst="roundRect">
            <a:avLst>
              <a:gd name="adj" fmla="val 7616"/>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0" name="文本框 9">
            <a:extLst>
              <a:ext uri="{FF2B5EF4-FFF2-40B4-BE49-F238E27FC236}">
                <a16:creationId xmlns:a16="http://schemas.microsoft.com/office/drawing/2014/main" id="{552C00E2-4A63-7FD5-98E6-0E5CE0880690}"/>
              </a:ext>
            </a:extLst>
          </p:cNvPr>
          <p:cNvSpPr txBox="1"/>
          <p:nvPr/>
        </p:nvSpPr>
        <p:spPr>
          <a:xfrm>
            <a:off x="527206" y="1203933"/>
            <a:ext cx="3083768" cy="430887"/>
          </a:xfrm>
          <a:prstGeom prst="rect">
            <a:avLst/>
          </a:prstGeom>
          <a:noFill/>
        </p:spPr>
        <p:txBody>
          <a:bodyPr wrap="square">
            <a:spAutoFit/>
          </a:bodyPr>
          <a:lstStyle/>
          <a:p>
            <a:pPr algn="ctr"/>
            <a:r>
              <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研究热点</a:t>
            </a:r>
            <a:r>
              <a:rPr lang="en-US" altLang="zh-CN"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1</a:t>
            </a:r>
            <a:endPar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211598F8-3FE7-27BD-63DE-74CC285E1FEB}"/>
              </a:ext>
            </a:extLst>
          </p:cNvPr>
          <p:cNvSpPr/>
          <p:nvPr/>
        </p:nvSpPr>
        <p:spPr>
          <a:xfrm>
            <a:off x="4487171" y="1154391"/>
            <a:ext cx="3217658" cy="2447925"/>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2" name="矩形: 圆角 11">
            <a:extLst>
              <a:ext uri="{FF2B5EF4-FFF2-40B4-BE49-F238E27FC236}">
                <a16:creationId xmlns:a16="http://schemas.microsoft.com/office/drawing/2014/main" id="{77631436-E87F-24A5-9B0B-27D2B1821549}"/>
              </a:ext>
            </a:extLst>
          </p:cNvPr>
          <p:cNvSpPr/>
          <p:nvPr/>
        </p:nvSpPr>
        <p:spPr>
          <a:xfrm>
            <a:off x="4487171" y="1154391"/>
            <a:ext cx="3217657" cy="529971"/>
          </a:xfrm>
          <a:prstGeom prst="roundRect">
            <a:avLst>
              <a:gd name="adj" fmla="val 7616"/>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3" name="矩形: 圆角 12">
            <a:extLst>
              <a:ext uri="{FF2B5EF4-FFF2-40B4-BE49-F238E27FC236}">
                <a16:creationId xmlns:a16="http://schemas.microsoft.com/office/drawing/2014/main" id="{FAD95176-9A19-2F09-A416-0A126A53CC4C}"/>
              </a:ext>
            </a:extLst>
          </p:cNvPr>
          <p:cNvSpPr/>
          <p:nvPr/>
        </p:nvSpPr>
        <p:spPr>
          <a:xfrm>
            <a:off x="8514080" y="1154391"/>
            <a:ext cx="3217658" cy="2447925"/>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4" name="矩形: 圆角 13">
            <a:extLst>
              <a:ext uri="{FF2B5EF4-FFF2-40B4-BE49-F238E27FC236}">
                <a16:creationId xmlns:a16="http://schemas.microsoft.com/office/drawing/2014/main" id="{0463FAA0-A598-B9F6-2ABD-BEB9C89E0A03}"/>
              </a:ext>
            </a:extLst>
          </p:cNvPr>
          <p:cNvSpPr/>
          <p:nvPr/>
        </p:nvSpPr>
        <p:spPr>
          <a:xfrm>
            <a:off x="8514080" y="1154391"/>
            <a:ext cx="3217657" cy="529971"/>
          </a:xfrm>
          <a:prstGeom prst="roundRect">
            <a:avLst>
              <a:gd name="adj" fmla="val 7616"/>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5" name="文本框 14">
            <a:extLst>
              <a:ext uri="{FF2B5EF4-FFF2-40B4-BE49-F238E27FC236}">
                <a16:creationId xmlns:a16="http://schemas.microsoft.com/office/drawing/2014/main" id="{9227201A-C56A-F54E-06F3-0F11A099B607}"/>
              </a:ext>
            </a:extLst>
          </p:cNvPr>
          <p:cNvSpPr txBox="1"/>
          <p:nvPr/>
        </p:nvSpPr>
        <p:spPr>
          <a:xfrm>
            <a:off x="4554115" y="1203933"/>
            <a:ext cx="3083768" cy="430887"/>
          </a:xfrm>
          <a:prstGeom prst="rect">
            <a:avLst/>
          </a:prstGeom>
          <a:noFill/>
        </p:spPr>
        <p:txBody>
          <a:bodyPr wrap="square">
            <a:spAutoFit/>
          </a:bodyPr>
          <a:lstStyle/>
          <a:p>
            <a:pPr algn="ctr"/>
            <a:r>
              <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研究热点</a:t>
            </a:r>
            <a:r>
              <a:rPr lang="en-US" altLang="zh-CN"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2</a:t>
            </a:r>
            <a:endPar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E5D8919B-D9F9-C50A-0EDB-F2884BEC914C}"/>
              </a:ext>
            </a:extLst>
          </p:cNvPr>
          <p:cNvSpPr txBox="1"/>
          <p:nvPr/>
        </p:nvSpPr>
        <p:spPr>
          <a:xfrm>
            <a:off x="8581026" y="1203933"/>
            <a:ext cx="3083768" cy="430887"/>
          </a:xfrm>
          <a:prstGeom prst="rect">
            <a:avLst/>
          </a:prstGeom>
          <a:noFill/>
        </p:spPr>
        <p:txBody>
          <a:bodyPr wrap="square">
            <a:spAutoFit/>
          </a:bodyPr>
          <a:lstStyle/>
          <a:p>
            <a:pPr algn="ctr"/>
            <a:r>
              <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研究热点</a:t>
            </a:r>
            <a:r>
              <a:rPr lang="en-US" altLang="zh-CN"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rPr>
              <a:t>3</a:t>
            </a:r>
            <a:endParaRPr lang="zh-CN" altLang="en-US" sz="2200" b="1" dirty="0">
              <a:solidFill>
                <a:prstClr val="white"/>
              </a:solidFill>
              <a:effectLst>
                <a:outerShdw blurRad="50800" dist="38100" dir="5400000" algn="t" rotWithShape="0">
                  <a:srgbClr val="0B4FA1">
                    <a:lumMod val="75000"/>
                    <a:alpha val="40000"/>
                  </a:srgbClr>
                </a:outerShdw>
              </a:effectLst>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A7670CBA-BE63-3B39-C359-020114604DAA}"/>
              </a:ext>
            </a:extLst>
          </p:cNvPr>
          <p:cNvSpPr/>
          <p:nvPr/>
        </p:nvSpPr>
        <p:spPr>
          <a:xfrm>
            <a:off x="460262" y="3713292"/>
            <a:ext cx="11287238" cy="2842500"/>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8" name="矩形: 圆角 17">
            <a:extLst>
              <a:ext uri="{FF2B5EF4-FFF2-40B4-BE49-F238E27FC236}">
                <a16:creationId xmlns:a16="http://schemas.microsoft.com/office/drawing/2014/main" id="{333FB637-12C7-851A-4E40-3894586DEDD0}"/>
              </a:ext>
            </a:extLst>
          </p:cNvPr>
          <p:cNvSpPr>
            <a:spLocks/>
          </p:cNvSpPr>
          <p:nvPr/>
        </p:nvSpPr>
        <p:spPr>
          <a:xfrm>
            <a:off x="802287" y="4066653"/>
            <a:ext cx="6893007" cy="958596"/>
          </a:xfrm>
          <a:prstGeom prst="roundRect">
            <a:avLst>
              <a:gd name="adj" fmla="val 796"/>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9" name="矩形: 圆角 18">
            <a:extLst>
              <a:ext uri="{FF2B5EF4-FFF2-40B4-BE49-F238E27FC236}">
                <a16:creationId xmlns:a16="http://schemas.microsoft.com/office/drawing/2014/main" id="{2B529CE1-9D44-9564-5A3E-A2503FC3A437}"/>
              </a:ext>
            </a:extLst>
          </p:cNvPr>
          <p:cNvSpPr>
            <a:spLocks/>
          </p:cNvSpPr>
          <p:nvPr/>
        </p:nvSpPr>
        <p:spPr>
          <a:xfrm>
            <a:off x="802287" y="5243836"/>
            <a:ext cx="6893007" cy="958596"/>
          </a:xfrm>
          <a:prstGeom prst="roundRect">
            <a:avLst>
              <a:gd name="adj" fmla="val 796"/>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20" name="文本框 19">
            <a:extLst>
              <a:ext uri="{FF2B5EF4-FFF2-40B4-BE49-F238E27FC236}">
                <a16:creationId xmlns:a16="http://schemas.microsoft.com/office/drawing/2014/main" id="{2F43FDAB-A6E6-7276-CC71-24F4AA4988B4}"/>
              </a:ext>
            </a:extLst>
          </p:cNvPr>
          <p:cNvSpPr txBox="1"/>
          <p:nvPr/>
        </p:nvSpPr>
        <p:spPr>
          <a:xfrm>
            <a:off x="627948" y="1803515"/>
            <a:ext cx="2973342" cy="400110"/>
          </a:xfrm>
          <a:prstGeom prst="rect">
            <a:avLst/>
          </a:prstGeom>
          <a:noFill/>
        </p:spPr>
        <p:txBody>
          <a:bodyPr wrap="square">
            <a:spAutoFit/>
          </a:bodyPr>
          <a:lstStyle/>
          <a:p>
            <a:pPr algn="ctr">
              <a:defRPr/>
            </a:pPr>
            <a:r>
              <a:rPr lang="zh-CN" altLang="en-US" sz="2000"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卤化物固态电解质</a:t>
            </a:r>
          </a:p>
        </p:txBody>
      </p:sp>
      <p:sp>
        <p:nvSpPr>
          <p:cNvPr id="21" name="矩形: 圆角 20">
            <a:extLst>
              <a:ext uri="{FF2B5EF4-FFF2-40B4-BE49-F238E27FC236}">
                <a16:creationId xmlns:a16="http://schemas.microsoft.com/office/drawing/2014/main" id="{B384B477-D2B9-BF7A-E04B-4EACE0417FB1}"/>
              </a:ext>
            </a:extLst>
          </p:cNvPr>
          <p:cNvSpPr>
            <a:spLocks/>
          </p:cNvSpPr>
          <p:nvPr/>
        </p:nvSpPr>
        <p:spPr>
          <a:xfrm>
            <a:off x="738130" y="2223309"/>
            <a:ext cx="2756910" cy="1180549"/>
          </a:xfrm>
          <a:prstGeom prst="roundRect">
            <a:avLst>
              <a:gd name="adj" fmla="val 796"/>
            </a:avLst>
          </a:prstGeom>
          <a:solidFill>
            <a:schemeClr val="accent1">
              <a:alpha val="4000"/>
            </a:schemeClr>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22" name="文本框 21">
            <a:extLst>
              <a:ext uri="{FF2B5EF4-FFF2-40B4-BE49-F238E27FC236}">
                <a16:creationId xmlns:a16="http://schemas.microsoft.com/office/drawing/2014/main" id="{3F1D4C3B-8E5B-A3A0-8E48-958324C4814D}"/>
              </a:ext>
            </a:extLst>
          </p:cNvPr>
          <p:cNvSpPr txBox="1"/>
          <p:nvPr/>
        </p:nvSpPr>
        <p:spPr>
          <a:xfrm>
            <a:off x="4609329" y="1803515"/>
            <a:ext cx="2973342" cy="400110"/>
          </a:xfrm>
          <a:prstGeom prst="rect">
            <a:avLst/>
          </a:prstGeom>
          <a:noFill/>
        </p:spPr>
        <p:txBody>
          <a:bodyPr wrap="square">
            <a:spAutoFit/>
          </a:bodyPr>
          <a:lstStyle/>
          <a:p>
            <a:pPr algn="ctr">
              <a:defRPr/>
            </a:pPr>
            <a:r>
              <a:rPr lang="zh-CN" altLang="en-US" sz="2000"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氧化物固态电解质</a:t>
            </a:r>
          </a:p>
        </p:txBody>
      </p:sp>
      <p:sp>
        <p:nvSpPr>
          <p:cNvPr id="23" name="文本框 22">
            <a:extLst>
              <a:ext uri="{FF2B5EF4-FFF2-40B4-BE49-F238E27FC236}">
                <a16:creationId xmlns:a16="http://schemas.microsoft.com/office/drawing/2014/main" id="{9DB3345E-DFF8-A6B3-A12B-57328997F7D2}"/>
              </a:ext>
            </a:extLst>
          </p:cNvPr>
          <p:cNvSpPr txBox="1"/>
          <p:nvPr/>
        </p:nvSpPr>
        <p:spPr>
          <a:xfrm>
            <a:off x="8636237" y="1803515"/>
            <a:ext cx="2973342" cy="400110"/>
          </a:xfrm>
          <a:prstGeom prst="rect">
            <a:avLst/>
          </a:prstGeom>
          <a:noFill/>
        </p:spPr>
        <p:txBody>
          <a:bodyPr wrap="square">
            <a:spAutoFit/>
          </a:bodyPr>
          <a:lstStyle/>
          <a:p>
            <a:pPr algn="ctr">
              <a:defRPr/>
            </a:pPr>
            <a:r>
              <a:rPr lang="zh-CN" altLang="en-US" sz="2000"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石榴石结构固态电解质</a:t>
            </a:r>
          </a:p>
        </p:txBody>
      </p:sp>
      <p:sp>
        <p:nvSpPr>
          <p:cNvPr id="24" name="矩形: 圆角 23">
            <a:extLst>
              <a:ext uri="{FF2B5EF4-FFF2-40B4-BE49-F238E27FC236}">
                <a16:creationId xmlns:a16="http://schemas.microsoft.com/office/drawing/2014/main" id="{15C22C74-EF33-8FD5-B9B4-878E20373438}"/>
              </a:ext>
            </a:extLst>
          </p:cNvPr>
          <p:cNvSpPr>
            <a:spLocks/>
          </p:cNvSpPr>
          <p:nvPr/>
        </p:nvSpPr>
        <p:spPr>
          <a:xfrm>
            <a:off x="4717544" y="2223309"/>
            <a:ext cx="2756910" cy="1180549"/>
          </a:xfrm>
          <a:prstGeom prst="roundRect">
            <a:avLst>
              <a:gd name="adj" fmla="val 796"/>
            </a:avLst>
          </a:prstGeom>
          <a:solidFill>
            <a:schemeClr val="accent1">
              <a:alpha val="4000"/>
            </a:schemeClr>
          </a:solidFill>
          <a:ln w="3175"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25" name="矩形: 圆角 24">
            <a:extLst>
              <a:ext uri="{FF2B5EF4-FFF2-40B4-BE49-F238E27FC236}">
                <a16:creationId xmlns:a16="http://schemas.microsoft.com/office/drawing/2014/main" id="{AEE12B27-D291-C1F6-A97E-BA0019D313A5}"/>
              </a:ext>
            </a:extLst>
          </p:cNvPr>
          <p:cNvSpPr>
            <a:spLocks/>
          </p:cNvSpPr>
          <p:nvPr/>
        </p:nvSpPr>
        <p:spPr>
          <a:xfrm>
            <a:off x="8744453" y="2223309"/>
            <a:ext cx="2756910" cy="1180549"/>
          </a:xfrm>
          <a:prstGeom prst="roundRect">
            <a:avLst>
              <a:gd name="adj" fmla="val 796"/>
            </a:avLst>
          </a:prstGeom>
          <a:solidFill>
            <a:schemeClr val="accent1">
              <a:alpha val="4000"/>
            </a:schemeClr>
          </a:solidFill>
          <a:ln w="3175"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26" name="文本框 25">
            <a:extLst>
              <a:ext uri="{FF2B5EF4-FFF2-40B4-BE49-F238E27FC236}">
                <a16:creationId xmlns:a16="http://schemas.microsoft.com/office/drawing/2014/main" id="{9352D279-92FF-0EA9-0936-7331490A4A8E}"/>
              </a:ext>
            </a:extLst>
          </p:cNvPr>
          <p:cNvSpPr txBox="1"/>
          <p:nvPr/>
        </p:nvSpPr>
        <p:spPr>
          <a:xfrm>
            <a:off x="802286" y="2334285"/>
            <a:ext cx="2692753" cy="958596"/>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可通过冷压方法获得较好的界面，实现固态锂电池的稳定运行。</a:t>
            </a:r>
          </a:p>
        </p:txBody>
      </p:sp>
      <p:sp>
        <p:nvSpPr>
          <p:cNvPr id="27" name="文本框 26">
            <a:extLst>
              <a:ext uri="{FF2B5EF4-FFF2-40B4-BE49-F238E27FC236}">
                <a16:creationId xmlns:a16="http://schemas.microsoft.com/office/drawing/2014/main" id="{C61240FC-062D-BF06-867F-4BC2ADFB0DC8}"/>
              </a:ext>
            </a:extLst>
          </p:cNvPr>
          <p:cNvSpPr txBox="1"/>
          <p:nvPr/>
        </p:nvSpPr>
        <p:spPr>
          <a:xfrm>
            <a:off x="4749622" y="2334285"/>
            <a:ext cx="2692753" cy="958596"/>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质地较硬，通常情况下</a:t>
            </a:r>
            <a:r>
              <a:rPr lang="zh-CN" altLang="en-US" sz="1600" u="sng" dirty="0">
                <a:solidFill>
                  <a:schemeClr val="accent1"/>
                </a:solidFill>
                <a:latin typeface="微软雅黑" panose="020B0503020204020204" pitchFamily="34" charset="-122"/>
                <a:ea typeface="微软雅黑" panose="020B0503020204020204" pitchFamily="34" charset="-122"/>
              </a:rPr>
              <a:t>需要通过高温退火处理</a:t>
            </a:r>
            <a:r>
              <a:rPr lang="zh-CN" altLang="en-US" sz="1600" dirty="0">
                <a:solidFill>
                  <a:prstClr val="black"/>
                </a:solidFill>
                <a:latin typeface="微软雅黑" panose="020B0503020204020204" pitchFamily="34" charset="-122"/>
                <a:ea typeface="微软雅黑" panose="020B0503020204020204" pitchFamily="34" charset="-122"/>
              </a:rPr>
              <a:t>才能获得良好的界面。</a:t>
            </a:r>
          </a:p>
        </p:txBody>
      </p:sp>
      <p:sp>
        <p:nvSpPr>
          <p:cNvPr id="30" name="文本框 29">
            <a:extLst>
              <a:ext uri="{FF2B5EF4-FFF2-40B4-BE49-F238E27FC236}">
                <a16:creationId xmlns:a16="http://schemas.microsoft.com/office/drawing/2014/main" id="{B1993114-CAB3-DFDD-B328-DDFA6F661EDB}"/>
              </a:ext>
            </a:extLst>
          </p:cNvPr>
          <p:cNvSpPr txBox="1"/>
          <p:nvPr/>
        </p:nvSpPr>
        <p:spPr>
          <a:xfrm>
            <a:off x="8776531" y="2334285"/>
            <a:ext cx="2692753" cy="958596"/>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易与空气中的二氧化碳和水分反应形成低离子导的</a:t>
            </a:r>
            <a:r>
              <a:rPr lang="en-US" altLang="zh-CN" sz="1600" dirty="0">
                <a:solidFill>
                  <a:prstClr val="black"/>
                </a:solidFill>
                <a:latin typeface="微软雅黑" panose="020B0503020204020204" pitchFamily="34" charset="-122"/>
                <a:ea typeface="微软雅黑" panose="020B0503020204020204" pitchFamily="34" charset="-122"/>
              </a:rPr>
              <a:t>Li2CO3</a:t>
            </a:r>
            <a:r>
              <a:rPr lang="zh-CN" altLang="en-US" sz="1600" dirty="0">
                <a:solidFill>
                  <a:prstClr val="black"/>
                </a:solidFill>
                <a:latin typeface="微软雅黑" panose="020B0503020204020204" pitchFamily="34" charset="-122"/>
                <a:ea typeface="微软雅黑" panose="020B0503020204020204" pitchFamily="34" charset="-122"/>
              </a:rPr>
              <a:t>。</a:t>
            </a:r>
          </a:p>
        </p:txBody>
      </p:sp>
      <p:sp>
        <p:nvSpPr>
          <p:cNvPr id="46" name="箭头: 右 45">
            <a:extLst>
              <a:ext uri="{FF2B5EF4-FFF2-40B4-BE49-F238E27FC236}">
                <a16:creationId xmlns:a16="http://schemas.microsoft.com/office/drawing/2014/main" id="{89952DB3-035E-D0A2-074C-9058E2275499}"/>
              </a:ext>
            </a:extLst>
          </p:cNvPr>
          <p:cNvSpPr/>
          <p:nvPr/>
        </p:nvSpPr>
        <p:spPr>
          <a:xfrm>
            <a:off x="3793106" y="2404072"/>
            <a:ext cx="626371" cy="409511"/>
          </a:xfrm>
          <a:prstGeom prst="rightArrow">
            <a:avLst/>
          </a:prstGeom>
          <a:gradFill flip="none" rotWithShape="1">
            <a:gsLst>
              <a:gs pos="0">
                <a:schemeClr val="accent1">
                  <a:alpha val="0"/>
                </a:schemeClr>
              </a:gs>
              <a:gs pos="100000">
                <a:schemeClr val="accent1"/>
              </a:gs>
            </a:gsLst>
            <a:lin ang="0" scaled="1"/>
            <a:tileRect/>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47" name="箭头: 右 46">
            <a:extLst>
              <a:ext uri="{FF2B5EF4-FFF2-40B4-BE49-F238E27FC236}">
                <a16:creationId xmlns:a16="http://schemas.microsoft.com/office/drawing/2014/main" id="{FCF61D94-9153-0197-6B2C-6931A8BECEB3}"/>
              </a:ext>
            </a:extLst>
          </p:cNvPr>
          <p:cNvSpPr/>
          <p:nvPr/>
        </p:nvSpPr>
        <p:spPr>
          <a:xfrm>
            <a:off x="7819096" y="2404072"/>
            <a:ext cx="626371" cy="409511"/>
          </a:xfrm>
          <a:prstGeom prst="rightArrow">
            <a:avLst/>
          </a:prstGeom>
          <a:gradFill flip="none" rotWithShape="1">
            <a:gsLst>
              <a:gs pos="0">
                <a:schemeClr val="accent1">
                  <a:alpha val="0"/>
                </a:schemeClr>
              </a:gs>
              <a:gs pos="100000">
                <a:schemeClr val="accent1"/>
              </a:gs>
            </a:gsLst>
            <a:lin ang="0" scaled="1"/>
            <a:tileRect/>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48" name="文本框 47">
            <a:extLst>
              <a:ext uri="{FF2B5EF4-FFF2-40B4-BE49-F238E27FC236}">
                <a16:creationId xmlns:a16="http://schemas.microsoft.com/office/drawing/2014/main" id="{52A8948B-F057-9650-9867-0D2F1AE401A0}"/>
              </a:ext>
            </a:extLst>
          </p:cNvPr>
          <p:cNvSpPr txBox="1"/>
          <p:nvPr/>
        </p:nvSpPr>
        <p:spPr>
          <a:xfrm>
            <a:off x="916310" y="4192008"/>
            <a:ext cx="1014089" cy="707886"/>
          </a:xfrm>
          <a:prstGeom prst="rect">
            <a:avLst/>
          </a:prstGeom>
          <a:noFill/>
        </p:spPr>
        <p:txBody>
          <a:bodyPr wrap="square">
            <a:spAutoFit/>
          </a:bodyPr>
          <a:lstStyle/>
          <a:p>
            <a:r>
              <a:rPr lang="zh-CN" altLang="en-US" sz="2000" b="1"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降低界面阻抗</a:t>
            </a:r>
          </a:p>
        </p:txBody>
      </p:sp>
      <p:cxnSp>
        <p:nvCxnSpPr>
          <p:cNvPr id="49" name="直接连接符 48">
            <a:extLst>
              <a:ext uri="{FF2B5EF4-FFF2-40B4-BE49-F238E27FC236}">
                <a16:creationId xmlns:a16="http://schemas.microsoft.com/office/drawing/2014/main" id="{26D852ED-4B73-6A71-CD2B-B19480EC8676}"/>
              </a:ext>
            </a:extLst>
          </p:cNvPr>
          <p:cNvCxnSpPr>
            <a:cxnSpLocks/>
          </p:cNvCxnSpPr>
          <p:nvPr/>
        </p:nvCxnSpPr>
        <p:spPr>
          <a:xfrm>
            <a:off x="1960878" y="4235458"/>
            <a:ext cx="0" cy="620985"/>
          </a:xfrm>
          <a:prstGeom prst="line">
            <a:avLst/>
          </a:prstGeom>
          <a:noFill/>
          <a:ln w="12700" cap="flat" cmpd="sng" algn="ctr">
            <a:solidFill>
              <a:schemeClr val="accent1"/>
            </a:solidFill>
            <a:prstDash val="dash"/>
            <a:miter lim="800000"/>
          </a:ln>
          <a:effectLst/>
        </p:spPr>
      </p:cxnSp>
      <p:sp>
        <p:nvSpPr>
          <p:cNvPr id="50" name="文本框 49">
            <a:extLst>
              <a:ext uri="{FF2B5EF4-FFF2-40B4-BE49-F238E27FC236}">
                <a16:creationId xmlns:a16="http://schemas.microsoft.com/office/drawing/2014/main" id="{BF6C2C5E-4047-2F75-11C7-8B426C12A05E}"/>
              </a:ext>
            </a:extLst>
          </p:cNvPr>
          <p:cNvSpPr txBox="1"/>
          <p:nvPr/>
        </p:nvSpPr>
        <p:spPr>
          <a:xfrm>
            <a:off x="2069090" y="4214386"/>
            <a:ext cx="5292288" cy="953851"/>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通过引入</a:t>
            </a:r>
            <a:r>
              <a:rPr lang="en-US" altLang="zh-CN" sz="1600" dirty="0">
                <a:solidFill>
                  <a:prstClr val="black"/>
                </a:solidFill>
                <a:latin typeface="微软雅黑" panose="020B0503020204020204" pitchFamily="34" charset="-122"/>
                <a:ea typeface="微软雅黑" panose="020B0503020204020204" pitchFamily="34" charset="-122"/>
              </a:rPr>
              <a:t>Li2.3C0.7B0.3O3</a:t>
            </a:r>
            <a:r>
              <a:rPr lang="zh-CN" altLang="en-US" sz="1600" dirty="0">
                <a:solidFill>
                  <a:prstClr val="black"/>
                </a:solidFill>
                <a:latin typeface="微软雅黑" panose="020B0503020204020204" pitchFamily="34" charset="-122"/>
                <a:ea typeface="微软雅黑" panose="020B0503020204020204" pitchFamily="34" charset="-122"/>
              </a:rPr>
              <a:t>和</a:t>
            </a:r>
            <a:r>
              <a:rPr lang="en-US" altLang="zh-CN" sz="1600" dirty="0">
                <a:solidFill>
                  <a:prstClr val="black"/>
                </a:solidFill>
                <a:latin typeface="微软雅黑" panose="020B0503020204020204" pitchFamily="34" charset="-122"/>
                <a:ea typeface="微软雅黑" panose="020B0503020204020204" pitchFamily="34" charset="-122"/>
              </a:rPr>
              <a:t>Co3O4</a:t>
            </a:r>
            <a:r>
              <a:rPr lang="zh-CN" altLang="en-US" sz="1600" dirty="0">
                <a:solidFill>
                  <a:prstClr val="black"/>
                </a:solidFill>
                <a:latin typeface="微软雅黑" panose="020B0503020204020204" pitchFamily="34" charset="-122"/>
                <a:ea typeface="微软雅黑" panose="020B0503020204020204" pitchFamily="34" charset="-122"/>
              </a:rPr>
              <a:t>等将其转化成高离子导的</a:t>
            </a:r>
            <a:r>
              <a:rPr lang="en-US" altLang="zh-CN" sz="1600" dirty="0">
                <a:solidFill>
                  <a:prstClr val="black"/>
                </a:solidFill>
                <a:latin typeface="微软雅黑" panose="020B0503020204020204" pitchFamily="34" charset="-122"/>
                <a:ea typeface="微软雅黑" panose="020B0503020204020204" pitchFamily="34" charset="-122"/>
              </a:rPr>
              <a:t>Li2.3-xC0.7+xB0.3-xO3</a:t>
            </a:r>
            <a:r>
              <a:rPr lang="zh-CN" altLang="en-US" sz="1600" dirty="0">
                <a:solidFill>
                  <a:prstClr val="black"/>
                </a:solidFill>
                <a:latin typeface="微软雅黑" panose="020B0503020204020204" pitchFamily="34" charset="-122"/>
                <a:ea typeface="微软雅黑" panose="020B0503020204020204" pitchFamily="34" charset="-122"/>
              </a:rPr>
              <a:t>和</a:t>
            </a:r>
            <a:r>
              <a:rPr lang="en-US" altLang="zh-CN" sz="1600" dirty="0">
                <a:solidFill>
                  <a:prstClr val="black"/>
                </a:solidFill>
                <a:latin typeface="微软雅黑" panose="020B0503020204020204" pitchFamily="34" charset="-122"/>
                <a:ea typeface="微软雅黑" panose="020B0503020204020204" pitchFamily="34" charset="-122"/>
              </a:rPr>
              <a:t>LiCoO2</a:t>
            </a:r>
            <a:r>
              <a:rPr lang="zh-CN" altLang="en-US" sz="1600" dirty="0">
                <a:solidFill>
                  <a:prstClr val="black"/>
                </a:solidFill>
                <a:latin typeface="微软雅黑" panose="020B0503020204020204" pitchFamily="34" charset="-122"/>
                <a:ea typeface="微软雅黑" panose="020B0503020204020204" pitchFamily="34" charset="-122"/>
              </a:rPr>
              <a:t>等高离子导界面相</a:t>
            </a:r>
          </a:p>
        </p:txBody>
      </p:sp>
      <p:sp>
        <p:nvSpPr>
          <p:cNvPr id="51" name="文本框 50">
            <a:extLst>
              <a:ext uri="{FF2B5EF4-FFF2-40B4-BE49-F238E27FC236}">
                <a16:creationId xmlns:a16="http://schemas.microsoft.com/office/drawing/2014/main" id="{EDA8340F-D987-2C48-FFD5-8BC38977C380}"/>
              </a:ext>
            </a:extLst>
          </p:cNvPr>
          <p:cNvSpPr txBox="1"/>
          <p:nvPr/>
        </p:nvSpPr>
        <p:spPr>
          <a:xfrm>
            <a:off x="916310" y="5372075"/>
            <a:ext cx="1014089" cy="707886"/>
          </a:xfrm>
          <a:prstGeom prst="rect">
            <a:avLst/>
          </a:prstGeom>
          <a:noFill/>
        </p:spPr>
        <p:txBody>
          <a:bodyPr wrap="square">
            <a:spAutoFit/>
          </a:bodyPr>
          <a:lstStyle/>
          <a:p>
            <a:r>
              <a:rPr lang="zh-CN" altLang="en-US" sz="2000" b="1" dirty="0">
                <a:solidFill>
                  <a:schemeClr val="accent1"/>
                </a:solidFill>
                <a:effectLst>
                  <a:glow rad="38100">
                    <a:prstClr val="white"/>
                  </a:glow>
                </a:effectLst>
                <a:latin typeface="微软雅黑" panose="020B0503020204020204" pitchFamily="34" charset="-122"/>
                <a:ea typeface="微软雅黑" panose="020B0503020204020204" pitchFamily="34" charset="-122"/>
                <a:cs typeface="Arial" panose="020B0604020202020204" pitchFamily="34" charset="0"/>
              </a:rPr>
              <a:t>超快高温退火</a:t>
            </a:r>
          </a:p>
        </p:txBody>
      </p:sp>
      <p:cxnSp>
        <p:nvCxnSpPr>
          <p:cNvPr id="52" name="直接连接符 51">
            <a:extLst>
              <a:ext uri="{FF2B5EF4-FFF2-40B4-BE49-F238E27FC236}">
                <a16:creationId xmlns:a16="http://schemas.microsoft.com/office/drawing/2014/main" id="{30FB4EB4-3D9A-667B-C12F-4A1FB9AC5CFE}"/>
              </a:ext>
            </a:extLst>
          </p:cNvPr>
          <p:cNvCxnSpPr>
            <a:cxnSpLocks/>
          </p:cNvCxnSpPr>
          <p:nvPr/>
        </p:nvCxnSpPr>
        <p:spPr>
          <a:xfrm>
            <a:off x="1960878" y="5415525"/>
            <a:ext cx="0" cy="620985"/>
          </a:xfrm>
          <a:prstGeom prst="line">
            <a:avLst/>
          </a:prstGeom>
          <a:noFill/>
          <a:ln w="12700" cap="flat" cmpd="sng" algn="ctr">
            <a:solidFill>
              <a:schemeClr val="accent1"/>
            </a:solidFill>
            <a:prstDash val="dash"/>
            <a:miter lim="800000"/>
          </a:ln>
          <a:effectLst/>
        </p:spPr>
      </p:cxnSp>
      <p:sp>
        <p:nvSpPr>
          <p:cNvPr id="53" name="文本框 52">
            <a:extLst>
              <a:ext uri="{FF2B5EF4-FFF2-40B4-BE49-F238E27FC236}">
                <a16:creationId xmlns:a16="http://schemas.microsoft.com/office/drawing/2014/main" id="{5898660D-2A53-168C-E67A-584C7E110514}"/>
              </a:ext>
            </a:extLst>
          </p:cNvPr>
          <p:cNvSpPr txBox="1"/>
          <p:nvPr/>
        </p:nvSpPr>
        <p:spPr>
          <a:xfrm>
            <a:off x="2069090" y="5394453"/>
            <a:ext cx="5292288" cy="663130"/>
          </a:xfrm>
          <a:prstGeom prst="rect">
            <a:avLst/>
          </a:prstGeom>
          <a:noFill/>
        </p:spPr>
        <p:txBody>
          <a:bodyPr wrap="square">
            <a:spAutoFit/>
          </a:bodyPr>
          <a:lstStyle/>
          <a:p>
            <a:pPr algn="just">
              <a:lnSpc>
                <a:spcPct val="120000"/>
              </a:lnSpc>
            </a:pPr>
            <a:r>
              <a:rPr lang="zh-CN" altLang="en-US" sz="1600" dirty="0">
                <a:solidFill>
                  <a:prstClr val="black"/>
                </a:solidFill>
                <a:latin typeface="微软雅黑" panose="020B0503020204020204" pitchFamily="34" charset="-122"/>
                <a:ea typeface="微软雅黑" panose="020B0503020204020204" pitchFamily="34" charset="-122"/>
              </a:rPr>
              <a:t>通过引入</a:t>
            </a:r>
            <a:r>
              <a:rPr lang="zh-CN" altLang="en-US" sz="1600" dirty="0">
                <a:solidFill>
                  <a:srgbClr val="C00000"/>
                </a:solidFill>
                <a:latin typeface="微软雅黑" panose="020B0503020204020204" pitchFamily="34" charset="-122"/>
                <a:ea typeface="微软雅黑" panose="020B0503020204020204" pitchFamily="34" charset="-122"/>
              </a:rPr>
              <a:t>低熔点含锂化合物来焊接电极</a:t>
            </a:r>
            <a:r>
              <a:rPr lang="en-US" altLang="zh-CN" sz="1600" dirty="0">
                <a:solidFill>
                  <a:srgbClr val="C00000"/>
                </a:solidFill>
                <a:latin typeface="微软雅黑" panose="020B0503020204020204" pitchFamily="34" charset="-122"/>
                <a:ea typeface="微软雅黑" panose="020B0503020204020204" pitchFamily="34" charset="-122"/>
              </a:rPr>
              <a:t>-</a:t>
            </a:r>
            <a:r>
              <a:rPr lang="zh-CN" altLang="en-US" sz="1600" dirty="0">
                <a:solidFill>
                  <a:srgbClr val="C00000"/>
                </a:solidFill>
                <a:latin typeface="微软雅黑" panose="020B0503020204020204" pitchFamily="34" charset="-122"/>
                <a:ea typeface="微软雅黑" panose="020B0503020204020204" pitchFamily="34" charset="-122"/>
              </a:rPr>
              <a:t>电解质</a:t>
            </a:r>
            <a:r>
              <a:rPr lang="zh-CN" altLang="en-US" sz="1600" dirty="0">
                <a:solidFill>
                  <a:prstClr val="black"/>
                </a:solidFill>
                <a:latin typeface="微软雅黑" panose="020B0503020204020204" pitchFamily="34" charset="-122"/>
                <a:ea typeface="微软雅黑" panose="020B0503020204020204" pitchFamily="34" charset="-122"/>
              </a:rPr>
              <a:t>界面是另一有效策略，解决石榴石界面接触问题。</a:t>
            </a:r>
          </a:p>
        </p:txBody>
      </p:sp>
      <p:pic>
        <p:nvPicPr>
          <p:cNvPr id="54" name="Picture 4">
            <a:extLst>
              <a:ext uri="{FF2B5EF4-FFF2-40B4-BE49-F238E27FC236}">
                <a16:creationId xmlns:a16="http://schemas.microsoft.com/office/drawing/2014/main" id="{2898DB00-E73E-AD67-C694-E44157D21B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288" t="44509"/>
          <a:stretch/>
        </p:blipFill>
        <p:spPr bwMode="auto">
          <a:xfrm>
            <a:off x="8193058" y="3913510"/>
            <a:ext cx="3082632" cy="2491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259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6C448-FC36-35AA-A309-8666383D1A8B}"/>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85A692C8-69B7-DF42-1D83-830EA65885C9}"/>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756D7332-671D-7D0A-7FA8-FCC77F89DBCA}"/>
              </a:ext>
            </a:extLst>
          </p:cNvPr>
          <p:cNvSpPr txBox="1"/>
          <p:nvPr/>
        </p:nvSpPr>
        <p:spPr>
          <a:xfrm>
            <a:off x="946461" y="269201"/>
            <a:ext cx="6440714" cy="523220"/>
          </a:xfrm>
          <a:prstGeom prst="rect">
            <a:avLst/>
          </a:prstGeom>
          <a:noFill/>
        </p:spPr>
        <p:txBody>
          <a:bodyPr wrap="square">
            <a:spAutoFit/>
          </a:bodyPr>
          <a:lstStyle/>
          <a:p>
            <a:r>
              <a:rPr lang="zh-CN" altLang="en-US" sz="2800" b="1" dirty="0">
                <a:solidFill>
                  <a:schemeClr val="accent1"/>
                </a:solidFill>
              </a:rPr>
              <a:t>研究背景调查</a:t>
            </a:r>
          </a:p>
        </p:txBody>
      </p:sp>
      <p:sp>
        <p:nvSpPr>
          <p:cNvPr id="2" name="矩形: 圆角 1">
            <a:extLst>
              <a:ext uri="{FF2B5EF4-FFF2-40B4-BE49-F238E27FC236}">
                <a16:creationId xmlns:a16="http://schemas.microsoft.com/office/drawing/2014/main" id="{D7A6ADFC-2041-7B88-8530-65151F96F530}"/>
              </a:ext>
            </a:extLst>
          </p:cNvPr>
          <p:cNvSpPr/>
          <p:nvPr/>
        </p:nvSpPr>
        <p:spPr>
          <a:xfrm>
            <a:off x="479426" y="1159628"/>
            <a:ext cx="11217274" cy="714367"/>
          </a:xfrm>
          <a:prstGeom prst="roundRect">
            <a:avLst>
              <a:gd name="adj" fmla="val 3293"/>
            </a:avLst>
          </a:prstGeom>
          <a:solidFill>
            <a:schemeClr val="bg1"/>
          </a:solidFill>
          <a:ln w="3175" cap="flat" cmpd="sng" algn="ctr">
            <a:solidFill>
              <a:schemeClr val="accent1"/>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F36C15BD-FC46-FE14-9215-A260C123F22B}"/>
              </a:ext>
            </a:extLst>
          </p:cNvPr>
          <p:cNvSpPr txBox="1"/>
          <p:nvPr/>
        </p:nvSpPr>
        <p:spPr>
          <a:xfrm>
            <a:off x="833648" y="1250488"/>
            <a:ext cx="10508830" cy="532646"/>
          </a:xfrm>
          <a:prstGeom prst="rect">
            <a:avLst/>
          </a:prstGeom>
          <a:noFill/>
        </p:spPr>
        <p:txBody>
          <a:bodyPr wrap="none">
            <a:noAutofit/>
          </a:bodyPr>
          <a:lstStyle/>
          <a:p>
            <a:pPr algn="just">
              <a:lnSpc>
                <a:spcPct val="130000"/>
              </a:lnSpc>
            </a:pPr>
            <a:r>
              <a:rPr lang="zh-CN" altLang="en-US" sz="2400" b="1" dirty="0">
                <a:solidFill>
                  <a:schemeClr val="accent1"/>
                </a:solidFill>
                <a:latin typeface="微软雅黑" panose="020B0503020204020204" pitchFamily="34" charset="-122"/>
                <a:ea typeface="微软雅黑" panose="020B0503020204020204" pitchFamily="34" charset="-122"/>
              </a:rPr>
              <a:t>多铁材料与磁电调控对于未来信息技术和电子器件的发展具有重要的推动作用</a:t>
            </a:r>
          </a:p>
        </p:txBody>
      </p:sp>
      <p:sp>
        <p:nvSpPr>
          <p:cNvPr id="4" name="幻云PPT-演示军团1">
            <a:extLst>
              <a:ext uri="{FF2B5EF4-FFF2-40B4-BE49-F238E27FC236}">
                <a16:creationId xmlns:a16="http://schemas.microsoft.com/office/drawing/2014/main" id="{DC74C6B0-04D3-7711-BE51-FC72DFFC2447}"/>
              </a:ext>
            </a:extLst>
          </p:cNvPr>
          <p:cNvSpPr/>
          <p:nvPr>
            <p:custDataLst>
              <p:tags r:id="rId1"/>
            </p:custDataLst>
          </p:nvPr>
        </p:nvSpPr>
        <p:spPr>
          <a:xfrm>
            <a:off x="6183311" y="2406157"/>
            <a:ext cx="5511947" cy="4046855"/>
          </a:xfrm>
          <a:prstGeom prst="roundRect">
            <a:avLst>
              <a:gd name="adj" fmla="val 812"/>
            </a:avLst>
          </a:prstGeom>
          <a:solidFill>
            <a:srgbClr val="FFFFFF"/>
          </a:solidFill>
          <a:ln w="3175" cap="flat" cmpd="sng" algn="ctr">
            <a:solidFill>
              <a:schemeClr val="accent1"/>
            </a:solidFill>
            <a:prstDash val="solid"/>
            <a:miter lim="800000"/>
          </a:ln>
          <a:effectLst/>
        </p:spPr>
        <p:txBody>
          <a:bodyPr rtlCol="0" anchor="ctr"/>
          <a:lstStyle/>
          <a:p>
            <a:pPr algn="ctr"/>
            <a:endParaRPr lang="en-US" kern="0" dirty="0">
              <a:solidFill>
                <a:srgbClr val="E5EDF4"/>
              </a:solidFill>
              <a:latin typeface="微软雅黑" panose="020B0503020204020204" pitchFamily="34" charset="-122"/>
            </a:endParaRPr>
          </a:p>
        </p:txBody>
      </p:sp>
      <p:sp>
        <p:nvSpPr>
          <p:cNvPr id="5" name="幻云PPT-演示军团19">
            <a:extLst>
              <a:ext uri="{FF2B5EF4-FFF2-40B4-BE49-F238E27FC236}">
                <a16:creationId xmlns:a16="http://schemas.microsoft.com/office/drawing/2014/main" id="{E8D00879-6D88-082B-87D9-96FE84AF5284}"/>
              </a:ext>
            </a:extLst>
          </p:cNvPr>
          <p:cNvSpPr/>
          <p:nvPr>
            <p:custDataLst>
              <p:tags r:id="rId2"/>
            </p:custDataLst>
          </p:nvPr>
        </p:nvSpPr>
        <p:spPr>
          <a:xfrm>
            <a:off x="6183312" y="1964855"/>
            <a:ext cx="5527819" cy="578212"/>
          </a:xfrm>
          <a:prstGeom prst="roundRect">
            <a:avLst>
              <a:gd name="adj" fmla="val 58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研发数据研究</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graphicFrame>
        <p:nvGraphicFramePr>
          <p:cNvPr id="8" name="幻云PPT-演示军团30">
            <a:extLst>
              <a:ext uri="{FF2B5EF4-FFF2-40B4-BE49-F238E27FC236}">
                <a16:creationId xmlns:a16="http://schemas.microsoft.com/office/drawing/2014/main" id="{C8695655-0342-72DF-8869-FE6EB9D41F8F}"/>
              </a:ext>
            </a:extLst>
          </p:cNvPr>
          <p:cNvGraphicFramePr/>
          <p:nvPr>
            <p:extLst>
              <p:ext uri="{D42A27DB-BD31-4B8C-83A1-F6EECF244321}">
                <p14:modId xmlns:p14="http://schemas.microsoft.com/office/powerpoint/2010/main" val="3483799321"/>
              </p:ext>
            </p:extLst>
          </p:nvPr>
        </p:nvGraphicFramePr>
        <p:xfrm>
          <a:off x="6394475" y="2691144"/>
          <a:ext cx="5086667" cy="1848046"/>
        </p:xfrm>
        <a:graphic>
          <a:graphicData uri="http://schemas.openxmlformats.org/drawingml/2006/chart">
            <c:chart xmlns:c="http://schemas.openxmlformats.org/drawingml/2006/chart" xmlns:r="http://schemas.openxmlformats.org/officeDocument/2006/relationships" r:id="rId10"/>
          </a:graphicData>
        </a:graphic>
      </p:graphicFrame>
      <p:pic>
        <p:nvPicPr>
          <p:cNvPr id="9" name="图片 8">
            <a:extLst>
              <a:ext uri="{FF2B5EF4-FFF2-40B4-BE49-F238E27FC236}">
                <a16:creationId xmlns:a16="http://schemas.microsoft.com/office/drawing/2014/main" id="{9C09736C-2B1C-DEE0-17DE-056AC4FBE54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394475" y="4676010"/>
            <a:ext cx="2444725" cy="1626954"/>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pic>
        <p:nvPicPr>
          <p:cNvPr id="10" name="图片 9">
            <a:extLst>
              <a:ext uri="{FF2B5EF4-FFF2-40B4-BE49-F238E27FC236}">
                <a16:creationId xmlns:a16="http://schemas.microsoft.com/office/drawing/2014/main" id="{1EA3641E-B840-F652-BFE8-6E52CE981B6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036417" y="4675670"/>
            <a:ext cx="2444724" cy="1627634"/>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sp>
        <p:nvSpPr>
          <p:cNvPr id="11" name="幻云PPT-演示军团1">
            <a:extLst>
              <a:ext uri="{FF2B5EF4-FFF2-40B4-BE49-F238E27FC236}">
                <a16:creationId xmlns:a16="http://schemas.microsoft.com/office/drawing/2014/main" id="{7CFF70C4-586B-70DD-ECB9-5382CAE9B58C}"/>
              </a:ext>
            </a:extLst>
          </p:cNvPr>
          <p:cNvSpPr/>
          <p:nvPr>
            <p:custDataLst>
              <p:tags r:id="rId3"/>
            </p:custDataLst>
          </p:nvPr>
        </p:nvSpPr>
        <p:spPr>
          <a:xfrm>
            <a:off x="492809" y="2000799"/>
            <a:ext cx="5493285" cy="2062731"/>
          </a:xfrm>
          <a:prstGeom prst="roundRect">
            <a:avLst>
              <a:gd name="adj" fmla="val 617"/>
            </a:avLst>
          </a:prstGeom>
          <a:solidFill>
            <a:srgbClr val="FFFFFF"/>
          </a:solidFill>
          <a:ln w="3175"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E5EDF4"/>
              </a:solidFill>
              <a:effectLst/>
              <a:uLnTx/>
              <a:uFillTx/>
              <a:latin typeface="微软雅黑" panose="020B0503020204020204" pitchFamily="34" charset="-122"/>
              <a:ea typeface="+mn-ea"/>
              <a:cs typeface="+mn-cs"/>
            </a:endParaRPr>
          </a:p>
        </p:txBody>
      </p:sp>
      <p:sp>
        <p:nvSpPr>
          <p:cNvPr id="12" name="幻云PPT-演示军团19">
            <a:extLst>
              <a:ext uri="{FF2B5EF4-FFF2-40B4-BE49-F238E27FC236}">
                <a16:creationId xmlns:a16="http://schemas.microsoft.com/office/drawing/2014/main" id="{FA1B6605-A767-5DCD-85F8-936E73DFA664}"/>
              </a:ext>
            </a:extLst>
          </p:cNvPr>
          <p:cNvSpPr/>
          <p:nvPr>
            <p:custDataLst>
              <p:tags r:id="rId4"/>
            </p:custDataLst>
          </p:nvPr>
        </p:nvSpPr>
        <p:spPr>
          <a:xfrm>
            <a:off x="492810" y="1979405"/>
            <a:ext cx="5493284"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rPr>
              <a:t>研究难题</a:t>
            </a:r>
            <a:endParaRPr kumimoji="0" lang="en-US" altLang="zh-CN" sz="2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3" name="幻云PPT-演示军团1">
            <a:extLst>
              <a:ext uri="{FF2B5EF4-FFF2-40B4-BE49-F238E27FC236}">
                <a16:creationId xmlns:a16="http://schemas.microsoft.com/office/drawing/2014/main" id="{DE03F39A-773D-E1A6-3B18-BB6342F826F6}"/>
              </a:ext>
            </a:extLst>
          </p:cNvPr>
          <p:cNvSpPr/>
          <p:nvPr>
            <p:custDataLst>
              <p:tags r:id="rId5"/>
            </p:custDataLst>
          </p:nvPr>
        </p:nvSpPr>
        <p:spPr>
          <a:xfrm>
            <a:off x="492809" y="4388399"/>
            <a:ext cx="5493285" cy="2062731"/>
          </a:xfrm>
          <a:prstGeom prst="roundRect">
            <a:avLst>
              <a:gd name="adj" fmla="val 617"/>
            </a:avLst>
          </a:prstGeom>
          <a:solidFill>
            <a:srgbClr val="FFFFFF"/>
          </a:solidFill>
          <a:ln w="3175" cap="flat" cmpd="sng" algn="ctr">
            <a:solidFill>
              <a:schemeClr val="accent1"/>
            </a:solidFill>
            <a:prstDash val="solid"/>
            <a:miter lim="800000"/>
          </a:ln>
          <a:effectLst/>
        </p:spPr>
        <p:txBody>
          <a:bodyPr rtlCol="0" anchor="ctr"/>
          <a:lstStyle/>
          <a:p>
            <a:pPr algn="ctr"/>
            <a:endParaRPr lang="en-US" kern="0" dirty="0">
              <a:solidFill>
                <a:srgbClr val="E5EDF4"/>
              </a:solidFill>
              <a:latin typeface="微软雅黑" panose="020B0503020204020204" pitchFamily="34" charset="-122"/>
            </a:endParaRPr>
          </a:p>
        </p:txBody>
      </p:sp>
      <p:sp>
        <p:nvSpPr>
          <p:cNvPr id="14" name="幻云PPT-演示军团19">
            <a:extLst>
              <a:ext uri="{FF2B5EF4-FFF2-40B4-BE49-F238E27FC236}">
                <a16:creationId xmlns:a16="http://schemas.microsoft.com/office/drawing/2014/main" id="{FC9ABA25-F49A-5E87-1639-F3F10118BDBB}"/>
              </a:ext>
            </a:extLst>
          </p:cNvPr>
          <p:cNvSpPr/>
          <p:nvPr>
            <p:custDataLst>
              <p:tags r:id="rId6"/>
            </p:custDataLst>
          </p:nvPr>
        </p:nvSpPr>
        <p:spPr>
          <a:xfrm>
            <a:off x="492810" y="4367005"/>
            <a:ext cx="5493284"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解决方法</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15" name="幻云PPT-演示军团14">
            <a:extLst>
              <a:ext uri="{FF2B5EF4-FFF2-40B4-BE49-F238E27FC236}">
                <a16:creationId xmlns:a16="http://schemas.microsoft.com/office/drawing/2014/main" id="{040B9002-B667-5EE7-8CE0-771063B5BDFC}"/>
              </a:ext>
            </a:extLst>
          </p:cNvPr>
          <p:cNvSpPr/>
          <p:nvPr/>
        </p:nvSpPr>
        <p:spPr>
          <a:xfrm>
            <a:off x="658812" y="2640114"/>
            <a:ext cx="5113338" cy="1240786"/>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marL="0" marR="0" lvl="0" indent="0" algn="just" defTabSz="4572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endParaRPr>
          </a:p>
        </p:txBody>
      </p:sp>
      <p:sp>
        <p:nvSpPr>
          <p:cNvPr id="16" name="幻云PPT-演示军团7">
            <a:extLst>
              <a:ext uri="{FF2B5EF4-FFF2-40B4-BE49-F238E27FC236}">
                <a16:creationId xmlns:a16="http://schemas.microsoft.com/office/drawing/2014/main" id="{D3826F87-801A-6A84-6749-4511D4D96150}"/>
              </a:ext>
            </a:extLst>
          </p:cNvPr>
          <p:cNvSpPr txBox="1"/>
          <p:nvPr>
            <p:custDataLst>
              <p:tags r:id="rId7"/>
            </p:custDataLst>
          </p:nvPr>
        </p:nvSpPr>
        <p:spPr>
          <a:xfrm>
            <a:off x="848280" y="2737569"/>
            <a:ext cx="4799485" cy="1045613"/>
          </a:xfrm>
          <a:prstGeom prst="rect">
            <a:avLst/>
          </a:prstGeom>
          <a:noFill/>
          <a:effectLst/>
        </p:spPr>
        <p:txBody>
          <a:bodyPr wrap="square" lIns="70363" tIns="35182" rIns="70363" bIns="35182" rtlCol="0">
            <a:spAutoFit/>
          </a:bodyPr>
          <a:lstStyle/>
          <a:p>
            <a:pPr>
              <a:lnSpc>
                <a:spcPct val="120000"/>
              </a:lnSpc>
            </a:pPr>
            <a:r>
              <a:rPr lang="zh-CN" altLang="en-US"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界面效应</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：在纳米尺度薄膜中，界面效应在一定程度上限制了传统铁电材料在高速微型化铁电元器件中的应用</a:t>
            </a:r>
            <a:endParaRPr 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 name="幻云PPT-演示军团14">
            <a:extLst>
              <a:ext uri="{FF2B5EF4-FFF2-40B4-BE49-F238E27FC236}">
                <a16:creationId xmlns:a16="http://schemas.microsoft.com/office/drawing/2014/main" id="{B35ACE92-173B-D8DC-892C-AE6C0EB22421}"/>
              </a:ext>
            </a:extLst>
          </p:cNvPr>
          <p:cNvSpPr/>
          <p:nvPr/>
        </p:nvSpPr>
        <p:spPr>
          <a:xfrm>
            <a:off x="658812" y="5015559"/>
            <a:ext cx="5113338" cy="1240786"/>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prstClr val="white"/>
              </a:solidFill>
              <a:latin typeface="Arial" panose="020B0604020202020204" pitchFamily="34" charset="0"/>
              <a:ea typeface="微软雅黑" panose="020B0503020204020204" pitchFamily="34" charset="-122"/>
            </a:endParaRPr>
          </a:p>
        </p:txBody>
      </p:sp>
      <p:sp>
        <p:nvSpPr>
          <p:cNvPr id="18" name="幻云PPT-演示军团7">
            <a:extLst>
              <a:ext uri="{FF2B5EF4-FFF2-40B4-BE49-F238E27FC236}">
                <a16:creationId xmlns:a16="http://schemas.microsoft.com/office/drawing/2014/main" id="{4E9E99BE-FA2A-1B93-278B-582988BCEB65}"/>
              </a:ext>
            </a:extLst>
          </p:cNvPr>
          <p:cNvSpPr txBox="1"/>
          <p:nvPr>
            <p:custDataLst>
              <p:tags r:id="rId8"/>
            </p:custDataLst>
          </p:nvPr>
        </p:nvSpPr>
        <p:spPr>
          <a:xfrm>
            <a:off x="848280" y="5113014"/>
            <a:ext cx="4799485" cy="1045613"/>
          </a:xfrm>
          <a:prstGeom prst="rect">
            <a:avLst/>
          </a:prstGeom>
          <a:noFill/>
          <a:effectLst/>
        </p:spPr>
        <p:txBody>
          <a:bodyPr wrap="square" lIns="70363" tIns="35182" rIns="70363" bIns="35182" rtlCol="0">
            <a:spAutoFit/>
          </a:bodyPr>
          <a:lstStyle/>
          <a:p>
            <a:pPr>
              <a:lnSpc>
                <a:spcPct val="120000"/>
              </a:lnSpc>
            </a:pPr>
            <a:r>
              <a:rPr lang="zh-CN" altLang="en-US"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电场调控氧离子栅极：</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通过电场调控氧离子栅极与磁性金属界面处的磁相互作用，在室温下实现快速的磁电耦合效应和阻变存储</a:t>
            </a:r>
            <a:endParaRPr 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endParaRPr>
          </a:p>
        </p:txBody>
      </p:sp>
    </p:spTree>
    <p:extLst>
      <p:ext uri="{BB962C8B-B14F-4D97-AF65-F5344CB8AC3E}">
        <p14:creationId xmlns:p14="http://schemas.microsoft.com/office/powerpoint/2010/main" val="1449550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509E-CED1-6B83-996D-71FAC097CF3A}"/>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7832DB36-3E08-E6BD-14CD-30A683C9039A}"/>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95B77676-FAC5-85DA-48FC-07B3C6CF68CA}"/>
              </a:ext>
            </a:extLst>
          </p:cNvPr>
          <p:cNvSpPr txBox="1"/>
          <p:nvPr/>
        </p:nvSpPr>
        <p:spPr>
          <a:xfrm>
            <a:off x="946461" y="269201"/>
            <a:ext cx="6440714" cy="523220"/>
          </a:xfrm>
          <a:prstGeom prst="rect">
            <a:avLst/>
          </a:prstGeom>
          <a:noFill/>
        </p:spPr>
        <p:txBody>
          <a:bodyPr wrap="square">
            <a:spAutoFit/>
          </a:bodyPr>
          <a:lstStyle/>
          <a:p>
            <a:r>
              <a:rPr lang="zh-CN" altLang="en-US" sz="2800" b="1" dirty="0">
                <a:solidFill>
                  <a:schemeClr val="accent1"/>
                </a:solidFill>
              </a:rPr>
              <a:t>研究内容及科学问题</a:t>
            </a:r>
          </a:p>
        </p:txBody>
      </p:sp>
      <p:sp>
        <p:nvSpPr>
          <p:cNvPr id="6" name="矩形: 圆角 5">
            <a:extLst>
              <a:ext uri="{FF2B5EF4-FFF2-40B4-BE49-F238E27FC236}">
                <a16:creationId xmlns:a16="http://schemas.microsoft.com/office/drawing/2014/main" id="{FD0E4D6A-2DF0-1765-B3A5-4D6F5A9DDDA9}"/>
              </a:ext>
            </a:extLst>
          </p:cNvPr>
          <p:cNvSpPr/>
          <p:nvPr/>
        </p:nvSpPr>
        <p:spPr>
          <a:xfrm>
            <a:off x="479426" y="1160711"/>
            <a:ext cx="11217274" cy="714367"/>
          </a:xfrm>
          <a:prstGeom prst="roundRect">
            <a:avLst>
              <a:gd name="adj" fmla="val 3293"/>
            </a:avLst>
          </a:prstGeom>
          <a:solidFill>
            <a:schemeClr val="accent3"/>
          </a:solidFill>
          <a:ln w="6350" cap="flat" cmpd="sng" algn="ctr">
            <a:solidFill>
              <a:schemeClr val="accent1"/>
            </a:solidFill>
            <a:prstDash val="solid"/>
            <a:miter lim="800000"/>
          </a:ln>
          <a:effectLst>
            <a:outerShdw blurRad="723900" sx="102000" sy="102000" algn="ctr" rotWithShape="0">
              <a:srgbClr val="1E2B4D">
                <a:alpha val="8000"/>
              </a:srgbClr>
            </a:outerShdw>
          </a:effectLst>
        </p:spPr>
        <p:txBody>
          <a:bodyPr rtlCol="0" anchor="ctr"/>
          <a:lstStyle/>
          <a:p>
            <a:pPr algn="ctr"/>
            <a:endParaRPr lang="zh-CN" altLang="en-US" sz="1350" kern="0" dirty="0">
              <a:solidFill>
                <a:prstClr val="white"/>
              </a:solidFill>
              <a:latin typeface="Arial" panose="020B0604020202020204" pitchFamily="34" charset="0"/>
              <a:ea typeface="微软雅黑" panose="020B0503020204020204" pitchFamily="34" charset="-122"/>
            </a:endParaRPr>
          </a:p>
        </p:txBody>
      </p:sp>
      <p:sp>
        <p:nvSpPr>
          <p:cNvPr id="7" name="文本框 6">
            <a:extLst>
              <a:ext uri="{FF2B5EF4-FFF2-40B4-BE49-F238E27FC236}">
                <a16:creationId xmlns:a16="http://schemas.microsoft.com/office/drawing/2014/main" id="{44C2C230-0F9D-CA21-3138-791905D8400B}"/>
              </a:ext>
            </a:extLst>
          </p:cNvPr>
          <p:cNvSpPr txBox="1"/>
          <p:nvPr/>
        </p:nvSpPr>
        <p:spPr>
          <a:xfrm>
            <a:off x="819570" y="1251571"/>
            <a:ext cx="10511587" cy="532646"/>
          </a:xfrm>
          <a:prstGeom prst="rect">
            <a:avLst/>
          </a:prstGeom>
          <a:noFill/>
        </p:spPr>
        <p:txBody>
          <a:bodyPr wrap="none">
            <a:noAutofit/>
          </a:bodyPr>
          <a:lstStyle/>
          <a:p>
            <a:pPr algn="just">
              <a:lnSpc>
                <a:spcPct val="130000"/>
              </a:lnSpc>
            </a:pPr>
            <a:r>
              <a:rPr lang="zh-CN" altLang="en-US" sz="2400" b="1" dirty="0">
                <a:solidFill>
                  <a:schemeClr val="accent1"/>
                </a:solidFill>
                <a:latin typeface="微软雅黑" panose="020B0503020204020204" pitchFamily="34" charset="-122"/>
                <a:ea typeface="微软雅黑" panose="020B0503020204020204" pitchFamily="34" charset="-122"/>
              </a:rPr>
              <a:t>推动对多铁材料基本物理性质的理解，为开发新型多功能器件提供了科学基础</a:t>
            </a:r>
          </a:p>
        </p:txBody>
      </p:sp>
      <p:pic>
        <p:nvPicPr>
          <p:cNvPr id="19" name="图片 18">
            <a:extLst>
              <a:ext uri="{FF2B5EF4-FFF2-40B4-BE49-F238E27FC236}">
                <a16:creationId xmlns:a16="http://schemas.microsoft.com/office/drawing/2014/main" id="{2519227F-C5E8-9E04-815B-F94C6C361E3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2810" y="5109603"/>
            <a:ext cx="2682191" cy="1390661"/>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pic>
        <p:nvPicPr>
          <p:cNvPr id="20" name="图片 19">
            <a:extLst>
              <a:ext uri="{FF2B5EF4-FFF2-40B4-BE49-F238E27FC236}">
                <a16:creationId xmlns:a16="http://schemas.microsoft.com/office/drawing/2014/main" id="{0C491CEF-A281-4D0E-055E-5B30CCAAAB5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333377" y="5110403"/>
            <a:ext cx="2682190" cy="1389062"/>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pic>
        <p:nvPicPr>
          <p:cNvPr id="21" name="图片 20">
            <a:extLst>
              <a:ext uri="{FF2B5EF4-FFF2-40B4-BE49-F238E27FC236}">
                <a16:creationId xmlns:a16="http://schemas.microsoft.com/office/drawing/2014/main" id="{F235CAF9-026D-777B-C8D5-5BFBD2179FE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173944" y="5110403"/>
            <a:ext cx="2682190" cy="1389062"/>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pic>
        <p:nvPicPr>
          <p:cNvPr id="22" name="图片 21">
            <a:extLst>
              <a:ext uri="{FF2B5EF4-FFF2-40B4-BE49-F238E27FC236}">
                <a16:creationId xmlns:a16="http://schemas.microsoft.com/office/drawing/2014/main" id="{E7D534AD-CF46-C4E2-D4D5-BE29D9B8604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012825" y="5109603"/>
            <a:ext cx="2685561" cy="1390661"/>
          </a:xfrm>
          <a:prstGeom prst="roundRect">
            <a:avLst>
              <a:gd name="adj" fmla="val 1084"/>
            </a:avLst>
          </a:prstGeom>
          <a:solidFill>
            <a:schemeClr val="accent3">
              <a:alpha val="30000"/>
            </a:schemeClr>
          </a:solidFill>
          <a:ln w="9525" cap="flat" cmpd="sng" algn="ctr">
            <a:solidFill>
              <a:schemeClr val="accent1"/>
            </a:solidFill>
            <a:prstDash val="lgDash"/>
            <a:miter lim="800000"/>
          </a:ln>
          <a:effectLst/>
        </p:spPr>
      </p:pic>
      <p:sp>
        <p:nvSpPr>
          <p:cNvPr id="23" name="幻云PPT-演示军团1">
            <a:extLst>
              <a:ext uri="{FF2B5EF4-FFF2-40B4-BE49-F238E27FC236}">
                <a16:creationId xmlns:a16="http://schemas.microsoft.com/office/drawing/2014/main" id="{77AB8CF0-1B92-E303-D964-7BB7949EB16E}"/>
              </a:ext>
            </a:extLst>
          </p:cNvPr>
          <p:cNvSpPr/>
          <p:nvPr>
            <p:custDataLst>
              <p:tags r:id="rId1"/>
            </p:custDataLst>
          </p:nvPr>
        </p:nvSpPr>
        <p:spPr>
          <a:xfrm>
            <a:off x="492809" y="2049633"/>
            <a:ext cx="2669808" cy="2839790"/>
          </a:xfrm>
          <a:prstGeom prst="roundRect">
            <a:avLst>
              <a:gd name="adj" fmla="val 617"/>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en-US" kern="0" dirty="0">
              <a:solidFill>
                <a:srgbClr val="0B4FA1"/>
              </a:solidFill>
              <a:latin typeface="Arial" panose="020B0604020202020204" pitchFamily="34" charset="0"/>
              <a:ea typeface="微软雅黑" panose="020B0503020204020204" pitchFamily="34" charset="-122"/>
            </a:endParaRPr>
          </a:p>
        </p:txBody>
      </p:sp>
      <p:sp>
        <p:nvSpPr>
          <p:cNvPr id="24" name="幻云PPT-演示军团19">
            <a:extLst>
              <a:ext uri="{FF2B5EF4-FFF2-40B4-BE49-F238E27FC236}">
                <a16:creationId xmlns:a16="http://schemas.microsoft.com/office/drawing/2014/main" id="{A8AC7788-DF30-8707-DDCF-B7890406810E}"/>
              </a:ext>
            </a:extLst>
          </p:cNvPr>
          <p:cNvSpPr/>
          <p:nvPr>
            <p:custDataLst>
              <p:tags r:id="rId2"/>
            </p:custDataLst>
          </p:nvPr>
        </p:nvSpPr>
        <p:spPr>
          <a:xfrm>
            <a:off x="492810" y="2028239"/>
            <a:ext cx="2669808"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rPr>
              <a:t>已展开科学性问题</a:t>
            </a:r>
            <a:endParaRPr kumimoji="0" lang="en-US" altLang="zh-CN" sz="2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25" name="幻云PPT-演示军团1">
            <a:extLst>
              <a:ext uri="{FF2B5EF4-FFF2-40B4-BE49-F238E27FC236}">
                <a16:creationId xmlns:a16="http://schemas.microsoft.com/office/drawing/2014/main" id="{482634C2-AEF5-9985-2F8D-B7D5FDDAB4B4}"/>
              </a:ext>
            </a:extLst>
          </p:cNvPr>
          <p:cNvSpPr/>
          <p:nvPr>
            <p:custDataLst>
              <p:tags r:id="rId3"/>
            </p:custDataLst>
          </p:nvPr>
        </p:nvSpPr>
        <p:spPr>
          <a:xfrm>
            <a:off x="3930650" y="2049633"/>
            <a:ext cx="4330700" cy="2839790"/>
          </a:xfrm>
          <a:prstGeom prst="roundRect">
            <a:avLst>
              <a:gd name="adj" fmla="val 617"/>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en-US" kern="0" dirty="0">
              <a:solidFill>
                <a:srgbClr val="0B4FA1"/>
              </a:solidFill>
              <a:latin typeface="Arial" panose="020B0604020202020204" pitchFamily="34" charset="0"/>
              <a:ea typeface="微软雅黑" panose="020B0503020204020204" pitchFamily="34" charset="-122"/>
            </a:endParaRPr>
          </a:p>
        </p:txBody>
      </p:sp>
      <p:sp>
        <p:nvSpPr>
          <p:cNvPr id="26" name="幻云PPT-演示军团19">
            <a:extLst>
              <a:ext uri="{FF2B5EF4-FFF2-40B4-BE49-F238E27FC236}">
                <a16:creationId xmlns:a16="http://schemas.microsoft.com/office/drawing/2014/main" id="{5BEBEC32-7447-5A5B-881E-5BFC4E604CF6}"/>
              </a:ext>
            </a:extLst>
          </p:cNvPr>
          <p:cNvSpPr/>
          <p:nvPr>
            <p:custDataLst>
              <p:tags r:id="rId4"/>
            </p:custDataLst>
          </p:nvPr>
        </p:nvSpPr>
        <p:spPr>
          <a:xfrm>
            <a:off x="3930650" y="2028239"/>
            <a:ext cx="4330700"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研究内容</a:t>
            </a:r>
            <a:endParaRPr lang="en-US" altLang="zh-CN" sz="24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27" name="幻云PPT-演示军团1">
            <a:extLst>
              <a:ext uri="{FF2B5EF4-FFF2-40B4-BE49-F238E27FC236}">
                <a16:creationId xmlns:a16="http://schemas.microsoft.com/office/drawing/2014/main" id="{F99ADBAA-68B9-AF73-6055-0278E6B9B35F}"/>
              </a:ext>
            </a:extLst>
          </p:cNvPr>
          <p:cNvSpPr/>
          <p:nvPr>
            <p:custDataLst>
              <p:tags r:id="rId5"/>
            </p:custDataLst>
          </p:nvPr>
        </p:nvSpPr>
        <p:spPr>
          <a:xfrm>
            <a:off x="9011139" y="2049633"/>
            <a:ext cx="2669808" cy="2839790"/>
          </a:xfrm>
          <a:prstGeom prst="roundRect">
            <a:avLst>
              <a:gd name="adj" fmla="val 617"/>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en-US" kern="0" dirty="0">
              <a:solidFill>
                <a:srgbClr val="0B4FA1"/>
              </a:solidFill>
              <a:latin typeface="Arial" panose="020B0604020202020204" pitchFamily="34" charset="0"/>
              <a:ea typeface="微软雅黑" panose="020B0503020204020204" pitchFamily="34" charset="-122"/>
            </a:endParaRPr>
          </a:p>
        </p:txBody>
      </p:sp>
      <p:sp>
        <p:nvSpPr>
          <p:cNvPr id="28" name="幻云PPT-演示军团19">
            <a:extLst>
              <a:ext uri="{FF2B5EF4-FFF2-40B4-BE49-F238E27FC236}">
                <a16:creationId xmlns:a16="http://schemas.microsoft.com/office/drawing/2014/main" id="{5FD5C2D5-4ABB-CD1A-8671-B3B15CB05444}"/>
              </a:ext>
            </a:extLst>
          </p:cNvPr>
          <p:cNvSpPr/>
          <p:nvPr>
            <p:custDataLst>
              <p:tags r:id="rId6"/>
            </p:custDataLst>
          </p:nvPr>
        </p:nvSpPr>
        <p:spPr>
          <a:xfrm>
            <a:off x="9011140" y="2028239"/>
            <a:ext cx="2669808" cy="453490"/>
          </a:xfrm>
          <a:prstGeom prst="roundRect">
            <a:avLst>
              <a:gd name="adj" fmla="val 3727"/>
            </a:avLst>
          </a:prstGeom>
          <a:solidFill>
            <a:schemeClr val="accent1"/>
          </a:solidFill>
          <a:ln w="3175" cap="flat" cmpd="sng" algn="ctr">
            <a:noFill/>
            <a:prstDash val="solid"/>
            <a:miter lim="800000"/>
          </a:ln>
          <a:effectLst/>
        </p:spPr>
        <p:txBody>
          <a:bodyPr lIns="76535" tIns="38268" rIns="76535" bIns="38268" rtlCol="0" anchor="ctr"/>
          <a:lstStyle/>
          <a:p>
            <a:pPr algn="ctr"/>
            <a:r>
              <a:rPr lang="zh-CN" altLang="en-US" sz="20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rPr>
              <a:t>拟展开科学性问题</a:t>
            </a:r>
            <a:endParaRPr lang="en-US" altLang="zh-CN" sz="2000" b="1" kern="0" dirty="0">
              <a:solidFill>
                <a:srgbClr val="FFFFFF"/>
              </a:solidFill>
              <a:latin typeface="微软雅黑" panose="020B0503020204020204" pitchFamily="34" charset="-122"/>
              <a:ea typeface="微软雅黑" panose="020B0503020204020204" pitchFamily="34" charset="-122"/>
              <a:cs typeface="OPPOSans B" panose="00020600040101010101" pitchFamily="18" charset="-122"/>
            </a:endParaRPr>
          </a:p>
        </p:txBody>
      </p:sp>
      <p:sp>
        <p:nvSpPr>
          <p:cNvPr id="31" name="幻云PPT-演示军团30">
            <a:extLst>
              <a:ext uri="{FF2B5EF4-FFF2-40B4-BE49-F238E27FC236}">
                <a16:creationId xmlns:a16="http://schemas.microsoft.com/office/drawing/2014/main" id="{07AED97B-8923-E9D1-5089-0E51D84E6B39}"/>
              </a:ext>
            </a:extLst>
          </p:cNvPr>
          <p:cNvSpPr txBox="1"/>
          <p:nvPr/>
        </p:nvSpPr>
        <p:spPr>
          <a:xfrm>
            <a:off x="4086614" y="2593193"/>
            <a:ext cx="4018772" cy="1066895"/>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材料设计与合成</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：开发新型铁基多铁材料，包括具有非常规结构或组成的化合物</a:t>
            </a:r>
          </a:p>
        </p:txBody>
      </p:sp>
      <p:sp>
        <p:nvSpPr>
          <p:cNvPr id="32" name="幻云PPT-演示军团30">
            <a:extLst>
              <a:ext uri="{FF2B5EF4-FFF2-40B4-BE49-F238E27FC236}">
                <a16:creationId xmlns:a16="http://schemas.microsoft.com/office/drawing/2014/main" id="{31AF4590-A09D-0D67-56C2-B781795CEEE8}"/>
              </a:ext>
            </a:extLst>
          </p:cNvPr>
          <p:cNvSpPr txBox="1"/>
          <p:nvPr/>
        </p:nvSpPr>
        <p:spPr>
          <a:xfrm>
            <a:off x="4086614" y="3729747"/>
            <a:ext cx="4018772" cy="1066895"/>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cs typeface="OPPOSans R" panose="00020600040101010101" pitchFamily="18" charset="-122"/>
              </a:rPr>
              <a:t>磁电耦合效应</a:t>
            </a:r>
            <a:r>
              <a:rPr lang="zh-CN" altLang="en-US" dirty="0">
                <a:solidFill>
                  <a:srgbClr val="0C56AE"/>
                </a:solidFill>
                <a:latin typeface="微软雅黑" panose="020B0503020204020204" pitchFamily="34" charset="-122"/>
                <a:ea typeface="微软雅黑" panose="020B0503020204020204" pitchFamily="34" charset="-122"/>
                <a:cs typeface="OPPOSans R" panose="00020600040101010101" pitchFamily="18" charset="-122"/>
              </a:rPr>
              <a:t>：</a:t>
            </a:r>
            <a:r>
              <a:rPr lang="zh-CN" altLang="en-US" dirty="0">
                <a:solidFill>
                  <a:srgbClr val="000000"/>
                </a:solidFill>
                <a:latin typeface="微软雅黑" panose="020B0503020204020204" pitchFamily="34" charset="-122"/>
                <a:ea typeface="微软雅黑" panose="020B0503020204020204" pitchFamily="34" charset="-122"/>
                <a:cs typeface="OPPOSans R" panose="00020600040101010101" pitchFamily="18" charset="-122"/>
              </a:rPr>
              <a:t>研究材料中磁电耦合效应的机理，通过电场调控磁性或通过磁场调控电极化</a:t>
            </a:r>
          </a:p>
        </p:txBody>
      </p:sp>
      <p:sp>
        <p:nvSpPr>
          <p:cNvPr id="33" name="幻云PPT-演示军团14">
            <a:extLst>
              <a:ext uri="{FF2B5EF4-FFF2-40B4-BE49-F238E27FC236}">
                <a16:creationId xmlns:a16="http://schemas.microsoft.com/office/drawing/2014/main" id="{2123FB74-CE62-8322-1A90-2AE1319AABEB}"/>
              </a:ext>
            </a:extLst>
          </p:cNvPr>
          <p:cNvSpPr/>
          <p:nvPr/>
        </p:nvSpPr>
        <p:spPr>
          <a:xfrm>
            <a:off x="620372" y="4168284"/>
            <a:ext cx="2409366" cy="489375"/>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schemeClr val="accent1"/>
              </a:solidFill>
              <a:latin typeface="Arial" panose="020B0604020202020204" pitchFamily="34" charset="0"/>
              <a:ea typeface="微软雅黑" panose="020B0503020204020204" pitchFamily="34" charset="-122"/>
            </a:endParaRPr>
          </a:p>
        </p:txBody>
      </p:sp>
      <p:sp>
        <p:nvSpPr>
          <p:cNvPr id="34" name="文本框 33">
            <a:extLst>
              <a:ext uri="{FF2B5EF4-FFF2-40B4-BE49-F238E27FC236}">
                <a16:creationId xmlns:a16="http://schemas.microsoft.com/office/drawing/2014/main" id="{618AB595-F082-CBD9-AB0E-79FD11693427}"/>
              </a:ext>
            </a:extLst>
          </p:cNvPr>
          <p:cNvSpPr txBox="1"/>
          <p:nvPr/>
        </p:nvSpPr>
        <p:spPr>
          <a:xfrm>
            <a:off x="924809" y="4211955"/>
            <a:ext cx="1800493" cy="402033"/>
          </a:xfrm>
          <a:prstGeom prst="rect">
            <a:avLst/>
          </a:prstGeom>
          <a:noFill/>
        </p:spPr>
        <p:txBody>
          <a:bodyPr wrap="none">
            <a:spAutoFit/>
          </a:bodyPr>
          <a:lstStyle/>
          <a:p>
            <a:pPr>
              <a:lnSpc>
                <a:spcPct val="120000"/>
              </a:lnSpc>
              <a:buClr>
                <a:srgbClr val="C00000"/>
              </a:buClr>
              <a:buSzPct val="80000"/>
              <a:defRPr/>
            </a:pPr>
            <a:r>
              <a:rPr lang="zh-CN" altLang="en-US" kern="100" dirty="0">
                <a:solidFill>
                  <a:schemeClr val="accent1"/>
                </a:solidFill>
                <a:latin typeface="微软雅黑" panose="020B0503020204020204" pitchFamily="34" charset="-122"/>
                <a:ea typeface="微软雅黑" panose="020B0503020204020204" pitchFamily="34" charset="-122"/>
              </a:rPr>
              <a:t>材料性能的表征</a:t>
            </a:r>
          </a:p>
        </p:txBody>
      </p:sp>
      <p:sp>
        <p:nvSpPr>
          <p:cNvPr id="35" name="幻云PPT-演示军团14">
            <a:extLst>
              <a:ext uri="{FF2B5EF4-FFF2-40B4-BE49-F238E27FC236}">
                <a16:creationId xmlns:a16="http://schemas.microsoft.com/office/drawing/2014/main" id="{F7D4509B-ABEC-5418-6011-1F7937F64757}"/>
              </a:ext>
            </a:extLst>
          </p:cNvPr>
          <p:cNvSpPr/>
          <p:nvPr/>
        </p:nvSpPr>
        <p:spPr>
          <a:xfrm>
            <a:off x="620372" y="3443121"/>
            <a:ext cx="2409366" cy="489375"/>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schemeClr val="accent1"/>
              </a:solidFill>
              <a:latin typeface="Arial" panose="020B0604020202020204" pitchFamily="34" charset="0"/>
              <a:ea typeface="微软雅黑" panose="020B0503020204020204" pitchFamily="34" charset="-122"/>
            </a:endParaRPr>
          </a:p>
        </p:txBody>
      </p:sp>
      <p:sp>
        <p:nvSpPr>
          <p:cNvPr id="36" name="文本框 35">
            <a:extLst>
              <a:ext uri="{FF2B5EF4-FFF2-40B4-BE49-F238E27FC236}">
                <a16:creationId xmlns:a16="http://schemas.microsoft.com/office/drawing/2014/main" id="{EC5BC593-5F02-5C55-4B22-054127FE5745}"/>
              </a:ext>
            </a:extLst>
          </p:cNvPr>
          <p:cNvSpPr txBox="1"/>
          <p:nvPr/>
        </p:nvSpPr>
        <p:spPr>
          <a:xfrm>
            <a:off x="1040225" y="3486792"/>
            <a:ext cx="1569660" cy="402033"/>
          </a:xfrm>
          <a:prstGeom prst="rect">
            <a:avLst/>
          </a:prstGeom>
          <a:noFill/>
        </p:spPr>
        <p:txBody>
          <a:bodyPr wrap="none">
            <a:spAutoFit/>
          </a:bodyPr>
          <a:lstStyle/>
          <a:p>
            <a:pPr>
              <a:lnSpc>
                <a:spcPct val="120000"/>
              </a:lnSpc>
              <a:buClr>
                <a:srgbClr val="C00000"/>
              </a:buClr>
              <a:buSzPct val="80000"/>
              <a:defRPr/>
            </a:pPr>
            <a:r>
              <a:rPr lang="zh-CN" altLang="en-US" kern="100" dirty="0">
                <a:solidFill>
                  <a:schemeClr val="accent1"/>
                </a:solidFill>
                <a:latin typeface="微软雅黑" panose="020B0503020204020204" pitchFamily="34" charset="-122"/>
                <a:ea typeface="微软雅黑" panose="020B0503020204020204" pitchFamily="34" charset="-122"/>
              </a:rPr>
              <a:t>外部调控机制</a:t>
            </a:r>
          </a:p>
        </p:txBody>
      </p:sp>
      <p:sp>
        <p:nvSpPr>
          <p:cNvPr id="37" name="幻云PPT-演示军团14">
            <a:extLst>
              <a:ext uri="{FF2B5EF4-FFF2-40B4-BE49-F238E27FC236}">
                <a16:creationId xmlns:a16="http://schemas.microsoft.com/office/drawing/2014/main" id="{B0416BCA-DFB6-8EFE-23C6-D58A4D9CF5B5}"/>
              </a:ext>
            </a:extLst>
          </p:cNvPr>
          <p:cNvSpPr/>
          <p:nvPr/>
        </p:nvSpPr>
        <p:spPr>
          <a:xfrm>
            <a:off x="620372" y="2717958"/>
            <a:ext cx="2409366" cy="489375"/>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schemeClr val="accent1"/>
              </a:solidFill>
              <a:latin typeface="Arial" panose="020B0604020202020204" pitchFamily="34" charset="0"/>
              <a:ea typeface="微软雅黑" panose="020B0503020204020204" pitchFamily="34" charset="-122"/>
            </a:endParaRPr>
          </a:p>
        </p:txBody>
      </p:sp>
      <p:sp>
        <p:nvSpPr>
          <p:cNvPr id="38" name="文本框 37">
            <a:extLst>
              <a:ext uri="{FF2B5EF4-FFF2-40B4-BE49-F238E27FC236}">
                <a16:creationId xmlns:a16="http://schemas.microsoft.com/office/drawing/2014/main" id="{3CA2D3D8-4915-6F76-B282-20A32B75A305}"/>
              </a:ext>
            </a:extLst>
          </p:cNvPr>
          <p:cNvSpPr txBox="1"/>
          <p:nvPr/>
        </p:nvSpPr>
        <p:spPr>
          <a:xfrm>
            <a:off x="693976" y="2761629"/>
            <a:ext cx="2262158" cy="402033"/>
          </a:xfrm>
          <a:prstGeom prst="rect">
            <a:avLst/>
          </a:prstGeom>
          <a:noFill/>
        </p:spPr>
        <p:txBody>
          <a:bodyPr wrap="none">
            <a:spAutoFit/>
          </a:bodyPr>
          <a:lstStyle/>
          <a:p>
            <a:pPr>
              <a:lnSpc>
                <a:spcPct val="120000"/>
              </a:lnSpc>
              <a:buClr>
                <a:srgbClr val="C00000"/>
              </a:buClr>
              <a:buSzPct val="80000"/>
              <a:defRPr/>
            </a:pPr>
            <a:r>
              <a:rPr lang="zh-CN" altLang="en-US" kern="100" dirty="0">
                <a:solidFill>
                  <a:schemeClr val="accent1"/>
                </a:solidFill>
                <a:latin typeface="微软雅黑" panose="020B0503020204020204" pitchFamily="34" charset="-122"/>
                <a:ea typeface="微软雅黑" panose="020B0503020204020204" pitchFamily="34" charset="-122"/>
              </a:rPr>
              <a:t>异质结构与界面工程</a:t>
            </a:r>
          </a:p>
        </p:txBody>
      </p:sp>
      <p:sp>
        <p:nvSpPr>
          <p:cNvPr id="39" name="幻云PPT-演示军团14">
            <a:extLst>
              <a:ext uri="{FF2B5EF4-FFF2-40B4-BE49-F238E27FC236}">
                <a16:creationId xmlns:a16="http://schemas.microsoft.com/office/drawing/2014/main" id="{906853D4-33C3-2063-4C4E-0981B7F59B3A}"/>
              </a:ext>
            </a:extLst>
          </p:cNvPr>
          <p:cNvSpPr/>
          <p:nvPr/>
        </p:nvSpPr>
        <p:spPr>
          <a:xfrm>
            <a:off x="9141360" y="4168284"/>
            <a:ext cx="2409366" cy="489375"/>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schemeClr val="accent1"/>
              </a:solidFill>
              <a:latin typeface="Arial" panose="020B0604020202020204" pitchFamily="34" charset="0"/>
              <a:ea typeface="微软雅黑" panose="020B0503020204020204" pitchFamily="34" charset="-122"/>
            </a:endParaRPr>
          </a:p>
        </p:txBody>
      </p:sp>
      <p:sp>
        <p:nvSpPr>
          <p:cNvPr id="40" name="文本框 39">
            <a:extLst>
              <a:ext uri="{FF2B5EF4-FFF2-40B4-BE49-F238E27FC236}">
                <a16:creationId xmlns:a16="http://schemas.microsoft.com/office/drawing/2014/main" id="{92C22266-0113-4057-67BD-0A3D950F2DE4}"/>
              </a:ext>
            </a:extLst>
          </p:cNvPr>
          <p:cNvSpPr txBox="1"/>
          <p:nvPr/>
        </p:nvSpPr>
        <p:spPr>
          <a:xfrm>
            <a:off x="9330381" y="4211955"/>
            <a:ext cx="2031325" cy="402033"/>
          </a:xfrm>
          <a:prstGeom prst="rect">
            <a:avLst/>
          </a:prstGeom>
          <a:noFill/>
        </p:spPr>
        <p:txBody>
          <a:bodyPr wrap="none">
            <a:spAutoFit/>
          </a:bodyPr>
          <a:lstStyle/>
          <a:p>
            <a:pPr>
              <a:lnSpc>
                <a:spcPct val="120000"/>
              </a:lnSpc>
              <a:buClr>
                <a:srgbClr val="C00000"/>
              </a:buClr>
              <a:buSzPct val="80000"/>
              <a:defRPr/>
            </a:pPr>
            <a:r>
              <a:rPr lang="zh-CN" altLang="en-US" kern="100" dirty="0">
                <a:solidFill>
                  <a:schemeClr val="accent1"/>
                </a:solidFill>
                <a:latin typeface="微软雅黑" panose="020B0503020204020204" pitchFamily="34" charset="-122"/>
                <a:ea typeface="微软雅黑" panose="020B0503020204020204" pitchFamily="34" charset="-122"/>
              </a:rPr>
              <a:t>环境与稳定性研究</a:t>
            </a:r>
          </a:p>
        </p:txBody>
      </p:sp>
      <p:sp>
        <p:nvSpPr>
          <p:cNvPr id="41" name="幻云PPT-演示军团14">
            <a:extLst>
              <a:ext uri="{FF2B5EF4-FFF2-40B4-BE49-F238E27FC236}">
                <a16:creationId xmlns:a16="http://schemas.microsoft.com/office/drawing/2014/main" id="{8D6E5A17-4EF1-F5C5-B670-7C4A9E9D2C43}"/>
              </a:ext>
            </a:extLst>
          </p:cNvPr>
          <p:cNvSpPr/>
          <p:nvPr/>
        </p:nvSpPr>
        <p:spPr>
          <a:xfrm>
            <a:off x="9141360" y="3443121"/>
            <a:ext cx="2409366" cy="489375"/>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schemeClr val="accent1"/>
              </a:solidFill>
              <a:latin typeface="Arial" panose="020B0604020202020204" pitchFamily="34" charset="0"/>
              <a:ea typeface="微软雅黑" panose="020B0503020204020204" pitchFamily="34" charset="-122"/>
            </a:endParaRPr>
          </a:p>
        </p:txBody>
      </p:sp>
      <p:sp>
        <p:nvSpPr>
          <p:cNvPr id="42" name="文本框 41">
            <a:extLst>
              <a:ext uri="{FF2B5EF4-FFF2-40B4-BE49-F238E27FC236}">
                <a16:creationId xmlns:a16="http://schemas.microsoft.com/office/drawing/2014/main" id="{B0C1C8CD-F3F8-275A-01D0-B7AFC79D4187}"/>
              </a:ext>
            </a:extLst>
          </p:cNvPr>
          <p:cNvSpPr txBox="1"/>
          <p:nvPr/>
        </p:nvSpPr>
        <p:spPr>
          <a:xfrm>
            <a:off x="9561213" y="3486792"/>
            <a:ext cx="1569660" cy="402033"/>
          </a:xfrm>
          <a:prstGeom prst="rect">
            <a:avLst/>
          </a:prstGeom>
          <a:noFill/>
        </p:spPr>
        <p:txBody>
          <a:bodyPr wrap="none">
            <a:spAutoFit/>
          </a:bodyPr>
          <a:lstStyle/>
          <a:p>
            <a:pPr>
              <a:lnSpc>
                <a:spcPct val="120000"/>
              </a:lnSpc>
              <a:buClr>
                <a:srgbClr val="C00000"/>
              </a:buClr>
              <a:buSzPct val="80000"/>
              <a:defRPr/>
            </a:pPr>
            <a:r>
              <a:rPr lang="zh-CN" altLang="en-US" kern="100" dirty="0">
                <a:solidFill>
                  <a:schemeClr val="accent1"/>
                </a:solidFill>
                <a:latin typeface="微软雅黑" panose="020B0503020204020204" pitchFamily="34" charset="-122"/>
                <a:ea typeface="微软雅黑" panose="020B0503020204020204" pitchFamily="34" charset="-122"/>
              </a:rPr>
              <a:t>器件应用探索</a:t>
            </a:r>
          </a:p>
        </p:txBody>
      </p:sp>
      <p:sp>
        <p:nvSpPr>
          <p:cNvPr id="43" name="幻云PPT-演示军团14">
            <a:extLst>
              <a:ext uri="{FF2B5EF4-FFF2-40B4-BE49-F238E27FC236}">
                <a16:creationId xmlns:a16="http://schemas.microsoft.com/office/drawing/2014/main" id="{0FD5478D-F5B7-EA94-397B-B086C50E6148}"/>
              </a:ext>
            </a:extLst>
          </p:cNvPr>
          <p:cNvSpPr/>
          <p:nvPr/>
        </p:nvSpPr>
        <p:spPr>
          <a:xfrm>
            <a:off x="9141360" y="2717958"/>
            <a:ext cx="2409366" cy="489375"/>
          </a:xfrm>
          <a:prstGeom prst="roundRect">
            <a:avLst>
              <a:gd name="adj" fmla="val 3651"/>
            </a:avLst>
          </a:prstGeom>
          <a:solidFill>
            <a:schemeClr val="accent3">
              <a:alpha val="30000"/>
            </a:schemeClr>
          </a:solidFill>
          <a:ln w="9525" cap="flat" cmpd="sng" algn="ctr">
            <a:solidFill>
              <a:schemeClr val="accent1"/>
            </a:solidFill>
            <a:prstDash val="lgDash"/>
            <a:miter lim="800000"/>
          </a:ln>
          <a:effectLst/>
        </p:spPr>
        <p:txBody>
          <a:bodyPr rtlCol="0" anchor="ctr"/>
          <a:lstStyle/>
          <a:p>
            <a:pPr algn="just" defTabSz="457200"/>
            <a:endParaRPr lang="en-US" sz="1200" kern="0" dirty="0">
              <a:solidFill>
                <a:schemeClr val="accent1"/>
              </a:solidFill>
              <a:latin typeface="Arial" panose="020B0604020202020204" pitchFamily="34" charset="0"/>
              <a:ea typeface="微软雅黑" panose="020B0503020204020204" pitchFamily="34" charset="-122"/>
            </a:endParaRPr>
          </a:p>
        </p:txBody>
      </p:sp>
      <p:sp>
        <p:nvSpPr>
          <p:cNvPr id="44" name="文本框 43">
            <a:extLst>
              <a:ext uri="{FF2B5EF4-FFF2-40B4-BE49-F238E27FC236}">
                <a16:creationId xmlns:a16="http://schemas.microsoft.com/office/drawing/2014/main" id="{72F7FBC2-F533-E934-5EF8-B4E38FB0B62E}"/>
              </a:ext>
            </a:extLst>
          </p:cNvPr>
          <p:cNvSpPr txBox="1"/>
          <p:nvPr/>
        </p:nvSpPr>
        <p:spPr>
          <a:xfrm>
            <a:off x="9214964" y="2761629"/>
            <a:ext cx="2262158" cy="402033"/>
          </a:xfrm>
          <a:prstGeom prst="rect">
            <a:avLst/>
          </a:prstGeom>
          <a:noFill/>
        </p:spPr>
        <p:txBody>
          <a:bodyPr wrap="none">
            <a:spAutoFit/>
          </a:bodyPr>
          <a:lstStyle/>
          <a:p>
            <a:pPr>
              <a:lnSpc>
                <a:spcPct val="120000"/>
              </a:lnSpc>
              <a:buClr>
                <a:srgbClr val="C00000"/>
              </a:buClr>
              <a:buSzPct val="80000"/>
              <a:defRPr/>
            </a:pPr>
            <a:r>
              <a:rPr lang="zh-CN" altLang="en-US" kern="100" dirty="0">
                <a:solidFill>
                  <a:schemeClr val="accent1"/>
                </a:solidFill>
                <a:latin typeface="微软雅黑" panose="020B0503020204020204" pitchFamily="34" charset="-122"/>
                <a:ea typeface="微软雅黑" panose="020B0503020204020204" pitchFamily="34" charset="-122"/>
              </a:rPr>
              <a:t>理论模型与计算模拟</a:t>
            </a:r>
          </a:p>
        </p:txBody>
      </p:sp>
      <p:grpSp>
        <p:nvGrpSpPr>
          <p:cNvPr id="45" name="组合 44">
            <a:extLst>
              <a:ext uri="{FF2B5EF4-FFF2-40B4-BE49-F238E27FC236}">
                <a16:creationId xmlns:a16="http://schemas.microsoft.com/office/drawing/2014/main" id="{42D37E10-2739-F58B-2B5E-FEDD8FF6C2CE}"/>
              </a:ext>
            </a:extLst>
          </p:cNvPr>
          <p:cNvGrpSpPr/>
          <p:nvPr/>
        </p:nvGrpSpPr>
        <p:grpSpPr>
          <a:xfrm>
            <a:off x="3313356" y="3453003"/>
            <a:ext cx="461330" cy="218246"/>
            <a:chOff x="2556236" y="2927408"/>
            <a:chExt cx="461330" cy="218246"/>
          </a:xfrm>
          <a:gradFill>
            <a:gsLst>
              <a:gs pos="0">
                <a:schemeClr val="accent1">
                  <a:alpha val="0"/>
                </a:schemeClr>
              </a:gs>
              <a:gs pos="99083">
                <a:schemeClr val="accent1"/>
              </a:gs>
            </a:gsLst>
            <a:lin ang="0" scaled="1"/>
          </a:gradFill>
        </p:grpSpPr>
        <p:sp>
          <p:nvSpPr>
            <p:cNvPr id="46" name="箭头: V 形 45">
              <a:extLst>
                <a:ext uri="{FF2B5EF4-FFF2-40B4-BE49-F238E27FC236}">
                  <a16:creationId xmlns:a16="http://schemas.microsoft.com/office/drawing/2014/main" id="{4C93301B-843D-2B54-8B24-B0E253533855}"/>
                </a:ext>
              </a:extLst>
            </p:cNvPr>
            <p:cNvSpPr/>
            <p:nvPr/>
          </p:nvSpPr>
          <p:spPr>
            <a:xfrm>
              <a:off x="2829922" y="2927408"/>
              <a:ext cx="187644" cy="218246"/>
            </a:xfrm>
            <a:prstGeom prst="chevron">
              <a:avLst/>
            </a:prstGeom>
            <a:grpFill/>
            <a:ln w="19050" cap="flat" cmpd="sng" algn="ctr">
              <a:noFill/>
              <a:prstDash val="solid"/>
              <a:round/>
              <a:headEnd type="none" w="med" len="med"/>
              <a:tailEnd type="none" w="med" len="me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微软雅黑" panose="020B0503020204020204" pitchFamily="34" charset="-122"/>
                <a:cs typeface="Arial" panose="020B0604020202020204" pitchFamily="34" charset="0"/>
                <a:sym typeface="微软雅黑" panose="020B0503020204020204" pitchFamily="34" charset="-122"/>
              </a:endParaRPr>
            </a:p>
          </p:txBody>
        </p:sp>
        <p:sp>
          <p:nvSpPr>
            <p:cNvPr id="47" name="箭头: V 形 46">
              <a:extLst>
                <a:ext uri="{FF2B5EF4-FFF2-40B4-BE49-F238E27FC236}">
                  <a16:creationId xmlns:a16="http://schemas.microsoft.com/office/drawing/2014/main" id="{49264A41-2842-2A76-9DA1-749F6C87ECFF}"/>
                </a:ext>
              </a:extLst>
            </p:cNvPr>
            <p:cNvSpPr/>
            <p:nvPr/>
          </p:nvSpPr>
          <p:spPr>
            <a:xfrm>
              <a:off x="2693079" y="2927408"/>
              <a:ext cx="187644" cy="218246"/>
            </a:xfrm>
            <a:prstGeom prst="chevron">
              <a:avLst/>
            </a:prstGeom>
            <a:grpFill/>
            <a:ln w="19050" cap="flat" cmpd="sng" algn="ctr">
              <a:noFill/>
              <a:prstDash val="solid"/>
              <a:round/>
              <a:headEnd type="none" w="med" len="med"/>
              <a:tailEnd type="none" w="med" len="me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cs typeface="Arial" panose="020B0604020202020204" pitchFamily="34" charset="0"/>
                <a:sym typeface="微软雅黑" panose="020B0503020204020204" pitchFamily="34" charset="-122"/>
              </a:endParaRPr>
            </a:p>
          </p:txBody>
        </p:sp>
        <p:sp>
          <p:nvSpPr>
            <p:cNvPr id="48" name="箭头: V 形 47">
              <a:extLst>
                <a:ext uri="{FF2B5EF4-FFF2-40B4-BE49-F238E27FC236}">
                  <a16:creationId xmlns:a16="http://schemas.microsoft.com/office/drawing/2014/main" id="{C71CF8A5-D644-4E40-6A6E-62D157B953C5}"/>
                </a:ext>
              </a:extLst>
            </p:cNvPr>
            <p:cNvSpPr/>
            <p:nvPr/>
          </p:nvSpPr>
          <p:spPr>
            <a:xfrm>
              <a:off x="2556236" y="2927408"/>
              <a:ext cx="187644" cy="218246"/>
            </a:xfrm>
            <a:prstGeom prst="chevron">
              <a:avLst/>
            </a:prstGeom>
            <a:grpFill/>
            <a:ln w="19050" cap="flat" cmpd="sng" algn="ctr">
              <a:noFill/>
              <a:prstDash val="solid"/>
              <a:round/>
              <a:headEnd type="none" w="med" len="med"/>
              <a:tailEnd type="none" w="med" len="me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46647B"/>
                </a:solidFill>
                <a:effectLst/>
                <a:uLnTx/>
                <a:uFillTx/>
                <a:latin typeface="微软雅黑" panose="020B0503020204020204" pitchFamily="34" charset="-122"/>
                <a:cs typeface="Arial" panose="020B0604020202020204" pitchFamily="34" charset="0"/>
                <a:sym typeface="微软雅黑" panose="020B0503020204020204" pitchFamily="34" charset="-122"/>
              </a:endParaRPr>
            </a:p>
          </p:txBody>
        </p:sp>
      </p:grpSp>
      <p:grpSp>
        <p:nvGrpSpPr>
          <p:cNvPr id="53" name="组合 52">
            <a:extLst>
              <a:ext uri="{FF2B5EF4-FFF2-40B4-BE49-F238E27FC236}">
                <a16:creationId xmlns:a16="http://schemas.microsoft.com/office/drawing/2014/main" id="{5332C6A3-06FB-9359-2C1F-691DD74076A8}"/>
              </a:ext>
            </a:extLst>
          </p:cNvPr>
          <p:cNvGrpSpPr/>
          <p:nvPr/>
        </p:nvGrpSpPr>
        <p:grpSpPr>
          <a:xfrm flipH="1">
            <a:off x="8417314" y="3453003"/>
            <a:ext cx="461330" cy="218246"/>
            <a:chOff x="2556236" y="2927408"/>
            <a:chExt cx="461330" cy="218246"/>
          </a:xfrm>
          <a:gradFill>
            <a:gsLst>
              <a:gs pos="0">
                <a:schemeClr val="accent1">
                  <a:alpha val="0"/>
                </a:schemeClr>
              </a:gs>
              <a:gs pos="99083">
                <a:schemeClr val="accent1"/>
              </a:gs>
            </a:gsLst>
            <a:lin ang="0" scaled="1"/>
          </a:gradFill>
        </p:grpSpPr>
        <p:sp>
          <p:nvSpPr>
            <p:cNvPr id="54" name="箭头: V 形 53">
              <a:extLst>
                <a:ext uri="{FF2B5EF4-FFF2-40B4-BE49-F238E27FC236}">
                  <a16:creationId xmlns:a16="http://schemas.microsoft.com/office/drawing/2014/main" id="{C6296484-57E7-A2EE-D7E0-3F104BC12699}"/>
                </a:ext>
              </a:extLst>
            </p:cNvPr>
            <p:cNvSpPr/>
            <p:nvPr/>
          </p:nvSpPr>
          <p:spPr>
            <a:xfrm>
              <a:off x="2829922" y="2927408"/>
              <a:ext cx="187644" cy="218246"/>
            </a:xfrm>
            <a:prstGeom prst="chevron">
              <a:avLst/>
            </a:prstGeom>
            <a:grpFill/>
            <a:ln w="19050" cap="flat" cmpd="sng" algn="ctr">
              <a:noFill/>
              <a:prstDash val="solid"/>
              <a:round/>
              <a:headEnd type="none" w="med" len="med"/>
              <a:tailEnd type="none" w="med" len="me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微软雅黑" panose="020B0503020204020204" pitchFamily="34" charset="-122"/>
                <a:cs typeface="Arial" panose="020B0604020202020204" pitchFamily="34" charset="0"/>
                <a:sym typeface="微软雅黑" panose="020B0503020204020204" pitchFamily="34" charset="-122"/>
              </a:endParaRPr>
            </a:p>
          </p:txBody>
        </p:sp>
        <p:sp>
          <p:nvSpPr>
            <p:cNvPr id="55" name="箭头: V 形 54">
              <a:extLst>
                <a:ext uri="{FF2B5EF4-FFF2-40B4-BE49-F238E27FC236}">
                  <a16:creationId xmlns:a16="http://schemas.microsoft.com/office/drawing/2014/main" id="{1B327347-19B8-CB90-447A-23BE50C37943}"/>
                </a:ext>
              </a:extLst>
            </p:cNvPr>
            <p:cNvSpPr/>
            <p:nvPr/>
          </p:nvSpPr>
          <p:spPr>
            <a:xfrm>
              <a:off x="2693079" y="2927408"/>
              <a:ext cx="187644" cy="218246"/>
            </a:xfrm>
            <a:prstGeom prst="chevron">
              <a:avLst/>
            </a:prstGeom>
            <a:grpFill/>
            <a:ln w="19050" cap="flat" cmpd="sng" algn="ctr">
              <a:noFill/>
              <a:prstDash val="solid"/>
              <a:round/>
              <a:headEnd type="none" w="med" len="med"/>
              <a:tailEnd type="none" w="med" len="me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cs typeface="Arial" panose="020B0604020202020204" pitchFamily="34" charset="0"/>
                <a:sym typeface="微软雅黑" panose="020B0503020204020204" pitchFamily="34" charset="-122"/>
              </a:endParaRPr>
            </a:p>
          </p:txBody>
        </p:sp>
        <p:sp>
          <p:nvSpPr>
            <p:cNvPr id="56" name="箭头: V 形 55">
              <a:extLst>
                <a:ext uri="{FF2B5EF4-FFF2-40B4-BE49-F238E27FC236}">
                  <a16:creationId xmlns:a16="http://schemas.microsoft.com/office/drawing/2014/main" id="{2EF857E6-954C-E394-592F-A7A1BA17A816}"/>
                </a:ext>
              </a:extLst>
            </p:cNvPr>
            <p:cNvSpPr/>
            <p:nvPr/>
          </p:nvSpPr>
          <p:spPr>
            <a:xfrm>
              <a:off x="2556236" y="2927408"/>
              <a:ext cx="187644" cy="218246"/>
            </a:xfrm>
            <a:prstGeom prst="chevron">
              <a:avLst/>
            </a:prstGeom>
            <a:grpFill/>
            <a:ln w="19050" cap="flat" cmpd="sng" algn="ctr">
              <a:noFill/>
              <a:prstDash val="solid"/>
              <a:round/>
              <a:headEnd type="none" w="med" len="med"/>
              <a:tailEnd type="none" w="med" len="me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46647B"/>
                </a:solidFill>
                <a:effectLst/>
                <a:uLnTx/>
                <a:uFillTx/>
                <a:latin typeface="微软雅黑" panose="020B0503020204020204" pitchFamily="34" charset="-122"/>
                <a:cs typeface="Arial" panose="020B0604020202020204" pitchFamily="34" charset="0"/>
                <a:sym typeface="微软雅黑" panose="020B0503020204020204" pitchFamily="34" charset="-122"/>
              </a:endParaRPr>
            </a:p>
          </p:txBody>
        </p:sp>
      </p:grpSp>
    </p:spTree>
    <p:extLst>
      <p:ext uri="{BB962C8B-B14F-4D97-AF65-F5344CB8AC3E}">
        <p14:creationId xmlns:p14="http://schemas.microsoft.com/office/powerpoint/2010/main" val="2485059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2E450-5FC0-8ED5-CA22-DB453C345A09}"/>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0815A518-D4FF-BF83-67B8-80B3B6DFEB26}"/>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A36E4FF5-8E54-C76A-8E98-5403EBB7F367}"/>
              </a:ext>
            </a:extLst>
          </p:cNvPr>
          <p:cNvSpPr txBox="1"/>
          <p:nvPr/>
        </p:nvSpPr>
        <p:spPr>
          <a:xfrm>
            <a:off x="946461" y="269201"/>
            <a:ext cx="6440714" cy="523220"/>
          </a:xfrm>
          <a:prstGeom prst="rect">
            <a:avLst/>
          </a:prstGeom>
          <a:noFill/>
        </p:spPr>
        <p:txBody>
          <a:bodyPr wrap="square">
            <a:spAutoFit/>
          </a:bodyPr>
          <a:lstStyle/>
          <a:p>
            <a:r>
              <a:rPr lang="zh-CN" altLang="en-US" sz="2800" b="1" dirty="0">
                <a:solidFill>
                  <a:schemeClr val="accent1"/>
                </a:solidFill>
              </a:rPr>
              <a:t>课题分解与研究内容</a:t>
            </a:r>
          </a:p>
        </p:txBody>
      </p:sp>
      <p:sp>
        <p:nvSpPr>
          <p:cNvPr id="50" name="矩形: 圆角 49">
            <a:extLst>
              <a:ext uri="{FF2B5EF4-FFF2-40B4-BE49-F238E27FC236}">
                <a16:creationId xmlns:a16="http://schemas.microsoft.com/office/drawing/2014/main" id="{0E91F20A-1575-F121-A924-413A88AC7D8B}"/>
              </a:ext>
            </a:extLst>
          </p:cNvPr>
          <p:cNvSpPr>
            <a:spLocks/>
          </p:cNvSpPr>
          <p:nvPr/>
        </p:nvSpPr>
        <p:spPr>
          <a:xfrm>
            <a:off x="442912" y="3898080"/>
            <a:ext cx="5217291" cy="1621143"/>
          </a:xfrm>
          <a:prstGeom prst="roundRect">
            <a:avLst>
              <a:gd name="adj" fmla="val 608"/>
            </a:avLst>
          </a:prstGeom>
          <a:solidFill>
            <a:schemeClr val="accent2">
              <a:lumMod val="20000"/>
              <a:lumOff val="80000"/>
              <a:alpha val="10000"/>
            </a:schemeClr>
          </a:solidFill>
          <a:ln w="3175" cap="flat" cmpd="sng" algn="ctr">
            <a:solidFill>
              <a:schemeClr val="accent1"/>
            </a:solidFill>
            <a:prstDash val="solid"/>
            <a:miter lim="800000"/>
          </a:ln>
          <a:effectLst/>
        </p:spPr>
        <p:txBody>
          <a:bodyPr rtlCol="0" anchor="ctr"/>
          <a:lstStyle/>
          <a:p>
            <a:pPr algn="just" defTabSz="457200"/>
            <a:endParaRPr lang="zh-CN" altLang="en-US" sz="1200" kern="0" dirty="0">
              <a:solidFill>
                <a:prstClr val="white"/>
              </a:solidFill>
              <a:latin typeface="Arial" panose="020B0604020202020204" pitchFamily="34" charset="0"/>
              <a:ea typeface="微软雅黑" panose="020B0503020204020204" pitchFamily="34" charset="-122"/>
            </a:endParaRPr>
          </a:p>
        </p:txBody>
      </p:sp>
      <p:sp>
        <p:nvSpPr>
          <p:cNvPr id="51" name="矩形: 圆角 50">
            <a:extLst>
              <a:ext uri="{FF2B5EF4-FFF2-40B4-BE49-F238E27FC236}">
                <a16:creationId xmlns:a16="http://schemas.microsoft.com/office/drawing/2014/main" id="{C21BFD11-DA2E-7DC4-E821-490FA876CC08}"/>
              </a:ext>
            </a:extLst>
          </p:cNvPr>
          <p:cNvSpPr>
            <a:spLocks/>
          </p:cNvSpPr>
          <p:nvPr/>
        </p:nvSpPr>
        <p:spPr>
          <a:xfrm>
            <a:off x="442913" y="1143279"/>
            <a:ext cx="11306175" cy="815669"/>
          </a:xfrm>
          <a:prstGeom prst="roundRect">
            <a:avLst>
              <a:gd name="adj" fmla="val 3304"/>
            </a:avLst>
          </a:prstGeom>
          <a:solidFill>
            <a:schemeClr val="accent3"/>
          </a:solidFill>
          <a:ln w="6350" cap="flat" cmpd="sng" algn="ctr">
            <a:solidFill>
              <a:schemeClr val="accent1"/>
            </a:solidFill>
            <a:prstDash val="solid"/>
            <a:miter lim="800000"/>
          </a:ln>
          <a:effectLst>
            <a:outerShdw blurRad="723900" sx="102000" sy="102000" algn="ctr" rotWithShape="0">
              <a:srgbClr val="1E2B4D">
                <a:alpha val="8000"/>
              </a:srgbClr>
            </a:outerShdw>
          </a:effectLst>
        </p:spPr>
        <p:txBody>
          <a:bodyPr rtlCol="0" anchor="ctr"/>
          <a:lstStyle/>
          <a:p>
            <a:pPr algn="ctr"/>
            <a:endParaRPr lang="zh-CN" altLang="en-US" sz="1350" kern="0" dirty="0">
              <a:solidFill>
                <a:prstClr val="white"/>
              </a:solidFill>
              <a:latin typeface="Arial" panose="020B0604020202020204" pitchFamily="34" charset="0"/>
              <a:ea typeface="微软雅黑" panose="020B0503020204020204" pitchFamily="34" charset="-122"/>
            </a:endParaRPr>
          </a:p>
        </p:txBody>
      </p:sp>
      <p:sp>
        <p:nvSpPr>
          <p:cNvPr id="52" name="矩形: 圆角 51">
            <a:extLst>
              <a:ext uri="{FF2B5EF4-FFF2-40B4-BE49-F238E27FC236}">
                <a16:creationId xmlns:a16="http://schemas.microsoft.com/office/drawing/2014/main" id="{D288FDB2-C705-78E0-C6C8-3F83F5513342}"/>
              </a:ext>
            </a:extLst>
          </p:cNvPr>
          <p:cNvSpPr>
            <a:spLocks/>
          </p:cNvSpPr>
          <p:nvPr/>
        </p:nvSpPr>
        <p:spPr>
          <a:xfrm>
            <a:off x="442912" y="2097528"/>
            <a:ext cx="5217291" cy="1467426"/>
          </a:xfrm>
          <a:prstGeom prst="roundRect">
            <a:avLst>
              <a:gd name="adj" fmla="val 907"/>
            </a:avLst>
          </a:prstGeom>
          <a:solidFill>
            <a:schemeClr val="accent2">
              <a:lumMod val="20000"/>
              <a:lumOff val="80000"/>
              <a:alpha val="10000"/>
            </a:schemeClr>
          </a:solidFill>
          <a:ln w="3175" cap="flat" cmpd="sng" algn="ctr">
            <a:solidFill>
              <a:schemeClr val="accent1"/>
            </a:solidFill>
            <a:prstDash val="solid"/>
            <a:miter lim="800000"/>
          </a:ln>
          <a:effectLst/>
        </p:spPr>
        <p:txBody>
          <a:bodyPr rtlCol="0" anchor="ctr"/>
          <a:lstStyle/>
          <a:p>
            <a:pPr algn="just" defTabSz="457200"/>
            <a:endParaRPr lang="zh-CN" altLang="en-US" sz="1200" kern="0" dirty="0">
              <a:solidFill>
                <a:prstClr val="white"/>
              </a:solidFill>
              <a:latin typeface="Arial" panose="020B0604020202020204" pitchFamily="34" charset="0"/>
              <a:ea typeface="微软雅黑" panose="020B0503020204020204" pitchFamily="34" charset="-122"/>
            </a:endParaRPr>
          </a:p>
        </p:txBody>
      </p:sp>
      <p:cxnSp>
        <p:nvCxnSpPr>
          <p:cNvPr id="53" name="直接连接符 52">
            <a:extLst>
              <a:ext uri="{FF2B5EF4-FFF2-40B4-BE49-F238E27FC236}">
                <a16:creationId xmlns:a16="http://schemas.microsoft.com/office/drawing/2014/main" id="{361955CF-3B6D-3012-9070-DB485008F888}"/>
              </a:ext>
            </a:extLst>
          </p:cNvPr>
          <p:cNvCxnSpPr>
            <a:cxnSpLocks/>
          </p:cNvCxnSpPr>
          <p:nvPr/>
        </p:nvCxnSpPr>
        <p:spPr>
          <a:xfrm>
            <a:off x="2947146" y="2158424"/>
            <a:ext cx="0" cy="1406529"/>
          </a:xfrm>
          <a:prstGeom prst="line">
            <a:avLst/>
          </a:prstGeom>
          <a:noFill/>
          <a:ln w="3175" cap="flat" cmpd="sng" algn="ctr">
            <a:solidFill>
              <a:srgbClr val="C00000">
                <a:alpha val="50000"/>
              </a:srgbClr>
            </a:solidFill>
            <a:prstDash val="solid"/>
            <a:miter lim="800000"/>
          </a:ln>
          <a:effectLst/>
        </p:spPr>
      </p:cxnSp>
      <p:sp>
        <p:nvSpPr>
          <p:cNvPr id="54" name="矩形: 圆角 53">
            <a:extLst>
              <a:ext uri="{FF2B5EF4-FFF2-40B4-BE49-F238E27FC236}">
                <a16:creationId xmlns:a16="http://schemas.microsoft.com/office/drawing/2014/main" id="{5C0A5391-6045-1C31-7FCB-CB4D27A017D4}"/>
              </a:ext>
            </a:extLst>
          </p:cNvPr>
          <p:cNvSpPr/>
          <p:nvPr/>
        </p:nvSpPr>
        <p:spPr>
          <a:xfrm>
            <a:off x="578351" y="3981162"/>
            <a:ext cx="1916267" cy="379114"/>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cxnSp>
        <p:nvCxnSpPr>
          <p:cNvPr id="55" name="直接箭头连接符 54">
            <a:extLst>
              <a:ext uri="{FF2B5EF4-FFF2-40B4-BE49-F238E27FC236}">
                <a16:creationId xmlns:a16="http://schemas.microsoft.com/office/drawing/2014/main" id="{B5E0D0BA-62C5-174A-30D8-CB9162793FDE}"/>
              </a:ext>
            </a:extLst>
          </p:cNvPr>
          <p:cNvCxnSpPr>
            <a:cxnSpLocks/>
          </p:cNvCxnSpPr>
          <p:nvPr/>
        </p:nvCxnSpPr>
        <p:spPr>
          <a:xfrm>
            <a:off x="2630432" y="4170719"/>
            <a:ext cx="566056" cy="0"/>
          </a:xfrm>
          <a:prstGeom prst="straightConnector1">
            <a:avLst/>
          </a:prstGeom>
          <a:noFill/>
          <a:ln w="19050" cap="flat" cmpd="sng" algn="ctr">
            <a:solidFill>
              <a:schemeClr val="accent1"/>
            </a:solidFill>
            <a:prstDash val="solid"/>
            <a:miter lim="800000"/>
            <a:tailEnd type="triangle"/>
          </a:ln>
          <a:effectLst/>
        </p:spPr>
      </p:cxnSp>
      <p:sp>
        <p:nvSpPr>
          <p:cNvPr id="56" name="矩形: 圆角 55">
            <a:extLst>
              <a:ext uri="{FF2B5EF4-FFF2-40B4-BE49-F238E27FC236}">
                <a16:creationId xmlns:a16="http://schemas.microsoft.com/office/drawing/2014/main" id="{3D044C7E-E63A-763A-29CD-D5ED083D1C2E}"/>
              </a:ext>
            </a:extLst>
          </p:cNvPr>
          <p:cNvSpPr>
            <a:spLocks/>
          </p:cNvSpPr>
          <p:nvPr/>
        </p:nvSpPr>
        <p:spPr>
          <a:xfrm>
            <a:off x="442912" y="5659921"/>
            <a:ext cx="5217291" cy="875007"/>
          </a:xfrm>
          <a:prstGeom prst="roundRect">
            <a:avLst>
              <a:gd name="adj" fmla="val 2889"/>
            </a:avLst>
          </a:prstGeom>
          <a:solidFill>
            <a:schemeClr val="accent3">
              <a:alpha val="40000"/>
            </a:schemeClr>
          </a:solidFill>
          <a:ln w="3175" cap="flat" cmpd="sng" algn="ctr">
            <a:solidFill>
              <a:schemeClr val="accent1">
                <a:alpha val="55000"/>
              </a:schemeClr>
            </a:solidFill>
            <a:prstDash val="solid"/>
            <a:miter lim="800000"/>
          </a:ln>
          <a:effectLst/>
        </p:spPr>
        <p:txBody>
          <a:bodyPr rtlCol="0" anchor="ctr"/>
          <a:lstStyle/>
          <a:p>
            <a:pPr algn="just" defTabSz="457200"/>
            <a:endParaRPr lang="zh-CN" altLang="en-US" sz="1200" kern="0" dirty="0">
              <a:solidFill>
                <a:prstClr val="white"/>
              </a:solidFill>
              <a:latin typeface="Arial" panose="020B0604020202020204" pitchFamily="34" charset="0"/>
              <a:ea typeface="微软雅黑" panose="020B0503020204020204" pitchFamily="34" charset="-122"/>
            </a:endParaRPr>
          </a:p>
        </p:txBody>
      </p:sp>
      <p:sp>
        <p:nvSpPr>
          <p:cNvPr id="57" name="文本框 56">
            <a:extLst>
              <a:ext uri="{FF2B5EF4-FFF2-40B4-BE49-F238E27FC236}">
                <a16:creationId xmlns:a16="http://schemas.microsoft.com/office/drawing/2014/main" id="{E0E19322-D4E1-0589-906D-251D75916A5C}"/>
              </a:ext>
            </a:extLst>
          </p:cNvPr>
          <p:cNvSpPr txBox="1"/>
          <p:nvPr/>
        </p:nvSpPr>
        <p:spPr>
          <a:xfrm>
            <a:off x="682230" y="1154800"/>
            <a:ext cx="11041719" cy="805477"/>
          </a:xfrm>
          <a:prstGeom prst="rect">
            <a:avLst/>
          </a:prstGeom>
          <a:noFill/>
        </p:spPr>
        <p:txBody>
          <a:bodyPr wrap="square">
            <a:spAutoFit/>
          </a:bodyPr>
          <a:lstStyle/>
          <a:p>
            <a:pPr>
              <a:lnSpc>
                <a:spcPct val="120000"/>
              </a:lnSpc>
            </a:pPr>
            <a:r>
              <a:rPr lang="zh-CN" altLang="en-US" sz="2000" b="1" dirty="0">
                <a:solidFill>
                  <a:schemeClr val="accent1"/>
                </a:solidFill>
                <a:latin typeface="微软雅黑" panose="020B0503020204020204" pitchFamily="34" charset="-122"/>
                <a:ea typeface="微软雅黑" panose="020B0503020204020204" pitchFamily="34" charset="-122"/>
              </a:rPr>
              <a:t>生物样本物质成分复杂和水分干扰等因素，目标物质吸收峰的信噪比过小，目前未能真正进入临床引用</a:t>
            </a:r>
          </a:p>
        </p:txBody>
      </p:sp>
      <p:sp>
        <p:nvSpPr>
          <p:cNvPr id="58" name="文本框 57">
            <a:extLst>
              <a:ext uri="{FF2B5EF4-FFF2-40B4-BE49-F238E27FC236}">
                <a16:creationId xmlns:a16="http://schemas.microsoft.com/office/drawing/2014/main" id="{A1D84098-CB05-4CB8-09A7-DE6B5E8EBC79}"/>
              </a:ext>
            </a:extLst>
          </p:cNvPr>
          <p:cNvSpPr txBox="1"/>
          <p:nvPr/>
        </p:nvSpPr>
        <p:spPr>
          <a:xfrm>
            <a:off x="485617" y="2142325"/>
            <a:ext cx="2474378" cy="307777"/>
          </a:xfrm>
          <a:prstGeom prst="rect">
            <a:avLst/>
          </a:prstGeom>
          <a:noFill/>
        </p:spPr>
        <p:txBody>
          <a:bodyPr wrap="square">
            <a:spAutoFit/>
          </a:bodyPr>
          <a:lstStyle/>
          <a:p>
            <a:r>
              <a:rPr lang="en-US" altLang="zh-CN" sz="1400" dirty="0">
                <a:solidFill>
                  <a:schemeClr val="accent1"/>
                </a:solidFill>
                <a:latin typeface="微软雅黑" panose="020B0503020204020204" pitchFamily="34" charset="-122"/>
                <a:ea typeface="微软雅黑" panose="020B0503020204020204" pitchFamily="34" charset="-122"/>
              </a:rPr>
              <a:t>(1) </a:t>
            </a:r>
            <a:r>
              <a:rPr lang="zh-CN" altLang="en-US" sz="1400" dirty="0">
                <a:solidFill>
                  <a:schemeClr val="accent1"/>
                </a:solidFill>
                <a:latin typeface="微软雅黑" panose="020B0503020204020204" pitchFamily="34" charset="-122"/>
                <a:ea typeface="微软雅黑" panose="020B0503020204020204" pitchFamily="34" charset="-122"/>
              </a:rPr>
              <a:t>ATR spectroscopy</a:t>
            </a:r>
          </a:p>
        </p:txBody>
      </p:sp>
      <p:sp>
        <p:nvSpPr>
          <p:cNvPr id="59" name="文本框 58">
            <a:extLst>
              <a:ext uri="{FF2B5EF4-FFF2-40B4-BE49-F238E27FC236}">
                <a16:creationId xmlns:a16="http://schemas.microsoft.com/office/drawing/2014/main" id="{E11DC397-6D30-2F7F-969D-55755C0B3F6C}"/>
              </a:ext>
            </a:extLst>
          </p:cNvPr>
          <p:cNvSpPr txBox="1"/>
          <p:nvPr/>
        </p:nvSpPr>
        <p:spPr>
          <a:xfrm>
            <a:off x="485617" y="2423357"/>
            <a:ext cx="2486884" cy="276999"/>
          </a:xfrm>
          <a:prstGeom prst="rect">
            <a:avLst/>
          </a:prstGeom>
          <a:noFill/>
        </p:spPr>
        <p:txBody>
          <a:bodyPr wrap="square">
            <a:spAutoFit/>
          </a:bodyPr>
          <a:lstStyle/>
          <a:p>
            <a:pPr marL="285750" indent="-285750">
              <a:buFont typeface="Wingdings" panose="05000000000000000000" pitchFamily="2" charset="2"/>
              <a:buChar char="Ø"/>
            </a:pPr>
            <a:r>
              <a:rPr lang="zh-CN" altLang="en-US" sz="1200" dirty="0">
                <a:solidFill>
                  <a:prstClr val="black"/>
                </a:solidFill>
                <a:latin typeface="微软雅黑" panose="020B0503020204020204" pitchFamily="34" charset="-122"/>
                <a:ea typeface="微软雅黑" panose="020B0503020204020204" pitchFamily="34" charset="-122"/>
              </a:rPr>
              <a:t>Sensitive to few sampie</a:t>
            </a:r>
          </a:p>
        </p:txBody>
      </p:sp>
      <p:sp>
        <p:nvSpPr>
          <p:cNvPr id="60" name="文本框 59">
            <a:extLst>
              <a:ext uri="{FF2B5EF4-FFF2-40B4-BE49-F238E27FC236}">
                <a16:creationId xmlns:a16="http://schemas.microsoft.com/office/drawing/2014/main" id="{F9E82F34-4BD5-F9F3-0E36-24637AA410B1}"/>
              </a:ext>
            </a:extLst>
          </p:cNvPr>
          <p:cNvSpPr txBox="1"/>
          <p:nvPr/>
        </p:nvSpPr>
        <p:spPr>
          <a:xfrm>
            <a:off x="485617" y="2691875"/>
            <a:ext cx="2486884" cy="276999"/>
          </a:xfrm>
          <a:prstGeom prst="rect">
            <a:avLst/>
          </a:prstGeom>
          <a:noFill/>
        </p:spPr>
        <p:txBody>
          <a:bodyPr wrap="square">
            <a:spAutoFit/>
          </a:bodyPr>
          <a:lstStyle/>
          <a:p>
            <a:pPr marL="285750" indent="-285750">
              <a:buFont typeface="Wingdings" panose="05000000000000000000" pitchFamily="2" charset="2"/>
              <a:buChar char="Ø"/>
            </a:pPr>
            <a:r>
              <a:rPr lang="en-US" altLang="zh-CN" sz="1200" dirty="0">
                <a:solidFill>
                  <a:prstClr val="black"/>
                </a:solidFill>
                <a:latin typeface="微软雅黑" panose="020B0503020204020204" pitchFamily="34" charset="-122"/>
                <a:ea typeface="微软雅黑" panose="020B0503020204020204" pitchFamily="34" charset="-122"/>
              </a:rPr>
              <a:t>Specific enhancement</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61" name="文本框 60">
            <a:extLst>
              <a:ext uri="{FF2B5EF4-FFF2-40B4-BE49-F238E27FC236}">
                <a16:creationId xmlns:a16="http://schemas.microsoft.com/office/drawing/2014/main" id="{1246AC78-7BF7-6891-4127-BE044FE9A664}"/>
              </a:ext>
            </a:extLst>
          </p:cNvPr>
          <p:cNvSpPr txBox="1"/>
          <p:nvPr/>
        </p:nvSpPr>
        <p:spPr>
          <a:xfrm>
            <a:off x="485617" y="2935085"/>
            <a:ext cx="2474378" cy="307777"/>
          </a:xfrm>
          <a:prstGeom prst="rect">
            <a:avLst/>
          </a:prstGeom>
          <a:noFill/>
        </p:spPr>
        <p:txBody>
          <a:bodyPr wrap="square">
            <a:spAutoFit/>
          </a:bodyPr>
          <a:lstStyle/>
          <a:p>
            <a:r>
              <a:rPr lang="en-US" altLang="zh-CN" sz="1400" dirty="0">
                <a:solidFill>
                  <a:schemeClr val="accent1"/>
                </a:solidFill>
                <a:latin typeface="微软雅黑" panose="020B0503020204020204" pitchFamily="34" charset="-122"/>
                <a:ea typeface="微软雅黑" panose="020B0503020204020204" pitchFamily="34" charset="-122"/>
              </a:rPr>
              <a:t>(2) Agents</a:t>
            </a:r>
            <a:endParaRPr lang="zh-CN" altLang="en-US" sz="1400" dirty="0">
              <a:solidFill>
                <a:schemeClr val="accent1"/>
              </a:solidFill>
              <a:latin typeface="微软雅黑" panose="020B0503020204020204" pitchFamily="34" charset="-122"/>
              <a:ea typeface="微软雅黑" panose="020B0503020204020204" pitchFamily="34" charset="-122"/>
            </a:endParaRPr>
          </a:p>
        </p:txBody>
      </p:sp>
      <p:sp>
        <p:nvSpPr>
          <p:cNvPr id="62" name="文本框 61">
            <a:extLst>
              <a:ext uri="{FF2B5EF4-FFF2-40B4-BE49-F238E27FC236}">
                <a16:creationId xmlns:a16="http://schemas.microsoft.com/office/drawing/2014/main" id="{FC15612B-7E1F-0F54-CA7B-0DCE6DDCBDD4}"/>
              </a:ext>
            </a:extLst>
          </p:cNvPr>
          <p:cNvSpPr txBox="1"/>
          <p:nvPr/>
        </p:nvSpPr>
        <p:spPr>
          <a:xfrm>
            <a:off x="485617" y="3257176"/>
            <a:ext cx="2486884" cy="276999"/>
          </a:xfrm>
          <a:prstGeom prst="rect">
            <a:avLst/>
          </a:prstGeom>
          <a:noFill/>
        </p:spPr>
        <p:txBody>
          <a:bodyPr wrap="square">
            <a:spAutoFit/>
          </a:bodyPr>
          <a:lstStyle/>
          <a:p>
            <a:pPr marL="285750" indent="-285750">
              <a:buFont typeface="Wingdings" panose="05000000000000000000" pitchFamily="2" charset="2"/>
              <a:buChar char="Ø"/>
            </a:pPr>
            <a:r>
              <a:rPr lang="en-US" altLang="zh-CN" sz="1200" dirty="0">
                <a:solidFill>
                  <a:prstClr val="black"/>
                </a:solidFill>
                <a:latin typeface="微软雅黑" panose="020B0503020204020204" pitchFamily="34" charset="-122"/>
                <a:ea typeface="微软雅黑" panose="020B0503020204020204" pitchFamily="34" charset="-122"/>
              </a:rPr>
              <a:t>Specific enhancement</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63" name="文本框 62">
            <a:extLst>
              <a:ext uri="{FF2B5EF4-FFF2-40B4-BE49-F238E27FC236}">
                <a16:creationId xmlns:a16="http://schemas.microsoft.com/office/drawing/2014/main" id="{290C8F55-AADE-3D58-4658-D557F50B51F6}"/>
              </a:ext>
            </a:extLst>
          </p:cNvPr>
          <p:cNvSpPr txBox="1"/>
          <p:nvPr/>
        </p:nvSpPr>
        <p:spPr>
          <a:xfrm>
            <a:off x="3028360" y="2142325"/>
            <a:ext cx="2474378" cy="307777"/>
          </a:xfrm>
          <a:prstGeom prst="rect">
            <a:avLst/>
          </a:prstGeom>
          <a:noFill/>
        </p:spPr>
        <p:txBody>
          <a:bodyPr wrap="square">
            <a:spAutoFit/>
          </a:bodyPr>
          <a:lstStyle/>
          <a:p>
            <a:r>
              <a:rPr lang="en-US" altLang="zh-CN" sz="1400" dirty="0">
                <a:solidFill>
                  <a:schemeClr val="accent1"/>
                </a:solidFill>
                <a:latin typeface="微软雅黑" panose="020B0503020204020204" pitchFamily="34" charset="-122"/>
                <a:ea typeface="微软雅黑" panose="020B0503020204020204" pitchFamily="34" charset="-122"/>
              </a:rPr>
              <a:t>(3) Metamaterials</a:t>
            </a:r>
            <a:endParaRPr lang="zh-CN" altLang="en-US" sz="1400" dirty="0">
              <a:solidFill>
                <a:schemeClr val="accent1"/>
              </a:solidFill>
              <a:latin typeface="微软雅黑" panose="020B0503020204020204" pitchFamily="34" charset="-122"/>
              <a:ea typeface="微软雅黑" panose="020B0503020204020204" pitchFamily="34" charset="-122"/>
            </a:endParaRPr>
          </a:p>
        </p:txBody>
      </p:sp>
      <p:sp>
        <p:nvSpPr>
          <p:cNvPr id="64" name="文本框 63">
            <a:extLst>
              <a:ext uri="{FF2B5EF4-FFF2-40B4-BE49-F238E27FC236}">
                <a16:creationId xmlns:a16="http://schemas.microsoft.com/office/drawing/2014/main" id="{8E8571E9-ADA9-FD8C-CA2B-954D8157F78D}"/>
              </a:ext>
            </a:extLst>
          </p:cNvPr>
          <p:cNvSpPr txBox="1"/>
          <p:nvPr/>
        </p:nvSpPr>
        <p:spPr>
          <a:xfrm>
            <a:off x="3021783" y="2423357"/>
            <a:ext cx="2486884" cy="276999"/>
          </a:xfrm>
          <a:prstGeom prst="rect">
            <a:avLst/>
          </a:prstGeom>
          <a:noFill/>
        </p:spPr>
        <p:txBody>
          <a:bodyPr wrap="square">
            <a:spAutoFit/>
          </a:bodyPr>
          <a:lstStyle/>
          <a:p>
            <a:pPr marL="285750" indent="-285750">
              <a:buFont typeface="Wingdings" panose="05000000000000000000" pitchFamily="2" charset="2"/>
              <a:buChar char="Ø"/>
            </a:pPr>
            <a:r>
              <a:rPr lang="en-US" altLang="zh-CN" sz="1200" dirty="0">
                <a:solidFill>
                  <a:prstClr val="black"/>
                </a:solidFill>
                <a:latin typeface="微软雅黑" panose="020B0503020204020204" pitchFamily="34" charset="-122"/>
                <a:ea typeface="微软雅黑" panose="020B0503020204020204" pitchFamily="34" charset="-122"/>
              </a:rPr>
              <a:t>Sensitive</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65" name="文本框 64">
            <a:extLst>
              <a:ext uri="{FF2B5EF4-FFF2-40B4-BE49-F238E27FC236}">
                <a16:creationId xmlns:a16="http://schemas.microsoft.com/office/drawing/2014/main" id="{643AC317-133A-25D7-88B5-1078C56D51FC}"/>
              </a:ext>
            </a:extLst>
          </p:cNvPr>
          <p:cNvSpPr txBox="1"/>
          <p:nvPr/>
        </p:nvSpPr>
        <p:spPr>
          <a:xfrm>
            <a:off x="3028360" y="2885972"/>
            <a:ext cx="2495558" cy="307777"/>
          </a:xfrm>
          <a:prstGeom prst="rect">
            <a:avLst/>
          </a:prstGeom>
          <a:noFill/>
        </p:spPr>
        <p:txBody>
          <a:bodyPr wrap="square">
            <a:spAutoFit/>
          </a:bodyPr>
          <a:lstStyle>
            <a:defPPr>
              <a:defRPr lang="zh-CN"/>
            </a:defPPr>
            <a:lvl1pPr>
              <a:defRPr sz="1600">
                <a:solidFill>
                  <a:srgbClr val="C00000"/>
                </a:solidFill>
              </a:defRPr>
            </a:lvl1pPr>
          </a:lstStyle>
          <a:p>
            <a:r>
              <a:rPr lang="en-US" altLang="zh-CN" sz="1400" dirty="0">
                <a:solidFill>
                  <a:schemeClr val="accent1"/>
                </a:solidFill>
                <a:latin typeface="微软雅黑" panose="020B0503020204020204" pitchFamily="34" charset="-122"/>
                <a:ea typeface="微软雅黑" panose="020B0503020204020204" pitchFamily="34" charset="-122"/>
              </a:rPr>
              <a:t>(4)</a:t>
            </a:r>
            <a:r>
              <a:rPr lang="zh-CN" altLang="en-US" sz="1400" dirty="0">
                <a:solidFill>
                  <a:schemeClr val="accent1"/>
                </a:solidFill>
                <a:latin typeface="微软雅黑" panose="020B0503020204020204" pitchFamily="34" charset="-122"/>
                <a:ea typeface="微软雅黑" panose="020B0503020204020204" pitchFamily="34" charset="-122"/>
              </a:rPr>
              <a:t>frequency fixed:</a:t>
            </a:r>
          </a:p>
        </p:txBody>
      </p:sp>
      <p:sp>
        <p:nvSpPr>
          <p:cNvPr id="66" name="文本框 65">
            <a:extLst>
              <a:ext uri="{FF2B5EF4-FFF2-40B4-BE49-F238E27FC236}">
                <a16:creationId xmlns:a16="http://schemas.microsoft.com/office/drawing/2014/main" id="{25B54BD7-D11B-9D70-86F6-6F08B7FDBD55}"/>
              </a:ext>
            </a:extLst>
          </p:cNvPr>
          <p:cNvSpPr txBox="1"/>
          <p:nvPr/>
        </p:nvSpPr>
        <p:spPr>
          <a:xfrm>
            <a:off x="3021783" y="3232568"/>
            <a:ext cx="3074217" cy="276999"/>
          </a:xfrm>
          <a:prstGeom prst="rect">
            <a:avLst/>
          </a:prstGeom>
          <a:noFill/>
        </p:spPr>
        <p:txBody>
          <a:bodyPr wrap="square">
            <a:spAutoFit/>
          </a:bodyPr>
          <a:lstStyle>
            <a:defPPr>
              <a:defRPr lang="zh-CN"/>
            </a:defPPr>
            <a:lvl1pPr marL="285750" indent="-285750">
              <a:buFont typeface="Wingdings" panose="05000000000000000000" pitchFamily="2" charset="2"/>
              <a:buChar char="Ø"/>
              <a:defRPr sz="1400">
                <a:latin typeface="+mn-ea"/>
              </a:defRPr>
            </a:lvl1pPr>
          </a:lstStyle>
          <a:p>
            <a:r>
              <a:rPr lang="zh-CN" altLang="en-US" sz="1200" dirty="0">
                <a:solidFill>
                  <a:prstClr val="black"/>
                </a:solidFill>
                <a:latin typeface="微软雅黑" panose="020B0503020204020204" pitchFamily="34" charset="-122"/>
                <a:ea typeface="微软雅黑" panose="020B0503020204020204" pitchFamily="34" charset="-122"/>
              </a:rPr>
              <a:t>Qualitative identification</a:t>
            </a:r>
          </a:p>
        </p:txBody>
      </p:sp>
      <p:sp>
        <p:nvSpPr>
          <p:cNvPr id="67" name="箭头: 下 66">
            <a:extLst>
              <a:ext uri="{FF2B5EF4-FFF2-40B4-BE49-F238E27FC236}">
                <a16:creationId xmlns:a16="http://schemas.microsoft.com/office/drawing/2014/main" id="{8D0786D6-2B6F-C268-AD1A-4DB1AB47D108}"/>
              </a:ext>
            </a:extLst>
          </p:cNvPr>
          <p:cNvSpPr/>
          <p:nvPr/>
        </p:nvSpPr>
        <p:spPr>
          <a:xfrm rot="10800000">
            <a:off x="1361403" y="3574467"/>
            <a:ext cx="350162" cy="248010"/>
          </a:xfrm>
          <a:prstGeom prst="downArrow">
            <a:avLst/>
          </a:prstGeom>
          <a:gradFill>
            <a:gsLst>
              <a:gs pos="0">
                <a:schemeClr val="accent1">
                  <a:alpha val="0"/>
                </a:schemeClr>
              </a:gs>
              <a:gs pos="100000">
                <a:schemeClr val="accent1"/>
              </a:gs>
            </a:gsLst>
            <a:lin ang="5400000" scaled="1"/>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68" name="文本框 67">
            <a:extLst>
              <a:ext uri="{FF2B5EF4-FFF2-40B4-BE49-F238E27FC236}">
                <a16:creationId xmlns:a16="http://schemas.microsoft.com/office/drawing/2014/main" id="{3F295CF2-A0F9-0CE1-2A7E-F2BDEFDB0ECC}"/>
              </a:ext>
            </a:extLst>
          </p:cNvPr>
          <p:cNvSpPr txBox="1"/>
          <p:nvPr/>
        </p:nvSpPr>
        <p:spPr>
          <a:xfrm>
            <a:off x="578351" y="4016831"/>
            <a:ext cx="1916267" cy="276999"/>
          </a:xfrm>
          <a:prstGeom prst="rect">
            <a:avLst/>
          </a:prstGeom>
          <a:noFill/>
        </p:spPr>
        <p:txBody>
          <a:bodyPr wrap="square">
            <a:spAutoFit/>
          </a:bodyPr>
          <a:lstStyle/>
          <a:p>
            <a:pPr algn="ctr"/>
            <a:r>
              <a:rPr lang="zh-CN" altLang="en-US" sz="1200" dirty="0">
                <a:solidFill>
                  <a:prstClr val="black"/>
                </a:solidFill>
                <a:latin typeface="微软雅黑" panose="020B0503020204020204" pitchFamily="34" charset="-122"/>
                <a:ea typeface="微软雅黑" panose="020B0503020204020204" pitchFamily="34" charset="-122"/>
              </a:rPr>
              <a:t>Biomedical Sample</a:t>
            </a:r>
          </a:p>
        </p:txBody>
      </p:sp>
      <p:sp>
        <p:nvSpPr>
          <p:cNvPr id="69" name="矩形: 圆角 68">
            <a:extLst>
              <a:ext uri="{FF2B5EF4-FFF2-40B4-BE49-F238E27FC236}">
                <a16:creationId xmlns:a16="http://schemas.microsoft.com/office/drawing/2014/main" id="{C7D138E2-D1DF-E970-AEB6-0F1F3C0AC5C9}"/>
              </a:ext>
            </a:extLst>
          </p:cNvPr>
          <p:cNvSpPr/>
          <p:nvPr/>
        </p:nvSpPr>
        <p:spPr>
          <a:xfrm>
            <a:off x="3355852" y="3981162"/>
            <a:ext cx="1916267" cy="379114"/>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70" name="文本框 69">
            <a:extLst>
              <a:ext uri="{FF2B5EF4-FFF2-40B4-BE49-F238E27FC236}">
                <a16:creationId xmlns:a16="http://schemas.microsoft.com/office/drawing/2014/main" id="{4E98E138-CA41-BDEB-90F5-A05A3CC9B4D2}"/>
              </a:ext>
            </a:extLst>
          </p:cNvPr>
          <p:cNvSpPr txBox="1"/>
          <p:nvPr/>
        </p:nvSpPr>
        <p:spPr>
          <a:xfrm>
            <a:off x="3302252" y="4016831"/>
            <a:ext cx="1916267" cy="276999"/>
          </a:xfrm>
          <a:prstGeom prst="rect">
            <a:avLst/>
          </a:prstGeom>
          <a:noFill/>
        </p:spPr>
        <p:txBody>
          <a:bodyPr wrap="square">
            <a:spAutoFit/>
          </a:bodyPr>
          <a:lstStyle>
            <a:defPPr>
              <a:defRPr lang="zh-CN"/>
            </a:defPPr>
            <a:lvl1pPr algn="ctr">
              <a:defRPr sz="1600"/>
            </a:lvl1pPr>
          </a:lstStyle>
          <a:p>
            <a:r>
              <a:rPr lang="zh-CN" altLang="en-US" sz="1200" dirty="0">
                <a:solidFill>
                  <a:prstClr val="black"/>
                </a:solidFill>
                <a:latin typeface="微软雅黑" panose="020B0503020204020204" pitchFamily="34" charset="-122"/>
                <a:ea typeface="微软雅黑" panose="020B0503020204020204" pitchFamily="34" charset="-122"/>
              </a:rPr>
              <a:t>Data analysis</a:t>
            </a:r>
          </a:p>
        </p:txBody>
      </p:sp>
      <p:sp>
        <p:nvSpPr>
          <p:cNvPr id="71" name="矩形: 圆角 70">
            <a:extLst>
              <a:ext uri="{FF2B5EF4-FFF2-40B4-BE49-F238E27FC236}">
                <a16:creationId xmlns:a16="http://schemas.microsoft.com/office/drawing/2014/main" id="{3FC67FE7-1AD2-E1B7-F25D-B162217666AA}"/>
              </a:ext>
            </a:extLst>
          </p:cNvPr>
          <p:cNvSpPr/>
          <p:nvPr/>
        </p:nvSpPr>
        <p:spPr>
          <a:xfrm>
            <a:off x="578351" y="4525954"/>
            <a:ext cx="1916267" cy="379114"/>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72" name="文本框 71">
            <a:extLst>
              <a:ext uri="{FF2B5EF4-FFF2-40B4-BE49-F238E27FC236}">
                <a16:creationId xmlns:a16="http://schemas.microsoft.com/office/drawing/2014/main" id="{20F6401F-6532-57C3-4DE6-971C8C9E4CD5}"/>
              </a:ext>
            </a:extLst>
          </p:cNvPr>
          <p:cNvSpPr txBox="1"/>
          <p:nvPr/>
        </p:nvSpPr>
        <p:spPr>
          <a:xfrm>
            <a:off x="578351" y="4561623"/>
            <a:ext cx="1916267" cy="276999"/>
          </a:xfrm>
          <a:prstGeom prst="rect">
            <a:avLst/>
          </a:prstGeom>
          <a:noFill/>
        </p:spPr>
        <p:txBody>
          <a:bodyPr wrap="square">
            <a:spAutoFit/>
          </a:bodyPr>
          <a:lstStyle/>
          <a:p>
            <a:pPr algn="ctr"/>
            <a:r>
              <a:rPr lang="en-US" altLang="zh-CN" sz="1200" dirty="0">
                <a:solidFill>
                  <a:prstClr val="black"/>
                </a:solidFill>
                <a:latin typeface="微软雅黑" panose="020B0503020204020204" pitchFamily="34" charset="-122"/>
                <a:ea typeface="微软雅黑" panose="020B0503020204020204" pitchFamily="34" charset="-122"/>
              </a:rPr>
              <a:t>THz system</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73" name="箭头: 下 72">
            <a:extLst>
              <a:ext uri="{FF2B5EF4-FFF2-40B4-BE49-F238E27FC236}">
                <a16:creationId xmlns:a16="http://schemas.microsoft.com/office/drawing/2014/main" id="{7FB7075A-330E-BF7D-A75A-E772C179A9B4}"/>
              </a:ext>
            </a:extLst>
          </p:cNvPr>
          <p:cNvSpPr/>
          <p:nvPr/>
        </p:nvSpPr>
        <p:spPr>
          <a:xfrm rot="10800000" flipV="1">
            <a:off x="4138905" y="4382888"/>
            <a:ext cx="350162" cy="248010"/>
          </a:xfrm>
          <a:prstGeom prst="downArrow">
            <a:avLst/>
          </a:prstGeom>
          <a:gradFill>
            <a:gsLst>
              <a:gs pos="0">
                <a:schemeClr val="accent1">
                  <a:alpha val="0"/>
                </a:schemeClr>
              </a:gs>
              <a:gs pos="100000">
                <a:schemeClr val="accent1"/>
              </a:gs>
            </a:gsLst>
            <a:lin ang="5400000" scaled="1"/>
          </a:gradFill>
          <a:ln w="19050" cap="flat" cmpd="sng" algn="ctr">
            <a:noFill/>
            <a:prstDash val="solid"/>
            <a:miter lim="800000"/>
          </a:ln>
          <a:effectLst/>
        </p:spPr>
        <p:txBody>
          <a:bodyPr rtlCol="0" anchor="ctr"/>
          <a:lstStyle/>
          <a:p>
            <a:pPr algn="ctr"/>
            <a:endParaRPr lang="zh-CN" altLang="en-US" sz="1600" kern="0" dirty="0">
              <a:solidFill>
                <a:prstClr val="white"/>
              </a:solidFill>
              <a:latin typeface="Arial" panose="020B0604020202020204" pitchFamily="34" charset="0"/>
              <a:ea typeface="微软雅黑" panose="020B0503020204020204" pitchFamily="34" charset="-122"/>
            </a:endParaRPr>
          </a:p>
        </p:txBody>
      </p:sp>
      <p:sp>
        <p:nvSpPr>
          <p:cNvPr id="74" name="矩形: 圆角 73">
            <a:extLst>
              <a:ext uri="{FF2B5EF4-FFF2-40B4-BE49-F238E27FC236}">
                <a16:creationId xmlns:a16="http://schemas.microsoft.com/office/drawing/2014/main" id="{1B7A5064-1B2B-691F-C1E9-87078D8D611D}"/>
              </a:ext>
            </a:extLst>
          </p:cNvPr>
          <p:cNvSpPr/>
          <p:nvPr/>
        </p:nvSpPr>
        <p:spPr>
          <a:xfrm>
            <a:off x="3355852" y="4648645"/>
            <a:ext cx="1916267" cy="793110"/>
          </a:xfrm>
          <a:prstGeom prst="roundRect">
            <a:avLst>
              <a:gd name="adj" fmla="val 1200"/>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75" name="文本框 74">
            <a:extLst>
              <a:ext uri="{FF2B5EF4-FFF2-40B4-BE49-F238E27FC236}">
                <a16:creationId xmlns:a16="http://schemas.microsoft.com/office/drawing/2014/main" id="{D6843471-6F82-D4C6-EABC-0359C9BBD5B7}"/>
              </a:ext>
            </a:extLst>
          </p:cNvPr>
          <p:cNvSpPr txBox="1"/>
          <p:nvPr/>
        </p:nvSpPr>
        <p:spPr>
          <a:xfrm>
            <a:off x="3355852" y="4652333"/>
            <a:ext cx="1916267" cy="307777"/>
          </a:xfrm>
          <a:prstGeom prst="rect">
            <a:avLst/>
          </a:prstGeom>
          <a:noFill/>
        </p:spPr>
        <p:txBody>
          <a:bodyPr wrap="square">
            <a:spAutoFit/>
          </a:bodyPr>
          <a:lstStyle/>
          <a:p>
            <a:pPr algn="ctr"/>
            <a:r>
              <a:rPr lang="en-US" altLang="zh-CN" sz="1400" dirty="0">
                <a:solidFill>
                  <a:schemeClr val="accent1"/>
                </a:solidFill>
                <a:latin typeface="微软雅黑" panose="020B0503020204020204" pitchFamily="34" charset="-122"/>
                <a:ea typeface="微软雅黑" panose="020B0503020204020204" pitchFamily="34" charset="-122"/>
              </a:rPr>
              <a:t>Agents</a:t>
            </a:r>
            <a:endParaRPr lang="zh-CN" altLang="en-US" sz="1400" dirty="0">
              <a:solidFill>
                <a:schemeClr val="accent1"/>
              </a:solidFill>
              <a:latin typeface="微软雅黑" panose="020B0503020204020204" pitchFamily="34" charset="-122"/>
              <a:ea typeface="微软雅黑" panose="020B0503020204020204" pitchFamily="34" charset="-122"/>
            </a:endParaRPr>
          </a:p>
        </p:txBody>
      </p:sp>
      <p:sp>
        <p:nvSpPr>
          <p:cNvPr id="76" name="文本框 75">
            <a:extLst>
              <a:ext uri="{FF2B5EF4-FFF2-40B4-BE49-F238E27FC236}">
                <a16:creationId xmlns:a16="http://schemas.microsoft.com/office/drawing/2014/main" id="{8BE36529-8D9E-752C-B960-AEBA8D0B6710}"/>
              </a:ext>
            </a:extLst>
          </p:cNvPr>
          <p:cNvSpPr txBox="1"/>
          <p:nvPr/>
        </p:nvSpPr>
        <p:spPr>
          <a:xfrm>
            <a:off x="3355852" y="4909587"/>
            <a:ext cx="1916267" cy="461665"/>
          </a:xfrm>
          <a:prstGeom prst="rect">
            <a:avLst/>
          </a:prstGeom>
          <a:noFill/>
        </p:spPr>
        <p:txBody>
          <a:bodyPr wrap="square">
            <a:spAutoFit/>
          </a:bodyPr>
          <a:lstStyle>
            <a:defPPr>
              <a:defRPr lang="zh-CN"/>
            </a:defPPr>
            <a:lvl1pPr indent="0">
              <a:buFont typeface="Wingdings" panose="05000000000000000000" pitchFamily="2" charset="2"/>
              <a:buNone/>
              <a:defRPr sz="1400">
                <a:latin typeface="+mn-ea"/>
              </a:defRPr>
            </a:lvl1pPr>
          </a:lstStyle>
          <a:p>
            <a:pPr algn="ctr"/>
            <a:r>
              <a:rPr lang="en-US" altLang="zh-CN" sz="1200" dirty="0">
                <a:solidFill>
                  <a:prstClr val="black"/>
                </a:solidFill>
                <a:latin typeface="微软雅黑" panose="020B0503020204020204" pitchFamily="34" charset="-122"/>
                <a:ea typeface="微软雅黑" panose="020B0503020204020204" pitchFamily="34" charset="-122"/>
              </a:rPr>
              <a:t>Noise reduction</a:t>
            </a:r>
          </a:p>
          <a:p>
            <a:pPr algn="ctr"/>
            <a:r>
              <a:rPr lang="en-US" altLang="zh-CN" sz="1200" dirty="0">
                <a:solidFill>
                  <a:prstClr val="black"/>
                </a:solidFill>
                <a:latin typeface="微软雅黑" panose="020B0503020204020204" pitchFamily="34" charset="-122"/>
                <a:ea typeface="微软雅黑" panose="020B0503020204020204" pitchFamily="34" charset="-122"/>
              </a:rPr>
              <a:t>Information lose</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121" name="箭头: 下 120">
            <a:extLst>
              <a:ext uri="{FF2B5EF4-FFF2-40B4-BE49-F238E27FC236}">
                <a16:creationId xmlns:a16="http://schemas.microsoft.com/office/drawing/2014/main" id="{423D9DDC-5CF7-591A-EC9A-6DBF49C6E58A}"/>
              </a:ext>
            </a:extLst>
          </p:cNvPr>
          <p:cNvSpPr/>
          <p:nvPr/>
        </p:nvSpPr>
        <p:spPr>
          <a:xfrm rot="10800000" flipV="1">
            <a:off x="1237914" y="5050360"/>
            <a:ext cx="597140" cy="422938"/>
          </a:xfrm>
          <a:prstGeom prst="downArrow">
            <a:avLst/>
          </a:prstGeom>
          <a:gradFill>
            <a:gsLst>
              <a:gs pos="0">
                <a:schemeClr val="accent1">
                  <a:alpha val="0"/>
                </a:schemeClr>
              </a:gs>
              <a:gs pos="100000">
                <a:schemeClr val="accent1"/>
              </a:gs>
            </a:gsLst>
            <a:lin ang="5400000" scaled="1"/>
          </a:gradFill>
          <a:ln w="19050" cap="flat" cmpd="sng" algn="ctr">
            <a:noFill/>
            <a:prstDash val="solid"/>
            <a:miter lim="800000"/>
          </a:ln>
          <a:effectLst/>
        </p:spPr>
        <p:txBody>
          <a:bodyPr rtlCol="0" anchor="ctr"/>
          <a:lstStyle/>
          <a:p>
            <a:pPr algn="ctr"/>
            <a:endParaRPr lang="zh-CN" altLang="en-US" sz="1600" kern="0" dirty="0">
              <a:solidFill>
                <a:prstClr val="white"/>
              </a:solidFill>
              <a:latin typeface="Arial" panose="020B0604020202020204" pitchFamily="34" charset="0"/>
              <a:ea typeface="微软雅黑" panose="020B0503020204020204" pitchFamily="34" charset="-122"/>
            </a:endParaRPr>
          </a:p>
        </p:txBody>
      </p:sp>
      <p:sp>
        <p:nvSpPr>
          <p:cNvPr id="122" name="文本框 121">
            <a:extLst>
              <a:ext uri="{FF2B5EF4-FFF2-40B4-BE49-F238E27FC236}">
                <a16:creationId xmlns:a16="http://schemas.microsoft.com/office/drawing/2014/main" id="{6BB10EF8-1428-43FF-2021-97743BD434FE}"/>
              </a:ext>
            </a:extLst>
          </p:cNvPr>
          <p:cNvSpPr txBox="1"/>
          <p:nvPr/>
        </p:nvSpPr>
        <p:spPr>
          <a:xfrm>
            <a:off x="565845" y="5684994"/>
            <a:ext cx="2474378" cy="307777"/>
          </a:xfrm>
          <a:prstGeom prst="rect">
            <a:avLst/>
          </a:prstGeom>
          <a:noFill/>
        </p:spPr>
        <p:txBody>
          <a:bodyPr wrap="square">
            <a:spAutoFit/>
          </a:bodyPr>
          <a:lstStyle/>
          <a:p>
            <a:r>
              <a:rPr lang="en-US" altLang="zh-CN" sz="1400" dirty="0">
                <a:solidFill>
                  <a:schemeClr val="accent1"/>
                </a:solidFill>
                <a:latin typeface="Arial" panose="020B0604020202020204" pitchFamily="34" charset="0"/>
                <a:ea typeface="微软雅黑" panose="020B0503020204020204" pitchFamily="34" charset="-122"/>
              </a:rPr>
              <a:t>System optimization</a:t>
            </a:r>
          </a:p>
        </p:txBody>
      </p:sp>
      <p:sp>
        <p:nvSpPr>
          <p:cNvPr id="123" name="文本框 122">
            <a:extLst>
              <a:ext uri="{FF2B5EF4-FFF2-40B4-BE49-F238E27FC236}">
                <a16:creationId xmlns:a16="http://schemas.microsoft.com/office/drawing/2014/main" id="{1C9AE5B0-8835-9E3B-2867-D5DCA3EE404A}"/>
              </a:ext>
            </a:extLst>
          </p:cNvPr>
          <p:cNvSpPr txBox="1"/>
          <p:nvPr/>
        </p:nvSpPr>
        <p:spPr>
          <a:xfrm>
            <a:off x="565845" y="6005171"/>
            <a:ext cx="2486884" cy="276999"/>
          </a:xfrm>
          <a:prstGeom prst="rect">
            <a:avLst/>
          </a:prstGeom>
          <a:noFill/>
        </p:spPr>
        <p:txBody>
          <a:bodyPr wrap="square">
            <a:spAutoFit/>
          </a:bodyPr>
          <a:lstStyle/>
          <a:p>
            <a:pPr marL="285750" indent="-285750">
              <a:buFont typeface="Wingdings" panose="05000000000000000000" pitchFamily="2" charset="2"/>
              <a:buChar char="Ø"/>
            </a:pPr>
            <a:r>
              <a:rPr lang="en-US" altLang="zh-CN" sz="1200" dirty="0">
                <a:solidFill>
                  <a:prstClr val="black"/>
                </a:solidFill>
                <a:latin typeface="微软雅黑" panose="020B0503020204020204" pitchFamily="34" charset="-122"/>
                <a:ea typeface="微软雅黑" panose="020B0503020204020204" pitchFamily="34" charset="-122"/>
              </a:rPr>
              <a:t>Direct enhancement</a:t>
            </a:r>
          </a:p>
        </p:txBody>
      </p:sp>
      <p:sp>
        <p:nvSpPr>
          <p:cNvPr id="124" name="文本框 123">
            <a:extLst>
              <a:ext uri="{FF2B5EF4-FFF2-40B4-BE49-F238E27FC236}">
                <a16:creationId xmlns:a16="http://schemas.microsoft.com/office/drawing/2014/main" id="{31DFAFCA-996E-E6F1-C9B4-ACAB3384B2CF}"/>
              </a:ext>
            </a:extLst>
          </p:cNvPr>
          <p:cNvSpPr txBox="1"/>
          <p:nvPr/>
        </p:nvSpPr>
        <p:spPr>
          <a:xfrm>
            <a:off x="2895462" y="6005171"/>
            <a:ext cx="2628456" cy="461665"/>
          </a:xfrm>
          <a:prstGeom prst="rect">
            <a:avLst/>
          </a:prstGeom>
          <a:noFill/>
        </p:spPr>
        <p:txBody>
          <a:bodyPr wrap="square">
            <a:spAutoFit/>
          </a:bodyPr>
          <a:lstStyle/>
          <a:p>
            <a:pPr marL="285750" indent="-285750" algn="just">
              <a:buFont typeface="Wingdings" panose="05000000000000000000" pitchFamily="2" charset="2"/>
              <a:buChar char="Ø"/>
            </a:pPr>
            <a:r>
              <a:rPr lang="en-US" altLang="zh-CN" sz="1200" dirty="0">
                <a:solidFill>
                  <a:prstClr val="black"/>
                </a:solidFill>
                <a:latin typeface="微软雅黑" panose="020B0503020204020204" pitchFamily="34" charset="-122"/>
                <a:ea typeface="微软雅黑" panose="020B0503020204020204" pitchFamily="34" charset="-122"/>
              </a:rPr>
              <a:t>Still not enough for </a:t>
            </a:r>
            <a:r>
              <a:rPr lang="en-US" altLang="zh-CN" sz="1200" dirty="0" err="1">
                <a:solidFill>
                  <a:prstClr val="black"/>
                </a:solidFill>
                <a:latin typeface="微软雅黑" panose="020B0503020204020204" pitchFamily="34" charset="-122"/>
                <a:ea typeface="微软雅黑" panose="020B0503020204020204" pitchFamily="34" charset="-122"/>
              </a:rPr>
              <a:t>bio·detection</a:t>
            </a:r>
            <a:endParaRPr lang="zh-CN" altLang="en-US" sz="1200" dirty="0">
              <a:solidFill>
                <a:prstClr val="black"/>
              </a:solidFill>
              <a:latin typeface="微软雅黑" panose="020B0503020204020204" pitchFamily="34" charset="-122"/>
              <a:ea typeface="微软雅黑" panose="020B0503020204020204" pitchFamily="34" charset="-122"/>
            </a:endParaRPr>
          </a:p>
        </p:txBody>
      </p:sp>
      <p:sp>
        <p:nvSpPr>
          <p:cNvPr id="125" name="矩形: 圆角 124">
            <a:extLst>
              <a:ext uri="{FF2B5EF4-FFF2-40B4-BE49-F238E27FC236}">
                <a16:creationId xmlns:a16="http://schemas.microsoft.com/office/drawing/2014/main" id="{AB84A479-7AB4-5A6A-976D-57554E4D6528}"/>
              </a:ext>
            </a:extLst>
          </p:cNvPr>
          <p:cNvSpPr>
            <a:spLocks/>
          </p:cNvSpPr>
          <p:nvPr/>
        </p:nvSpPr>
        <p:spPr>
          <a:xfrm>
            <a:off x="5802901" y="2097528"/>
            <a:ext cx="5946187" cy="2285360"/>
          </a:xfrm>
          <a:prstGeom prst="roundRect">
            <a:avLst>
              <a:gd name="adj" fmla="val 625"/>
            </a:avLst>
          </a:prstGeom>
          <a:solidFill>
            <a:schemeClr val="accent3">
              <a:alpha val="40000"/>
            </a:schemeClr>
          </a:solidFill>
          <a:ln w="3175" cap="flat" cmpd="sng" algn="ctr">
            <a:solidFill>
              <a:schemeClr val="accent1">
                <a:alpha val="55000"/>
              </a:schemeClr>
            </a:solidFill>
            <a:prstDash val="solid"/>
            <a:miter lim="800000"/>
          </a:ln>
          <a:effectLst/>
        </p:spPr>
        <p:txBody>
          <a:bodyPr rtlCol="0" anchor="ctr"/>
          <a:lstStyle/>
          <a:p>
            <a:pPr algn="just" defTabSz="457200"/>
            <a:endParaRPr lang="zh-CN" altLang="en-US" sz="1200" kern="0" dirty="0">
              <a:solidFill>
                <a:prstClr val="white"/>
              </a:solidFill>
              <a:latin typeface="Arial" panose="020B0604020202020204" pitchFamily="34" charset="0"/>
              <a:ea typeface="微软雅黑" panose="020B0503020204020204" pitchFamily="34" charset="-122"/>
            </a:endParaRPr>
          </a:p>
        </p:txBody>
      </p:sp>
      <p:sp>
        <p:nvSpPr>
          <p:cNvPr id="126" name="矩形: 圆角 125">
            <a:extLst>
              <a:ext uri="{FF2B5EF4-FFF2-40B4-BE49-F238E27FC236}">
                <a16:creationId xmlns:a16="http://schemas.microsoft.com/office/drawing/2014/main" id="{D79CD8F7-1FE3-3F33-F6E7-38F001F333A3}"/>
              </a:ext>
            </a:extLst>
          </p:cNvPr>
          <p:cNvSpPr/>
          <p:nvPr/>
        </p:nvSpPr>
        <p:spPr>
          <a:xfrm>
            <a:off x="5802901" y="2097529"/>
            <a:ext cx="843188" cy="2285360"/>
          </a:xfrm>
          <a:prstGeom prst="roundRect">
            <a:avLst>
              <a:gd name="adj" fmla="val 2824"/>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27" name="文本框 126">
            <a:extLst>
              <a:ext uri="{FF2B5EF4-FFF2-40B4-BE49-F238E27FC236}">
                <a16:creationId xmlns:a16="http://schemas.microsoft.com/office/drawing/2014/main" id="{C18E0B8A-432E-323B-ACA6-F51AA570FD9A}"/>
              </a:ext>
            </a:extLst>
          </p:cNvPr>
          <p:cNvSpPr txBox="1"/>
          <p:nvPr/>
        </p:nvSpPr>
        <p:spPr>
          <a:xfrm>
            <a:off x="5972428" y="2521230"/>
            <a:ext cx="522288" cy="1304331"/>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algn="ctr">
              <a:lnSpc>
                <a:spcPct val="110000"/>
              </a:lnSpc>
            </a:pPr>
            <a:r>
              <a:rPr lang="zh-CN" altLang="en-US" sz="1800" dirty="0">
                <a:solidFill>
                  <a:prstClr val="white"/>
                </a:solidFill>
                <a:effectLst>
                  <a:outerShdw blurRad="50800" dist="38100" dir="5400000" algn="t" rotWithShape="0">
                    <a:srgbClr val="0B4FA1">
                      <a:lumMod val="75000"/>
                      <a:alpha val="40000"/>
                    </a:srgbClr>
                  </a:outerShdw>
                </a:effectLst>
              </a:rPr>
              <a:t>样本处理</a:t>
            </a:r>
          </a:p>
        </p:txBody>
      </p:sp>
      <p:sp>
        <p:nvSpPr>
          <p:cNvPr id="128" name="矩形: 圆角 127">
            <a:extLst>
              <a:ext uri="{FF2B5EF4-FFF2-40B4-BE49-F238E27FC236}">
                <a16:creationId xmlns:a16="http://schemas.microsoft.com/office/drawing/2014/main" id="{15607AB9-279B-89CF-4008-612B5DA4480D}"/>
              </a:ext>
            </a:extLst>
          </p:cNvPr>
          <p:cNvSpPr>
            <a:spLocks/>
          </p:cNvSpPr>
          <p:nvPr/>
        </p:nvSpPr>
        <p:spPr>
          <a:xfrm>
            <a:off x="6760031" y="2276938"/>
            <a:ext cx="4811741" cy="747830"/>
          </a:xfrm>
          <a:prstGeom prst="roundRect">
            <a:avLst>
              <a:gd name="adj" fmla="val 2018"/>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29" name="文本框 128">
            <a:extLst>
              <a:ext uri="{FF2B5EF4-FFF2-40B4-BE49-F238E27FC236}">
                <a16:creationId xmlns:a16="http://schemas.microsoft.com/office/drawing/2014/main" id="{0B43B54E-7962-8ACF-660D-727C7A64C833}"/>
              </a:ext>
            </a:extLst>
          </p:cNvPr>
          <p:cNvSpPr txBox="1"/>
          <p:nvPr/>
        </p:nvSpPr>
        <p:spPr>
          <a:xfrm>
            <a:off x="6831207" y="2319288"/>
            <a:ext cx="4649593" cy="587597"/>
          </a:xfrm>
          <a:prstGeom prst="rect">
            <a:avLst/>
          </a:prstGeom>
          <a:noFill/>
        </p:spPr>
        <p:txBody>
          <a:bodyPr wrap="square">
            <a:spAutoFit/>
          </a:bodyPr>
          <a:lstStyle/>
          <a:p>
            <a:pPr>
              <a:lnSpc>
                <a:spcPct val="120000"/>
              </a:lnSpc>
            </a:pPr>
            <a:r>
              <a:rPr lang="zh-CN" altLang="en-US" sz="1400" dirty="0">
                <a:latin typeface="微软雅黑" panose="020B0503020204020204" pitchFamily="34" charset="-122"/>
                <a:ea typeface="微软雅黑" panose="020B0503020204020204" pitchFamily="34" charset="-122"/>
              </a:rPr>
              <a:t>ATR光谱对少量样品敏感，但不能特异性增强目标物质的共振</a:t>
            </a:r>
            <a:endParaRPr lang="en-US" altLang="zh-CN" sz="1400" dirty="0">
              <a:latin typeface="微软雅黑" panose="020B0503020204020204" pitchFamily="34" charset="-122"/>
              <a:ea typeface="微软雅黑" panose="020B0503020204020204" pitchFamily="34" charset="-122"/>
            </a:endParaRPr>
          </a:p>
        </p:txBody>
      </p:sp>
      <p:sp>
        <p:nvSpPr>
          <p:cNvPr id="130" name="矩形: 圆角 129">
            <a:extLst>
              <a:ext uri="{FF2B5EF4-FFF2-40B4-BE49-F238E27FC236}">
                <a16:creationId xmlns:a16="http://schemas.microsoft.com/office/drawing/2014/main" id="{22A2304B-0DDC-F975-EFB0-8C4134DE486E}"/>
              </a:ext>
            </a:extLst>
          </p:cNvPr>
          <p:cNvSpPr>
            <a:spLocks/>
          </p:cNvSpPr>
          <p:nvPr/>
        </p:nvSpPr>
        <p:spPr>
          <a:xfrm>
            <a:off x="6760031" y="3116304"/>
            <a:ext cx="4811741" cy="543413"/>
          </a:xfrm>
          <a:prstGeom prst="roundRect">
            <a:avLst>
              <a:gd name="adj" fmla="val 2018"/>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31" name="文本框 130">
            <a:extLst>
              <a:ext uri="{FF2B5EF4-FFF2-40B4-BE49-F238E27FC236}">
                <a16:creationId xmlns:a16="http://schemas.microsoft.com/office/drawing/2014/main" id="{EF3303DA-5495-8170-2930-DDB0387D9215}"/>
              </a:ext>
            </a:extLst>
          </p:cNvPr>
          <p:cNvSpPr txBox="1"/>
          <p:nvPr/>
        </p:nvSpPr>
        <p:spPr>
          <a:xfrm>
            <a:off x="6852967" y="3204178"/>
            <a:ext cx="4627833" cy="329064"/>
          </a:xfrm>
          <a:prstGeom prst="rect">
            <a:avLst/>
          </a:prstGeom>
          <a:noFill/>
        </p:spPr>
        <p:txBody>
          <a:bodyPr wrap="square">
            <a:spAutoFit/>
          </a:bodyPr>
          <a:lstStyle/>
          <a:p>
            <a:pPr>
              <a:lnSpc>
                <a:spcPct val="120000"/>
              </a:lnSpc>
            </a:pPr>
            <a:r>
              <a:rPr lang="zh-CN" altLang="en-US" sz="1400" dirty="0">
                <a:latin typeface="微软雅黑" panose="020B0503020204020204" pitchFamily="34" charset="-122"/>
                <a:ea typeface="微软雅黑" panose="020B0503020204020204" pitchFamily="34" charset="-122"/>
              </a:rPr>
              <a:t>试剂可用于物质的信号增强，但有样品污染</a:t>
            </a:r>
          </a:p>
        </p:txBody>
      </p:sp>
      <p:sp>
        <p:nvSpPr>
          <p:cNvPr id="132" name="矩形: 圆角 131">
            <a:extLst>
              <a:ext uri="{FF2B5EF4-FFF2-40B4-BE49-F238E27FC236}">
                <a16:creationId xmlns:a16="http://schemas.microsoft.com/office/drawing/2014/main" id="{4BEFD098-C86E-F9DD-90D1-C86F8063472E}"/>
              </a:ext>
            </a:extLst>
          </p:cNvPr>
          <p:cNvSpPr>
            <a:spLocks/>
          </p:cNvSpPr>
          <p:nvPr/>
        </p:nvSpPr>
        <p:spPr>
          <a:xfrm>
            <a:off x="6760031" y="3738542"/>
            <a:ext cx="4811741" cy="543413"/>
          </a:xfrm>
          <a:prstGeom prst="roundRect">
            <a:avLst>
              <a:gd name="adj" fmla="val 2018"/>
            </a:avLst>
          </a:prstGeom>
          <a:solidFill>
            <a:schemeClr val="bg1"/>
          </a:solidFill>
          <a:ln w="3175" cap="flat" cmpd="sng" algn="ctr">
            <a:solidFill>
              <a:schemeClr val="accent1"/>
            </a:solidFill>
            <a:prstDash val="solid"/>
            <a:miter lim="800000"/>
          </a:ln>
          <a:effectLst>
            <a:outerShdw blurRad="266700" dist="215900" dir="8100000" algn="tr" rotWithShape="0">
              <a:schemeClr val="accent2">
                <a:lumMod val="50000"/>
                <a:alpha val="8000"/>
              </a:schemeClr>
            </a:outerShdw>
          </a:effectLst>
        </p:spPr>
        <p:txBody>
          <a:bodyPr rtlCol="0" anchor="ctr"/>
          <a:lstStyle/>
          <a:p>
            <a:pPr algn="ctr"/>
            <a:endParaRPr lang="zh-CN" altLang="en-US" kern="0" dirty="0">
              <a:solidFill>
                <a:srgbClr val="0B4FA1"/>
              </a:solidFill>
              <a:latin typeface="Arial" panose="020B0604020202020204" pitchFamily="34" charset="0"/>
              <a:ea typeface="微软雅黑" panose="020B0503020204020204" pitchFamily="34" charset="-122"/>
            </a:endParaRPr>
          </a:p>
        </p:txBody>
      </p:sp>
      <p:sp>
        <p:nvSpPr>
          <p:cNvPr id="133" name="文本框 132">
            <a:extLst>
              <a:ext uri="{FF2B5EF4-FFF2-40B4-BE49-F238E27FC236}">
                <a16:creationId xmlns:a16="http://schemas.microsoft.com/office/drawing/2014/main" id="{A8044CCF-26C6-D3AA-055F-55059422F399}"/>
              </a:ext>
            </a:extLst>
          </p:cNvPr>
          <p:cNvSpPr txBox="1"/>
          <p:nvPr/>
        </p:nvSpPr>
        <p:spPr>
          <a:xfrm>
            <a:off x="6852967" y="3826416"/>
            <a:ext cx="4718805" cy="329064"/>
          </a:xfrm>
          <a:prstGeom prst="rect">
            <a:avLst/>
          </a:prstGeom>
          <a:noFill/>
        </p:spPr>
        <p:txBody>
          <a:bodyPr wrap="square">
            <a:spAutoFit/>
          </a:bodyPr>
          <a:lstStyle/>
          <a:p>
            <a:pPr>
              <a:lnSpc>
                <a:spcPct val="120000"/>
              </a:lnSpc>
            </a:pPr>
            <a:r>
              <a:rPr lang="zh-CN" altLang="en-US" sz="1400" dirty="0">
                <a:solidFill>
                  <a:prstClr val="black"/>
                </a:solidFill>
                <a:latin typeface="微软雅黑" panose="020B0503020204020204" pitchFamily="34" charset="-122"/>
                <a:ea typeface="微软雅黑" panose="020B0503020204020204" pitchFamily="34" charset="-122"/>
              </a:rPr>
              <a:t>共振频率可调的超材料但光谱频率范围受材料限制</a:t>
            </a:r>
            <a:endParaRPr lang="zh-CN" altLang="en-US" sz="1400" dirty="0">
              <a:solidFill>
                <a:srgbClr val="C00000"/>
              </a:solidFill>
              <a:latin typeface="微软雅黑" panose="020B0503020204020204" pitchFamily="34" charset="-122"/>
              <a:ea typeface="微软雅黑" panose="020B0503020204020204" pitchFamily="34" charset="-122"/>
            </a:endParaRPr>
          </a:p>
        </p:txBody>
      </p:sp>
      <p:sp>
        <p:nvSpPr>
          <p:cNvPr id="134" name="矩形: 圆角 133">
            <a:extLst>
              <a:ext uri="{FF2B5EF4-FFF2-40B4-BE49-F238E27FC236}">
                <a16:creationId xmlns:a16="http://schemas.microsoft.com/office/drawing/2014/main" id="{8D9E184A-D7D3-987C-2CD8-6C0A680E1692}"/>
              </a:ext>
            </a:extLst>
          </p:cNvPr>
          <p:cNvSpPr>
            <a:spLocks/>
          </p:cNvSpPr>
          <p:nvPr/>
        </p:nvSpPr>
        <p:spPr>
          <a:xfrm>
            <a:off x="5802901" y="4591655"/>
            <a:ext cx="5946187" cy="899885"/>
          </a:xfrm>
          <a:prstGeom prst="roundRect">
            <a:avLst>
              <a:gd name="adj" fmla="val 2246"/>
            </a:avLst>
          </a:prstGeom>
          <a:solidFill>
            <a:schemeClr val="accent3">
              <a:alpha val="40000"/>
            </a:schemeClr>
          </a:solidFill>
          <a:ln w="3175" cap="flat" cmpd="sng" algn="ctr">
            <a:solidFill>
              <a:schemeClr val="accent1">
                <a:alpha val="55000"/>
              </a:schemeClr>
            </a:solidFill>
            <a:prstDash val="solid"/>
            <a:miter lim="800000"/>
          </a:ln>
          <a:effectLst/>
        </p:spPr>
        <p:txBody>
          <a:bodyPr rtlCol="0" anchor="ctr"/>
          <a:lstStyle/>
          <a:p>
            <a:pPr algn="just" defTabSz="457200"/>
            <a:endParaRPr lang="zh-CN" altLang="en-US" sz="1200" kern="0" dirty="0">
              <a:solidFill>
                <a:prstClr val="white"/>
              </a:solidFill>
              <a:latin typeface="Arial" panose="020B0604020202020204" pitchFamily="34" charset="0"/>
              <a:ea typeface="微软雅黑" panose="020B0503020204020204" pitchFamily="34" charset="-122"/>
            </a:endParaRPr>
          </a:p>
        </p:txBody>
      </p:sp>
      <p:sp>
        <p:nvSpPr>
          <p:cNvPr id="135" name="矩形: 圆角 134">
            <a:extLst>
              <a:ext uri="{FF2B5EF4-FFF2-40B4-BE49-F238E27FC236}">
                <a16:creationId xmlns:a16="http://schemas.microsoft.com/office/drawing/2014/main" id="{07D7CB76-1E83-0C46-5E27-7D8F4BB92EFE}"/>
              </a:ext>
            </a:extLst>
          </p:cNvPr>
          <p:cNvSpPr/>
          <p:nvPr/>
        </p:nvSpPr>
        <p:spPr>
          <a:xfrm>
            <a:off x="5803303" y="4591655"/>
            <a:ext cx="860538" cy="899885"/>
          </a:xfrm>
          <a:prstGeom prst="roundRect">
            <a:avLst>
              <a:gd name="adj" fmla="val 894"/>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36" name="文本框 135">
            <a:extLst>
              <a:ext uri="{FF2B5EF4-FFF2-40B4-BE49-F238E27FC236}">
                <a16:creationId xmlns:a16="http://schemas.microsoft.com/office/drawing/2014/main" id="{AACE0C18-6FB8-B994-69E5-F58A2814A02A}"/>
              </a:ext>
            </a:extLst>
          </p:cNvPr>
          <p:cNvSpPr txBox="1"/>
          <p:nvPr/>
        </p:nvSpPr>
        <p:spPr>
          <a:xfrm>
            <a:off x="5803303" y="4661173"/>
            <a:ext cx="860538" cy="694934"/>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algn="ctr">
              <a:lnSpc>
                <a:spcPct val="110000"/>
              </a:lnSpc>
            </a:pPr>
            <a:r>
              <a:rPr lang="zh-CN" altLang="en-US" sz="1800" dirty="0">
                <a:solidFill>
                  <a:prstClr val="white"/>
                </a:solidFill>
                <a:effectLst>
                  <a:outerShdw blurRad="50800" dist="38100" dir="5400000" algn="t" rotWithShape="0">
                    <a:srgbClr val="0B4FA1">
                      <a:lumMod val="75000"/>
                      <a:alpha val="40000"/>
                    </a:srgbClr>
                  </a:outerShdw>
                </a:effectLst>
              </a:rPr>
              <a:t>数据分析</a:t>
            </a:r>
          </a:p>
        </p:txBody>
      </p:sp>
      <p:sp>
        <p:nvSpPr>
          <p:cNvPr id="137" name="文本框 136">
            <a:extLst>
              <a:ext uri="{FF2B5EF4-FFF2-40B4-BE49-F238E27FC236}">
                <a16:creationId xmlns:a16="http://schemas.microsoft.com/office/drawing/2014/main" id="{A3E00A56-4288-56CE-7091-14E6B8200ABD}"/>
              </a:ext>
            </a:extLst>
          </p:cNvPr>
          <p:cNvSpPr txBox="1"/>
          <p:nvPr/>
        </p:nvSpPr>
        <p:spPr>
          <a:xfrm>
            <a:off x="6742252" y="4884300"/>
            <a:ext cx="4883903" cy="307777"/>
          </a:xfrm>
          <a:prstGeom prst="rect">
            <a:avLst/>
          </a:prstGeom>
          <a:noFill/>
        </p:spPr>
        <p:txBody>
          <a:bodyPr wrap="square">
            <a:spAutoFit/>
          </a:bodyPr>
          <a:lstStyle/>
          <a:p>
            <a:r>
              <a:rPr lang="zh-CN" altLang="en-US" sz="1400" dirty="0">
                <a:solidFill>
                  <a:prstClr val="black"/>
                </a:solidFill>
                <a:latin typeface="Arial" panose="020B0604020202020204" pitchFamily="34" charset="0"/>
                <a:ea typeface="微软雅黑" panose="020B0503020204020204" pitchFamily="34" charset="-122"/>
              </a:rPr>
              <a:t>算法可提取有效信息，但是处理时会丢失有用的信息</a:t>
            </a:r>
          </a:p>
        </p:txBody>
      </p:sp>
      <p:sp>
        <p:nvSpPr>
          <p:cNvPr id="138" name="矩形: 圆角 137">
            <a:extLst>
              <a:ext uri="{FF2B5EF4-FFF2-40B4-BE49-F238E27FC236}">
                <a16:creationId xmlns:a16="http://schemas.microsoft.com/office/drawing/2014/main" id="{62E543F5-E662-1FEA-6659-52A867FD71F7}"/>
              </a:ext>
            </a:extLst>
          </p:cNvPr>
          <p:cNvSpPr>
            <a:spLocks/>
          </p:cNvSpPr>
          <p:nvPr/>
        </p:nvSpPr>
        <p:spPr>
          <a:xfrm>
            <a:off x="5802901" y="5628506"/>
            <a:ext cx="5946187" cy="899885"/>
          </a:xfrm>
          <a:prstGeom prst="roundRect">
            <a:avLst>
              <a:gd name="adj" fmla="val 1452"/>
            </a:avLst>
          </a:prstGeom>
          <a:solidFill>
            <a:schemeClr val="accent3">
              <a:alpha val="40000"/>
            </a:schemeClr>
          </a:solidFill>
          <a:ln w="3175" cap="flat" cmpd="sng" algn="ctr">
            <a:solidFill>
              <a:schemeClr val="accent1">
                <a:alpha val="55000"/>
              </a:schemeClr>
            </a:solidFill>
            <a:prstDash val="solid"/>
            <a:miter lim="800000"/>
          </a:ln>
          <a:effectLst/>
        </p:spPr>
        <p:txBody>
          <a:bodyPr rtlCol="0" anchor="ctr"/>
          <a:lstStyle/>
          <a:p>
            <a:pPr algn="just" defTabSz="457200"/>
            <a:endParaRPr lang="zh-CN" altLang="en-US" sz="1200" kern="0" dirty="0">
              <a:solidFill>
                <a:prstClr val="white"/>
              </a:solidFill>
              <a:latin typeface="Arial" panose="020B0604020202020204" pitchFamily="34" charset="0"/>
              <a:ea typeface="微软雅黑" panose="020B0503020204020204" pitchFamily="34" charset="-122"/>
            </a:endParaRPr>
          </a:p>
        </p:txBody>
      </p:sp>
      <p:sp>
        <p:nvSpPr>
          <p:cNvPr id="139" name="矩形: 圆角 138">
            <a:extLst>
              <a:ext uri="{FF2B5EF4-FFF2-40B4-BE49-F238E27FC236}">
                <a16:creationId xmlns:a16="http://schemas.microsoft.com/office/drawing/2014/main" id="{B0B640A8-38DC-EE31-50AC-58E5BCAB2B2B}"/>
              </a:ext>
            </a:extLst>
          </p:cNvPr>
          <p:cNvSpPr/>
          <p:nvPr/>
        </p:nvSpPr>
        <p:spPr>
          <a:xfrm>
            <a:off x="5803303" y="5628506"/>
            <a:ext cx="860538" cy="899885"/>
          </a:xfrm>
          <a:prstGeom prst="roundRect">
            <a:avLst>
              <a:gd name="adj" fmla="val 1171"/>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40" name="文本框 139">
            <a:extLst>
              <a:ext uri="{FF2B5EF4-FFF2-40B4-BE49-F238E27FC236}">
                <a16:creationId xmlns:a16="http://schemas.microsoft.com/office/drawing/2014/main" id="{06B8C372-BACD-16EF-565C-291C58E377C4}"/>
              </a:ext>
            </a:extLst>
          </p:cNvPr>
          <p:cNvSpPr txBox="1"/>
          <p:nvPr/>
        </p:nvSpPr>
        <p:spPr>
          <a:xfrm>
            <a:off x="5803303" y="5698024"/>
            <a:ext cx="860538" cy="694934"/>
          </a:xfrm>
          <a:prstGeom prst="rect">
            <a:avLst/>
          </a:prstGeom>
          <a:noFill/>
          <a:effectLst/>
        </p:spPr>
        <p:txBody>
          <a:bodyPr wrap="square" lIns="100584" tIns="50292" rIns="100584" bIns="50292">
            <a:spAutoFit/>
          </a:bodyPr>
          <a:lstStyle>
            <a:defPPr>
              <a:defRPr lang="zh-CN"/>
            </a:defPPr>
            <a:lvl1pPr>
              <a:defRPr sz="2800" b="1">
                <a:solidFill>
                  <a:srgbClr val="771395"/>
                </a:solidFill>
                <a:latin typeface="微软雅黑" panose="020B0503020204020204" pitchFamily="34" charset="-122"/>
                <a:ea typeface="微软雅黑" panose="020B0503020204020204" pitchFamily="34" charset="-122"/>
              </a:defRPr>
            </a:lvl1pPr>
          </a:lstStyle>
          <a:p>
            <a:pPr algn="ctr">
              <a:lnSpc>
                <a:spcPct val="110000"/>
              </a:lnSpc>
            </a:pPr>
            <a:r>
              <a:rPr lang="zh-CN" altLang="en-US" sz="1800" dirty="0">
                <a:solidFill>
                  <a:prstClr val="white"/>
                </a:solidFill>
                <a:effectLst>
                  <a:outerShdw blurRad="50800" dist="38100" dir="5400000" algn="t" rotWithShape="0">
                    <a:srgbClr val="0B4FA1">
                      <a:lumMod val="75000"/>
                      <a:alpha val="40000"/>
                    </a:srgbClr>
                  </a:outerShdw>
                </a:effectLst>
              </a:rPr>
              <a:t>系统优化</a:t>
            </a:r>
          </a:p>
        </p:txBody>
      </p:sp>
      <p:sp>
        <p:nvSpPr>
          <p:cNvPr id="141" name="文本框 140">
            <a:extLst>
              <a:ext uri="{FF2B5EF4-FFF2-40B4-BE49-F238E27FC236}">
                <a16:creationId xmlns:a16="http://schemas.microsoft.com/office/drawing/2014/main" id="{94FA1A5F-D282-26A9-E5DB-641AE91E8BFC}"/>
              </a:ext>
            </a:extLst>
          </p:cNvPr>
          <p:cNvSpPr txBox="1"/>
          <p:nvPr/>
        </p:nvSpPr>
        <p:spPr>
          <a:xfrm>
            <a:off x="6742252" y="5796835"/>
            <a:ext cx="4883903" cy="586379"/>
          </a:xfrm>
          <a:prstGeom prst="rect">
            <a:avLst/>
          </a:prstGeom>
          <a:noFill/>
        </p:spPr>
        <p:txBody>
          <a:bodyPr wrap="square">
            <a:spAutoFit/>
          </a:bodyPr>
          <a:lstStyle/>
          <a:p>
            <a:pPr>
              <a:lnSpc>
                <a:spcPct val="120000"/>
              </a:lnSpc>
            </a:pPr>
            <a:r>
              <a:rPr lang="zh-CN" altLang="en-US" sz="1400" dirty="0">
                <a:latin typeface="Arial" panose="020B0604020202020204" pitchFamily="34" charset="0"/>
                <a:ea typeface="微软雅黑" panose="020B0503020204020204" pitchFamily="34" charset="-122"/>
              </a:rPr>
              <a:t>系统优化是增强太赫兹信号的最直接方法，但是目前增强的系统仍不足以满足生物医学探测的需求</a:t>
            </a:r>
          </a:p>
        </p:txBody>
      </p:sp>
    </p:spTree>
    <p:extLst>
      <p:ext uri="{BB962C8B-B14F-4D97-AF65-F5344CB8AC3E}">
        <p14:creationId xmlns:p14="http://schemas.microsoft.com/office/powerpoint/2010/main" val="4058650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5B03C-CEDF-A6DA-76AE-3626E62CA819}"/>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369FF437-254B-ECE0-B502-7047A3F2C393}"/>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7A934517-EB0B-3C8A-DC99-28B5DAFFF995}"/>
              </a:ext>
            </a:extLst>
          </p:cNvPr>
          <p:cNvSpPr txBox="1"/>
          <p:nvPr/>
        </p:nvSpPr>
        <p:spPr>
          <a:xfrm>
            <a:off x="946460" y="269201"/>
            <a:ext cx="7626039" cy="523220"/>
          </a:xfrm>
          <a:prstGeom prst="rect">
            <a:avLst/>
          </a:prstGeom>
          <a:noFill/>
        </p:spPr>
        <p:txBody>
          <a:bodyPr wrap="square">
            <a:spAutoFit/>
          </a:bodyPr>
          <a:lstStyle/>
          <a:p>
            <a:r>
              <a:rPr lang="zh-CN" altLang="en-US" sz="2800" b="1" dirty="0">
                <a:solidFill>
                  <a:schemeClr val="accent1"/>
                </a:solidFill>
              </a:rPr>
              <a:t>科研保障平台</a:t>
            </a:r>
          </a:p>
        </p:txBody>
      </p:sp>
      <p:grpSp>
        <p:nvGrpSpPr>
          <p:cNvPr id="2" name="组合 1">
            <a:extLst>
              <a:ext uri="{FF2B5EF4-FFF2-40B4-BE49-F238E27FC236}">
                <a16:creationId xmlns:a16="http://schemas.microsoft.com/office/drawing/2014/main" id="{4E669E8D-2AE3-198F-ABB6-1A0B67440983}"/>
              </a:ext>
            </a:extLst>
          </p:cNvPr>
          <p:cNvGrpSpPr/>
          <p:nvPr/>
        </p:nvGrpSpPr>
        <p:grpSpPr>
          <a:xfrm>
            <a:off x="515938" y="1156503"/>
            <a:ext cx="11196638" cy="896004"/>
            <a:chOff x="515938" y="1092453"/>
            <a:chExt cx="11196638" cy="896004"/>
          </a:xfrm>
        </p:grpSpPr>
        <p:sp>
          <p:nvSpPr>
            <p:cNvPr id="3" name="矩形: 圆角 2">
              <a:extLst>
                <a:ext uri="{FF2B5EF4-FFF2-40B4-BE49-F238E27FC236}">
                  <a16:creationId xmlns:a16="http://schemas.microsoft.com/office/drawing/2014/main" id="{F8EE595F-116C-0838-6554-752C47743FF1}"/>
                </a:ext>
              </a:extLst>
            </p:cNvPr>
            <p:cNvSpPr/>
            <p:nvPr/>
          </p:nvSpPr>
          <p:spPr>
            <a:xfrm>
              <a:off x="515938" y="1092453"/>
              <a:ext cx="11196637" cy="896004"/>
            </a:xfrm>
            <a:prstGeom prst="roundRect">
              <a:avLst>
                <a:gd name="adj" fmla="val 7712"/>
              </a:avLst>
            </a:prstGeom>
            <a:solidFill>
              <a:schemeClr val="bg1"/>
            </a:solidFill>
            <a:ln w="0" cap="flat" cmpd="sng" algn="ctr">
              <a:noFill/>
              <a:prstDash val="solid"/>
              <a:miter lim="800000"/>
            </a:ln>
            <a:effectLst>
              <a:outerShdw blurRad="317500" sx="101000" sy="101000" algn="ctr" rotWithShape="0">
                <a:schemeClr val="accent1">
                  <a:alpha val="11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4" name="矩形: 圆角 3">
              <a:extLst>
                <a:ext uri="{FF2B5EF4-FFF2-40B4-BE49-F238E27FC236}">
                  <a16:creationId xmlns:a16="http://schemas.microsoft.com/office/drawing/2014/main" id="{54B98A17-AF3A-DA2C-EDD7-0796652C9A6E}"/>
                </a:ext>
              </a:extLst>
            </p:cNvPr>
            <p:cNvSpPr/>
            <p:nvPr/>
          </p:nvSpPr>
          <p:spPr>
            <a:xfrm>
              <a:off x="724484" y="1238601"/>
              <a:ext cx="1568975" cy="603709"/>
            </a:xfrm>
            <a:prstGeom prst="roundRect">
              <a:avLst>
                <a:gd name="adj" fmla="val 6748"/>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5" name="文本框 4">
              <a:extLst>
                <a:ext uri="{FF2B5EF4-FFF2-40B4-BE49-F238E27FC236}">
                  <a16:creationId xmlns:a16="http://schemas.microsoft.com/office/drawing/2014/main" id="{C1503399-991C-F621-2328-9B9D0FCB5936}"/>
                </a:ext>
              </a:extLst>
            </p:cNvPr>
            <p:cNvSpPr txBox="1"/>
            <p:nvPr/>
          </p:nvSpPr>
          <p:spPr>
            <a:xfrm>
              <a:off x="724484" y="1309623"/>
              <a:ext cx="156897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微软雅黑" panose="020B0503020204020204" pitchFamily="34" charset="-122"/>
                  <a:ea typeface="微软雅黑" panose="020B0503020204020204" pitchFamily="34" charset="-122"/>
                </a:rPr>
                <a:t>公共平台</a:t>
              </a:r>
            </a:p>
          </p:txBody>
        </p:sp>
        <p:sp>
          <p:nvSpPr>
            <p:cNvPr id="6" name="文本框 5">
              <a:extLst>
                <a:ext uri="{FF2B5EF4-FFF2-40B4-BE49-F238E27FC236}">
                  <a16:creationId xmlns:a16="http://schemas.microsoft.com/office/drawing/2014/main" id="{A2572AB7-BB6F-5EA0-5003-58C25E31119E}"/>
                </a:ext>
              </a:extLst>
            </p:cNvPr>
            <p:cNvSpPr txBox="1"/>
            <p:nvPr/>
          </p:nvSpPr>
          <p:spPr>
            <a:xfrm>
              <a:off x="2400406" y="1309623"/>
              <a:ext cx="9312170"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仪器设备总价值16169万元 ; 30万元以上设备66套</a:t>
              </a:r>
            </a:p>
          </p:txBody>
        </p:sp>
      </p:grpSp>
      <p:grpSp>
        <p:nvGrpSpPr>
          <p:cNvPr id="7" name="组合 6">
            <a:extLst>
              <a:ext uri="{FF2B5EF4-FFF2-40B4-BE49-F238E27FC236}">
                <a16:creationId xmlns:a16="http://schemas.microsoft.com/office/drawing/2014/main" id="{49C677D5-50C2-4C02-D550-58A0D66230FE}"/>
              </a:ext>
            </a:extLst>
          </p:cNvPr>
          <p:cNvGrpSpPr/>
          <p:nvPr/>
        </p:nvGrpSpPr>
        <p:grpSpPr>
          <a:xfrm>
            <a:off x="515938" y="3238625"/>
            <a:ext cx="11196637" cy="896004"/>
            <a:chOff x="515938" y="3349735"/>
            <a:chExt cx="11196637" cy="896004"/>
          </a:xfrm>
        </p:grpSpPr>
        <p:sp>
          <p:nvSpPr>
            <p:cNvPr id="8" name="矩形: 圆角 7">
              <a:extLst>
                <a:ext uri="{FF2B5EF4-FFF2-40B4-BE49-F238E27FC236}">
                  <a16:creationId xmlns:a16="http://schemas.microsoft.com/office/drawing/2014/main" id="{FF3DDDE5-E0BA-815C-FB81-0462FE11866E}"/>
                </a:ext>
              </a:extLst>
            </p:cNvPr>
            <p:cNvSpPr/>
            <p:nvPr/>
          </p:nvSpPr>
          <p:spPr>
            <a:xfrm>
              <a:off x="515938" y="3349735"/>
              <a:ext cx="11196637" cy="896004"/>
            </a:xfrm>
            <a:prstGeom prst="roundRect">
              <a:avLst>
                <a:gd name="adj" fmla="val 7712"/>
              </a:avLst>
            </a:prstGeom>
            <a:solidFill>
              <a:schemeClr val="bg1"/>
            </a:solidFill>
            <a:ln w="0" cap="flat" cmpd="sng" algn="ctr">
              <a:noFill/>
              <a:prstDash val="solid"/>
              <a:miter lim="800000"/>
            </a:ln>
            <a:effectLst>
              <a:outerShdw blurRad="317500" sx="101000" sy="101000" algn="ctr" rotWithShape="0">
                <a:schemeClr val="accent1">
                  <a:alpha val="11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9" name="矩形: 圆角 8">
              <a:extLst>
                <a:ext uri="{FF2B5EF4-FFF2-40B4-BE49-F238E27FC236}">
                  <a16:creationId xmlns:a16="http://schemas.microsoft.com/office/drawing/2014/main" id="{15A47667-C605-B630-30E6-CD8CC536585A}"/>
                </a:ext>
              </a:extLst>
            </p:cNvPr>
            <p:cNvSpPr/>
            <p:nvPr/>
          </p:nvSpPr>
          <p:spPr>
            <a:xfrm>
              <a:off x="724484" y="3495883"/>
              <a:ext cx="1568975" cy="603709"/>
            </a:xfrm>
            <a:prstGeom prst="roundRect">
              <a:avLst>
                <a:gd name="adj" fmla="val 6748"/>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0" name="文本框 9">
              <a:extLst>
                <a:ext uri="{FF2B5EF4-FFF2-40B4-BE49-F238E27FC236}">
                  <a16:creationId xmlns:a16="http://schemas.microsoft.com/office/drawing/2014/main" id="{3731D08C-2F8A-5BC5-1145-35F04065BF48}"/>
                </a:ext>
              </a:extLst>
            </p:cNvPr>
            <p:cNvSpPr txBox="1"/>
            <p:nvPr/>
          </p:nvSpPr>
          <p:spPr>
            <a:xfrm>
              <a:off x="724484" y="3566905"/>
              <a:ext cx="156897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微软雅黑" panose="020B0503020204020204" pitchFamily="34" charset="-122"/>
                  <a:ea typeface="微软雅黑" panose="020B0503020204020204" pitchFamily="34" charset="-122"/>
                </a:rPr>
                <a:t>开放共享</a:t>
              </a:r>
            </a:p>
          </p:txBody>
        </p:sp>
        <p:sp>
          <p:nvSpPr>
            <p:cNvPr id="11" name="文本框 10">
              <a:extLst>
                <a:ext uri="{FF2B5EF4-FFF2-40B4-BE49-F238E27FC236}">
                  <a16:creationId xmlns:a16="http://schemas.microsoft.com/office/drawing/2014/main" id="{EBFEC1D7-321D-4D09-F046-7E9730F67F6E}"/>
                </a:ext>
              </a:extLst>
            </p:cNvPr>
            <p:cNvSpPr txBox="1"/>
            <p:nvPr/>
          </p:nvSpPr>
          <p:spPr>
            <a:xfrm>
              <a:off x="2400406" y="3566905"/>
              <a:ext cx="9275656"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开放共享率达到90%，服务于科研机构和20余家大型企业</a:t>
              </a:r>
            </a:p>
          </p:txBody>
        </p:sp>
      </p:grpSp>
      <p:grpSp>
        <p:nvGrpSpPr>
          <p:cNvPr id="12" name="组合 11">
            <a:extLst>
              <a:ext uri="{FF2B5EF4-FFF2-40B4-BE49-F238E27FC236}">
                <a16:creationId xmlns:a16="http://schemas.microsoft.com/office/drawing/2014/main" id="{3661EDC8-DBC6-D01E-101B-E414F647C250}"/>
              </a:ext>
            </a:extLst>
          </p:cNvPr>
          <p:cNvGrpSpPr/>
          <p:nvPr/>
        </p:nvGrpSpPr>
        <p:grpSpPr>
          <a:xfrm>
            <a:off x="515938" y="2197564"/>
            <a:ext cx="11374677" cy="896004"/>
            <a:chOff x="515938" y="2264170"/>
            <a:chExt cx="11374677" cy="896004"/>
          </a:xfrm>
        </p:grpSpPr>
        <p:sp>
          <p:nvSpPr>
            <p:cNvPr id="13" name="矩形: 圆角 12">
              <a:extLst>
                <a:ext uri="{FF2B5EF4-FFF2-40B4-BE49-F238E27FC236}">
                  <a16:creationId xmlns:a16="http://schemas.microsoft.com/office/drawing/2014/main" id="{FB432E1B-320F-267E-8F30-7FF6DC25CAC7}"/>
                </a:ext>
              </a:extLst>
            </p:cNvPr>
            <p:cNvSpPr/>
            <p:nvPr/>
          </p:nvSpPr>
          <p:spPr>
            <a:xfrm>
              <a:off x="515938" y="2264170"/>
              <a:ext cx="11196637" cy="896004"/>
            </a:xfrm>
            <a:prstGeom prst="roundRect">
              <a:avLst>
                <a:gd name="adj" fmla="val 7712"/>
              </a:avLst>
            </a:prstGeom>
            <a:solidFill>
              <a:schemeClr val="bg1"/>
            </a:solidFill>
            <a:ln w="0" cap="flat" cmpd="sng" algn="ctr">
              <a:noFill/>
              <a:prstDash val="solid"/>
              <a:miter lim="800000"/>
            </a:ln>
            <a:effectLst>
              <a:outerShdw blurRad="317500" sx="101000" sy="101000" algn="ctr" rotWithShape="0">
                <a:schemeClr val="accent1">
                  <a:alpha val="11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4" name="矩形: 圆角 13">
              <a:extLst>
                <a:ext uri="{FF2B5EF4-FFF2-40B4-BE49-F238E27FC236}">
                  <a16:creationId xmlns:a16="http://schemas.microsoft.com/office/drawing/2014/main" id="{E9773314-BACD-B102-63EF-C46E267BE1C9}"/>
                </a:ext>
              </a:extLst>
            </p:cNvPr>
            <p:cNvSpPr/>
            <p:nvPr/>
          </p:nvSpPr>
          <p:spPr>
            <a:xfrm>
              <a:off x="724484" y="2410318"/>
              <a:ext cx="1568975" cy="603709"/>
            </a:xfrm>
            <a:prstGeom prst="roundRect">
              <a:avLst>
                <a:gd name="adj" fmla="val 6748"/>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5" name="文本框 14">
              <a:extLst>
                <a:ext uri="{FF2B5EF4-FFF2-40B4-BE49-F238E27FC236}">
                  <a16:creationId xmlns:a16="http://schemas.microsoft.com/office/drawing/2014/main" id="{A85B9E04-29A8-8040-24AA-2CAA106AA4AA}"/>
                </a:ext>
              </a:extLst>
            </p:cNvPr>
            <p:cNvSpPr txBox="1"/>
            <p:nvPr/>
          </p:nvSpPr>
          <p:spPr>
            <a:xfrm>
              <a:off x="724484" y="2481340"/>
              <a:ext cx="1568975"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prstClr val="white"/>
                  </a:solidFill>
                  <a:effectLst>
                    <a:outerShdw blurRad="50800" dist="38100" dir="5400000" algn="t" rotWithShape="0">
                      <a:srgbClr val="0B4FA1">
                        <a:lumMod val="75000"/>
                        <a:alpha val="40000"/>
                      </a:srgbClr>
                    </a:outerShdw>
                  </a:effectLst>
                  <a:uLnTx/>
                  <a:uFillTx/>
                  <a:latin typeface="微软雅黑" panose="020B0503020204020204" pitchFamily="34" charset="-122"/>
                  <a:ea typeface="微软雅黑" panose="020B0503020204020204" pitchFamily="34" charset="-122"/>
                </a:rPr>
                <a:t>科研保障</a:t>
              </a:r>
            </a:p>
          </p:txBody>
        </p:sp>
        <p:sp>
          <p:nvSpPr>
            <p:cNvPr id="16" name="文本框 15">
              <a:extLst>
                <a:ext uri="{FF2B5EF4-FFF2-40B4-BE49-F238E27FC236}">
                  <a16:creationId xmlns:a16="http://schemas.microsoft.com/office/drawing/2014/main" id="{3037F3D8-512A-941C-8336-31597CA62C83}"/>
                </a:ext>
              </a:extLst>
            </p:cNvPr>
            <p:cNvSpPr txBox="1"/>
            <p:nvPr/>
          </p:nvSpPr>
          <p:spPr>
            <a:xfrm>
              <a:off x="2502005" y="2481340"/>
              <a:ext cx="9388610" cy="461665"/>
            </a:xfrm>
            <a:prstGeom prst="rect">
              <a:avLst/>
            </a:prstGeom>
            <a:noFill/>
          </p:spPr>
          <p:txBody>
            <a:bodyPr wrap="square">
              <a:spAutoFit/>
            </a:bodyPr>
            <a:lstStyle>
              <a:defPPr>
                <a:defRPr lang="zh-CN"/>
              </a:defPPr>
              <a:lvl1pPr>
                <a:defRPr sz="2400">
                  <a:latin typeface="+mn-ea"/>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XX</a:t>
              </a: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大学、</a:t>
              </a:r>
              <a:r>
                <a:rPr kumimoji="0" lang="en-US"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XXX</a:t>
              </a: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大学、</a:t>
              </a:r>
              <a:r>
                <a:rPr kumimoji="0" lang="en-US"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XXXX</a:t>
              </a: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大学、华中</a:t>
              </a:r>
              <a:r>
                <a:rPr kumimoji="0" lang="en-US"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XXX</a:t>
              </a:r>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大学</a:t>
              </a:r>
              <a:endParaRPr kumimoji="0" lang="en-US" altLang="zh-CN"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nvGrpSpPr>
          <p:cNvPr id="17" name="组合 16">
            <a:extLst>
              <a:ext uri="{FF2B5EF4-FFF2-40B4-BE49-F238E27FC236}">
                <a16:creationId xmlns:a16="http://schemas.microsoft.com/office/drawing/2014/main" id="{521E6DDE-0056-084D-074C-863F3D370972}"/>
              </a:ext>
            </a:extLst>
          </p:cNvPr>
          <p:cNvGrpSpPr/>
          <p:nvPr/>
        </p:nvGrpSpPr>
        <p:grpSpPr>
          <a:xfrm>
            <a:off x="539551" y="4397127"/>
            <a:ext cx="2042118" cy="2191672"/>
            <a:chOff x="539551" y="4333077"/>
            <a:chExt cx="2042118" cy="2191672"/>
          </a:xfrm>
        </p:grpSpPr>
        <p:pic>
          <p:nvPicPr>
            <p:cNvPr id="18" name="图片 17" descr="厨房的摆设布局&#10;&#10;中度可信度描述已自动生成">
              <a:extLst>
                <a:ext uri="{FF2B5EF4-FFF2-40B4-BE49-F238E27FC236}">
                  <a16:creationId xmlns:a16="http://schemas.microsoft.com/office/drawing/2014/main" id="{450EECF4-44BC-5B55-76BB-0354D7B38DDB}"/>
                </a:ext>
              </a:extLst>
            </p:cNvPr>
            <p:cNvPicPr>
              <a:picLocks/>
            </p:cNvPicPr>
            <p:nvPr/>
          </p:nvPicPr>
          <p:blipFill rotWithShape="1">
            <a:blip r:embed="rId2" cstate="print">
              <a:extLst>
                <a:ext uri="{28A0092B-C50C-407E-A947-70E740481C1C}">
                  <a14:useLocalDpi xmlns:a14="http://schemas.microsoft.com/office/drawing/2010/main" val="0"/>
                </a:ext>
              </a:extLst>
            </a:blip>
            <a:srcRect l="12926" t="-1" r="25595" b="986"/>
            <a:stretch/>
          </p:blipFill>
          <p:spPr>
            <a:xfrm>
              <a:off x="539551" y="4333077"/>
              <a:ext cx="2042118" cy="2191672"/>
            </a:xfrm>
            <a:prstGeom prst="rect">
              <a:avLst/>
            </a:prstGeom>
          </p:spPr>
        </p:pic>
        <p:sp>
          <p:nvSpPr>
            <p:cNvPr id="19" name="文本框 18">
              <a:extLst>
                <a:ext uri="{FF2B5EF4-FFF2-40B4-BE49-F238E27FC236}">
                  <a16:creationId xmlns:a16="http://schemas.microsoft.com/office/drawing/2014/main" id="{31073C3D-036C-85AE-8D82-1608081CDBD8}"/>
                </a:ext>
              </a:extLst>
            </p:cNvPr>
            <p:cNvSpPr txBox="1"/>
            <p:nvPr/>
          </p:nvSpPr>
          <p:spPr>
            <a:xfrm>
              <a:off x="619216" y="5632924"/>
              <a:ext cx="1882789" cy="504946"/>
            </a:xfrm>
            <a:prstGeom prst="rect">
              <a:avLst/>
            </a:prstGeom>
            <a:noFill/>
          </p:spPr>
          <p:txBody>
            <a:bodyPr wrap="square">
              <a:spAutoFit/>
            </a:bodyPr>
            <a:lstStyle/>
            <a:p>
              <a:pPr algn="ctr">
                <a:lnSpc>
                  <a:spcPct val="120000"/>
                </a:lnSpc>
              </a:pPr>
              <a:r>
                <a:rPr lang="en-US" altLang="zh-CN" sz="2400" dirty="0">
                  <a:solidFill>
                    <a:schemeClr val="accent1"/>
                  </a:solidFill>
                  <a:effectLst>
                    <a:glow rad="76200">
                      <a:prstClr val="white"/>
                    </a:glow>
                  </a:effectLst>
                  <a:latin typeface="微软雅黑" panose="020B0503020204020204" pitchFamily="34" charset="-122"/>
                  <a:ea typeface="微软雅黑" panose="020B0503020204020204" pitchFamily="34" charset="-122"/>
                </a:rPr>
                <a:t>11200</a:t>
              </a:r>
              <a:r>
                <a:rPr lang="zh-CN" altLang="en-US" sz="2400" dirty="0">
                  <a:solidFill>
                    <a:schemeClr val="accent1"/>
                  </a:solidFill>
                  <a:effectLst>
                    <a:glow rad="76200">
                      <a:prstClr val="white"/>
                    </a:glow>
                  </a:effectLst>
                  <a:latin typeface="微软雅黑" panose="020B0503020204020204" pitchFamily="34" charset="-122"/>
                  <a:ea typeface="微软雅黑" panose="020B0503020204020204" pitchFamily="34" charset="-122"/>
                </a:rPr>
                <a:t>㎡</a:t>
              </a:r>
              <a:endParaRPr lang="en-US" altLang="zh-CN" sz="2400" dirty="0">
                <a:solidFill>
                  <a:schemeClr val="accent1"/>
                </a:solidFill>
                <a:effectLst>
                  <a:glow rad="76200">
                    <a:prstClr val="white"/>
                  </a:glow>
                </a:effectLst>
                <a:latin typeface="微软雅黑" panose="020B0503020204020204" pitchFamily="34" charset="-122"/>
                <a:ea typeface="微软雅黑" panose="020B0503020204020204" pitchFamily="34" charset="-122"/>
              </a:endParaRPr>
            </a:p>
          </p:txBody>
        </p:sp>
      </p:grpSp>
      <p:sp>
        <p:nvSpPr>
          <p:cNvPr id="20" name="文本框 19">
            <a:extLst>
              <a:ext uri="{FF2B5EF4-FFF2-40B4-BE49-F238E27FC236}">
                <a16:creationId xmlns:a16="http://schemas.microsoft.com/office/drawing/2014/main" id="{45AB0FC9-BDE1-C166-A36D-4BFD43339393}"/>
              </a:ext>
            </a:extLst>
          </p:cNvPr>
          <p:cNvSpPr txBox="1"/>
          <p:nvPr/>
        </p:nvSpPr>
        <p:spPr>
          <a:xfrm>
            <a:off x="265322" y="6166616"/>
            <a:ext cx="2590577" cy="367408"/>
          </a:xfrm>
          <a:prstGeom prst="rect">
            <a:avLst/>
          </a:prstGeom>
          <a:noFill/>
        </p:spPr>
        <p:txBody>
          <a:bodyPr wrap="square">
            <a:spAutoFit/>
          </a:bodyPr>
          <a:lstStyle/>
          <a:p>
            <a:pPr algn="ctr">
              <a:lnSpc>
                <a:spcPct val="120000"/>
              </a:lnSpc>
            </a:pPr>
            <a:r>
              <a:rPr lang="en-US" altLang="zh-CN" sz="1600" dirty="0">
                <a:solidFill>
                  <a:schemeClr val="accent1"/>
                </a:solidFill>
                <a:effectLst>
                  <a:glow rad="76200">
                    <a:prstClr val="white"/>
                  </a:glow>
                </a:effectLst>
                <a:latin typeface="微软雅黑" panose="020B0503020204020204" pitchFamily="34" charset="-122"/>
                <a:ea typeface="微软雅黑" panose="020B0503020204020204" pitchFamily="34" charset="-122"/>
              </a:rPr>
              <a:t>XXXXX</a:t>
            </a:r>
            <a:r>
              <a:rPr lang="zh-CN" altLang="en-US" sz="1600" dirty="0">
                <a:solidFill>
                  <a:schemeClr val="accent1"/>
                </a:solidFill>
                <a:effectLst>
                  <a:glow rad="76200">
                    <a:prstClr val="white"/>
                  </a:glow>
                </a:effectLst>
                <a:latin typeface="微软雅黑" panose="020B0503020204020204" pitchFamily="34" charset="-122"/>
                <a:ea typeface="微软雅黑" panose="020B0503020204020204" pitchFamily="34" charset="-122"/>
              </a:rPr>
              <a:t>研究中心</a:t>
            </a:r>
            <a:endParaRPr lang="en-US" altLang="zh-CN" sz="1600" dirty="0">
              <a:solidFill>
                <a:schemeClr val="accent1"/>
              </a:solidFill>
              <a:effectLst>
                <a:glow rad="76200">
                  <a:prstClr val="white"/>
                </a:glow>
              </a:effectLst>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01ACA10E-C9A2-8E7E-F848-D156E3CF3344}"/>
              </a:ext>
            </a:extLst>
          </p:cNvPr>
          <p:cNvGrpSpPr/>
          <p:nvPr/>
        </p:nvGrpSpPr>
        <p:grpSpPr>
          <a:xfrm>
            <a:off x="2686103" y="4397127"/>
            <a:ext cx="2238250" cy="2191672"/>
            <a:chOff x="2784625" y="4333077"/>
            <a:chExt cx="2238250" cy="2191672"/>
          </a:xfrm>
        </p:grpSpPr>
        <p:pic>
          <p:nvPicPr>
            <p:cNvPr id="22" name="图片 21" descr="桌子上的电脑和显微镜&#10;&#10;低可信度描述已自动生成">
              <a:extLst>
                <a:ext uri="{FF2B5EF4-FFF2-40B4-BE49-F238E27FC236}">
                  <a16:creationId xmlns:a16="http://schemas.microsoft.com/office/drawing/2014/main" id="{F9DE031E-B6B6-98B4-FF96-00A73F6F49C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240" r="911"/>
            <a:stretch/>
          </p:blipFill>
          <p:spPr>
            <a:xfrm>
              <a:off x="2853404" y="4333077"/>
              <a:ext cx="2100693" cy="2191672"/>
            </a:xfrm>
            <a:prstGeom prst="rect">
              <a:avLst/>
            </a:prstGeom>
          </p:spPr>
        </p:pic>
        <p:sp>
          <p:nvSpPr>
            <p:cNvPr id="23" name="文本框 22">
              <a:extLst>
                <a:ext uri="{FF2B5EF4-FFF2-40B4-BE49-F238E27FC236}">
                  <a16:creationId xmlns:a16="http://schemas.microsoft.com/office/drawing/2014/main" id="{6156538A-C1F4-CBDF-15F4-21E82ABE2C61}"/>
                </a:ext>
              </a:extLst>
            </p:cNvPr>
            <p:cNvSpPr txBox="1"/>
            <p:nvPr/>
          </p:nvSpPr>
          <p:spPr>
            <a:xfrm>
              <a:off x="3245530" y="5632924"/>
              <a:ext cx="1316441" cy="504946"/>
            </a:xfrm>
            <a:prstGeom prst="rect">
              <a:avLst/>
            </a:prstGeom>
            <a:noFill/>
          </p:spPr>
          <p:txBody>
            <a:bodyPr wrap="square">
              <a:spAutoFit/>
            </a:bodyPr>
            <a:lstStyle/>
            <a:p>
              <a:pPr algn="ctr">
                <a:lnSpc>
                  <a:spcPct val="120000"/>
                </a:lnSpc>
              </a:pPr>
              <a:r>
                <a:rPr lang="en-US" altLang="zh-CN" sz="2400" dirty="0">
                  <a:solidFill>
                    <a:schemeClr val="accent1"/>
                  </a:solidFill>
                  <a:effectLst>
                    <a:glow rad="76200">
                      <a:prstClr val="white"/>
                    </a:glow>
                  </a:effectLst>
                  <a:latin typeface="微软雅黑" panose="020B0503020204020204" pitchFamily="34" charset="-122"/>
                  <a:ea typeface="微软雅黑" panose="020B0503020204020204" pitchFamily="34" charset="-122"/>
                </a:rPr>
                <a:t>58</a:t>
              </a:r>
              <a:r>
                <a:rPr lang="zh-CN" altLang="en-US" sz="2400" dirty="0">
                  <a:solidFill>
                    <a:schemeClr val="accent1"/>
                  </a:solidFill>
                  <a:effectLst>
                    <a:glow rad="76200">
                      <a:prstClr val="white"/>
                    </a:glow>
                  </a:effectLst>
                  <a:latin typeface="微软雅黑" panose="020B0503020204020204" pitchFamily="34" charset="-122"/>
                  <a:ea typeface="微软雅黑" panose="020B0503020204020204" pitchFamily="34" charset="-122"/>
                </a:rPr>
                <a:t>套</a:t>
              </a:r>
              <a:endParaRPr lang="en-US" altLang="zh-CN" sz="2400" dirty="0">
                <a:solidFill>
                  <a:schemeClr val="accent1"/>
                </a:solidFill>
                <a:effectLst>
                  <a:glow rad="76200">
                    <a:prstClr val="white"/>
                  </a:glow>
                </a:effectLst>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8BBC6B24-B4EF-15B2-F3E8-8883233E8340}"/>
                </a:ext>
              </a:extLst>
            </p:cNvPr>
            <p:cNvSpPr txBox="1"/>
            <p:nvPr/>
          </p:nvSpPr>
          <p:spPr>
            <a:xfrm>
              <a:off x="2784625" y="6102566"/>
              <a:ext cx="2238250" cy="338554"/>
            </a:xfrm>
            <a:prstGeom prst="rect">
              <a:avLst/>
            </a:prstGeom>
            <a:noFill/>
          </p:spPr>
          <p:txBody>
            <a:bodyPr wrap="square">
              <a:spAutoFit/>
            </a:bodyPr>
            <a:lstStyle/>
            <a:p>
              <a:pPr algn="ctr"/>
              <a:r>
                <a:rPr lang="zh-CN" altLang="en-US" sz="1600" dirty="0">
                  <a:solidFill>
                    <a:schemeClr val="accent1"/>
                  </a:solidFill>
                  <a:effectLst>
                    <a:glow rad="76200">
                      <a:prstClr val="white"/>
                    </a:glow>
                  </a:effectLst>
                  <a:latin typeface="微软雅黑" panose="020B0503020204020204" pitchFamily="34" charset="-122"/>
                  <a:ea typeface="微软雅黑" panose="020B0503020204020204" pitchFamily="34" charset="-122"/>
                </a:rPr>
                <a:t>研制专用设备</a:t>
              </a:r>
              <a:endParaRPr lang="en-US" altLang="zh-CN" sz="1600" dirty="0">
                <a:solidFill>
                  <a:schemeClr val="accent1"/>
                </a:solidFill>
                <a:effectLst>
                  <a:glow rad="76200">
                    <a:prstClr val="white"/>
                  </a:glow>
                </a:effectLst>
                <a:latin typeface="微软雅黑" panose="020B0503020204020204" pitchFamily="34" charset="-122"/>
                <a:ea typeface="微软雅黑" panose="020B0503020204020204" pitchFamily="34" charset="-122"/>
              </a:endParaRPr>
            </a:p>
          </p:txBody>
        </p:sp>
      </p:grpSp>
      <p:grpSp>
        <p:nvGrpSpPr>
          <p:cNvPr id="25" name="组合 24">
            <a:extLst>
              <a:ext uri="{FF2B5EF4-FFF2-40B4-BE49-F238E27FC236}">
                <a16:creationId xmlns:a16="http://schemas.microsoft.com/office/drawing/2014/main" id="{4FB92E07-7E1C-549C-CEDE-EAC6F731189B}"/>
              </a:ext>
            </a:extLst>
          </p:cNvPr>
          <p:cNvGrpSpPr/>
          <p:nvPr/>
        </p:nvGrpSpPr>
        <p:grpSpPr>
          <a:xfrm>
            <a:off x="4798782" y="4397127"/>
            <a:ext cx="2630948" cy="2191672"/>
            <a:chOff x="4924353" y="4333077"/>
            <a:chExt cx="2630948" cy="2191672"/>
          </a:xfrm>
        </p:grpSpPr>
        <p:pic>
          <p:nvPicPr>
            <p:cNvPr id="26" name="图片 25" descr="房间里的摆设布局&#10;&#10;低可信度描述已自动生成">
              <a:extLst>
                <a:ext uri="{FF2B5EF4-FFF2-40B4-BE49-F238E27FC236}">
                  <a16:creationId xmlns:a16="http://schemas.microsoft.com/office/drawing/2014/main" id="{9B3A3670-9FF1-2151-9265-23D18ECC1AEA}"/>
                </a:ext>
              </a:extLst>
            </p:cNvPr>
            <p:cNvPicPr>
              <a:picLocks/>
            </p:cNvPicPr>
            <p:nvPr/>
          </p:nvPicPr>
          <p:blipFill rotWithShape="1">
            <a:blip r:embed="rId4" cstate="print">
              <a:extLst>
                <a:ext uri="{28A0092B-C50C-407E-A947-70E740481C1C}">
                  <a14:useLocalDpi xmlns:a14="http://schemas.microsoft.com/office/drawing/2010/main" val="0"/>
                </a:ext>
              </a:extLst>
            </a:blip>
            <a:srcRect l="37739"/>
            <a:stretch/>
          </p:blipFill>
          <p:spPr>
            <a:xfrm>
              <a:off x="5218768" y="4333077"/>
              <a:ext cx="2042118" cy="2191672"/>
            </a:xfrm>
            <a:prstGeom prst="rect">
              <a:avLst/>
            </a:prstGeom>
          </p:spPr>
        </p:pic>
        <p:sp>
          <p:nvSpPr>
            <p:cNvPr id="27" name="文本框 26">
              <a:extLst>
                <a:ext uri="{FF2B5EF4-FFF2-40B4-BE49-F238E27FC236}">
                  <a16:creationId xmlns:a16="http://schemas.microsoft.com/office/drawing/2014/main" id="{E8E70FA2-148F-360A-8747-C9DF793F4530}"/>
                </a:ext>
              </a:extLst>
            </p:cNvPr>
            <p:cNvSpPr txBox="1"/>
            <p:nvPr/>
          </p:nvSpPr>
          <p:spPr>
            <a:xfrm>
              <a:off x="5283762" y="5632924"/>
              <a:ext cx="1912130" cy="504946"/>
            </a:xfrm>
            <a:prstGeom prst="rect">
              <a:avLst/>
            </a:prstGeom>
            <a:noFill/>
          </p:spPr>
          <p:txBody>
            <a:bodyPr wrap="square">
              <a:spAutoFit/>
            </a:bodyPr>
            <a:lstStyle/>
            <a:p>
              <a:pPr algn="ctr">
                <a:lnSpc>
                  <a:spcPct val="120000"/>
                </a:lnSpc>
              </a:pPr>
              <a:r>
                <a:rPr lang="en-US" altLang="zh-CN" sz="2400" dirty="0">
                  <a:solidFill>
                    <a:schemeClr val="accent1"/>
                  </a:solidFill>
                  <a:effectLst>
                    <a:glow rad="76200">
                      <a:prstClr val="white"/>
                    </a:glow>
                  </a:effectLst>
                  <a:latin typeface="微软雅黑" panose="020B0503020204020204" pitchFamily="34" charset="-122"/>
                  <a:ea typeface="微软雅黑" panose="020B0503020204020204" pitchFamily="34" charset="-122"/>
                </a:rPr>
                <a:t>14500</a:t>
              </a:r>
              <a:r>
                <a:rPr lang="zh-CN" altLang="en-US" sz="2400" dirty="0">
                  <a:solidFill>
                    <a:schemeClr val="accent1"/>
                  </a:solidFill>
                  <a:effectLst>
                    <a:glow rad="76200">
                      <a:prstClr val="white"/>
                    </a:glow>
                  </a:effectLst>
                  <a:latin typeface="微软雅黑" panose="020B0503020204020204" pitchFamily="34" charset="-122"/>
                  <a:ea typeface="微软雅黑" panose="020B0503020204020204" pitchFamily="34" charset="-122"/>
                </a:rPr>
                <a:t>㎡</a:t>
              </a:r>
              <a:endParaRPr lang="en-US" altLang="zh-CN" sz="2400" dirty="0">
                <a:solidFill>
                  <a:schemeClr val="accent1"/>
                </a:solidFill>
                <a:effectLst>
                  <a:glow rad="76200">
                    <a:prstClr val="white"/>
                  </a:glow>
                </a:effectLst>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63308575-48D9-9B8E-4C5D-D5D512C05729}"/>
                </a:ext>
              </a:extLst>
            </p:cNvPr>
            <p:cNvSpPr txBox="1"/>
            <p:nvPr/>
          </p:nvSpPr>
          <p:spPr>
            <a:xfrm>
              <a:off x="4924353" y="6102566"/>
              <a:ext cx="2630948" cy="367408"/>
            </a:xfrm>
            <a:prstGeom prst="rect">
              <a:avLst/>
            </a:prstGeom>
            <a:noFill/>
          </p:spPr>
          <p:txBody>
            <a:bodyPr wrap="square">
              <a:spAutoFit/>
            </a:bodyPr>
            <a:lstStyle/>
            <a:p>
              <a:pPr algn="ctr">
                <a:lnSpc>
                  <a:spcPct val="120000"/>
                </a:lnSpc>
              </a:pPr>
              <a:r>
                <a:rPr lang="en-US" altLang="zh-CN" sz="1600" dirty="0">
                  <a:solidFill>
                    <a:schemeClr val="accent1"/>
                  </a:solidFill>
                  <a:effectLst>
                    <a:glow rad="76200">
                      <a:prstClr val="white"/>
                    </a:glow>
                  </a:effectLst>
                  <a:latin typeface="微软雅黑" panose="020B0503020204020204" pitchFamily="34" charset="-122"/>
                  <a:ea typeface="微软雅黑" panose="020B0503020204020204" pitchFamily="34" charset="-122"/>
                </a:rPr>
                <a:t>XXXXX</a:t>
              </a:r>
              <a:r>
                <a:rPr lang="zh-CN" altLang="en-US" sz="1600" dirty="0">
                  <a:solidFill>
                    <a:schemeClr val="accent1"/>
                  </a:solidFill>
                  <a:effectLst>
                    <a:glow rad="76200">
                      <a:prstClr val="white"/>
                    </a:glow>
                  </a:effectLst>
                  <a:latin typeface="微软雅黑" panose="020B0503020204020204" pitchFamily="34" charset="-122"/>
                  <a:ea typeface="微软雅黑" panose="020B0503020204020204" pitchFamily="34" charset="-122"/>
                </a:rPr>
                <a:t>研究中心</a:t>
              </a:r>
              <a:endParaRPr lang="en-US" altLang="zh-CN" sz="1600" dirty="0">
                <a:solidFill>
                  <a:schemeClr val="accent1"/>
                </a:solidFill>
                <a:effectLst>
                  <a:glow rad="76200">
                    <a:prstClr val="white"/>
                  </a:glow>
                </a:effectLst>
                <a:latin typeface="微软雅黑" panose="020B0503020204020204" pitchFamily="34" charset="-122"/>
                <a:ea typeface="微软雅黑" panose="020B0503020204020204" pitchFamily="34" charset="-122"/>
              </a:endParaRPr>
            </a:p>
          </p:txBody>
        </p:sp>
      </p:grpSp>
      <p:grpSp>
        <p:nvGrpSpPr>
          <p:cNvPr id="29" name="组合 28">
            <a:extLst>
              <a:ext uri="{FF2B5EF4-FFF2-40B4-BE49-F238E27FC236}">
                <a16:creationId xmlns:a16="http://schemas.microsoft.com/office/drawing/2014/main" id="{D2A6422D-34CC-32A5-1D32-0CBCB0F61C8A}"/>
              </a:ext>
            </a:extLst>
          </p:cNvPr>
          <p:cNvGrpSpPr/>
          <p:nvPr/>
        </p:nvGrpSpPr>
        <p:grpSpPr>
          <a:xfrm>
            <a:off x="7310390" y="4351799"/>
            <a:ext cx="4365672" cy="2237000"/>
            <a:chOff x="7304159" y="4287749"/>
            <a:chExt cx="4365672" cy="2237000"/>
          </a:xfrm>
        </p:grpSpPr>
        <p:pic>
          <p:nvPicPr>
            <p:cNvPr id="30" name="图片 29">
              <a:extLst>
                <a:ext uri="{FF2B5EF4-FFF2-40B4-BE49-F238E27FC236}">
                  <a16:creationId xmlns:a16="http://schemas.microsoft.com/office/drawing/2014/main" id="{3915F8DE-F0AD-3470-2617-603F2ED35423}"/>
                </a:ext>
              </a:extLst>
            </p:cNvPr>
            <p:cNvPicPr>
              <a:picLocks noChangeAspect="1"/>
            </p:cNvPicPr>
            <p:nvPr/>
          </p:nvPicPr>
          <p:blipFill>
            <a:blip r:embed="rId5"/>
            <a:stretch>
              <a:fillRect/>
            </a:stretch>
          </p:blipFill>
          <p:spPr>
            <a:xfrm>
              <a:off x="7304159" y="4287749"/>
              <a:ext cx="1558632" cy="2237000"/>
            </a:xfrm>
            <a:prstGeom prst="rect">
              <a:avLst/>
            </a:prstGeom>
          </p:spPr>
        </p:pic>
        <p:pic>
          <p:nvPicPr>
            <p:cNvPr id="31" name="图片 30">
              <a:extLst>
                <a:ext uri="{FF2B5EF4-FFF2-40B4-BE49-F238E27FC236}">
                  <a16:creationId xmlns:a16="http://schemas.microsoft.com/office/drawing/2014/main" id="{4340EF17-F2EC-10D5-22F0-20965783D342}"/>
                </a:ext>
              </a:extLst>
            </p:cNvPr>
            <p:cNvPicPr>
              <a:picLocks noChangeAspect="1"/>
            </p:cNvPicPr>
            <p:nvPr/>
          </p:nvPicPr>
          <p:blipFill>
            <a:blip r:embed="rId5"/>
            <a:stretch>
              <a:fillRect/>
            </a:stretch>
          </p:blipFill>
          <p:spPr>
            <a:xfrm>
              <a:off x="8707679" y="4287749"/>
              <a:ext cx="1558632" cy="2237000"/>
            </a:xfrm>
            <a:prstGeom prst="rect">
              <a:avLst/>
            </a:prstGeom>
          </p:spPr>
        </p:pic>
        <p:pic>
          <p:nvPicPr>
            <p:cNvPr id="32" name="图片 31">
              <a:extLst>
                <a:ext uri="{FF2B5EF4-FFF2-40B4-BE49-F238E27FC236}">
                  <a16:creationId xmlns:a16="http://schemas.microsoft.com/office/drawing/2014/main" id="{0A398A32-2BC5-6C47-5FDE-686629DD650E}"/>
                </a:ext>
              </a:extLst>
            </p:cNvPr>
            <p:cNvPicPr>
              <a:picLocks noChangeAspect="1"/>
            </p:cNvPicPr>
            <p:nvPr/>
          </p:nvPicPr>
          <p:blipFill>
            <a:blip r:embed="rId5"/>
            <a:stretch>
              <a:fillRect/>
            </a:stretch>
          </p:blipFill>
          <p:spPr>
            <a:xfrm>
              <a:off x="10111199" y="4287749"/>
              <a:ext cx="1558632" cy="2237000"/>
            </a:xfrm>
            <a:prstGeom prst="rect">
              <a:avLst/>
            </a:prstGeom>
          </p:spPr>
        </p:pic>
      </p:grpSp>
      <p:sp>
        <p:nvSpPr>
          <p:cNvPr id="33" name="文本框 32">
            <a:extLst>
              <a:ext uri="{FF2B5EF4-FFF2-40B4-BE49-F238E27FC236}">
                <a16:creationId xmlns:a16="http://schemas.microsoft.com/office/drawing/2014/main" id="{2FDBA839-6004-B306-33E4-355C9EB47421}"/>
              </a:ext>
            </a:extLst>
          </p:cNvPr>
          <p:cNvSpPr txBox="1"/>
          <p:nvPr/>
        </p:nvSpPr>
        <p:spPr>
          <a:xfrm>
            <a:off x="7973409" y="5914143"/>
            <a:ext cx="3027173" cy="504946"/>
          </a:xfrm>
          <a:prstGeom prst="rect">
            <a:avLst/>
          </a:prstGeom>
          <a:noFill/>
        </p:spPr>
        <p:txBody>
          <a:bodyPr wrap="square">
            <a:spAutoFit/>
          </a:bodyPr>
          <a:lstStyle/>
          <a:p>
            <a:pPr algn="ctr">
              <a:lnSpc>
                <a:spcPct val="120000"/>
              </a:lnSpc>
            </a:pPr>
            <a:r>
              <a:rPr lang="zh-CN" altLang="en-US" sz="2400" dirty="0">
                <a:solidFill>
                  <a:schemeClr val="accent1"/>
                </a:solidFill>
                <a:effectLst>
                  <a:glow rad="76200">
                    <a:prstClr val="white"/>
                  </a:glow>
                </a:effectLst>
                <a:latin typeface="微软雅黑" panose="020B0503020204020204" pitchFamily="34" charset="-122"/>
                <a:ea typeface="微软雅黑" panose="020B0503020204020204" pitchFamily="34" charset="-122"/>
              </a:rPr>
              <a:t>前期研究成果</a:t>
            </a:r>
            <a:endParaRPr lang="en-US" altLang="zh-CN" sz="2400" dirty="0">
              <a:solidFill>
                <a:schemeClr val="accent1"/>
              </a:solidFill>
              <a:effectLst>
                <a:glow rad="76200">
                  <a:prstClr val="white"/>
                </a:glo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406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95727-EB63-8B05-C0BA-FC16CEA9655B}"/>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746D9152-48D3-E0A8-3FF3-2116404376ED}"/>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BF154AD5-A70A-1962-3AC7-43543A030B62}"/>
              </a:ext>
            </a:extLst>
          </p:cNvPr>
          <p:cNvSpPr txBox="1"/>
          <p:nvPr/>
        </p:nvSpPr>
        <p:spPr>
          <a:xfrm>
            <a:off x="946460" y="269201"/>
            <a:ext cx="7626039" cy="523220"/>
          </a:xfrm>
          <a:prstGeom prst="rect">
            <a:avLst/>
          </a:prstGeom>
          <a:noFill/>
        </p:spPr>
        <p:txBody>
          <a:bodyPr wrap="square">
            <a:spAutoFit/>
          </a:bodyPr>
          <a:lstStyle/>
          <a:p>
            <a:r>
              <a:rPr lang="zh-CN" altLang="en-US" sz="2800" b="1" dirty="0">
                <a:solidFill>
                  <a:schemeClr val="accent1"/>
                </a:solidFill>
              </a:rPr>
              <a:t>拟开展的研究工作</a:t>
            </a:r>
          </a:p>
        </p:txBody>
      </p:sp>
      <p:pic>
        <p:nvPicPr>
          <p:cNvPr id="2" name="图片 1">
            <a:extLst>
              <a:ext uri="{FF2B5EF4-FFF2-40B4-BE49-F238E27FC236}">
                <a16:creationId xmlns:a16="http://schemas.microsoft.com/office/drawing/2014/main" id="{5A1AD411-E3B9-A64A-CB29-582F6FE1466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510416" y="2563899"/>
            <a:ext cx="3221273" cy="1789596"/>
          </a:xfrm>
          <a:prstGeom prst="rect">
            <a:avLst/>
          </a:prstGeom>
          <a:ln>
            <a:solidFill>
              <a:sysClr val="window" lastClr="FFFFFF">
                <a:lumMod val="85000"/>
              </a:sysClr>
            </a:solidFill>
          </a:ln>
        </p:spPr>
      </p:pic>
      <p:pic>
        <p:nvPicPr>
          <p:cNvPr id="3" name="图片 2">
            <a:extLst>
              <a:ext uri="{FF2B5EF4-FFF2-40B4-BE49-F238E27FC236}">
                <a16:creationId xmlns:a16="http://schemas.microsoft.com/office/drawing/2014/main" id="{43B9BA38-8548-59AC-A240-E401A8C43F1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517908" y="4667250"/>
            <a:ext cx="3228742" cy="1635200"/>
          </a:xfrm>
          <a:prstGeom prst="rect">
            <a:avLst/>
          </a:prstGeom>
          <a:ln w="9525">
            <a:solidFill>
              <a:sysClr val="window" lastClr="FFFFFF">
                <a:lumMod val="85000"/>
              </a:sysClr>
            </a:solidFill>
          </a:ln>
        </p:spPr>
      </p:pic>
      <p:sp>
        <p:nvSpPr>
          <p:cNvPr id="5" name="矩形 4">
            <a:extLst>
              <a:ext uri="{FF2B5EF4-FFF2-40B4-BE49-F238E27FC236}">
                <a16:creationId xmlns:a16="http://schemas.microsoft.com/office/drawing/2014/main" id="{DA5D5E04-6FFA-55B0-FCE4-55ADB6993AE9}"/>
              </a:ext>
            </a:extLst>
          </p:cNvPr>
          <p:cNvSpPr/>
          <p:nvPr/>
        </p:nvSpPr>
        <p:spPr>
          <a:xfrm>
            <a:off x="475754" y="2554729"/>
            <a:ext cx="7482913" cy="1107340"/>
          </a:xfrm>
          <a:prstGeom prst="rect">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 name="箭头: 五边形 5">
            <a:extLst>
              <a:ext uri="{FF2B5EF4-FFF2-40B4-BE49-F238E27FC236}">
                <a16:creationId xmlns:a16="http://schemas.microsoft.com/office/drawing/2014/main" id="{BC4C96C0-40F4-6697-612F-651118C8A3AE}"/>
              </a:ext>
            </a:extLst>
          </p:cNvPr>
          <p:cNvSpPr/>
          <p:nvPr/>
        </p:nvSpPr>
        <p:spPr>
          <a:xfrm>
            <a:off x="475754" y="2556637"/>
            <a:ext cx="1690913" cy="1105432"/>
          </a:xfrm>
          <a:prstGeom prst="homePlate">
            <a:avLst>
              <a:gd name="adj" fmla="val 28405"/>
            </a:avLst>
          </a:prstGeom>
          <a:gradFill flip="none" rotWithShape="1">
            <a:gsLst>
              <a:gs pos="0">
                <a:schemeClr val="accent1"/>
              </a:gs>
              <a:gs pos="100000">
                <a:schemeClr val="accent2">
                  <a:lumMod val="50000"/>
                </a:schemeClr>
              </a:gs>
            </a:gsLst>
            <a:lin ang="81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endParaRPr>
          </a:p>
        </p:txBody>
      </p:sp>
      <p:sp>
        <p:nvSpPr>
          <p:cNvPr id="7" name="文本框 6">
            <a:extLst>
              <a:ext uri="{FF2B5EF4-FFF2-40B4-BE49-F238E27FC236}">
                <a16:creationId xmlns:a16="http://schemas.microsoft.com/office/drawing/2014/main" id="{9AEDF9D7-FD83-BA27-D36F-914C2C97960D}"/>
              </a:ext>
            </a:extLst>
          </p:cNvPr>
          <p:cNvSpPr txBox="1"/>
          <p:nvPr/>
        </p:nvSpPr>
        <p:spPr>
          <a:xfrm>
            <a:off x="475754" y="2611757"/>
            <a:ext cx="1384451" cy="993285"/>
          </a:xfrm>
          <a:prstGeom prst="rect">
            <a:avLst/>
          </a:prstGeom>
          <a:noFill/>
        </p:spPr>
        <p:txBody>
          <a:bodyPr wrap="square">
            <a:spAutoFit/>
          </a:bodyPr>
          <a:lstStyle/>
          <a:p>
            <a:pPr marL="0" marR="0" lvl="0" indent="0" algn="ctr" defTabSz="914400" eaLnBrk="1" fontAlgn="auto" latinLnBrk="0" hangingPunct="1">
              <a:lnSpc>
                <a:spcPct val="125000"/>
              </a:lnSpc>
              <a:spcBef>
                <a:spcPts val="120"/>
              </a:spcBef>
              <a:spcAft>
                <a:spcPts val="0"/>
              </a:spcAft>
              <a:buClrTx/>
              <a:buSzTx/>
              <a:buFontTx/>
              <a:buNone/>
              <a:tabLst/>
              <a:defRPr/>
            </a:pPr>
            <a:r>
              <a:rPr kumimoji="0" lang="zh-CN" altLang="en-US" sz="24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latin typeface="微软雅黑" panose="020B0503020204020204" pitchFamily="34" charset="-122"/>
                <a:ea typeface="微软雅黑" panose="020B0503020204020204" pitchFamily="34" charset="-122"/>
              </a:rPr>
              <a:t>前期</a:t>
            </a:r>
            <a:endParaRPr kumimoji="0" lang="en-US" altLang="zh-CN" sz="24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latin typeface="微软雅黑" panose="020B0503020204020204" pitchFamily="34" charset="-122"/>
              <a:ea typeface="微软雅黑" panose="020B0503020204020204" pitchFamily="34" charset="-122"/>
            </a:endParaRPr>
          </a:p>
          <a:p>
            <a:pPr marL="0" marR="0" lvl="0" indent="0" algn="ctr" defTabSz="914400" eaLnBrk="1" fontAlgn="auto" latinLnBrk="0" hangingPunct="1">
              <a:lnSpc>
                <a:spcPct val="125000"/>
              </a:lnSpc>
              <a:spcBef>
                <a:spcPts val="120"/>
              </a:spcBef>
              <a:spcAft>
                <a:spcPts val="0"/>
              </a:spcAft>
              <a:buClrTx/>
              <a:buSzTx/>
              <a:buFontTx/>
              <a:buNone/>
              <a:tabLst/>
              <a:defRPr/>
            </a:pPr>
            <a:r>
              <a:rPr kumimoji="0" lang="zh-CN" altLang="en-US" sz="24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latin typeface="微软雅黑" panose="020B0503020204020204" pitchFamily="34" charset="-122"/>
                <a:ea typeface="微软雅黑" panose="020B0503020204020204" pitchFamily="34" charset="-122"/>
              </a:rPr>
              <a:t>研究</a:t>
            </a:r>
            <a:endParaRPr kumimoji="0" lang="en-US" altLang="zh-CN" sz="2400" b="1"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latin typeface="微软雅黑" panose="020B0503020204020204" pitchFamily="34" charset="-122"/>
              <a:ea typeface="微软雅黑" panose="020B0503020204020204" pitchFamily="34" charset="-122"/>
            </a:endParaRPr>
          </a:p>
        </p:txBody>
      </p:sp>
      <p:sp>
        <p:nvSpPr>
          <p:cNvPr id="8" name="箭头: 右 7">
            <a:extLst>
              <a:ext uri="{FF2B5EF4-FFF2-40B4-BE49-F238E27FC236}">
                <a16:creationId xmlns:a16="http://schemas.microsoft.com/office/drawing/2014/main" id="{FA7F645B-8EE9-53A8-FAB9-F99A2808F266}"/>
              </a:ext>
            </a:extLst>
          </p:cNvPr>
          <p:cNvSpPr/>
          <p:nvPr/>
        </p:nvSpPr>
        <p:spPr>
          <a:xfrm rot="5400000">
            <a:off x="6288242" y="4417078"/>
            <a:ext cx="3900090" cy="175398"/>
          </a:xfrm>
          <a:prstGeom prst="rightArrow">
            <a:avLst>
              <a:gd name="adj1" fmla="val 50000"/>
              <a:gd name="adj2" fmla="val 42149"/>
            </a:avLst>
          </a:prstGeom>
          <a:gradFill flip="none" rotWithShape="1">
            <a:gsLst>
              <a:gs pos="0">
                <a:schemeClr val="accent1">
                  <a:alpha val="0"/>
                </a:schemeClr>
              </a:gs>
              <a:gs pos="100000">
                <a:schemeClr val="accent1"/>
              </a:gs>
            </a:gsLst>
            <a:lin ang="0" scaled="1"/>
            <a:tileRect/>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grpSp>
        <p:nvGrpSpPr>
          <p:cNvPr id="9" name="组合 8">
            <a:extLst>
              <a:ext uri="{FF2B5EF4-FFF2-40B4-BE49-F238E27FC236}">
                <a16:creationId xmlns:a16="http://schemas.microsoft.com/office/drawing/2014/main" id="{6BDF2B0B-E1F2-F072-850F-BC25DD259A10}"/>
              </a:ext>
            </a:extLst>
          </p:cNvPr>
          <p:cNvGrpSpPr/>
          <p:nvPr/>
        </p:nvGrpSpPr>
        <p:grpSpPr>
          <a:xfrm>
            <a:off x="8510416" y="4063865"/>
            <a:ext cx="3238672" cy="400110"/>
            <a:chOff x="2905870" y="6125586"/>
            <a:chExt cx="3238672" cy="400110"/>
          </a:xfrm>
        </p:grpSpPr>
        <p:sp>
          <p:nvSpPr>
            <p:cNvPr id="10" name="矩形 9">
              <a:extLst>
                <a:ext uri="{FF2B5EF4-FFF2-40B4-BE49-F238E27FC236}">
                  <a16:creationId xmlns:a16="http://schemas.microsoft.com/office/drawing/2014/main" id="{8018E114-2DA5-A795-5C88-DFE3951C98EB}"/>
                </a:ext>
              </a:extLst>
            </p:cNvPr>
            <p:cNvSpPr/>
            <p:nvPr/>
          </p:nvSpPr>
          <p:spPr>
            <a:xfrm>
              <a:off x="2905870" y="6125586"/>
              <a:ext cx="3238672" cy="400110"/>
            </a:xfrm>
            <a:prstGeom prst="rect">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1" name="文本框 10">
              <a:extLst>
                <a:ext uri="{FF2B5EF4-FFF2-40B4-BE49-F238E27FC236}">
                  <a16:creationId xmlns:a16="http://schemas.microsoft.com/office/drawing/2014/main" id="{94AEE657-042C-B53E-B399-AF93A09A1585}"/>
                </a:ext>
              </a:extLst>
            </p:cNvPr>
            <p:cNvSpPr txBox="1"/>
            <p:nvPr/>
          </p:nvSpPr>
          <p:spPr>
            <a:xfrm>
              <a:off x="3221954" y="6140975"/>
              <a:ext cx="2710600" cy="369332"/>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white"/>
                  </a:solidFill>
                  <a:effectLst>
                    <a:outerShdw blurRad="50800" dist="38100" dir="5400000" algn="t" rotWithShape="0">
                      <a:srgbClr val="0B4FA1">
                        <a:lumMod val="50000"/>
                        <a:alpha val="40000"/>
                      </a:srgbClr>
                    </a:outerShdw>
                  </a:effectLst>
                  <a:uLnTx/>
                  <a:uFillTx/>
                  <a:latin typeface="微软雅黑" panose="020B0503020204020204" pitchFamily="34" charset="-122"/>
                  <a:ea typeface="微软雅黑" panose="020B0503020204020204" pitchFamily="34" charset="-122"/>
                </a:rPr>
                <a:t>高光谱遥感构造解译图</a:t>
              </a:r>
            </a:p>
          </p:txBody>
        </p:sp>
      </p:grpSp>
      <p:sp>
        <p:nvSpPr>
          <p:cNvPr id="12" name="矩形 11">
            <a:extLst>
              <a:ext uri="{FF2B5EF4-FFF2-40B4-BE49-F238E27FC236}">
                <a16:creationId xmlns:a16="http://schemas.microsoft.com/office/drawing/2014/main" id="{6F751443-3547-A898-D187-2FC6B5B13A41}"/>
              </a:ext>
            </a:extLst>
          </p:cNvPr>
          <p:cNvSpPr/>
          <p:nvPr/>
        </p:nvSpPr>
        <p:spPr>
          <a:xfrm>
            <a:off x="8510416" y="6038115"/>
            <a:ext cx="3246164" cy="400110"/>
          </a:xfrm>
          <a:prstGeom prst="rect">
            <a:avLst/>
          </a:prstGeom>
          <a:solidFill>
            <a:schemeClr val="accent1"/>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74DF7326-6DF8-739B-D18E-6FA9C910F053}"/>
              </a:ext>
            </a:extLst>
          </p:cNvPr>
          <p:cNvSpPr txBox="1"/>
          <p:nvPr/>
        </p:nvSpPr>
        <p:spPr>
          <a:xfrm>
            <a:off x="8632962" y="6053504"/>
            <a:ext cx="2993580" cy="369332"/>
          </a:xfrm>
          <a:prstGeom prst="rect">
            <a:avLst/>
          </a:prstGeom>
          <a:noFill/>
        </p:spPr>
        <p:txBody>
          <a:bodyPr wrap="square">
            <a:spAutoFit/>
          </a:bodyPr>
          <a:lstStyle/>
          <a:p>
            <a:pPr algn="ctr"/>
            <a:r>
              <a:rPr lang="zh-CN" altLang="en-US"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南金滩金矿区矿物填图结果</a:t>
            </a:r>
          </a:p>
        </p:txBody>
      </p:sp>
      <p:sp>
        <p:nvSpPr>
          <p:cNvPr id="14" name="任意多边形: 形状 93">
            <a:extLst>
              <a:ext uri="{FF2B5EF4-FFF2-40B4-BE49-F238E27FC236}">
                <a16:creationId xmlns:a16="http://schemas.microsoft.com/office/drawing/2014/main" id="{AF1BF063-7278-CF65-8ADD-CE545C77BE17}"/>
              </a:ext>
            </a:extLst>
          </p:cNvPr>
          <p:cNvSpPr/>
          <p:nvPr/>
        </p:nvSpPr>
        <p:spPr>
          <a:xfrm rot="5400000">
            <a:off x="5590187" y="-4418609"/>
            <a:ext cx="1011626" cy="12192000"/>
          </a:xfrm>
          <a:prstGeom prst="rect">
            <a:avLst/>
          </a:prstGeom>
          <a:gradFill>
            <a:gsLst>
              <a:gs pos="0">
                <a:schemeClr val="accent1"/>
              </a:gs>
              <a:gs pos="100000">
                <a:schemeClr val="accent2">
                  <a:lumMod val="75000"/>
                </a:schemeClr>
              </a:gs>
            </a:gsLst>
            <a:lin ang="5400000" scaled="1"/>
          </a:gradFill>
          <a:ln w="19050" cap="flat" cmpd="sng" algn="ctr">
            <a:noFill/>
            <a:prstDash val="solid"/>
            <a:miter lim="800000"/>
          </a:ln>
          <a:effectLst>
            <a:outerShdw blurRad="152400" dist="190500" dir="13500000" algn="ctr" rotWithShape="0">
              <a:sysClr val="window" lastClr="FFFFFF">
                <a:alpha val="29000"/>
              </a:sys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文本框 14">
            <a:extLst>
              <a:ext uri="{FF2B5EF4-FFF2-40B4-BE49-F238E27FC236}">
                <a16:creationId xmlns:a16="http://schemas.microsoft.com/office/drawing/2014/main" id="{07DD5E1B-BAB7-9A7F-1DBA-E50831F08433}"/>
              </a:ext>
            </a:extLst>
          </p:cNvPr>
          <p:cNvSpPr txBox="1"/>
          <p:nvPr/>
        </p:nvSpPr>
        <p:spPr>
          <a:xfrm>
            <a:off x="463384" y="1203319"/>
            <a:ext cx="11285704" cy="948145"/>
          </a:xfrm>
          <a:prstGeom prst="rect">
            <a:avLst/>
          </a:prstGeom>
          <a:noFill/>
        </p:spPr>
        <p:txBody>
          <a:bodyPr wrap="square">
            <a:spAutoFit/>
          </a:bodyPr>
          <a:lstStyle/>
          <a:p>
            <a:pPr>
              <a:lnSpc>
                <a:spcPct val="120000"/>
              </a:lnSpc>
            </a:pPr>
            <a:r>
              <a:rPr lang="zh-CN" altLang="en-US" sz="2400" b="1" dirty="0">
                <a:solidFill>
                  <a:schemeClr val="bg1"/>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利用遥感信息与国家级重点实验室的航空高光谱遥感成像系统，开展了航空高光谱遥感金矿床定位模型及找矿应用研究</a:t>
            </a:r>
          </a:p>
        </p:txBody>
      </p:sp>
      <p:sp>
        <p:nvSpPr>
          <p:cNvPr id="16" name="梯形 15">
            <a:extLst>
              <a:ext uri="{FF2B5EF4-FFF2-40B4-BE49-F238E27FC236}">
                <a16:creationId xmlns:a16="http://schemas.microsoft.com/office/drawing/2014/main" id="{75E5DAE3-CCC6-A7C3-729F-C270C383E857}"/>
              </a:ext>
            </a:extLst>
          </p:cNvPr>
          <p:cNvSpPr/>
          <p:nvPr/>
        </p:nvSpPr>
        <p:spPr>
          <a:xfrm flipV="1">
            <a:off x="0" y="2168406"/>
            <a:ext cx="12192000" cy="320928"/>
          </a:xfrm>
          <a:prstGeom prst="trapezoid">
            <a:avLst>
              <a:gd name="adj" fmla="val 271875"/>
            </a:avLst>
          </a:prstGeom>
          <a:gradFill>
            <a:gsLst>
              <a:gs pos="22000">
                <a:schemeClr val="accent1">
                  <a:alpha val="0"/>
                </a:schemeClr>
              </a:gs>
              <a:gs pos="81000">
                <a:schemeClr val="accent1">
                  <a:alpha val="15000"/>
                </a:schemeClr>
              </a:gs>
            </a:gsLst>
            <a:lin ang="5400000" scaled="1"/>
          </a:gra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endParaRPr>
          </a:p>
        </p:txBody>
      </p:sp>
      <p:sp>
        <p:nvSpPr>
          <p:cNvPr id="17" name="矩形 16">
            <a:extLst>
              <a:ext uri="{FF2B5EF4-FFF2-40B4-BE49-F238E27FC236}">
                <a16:creationId xmlns:a16="http://schemas.microsoft.com/office/drawing/2014/main" id="{E31BB6A2-4A34-930D-29C9-045EE190BE7E}"/>
              </a:ext>
            </a:extLst>
          </p:cNvPr>
          <p:cNvSpPr/>
          <p:nvPr/>
        </p:nvSpPr>
        <p:spPr>
          <a:xfrm>
            <a:off x="475754" y="3951105"/>
            <a:ext cx="7482913" cy="1107340"/>
          </a:xfrm>
          <a:prstGeom prst="rect">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8" name="箭头: 五边形 17">
            <a:extLst>
              <a:ext uri="{FF2B5EF4-FFF2-40B4-BE49-F238E27FC236}">
                <a16:creationId xmlns:a16="http://schemas.microsoft.com/office/drawing/2014/main" id="{44A1F4FC-2A14-F695-A09D-D483A90E78FA}"/>
              </a:ext>
            </a:extLst>
          </p:cNvPr>
          <p:cNvSpPr/>
          <p:nvPr/>
        </p:nvSpPr>
        <p:spPr>
          <a:xfrm>
            <a:off x="475754" y="3953013"/>
            <a:ext cx="1690913" cy="1105432"/>
          </a:xfrm>
          <a:prstGeom prst="homePlate">
            <a:avLst>
              <a:gd name="adj" fmla="val 28405"/>
            </a:avLst>
          </a:prstGeom>
          <a:gradFill flip="none" rotWithShape="1">
            <a:gsLst>
              <a:gs pos="0">
                <a:schemeClr val="accent1"/>
              </a:gs>
              <a:gs pos="100000">
                <a:schemeClr val="accent2">
                  <a:lumMod val="50000"/>
                </a:schemeClr>
              </a:gs>
            </a:gsLst>
            <a:lin ang="8100000" scaled="1"/>
            <a:tileRect/>
          </a:gradFill>
          <a:ln w="12700" cap="flat" cmpd="sng" algn="ctr">
            <a:noFill/>
            <a:prstDash val="solid"/>
            <a:miter lim="800000"/>
          </a:ln>
          <a:effectLst/>
        </p:spPr>
        <p:txBody>
          <a:bodyPr rtlCol="0" anchor="ctr"/>
          <a:lstStyle/>
          <a:p>
            <a:pPr algn="ctr"/>
            <a:endParaRPr lang="zh-CN" altLang="en-US" kern="0">
              <a:solidFill>
                <a:prstClr val="white"/>
              </a:solidFill>
            </a:endParaRPr>
          </a:p>
        </p:txBody>
      </p:sp>
      <p:sp>
        <p:nvSpPr>
          <p:cNvPr id="19" name="文本框 18">
            <a:extLst>
              <a:ext uri="{FF2B5EF4-FFF2-40B4-BE49-F238E27FC236}">
                <a16:creationId xmlns:a16="http://schemas.microsoft.com/office/drawing/2014/main" id="{17C219AF-170E-A731-3304-CB2A0C9C8117}"/>
              </a:ext>
            </a:extLst>
          </p:cNvPr>
          <p:cNvSpPr txBox="1"/>
          <p:nvPr/>
        </p:nvSpPr>
        <p:spPr>
          <a:xfrm>
            <a:off x="475754" y="4008133"/>
            <a:ext cx="1384451" cy="993285"/>
          </a:xfrm>
          <a:prstGeom prst="rect">
            <a:avLst/>
          </a:prstGeom>
          <a:noFill/>
        </p:spPr>
        <p:txBody>
          <a:bodyPr wrap="square">
            <a:spAutoFit/>
          </a:bodyPr>
          <a:lstStyle/>
          <a:p>
            <a:pPr algn="ctr">
              <a:lnSpc>
                <a:spcPct val="125000"/>
              </a:lnSpc>
              <a:spcBef>
                <a:spcPts val="120"/>
              </a:spcBef>
              <a:defRPr/>
            </a:pPr>
            <a:r>
              <a:rPr lang="zh-CN" altLang="en-US"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中期</a:t>
            </a:r>
            <a:endParaRPr lang="en-US" altLang="zh-CN"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endParaRPr>
          </a:p>
          <a:p>
            <a:pPr algn="ctr">
              <a:lnSpc>
                <a:spcPct val="125000"/>
              </a:lnSpc>
              <a:spcBef>
                <a:spcPts val="120"/>
              </a:spcBef>
              <a:defRPr/>
            </a:pPr>
            <a:r>
              <a:rPr lang="zh-CN" altLang="en-US"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研究</a:t>
            </a:r>
            <a:endParaRPr lang="en-US" altLang="zh-CN"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85F77D7B-D36C-55FE-9E02-233C9FD1065E}"/>
              </a:ext>
            </a:extLst>
          </p:cNvPr>
          <p:cNvSpPr/>
          <p:nvPr/>
        </p:nvSpPr>
        <p:spPr>
          <a:xfrm>
            <a:off x="475754" y="5347480"/>
            <a:ext cx="7482913" cy="1107340"/>
          </a:xfrm>
          <a:prstGeom prst="rect">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21" name="箭头: 五边形 20">
            <a:extLst>
              <a:ext uri="{FF2B5EF4-FFF2-40B4-BE49-F238E27FC236}">
                <a16:creationId xmlns:a16="http://schemas.microsoft.com/office/drawing/2014/main" id="{EDDCBB12-AD58-FE54-BDC2-3E4130B693C2}"/>
              </a:ext>
            </a:extLst>
          </p:cNvPr>
          <p:cNvSpPr/>
          <p:nvPr/>
        </p:nvSpPr>
        <p:spPr>
          <a:xfrm>
            <a:off x="475754" y="5349388"/>
            <a:ext cx="1690913" cy="1105432"/>
          </a:xfrm>
          <a:prstGeom prst="homePlate">
            <a:avLst>
              <a:gd name="adj" fmla="val 28405"/>
            </a:avLst>
          </a:prstGeom>
          <a:gradFill flip="none" rotWithShape="1">
            <a:gsLst>
              <a:gs pos="0">
                <a:schemeClr val="accent1"/>
              </a:gs>
              <a:gs pos="100000">
                <a:schemeClr val="accent2">
                  <a:lumMod val="50000"/>
                </a:schemeClr>
              </a:gs>
            </a:gsLst>
            <a:lin ang="8100000" scaled="1"/>
            <a:tileRect/>
          </a:gradFill>
          <a:ln w="12700" cap="flat" cmpd="sng" algn="ctr">
            <a:noFill/>
            <a:prstDash val="solid"/>
            <a:miter lim="800000"/>
          </a:ln>
          <a:effectLst/>
        </p:spPr>
        <p:txBody>
          <a:bodyPr rtlCol="0" anchor="ctr"/>
          <a:lstStyle/>
          <a:p>
            <a:pPr algn="ctr"/>
            <a:endParaRPr lang="zh-CN" altLang="en-US" kern="0">
              <a:solidFill>
                <a:prstClr val="white"/>
              </a:solidFill>
            </a:endParaRPr>
          </a:p>
        </p:txBody>
      </p:sp>
      <p:sp>
        <p:nvSpPr>
          <p:cNvPr id="22" name="文本框 21">
            <a:extLst>
              <a:ext uri="{FF2B5EF4-FFF2-40B4-BE49-F238E27FC236}">
                <a16:creationId xmlns:a16="http://schemas.microsoft.com/office/drawing/2014/main" id="{3A84DD4E-E8EF-3E85-295B-BD1EE84C42DA}"/>
              </a:ext>
            </a:extLst>
          </p:cNvPr>
          <p:cNvSpPr txBox="1"/>
          <p:nvPr/>
        </p:nvSpPr>
        <p:spPr>
          <a:xfrm>
            <a:off x="475754" y="5404508"/>
            <a:ext cx="1384451" cy="993285"/>
          </a:xfrm>
          <a:prstGeom prst="rect">
            <a:avLst/>
          </a:prstGeom>
          <a:noFill/>
        </p:spPr>
        <p:txBody>
          <a:bodyPr wrap="square">
            <a:spAutoFit/>
          </a:bodyPr>
          <a:lstStyle/>
          <a:p>
            <a:pPr algn="ctr">
              <a:lnSpc>
                <a:spcPct val="125000"/>
              </a:lnSpc>
              <a:spcBef>
                <a:spcPts val="120"/>
              </a:spcBef>
              <a:defRPr/>
            </a:pPr>
            <a:r>
              <a:rPr lang="zh-CN" altLang="en-US"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后期</a:t>
            </a:r>
            <a:endParaRPr lang="en-US" altLang="zh-CN"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endParaRPr>
          </a:p>
          <a:p>
            <a:pPr algn="ctr">
              <a:lnSpc>
                <a:spcPct val="125000"/>
              </a:lnSpc>
              <a:spcBef>
                <a:spcPts val="120"/>
              </a:spcBef>
              <a:defRPr/>
            </a:pPr>
            <a:r>
              <a:rPr lang="zh-CN" altLang="en-US"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研究</a:t>
            </a:r>
            <a:endParaRPr lang="en-US" altLang="zh-CN" sz="2400" b="1"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F7E2FE61-EA32-A58C-DE37-BF4CDE699E5D}"/>
              </a:ext>
            </a:extLst>
          </p:cNvPr>
          <p:cNvSpPr txBox="1"/>
          <p:nvPr/>
        </p:nvSpPr>
        <p:spPr>
          <a:xfrm>
            <a:off x="2166667" y="2629101"/>
            <a:ext cx="5799492" cy="958596"/>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提取金矿床范围的蚀变信息，分析其标志性蚀变矿物组合，并对其控制要素和成矿环境进行地质分析</a:t>
            </a:r>
            <a:endParaRPr lang="en-US" altLang="zh-CN" sz="1600"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建立金矿床的定位模型</a:t>
            </a:r>
          </a:p>
        </p:txBody>
      </p:sp>
      <p:sp>
        <p:nvSpPr>
          <p:cNvPr id="24" name="文本框 23">
            <a:extLst>
              <a:ext uri="{FF2B5EF4-FFF2-40B4-BE49-F238E27FC236}">
                <a16:creationId xmlns:a16="http://schemas.microsoft.com/office/drawing/2014/main" id="{56B6D1E6-DB5F-2DB1-A22C-8F41DA901214}"/>
              </a:ext>
            </a:extLst>
          </p:cNvPr>
          <p:cNvSpPr txBox="1"/>
          <p:nvPr/>
        </p:nvSpPr>
        <p:spPr>
          <a:xfrm>
            <a:off x="2166667" y="4025477"/>
            <a:ext cx="5758891" cy="958596"/>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改进传统的矿物识别和填图方法</a:t>
            </a:r>
            <a:endParaRPr lang="en-US" altLang="zh-CN" sz="1600"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将矿物 光谱特征参数的识别技术和光谱的相似性填图方法相结合；注入地质学和矿物学的专业知识</a:t>
            </a:r>
          </a:p>
        </p:txBody>
      </p:sp>
      <p:sp>
        <p:nvSpPr>
          <p:cNvPr id="25" name="文本框 24">
            <a:extLst>
              <a:ext uri="{FF2B5EF4-FFF2-40B4-BE49-F238E27FC236}">
                <a16:creationId xmlns:a16="http://schemas.microsoft.com/office/drawing/2014/main" id="{41151D21-587E-4909-CDC9-85D78B71EEE4}"/>
              </a:ext>
            </a:extLst>
          </p:cNvPr>
          <p:cNvSpPr txBox="1"/>
          <p:nvPr/>
        </p:nvSpPr>
        <p:spPr>
          <a:xfrm>
            <a:off x="2166667" y="5421852"/>
            <a:ext cx="5677459" cy="958596"/>
          </a:xfrm>
          <a:prstGeom prst="rect">
            <a:avLst/>
          </a:prstGeom>
          <a:noFill/>
        </p:spPr>
        <p:txBody>
          <a:bodyPr wrap="square">
            <a:spAutoFit/>
          </a:bodyPr>
          <a:lstStyle/>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开展有针对性的二次填图</a:t>
            </a:r>
            <a:endParaRPr lang="en-US" altLang="zh-CN" sz="1600"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对填图的效果 及时进行野外查证，对漏填的矿物进行有针对性的重新提取，并检验或改正已提取矿物的位置和范围</a:t>
            </a:r>
          </a:p>
        </p:txBody>
      </p:sp>
    </p:spTree>
    <p:extLst>
      <p:ext uri="{BB962C8B-B14F-4D97-AF65-F5344CB8AC3E}">
        <p14:creationId xmlns:p14="http://schemas.microsoft.com/office/powerpoint/2010/main" val="3176312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C80D6-7D14-1C95-AEC8-D2AF0317E350}"/>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D3D8BE58-E9E8-4C33-6FE6-D38EF27C3F73}"/>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5537F0F4-F5CF-D204-5827-ABB0447E60B9}"/>
              </a:ext>
            </a:extLst>
          </p:cNvPr>
          <p:cNvSpPr txBox="1"/>
          <p:nvPr/>
        </p:nvSpPr>
        <p:spPr>
          <a:xfrm>
            <a:off x="946460" y="269201"/>
            <a:ext cx="7626039" cy="523220"/>
          </a:xfrm>
          <a:prstGeom prst="rect">
            <a:avLst/>
          </a:prstGeom>
          <a:noFill/>
        </p:spPr>
        <p:txBody>
          <a:bodyPr wrap="square">
            <a:spAutoFit/>
          </a:bodyPr>
          <a:lstStyle/>
          <a:p>
            <a:r>
              <a:rPr lang="zh-CN" altLang="en-US" sz="2800" b="1" dirty="0">
                <a:solidFill>
                  <a:schemeClr val="accent1"/>
                </a:solidFill>
              </a:rPr>
              <a:t>拟开展的研究工作</a:t>
            </a:r>
          </a:p>
        </p:txBody>
      </p:sp>
      <p:sp>
        <p:nvSpPr>
          <p:cNvPr id="29" name="矩形 28">
            <a:extLst>
              <a:ext uri="{FF2B5EF4-FFF2-40B4-BE49-F238E27FC236}">
                <a16:creationId xmlns:a16="http://schemas.microsoft.com/office/drawing/2014/main" id="{486DB2DD-26A7-4F49-1C5A-2C1060A6A70C}"/>
              </a:ext>
            </a:extLst>
          </p:cNvPr>
          <p:cNvSpPr/>
          <p:nvPr/>
        </p:nvSpPr>
        <p:spPr>
          <a:xfrm>
            <a:off x="442913" y="1388747"/>
            <a:ext cx="1146384" cy="1015663"/>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30" name="矩形 29">
            <a:extLst>
              <a:ext uri="{FF2B5EF4-FFF2-40B4-BE49-F238E27FC236}">
                <a16:creationId xmlns:a16="http://schemas.microsoft.com/office/drawing/2014/main" id="{74E647F0-CC25-CFDB-D456-9EC67973660C}"/>
              </a:ext>
            </a:extLst>
          </p:cNvPr>
          <p:cNvSpPr/>
          <p:nvPr/>
        </p:nvSpPr>
        <p:spPr>
          <a:xfrm>
            <a:off x="1650324" y="1388747"/>
            <a:ext cx="1146384" cy="1015663"/>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31" name="矩形 30">
            <a:extLst>
              <a:ext uri="{FF2B5EF4-FFF2-40B4-BE49-F238E27FC236}">
                <a16:creationId xmlns:a16="http://schemas.microsoft.com/office/drawing/2014/main" id="{C40145FC-A1E6-568D-50AD-C8A4DF6526C9}"/>
              </a:ext>
            </a:extLst>
          </p:cNvPr>
          <p:cNvSpPr/>
          <p:nvPr/>
        </p:nvSpPr>
        <p:spPr>
          <a:xfrm>
            <a:off x="2857734" y="1388747"/>
            <a:ext cx="1146384" cy="1015663"/>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32" name="矩形 31">
            <a:extLst>
              <a:ext uri="{FF2B5EF4-FFF2-40B4-BE49-F238E27FC236}">
                <a16:creationId xmlns:a16="http://schemas.microsoft.com/office/drawing/2014/main" id="{C5482AC0-6B40-885E-EF53-89C9E0597F57}"/>
              </a:ext>
            </a:extLst>
          </p:cNvPr>
          <p:cNvSpPr/>
          <p:nvPr/>
        </p:nvSpPr>
        <p:spPr>
          <a:xfrm>
            <a:off x="4065145" y="1388747"/>
            <a:ext cx="1146384" cy="1015663"/>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33" name="矩形 32">
            <a:extLst>
              <a:ext uri="{FF2B5EF4-FFF2-40B4-BE49-F238E27FC236}">
                <a16:creationId xmlns:a16="http://schemas.microsoft.com/office/drawing/2014/main" id="{447250B7-349F-34A6-6E24-1BCCF4879ACF}"/>
              </a:ext>
            </a:extLst>
          </p:cNvPr>
          <p:cNvSpPr/>
          <p:nvPr/>
        </p:nvSpPr>
        <p:spPr>
          <a:xfrm>
            <a:off x="5272555" y="1388747"/>
            <a:ext cx="1146384" cy="1015663"/>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34" name="矩形 33">
            <a:extLst>
              <a:ext uri="{FF2B5EF4-FFF2-40B4-BE49-F238E27FC236}">
                <a16:creationId xmlns:a16="http://schemas.microsoft.com/office/drawing/2014/main" id="{3CBAED51-B2F5-0BAD-0758-396252681F52}"/>
              </a:ext>
            </a:extLst>
          </p:cNvPr>
          <p:cNvSpPr/>
          <p:nvPr/>
        </p:nvSpPr>
        <p:spPr>
          <a:xfrm>
            <a:off x="6479966" y="1388747"/>
            <a:ext cx="1146384" cy="1015663"/>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cxnSp>
        <p:nvCxnSpPr>
          <p:cNvPr id="35" name="直接连接符 34">
            <a:extLst>
              <a:ext uri="{FF2B5EF4-FFF2-40B4-BE49-F238E27FC236}">
                <a16:creationId xmlns:a16="http://schemas.microsoft.com/office/drawing/2014/main" id="{F4FEF3F9-B91A-DB75-B15C-0B9DB788B884}"/>
              </a:ext>
            </a:extLst>
          </p:cNvPr>
          <p:cNvCxnSpPr>
            <a:cxnSpLocks/>
          </p:cNvCxnSpPr>
          <p:nvPr/>
        </p:nvCxnSpPr>
        <p:spPr>
          <a:xfrm>
            <a:off x="442913" y="1118533"/>
            <a:ext cx="0" cy="168275"/>
          </a:xfrm>
          <a:prstGeom prst="line">
            <a:avLst/>
          </a:prstGeom>
          <a:noFill/>
          <a:ln w="12700" cap="flat" cmpd="sng" algn="ctr">
            <a:solidFill>
              <a:sysClr val="windowText" lastClr="000000">
                <a:lumMod val="75000"/>
                <a:lumOff val="25000"/>
              </a:sysClr>
            </a:solidFill>
            <a:prstDash val="solid"/>
            <a:miter lim="800000"/>
          </a:ln>
          <a:effectLst/>
        </p:spPr>
      </p:cxnSp>
      <p:cxnSp>
        <p:nvCxnSpPr>
          <p:cNvPr id="36" name="直接连接符 35">
            <a:extLst>
              <a:ext uri="{FF2B5EF4-FFF2-40B4-BE49-F238E27FC236}">
                <a16:creationId xmlns:a16="http://schemas.microsoft.com/office/drawing/2014/main" id="{4BF7106A-D16E-818D-2D48-F7D863F4CCCC}"/>
              </a:ext>
            </a:extLst>
          </p:cNvPr>
          <p:cNvCxnSpPr>
            <a:cxnSpLocks/>
          </p:cNvCxnSpPr>
          <p:nvPr/>
        </p:nvCxnSpPr>
        <p:spPr>
          <a:xfrm>
            <a:off x="4034631" y="1118533"/>
            <a:ext cx="0" cy="168275"/>
          </a:xfrm>
          <a:prstGeom prst="line">
            <a:avLst/>
          </a:prstGeom>
          <a:noFill/>
          <a:ln w="12700" cap="flat" cmpd="sng" algn="ctr">
            <a:solidFill>
              <a:sysClr val="windowText" lastClr="000000">
                <a:lumMod val="75000"/>
                <a:lumOff val="25000"/>
              </a:sysClr>
            </a:solidFill>
            <a:prstDash val="solid"/>
            <a:miter lim="800000"/>
          </a:ln>
          <a:effectLst/>
        </p:spPr>
      </p:cxnSp>
      <p:sp>
        <p:nvSpPr>
          <p:cNvPr id="37" name="文本框 36">
            <a:extLst>
              <a:ext uri="{FF2B5EF4-FFF2-40B4-BE49-F238E27FC236}">
                <a16:creationId xmlns:a16="http://schemas.microsoft.com/office/drawing/2014/main" id="{15D0B880-649F-9108-E4C9-139D248D8837}"/>
              </a:ext>
            </a:extLst>
          </p:cNvPr>
          <p:cNvSpPr txBox="1"/>
          <p:nvPr/>
        </p:nvSpPr>
        <p:spPr>
          <a:xfrm>
            <a:off x="1808980" y="1064171"/>
            <a:ext cx="829073" cy="307777"/>
          </a:xfrm>
          <a:prstGeom prst="rect">
            <a:avLst/>
          </a:prstGeom>
          <a:noFill/>
        </p:spPr>
        <p:txBody>
          <a:bodyPr wrap="none">
            <a:spAutoFit/>
          </a:bodyPr>
          <a:lstStyle/>
          <a:p>
            <a:pPr algn="ctr">
              <a:defRPr/>
            </a:pPr>
            <a:r>
              <a:rPr lang="zh-CN" altLang="en-US" sz="1400" b="1" dirty="0">
                <a:solidFill>
                  <a:schemeClr val="accent1"/>
                </a:solidFill>
                <a:latin typeface="微软雅黑" panose="020B0503020204020204" pitchFamily="34" charset="-122"/>
                <a:ea typeface="微软雅黑" panose="020B0503020204020204" pitchFamily="34" charset="-122"/>
              </a:rPr>
              <a:t>第</a:t>
            </a:r>
            <a:r>
              <a:rPr lang="en-US" altLang="zh-CN" sz="1400" b="1" dirty="0">
                <a:solidFill>
                  <a:schemeClr val="accent1"/>
                </a:solidFill>
                <a:latin typeface="微软雅黑" panose="020B0503020204020204" pitchFamily="34" charset="-122"/>
                <a:ea typeface="微软雅黑" panose="020B0503020204020204" pitchFamily="34" charset="-122"/>
              </a:rPr>
              <a:t>2</a:t>
            </a:r>
            <a:r>
              <a:rPr lang="zh-CN" altLang="en-US" sz="1400" b="1" dirty="0">
                <a:solidFill>
                  <a:schemeClr val="accent1"/>
                </a:solidFill>
                <a:latin typeface="微软雅黑" panose="020B0503020204020204" pitchFamily="34" charset="-122"/>
                <a:ea typeface="微软雅黑" panose="020B0503020204020204" pitchFamily="34" charset="-122"/>
              </a:rPr>
              <a:t>季度</a:t>
            </a:r>
          </a:p>
        </p:txBody>
      </p:sp>
      <p:cxnSp>
        <p:nvCxnSpPr>
          <p:cNvPr id="38" name="直接箭头连接符 37">
            <a:extLst>
              <a:ext uri="{FF2B5EF4-FFF2-40B4-BE49-F238E27FC236}">
                <a16:creationId xmlns:a16="http://schemas.microsoft.com/office/drawing/2014/main" id="{98C02C50-6B13-8966-91D4-705FD5224D77}"/>
              </a:ext>
            </a:extLst>
          </p:cNvPr>
          <p:cNvCxnSpPr>
            <a:cxnSpLocks/>
          </p:cNvCxnSpPr>
          <p:nvPr/>
        </p:nvCxnSpPr>
        <p:spPr>
          <a:xfrm flipH="1">
            <a:off x="484091" y="1202670"/>
            <a:ext cx="1369493" cy="0"/>
          </a:xfrm>
          <a:prstGeom prst="straightConnector1">
            <a:avLst/>
          </a:prstGeom>
          <a:noFill/>
          <a:ln w="6350" cap="flat" cmpd="sng" algn="ctr">
            <a:solidFill>
              <a:sysClr val="windowText" lastClr="000000">
                <a:lumMod val="75000"/>
                <a:lumOff val="25000"/>
              </a:sysClr>
            </a:solidFill>
            <a:prstDash val="dash"/>
            <a:miter lim="800000"/>
            <a:tailEnd type="triangle"/>
          </a:ln>
          <a:effectLst/>
        </p:spPr>
      </p:cxnSp>
      <p:cxnSp>
        <p:nvCxnSpPr>
          <p:cNvPr id="39" name="直接箭头连接符 38">
            <a:extLst>
              <a:ext uri="{FF2B5EF4-FFF2-40B4-BE49-F238E27FC236}">
                <a16:creationId xmlns:a16="http://schemas.microsoft.com/office/drawing/2014/main" id="{6A05BCAC-517B-86FF-11A8-0578D10F0210}"/>
              </a:ext>
            </a:extLst>
          </p:cNvPr>
          <p:cNvCxnSpPr>
            <a:cxnSpLocks/>
          </p:cNvCxnSpPr>
          <p:nvPr/>
        </p:nvCxnSpPr>
        <p:spPr>
          <a:xfrm>
            <a:off x="2593447" y="1202670"/>
            <a:ext cx="1369493" cy="0"/>
          </a:xfrm>
          <a:prstGeom prst="straightConnector1">
            <a:avLst/>
          </a:prstGeom>
          <a:noFill/>
          <a:ln w="6350" cap="flat" cmpd="sng" algn="ctr">
            <a:solidFill>
              <a:sysClr val="windowText" lastClr="000000">
                <a:lumMod val="75000"/>
                <a:lumOff val="25000"/>
              </a:sysClr>
            </a:solidFill>
            <a:prstDash val="dash"/>
            <a:miter lim="800000"/>
            <a:tailEnd type="triangle"/>
          </a:ln>
          <a:effectLst/>
        </p:spPr>
      </p:cxnSp>
      <p:cxnSp>
        <p:nvCxnSpPr>
          <p:cNvPr id="40" name="直接连接符 39">
            <a:extLst>
              <a:ext uri="{FF2B5EF4-FFF2-40B4-BE49-F238E27FC236}">
                <a16:creationId xmlns:a16="http://schemas.microsoft.com/office/drawing/2014/main" id="{DA9C7BA8-9480-1EC5-44AF-8D9425B213C5}"/>
              </a:ext>
            </a:extLst>
          </p:cNvPr>
          <p:cNvCxnSpPr>
            <a:cxnSpLocks/>
          </p:cNvCxnSpPr>
          <p:nvPr/>
        </p:nvCxnSpPr>
        <p:spPr>
          <a:xfrm>
            <a:off x="7615685" y="1118533"/>
            <a:ext cx="0" cy="168275"/>
          </a:xfrm>
          <a:prstGeom prst="line">
            <a:avLst/>
          </a:prstGeom>
          <a:noFill/>
          <a:ln w="12700" cap="flat" cmpd="sng" algn="ctr">
            <a:solidFill>
              <a:sysClr val="windowText" lastClr="000000">
                <a:lumMod val="75000"/>
                <a:lumOff val="25000"/>
              </a:sysClr>
            </a:solidFill>
            <a:prstDash val="solid"/>
            <a:miter lim="800000"/>
          </a:ln>
          <a:effectLst/>
        </p:spPr>
      </p:cxnSp>
      <p:sp>
        <p:nvSpPr>
          <p:cNvPr id="41" name="文本框 40">
            <a:extLst>
              <a:ext uri="{FF2B5EF4-FFF2-40B4-BE49-F238E27FC236}">
                <a16:creationId xmlns:a16="http://schemas.microsoft.com/office/drawing/2014/main" id="{B4C9572D-8ADB-D8B4-3F5C-B798E778FA40}"/>
              </a:ext>
            </a:extLst>
          </p:cNvPr>
          <p:cNvSpPr txBox="1"/>
          <p:nvPr/>
        </p:nvSpPr>
        <p:spPr>
          <a:xfrm>
            <a:off x="5390032" y="1064171"/>
            <a:ext cx="829073" cy="307777"/>
          </a:xfrm>
          <a:prstGeom prst="rect">
            <a:avLst/>
          </a:prstGeom>
          <a:noFill/>
        </p:spPr>
        <p:txBody>
          <a:bodyPr wrap="none">
            <a:spAutoFit/>
          </a:bodyPr>
          <a:lstStyle/>
          <a:p>
            <a:pPr algn="ctr">
              <a:defRPr/>
            </a:pPr>
            <a:r>
              <a:rPr lang="zh-CN" altLang="en-US" sz="1400" b="1" dirty="0">
                <a:solidFill>
                  <a:schemeClr val="accent1"/>
                </a:solidFill>
                <a:latin typeface="微软雅黑" panose="020B0503020204020204" pitchFamily="34" charset="-122"/>
                <a:ea typeface="微软雅黑" panose="020B0503020204020204" pitchFamily="34" charset="-122"/>
              </a:rPr>
              <a:t>第</a:t>
            </a:r>
            <a:r>
              <a:rPr lang="en-US" altLang="zh-CN" sz="1400" b="1" dirty="0">
                <a:solidFill>
                  <a:schemeClr val="accent1"/>
                </a:solidFill>
                <a:latin typeface="微软雅黑" panose="020B0503020204020204" pitchFamily="34" charset="-122"/>
                <a:ea typeface="微软雅黑" panose="020B0503020204020204" pitchFamily="34" charset="-122"/>
              </a:rPr>
              <a:t>3</a:t>
            </a:r>
            <a:r>
              <a:rPr lang="zh-CN" altLang="en-US" sz="1400" b="1" dirty="0">
                <a:solidFill>
                  <a:schemeClr val="accent1"/>
                </a:solidFill>
                <a:latin typeface="微软雅黑" panose="020B0503020204020204" pitchFamily="34" charset="-122"/>
                <a:ea typeface="微软雅黑" panose="020B0503020204020204" pitchFamily="34" charset="-122"/>
              </a:rPr>
              <a:t>季度</a:t>
            </a:r>
          </a:p>
        </p:txBody>
      </p:sp>
      <p:grpSp>
        <p:nvGrpSpPr>
          <p:cNvPr id="42" name="组合 41">
            <a:extLst>
              <a:ext uri="{FF2B5EF4-FFF2-40B4-BE49-F238E27FC236}">
                <a16:creationId xmlns:a16="http://schemas.microsoft.com/office/drawing/2014/main" id="{4A818CCB-B7EC-0ED5-7364-AC46658F8997}"/>
              </a:ext>
            </a:extLst>
          </p:cNvPr>
          <p:cNvGrpSpPr/>
          <p:nvPr/>
        </p:nvGrpSpPr>
        <p:grpSpPr>
          <a:xfrm>
            <a:off x="4065145" y="1202670"/>
            <a:ext cx="3478849" cy="0"/>
            <a:chOff x="501445" y="1065211"/>
            <a:chExt cx="3478849" cy="0"/>
          </a:xfrm>
        </p:grpSpPr>
        <p:cxnSp>
          <p:nvCxnSpPr>
            <p:cNvPr id="43" name="直接箭头连接符 42">
              <a:extLst>
                <a:ext uri="{FF2B5EF4-FFF2-40B4-BE49-F238E27FC236}">
                  <a16:creationId xmlns:a16="http://schemas.microsoft.com/office/drawing/2014/main" id="{C7A16BA7-6D22-5EBD-DDBB-980A8642B70B}"/>
                </a:ext>
              </a:extLst>
            </p:cNvPr>
            <p:cNvCxnSpPr>
              <a:cxnSpLocks/>
            </p:cNvCxnSpPr>
            <p:nvPr/>
          </p:nvCxnSpPr>
          <p:spPr>
            <a:xfrm flipH="1">
              <a:off x="501445" y="1065211"/>
              <a:ext cx="1369493" cy="0"/>
            </a:xfrm>
            <a:prstGeom prst="straightConnector1">
              <a:avLst/>
            </a:prstGeom>
            <a:noFill/>
            <a:ln w="6350" cap="flat" cmpd="sng" algn="ctr">
              <a:solidFill>
                <a:sysClr val="windowText" lastClr="000000">
                  <a:lumMod val="75000"/>
                  <a:lumOff val="25000"/>
                </a:sysClr>
              </a:solidFill>
              <a:prstDash val="dash"/>
              <a:miter lim="800000"/>
              <a:tailEnd type="triangle"/>
            </a:ln>
            <a:effectLst/>
          </p:spPr>
        </p:cxnSp>
        <p:cxnSp>
          <p:nvCxnSpPr>
            <p:cNvPr id="44" name="直接箭头连接符 43">
              <a:extLst>
                <a:ext uri="{FF2B5EF4-FFF2-40B4-BE49-F238E27FC236}">
                  <a16:creationId xmlns:a16="http://schemas.microsoft.com/office/drawing/2014/main" id="{587069E1-4698-67B4-5FD6-2BA9FDDD1587}"/>
                </a:ext>
              </a:extLst>
            </p:cNvPr>
            <p:cNvCxnSpPr>
              <a:cxnSpLocks/>
            </p:cNvCxnSpPr>
            <p:nvPr/>
          </p:nvCxnSpPr>
          <p:spPr>
            <a:xfrm>
              <a:off x="2610801" y="1065211"/>
              <a:ext cx="1369493" cy="0"/>
            </a:xfrm>
            <a:prstGeom prst="straightConnector1">
              <a:avLst/>
            </a:prstGeom>
            <a:noFill/>
            <a:ln w="6350" cap="flat" cmpd="sng" algn="ctr">
              <a:solidFill>
                <a:sysClr val="windowText" lastClr="000000">
                  <a:lumMod val="75000"/>
                  <a:lumOff val="25000"/>
                </a:sysClr>
              </a:solidFill>
              <a:prstDash val="dash"/>
              <a:miter lim="800000"/>
              <a:tailEnd type="triangle"/>
            </a:ln>
            <a:effectLst/>
          </p:spPr>
        </p:cxnSp>
      </p:grpSp>
      <p:cxnSp>
        <p:nvCxnSpPr>
          <p:cNvPr id="45" name="直接箭头连接符 44">
            <a:extLst>
              <a:ext uri="{FF2B5EF4-FFF2-40B4-BE49-F238E27FC236}">
                <a16:creationId xmlns:a16="http://schemas.microsoft.com/office/drawing/2014/main" id="{64600EAC-7253-9E9A-EAE0-ECD5750432C8}"/>
              </a:ext>
            </a:extLst>
          </p:cNvPr>
          <p:cNvCxnSpPr>
            <a:cxnSpLocks/>
          </p:cNvCxnSpPr>
          <p:nvPr/>
        </p:nvCxnSpPr>
        <p:spPr>
          <a:xfrm flipH="1" flipV="1">
            <a:off x="1621484" y="1388746"/>
            <a:ext cx="1" cy="5273340"/>
          </a:xfrm>
          <a:prstGeom prst="straightConnector1">
            <a:avLst/>
          </a:prstGeom>
          <a:noFill/>
          <a:ln w="6350" cap="flat" cmpd="sng" algn="ctr">
            <a:solidFill>
              <a:sysClr val="window" lastClr="FFFFFF">
                <a:lumMod val="75000"/>
              </a:sysClr>
            </a:solidFill>
            <a:prstDash val="dash"/>
            <a:miter lim="800000"/>
            <a:tailEnd type="none"/>
          </a:ln>
          <a:effectLst/>
        </p:spPr>
      </p:cxnSp>
      <p:cxnSp>
        <p:nvCxnSpPr>
          <p:cNvPr id="46" name="直接箭头连接符 45">
            <a:extLst>
              <a:ext uri="{FF2B5EF4-FFF2-40B4-BE49-F238E27FC236}">
                <a16:creationId xmlns:a16="http://schemas.microsoft.com/office/drawing/2014/main" id="{1B3D95BD-FDE8-A128-5905-D58D0D606647}"/>
              </a:ext>
            </a:extLst>
          </p:cNvPr>
          <p:cNvCxnSpPr>
            <a:cxnSpLocks/>
          </p:cNvCxnSpPr>
          <p:nvPr/>
        </p:nvCxnSpPr>
        <p:spPr>
          <a:xfrm flipH="1" flipV="1">
            <a:off x="2827214" y="1388746"/>
            <a:ext cx="1" cy="5273340"/>
          </a:xfrm>
          <a:prstGeom prst="straightConnector1">
            <a:avLst/>
          </a:prstGeom>
          <a:noFill/>
          <a:ln w="6350" cap="flat" cmpd="sng" algn="ctr">
            <a:solidFill>
              <a:sysClr val="window" lastClr="FFFFFF">
                <a:lumMod val="75000"/>
              </a:sysClr>
            </a:solidFill>
            <a:prstDash val="dash"/>
            <a:miter lim="800000"/>
            <a:tailEnd type="none"/>
          </a:ln>
          <a:effectLst/>
        </p:spPr>
      </p:cxnSp>
      <p:cxnSp>
        <p:nvCxnSpPr>
          <p:cNvPr id="47" name="直接箭头连接符 46">
            <a:extLst>
              <a:ext uri="{FF2B5EF4-FFF2-40B4-BE49-F238E27FC236}">
                <a16:creationId xmlns:a16="http://schemas.microsoft.com/office/drawing/2014/main" id="{6BB4BFB4-9B41-4DEB-7374-68A56C49D90E}"/>
              </a:ext>
            </a:extLst>
          </p:cNvPr>
          <p:cNvCxnSpPr>
            <a:cxnSpLocks/>
          </p:cNvCxnSpPr>
          <p:nvPr/>
        </p:nvCxnSpPr>
        <p:spPr>
          <a:xfrm flipH="1" flipV="1">
            <a:off x="4032944" y="1388746"/>
            <a:ext cx="1" cy="5273340"/>
          </a:xfrm>
          <a:prstGeom prst="straightConnector1">
            <a:avLst/>
          </a:prstGeom>
          <a:noFill/>
          <a:ln w="6350" cap="flat" cmpd="sng" algn="ctr">
            <a:solidFill>
              <a:sysClr val="window" lastClr="FFFFFF">
                <a:lumMod val="75000"/>
              </a:sysClr>
            </a:solidFill>
            <a:prstDash val="dash"/>
            <a:miter lim="800000"/>
            <a:tailEnd type="none"/>
          </a:ln>
          <a:effectLst/>
        </p:spPr>
      </p:cxnSp>
      <p:cxnSp>
        <p:nvCxnSpPr>
          <p:cNvPr id="48" name="直接箭头连接符 47">
            <a:extLst>
              <a:ext uri="{FF2B5EF4-FFF2-40B4-BE49-F238E27FC236}">
                <a16:creationId xmlns:a16="http://schemas.microsoft.com/office/drawing/2014/main" id="{8B963610-B00D-51E1-ACA7-3C7730A6E18D}"/>
              </a:ext>
            </a:extLst>
          </p:cNvPr>
          <p:cNvCxnSpPr>
            <a:cxnSpLocks/>
          </p:cNvCxnSpPr>
          <p:nvPr/>
        </p:nvCxnSpPr>
        <p:spPr>
          <a:xfrm flipH="1" flipV="1">
            <a:off x="5238674" y="1388746"/>
            <a:ext cx="1" cy="5273340"/>
          </a:xfrm>
          <a:prstGeom prst="straightConnector1">
            <a:avLst/>
          </a:prstGeom>
          <a:noFill/>
          <a:ln w="6350" cap="flat" cmpd="sng" algn="ctr">
            <a:solidFill>
              <a:sysClr val="window" lastClr="FFFFFF">
                <a:lumMod val="75000"/>
              </a:sysClr>
            </a:solidFill>
            <a:prstDash val="dash"/>
            <a:miter lim="800000"/>
            <a:tailEnd type="none"/>
          </a:ln>
          <a:effectLst/>
        </p:spPr>
      </p:cxnSp>
      <p:cxnSp>
        <p:nvCxnSpPr>
          <p:cNvPr id="49" name="直接箭头连接符 48">
            <a:extLst>
              <a:ext uri="{FF2B5EF4-FFF2-40B4-BE49-F238E27FC236}">
                <a16:creationId xmlns:a16="http://schemas.microsoft.com/office/drawing/2014/main" id="{D8A04538-DA8C-4089-7F76-4B527BA11121}"/>
              </a:ext>
            </a:extLst>
          </p:cNvPr>
          <p:cNvCxnSpPr>
            <a:cxnSpLocks/>
          </p:cNvCxnSpPr>
          <p:nvPr/>
        </p:nvCxnSpPr>
        <p:spPr>
          <a:xfrm flipH="1" flipV="1">
            <a:off x="6444404" y="1388746"/>
            <a:ext cx="1" cy="5273340"/>
          </a:xfrm>
          <a:prstGeom prst="straightConnector1">
            <a:avLst/>
          </a:prstGeom>
          <a:noFill/>
          <a:ln w="6350" cap="flat" cmpd="sng" algn="ctr">
            <a:solidFill>
              <a:sysClr val="window" lastClr="FFFFFF">
                <a:lumMod val="75000"/>
              </a:sysClr>
            </a:solidFill>
            <a:prstDash val="dash"/>
            <a:miter lim="800000"/>
            <a:tailEnd type="none"/>
          </a:ln>
          <a:effectLst/>
        </p:spPr>
      </p:cxnSp>
      <p:cxnSp>
        <p:nvCxnSpPr>
          <p:cNvPr id="50" name="直接箭头连接符 49">
            <a:extLst>
              <a:ext uri="{FF2B5EF4-FFF2-40B4-BE49-F238E27FC236}">
                <a16:creationId xmlns:a16="http://schemas.microsoft.com/office/drawing/2014/main" id="{9ACED595-E6D6-B18E-BCCD-48EE2E991BF2}"/>
              </a:ext>
            </a:extLst>
          </p:cNvPr>
          <p:cNvCxnSpPr>
            <a:cxnSpLocks/>
          </p:cNvCxnSpPr>
          <p:nvPr/>
        </p:nvCxnSpPr>
        <p:spPr>
          <a:xfrm flipH="1" flipV="1">
            <a:off x="7625973" y="1388746"/>
            <a:ext cx="1" cy="5273340"/>
          </a:xfrm>
          <a:prstGeom prst="straightConnector1">
            <a:avLst/>
          </a:prstGeom>
          <a:noFill/>
          <a:ln w="6350" cap="flat" cmpd="sng" algn="ctr">
            <a:solidFill>
              <a:sysClr val="window" lastClr="FFFFFF">
                <a:lumMod val="75000"/>
              </a:sysClr>
            </a:solidFill>
            <a:prstDash val="dash"/>
            <a:miter lim="800000"/>
            <a:tailEnd type="none"/>
          </a:ln>
          <a:effectLst/>
        </p:spPr>
      </p:cxnSp>
      <p:cxnSp>
        <p:nvCxnSpPr>
          <p:cNvPr id="51" name="直接连接符 50">
            <a:extLst>
              <a:ext uri="{FF2B5EF4-FFF2-40B4-BE49-F238E27FC236}">
                <a16:creationId xmlns:a16="http://schemas.microsoft.com/office/drawing/2014/main" id="{DD5327F9-5CF8-FD36-929D-7367248C9FF7}"/>
              </a:ext>
            </a:extLst>
          </p:cNvPr>
          <p:cNvCxnSpPr>
            <a:cxnSpLocks/>
          </p:cNvCxnSpPr>
          <p:nvPr/>
        </p:nvCxnSpPr>
        <p:spPr>
          <a:xfrm>
            <a:off x="7984078" y="1118533"/>
            <a:ext cx="0" cy="168275"/>
          </a:xfrm>
          <a:prstGeom prst="line">
            <a:avLst/>
          </a:prstGeom>
          <a:noFill/>
          <a:ln w="12700" cap="flat" cmpd="sng" algn="ctr">
            <a:solidFill>
              <a:sysClr val="windowText" lastClr="000000">
                <a:lumMod val="75000"/>
                <a:lumOff val="25000"/>
              </a:sysClr>
            </a:solidFill>
            <a:prstDash val="solid"/>
            <a:miter lim="800000"/>
          </a:ln>
          <a:effectLst/>
        </p:spPr>
      </p:cxnSp>
      <p:cxnSp>
        <p:nvCxnSpPr>
          <p:cNvPr id="52" name="直接连接符 51">
            <a:extLst>
              <a:ext uri="{FF2B5EF4-FFF2-40B4-BE49-F238E27FC236}">
                <a16:creationId xmlns:a16="http://schemas.microsoft.com/office/drawing/2014/main" id="{6C3693DE-9ABF-D55B-4BC4-FDE31D1E4934}"/>
              </a:ext>
            </a:extLst>
          </p:cNvPr>
          <p:cNvCxnSpPr>
            <a:cxnSpLocks/>
          </p:cNvCxnSpPr>
          <p:nvPr/>
        </p:nvCxnSpPr>
        <p:spPr>
          <a:xfrm>
            <a:off x="11743185" y="1118533"/>
            <a:ext cx="0" cy="168275"/>
          </a:xfrm>
          <a:prstGeom prst="line">
            <a:avLst/>
          </a:prstGeom>
          <a:noFill/>
          <a:ln w="12700" cap="flat" cmpd="sng" algn="ctr">
            <a:solidFill>
              <a:sysClr val="windowText" lastClr="000000">
                <a:lumMod val="75000"/>
                <a:lumOff val="25000"/>
              </a:sysClr>
            </a:solidFill>
            <a:prstDash val="solid"/>
            <a:miter lim="800000"/>
          </a:ln>
          <a:effectLst/>
        </p:spPr>
      </p:cxnSp>
      <p:sp>
        <p:nvSpPr>
          <p:cNvPr id="53" name="文本框 52">
            <a:extLst>
              <a:ext uri="{FF2B5EF4-FFF2-40B4-BE49-F238E27FC236}">
                <a16:creationId xmlns:a16="http://schemas.microsoft.com/office/drawing/2014/main" id="{6B5C934D-87A4-03F3-6C48-F642C9A03C6B}"/>
              </a:ext>
            </a:extLst>
          </p:cNvPr>
          <p:cNvSpPr txBox="1"/>
          <p:nvPr/>
        </p:nvSpPr>
        <p:spPr>
          <a:xfrm>
            <a:off x="9452047" y="1064171"/>
            <a:ext cx="829073" cy="307777"/>
          </a:xfrm>
          <a:prstGeom prst="rect">
            <a:avLst/>
          </a:prstGeom>
          <a:noFill/>
        </p:spPr>
        <p:txBody>
          <a:bodyPr wrap="none">
            <a:spAutoFit/>
          </a:bodyPr>
          <a:lstStyle/>
          <a:p>
            <a:pPr algn="ctr">
              <a:defRPr/>
            </a:pPr>
            <a:r>
              <a:rPr lang="zh-CN" altLang="en-US" sz="1400" b="1" dirty="0">
                <a:solidFill>
                  <a:schemeClr val="accent1"/>
                </a:solidFill>
                <a:latin typeface="微软雅黑" panose="020B0503020204020204" pitchFamily="34" charset="-122"/>
                <a:ea typeface="微软雅黑" panose="020B0503020204020204" pitchFamily="34" charset="-122"/>
              </a:rPr>
              <a:t>第</a:t>
            </a:r>
            <a:r>
              <a:rPr lang="en-US" altLang="zh-CN" sz="1400" b="1" dirty="0">
                <a:solidFill>
                  <a:schemeClr val="accent1"/>
                </a:solidFill>
                <a:latin typeface="微软雅黑" panose="020B0503020204020204" pitchFamily="34" charset="-122"/>
                <a:ea typeface="微软雅黑" panose="020B0503020204020204" pitchFamily="34" charset="-122"/>
              </a:rPr>
              <a:t>4</a:t>
            </a:r>
            <a:r>
              <a:rPr lang="zh-CN" altLang="en-US" sz="1400" b="1" dirty="0">
                <a:solidFill>
                  <a:schemeClr val="accent1"/>
                </a:solidFill>
                <a:latin typeface="微软雅黑" panose="020B0503020204020204" pitchFamily="34" charset="-122"/>
                <a:ea typeface="微软雅黑" panose="020B0503020204020204" pitchFamily="34" charset="-122"/>
              </a:rPr>
              <a:t>季度</a:t>
            </a:r>
          </a:p>
        </p:txBody>
      </p:sp>
      <p:grpSp>
        <p:nvGrpSpPr>
          <p:cNvPr id="54" name="组合 53">
            <a:extLst>
              <a:ext uri="{FF2B5EF4-FFF2-40B4-BE49-F238E27FC236}">
                <a16:creationId xmlns:a16="http://schemas.microsoft.com/office/drawing/2014/main" id="{979FE63E-8978-4707-57D8-EE975670A691}"/>
              </a:ext>
            </a:extLst>
          </p:cNvPr>
          <p:cNvGrpSpPr/>
          <p:nvPr/>
        </p:nvGrpSpPr>
        <p:grpSpPr>
          <a:xfrm>
            <a:off x="8127159" y="1202670"/>
            <a:ext cx="3478849" cy="0"/>
            <a:chOff x="501445" y="1065211"/>
            <a:chExt cx="3478849" cy="0"/>
          </a:xfrm>
        </p:grpSpPr>
        <p:cxnSp>
          <p:nvCxnSpPr>
            <p:cNvPr id="55" name="直接箭头连接符 54">
              <a:extLst>
                <a:ext uri="{FF2B5EF4-FFF2-40B4-BE49-F238E27FC236}">
                  <a16:creationId xmlns:a16="http://schemas.microsoft.com/office/drawing/2014/main" id="{35777311-435B-19D8-D603-15B2DF474B48}"/>
                </a:ext>
              </a:extLst>
            </p:cNvPr>
            <p:cNvCxnSpPr>
              <a:cxnSpLocks/>
            </p:cNvCxnSpPr>
            <p:nvPr/>
          </p:nvCxnSpPr>
          <p:spPr>
            <a:xfrm flipH="1">
              <a:off x="501445" y="1065211"/>
              <a:ext cx="1369493" cy="0"/>
            </a:xfrm>
            <a:prstGeom prst="straightConnector1">
              <a:avLst/>
            </a:prstGeom>
            <a:noFill/>
            <a:ln w="6350" cap="flat" cmpd="sng" algn="ctr">
              <a:solidFill>
                <a:sysClr val="windowText" lastClr="000000">
                  <a:lumMod val="75000"/>
                  <a:lumOff val="25000"/>
                </a:sysClr>
              </a:solidFill>
              <a:prstDash val="dash"/>
              <a:miter lim="800000"/>
              <a:tailEnd type="triangle"/>
            </a:ln>
            <a:effectLst/>
          </p:spPr>
        </p:cxnSp>
        <p:cxnSp>
          <p:nvCxnSpPr>
            <p:cNvPr id="56" name="直接箭头连接符 55">
              <a:extLst>
                <a:ext uri="{FF2B5EF4-FFF2-40B4-BE49-F238E27FC236}">
                  <a16:creationId xmlns:a16="http://schemas.microsoft.com/office/drawing/2014/main" id="{0C245BB3-C525-179D-D4B5-DEE5D48AFD3E}"/>
                </a:ext>
              </a:extLst>
            </p:cNvPr>
            <p:cNvCxnSpPr>
              <a:cxnSpLocks/>
            </p:cNvCxnSpPr>
            <p:nvPr/>
          </p:nvCxnSpPr>
          <p:spPr>
            <a:xfrm>
              <a:off x="2610801" y="1065211"/>
              <a:ext cx="1369493" cy="0"/>
            </a:xfrm>
            <a:prstGeom prst="straightConnector1">
              <a:avLst/>
            </a:prstGeom>
            <a:noFill/>
            <a:ln w="6350" cap="flat" cmpd="sng" algn="ctr">
              <a:solidFill>
                <a:sysClr val="windowText" lastClr="000000">
                  <a:lumMod val="75000"/>
                  <a:lumOff val="25000"/>
                </a:sysClr>
              </a:solidFill>
              <a:prstDash val="dash"/>
              <a:miter lim="800000"/>
              <a:tailEnd type="triangle"/>
            </a:ln>
            <a:effectLst/>
          </p:spPr>
        </p:cxnSp>
      </p:grpSp>
      <p:sp>
        <p:nvSpPr>
          <p:cNvPr id="57" name="矩形 56">
            <a:extLst>
              <a:ext uri="{FF2B5EF4-FFF2-40B4-BE49-F238E27FC236}">
                <a16:creationId xmlns:a16="http://schemas.microsoft.com/office/drawing/2014/main" id="{4E6FC7A8-A389-21C6-64BC-BC56C4308DAC}"/>
              </a:ext>
            </a:extLst>
          </p:cNvPr>
          <p:cNvSpPr/>
          <p:nvPr/>
        </p:nvSpPr>
        <p:spPr>
          <a:xfrm>
            <a:off x="7984078" y="1388748"/>
            <a:ext cx="3718972" cy="1015662"/>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58" name="文本框 57">
            <a:extLst>
              <a:ext uri="{FF2B5EF4-FFF2-40B4-BE49-F238E27FC236}">
                <a16:creationId xmlns:a16="http://schemas.microsoft.com/office/drawing/2014/main" id="{66EB4ADD-819A-48C5-FD38-29EDF879CE5A}"/>
              </a:ext>
            </a:extLst>
          </p:cNvPr>
          <p:cNvSpPr txBox="1"/>
          <p:nvPr/>
        </p:nvSpPr>
        <p:spPr>
          <a:xfrm>
            <a:off x="9419410" y="1555743"/>
            <a:ext cx="848309" cy="307777"/>
          </a:xfrm>
          <a:prstGeom prst="rect">
            <a:avLst/>
          </a:prstGeom>
          <a:noFill/>
        </p:spPr>
        <p:txBody>
          <a:bodyPr wrap="square">
            <a:spAutoFit/>
          </a:bodyPr>
          <a:lstStyle/>
          <a:p>
            <a:pPr algn="ctr">
              <a:defRPr/>
            </a:pPr>
            <a:r>
              <a:rPr lang="zh-CN" altLang="en-US" sz="1400" b="1" dirty="0">
                <a:solidFill>
                  <a:prstClr val="white"/>
                </a:solidFill>
                <a:latin typeface="微软雅黑" panose="020B0503020204020204" pitchFamily="34" charset="-122"/>
                <a:ea typeface="微软雅黑" panose="020B0503020204020204" pitchFamily="34" charset="-122"/>
              </a:rPr>
              <a:t>规划中</a:t>
            </a:r>
          </a:p>
        </p:txBody>
      </p:sp>
      <p:sp>
        <p:nvSpPr>
          <p:cNvPr id="59" name="文本框 58">
            <a:extLst>
              <a:ext uri="{FF2B5EF4-FFF2-40B4-BE49-F238E27FC236}">
                <a16:creationId xmlns:a16="http://schemas.microsoft.com/office/drawing/2014/main" id="{5FE46308-A54D-DC3B-5A49-6885E591A73C}"/>
              </a:ext>
            </a:extLst>
          </p:cNvPr>
          <p:cNvSpPr txBox="1"/>
          <p:nvPr/>
        </p:nvSpPr>
        <p:spPr>
          <a:xfrm>
            <a:off x="8853550" y="1860207"/>
            <a:ext cx="1980029" cy="400110"/>
          </a:xfrm>
          <a:prstGeom prst="rect">
            <a:avLst/>
          </a:prstGeom>
          <a:noFill/>
        </p:spPr>
        <p:txBody>
          <a:bodyPr wrap="none">
            <a:spAutoFit/>
          </a:bodyPr>
          <a:lstStyle/>
          <a:p>
            <a:pPr algn="ctr">
              <a:defRPr/>
            </a:pPr>
            <a:r>
              <a:rPr lang="zh-CN" altLang="en-US" sz="2000" b="1" dirty="0">
                <a:solidFill>
                  <a:prstClr val="white"/>
                </a:solidFill>
                <a:latin typeface="微软雅黑" panose="020B0503020204020204" pitchFamily="34" charset="-122"/>
                <a:ea typeface="微软雅黑" panose="020B0503020204020204" pitchFamily="34" charset="-122"/>
              </a:rPr>
              <a:t>重点推进的项目</a:t>
            </a:r>
          </a:p>
        </p:txBody>
      </p:sp>
      <p:sp>
        <p:nvSpPr>
          <p:cNvPr id="60" name="文本框 59">
            <a:extLst>
              <a:ext uri="{FF2B5EF4-FFF2-40B4-BE49-F238E27FC236}">
                <a16:creationId xmlns:a16="http://schemas.microsoft.com/office/drawing/2014/main" id="{88A8959B-F9C9-154A-C136-0E1F42F2BD3B}"/>
              </a:ext>
            </a:extLst>
          </p:cNvPr>
          <p:cNvSpPr txBox="1"/>
          <p:nvPr/>
        </p:nvSpPr>
        <p:spPr>
          <a:xfrm>
            <a:off x="6629004" y="1555743"/>
            <a:ext cx="848309" cy="307777"/>
          </a:xfrm>
          <a:prstGeom prst="rect">
            <a:avLst/>
          </a:prstGeom>
          <a:noFill/>
        </p:spPr>
        <p:txBody>
          <a:bodyPr wrap="square">
            <a:spAutoFit/>
          </a:bodyPr>
          <a:lstStyle/>
          <a:p>
            <a:pPr algn="ctr">
              <a:defRPr/>
            </a:pPr>
            <a:r>
              <a:rPr lang="en-US" altLang="zh-CN" sz="1400" b="1" dirty="0">
                <a:solidFill>
                  <a:prstClr val="white"/>
                </a:solidFill>
                <a:latin typeface="微软雅黑" panose="020B0503020204020204" pitchFamily="34" charset="-122"/>
                <a:ea typeface="微软雅黑" panose="020B0503020204020204" pitchFamily="34" charset="-122"/>
              </a:rPr>
              <a:t>2023</a:t>
            </a:r>
            <a:r>
              <a:rPr lang="zh-CN" altLang="en-US" sz="1400" b="1" dirty="0">
                <a:solidFill>
                  <a:prstClr val="white"/>
                </a:solidFill>
                <a:latin typeface="微软雅黑" panose="020B0503020204020204" pitchFamily="34" charset="-122"/>
                <a:ea typeface="微软雅黑" panose="020B0503020204020204" pitchFamily="34" charset="-122"/>
              </a:rPr>
              <a:t>年</a:t>
            </a:r>
          </a:p>
        </p:txBody>
      </p:sp>
      <p:sp>
        <p:nvSpPr>
          <p:cNvPr id="61" name="文本框 60">
            <a:extLst>
              <a:ext uri="{FF2B5EF4-FFF2-40B4-BE49-F238E27FC236}">
                <a16:creationId xmlns:a16="http://schemas.microsoft.com/office/drawing/2014/main" id="{C3F4A848-D35E-5530-B7EE-BDA22BAFD301}"/>
              </a:ext>
            </a:extLst>
          </p:cNvPr>
          <p:cNvSpPr txBox="1"/>
          <p:nvPr/>
        </p:nvSpPr>
        <p:spPr>
          <a:xfrm>
            <a:off x="6753237" y="1860207"/>
            <a:ext cx="599843" cy="400110"/>
          </a:xfrm>
          <a:prstGeom prst="rect">
            <a:avLst/>
          </a:prstGeom>
          <a:noFill/>
        </p:spPr>
        <p:txBody>
          <a:bodyPr wrap="none">
            <a:spAutoFit/>
          </a:bodyPr>
          <a:lstStyle/>
          <a:p>
            <a:pPr algn="ctr">
              <a:defRPr/>
            </a:pPr>
            <a:r>
              <a:rPr lang="en-US" altLang="zh-CN" sz="2000" b="1" dirty="0">
                <a:solidFill>
                  <a:prstClr val="white"/>
                </a:solidFill>
                <a:latin typeface="微软雅黑" panose="020B0503020204020204" pitchFamily="34" charset="-122"/>
                <a:ea typeface="微软雅黑" panose="020B0503020204020204" pitchFamily="34" charset="-122"/>
              </a:rPr>
              <a:t>9</a:t>
            </a:r>
            <a:r>
              <a:rPr lang="zh-CN" altLang="en-US" sz="2000" b="1" dirty="0">
                <a:solidFill>
                  <a:prstClr val="white"/>
                </a:solidFill>
                <a:latin typeface="微软雅黑" panose="020B0503020204020204" pitchFamily="34" charset="-122"/>
                <a:ea typeface="微软雅黑" panose="020B0503020204020204" pitchFamily="34" charset="-122"/>
              </a:rPr>
              <a:t>月</a:t>
            </a:r>
          </a:p>
        </p:txBody>
      </p:sp>
      <p:sp>
        <p:nvSpPr>
          <p:cNvPr id="62" name="文本框 61">
            <a:extLst>
              <a:ext uri="{FF2B5EF4-FFF2-40B4-BE49-F238E27FC236}">
                <a16:creationId xmlns:a16="http://schemas.microsoft.com/office/drawing/2014/main" id="{4AD4CD08-5CDC-17B0-4805-2180E325AE58}"/>
              </a:ext>
            </a:extLst>
          </p:cNvPr>
          <p:cNvSpPr txBox="1"/>
          <p:nvPr/>
        </p:nvSpPr>
        <p:spPr>
          <a:xfrm>
            <a:off x="5421593" y="1555743"/>
            <a:ext cx="848309" cy="307777"/>
          </a:xfrm>
          <a:prstGeom prst="rect">
            <a:avLst/>
          </a:prstGeom>
          <a:noFill/>
        </p:spPr>
        <p:txBody>
          <a:bodyPr wrap="square">
            <a:spAutoFit/>
          </a:bodyPr>
          <a:lstStyle/>
          <a:p>
            <a:pPr algn="ctr">
              <a:defRPr/>
            </a:pPr>
            <a:r>
              <a:rPr lang="en-US" altLang="zh-CN" sz="1400" b="1" dirty="0">
                <a:solidFill>
                  <a:prstClr val="white"/>
                </a:solidFill>
                <a:latin typeface="微软雅黑" panose="020B0503020204020204" pitchFamily="34" charset="-122"/>
                <a:ea typeface="微软雅黑" panose="020B0503020204020204" pitchFamily="34" charset="-122"/>
              </a:rPr>
              <a:t>2023</a:t>
            </a:r>
            <a:r>
              <a:rPr lang="zh-CN" altLang="en-US" sz="1400" b="1" dirty="0">
                <a:solidFill>
                  <a:prstClr val="white"/>
                </a:solidFill>
                <a:latin typeface="微软雅黑" panose="020B0503020204020204" pitchFamily="34" charset="-122"/>
                <a:ea typeface="微软雅黑" panose="020B0503020204020204" pitchFamily="34" charset="-122"/>
              </a:rPr>
              <a:t>年</a:t>
            </a:r>
          </a:p>
        </p:txBody>
      </p:sp>
      <p:sp>
        <p:nvSpPr>
          <p:cNvPr id="63" name="文本框 62">
            <a:extLst>
              <a:ext uri="{FF2B5EF4-FFF2-40B4-BE49-F238E27FC236}">
                <a16:creationId xmlns:a16="http://schemas.microsoft.com/office/drawing/2014/main" id="{97990CF4-1289-C6F6-F6F5-A723C61C8187}"/>
              </a:ext>
            </a:extLst>
          </p:cNvPr>
          <p:cNvSpPr txBox="1"/>
          <p:nvPr/>
        </p:nvSpPr>
        <p:spPr>
          <a:xfrm>
            <a:off x="5545826" y="1860207"/>
            <a:ext cx="599843" cy="400110"/>
          </a:xfrm>
          <a:prstGeom prst="rect">
            <a:avLst/>
          </a:prstGeom>
          <a:noFill/>
        </p:spPr>
        <p:txBody>
          <a:bodyPr wrap="none">
            <a:spAutoFit/>
          </a:bodyPr>
          <a:lstStyle/>
          <a:p>
            <a:pPr algn="ctr">
              <a:defRPr/>
            </a:pPr>
            <a:r>
              <a:rPr lang="en-US" altLang="zh-CN" sz="2000" b="1" dirty="0">
                <a:solidFill>
                  <a:prstClr val="white"/>
                </a:solidFill>
                <a:latin typeface="微软雅黑" panose="020B0503020204020204" pitchFamily="34" charset="-122"/>
                <a:ea typeface="微软雅黑" panose="020B0503020204020204" pitchFamily="34" charset="-122"/>
              </a:rPr>
              <a:t>8</a:t>
            </a:r>
            <a:r>
              <a:rPr lang="zh-CN" altLang="en-US" sz="2000" b="1" dirty="0">
                <a:solidFill>
                  <a:prstClr val="white"/>
                </a:solidFill>
                <a:latin typeface="微软雅黑" panose="020B0503020204020204" pitchFamily="34" charset="-122"/>
                <a:ea typeface="微软雅黑" panose="020B0503020204020204" pitchFamily="34" charset="-122"/>
              </a:rPr>
              <a:t>月</a:t>
            </a:r>
          </a:p>
        </p:txBody>
      </p:sp>
      <p:sp>
        <p:nvSpPr>
          <p:cNvPr id="64" name="文本框 63">
            <a:extLst>
              <a:ext uri="{FF2B5EF4-FFF2-40B4-BE49-F238E27FC236}">
                <a16:creationId xmlns:a16="http://schemas.microsoft.com/office/drawing/2014/main" id="{CB81D04F-0432-DD98-70C4-451B22073A4A}"/>
              </a:ext>
            </a:extLst>
          </p:cNvPr>
          <p:cNvSpPr txBox="1"/>
          <p:nvPr/>
        </p:nvSpPr>
        <p:spPr>
          <a:xfrm>
            <a:off x="4214183" y="1555743"/>
            <a:ext cx="848309" cy="307777"/>
          </a:xfrm>
          <a:prstGeom prst="rect">
            <a:avLst/>
          </a:prstGeom>
          <a:noFill/>
        </p:spPr>
        <p:txBody>
          <a:bodyPr wrap="square">
            <a:spAutoFit/>
          </a:bodyPr>
          <a:lstStyle/>
          <a:p>
            <a:pPr algn="ctr">
              <a:defRPr/>
            </a:pPr>
            <a:r>
              <a:rPr lang="en-US" altLang="zh-CN" sz="1400" b="1" dirty="0">
                <a:solidFill>
                  <a:prstClr val="white"/>
                </a:solidFill>
                <a:latin typeface="微软雅黑" panose="020B0503020204020204" pitchFamily="34" charset="-122"/>
                <a:ea typeface="微软雅黑" panose="020B0503020204020204" pitchFamily="34" charset="-122"/>
              </a:rPr>
              <a:t>2023</a:t>
            </a:r>
            <a:r>
              <a:rPr lang="zh-CN" altLang="en-US" sz="1400" b="1" dirty="0">
                <a:solidFill>
                  <a:prstClr val="white"/>
                </a:solidFill>
                <a:latin typeface="微软雅黑" panose="020B0503020204020204" pitchFamily="34" charset="-122"/>
                <a:ea typeface="微软雅黑" panose="020B0503020204020204" pitchFamily="34" charset="-122"/>
              </a:rPr>
              <a:t>年</a:t>
            </a:r>
          </a:p>
        </p:txBody>
      </p:sp>
      <p:sp>
        <p:nvSpPr>
          <p:cNvPr id="65" name="文本框 64">
            <a:extLst>
              <a:ext uri="{FF2B5EF4-FFF2-40B4-BE49-F238E27FC236}">
                <a16:creationId xmlns:a16="http://schemas.microsoft.com/office/drawing/2014/main" id="{4E121678-CEF8-9B45-9271-ADCF218B7DC5}"/>
              </a:ext>
            </a:extLst>
          </p:cNvPr>
          <p:cNvSpPr txBox="1"/>
          <p:nvPr/>
        </p:nvSpPr>
        <p:spPr>
          <a:xfrm>
            <a:off x="4338416" y="1860207"/>
            <a:ext cx="599843" cy="400110"/>
          </a:xfrm>
          <a:prstGeom prst="rect">
            <a:avLst/>
          </a:prstGeom>
          <a:noFill/>
        </p:spPr>
        <p:txBody>
          <a:bodyPr wrap="none">
            <a:spAutoFit/>
          </a:bodyPr>
          <a:lstStyle/>
          <a:p>
            <a:pPr algn="ctr">
              <a:defRPr/>
            </a:pPr>
            <a:r>
              <a:rPr lang="en-US" altLang="zh-CN" sz="2000" b="1" dirty="0">
                <a:solidFill>
                  <a:prstClr val="white"/>
                </a:solidFill>
                <a:latin typeface="微软雅黑" panose="020B0503020204020204" pitchFamily="34" charset="-122"/>
                <a:ea typeface="微软雅黑" panose="020B0503020204020204" pitchFamily="34" charset="-122"/>
              </a:rPr>
              <a:t>7</a:t>
            </a:r>
            <a:r>
              <a:rPr lang="zh-CN" altLang="en-US" sz="2000" b="1" dirty="0">
                <a:solidFill>
                  <a:prstClr val="white"/>
                </a:solidFill>
                <a:latin typeface="微软雅黑" panose="020B0503020204020204" pitchFamily="34" charset="-122"/>
                <a:ea typeface="微软雅黑" panose="020B0503020204020204" pitchFamily="34" charset="-122"/>
              </a:rPr>
              <a:t>月</a:t>
            </a:r>
          </a:p>
        </p:txBody>
      </p:sp>
      <p:sp>
        <p:nvSpPr>
          <p:cNvPr id="66" name="文本框 65">
            <a:extLst>
              <a:ext uri="{FF2B5EF4-FFF2-40B4-BE49-F238E27FC236}">
                <a16:creationId xmlns:a16="http://schemas.microsoft.com/office/drawing/2014/main" id="{6D4CAFCB-4ECC-DE6A-FEBF-6FC581CC1F28}"/>
              </a:ext>
            </a:extLst>
          </p:cNvPr>
          <p:cNvSpPr txBox="1"/>
          <p:nvPr/>
        </p:nvSpPr>
        <p:spPr>
          <a:xfrm>
            <a:off x="3006772" y="1555743"/>
            <a:ext cx="848309" cy="307777"/>
          </a:xfrm>
          <a:prstGeom prst="rect">
            <a:avLst/>
          </a:prstGeom>
          <a:noFill/>
        </p:spPr>
        <p:txBody>
          <a:bodyPr wrap="square">
            <a:spAutoFit/>
          </a:bodyPr>
          <a:lstStyle/>
          <a:p>
            <a:pPr algn="ctr">
              <a:defRPr/>
            </a:pPr>
            <a:r>
              <a:rPr lang="en-US" altLang="zh-CN" sz="1400" b="1" dirty="0">
                <a:solidFill>
                  <a:prstClr val="black">
                    <a:lumMod val="85000"/>
                    <a:lumOff val="15000"/>
                  </a:prstClr>
                </a:solidFill>
                <a:latin typeface="微软雅黑" panose="020B0503020204020204" pitchFamily="34" charset="-122"/>
                <a:ea typeface="微软雅黑" panose="020B0503020204020204" pitchFamily="34" charset="-122"/>
              </a:rPr>
              <a:t>2023</a:t>
            </a:r>
            <a:r>
              <a:rPr lang="zh-CN" altLang="en-US" sz="1400" b="1" dirty="0">
                <a:solidFill>
                  <a:prstClr val="black">
                    <a:lumMod val="85000"/>
                    <a:lumOff val="15000"/>
                  </a:prstClr>
                </a:solidFill>
                <a:latin typeface="微软雅黑" panose="020B0503020204020204" pitchFamily="34" charset="-122"/>
                <a:ea typeface="微软雅黑" panose="020B0503020204020204" pitchFamily="34" charset="-122"/>
              </a:rPr>
              <a:t>年</a:t>
            </a:r>
          </a:p>
        </p:txBody>
      </p:sp>
      <p:sp>
        <p:nvSpPr>
          <p:cNvPr id="67" name="文本框 66">
            <a:extLst>
              <a:ext uri="{FF2B5EF4-FFF2-40B4-BE49-F238E27FC236}">
                <a16:creationId xmlns:a16="http://schemas.microsoft.com/office/drawing/2014/main" id="{06D339B7-E8D9-CFC5-6F43-47EB1B00BE11}"/>
              </a:ext>
            </a:extLst>
          </p:cNvPr>
          <p:cNvSpPr txBox="1"/>
          <p:nvPr/>
        </p:nvSpPr>
        <p:spPr>
          <a:xfrm>
            <a:off x="3131005" y="1860207"/>
            <a:ext cx="599843" cy="400110"/>
          </a:xfrm>
          <a:prstGeom prst="rect">
            <a:avLst/>
          </a:prstGeom>
          <a:noFill/>
        </p:spPr>
        <p:txBody>
          <a:bodyPr wrap="none">
            <a:spAutoFit/>
          </a:bodyPr>
          <a:lstStyle/>
          <a:p>
            <a:pPr algn="ctr">
              <a:defRPr/>
            </a:pPr>
            <a:r>
              <a:rPr lang="en-US" altLang="zh-CN" sz="2000" b="1" dirty="0">
                <a:solidFill>
                  <a:prstClr val="black">
                    <a:lumMod val="85000"/>
                    <a:lumOff val="15000"/>
                  </a:prstClr>
                </a:solidFill>
                <a:latin typeface="微软雅黑" panose="020B0503020204020204" pitchFamily="34" charset="-122"/>
                <a:ea typeface="微软雅黑" panose="020B0503020204020204" pitchFamily="34" charset="-122"/>
              </a:rPr>
              <a:t>6</a:t>
            </a:r>
            <a:r>
              <a:rPr lang="zh-CN" altLang="en-US" sz="2000" b="1" dirty="0">
                <a:solidFill>
                  <a:prstClr val="black">
                    <a:lumMod val="85000"/>
                    <a:lumOff val="15000"/>
                  </a:prstClr>
                </a:solidFill>
                <a:latin typeface="微软雅黑" panose="020B0503020204020204" pitchFamily="34" charset="-122"/>
                <a:ea typeface="微软雅黑" panose="020B0503020204020204" pitchFamily="34" charset="-122"/>
              </a:rPr>
              <a:t>月</a:t>
            </a:r>
          </a:p>
        </p:txBody>
      </p:sp>
      <p:sp>
        <p:nvSpPr>
          <p:cNvPr id="68" name="文本框 67">
            <a:extLst>
              <a:ext uri="{FF2B5EF4-FFF2-40B4-BE49-F238E27FC236}">
                <a16:creationId xmlns:a16="http://schemas.microsoft.com/office/drawing/2014/main" id="{CC7948EF-667F-39AC-8E58-DEF6667576F7}"/>
              </a:ext>
            </a:extLst>
          </p:cNvPr>
          <p:cNvSpPr txBox="1"/>
          <p:nvPr/>
        </p:nvSpPr>
        <p:spPr>
          <a:xfrm>
            <a:off x="1799362" y="1555743"/>
            <a:ext cx="848309" cy="307777"/>
          </a:xfrm>
          <a:prstGeom prst="rect">
            <a:avLst/>
          </a:prstGeom>
          <a:noFill/>
        </p:spPr>
        <p:txBody>
          <a:bodyPr wrap="square">
            <a:spAutoFit/>
          </a:bodyPr>
          <a:lstStyle/>
          <a:p>
            <a:pPr algn="ctr">
              <a:defRPr/>
            </a:pPr>
            <a:r>
              <a:rPr lang="en-US" altLang="zh-CN" sz="1400" b="1" dirty="0">
                <a:solidFill>
                  <a:prstClr val="black">
                    <a:lumMod val="85000"/>
                    <a:lumOff val="15000"/>
                  </a:prstClr>
                </a:solidFill>
                <a:latin typeface="微软雅黑" panose="020B0503020204020204" pitchFamily="34" charset="-122"/>
                <a:ea typeface="微软雅黑" panose="020B0503020204020204" pitchFamily="34" charset="-122"/>
              </a:rPr>
              <a:t>2023</a:t>
            </a:r>
            <a:r>
              <a:rPr lang="zh-CN" altLang="en-US" sz="1400" b="1" dirty="0">
                <a:solidFill>
                  <a:prstClr val="black">
                    <a:lumMod val="85000"/>
                    <a:lumOff val="15000"/>
                  </a:prstClr>
                </a:solidFill>
                <a:latin typeface="微软雅黑" panose="020B0503020204020204" pitchFamily="34" charset="-122"/>
                <a:ea typeface="微软雅黑" panose="020B0503020204020204" pitchFamily="34" charset="-122"/>
              </a:rPr>
              <a:t>年</a:t>
            </a:r>
          </a:p>
        </p:txBody>
      </p:sp>
      <p:sp>
        <p:nvSpPr>
          <p:cNvPr id="69" name="文本框 68">
            <a:extLst>
              <a:ext uri="{FF2B5EF4-FFF2-40B4-BE49-F238E27FC236}">
                <a16:creationId xmlns:a16="http://schemas.microsoft.com/office/drawing/2014/main" id="{48C9B877-6754-7551-02F2-3134E507B652}"/>
              </a:ext>
            </a:extLst>
          </p:cNvPr>
          <p:cNvSpPr txBox="1"/>
          <p:nvPr/>
        </p:nvSpPr>
        <p:spPr>
          <a:xfrm>
            <a:off x="1923595" y="1860207"/>
            <a:ext cx="599843" cy="400110"/>
          </a:xfrm>
          <a:prstGeom prst="rect">
            <a:avLst/>
          </a:prstGeom>
          <a:noFill/>
        </p:spPr>
        <p:txBody>
          <a:bodyPr wrap="none">
            <a:spAutoFit/>
          </a:bodyPr>
          <a:lstStyle/>
          <a:p>
            <a:pPr algn="ctr">
              <a:defRPr/>
            </a:pPr>
            <a:r>
              <a:rPr lang="en-US" altLang="zh-CN" sz="2000" b="1" dirty="0">
                <a:solidFill>
                  <a:prstClr val="black">
                    <a:lumMod val="85000"/>
                    <a:lumOff val="15000"/>
                  </a:prstClr>
                </a:solidFill>
                <a:latin typeface="微软雅黑" panose="020B0503020204020204" pitchFamily="34" charset="-122"/>
                <a:ea typeface="微软雅黑" panose="020B0503020204020204" pitchFamily="34" charset="-122"/>
              </a:rPr>
              <a:t>5</a:t>
            </a:r>
            <a:r>
              <a:rPr lang="zh-CN" altLang="en-US" sz="2000" b="1" dirty="0">
                <a:solidFill>
                  <a:prstClr val="black">
                    <a:lumMod val="85000"/>
                    <a:lumOff val="15000"/>
                  </a:prstClr>
                </a:solidFill>
                <a:latin typeface="微软雅黑" panose="020B0503020204020204" pitchFamily="34" charset="-122"/>
                <a:ea typeface="微软雅黑" panose="020B0503020204020204" pitchFamily="34" charset="-122"/>
              </a:rPr>
              <a:t>月</a:t>
            </a:r>
          </a:p>
        </p:txBody>
      </p:sp>
      <p:sp>
        <p:nvSpPr>
          <p:cNvPr id="70" name="文本框 69">
            <a:extLst>
              <a:ext uri="{FF2B5EF4-FFF2-40B4-BE49-F238E27FC236}">
                <a16:creationId xmlns:a16="http://schemas.microsoft.com/office/drawing/2014/main" id="{B9E14180-5F87-99A6-C2E5-E0BA5633E23E}"/>
              </a:ext>
            </a:extLst>
          </p:cNvPr>
          <p:cNvSpPr txBox="1"/>
          <p:nvPr/>
        </p:nvSpPr>
        <p:spPr>
          <a:xfrm>
            <a:off x="591951" y="1555743"/>
            <a:ext cx="848309" cy="307777"/>
          </a:xfrm>
          <a:prstGeom prst="rect">
            <a:avLst/>
          </a:prstGeom>
          <a:noFill/>
        </p:spPr>
        <p:txBody>
          <a:bodyPr wrap="square">
            <a:spAutoFit/>
          </a:bodyPr>
          <a:lstStyle/>
          <a:p>
            <a:pPr algn="ctr">
              <a:defRPr/>
            </a:pPr>
            <a:r>
              <a:rPr lang="en-US" altLang="zh-CN" sz="1400" b="1" dirty="0">
                <a:solidFill>
                  <a:prstClr val="black">
                    <a:lumMod val="85000"/>
                    <a:lumOff val="15000"/>
                  </a:prstClr>
                </a:solidFill>
                <a:latin typeface="微软雅黑" panose="020B0503020204020204" pitchFamily="34" charset="-122"/>
                <a:ea typeface="微软雅黑" panose="020B0503020204020204" pitchFamily="34" charset="-122"/>
              </a:rPr>
              <a:t>2023</a:t>
            </a:r>
            <a:r>
              <a:rPr lang="zh-CN" altLang="en-US" sz="1400" b="1" dirty="0">
                <a:solidFill>
                  <a:prstClr val="black">
                    <a:lumMod val="85000"/>
                    <a:lumOff val="15000"/>
                  </a:prstClr>
                </a:solidFill>
                <a:latin typeface="微软雅黑" panose="020B0503020204020204" pitchFamily="34" charset="-122"/>
                <a:ea typeface="微软雅黑" panose="020B0503020204020204" pitchFamily="34" charset="-122"/>
              </a:rPr>
              <a:t>年</a:t>
            </a:r>
          </a:p>
        </p:txBody>
      </p:sp>
      <p:sp>
        <p:nvSpPr>
          <p:cNvPr id="71" name="文本框 70">
            <a:extLst>
              <a:ext uri="{FF2B5EF4-FFF2-40B4-BE49-F238E27FC236}">
                <a16:creationId xmlns:a16="http://schemas.microsoft.com/office/drawing/2014/main" id="{BD7ED761-ED9D-1680-76FA-6A1B43C94382}"/>
              </a:ext>
            </a:extLst>
          </p:cNvPr>
          <p:cNvSpPr txBox="1"/>
          <p:nvPr/>
        </p:nvSpPr>
        <p:spPr>
          <a:xfrm>
            <a:off x="716184" y="1860207"/>
            <a:ext cx="599843" cy="400110"/>
          </a:xfrm>
          <a:prstGeom prst="rect">
            <a:avLst/>
          </a:prstGeom>
          <a:noFill/>
        </p:spPr>
        <p:txBody>
          <a:bodyPr wrap="none">
            <a:spAutoFit/>
          </a:bodyPr>
          <a:lstStyle/>
          <a:p>
            <a:pPr algn="ctr">
              <a:defRPr/>
            </a:pPr>
            <a:r>
              <a:rPr lang="en-US" altLang="zh-CN" sz="2000" b="1" dirty="0">
                <a:solidFill>
                  <a:prstClr val="black">
                    <a:lumMod val="85000"/>
                    <a:lumOff val="15000"/>
                  </a:prstClr>
                </a:solidFill>
                <a:latin typeface="微软雅黑" panose="020B0503020204020204" pitchFamily="34" charset="-122"/>
                <a:ea typeface="微软雅黑" panose="020B0503020204020204" pitchFamily="34" charset="-122"/>
              </a:rPr>
              <a:t>4</a:t>
            </a:r>
            <a:r>
              <a:rPr lang="zh-CN" altLang="en-US" sz="2000" b="1" dirty="0">
                <a:solidFill>
                  <a:prstClr val="black">
                    <a:lumMod val="85000"/>
                    <a:lumOff val="15000"/>
                  </a:prstClr>
                </a:solidFill>
                <a:latin typeface="微软雅黑" panose="020B0503020204020204" pitchFamily="34" charset="-122"/>
                <a:ea typeface="微软雅黑" panose="020B0503020204020204" pitchFamily="34" charset="-122"/>
              </a:rPr>
              <a:t>月</a:t>
            </a:r>
          </a:p>
        </p:txBody>
      </p:sp>
      <p:sp>
        <p:nvSpPr>
          <p:cNvPr id="72" name="矩形 71">
            <a:extLst>
              <a:ext uri="{FF2B5EF4-FFF2-40B4-BE49-F238E27FC236}">
                <a16:creationId xmlns:a16="http://schemas.microsoft.com/office/drawing/2014/main" id="{882AADA6-1F3E-C500-186C-032838FD6DA4}"/>
              </a:ext>
            </a:extLst>
          </p:cNvPr>
          <p:cNvSpPr/>
          <p:nvPr/>
        </p:nvSpPr>
        <p:spPr>
          <a:xfrm>
            <a:off x="7984078" y="2566727"/>
            <a:ext cx="3712622" cy="1228333"/>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等线 Light" panose="02010600030101010101" pitchFamily="2" charset="-122"/>
              <a:cs typeface="+mn-cs"/>
            </a:endParaRPr>
          </a:p>
        </p:txBody>
      </p:sp>
      <p:sp>
        <p:nvSpPr>
          <p:cNvPr id="73" name="矩形 72">
            <a:extLst>
              <a:ext uri="{FF2B5EF4-FFF2-40B4-BE49-F238E27FC236}">
                <a16:creationId xmlns:a16="http://schemas.microsoft.com/office/drawing/2014/main" id="{D9B8B0FF-AA50-CE42-71CB-A86933994353}"/>
              </a:ext>
            </a:extLst>
          </p:cNvPr>
          <p:cNvSpPr/>
          <p:nvPr/>
        </p:nvSpPr>
        <p:spPr>
          <a:xfrm>
            <a:off x="7984078" y="3957377"/>
            <a:ext cx="3718972" cy="1228333"/>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等线 Light" panose="02010600030101010101" pitchFamily="2" charset="-122"/>
              <a:cs typeface="+mn-cs"/>
            </a:endParaRPr>
          </a:p>
        </p:txBody>
      </p:sp>
      <p:sp>
        <p:nvSpPr>
          <p:cNvPr id="74" name="矩形 73">
            <a:extLst>
              <a:ext uri="{FF2B5EF4-FFF2-40B4-BE49-F238E27FC236}">
                <a16:creationId xmlns:a16="http://schemas.microsoft.com/office/drawing/2014/main" id="{2B0D9B25-59A2-9770-646A-5E36EC96F0B1}"/>
              </a:ext>
            </a:extLst>
          </p:cNvPr>
          <p:cNvSpPr/>
          <p:nvPr/>
        </p:nvSpPr>
        <p:spPr>
          <a:xfrm>
            <a:off x="7984078" y="5348026"/>
            <a:ext cx="3718972" cy="1228333"/>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lumMod val="75000"/>
                  <a:lumOff val="25000"/>
                </a:prstClr>
              </a:solidFill>
              <a:effectLst/>
              <a:uLnTx/>
              <a:uFillTx/>
              <a:latin typeface="微软雅黑" panose="020B0503020204020204" pitchFamily="34" charset="-122"/>
              <a:ea typeface="等线 Light" panose="02010600030101010101" pitchFamily="2" charset="-122"/>
              <a:cs typeface="+mn-cs"/>
            </a:endParaRPr>
          </a:p>
        </p:txBody>
      </p:sp>
      <p:graphicFrame>
        <p:nvGraphicFramePr>
          <p:cNvPr id="75" name="图表 74">
            <a:extLst>
              <a:ext uri="{FF2B5EF4-FFF2-40B4-BE49-F238E27FC236}">
                <a16:creationId xmlns:a16="http://schemas.microsoft.com/office/drawing/2014/main" id="{3DB384DC-802F-5FA3-9209-B0CC7757121F}"/>
              </a:ext>
            </a:extLst>
          </p:cNvPr>
          <p:cNvGraphicFramePr/>
          <p:nvPr>
            <p:extLst>
              <p:ext uri="{D42A27DB-BD31-4B8C-83A1-F6EECF244321}">
                <p14:modId xmlns:p14="http://schemas.microsoft.com/office/powerpoint/2010/main" val="3154520107"/>
              </p:ext>
            </p:extLst>
          </p:nvPr>
        </p:nvGraphicFramePr>
        <p:xfrm>
          <a:off x="10112771" y="2483866"/>
          <a:ext cx="1666344" cy="1396394"/>
        </p:xfrm>
        <a:graphic>
          <a:graphicData uri="http://schemas.openxmlformats.org/drawingml/2006/chart">
            <c:chart xmlns:c="http://schemas.openxmlformats.org/drawingml/2006/chart" xmlns:r="http://schemas.openxmlformats.org/officeDocument/2006/relationships" r:id="rId2"/>
          </a:graphicData>
        </a:graphic>
      </p:graphicFrame>
      <p:sp>
        <p:nvSpPr>
          <p:cNvPr id="76" name="椭圆 75">
            <a:extLst>
              <a:ext uri="{FF2B5EF4-FFF2-40B4-BE49-F238E27FC236}">
                <a16:creationId xmlns:a16="http://schemas.microsoft.com/office/drawing/2014/main" id="{3F265503-71A3-2FF9-3B23-6E9F141021C5}"/>
              </a:ext>
            </a:extLst>
          </p:cNvPr>
          <p:cNvSpPr/>
          <p:nvPr/>
        </p:nvSpPr>
        <p:spPr>
          <a:xfrm>
            <a:off x="10565790" y="2820961"/>
            <a:ext cx="760306" cy="760304"/>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LID4096" sz="1800" b="0" i="0" u="none" strike="noStrike" kern="0" cap="none" spc="0" normalizeH="0" baseline="0" noProof="0" dirty="0">
              <a:ln>
                <a:noFill/>
              </a:ln>
              <a:solidFill>
                <a:prstClr val="white"/>
              </a:solidFill>
              <a:effectLst/>
              <a:uLnTx/>
              <a:uFillTx/>
              <a:latin typeface="微软雅黑" panose="020B0503020204020204" pitchFamily="34" charset="-122"/>
              <a:ea typeface="+mn-ea"/>
              <a:cs typeface="+mn-cs"/>
            </a:endParaRPr>
          </a:p>
        </p:txBody>
      </p:sp>
      <p:graphicFrame>
        <p:nvGraphicFramePr>
          <p:cNvPr id="77" name="图表 76">
            <a:extLst>
              <a:ext uri="{FF2B5EF4-FFF2-40B4-BE49-F238E27FC236}">
                <a16:creationId xmlns:a16="http://schemas.microsoft.com/office/drawing/2014/main" id="{3910CCBA-EA87-17A8-8B96-ED49D8B57239}"/>
              </a:ext>
            </a:extLst>
          </p:cNvPr>
          <p:cNvGraphicFramePr/>
          <p:nvPr>
            <p:extLst>
              <p:ext uri="{D42A27DB-BD31-4B8C-83A1-F6EECF244321}">
                <p14:modId xmlns:p14="http://schemas.microsoft.com/office/powerpoint/2010/main" val="2246842829"/>
              </p:ext>
            </p:extLst>
          </p:nvPr>
        </p:nvGraphicFramePr>
        <p:xfrm>
          <a:off x="10112771" y="3877802"/>
          <a:ext cx="1666344" cy="1396394"/>
        </p:xfrm>
        <a:graphic>
          <a:graphicData uri="http://schemas.openxmlformats.org/drawingml/2006/chart">
            <c:chart xmlns:c="http://schemas.openxmlformats.org/drawingml/2006/chart" xmlns:r="http://schemas.openxmlformats.org/officeDocument/2006/relationships" r:id="rId3"/>
          </a:graphicData>
        </a:graphic>
      </p:graphicFrame>
      <p:sp>
        <p:nvSpPr>
          <p:cNvPr id="78" name="椭圆 77">
            <a:extLst>
              <a:ext uri="{FF2B5EF4-FFF2-40B4-BE49-F238E27FC236}">
                <a16:creationId xmlns:a16="http://schemas.microsoft.com/office/drawing/2014/main" id="{E22E3D90-202E-5253-6662-45F55A3DCF4E}"/>
              </a:ext>
            </a:extLst>
          </p:cNvPr>
          <p:cNvSpPr/>
          <p:nvPr/>
        </p:nvSpPr>
        <p:spPr>
          <a:xfrm>
            <a:off x="10565790" y="4217401"/>
            <a:ext cx="760306" cy="760304"/>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LID4096" sz="1800" b="0" i="0" u="none" strike="noStrike" kern="0" cap="none" spc="0" normalizeH="0" baseline="0" noProof="0" dirty="0">
              <a:ln>
                <a:noFill/>
              </a:ln>
              <a:solidFill>
                <a:prstClr val="white"/>
              </a:solidFill>
              <a:effectLst/>
              <a:uLnTx/>
              <a:uFillTx/>
              <a:latin typeface="微软雅黑" panose="020B0503020204020204" pitchFamily="34" charset="-122"/>
              <a:ea typeface="+mn-ea"/>
              <a:cs typeface="+mn-cs"/>
            </a:endParaRPr>
          </a:p>
        </p:txBody>
      </p:sp>
      <p:graphicFrame>
        <p:nvGraphicFramePr>
          <p:cNvPr id="79" name="图表 78">
            <a:extLst>
              <a:ext uri="{FF2B5EF4-FFF2-40B4-BE49-F238E27FC236}">
                <a16:creationId xmlns:a16="http://schemas.microsoft.com/office/drawing/2014/main" id="{0F80B776-FA71-E685-C5E9-B40D91F4945D}"/>
              </a:ext>
            </a:extLst>
          </p:cNvPr>
          <p:cNvGraphicFramePr/>
          <p:nvPr>
            <p:extLst>
              <p:ext uri="{D42A27DB-BD31-4B8C-83A1-F6EECF244321}">
                <p14:modId xmlns:p14="http://schemas.microsoft.com/office/powerpoint/2010/main" val="214359282"/>
              </p:ext>
            </p:extLst>
          </p:nvPr>
        </p:nvGraphicFramePr>
        <p:xfrm>
          <a:off x="10112771" y="5271738"/>
          <a:ext cx="1666344" cy="1396394"/>
        </p:xfrm>
        <a:graphic>
          <a:graphicData uri="http://schemas.openxmlformats.org/drawingml/2006/chart">
            <c:chart xmlns:c="http://schemas.openxmlformats.org/drawingml/2006/chart" xmlns:r="http://schemas.openxmlformats.org/officeDocument/2006/relationships" r:id="rId4"/>
          </a:graphicData>
        </a:graphic>
      </p:graphicFrame>
      <p:sp>
        <p:nvSpPr>
          <p:cNvPr id="80" name="椭圆 79">
            <a:extLst>
              <a:ext uri="{FF2B5EF4-FFF2-40B4-BE49-F238E27FC236}">
                <a16:creationId xmlns:a16="http://schemas.microsoft.com/office/drawing/2014/main" id="{570B4D64-20BE-85B2-2127-D0B26308D239}"/>
              </a:ext>
            </a:extLst>
          </p:cNvPr>
          <p:cNvSpPr/>
          <p:nvPr/>
        </p:nvSpPr>
        <p:spPr>
          <a:xfrm>
            <a:off x="10565790" y="5634233"/>
            <a:ext cx="760306" cy="760304"/>
          </a:xfrm>
          <a:prstGeom prst="ellips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LID4096" sz="1800" b="0" i="0" u="none" strike="noStrike" kern="0" cap="none" spc="0" normalizeH="0" baseline="0" noProof="0" dirty="0">
              <a:ln>
                <a:noFill/>
              </a:ln>
              <a:solidFill>
                <a:prstClr val="white"/>
              </a:solidFill>
              <a:effectLst/>
              <a:uLnTx/>
              <a:uFillTx/>
              <a:latin typeface="微软雅黑" panose="020B0503020204020204" pitchFamily="34" charset="-122"/>
              <a:ea typeface="+mn-ea"/>
              <a:cs typeface="+mn-cs"/>
            </a:endParaRPr>
          </a:p>
        </p:txBody>
      </p:sp>
      <p:grpSp>
        <p:nvGrpSpPr>
          <p:cNvPr id="81" name="组合 80">
            <a:extLst>
              <a:ext uri="{FF2B5EF4-FFF2-40B4-BE49-F238E27FC236}">
                <a16:creationId xmlns:a16="http://schemas.microsoft.com/office/drawing/2014/main" id="{92AB045F-9C85-DC6E-3429-8A49DCBECB07}"/>
              </a:ext>
            </a:extLst>
          </p:cNvPr>
          <p:cNvGrpSpPr/>
          <p:nvPr/>
        </p:nvGrpSpPr>
        <p:grpSpPr>
          <a:xfrm>
            <a:off x="10595581" y="2955892"/>
            <a:ext cx="697627" cy="500132"/>
            <a:chOff x="10636934" y="2824935"/>
            <a:chExt cx="697627" cy="500132"/>
          </a:xfrm>
        </p:grpSpPr>
        <p:sp>
          <p:nvSpPr>
            <p:cNvPr id="82" name="文本框 81">
              <a:extLst>
                <a:ext uri="{FF2B5EF4-FFF2-40B4-BE49-F238E27FC236}">
                  <a16:creationId xmlns:a16="http://schemas.microsoft.com/office/drawing/2014/main" id="{677D091C-238A-A9F8-C5EA-CA3411E21D3B}"/>
                </a:ext>
              </a:extLst>
            </p:cNvPr>
            <p:cNvSpPr txBox="1"/>
            <p:nvPr/>
          </p:nvSpPr>
          <p:spPr>
            <a:xfrm>
              <a:off x="10676901" y="2986513"/>
              <a:ext cx="628698" cy="338554"/>
            </a:xfrm>
            <a:prstGeom prst="rect">
              <a:avLst/>
            </a:prstGeom>
            <a:noFill/>
          </p:spPr>
          <p:txBody>
            <a:bodyPr wrap="none">
              <a:spAutoFit/>
            </a:bodyPr>
            <a:lstStyle>
              <a:defPPr>
                <a:defRPr lang="zh-CN"/>
              </a:defPPr>
              <a:lvl1pPr algn="ctr">
                <a:defRPr sz="2800">
                  <a:solidFill>
                    <a:schemeClr val="bg1"/>
                  </a:solidFill>
                  <a:latin typeface="+mj-ea"/>
                  <a:ea typeface="+mj-ea"/>
                </a:defRPr>
              </a:lvl1pPr>
            </a:lstStyle>
            <a:p>
              <a:pPr>
                <a:defRPr/>
              </a:pPr>
              <a:r>
                <a:rPr lang="en-US" altLang="zh-CN" sz="1600" b="1" dirty="0">
                  <a:solidFill>
                    <a:prstClr val="black"/>
                  </a:solidFill>
                  <a:latin typeface="微软雅黑" panose="020B0503020204020204" pitchFamily="34" charset="-122"/>
                  <a:ea typeface="微软雅黑" panose="020B0503020204020204" pitchFamily="34" charset="-122"/>
                </a:rPr>
                <a:t>50%</a:t>
              </a:r>
              <a:endParaRPr lang="zh-CN" altLang="en-US" sz="1600" b="1" dirty="0">
                <a:solidFill>
                  <a:prstClr val="black"/>
                </a:solidFill>
                <a:latin typeface="微软雅黑" panose="020B0503020204020204" pitchFamily="34" charset="-122"/>
                <a:ea typeface="微软雅黑" panose="020B0503020204020204" pitchFamily="34" charset="-122"/>
              </a:endParaRPr>
            </a:p>
          </p:txBody>
        </p:sp>
        <p:sp>
          <p:nvSpPr>
            <p:cNvPr id="83" name="文本框 82">
              <a:extLst>
                <a:ext uri="{FF2B5EF4-FFF2-40B4-BE49-F238E27FC236}">
                  <a16:creationId xmlns:a16="http://schemas.microsoft.com/office/drawing/2014/main" id="{D9E79CB1-2D74-ED13-2318-C4A45876BAD3}"/>
                </a:ext>
              </a:extLst>
            </p:cNvPr>
            <p:cNvSpPr txBox="1"/>
            <p:nvPr/>
          </p:nvSpPr>
          <p:spPr>
            <a:xfrm>
              <a:off x="10636934" y="2824935"/>
              <a:ext cx="697627" cy="246221"/>
            </a:xfrm>
            <a:prstGeom prst="rect">
              <a:avLst/>
            </a:prstGeom>
            <a:noFill/>
          </p:spPr>
          <p:txBody>
            <a:bodyPr wrap="none">
              <a:spAutoFit/>
            </a:bodyPr>
            <a:lstStyle/>
            <a:p>
              <a:pPr algn="ctr">
                <a:defRPr/>
              </a:pPr>
              <a:r>
                <a:rPr lang="zh-CN" altLang="en-US" sz="1000" dirty="0">
                  <a:solidFill>
                    <a:prstClr val="black"/>
                  </a:solidFill>
                  <a:latin typeface="微软雅黑" panose="020B0503020204020204" pitchFamily="34" charset="-122"/>
                  <a:ea typeface="微软雅黑" panose="020B0503020204020204" pitchFamily="34" charset="-122"/>
                </a:rPr>
                <a:t>完成进度</a:t>
              </a:r>
            </a:p>
          </p:txBody>
        </p:sp>
      </p:grpSp>
      <p:grpSp>
        <p:nvGrpSpPr>
          <p:cNvPr id="84" name="组合 83">
            <a:extLst>
              <a:ext uri="{FF2B5EF4-FFF2-40B4-BE49-F238E27FC236}">
                <a16:creationId xmlns:a16="http://schemas.microsoft.com/office/drawing/2014/main" id="{5CB7688E-EF63-1FC0-4D34-573FF4678620}"/>
              </a:ext>
            </a:extLst>
          </p:cNvPr>
          <p:cNvGrpSpPr/>
          <p:nvPr/>
        </p:nvGrpSpPr>
        <p:grpSpPr>
          <a:xfrm>
            <a:off x="10595581" y="4352332"/>
            <a:ext cx="697627" cy="500132"/>
            <a:chOff x="10636934" y="2824935"/>
            <a:chExt cx="697627" cy="500132"/>
          </a:xfrm>
        </p:grpSpPr>
        <p:sp>
          <p:nvSpPr>
            <p:cNvPr id="85" name="文本框 84">
              <a:extLst>
                <a:ext uri="{FF2B5EF4-FFF2-40B4-BE49-F238E27FC236}">
                  <a16:creationId xmlns:a16="http://schemas.microsoft.com/office/drawing/2014/main" id="{F76D9D05-4EB3-2944-D2AD-A42F5537DF85}"/>
                </a:ext>
              </a:extLst>
            </p:cNvPr>
            <p:cNvSpPr txBox="1"/>
            <p:nvPr/>
          </p:nvSpPr>
          <p:spPr>
            <a:xfrm>
              <a:off x="10676901" y="2986513"/>
              <a:ext cx="628698" cy="338554"/>
            </a:xfrm>
            <a:prstGeom prst="rect">
              <a:avLst/>
            </a:prstGeom>
            <a:noFill/>
          </p:spPr>
          <p:txBody>
            <a:bodyPr wrap="none">
              <a:spAutoFit/>
            </a:bodyPr>
            <a:lstStyle>
              <a:defPPr>
                <a:defRPr lang="zh-CN"/>
              </a:defPPr>
              <a:lvl1pPr algn="ctr">
                <a:defRPr sz="2800">
                  <a:solidFill>
                    <a:schemeClr val="bg1"/>
                  </a:solidFill>
                  <a:latin typeface="+mj-ea"/>
                  <a:ea typeface="+mj-ea"/>
                </a:defRPr>
              </a:lvl1pPr>
            </a:lstStyle>
            <a:p>
              <a:pPr>
                <a:defRPr/>
              </a:pPr>
              <a:r>
                <a:rPr lang="en-US" altLang="zh-CN" sz="1600" b="1" dirty="0">
                  <a:solidFill>
                    <a:prstClr val="black"/>
                  </a:solidFill>
                  <a:latin typeface="微软雅黑" panose="020B0503020204020204" pitchFamily="34" charset="-122"/>
                  <a:ea typeface="微软雅黑" panose="020B0503020204020204" pitchFamily="34" charset="-122"/>
                </a:rPr>
                <a:t>30%</a:t>
              </a:r>
            </a:p>
          </p:txBody>
        </p:sp>
        <p:sp>
          <p:nvSpPr>
            <p:cNvPr id="86" name="文本框 85">
              <a:extLst>
                <a:ext uri="{FF2B5EF4-FFF2-40B4-BE49-F238E27FC236}">
                  <a16:creationId xmlns:a16="http://schemas.microsoft.com/office/drawing/2014/main" id="{D6342C72-F1A6-8571-3497-1AE7CD200CD9}"/>
                </a:ext>
              </a:extLst>
            </p:cNvPr>
            <p:cNvSpPr txBox="1"/>
            <p:nvPr/>
          </p:nvSpPr>
          <p:spPr>
            <a:xfrm>
              <a:off x="10636934" y="2824935"/>
              <a:ext cx="697627" cy="246221"/>
            </a:xfrm>
            <a:prstGeom prst="rect">
              <a:avLst/>
            </a:prstGeom>
            <a:noFill/>
          </p:spPr>
          <p:txBody>
            <a:bodyPr wrap="none">
              <a:spAutoFit/>
            </a:bodyPr>
            <a:lstStyle/>
            <a:p>
              <a:pPr algn="ctr">
                <a:defRPr/>
              </a:pPr>
              <a:r>
                <a:rPr lang="zh-CN" altLang="en-US" sz="1000" dirty="0">
                  <a:solidFill>
                    <a:prstClr val="black"/>
                  </a:solidFill>
                  <a:latin typeface="微软雅黑" panose="020B0503020204020204" pitchFamily="34" charset="-122"/>
                  <a:ea typeface="微软雅黑" panose="020B0503020204020204" pitchFamily="34" charset="-122"/>
                </a:rPr>
                <a:t>完成进度</a:t>
              </a:r>
            </a:p>
          </p:txBody>
        </p:sp>
      </p:grpSp>
      <p:grpSp>
        <p:nvGrpSpPr>
          <p:cNvPr id="87" name="组合 86">
            <a:extLst>
              <a:ext uri="{FF2B5EF4-FFF2-40B4-BE49-F238E27FC236}">
                <a16:creationId xmlns:a16="http://schemas.microsoft.com/office/drawing/2014/main" id="{64ADF234-6DDB-C10D-BDC3-CDE7E83A208C}"/>
              </a:ext>
            </a:extLst>
          </p:cNvPr>
          <p:cNvGrpSpPr/>
          <p:nvPr/>
        </p:nvGrpSpPr>
        <p:grpSpPr>
          <a:xfrm>
            <a:off x="10595581" y="5769164"/>
            <a:ext cx="697627" cy="500132"/>
            <a:chOff x="10636934" y="2824935"/>
            <a:chExt cx="697627" cy="500132"/>
          </a:xfrm>
        </p:grpSpPr>
        <p:sp>
          <p:nvSpPr>
            <p:cNvPr id="88" name="文本框 87">
              <a:extLst>
                <a:ext uri="{FF2B5EF4-FFF2-40B4-BE49-F238E27FC236}">
                  <a16:creationId xmlns:a16="http://schemas.microsoft.com/office/drawing/2014/main" id="{9B7FB3B2-4589-EDFF-8B3A-5F5145529101}"/>
                </a:ext>
              </a:extLst>
            </p:cNvPr>
            <p:cNvSpPr txBox="1"/>
            <p:nvPr/>
          </p:nvSpPr>
          <p:spPr>
            <a:xfrm>
              <a:off x="10676901" y="2986513"/>
              <a:ext cx="628698" cy="338554"/>
            </a:xfrm>
            <a:prstGeom prst="rect">
              <a:avLst/>
            </a:prstGeom>
            <a:noFill/>
          </p:spPr>
          <p:txBody>
            <a:bodyPr wrap="none">
              <a:spAutoFit/>
            </a:bodyPr>
            <a:lstStyle>
              <a:defPPr>
                <a:defRPr lang="zh-CN"/>
              </a:defPPr>
              <a:lvl1pPr algn="ctr">
                <a:defRPr sz="2800">
                  <a:solidFill>
                    <a:schemeClr val="bg1"/>
                  </a:solidFill>
                  <a:latin typeface="+mj-ea"/>
                  <a:ea typeface="+mj-ea"/>
                </a:defRPr>
              </a:lvl1pPr>
            </a:lstStyle>
            <a:p>
              <a:pPr>
                <a:defRPr/>
              </a:pPr>
              <a:r>
                <a:rPr lang="en-US" altLang="zh-CN" sz="1600" b="1" dirty="0">
                  <a:solidFill>
                    <a:prstClr val="black"/>
                  </a:solidFill>
                  <a:latin typeface="微软雅黑" panose="020B0503020204020204" pitchFamily="34" charset="-122"/>
                  <a:ea typeface="微软雅黑" panose="020B0503020204020204" pitchFamily="34" charset="-122"/>
                </a:rPr>
                <a:t>20%</a:t>
              </a:r>
            </a:p>
          </p:txBody>
        </p:sp>
        <p:sp>
          <p:nvSpPr>
            <p:cNvPr id="89" name="文本框 88">
              <a:extLst>
                <a:ext uri="{FF2B5EF4-FFF2-40B4-BE49-F238E27FC236}">
                  <a16:creationId xmlns:a16="http://schemas.microsoft.com/office/drawing/2014/main" id="{905ED555-E64D-B7D2-C875-839C66437F2F}"/>
                </a:ext>
              </a:extLst>
            </p:cNvPr>
            <p:cNvSpPr txBox="1"/>
            <p:nvPr/>
          </p:nvSpPr>
          <p:spPr>
            <a:xfrm>
              <a:off x="10636934" y="2824935"/>
              <a:ext cx="697627" cy="246221"/>
            </a:xfrm>
            <a:prstGeom prst="rect">
              <a:avLst/>
            </a:prstGeom>
            <a:noFill/>
          </p:spPr>
          <p:txBody>
            <a:bodyPr wrap="none">
              <a:spAutoFit/>
            </a:bodyPr>
            <a:lstStyle/>
            <a:p>
              <a:pPr algn="ctr">
                <a:defRPr/>
              </a:pPr>
              <a:r>
                <a:rPr lang="zh-CN" altLang="en-US" sz="1000" dirty="0">
                  <a:solidFill>
                    <a:prstClr val="black"/>
                  </a:solidFill>
                  <a:latin typeface="微软雅黑" panose="020B0503020204020204" pitchFamily="34" charset="-122"/>
                  <a:ea typeface="微软雅黑" panose="020B0503020204020204" pitchFamily="34" charset="-122"/>
                </a:rPr>
                <a:t>完成进度</a:t>
              </a:r>
            </a:p>
          </p:txBody>
        </p:sp>
      </p:grpSp>
      <p:pic>
        <p:nvPicPr>
          <p:cNvPr id="91" name="Picture 2">
            <a:extLst>
              <a:ext uri="{FF2B5EF4-FFF2-40B4-BE49-F238E27FC236}">
                <a16:creationId xmlns:a16="http://schemas.microsoft.com/office/drawing/2014/main" id="{EDF677DA-F81D-EBC2-FB52-C5C508365574}"/>
              </a:ext>
            </a:extLst>
          </p:cNvPr>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53789" y="2698756"/>
            <a:ext cx="2037736" cy="964275"/>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4">
            <a:extLst>
              <a:ext uri="{FF2B5EF4-FFF2-40B4-BE49-F238E27FC236}">
                <a16:creationId xmlns:a16="http://schemas.microsoft.com/office/drawing/2014/main" id="{4C34D873-188B-4BF6-75FF-4EC2522BF900}"/>
              </a:ext>
            </a:extLst>
          </p:cNvPr>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53789" y="4089406"/>
            <a:ext cx="2037736" cy="964275"/>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6">
            <a:extLst>
              <a:ext uri="{FF2B5EF4-FFF2-40B4-BE49-F238E27FC236}">
                <a16:creationId xmlns:a16="http://schemas.microsoft.com/office/drawing/2014/main" id="{1F252167-FF24-BF4E-3E17-3BA53C37EDAB}"/>
              </a:ext>
            </a:extLst>
          </p:cNvPr>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53789" y="5480055"/>
            <a:ext cx="2037736" cy="964275"/>
          </a:xfrm>
          <a:prstGeom prst="rect">
            <a:avLst/>
          </a:prstGeom>
          <a:noFill/>
          <a:extLst>
            <a:ext uri="{909E8E84-426E-40DD-AFC4-6F175D3DCCD1}">
              <a14:hiddenFill xmlns:a14="http://schemas.microsoft.com/office/drawing/2010/main">
                <a:solidFill>
                  <a:srgbClr val="FFFFFF"/>
                </a:solidFill>
              </a14:hiddenFill>
            </a:ext>
          </a:extLst>
        </p:spPr>
      </p:pic>
      <p:sp>
        <p:nvSpPr>
          <p:cNvPr id="95" name="矩形 94">
            <a:extLst>
              <a:ext uri="{FF2B5EF4-FFF2-40B4-BE49-F238E27FC236}">
                <a16:creationId xmlns:a16="http://schemas.microsoft.com/office/drawing/2014/main" id="{8DF380AA-EC9B-1773-F066-8B727074A764}"/>
              </a:ext>
            </a:extLst>
          </p:cNvPr>
          <p:cNvSpPr/>
          <p:nvPr/>
        </p:nvSpPr>
        <p:spPr>
          <a:xfrm>
            <a:off x="494063" y="2566727"/>
            <a:ext cx="1578195" cy="891966"/>
          </a:xfrm>
          <a:prstGeom prst="rect">
            <a:avLst/>
          </a:prstGeom>
          <a:solidFill>
            <a:sysClr val="window" lastClr="FFFFFF">
              <a:lumMod val="95000"/>
            </a:sys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96" name="矩形 95">
            <a:extLst>
              <a:ext uri="{FF2B5EF4-FFF2-40B4-BE49-F238E27FC236}">
                <a16:creationId xmlns:a16="http://schemas.microsoft.com/office/drawing/2014/main" id="{3A1CDEBC-68B2-B7C7-3572-50C4590C29FF}"/>
              </a:ext>
            </a:extLst>
          </p:cNvPr>
          <p:cNvSpPr/>
          <p:nvPr/>
        </p:nvSpPr>
        <p:spPr>
          <a:xfrm>
            <a:off x="494062" y="3607667"/>
            <a:ext cx="1856968" cy="891966"/>
          </a:xfrm>
          <a:prstGeom prst="rect">
            <a:avLst/>
          </a:prstGeom>
          <a:solidFill>
            <a:sysClr val="window" lastClr="FFFFFF">
              <a:lumMod val="95000"/>
            </a:sys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97" name="矩形 96">
            <a:extLst>
              <a:ext uri="{FF2B5EF4-FFF2-40B4-BE49-F238E27FC236}">
                <a16:creationId xmlns:a16="http://schemas.microsoft.com/office/drawing/2014/main" id="{6AB29A9E-49CE-D67B-D2AE-3FF91DDCDB0E}"/>
              </a:ext>
            </a:extLst>
          </p:cNvPr>
          <p:cNvSpPr/>
          <p:nvPr/>
        </p:nvSpPr>
        <p:spPr>
          <a:xfrm>
            <a:off x="1618810" y="4648607"/>
            <a:ext cx="2388667" cy="891966"/>
          </a:xfrm>
          <a:prstGeom prst="rect">
            <a:avLst/>
          </a:prstGeom>
          <a:solidFill>
            <a:sysClr val="window" lastClr="FFFFFF">
              <a:lumMod val="95000"/>
            </a:sys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98" name="文本框 97">
            <a:extLst>
              <a:ext uri="{FF2B5EF4-FFF2-40B4-BE49-F238E27FC236}">
                <a16:creationId xmlns:a16="http://schemas.microsoft.com/office/drawing/2014/main" id="{2A002E55-8CD1-FF48-6941-3ABAB01C1E30}"/>
              </a:ext>
            </a:extLst>
          </p:cNvPr>
          <p:cNvSpPr txBox="1"/>
          <p:nvPr/>
        </p:nvSpPr>
        <p:spPr>
          <a:xfrm>
            <a:off x="494321" y="2877447"/>
            <a:ext cx="1577675" cy="520271"/>
          </a:xfrm>
          <a:prstGeom prst="rect">
            <a:avLst/>
          </a:prstGeom>
          <a:noFill/>
        </p:spPr>
        <p:txBody>
          <a:bodyPr wrap="square">
            <a:spAutoFit/>
          </a:bodyPr>
          <a:lstStyle/>
          <a:p>
            <a:pPr>
              <a:lnSpc>
                <a:spcPct val="120000"/>
              </a:lnSpc>
              <a:defRPr/>
            </a:pPr>
            <a:r>
              <a:rPr lang="zh-CN" altLang="en-US" sz="1200" dirty="0">
                <a:solidFill>
                  <a:prstClr val="black">
                    <a:lumMod val="85000"/>
                    <a:lumOff val="15000"/>
                  </a:prstClr>
                </a:solidFill>
                <a:latin typeface="微软雅黑" panose="020B0503020204020204" pitchFamily="34" charset="-122"/>
                <a:ea typeface="微软雅黑" panose="020B0503020204020204" pitchFamily="34" charset="-122"/>
              </a:rPr>
              <a:t>申请项目预案，创建项目团队</a:t>
            </a:r>
            <a:endParaRPr lang="en-US" altLang="zh-CN" sz="12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99" name="文本框 98">
            <a:extLst>
              <a:ext uri="{FF2B5EF4-FFF2-40B4-BE49-F238E27FC236}">
                <a16:creationId xmlns:a16="http://schemas.microsoft.com/office/drawing/2014/main" id="{7304E0A6-2B97-8F60-88B4-BB2F4BC673E7}"/>
              </a:ext>
            </a:extLst>
          </p:cNvPr>
          <p:cNvSpPr txBox="1"/>
          <p:nvPr/>
        </p:nvSpPr>
        <p:spPr>
          <a:xfrm>
            <a:off x="475887" y="2625296"/>
            <a:ext cx="1614546" cy="307777"/>
          </a:xfrm>
          <a:prstGeom prst="rect">
            <a:avLst/>
          </a:prstGeom>
          <a:noFill/>
        </p:spPr>
        <p:txBody>
          <a:bodyPr wrap="none">
            <a:spAutoFit/>
          </a:bodyPr>
          <a:lstStyle/>
          <a:p>
            <a:pPr algn="ctr">
              <a:defRPr/>
            </a:pPr>
            <a:r>
              <a:rPr lang="en-US" altLang="zh-CN" sz="1400" dirty="0">
                <a:solidFill>
                  <a:schemeClr val="accent1"/>
                </a:solidFill>
                <a:latin typeface="微软雅黑" panose="020B0503020204020204" pitchFamily="34" charset="-122"/>
                <a:ea typeface="微软雅黑" panose="020B0503020204020204" pitchFamily="34" charset="-122"/>
              </a:rPr>
              <a:t>4</a:t>
            </a:r>
            <a:r>
              <a:rPr lang="zh-CN" altLang="en-US" sz="1400" dirty="0">
                <a:solidFill>
                  <a:schemeClr val="accent1"/>
                </a:solidFill>
                <a:latin typeface="微软雅黑" panose="020B0503020204020204" pitchFamily="34" charset="-122"/>
                <a:ea typeface="微软雅黑" panose="020B0503020204020204" pitchFamily="34" charset="-122"/>
              </a:rPr>
              <a:t>月</a:t>
            </a:r>
            <a:r>
              <a:rPr lang="en-US" altLang="zh-CN" sz="1400" dirty="0">
                <a:solidFill>
                  <a:schemeClr val="accent1"/>
                </a:solidFill>
                <a:latin typeface="微软雅黑" panose="020B0503020204020204" pitchFamily="34" charset="-122"/>
                <a:ea typeface="微软雅黑" panose="020B0503020204020204" pitchFamily="34" charset="-122"/>
              </a:rPr>
              <a:t>1</a:t>
            </a:r>
            <a:r>
              <a:rPr lang="zh-CN" altLang="en-US" sz="1400" dirty="0">
                <a:solidFill>
                  <a:schemeClr val="accent1"/>
                </a:solidFill>
                <a:latin typeface="微软雅黑" panose="020B0503020204020204" pitchFamily="34" charset="-122"/>
                <a:ea typeface="微软雅黑" panose="020B0503020204020204" pitchFamily="34" charset="-122"/>
              </a:rPr>
              <a:t>日 </a:t>
            </a:r>
            <a:r>
              <a:rPr lang="en-US" altLang="zh-CN" sz="1400" dirty="0">
                <a:solidFill>
                  <a:schemeClr val="accent1"/>
                </a:solidFill>
                <a:latin typeface="微软雅黑" panose="020B0503020204020204" pitchFamily="34" charset="-122"/>
                <a:ea typeface="微软雅黑" panose="020B0503020204020204" pitchFamily="34" charset="-122"/>
              </a:rPr>
              <a:t>- 5</a:t>
            </a:r>
            <a:r>
              <a:rPr lang="zh-CN" altLang="en-US" sz="1400" dirty="0">
                <a:solidFill>
                  <a:schemeClr val="accent1"/>
                </a:solidFill>
                <a:latin typeface="微软雅黑" panose="020B0503020204020204" pitchFamily="34" charset="-122"/>
                <a:ea typeface="微软雅黑" panose="020B0503020204020204" pitchFamily="34" charset="-122"/>
              </a:rPr>
              <a:t>月</a:t>
            </a:r>
            <a:r>
              <a:rPr lang="en-US" altLang="zh-CN" sz="1400" dirty="0">
                <a:solidFill>
                  <a:schemeClr val="accent1"/>
                </a:solidFill>
                <a:latin typeface="微软雅黑" panose="020B0503020204020204" pitchFamily="34" charset="-122"/>
                <a:ea typeface="微软雅黑" panose="020B0503020204020204" pitchFamily="34" charset="-122"/>
              </a:rPr>
              <a:t>10</a:t>
            </a:r>
            <a:r>
              <a:rPr lang="zh-CN" altLang="en-US" sz="1400" dirty="0">
                <a:solidFill>
                  <a:schemeClr val="accent1"/>
                </a:solidFill>
                <a:latin typeface="微软雅黑" panose="020B0503020204020204" pitchFamily="34" charset="-122"/>
                <a:ea typeface="微软雅黑" panose="020B0503020204020204" pitchFamily="34" charset="-122"/>
              </a:rPr>
              <a:t>日</a:t>
            </a:r>
          </a:p>
        </p:txBody>
      </p:sp>
      <p:sp>
        <p:nvSpPr>
          <p:cNvPr id="100" name="矩形 99">
            <a:extLst>
              <a:ext uri="{FF2B5EF4-FFF2-40B4-BE49-F238E27FC236}">
                <a16:creationId xmlns:a16="http://schemas.microsoft.com/office/drawing/2014/main" id="{ACB8EEFD-DDF1-4F42-2310-5AF85D508613}"/>
              </a:ext>
            </a:extLst>
          </p:cNvPr>
          <p:cNvSpPr/>
          <p:nvPr/>
        </p:nvSpPr>
        <p:spPr>
          <a:xfrm>
            <a:off x="956427" y="5689547"/>
            <a:ext cx="2388667" cy="891966"/>
          </a:xfrm>
          <a:prstGeom prst="rect">
            <a:avLst/>
          </a:prstGeom>
          <a:solidFill>
            <a:sysClr val="window" lastClr="FFFFFF">
              <a:lumMod val="95000"/>
            </a:sys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101" name="矩形 100">
            <a:extLst>
              <a:ext uri="{FF2B5EF4-FFF2-40B4-BE49-F238E27FC236}">
                <a16:creationId xmlns:a16="http://schemas.microsoft.com/office/drawing/2014/main" id="{84315A81-370A-DB04-D346-6E2A74BADFEB}"/>
              </a:ext>
            </a:extLst>
          </p:cNvPr>
          <p:cNvSpPr/>
          <p:nvPr/>
        </p:nvSpPr>
        <p:spPr>
          <a:xfrm>
            <a:off x="4590031" y="4656149"/>
            <a:ext cx="2488057" cy="891966"/>
          </a:xfrm>
          <a:prstGeom prst="rect">
            <a:avLst/>
          </a:prstGeom>
          <a:solidFill>
            <a:schemeClr val="accent1">
              <a:alpha val="7000"/>
            </a:scheme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102" name="矩形 101">
            <a:extLst>
              <a:ext uri="{FF2B5EF4-FFF2-40B4-BE49-F238E27FC236}">
                <a16:creationId xmlns:a16="http://schemas.microsoft.com/office/drawing/2014/main" id="{BF589778-8A9C-E993-9FDE-1E391CC07641}"/>
              </a:ext>
            </a:extLst>
          </p:cNvPr>
          <p:cNvSpPr/>
          <p:nvPr/>
        </p:nvSpPr>
        <p:spPr>
          <a:xfrm>
            <a:off x="3467992" y="3611438"/>
            <a:ext cx="1743536" cy="891966"/>
          </a:xfrm>
          <a:prstGeom prst="rect">
            <a:avLst/>
          </a:prstGeom>
          <a:solidFill>
            <a:schemeClr val="accent1">
              <a:alpha val="7000"/>
            </a:scheme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103" name="矩形 102">
            <a:extLst>
              <a:ext uri="{FF2B5EF4-FFF2-40B4-BE49-F238E27FC236}">
                <a16:creationId xmlns:a16="http://schemas.microsoft.com/office/drawing/2014/main" id="{BBBC1730-B418-5B2D-5257-9A22B8AFB5CD}"/>
              </a:ext>
            </a:extLst>
          </p:cNvPr>
          <p:cNvSpPr/>
          <p:nvPr/>
        </p:nvSpPr>
        <p:spPr>
          <a:xfrm>
            <a:off x="2859125" y="2566727"/>
            <a:ext cx="2352402" cy="891966"/>
          </a:xfrm>
          <a:prstGeom prst="rect">
            <a:avLst/>
          </a:prstGeom>
          <a:solidFill>
            <a:schemeClr val="accent1">
              <a:alpha val="7000"/>
            </a:scheme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104" name="文本框 103">
            <a:extLst>
              <a:ext uri="{FF2B5EF4-FFF2-40B4-BE49-F238E27FC236}">
                <a16:creationId xmlns:a16="http://schemas.microsoft.com/office/drawing/2014/main" id="{11E74A54-ECA7-2475-168D-B48B2B95F15F}"/>
              </a:ext>
            </a:extLst>
          </p:cNvPr>
          <p:cNvSpPr txBox="1"/>
          <p:nvPr/>
        </p:nvSpPr>
        <p:spPr>
          <a:xfrm>
            <a:off x="2904954" y="2877447"/>
            <a:ext cx="2334986" cy="520271"/>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tabLst/>
              <a:defRPr kumimoji="0" sz="1200" i="0" u="none" strike="noStrike" cap="none" spc="0" normalizeH="0" baseline="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defRPr>
            </a:lvl1p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rPr>
              <a:t>通过野外控制实验（如模拟干旱胁迫）和长期监测</a:t>
            </a:r>
          </a:p>
        </p:txBody>
      </p:sp>
      <p:sp>
        <p:nvSpPr>
          <p:cNvPr id="105" name="文本框 104">
            <a:extLst>
              <a:ext uri="{FF2B5EF4-FFF2-40B4-BE49-F238E27FC236}">
                <a16:creationId xmlns:a16="http://schemas.microsoft.com/office/drawing/2014/main" id="{82818604-7F8F-B87C-0DB8-CDFA820DB960}"/>
              </a:ext>
            </a:extLst>
          </p:cNvPr>
          <p:cNvSpPr txBox="1"/>
          <p:nvPr/>
        </p:nvSpPr>
        <p:spPr>
          <a:xfrm>
            <a:off x="2886519" y="2625296"/>
            <a:ext cx="1614546" cy="307777"/>
          </a:xfrm>
          <a:prstGeom prst="rect">
            <a:avLst/>
          </a:prstGeom>
          <a:noFill/>
        </p:spPr>
        <p:txBody>
          <a:bodyPr wrap="none">
            <a:spAutoFit/>
          </a:bodyPr>
          <a:lstStyle>
            <a:defPPr>
              <a:defRPr lang="zh-CN"/>
            </a:defPPr>
            <a:lvl1pPr marR="0" lvl="0" indent="0" algn="ctr" fontAlgn="auto">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6</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1</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 </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- 7</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30</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a:t>
            </a:r>
          </a:p>
        </p:txBody>
      </p:sp>
      <p:sp>
        <p:nvSpPr>
          <p:cNvPr id="106" name="矩形 105">
            <a:extLst>
              <a:ext uri="{FF2B5EF4-FFF2-40B4-BE49-F238E27FC236}">
                <a16:creationId xmlns:a16="http://schemas.microsoft.com/office/drawing/2014/main" id="{7C44CFE3-6455-7570-33C0-2D8B974CFAF7}"/>
              </a:ext>
            </a:extLst>
          </p:cNvPr>
          <p:cNvSpPr/>
          <p:nvPr/>
        </p:nvSpPr>
        <p:spPr>
          <a:xfrm>
            <a:off x="5127628" y="5700861"/>
            <a:ext cx="2488057" cy="891966"/>
          </a:xfrm>
          <a:prstGeom prst="rect">
            <a:avLst/>
          </a:prstGeom>
          <a:solidFill>
            <a:schemeClr val="accent1">
              <a:alpha val="7000"/>
            </a:scheme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107" name="矩形 106">
            <a:extLst>
              <a:ext uri="{FF2B5EF4-FFF2-40B4-BE49-F238E27FC236}">
                <a16:creationId xmlns:a16="http://schemas.microsoft.com/office/drawing/2014/main" id="{13CFCC5B-08E2-4FC7-B95C-56BD11FA81D1}"/>
              </a:ext>
            </a:extLst>
          </p:cNvPr>
          <p:cNvSpPr/>
          <p:nvPr/>
        </p:nvSpPr>
        <p:spPr>
          <a:xfrm>
            <a:off x="5791792" y="2566727"/>
            <a:ext cx="1823890" cy="891966"/>
          </a:xfrm>
          <a:prstGeom prst="rect">
            <a:avLst/>
          </a:prstGeom>
          <a:solidFill>
            <a:schemeClr val="accent1">
              <a:alpha val="7000"/>
            </a:schemeClr>
          </a:solidFill>
          <a:ln w="12700" cap="flat" cmpd="sng" algn="ctr">
            <a:noFill/>
            <a:prstDash val="solid"/>
            <a:miter lim="800000"/>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等线 Light" panose="02010600030101010101" pitchFamily="2" charset="-122"/>
              <a:cs typeface="+mn-cs"/>
            </a:endParaRPr>
          </a:p>
        </p:txBody>
      </p:sp>
      <p:sp>
        <p:nvSpPr>
          <p:cNvPr id="108" name="文本框 107">
            <a:extLst>
              <a:ext uri="{FF2B5EF4-FFF2-40B4-BE49-F238E27FC236}">
                <a16:creationId xmlns:a16="http://schemas.microsoft.com/office/drawing/2014/main" id="{F66AC11D-F0DB-7BC5-A8E9-F7D6F221ED02}"/>
              </a:ext>
            </a:extLst>
          </p:cNvPr>
          <p:cNvSpPr txBox="1"/>
          <p:nvPr/>
        </p:nvSpPr>
        <p:spPr>
          <a:xfrm>
            <a:off x="5821204" y="2877447"/>
            <a:ext cx="1769692" cy="520271"/>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tabLst/>
              <a:defRPr kumimoji="0" sz="1200" i="0" u="none" strike="noStrike" cap="none" spc="0" normalizeH="0" baseline="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defRPr>
            </a:lvl1p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rPr>
              <a:t>基于实验数据，构建森林干旱响应模型</a:t>
            </a:r>
          </a:p>
        </p:txBody>
      </p:sp>
      <p:sp>
        <p:nvSpPr>
          <p:cNvPr id="109" name="文本框 108">
            <a:extLst>
              <a:ext uri="{FF2B5EF4-FFF2-40B4-BE49-F238E27FC236}">
                <a16:creationId xmlns:a16="http://schemas.microsoft.com/office/drawing/2014/main" id="{C1F2D7D2-D424-17C8-8803-E44467C183EC}"/>
              </a:ext>
            </a:extLst>
          </p:cNvPr>
          <p:cNvSpPr txBox="1"/>
          <p:nvPr/>
        </p:nvSpPr>
        <p:spPr>
          <a:xfrm>
            <a:off x="5749871" y="2625296"/>
            <a:ext cx="1720343" cy="307777"/>
          </a:xfrm>
          <a:prstGeom prst="rect">
            <a:avLst/>
          </a:prstGeom>
          <a:noFill/>
        </p:spPr>
        <p:txBody>
          <a:bodyPr wrap="none">
            <a:spAutoFit/>
          </a:bodyPr>
          <a:lstStyle>
            <a:defPPr>
              <a:defRPr lang="zh-CN"/>
            </a:defPPr>
            <a:lvl1pPr marR="0" lvl="0" indent="0" algn="ctr" fontAlgn="auto">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8</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15</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 </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- 9</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30</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a:t>
            </a:r>
          </a:p>
        </p:txBody>
      </p:sp>
      <p:sp>
        <p:nvSpPr>
          <p:cNvPr id="110" name="文本框 109">
            <a:extLst>
              <a:ext uri="{FF2B5EF4-FFF2-40B4-BE49-F238E27FC236}">
                <a16:creationId xmlns:a16="http://schemas.microsoft.com/office/drawing/2014/main" id="{1209AA3D-01DF-E439-1C1C-E10B8DE96B88}"/>
              </a:ext>
            </a:extLst>
          </p:cNvPr>
          <p:cNvSpPr txBox="1"/>
          <p:nvPr/>
        </p:nvSpPr>
        <p:spPr>
          <a:xfrm>
            <a:off x="539478" y="3916538"/>
            <a:ext cx="1717059" cy="520271"/>
          </a:xfrm>
          <a:prstGeom prst="rect">
            <a:avLst/>
          </a:prstGeom>
          <a:noFill/>
        </p:spPr>
        <p:txBody>
          <a:bodyPr wrap="square">
            <a:spAutoFit/>
          </a:bodyPr>
          <a:lstStyle/>
          <a:p>
            <a:pPr>
              <a:lnSpc>
                <a:spcPct val="120000"/>
              </a:lnSpc>
              <a:defRPr/>
            </a:pPr>
            <a:r>
              <a:rPr lang="zh-CN" altLang="en-US" sz="1200" dirty="0">
                <a:solidFill>
                  <a:prstClr val="black">
                    <a:lumMod val="85000"/>
                    <a:lumOff val="15000"/>
                  </a:prstClr>
                </a:solidFill>
                <a:latin typeface="微软雅黑" panose="020B0503020204020204" pitchFamily="34" charset="-122"/>
                <a:ea typeface="微软雅黑" panose="020B0503020204020204" pitchFamily="34" charset="-122"/>
              </a:rPr>
              <a:t>选择热带季风区不同岩性区域</a:t>
            </a:r>
          </a:p>
        </p:txBody>
      </p:sp>
      <p:sp>
        <p:nvSpPr>
          <p:cNvPr id="111" name="文本框 110">
            <a:extLst>
              <a:ext uri="{FF2B5EF4-FFF2-40B4-BE49-F238E27FC236}">
                <a16:creationId xmlns:a16="http://schemas.microsoft.com/office/drawing/2014/main" id="{D63C0BAF-BC4A-1B2A-01EF-505D403A648D}"/>
              </a:ext>
            </a:extLst>
          </p:cNvPr>
          <p:cNvSpPr txBox="1"/>
          <p:nvPr/>
        </p:nvSpPr>
        <p:spPr>
          <a:xfrm>
            <a:off x="521043" y="3664387"/>
            <a:ext cx="1614546" cy="307777"/>
          </a:xfrm>
          <a:prstGeom prst="rect">
            <a:avLst/>
          </a:prstGeom>
          <a:noFill/>
        </p:spPr>
        <p:txBody>
          <a:bodyPr wrap="none">
            <a:spAutoFit/>
          </a:bodyPr>
          <a:lstStyle/>
          <a:p>
            <a:pPr algn="ctr">
              <a:defRPr/>
            </a:pPr>
            <a:r>
              <a:rPr lang="en-US" altLang="zh-CN" sz="1400" dirty="0">
                <a:solidFill>
                  <a:schemeClr val="accent1"/>
                </a:solidFill>
                <a:latin typeface="微软雅黑" panose="020B0503020204020204" pitchFamily="34" charset="-122"/>
                <a:ea typeface="微软雅黑" panose="020B0503020204020204" pitchFamily="34" charset="-122"/>
              </a:rPr>
              <a:t>4</a:t>
            </a:r>
            <a:r>
              <a:rPr lang="zh-CN" altLang="en-US" sz="1400" dirty="0">
                <a:solidFill>
                  <a:schemeClr val="accent1"/>
                </a:solidFill>
                <a:latin typeface="微软雅黑" panose="020B0503020204020204" pitchFamily="34" charset="-122"/>
                <a:ea typeface="微软雅黑" panose="020B0503020204020204" pitchFamily="34" charset="-122"/>
              </a:rPr>
              <a:t>月</a:t>
            </a:r>
            <a:r>
              <a:rPr lang="en-US" altLang="zh-CN" sz="1400" dirty="0">
                <a:solidFill>
                  <a:schemeClr val="accent1"/>
                </a:solidFill>
                <a:latin typeface="微软雅黑" panose="020B0503020204020204" pitchFamily="34" charset="-122"/>
                <a:ea typeface="微软雅黑" panose="020B0503020204020204" pitchFamily="34" charset="-122"/>
              </a:rPr>
              <a:t>1</a:t>
            </a:r>
            <a:r>
              <a:rPr lang="zh-CN" altLang="en-US" sz="1400" dirty="0">
                <a:solidFill>
                  <a:schemeClr val="accent1"/>
                </a:solidFill>
                <a:latin typeface="微软雅黑" panose="020B0503020204020204" pitchFamily="34" charset="-122"/>
                <a:ea typeface="微软雅黑" panose="020B0503020204020204" pitchFamily="34" charset="-122"/>
              </a:rPr>
              <a:t>日 </a:t>
            </a:r>
            <a:r>
              <a:rPr lang="en-US" altLang="zh-CN" sz="1400" dirty="0">
                <a:solidFill>
                  <a:schemeClr val="accent1"/>
                </a:solidFill>
                <a:latin typeface="微软雅黑" panose="020B0503020204020204" pitchFamily="34" charset="-122"/>
                <a:ea typeface="微软雅黑" panose="020B0503020204020204" pitchFamily="34" charset="-122"/>
              </a:rPr>
              <a:t>- 5</a:t>
            </a:r>
            <a:r>
              <a:rPr lang="zh-CN" altLang="en-US" sz="1400" dirty="0">
                <a:solidFill>
                  <a:schemeClr val="accent1"/>
                </a:solidFill>
                <a:latin typeface="微软雅黑" panose="020B0503020204020204" pitchFamily="34" charset="-122"/>
                <a:ea typeface="微软雅黑" panose="020B0503020204020204" pitchFamily="34" charset="-122"/>
              </a:rPr>
              <a:t>月</a:t>
            </a:r>
            <a:r>
              <a:rPr lang="en-US" altLang="zh-CN" sz="1400" dirty="0">
                <a:solidFill>
                  <a:schemeClr val="accent1"/>
                </a:solidFill>
                <a:latin typeface="微软雅黑" panose="020B0503020204020204" pitchFamily="34" charset="-122"/>
                <a:ea typeface="微软雅黑" panose="020B0503020204020204" pitchFamily="34" charset="-122"/>
              </a:rPr>
              <a:t>15</a:t>
            </a:r>
            <a:r>
              <a:rPr lang="zh-CN" altLang="en-US" sz="1400" dirty="0">
                <a:solidFill>
                  <a:schemeClr val="accent1"/>
                </a:solidFill>
                <a:latin typeface="微软雅黑" panose="020B0503020204020204" pitchFamily="34" charset="-122"/>
                <a:ea typeface="微软雅黑" panose="020B0503020204020204" pitchFamily="34" charset="-122"/>
              </a:rPr>
              <a:t>日</a:t>
            </a:r>
          </a:p>
        </p:txBody>
      </p:sp>
      <p:sp>
        <p:nvSpPr>
          <p:cNvPr id="112" name="文本框 111">
            <a:extLst>
              <a:ext uri="{FF2B5EF4-FFF2-40B4-BE49-F238E27FC236}">
                <a16:creationId xmlns:a16="http://schemas.microsoft.com/office/drawing/2014/main" id="{2FEE7494-1ED5-8E3E-5AE6-9E920C81F95D}"/>
              </a:ext>
            </a:extLst>
          </p:cNvPr>
          <p:cNvSpPr txBox="1"/>
          <p:nvPr/>
        </p:nvSpPr>
        <p:spPr>
          <a:xfrm>
            <a:off x="3560084" y="3916538"/>
            <a:ext cx="1651444" cy="520271"/>
          </a:xfrm>
          <a:prstGeom prst="rect">
            <a:avLst/>
          </a:prstGeom>
          <a:noFill/>
        </p:spPr>
        <p:txBody>
          <a:bodyPr wrap="square">
            <a:spAutoFit/>
          </a:bodyPr>
          <a:lstStyle/>
          <a:p>
            <a:pPr>
              <a:lnSpc>
                <a:spcPct val="120000"/>
              </a:lnSpc>
              <a:defRPr/>
            </a:pPr>
            <a:r>
              <a:rPr lang="zh-CN" altLang="en-US" sz="1200" dirty="0">
                <a:solidFill>
                  <a:prstClr val="black">
                    <a:lumMod val="85000"/>
                    <a:lumOff val="15000"/>
                  </a:prstClr>
                </a:solidFill>
                <a:latin typeface="微软雅黑" panose="020B0503020204020204" pitchFamily="34" charset="-122"/>
                <a:ea typeface="微软雅黑" panose="020B0503020204020204" pitchFamily="34" charset="-122"/>
              </a:rPr>
              <a:t>关注岩溶区植被恢复过程中植物生态适应</a:t>
            </a:r>
          </a:p>
        </p:txBody>
      </p:sp>
      <p:sp>
        <p:nvSpPr>
          <p:cNvPr id="113" name="文本框 112">
            <a:extLst>
              <a:ext uri="{FF2B5EF4-FFF2-40B4-BE49-F238E27FC236}">
                <a16:creationId xmlns:a16="http://schemas.microsoft.com/office/drawing/2014/main" id="{94662BB7-EA4E-02D4-3C86-F625066E58B2}"/>
              </a:ext>
            </a:extLst>
          </p:cNvPr>
          <p:cNvSpPr txBox="1"/>
          <p:nvPr/>
        </p:nvSpPr>
        <p:spPr>
          <a:xfrm>
            <a:off x="3488750" y="3664387"/>
            <a:ext cx="1720343" cy="307777"/>
          </a:xfrm>
          <a:prstGeom prst="rect">
            <a:avLst/>
          </a:prstGeom>
          <a:noFill/>
        </p:spPr>
        <p:txBody>
          <a:bodyPr wrap="none">
            <a:spAutoFit/>
          </a:bodyPr>
          <a:lstStyle/>
          <a:p>
            <a:pPr algn="ctr">
              <a:defRPr/>
            </a:pPr>
            <a:r>
              <a:rPr lang="en-US" altLang="zh-CN" sz="1400" dirty="0">
                <a:solidFill>
                  <a:schemeClr val="accent1"/>
                </a:solidFill>
                <a:latin typeface="微软雅黑" panose="020B0503020204020204" pitchFamily="34" charset="-122"/>
                <a:ea typeface="微软雅黑" panose="020B0503020204020204" pitchFamily="34" charset="-122"/>
              </a:rPr>
              <a:t>6</a:t>
            </a:r>
            <a:r>
              <a:rPr lang="zh-CN" altLang="en-US" sz="1400" dirty="0">
                <a:solidFill>
                  <a:schemeClr val="accent1"/>
                </a:solidFill>
                <a:latin typeface="微软雅黑" panose="020B0503020204020204" pitchFamily="34" charset="-122"/>
                <a:ea typeface="微软雅黑" panose="020B0503020204020204" pitchFamily="34" charset="-122"/>
              </a:rPr>
              <a:t>月</a:t>
            </a:r>
            <a:r>
              <a:rPr lang="en-US" altLang="zh-CN" sz="1400" dirty="0">
                <a:solidFill>
                  <a:schemeClr val="accent1"/>
                </a:solidFill>
                <a:latin typeface="微软雅黑" panose="020B0503020204020204" pitchFamily="34" charset="-122"/>
                <a:ea typeface="微软雅黑" panose="020B0503020204020204" pitchFamily="34" charset="-122"/>
              </a:rPr>
              <a:t>16</a:t>
            </a:r>
            <a:r>
              <a:rPr lang="zh-CN" altLang="en-US" sz="1400" dirty="0">
                <a:solidFill>
                  <a:schemeClr val="accent1"/>
                </a:solidFill>
                <a:latin typeface="微软雅黑" panose="020B0503020204020204" pitchFamily="34" charset="-122"/>
                <a:ea typeface="微软雅黑" panose="020B0503020204020204" pitchFamily="34" charset="-122"/>
              </a:rPr>
              <a:t>日 </a:t>
            </a:r>
            <a:r>
              <a:rPr lang="en-US" altLang="zh-CN" sz="1400" dirty="0">
                <a:solidFill>
                  <a:schemeClr val="accent1"/>
                </a:solidFill>
                <a:latin typeface="微软雅黑" panose="020B0503020204020204" pitchFamily="34" charset="-122"/>
                <a:ea typeface="微软雅黑" panose="020B0503020204020204" pitchFamily="34" charset="-122"/>
              </a:rPr>
              <a:t>- 6</a:t>
            </a:r>
            <a:r>
              <a:rPr lang="zh-CN" altLang="en-US" sz="1400" dirty="0">
                <a:solidFill>
                  <a:schemeClr val="accent1"/>
                </a:solidFill>
                <a:latin typeface="微软雅黑" panose="020B0503020204020204" pitchFamily="34" charset="-122"/>
                <a:ea typeface="微软雅黑" panose="020B0503020204020204" pitchFamily="34" charset="-122"/>
              </a:rPr>
              <a:t>月</a:t>
            </a:r>
            <a:r>
              <a:rPr lang="en-US" altLang="zh-CN" sz="1400" dirty="0">
                <a:solidFill>
                  <a:schemeClr val="accent1"/>
                </a:solidFill>
                <a:latin typeface="微软雅黑" panose="020B0503020204020204" pitchFamily="34" charset="-122"/>
                <a:ea typeface="微软雅黑" panose="020B0503020204020204" pitchFamily="34" charset="-122"/>
              </a:rPr>
              <a:t>30</a:t>
            </a:r>
            <a:r>
              <a:rPr lang="zh-CN" altLang="en-US" sz="1400" dirty="0">
                <a:solidFill>
                  <a:schemeClr val="accent1"/>
                </a:solidFill>
                <a:latin typeface="微软雅黑" panose="020B0503020204020204" pitchFamily="34" charset="-122"/>
                <a:ea typeface="微软雅黑" panose="020B0503020204020204" pitchFamily="34" charset="-122"/>
              </a:rPr>
              <a:t>日</a:t>
            </a:r>
          </a:p>
        </p:txBody>
      </p:sp>
      <p:sp>
        <p:nvSpPr>
          <p:cNvPr id="114" name="文本框 113">
            <a:extLst>
              <a:ext uri="{FF2B5EF4-FFF2-40B4-BE49-F238E27FC236}">
                <a16:creationId xmlns:a16="http://schemas.microsoft.com/office/drawing/2014/main" id="{16AF5218-C29E-7F1D-D598-6914A73BCD45}"/>
              </a:ext>
            </a:extLst>
          </p:cNvPr>
          <p:cNvSpPr txBox="1"/>
          <p:nvPr/>
        </p:nvSpPr>
        <p:spPr>
          <a:xfrm>
            <a:off x="1686101" y="4974898"/>
            <a:ext cx="2064076" cy="520271"/>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tabLst/>
              <a:defRPr kumimoji="0" sz="1200" i="0" u="none" strike="noStrike" cap="none" spc="0" normalizeH="0" baseline="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defRPr>
            </a:lvl1p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rPr>
              <a:t>布设监测站点，采集土壤、植物样本</a:t>
            </a:r>
          </a:p>
        </p:txBody>
      </p:sp>
      <p:sp>
        <p:nvSpPr>
          <p:cNvPr id="115" name="文本框 114">
            <a:extLst>
              <a:ext uri="{FF2B5EF4-FFF2-40B4-BE49-F238E27FC236}">
                <a16:creationId xmlns:a16="http://schemas.microsoft.com/office/drawing/2014/main" id="{DCD66314-285B-E829-7729-A2C8E951D687}"/>
              </a:ext>
            </a:extLst>
          </p:cNvPr>
          <p:cNvSpPr txBox="1"/>
          <p:nvPr/>
        </p:nvSpPr>
        <p:spPr>
          <a:xfrm>
            <a:off x="1667666" y="4722747"/>
            <a:ext cx="1614546" cy="307777"/>
          </a:xfrm>
          <a:prstGeom prst="rect">
            <a:avLst/>
          </a:prstGeom>
          <a:noFill/>
        </p:spPr>
        <p:txBody>
          <a:bodyPr wrap="none">
            <a:spAutoFit/>
          </a:bodyPr>
          <a:lstStyle>
            <a:defPPr>
              <a:defRPr lang="zh-CN"/>
            </a:defPPr>
            <a:lvl1pPr marR="0" lvl="0" indent="0" algn="ctr" fontAlgn="auto">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5</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1</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 </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- 6</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30</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a:t>
            </a:r>
          </a:p>
        </p:txBody>
      </p:sp>
      <p:sp>
        <p:nvSpPr>
          <p:cNvPr id="116" name="文本框 115">
            <a:extLst>
              <a:ext uri="{FF2B5EF4-FFF2-40B4-BE49-F238E27FC236}">
                <a16:creationId xmlns:a16="http://schemas.microsoft.com/office/drawing/2014/main" id="{26CCC845-590B-9637-B007-34152FC4B309}"/>
              </a:ext>
            </a:extLst>
          </p:cNvPr>
          <p:cNvSpPr txBox="1"/>
          <p:nvPr/>
        </p:nvSpPr>
        <p:spPr>
          <a:xfrm>
            <a:off x="4680096" y="4974898"/>
            <a:ext cx="2334986" cy="520271"/>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tabLst/>
              <a:defRPr kumimoji="0" sz="1200" i="0" u="none" strike="noStrike" cap="none" spc="0" normalizeH="0" baseline="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defRPr>
            </a:lvl1p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rPr>
              <a:t>研究不同岩性森林在干旱条件下的生长动态、水分利用策略</a:t>
            </a:r>
          </a:p>
        </p:txBody>
      </p:sp>
      <p:sp>
        <p:nvSpPr>
          <p:cNvPr id="117" name="文本框 116">
            <a:extLst>
              <a:ext uri="{FF2B5EF4-FFF2-40B4-BE49-F238E27FC236}">
                <a16:creationId xmlns:a16="http://schemas.microsoft.com/office/drawing/2014/main" id="{18FD4713-EA2A-E94A-12B2-004035B7587D}"/>
              </a:ext>
            </a:extLst>
          </p:cNvPr>
          <p:cNvSpPr txBox="1"/>
          <p:nvPr/>
        </p:nvSpPr>
        <p:spPr>
          <a:xfrm>
            <a:off x="4661661" y="4722747"/>
            <a:ext cx="1614546" cy="307777"/>
          </a:xfrm>
          <a:prstGeom prst="rect">
            <a:avLst/>
          </a:prstGeom>
          <a:noFill/>
        </p:spPr>
        <p:txBody>
          <a:bodyPr wrap="none">
            <a:spAutoFit/>
          </a:bodyPr>
          <a:lstStyle>
            <a:defPPr>
              <a:defRPr lang="zh-CN"/>
            </a:defPPr>
            <a:lvl1pPr marR="0" lvl="0" indent="0" algn="ctr" fontAlgn="auto">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7</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10</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 </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- 9</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5</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a:t>
            </a:r>
          </a:p>
        </p:txBody>
      </p:sp>
      <p:sp>
        <p:nvSpPr>
          <p:cNvPr id="118" name="文本框 117">
            <a:extLst>
              <a:ext uri="{FF2B5EF4-FFF2-40B4-BE49-F238E27FC236}">
                <a16:creationId xmlns:a16="http://schemas.microsoft.com/office/drawing/2014/main" id="{91CDDBBB-C4C6-5257-4E15-F88EAE7CB353}"/>
              </a:ext>
            </a:extLst>
          </p:cNvPr>
          <p:cNvSpPr txBox="1"/>
          <p:nvPr/>
        </p:nvSpPr>
        <p:spPr>
          <a:xfrm>
            <a:off x="5232836" y="6010026"/>
            <a:ext cx="2334986" cy="520271"/>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tabLst/>
              <a:defRPr kumimoji="0" sz="1200" i="0" u="none" strike="noStrike" cap="none" spc="0" normalizeH="0" baseline="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defRPr>
            </a:lvl1p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rPr>
              <a:t>解析不同岩性森林的适应机制，揭示岩性对森林干旱响应的作用</a:t>
            </a:r>
          </a:p>
        </p:txBody>
      </p:sp>
      <p:sp>
        <p:nvSpPr>
          <p:cNvPr id="119" name="文本框 118">
            <a:extLst>
              <a:ext uri="{FF2B5EF4-FFF2-40B4-BE49-F238E27FC236}">
                <a16:creationId xmlns:a16="http://schemas.microsoft.com/office/drawing/2014/main" id="{EEC2BF9F-B1F0-092A-4655-E345F839BCFB}"/>
              </a:ext>
            </a:extLst>
          </p:cNvPr>
          <p:cNvSpPr txBox="1"/>
          <p:nvPr/>
        </p:nvSpPr>
        <p:spPr>
          <a:xfrm>
            <a:off x="5161503" y="5757875"/>
            <a:ext cx="1720343" cy="307777"/>
          </a:xfrm>
          <a:prstGeom prst="rect">
            <a:avLst/>
          </a:prstGeom>
          <a:noFill/>
        </p:spPr>
        <p:txBody>
          <a:bodyPr wrap="none">
            <a:spAutoFit/>
          </a:bodyPr>
          <a:lstStyle>
            <a:defPPr>
              <a:defRPr lang="zh-CN"/>
            </a:defPPr>
            <a:lvl1pPr marR="0" lvl="0" indent="0" algn="ctr" fontAlgn="auto">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7</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27</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 </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- 9</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30</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a:t>
            </a:r>
          </a:p>
        </p:txBody>
      </p:sp>
      <p:sp>
        <p:nvSpPr>
          <p:cNvPr id="120" name="文本框 119">
            <a:extLst>
              <a:ext uri="{FF2B5EF4-FFF2-40B4-BE49-F238E27FC236}">
                <a16:creationId xmlns:a16="http://schemas.microsoft.com/office/drawing/2014/main" id="{F97E612B-17D6-6C03-891C-9EE884C8248C}"/>
              </a:ext>
            </a:extLst>
          </p:cNvPr>
          <p:cNvSpPr txBox="1"/>
          <p:nvPr/>
        </p:nvSpPr>
        <p:spPr>
          <a:xfrm>
            <a:off x="1021172" y="6010026"/>
            <a:ext cx="2334986" cy="520271"/>
          </a:xfrm>
          <a:prstGeom prst="rect">
            <a:avLst/>
          </a:prstGeom>
          <a:noFill/>
        </p:spPr>
        <p:txBody>
          <a:bodyPr wrap="square">
            <a:spAutoFit/>
          </a:bodyPr>
          <a:lstStyle>
            <a:defPPr>
              <a:defRPr lang="zh-CN"/>
            </a:defPPr>
            <a:lvl1pPr marR="0" lvl="0" indent="0" fontAlgn="auto">
              <a:lnSpc>
                <a:spcPct val="120000"/>
              </a:lnSpc>
              <a:spcBef>
                <a:spcPts val="0"/>
              </a:spcBef>
              <a:spcAft>
                <a:spcPts val="0"/>
              </a:spcAft>
              <a:buClrTx/>
              <a:buSzTx/>
              <a:buFontTx/>
              <a:buNone/>
              <a:tabLst/>
              <a:defRPr kumimoji="0" sz="1200" i="0" u="none" strike="noStrike" cap="none" spc="0" normalizeH="0" baseline="0">
                <a:ln>
                  <a:noFill/>
                </a:ln>
                <a:solidFill>
                  <a:schemeClr val="tx1">
                    <a:lumMod val="75000"/>
                    <a:lumOff val="25000"/>
                  </a:schemeClr>
                </a:solidFill>
                <a:effectLst/>
                <a:uLnTx/>
                <a:uFillTx/>
                <a:latin typeface="思源黑体 CN Bold" panose="020B0800000000000000" pitchFamily="34" charset="-122"/>
                <a:ea typeface="思源黑体 CN Bold" panose="020B0800000000000000" pitchFamily="34" charset="-122"/>
              </a:defRPr>
            </a:lvl1p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rPr>
              <a:t>分析土壤水分含量、植物水分利用效率和生理生态指标</a:t>
            </a:r>
          </a:p>
        </p:txBody>
      </p:sp>
      <p:sp>
        <p:nvSpPr>
          <p:cNvPr id="121" name="文本框 120">
            <a:extLst>
              <a:ext uri="{FF2B5EF4-FFF2-40B4-BE49-F238E27FC236}">
                <a16:creationId xmlns:a16="http://schemas.microsoft.com/office/drawing/2014/main" id="{7E544A3B-0F95-743B-745E-0DB087E9CD36}"/>
              </a:ext>
            </a:extLst>
          </p:cNvPr>
          <p:cNvSpPr txBox="1"/>
          <p:nvPr/>
        </p:nvSpPr>
        <p:spPr>
          <a:xfrm>
            <a:off x="949839" y="5757875"/>
            <a:ext cx="1720343" cy="307777"/>
          </a:xfrm>
          <a:prstGeom prst="rect">
            <a:avLst/>
          </a:prstGeom>
          <a:noFill/>
        </p:spPr>
        <p:txBody>
          <a:bodyPr wrap="none">
            <a:spAutoFit/>
          </a:bodyPr>
          <a:lstStyle>
            <a:defPPr>
              <a:defRPr lang="zh-CN"/>
            </a:defPPr>
            <a:lvl1pPr marR="0" lvl="0" indent="0" algn="ctr" fontAlgn="auto">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LnTx/>
                <a:uFillTx/>
                <a:latin typeface="思源黑体 CN Bold" panose="020B0800000000000000" pitchFamily="34" charset="-122"/>
                <a:ea typeface="思源黑体 CN Bold" panose="020B0800000000000000"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4</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20</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 </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- 5</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月</a:t>
            </a:r>
            <a:r>
              <a:rPr kumimoji="0" lang="en-US" altLang="zh-CN"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15</a:t>
            </a:r>
            <a:r>
              <a:rPr kumimoji="0" lang="zh-CN" altLang="en-US" sz="14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日</a:t>
            </a:r>
          </a:p>
        </p:txBody>
      </p:sp>
    </p:spTree>
    <p:extLst>
      <p:ext uri="{BB962C8B-B14F-4D97-AF65-F5344CB8AC3E}">
        <p14:creationId xmlns:p14="http://schemas.microsoft.com/office/powerpoint/2010/main" val="3621415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9C1C7-72C6-1029-14A1-14DA57824DDD}"/>
            </a:ext>
          </a:extLst>
        </p:cNvPr>
        <p:cNvGrpSpPr/>
        <p:nvPr/>
      </p:nvGrpSpPr>
      <p:grpSpPr>
        <a:xfrm>
          <a:off x="0" y="0"/>
          <a:ext cx="0" cy="0"/>
          <a:chOff x="0" y="0"/>
          <a:chExt cx="0" cy="0"/>
        </a:xfrm>
      </p:grpSpPr>
      <p:sp>
        <p:nvSpPr>
          <p:cNvPr id="90" name="文本框 89">
            <a:extLst>
              <a:ext uri="{FF2B5EF4-FFF2-40B4-BE49-F238E27FC236}">
                <a16:creationId xmlns:a16="http://schemas.microsoft.com/office/drawing/2014/main" id="{92C25290-25CA-9409-7329-785426950541}"/>
              </a:ext>
            </a:extLst>
          </p:cNvPr>
          <p:cNvSpPr txBox="1"/>
          <p:nvPr/>
        </p:nvSpPr>
        <p:spPr>
          <a:xfrm>
            <a:off x="115452" y="243436"/>
            <a:ext cx="772964" cy="523220"/>
          </a:xfrm>
          <a:prstGeom prst="rect">
            <a:avLst/>
          </a:prstGeom>
          <a:noFill/>
        </p:spPr>
        <p:txBody>
          <a:bodyPr wrap="square" rtlCol="0">
            <a:spAutoFit/>
          </a:bodyPr>
          <a:lstStyle/>
          <a:p>
            <a:pPr algn="ctr"/>
            <a:r>
              <a:rPr lang="en-US" altLang="zh-CN" sz="2800" b="1" dirty="0">
                <a:solidFill>
                  <a:schemeClr val="bg1"/>
                </a:solidFill>
              </a:rPr>
              <a:t>1.1</a:t>
            </a:r>
            <a:endParaRPr lang="zh-CN" altLang="en-US" sz="2800" b="1" dirty="0">
              <a:solidFill>
                <a:schemeClr val="bg1"/>
              </a:solidFill>
            </a:endParaRPr>
          </a:p>
        </p:txBody>
      </p:sp>
      <p:sp>
        <p:nvSpPr>
          <p:cNvPr id="92" name="文本框 91">
            <a:extLst>
              <a:ext uri="{FF2B5EF4-FFF2-40B4-BE49-F238E27FC236}">
                <a16:creationId xmlns:a16="http://schemas.microsoft.com/office/drawing/2014/main" id="{816D3D87-A82F-7CBB-9ECA-5489B69CC28D}"/>
              </a:ext>
            </a:extLst>
          </p:cNvPr>
          <p:cNvSpPr txBox="1"/>
          <p:nvPr/>
        </p:nvSpPr>
        <p:spPr>
          <a:xfrm>
            <a:off x="946460" y="269201"/>
            <a:ext cx="7626039" cy="523220"/>
          </a:xfrm>
          <a:prstGeom prst="rect">
            <a:avLst/>
          </a:prstGeom>
          <a:noFill/>
        </p:spPr>
        <p:txBody>
          <a:bodyPr wrap="square">
            <a:spAutoFit/>
          </a:bodyPr>
          <a:lstStyle/>
          <a:p>
            <a:r>
              <a:rPr lang="zh-CN" altLang="en-US" sz="2800" b="1" dirty="0">
                <a:solidFill>
                  <a:schemeClr val="accent1"/>
                </a:solidFill>
              </a:rPr>
              <a:t>风险预测</a:t>
            </a:r>
          </a:p>
        </p:txBody>
      </p:sp>
      <p:sp>
        <p:nvSpPr>
          <p:cNvPr id="2" name="矩形: 圆角 1">
            <a:extLst>
              <a:ext uri="{FF2B5EF4-FFF2-40B4-BE49-F238E27FC236}">
                <a16:creationId xmlns:a16="http://schemas.microsoft.com/office/drawing/2014/main" id="{E4855676-9DD2-0146-34C2-1F9C24A2573D}"/>
              </a:ext>
            </a:extLst>
          </p:cNvPr>
          <p:cNvSpPr/>
          <p:nvPr/>
        </p:nvSpPr>
        <p:spPr>
          <a:xfrm>
            <a:off x="442913" y="1241172"/>
            <a:ext cx="11306175" cy="1123309"/>
          </a:xfrm>
          <a:prstGeom prst="roundRect">
            <a:avLst>
              <a:gd name="adj" fmla="val 3564"/>
            </a:avLst>
          </a:prstGeom>
          <a:solidFill>
            <a:sysClr val="window" lastClr="FFFFFF"/>
          </a:solidFill>
          <a:ln w="3175" cap="flat" cmpd="sng" algn="ctr">
            <a:solidFill>
              <a:schemeClr val="accent1"/>
            </a:solidFill>
            <a:prstDash val="solid"/>
            <a:miter lim="800000"/>
          </a:ln>
          <a:effectLst>
            <a:outerShdw blurRad="266700" dist="215900" dir="8100000" algn="tr" rotWithShape="0">
              <a:schemeClr val="accent1">
                <a:alpha val="8000"/>
              </a:schemeClr>
            </a:outerShdw>
          </a:effectLst>
        </p:spPr>
        <p:txBody>
          <a:bodyPr rtlCol="0" anchor="ctr"/>
          <a:lstStyle/>
          <a:p>
            <a:pPr algn="ctr"/>
            <a:endParaRPr lang="en-US" altLang="zh-CN" sz="1600" kern="0" dirty="0">
              <a:solidFill>
                <a:prstClr val="white"/>
              </a:solidFill>
              <a:latin typeface="Arial" panose="020B0604020202020204" pitchFamily="34" charset="0"/>
              <a:ea typeface="微软雅黑" panose="020B0503020204020204" pitchFamily="34" charset="-122"/>
            </a:endParaRPr>
          </a:p>
        </p:txBody>
      </p:sp>
      <p:sp>
        <p:nvSpPr>
          <p:cNvPr id="3" name="文本框 2">
            <a:extLst>
              <a:ext uri="{FF2B5EF4-FFF2-40B4-BE49-F238E27FC236}">
                <a16:creationId xmlns:a16="http://schemas.microsoft.com/office/drawing/2014/main" id="{06BC73CE-3500-96C3-AFCF-CC849A8522C4}"/>
              </a:ext>
            </a:extLst>
          </p:cNvPr>
          <p:cNvSpPr txBox="1"/>
          <p:nvPr/>
        </p:nvSpPr>
        <p:spPr>
          <a:xfrm>
            <a:off x="972559" y="1316814"/>
            <a:ext cx="10307623" cy="948145"/>
          </a:xfrm>
          <a:prstGeom prst="rect">
            <a:avLst/>
          </a:prstGeom>
          <a:noFill/>
        </p:spPr>
        <p:txBody>
          <a:bodyPr wrap="square">
            <a:spAutoFit/>
          </a:bodyPr>
          <a:lstStyle/>
          <a:p>
            <a:pPr algn="ctr">
              <a:lnSpc>
                <a:spcPct val="120000"/>
              </a:lnSpc>
            </a:pPr>
            <a:r>
              <a:rPr lang="zh-CN" altLang="en-US" sz="2400" dirty="0">
                <a:solidFill>
                  <a:schemeClr val="accent1"/>
                </a:solidFill>
                <a:latin typeface="微软雅黑" panose="020B0503020204020204" pitchFamily="34" charset="-122"/>
                <a:ea typeface="微软雅黑" panose="020B0503020204020204" pitchFamily="34" charset="-122"/>
              </a:rPr>
              <a:t>随着电动汽车和便携式电子设备的不断发展，对高安全性和高能量密度储能设备的追求加速了全固态锂电池的发展</a:t>
            </a:r>
            <a:endParaRPr lang="en-US" altLang="zh-CN" sz="2400" dirty="0">
              <a:solidFill>
                <a:schemeClr val="accent1"/>
              </a:solidFill>
              <a:latin typeface="微软雅黑" panose="020B0503020204020204" pitchFamily="34" charset="-122"/>
              <a:ea typeface="微软雅黑" panose="020B0503020204020204" pitchFamily="34" charset="-122"/>
              <a:sym typeface="+mn-ea"/>
            </a:endParaRPr>
          </a:p>
        </p:txBody>
      </p:sp>
      <p:sp>
        <p:nvSpPr>
          <p:cNvPr id="4" name="矩形: 圆角 3">
            <a:extLst>
              <a:ext uri="{FF2B5EF4-FFF2-40B4-BE49-F238E27FC236}">
                <a16:creationId xmlns:a16="http://schemas.microsoft.com/office/drawing/2014/main" id="{B5E75B34-45A8-9E7F-6A2A-87F4C10D1C58}"/>
              </a:ext>
            </a:extLst>
          </p:cNvPr>
          <p:cNvSpPr/>
          <p:nvPr/>
        </p:nvSpPr>
        <p:spPr>
          <a:xfrm>
            <a:off x="6243442" y="2630725"/>
            <a:ext cx="5478916" cy="1640093"/>
          </a:xfrm>
          <a:prstGeom prst="roundRect">
            <a:avLst>
              <a:gd name="adj" fmla="val 1076"/>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5" name="矩形 4">
            <a:extLst>
              <a:ext uri="{FF2B5EF4-FFF2-40B4-BE49-F238E27FC236}">
                <a16:creationId xmlns:a16="http://schemas.microsoft.com/office/drawing/2014/main" id="{E92CC6B4-801F-3882-D16F-C4DEF9FF229C}"/>
              </a:ext>
            </a:extLst>
          </p:cNvPr>
          <p:cNvSpPr/>
          <p:nvPr/>
        </p:nvSpPr>
        <p:spPr>
          <a:xfrm>
            <a:off x="6248765" y="2630724"/>
            <a:ext cx="654592" cy="1640093"/>
          </a:xfrm>
          <a:prstGeom prst="rect">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6" name="文本框 5">
            <a:extLst>
              <a:ext uri="{FF2B5EF4-FFF2-40B4-BE49-F238E27FC236}">
                <a16:creationId xmlns:a16="http://schemas.microsoft.com/office/drawing/2014/main" id="{03C712F7-3C6D-7A08-E022-1FA4CD71FEBC}"/>
              </a:ext>
            </a:extLst>
          </p:cNvPr>
          <p:cNvSpPr txBox="1"/>
          <p:nvPr/>
        </p:nvSpPr>
        <p:spPr>
          <a:xfrm>
            <a:off x="6262129" y="2690375"/>
            <a:ext cx="627864" cy="1506284"/>
          </a:xfrm>
          <a:prstGeom prst="rect">
            <a:avLst/>
          </a:prstGeom>
          <a:noFill/>
        </p:spPr>
        <p:txBody>
          <a:bodyPr vert="eaVert" wrap="square" rtlCol="0">
            <a:spAutoFit/>
          </a:bodyPr>
          <a:lstStyle/>
          <a:p>
            <a:pPr algn="ctr">
              <a:lnSpc>
                <a:spcPct val="120000"/>
              </a:lnSpc>
            </a:pPr>
            <a:r>
              <a:rPr lang="zh-CN" altLang="en-US" sz="2400"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机械性能</a:t>
            </a:r>
          </a:p>
        </p:txBody>
      </p:sp>
      <p:sp>
        <p:nvSpPr>
          <p:cNvPr id="7" name="文本框 6">
            <a:extLst>
              <a:ext uri="{FF2B5EF4-FFF2-40B4-BE49-F238E27FC236}">
                <a16:creationId xmlns:a16="http://schemas.microsoft.com/office/drawing/2014/main" id="{3169EDF0-806B-A3BD-9E9A-92AFBDDCA51E}"/>
              </a:ext>
            </a:extLst>
          </p:cNvPr>
          <p:cNvSpPr txBox="1"/>
          <p:nvPr/>
        </p:nvSpPr>
        <p:spPr>
          <a:xfrm>
            <a:off x="7283908" y="2841940"/>
            <a:ext cx="4106351" cy="734496"/>
          </a:xfrm>
          <a:prstGeom prst="rect">
            <a:avLst/>
          </a:prstGeom>
          <a:noFill/>
        </p:spPr>
        <p:txBody>
          <a:bodyPr wrap="square">
            <a:spAutoFit/>
          </a:bodyPr>
          <a:lstStyle/>
          <a:p>
            <a:pPr algn="ctr">
              <a:lnSpc>
                <a:spcPct val="120000"/>
              </a:lnSpc>
            </a:pPr>
            <a:r>
              <a:rPr lang="zh-CN" altLang="en-US" dirty="0">
                <a:solidFill>
                  <a:prstClr val="black"/>
                </a:solidFill>
                <a:latin typeface="微软雅黑" panose="020B0503020204020204" pitchFamily="34" charset="-122"/>
                <a:ea typeface="微软雅黑" panose="020B0503020204020204" pitchFamily="34" charset="-122"/>
              </a:rPr>
              <a:t>浆料浇铸和挤压方法适用于薄固态聚合物电解质的制备</a:t>
            </a:r>
          </a:p>
        </p:txBody>
      </p:sp>
      <p:sp>
        <p:nvSpPr>
          <p:cNvPr id="8" name="文本框 7">
            <a:extLst>
              <a:ext uri="{FF2B5EF4-FFF2-40B4-BE49-F238E27FC236}">
                <a16:creationId xmlns:a16="http://schemas.microsoft.com/office/drawing/2014/main" id="{B294993D-4C7B-8DD9-01C0-66A6138F35DB}"/>
              </a:ext>
            </a:extLst>
          </p:cNvPr>
          <p:cNvSpPr txBox="1"/>
          <p:nvPr/>
        </p:nvSpPr>
        <p:spPr>
          <a:xfrm>
            <a:off x="7713850" y="3768363"/>
            <a:ext cx="3035030" cy="400110"/>
          </a:xfrm>
          <a:prstGeom prst="rect">
            <a:avLst/>
          </a:prstGeom>
          <a:noFill/>
        </p:spPr>
        <p:txBody>
          <a:bodyPr wrap="square">
            <a:spAutoFit/>
          </a:bodyPr>
          <a:lstStyle/>
          <a:p>
            <a:pPr algn="ctr"/>
            <a:r>
              <a:rPr lang="zh-CN" altLang="en-US" sz="2000" dirty="0">
                <a:solidFill>
                  <a:schemeClr val="accent1"/>
                </a:solidFill>
                <a:latin typeface="微软雅黑" panose="020B0503020204020204" pitchFamily="34" charset="-122"/>
                <a:ea typeface="微软雅黑" panose="020B0503020204020204" pitchFamily="34" charset="-122"/>
              </a:rPr>
              <a:t>膜</a:t>
            </a:r>
            <a:r>
              <a:rPr lang="en-US" altLang="zh-CN" sz="2000" dirty="0">
                <a:solidFill>
                  <a:schemeClr val="accent1"/>
                </a:solidFill>
                <a:latin typeface="微软雅黑" panose="020B0503020204020204" pitchFamily="34" charset="-122"/>
                <a:ea typeface="微软雅黑" panose="020B0503020204020204" pitchFamily="34" charset="-122"/>
              </a:rPr>
              <a:t>/</a:t>
            </a:r>
            <a:r>
              <a:rPr lang="zh-CN" altLang="en-US" sz="2000" dirty="0">
                <a:solidFill>
                  <a:schemeClr val="accent1"/>
                </a:solidFill>
                <a:latin typeface="微软雅黑" panose="020B0503020204020204" pitchFamily="34" charset="-122"/>
                <a:ea typeface="微软雅黑" panose="020B0503020204020204" pitchFamily="34" charset="-122"/>
              </a:rPr>
              <a:t>浆料浇铸和流延技术</a:t>
            </a:r>
          </a:p>
        </p:txBody>
      </p:sp>
      <p:cxnSp>
        <p:nvCxnSpPr>
          <p:cNvPr id="9" name="直接连接符 8">
            <a:extLst>
              <a:ext uri="{FF2B5EF4-FFF2-40B4-BE49-F238E27FC236}">
                <a16:creationId xmlns:a16="http://schemas.microsoft.com/office/drawing/2014/main" id="{0187E501-0CA5-0663-6A16-0FCBEB8E0942}"/>
              </a:ext>
            </a:extLst>
          </p:cNvPr>
          <p:cNvCxnSpPr>
            <a:cxnSpLocks/>
          </p:cNvCxnSpPr>
          <p:nvPr/>
        </p:nvCxnSpPr>
        <p:spPr>
          <a:xfrm>
            <a:off x="7399284" y="3652636"/>
            <a:ext cx="3990975" cy="0"/>
          </a:xfrm>
          <a:prstGeom prst="line">
            <a:avLst/>
          </a:prstGeom>
          <a:noFill/>
          <a:ln w="3175" cap="flat" cmpd="sng" algn="ctr">
            <a:solidFill>
              <a:schemeClr val="accent1">
                <a:alpha val="50000"/>
              </a:schemeClr>
            </a:solidFill>
            <a:prstDash val="solid"/>
            <a:miter lim="800000"/>
          </a:ln>
          <a:effectLst/>
        </p:spPr>
      </p:cxnSp>
      <p:sp>
        <p:nvSpPr>
          <p:cNvPr id="10" name="矩形: 圆角 9">
            <a:extLst>
              <a:ext uri="{FF2B5EF4-FFF2-40B4-BE49-F238E27FC236}">
                <a16:creationId xmlns:a16="http://schemas.microsoft.com/office/drawing/2014/main" id="{62BC9E6C-1E76-932F-9E05-7E129C65B9B5}"/>
              </a:ext>
            </a:extLst>
          </p:cNvPr>
          <p:cNvSpPr/>
          <p:nvPr/>
        </p:nvSpPr>
        <p:spPr>
          <a:xfrm>
            <a:off x="460262" y="2630725"/>
            <a:ext cx="5478916" cy="1640093"/>
          </a:xfrm>
          <a:prstGeom prst="roundRect">
            <a:avLst>
              <a:gd name="adj" fmla="val 1076"/>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1" name="矩形 10">
            <a:extLst>
              <a:ext uri="{FF2B5EF4-FFF2-40B4-BE49-F238E27FC236}">
                <a16:creationId xmlns:a16="http://schemas.microsoft.com/office/drawing/2014/main" id="{9B1178E2-D863-531B-A0F1-8335AB2C2DF2}"/>
              </a:ext>
            </a:extLst>
          </p:cNvPr>
          <p:cNvSpPr/>
          <p:nvPr/>
        </p:nvSpPr>
        <p:spPr>
          <a:xfrm>
            <a:off x="465585" y="2630724"/>
            <a:ext cx="654592" cy="1640093"/>
          </a:xfrm>
          <a:prstGeom prst="rect">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2" name="文本框 11">
            <a:extLst>
              <a:ext uri="{FF2B5EF4-FFF2-40B4-BE49-F238E27FC236}">
                <a16:creationId xmlns:a16="http://schemas.microsoft.com/office/drawing/2014/main" id="{3546F98E-A02D-32F1-1A96-9BAA44D939BF}"/>
              </a:ext>
            </a:extLst>
          </p:cNvPr>
          <p:cNvSpPr txBox="1"/>
          <p:nvPr/>
        </p:nvSpPr>
        <p:spPr>
          <a:xfrm>
            <a:off x="478949" y="2690375"/>
            <a:ext cx="627864" cy="1506284"/>
          </a:xfrm>
          <a:prstGeom prst="rect">
            <a:avLst/>
          </a:prstGeom>
          <a:noFill/>
        </p:spPr>
        <p:txBody>
          <a:bodyPr vert="eaVert" wrap="square" rtlCol="0">
            <a:spAutoFit/>
          </a:bodyPr>
          <a:lstStyle/>
          <a:p>
            <a:pPr algn="ctr">
              <a:lnSpc>
                <a:spcPct val="120000"/>
              </a:lnSpc>
            </a:pPr>
            <a:r>
              <a:rPr lang="zh-CN" altLang="en-US" sz="2400"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状厚电极</a:t>
            </a:r>
          </a:p>
        </p:txBody>
      </p:sp>
      <p:sp>
        <p:nvSpPr>
          <p:cNvPr id="13" name="文本框 12">
            <a:extLst>
              <a:ext uri="{FF2B5EF4-FFF2-40B4-BE49-F238E27FC236}">
                <a16:creationId xmlns:a16="http://schemas.microsoft.com/office/drawing/2014/main" id="{5A125D5C-DF91-0758-7026-91CBA4C13485}"/>
              </a:ext>
            </a:extLst>
          </p:cNvPr>
          <p:cNvSpPr txBox="1"/>
          <p:nvPr/>
        </p:nvSpPr>
        <p:spPr>
          <a:xfrm>
            <a:off x="1500728" y="2841940"/>
            <a:ext cx="4106351" cy="734496"/>
          </a:xfrm>
          <a:prstGeom prst="rect">
            <a:avLst/>
          </a:prstGeom>
          <a:noFill/>
        </p:spPr>
        <p:txBody>
          <a:bodyPr wrap="square">
            <a:spAutoFit/>
          </a:bodyPr>
          <a:lstStyle/>
          <a:p>
            <a:pPr algn="ctr">
              <a:lnSpc>
                <a:spcPct val="120000"/>
              </a:lnSpc>
            </a:pPr>
            <a:r>
              <a:rPr lang="zh-CN" altLang="en-US" dirty="0">
                <a:solidFill>
                  <a:prstClr val="black"/>
                </a:solidFill>
                <a:latin typeface="微软雅黑" panose="020B0503020204020204" pitchFamily="34" charset="-122"/>
                <a:ea typeface="微软雅黑" panose="020B0503020204020204" pitchFamily="34" charset="-122"/>
              </a:rPr>
              <a:t>借助传统的浆料浇铸法用固态聚合物电解质代替粘结剂以促进</a:t>
            </a:r>
            <a:r>
              <a:rPr lang="en-US" altLang="zh-CN" dirty="0">
                <a:solidFill>
                  <a:prstClr val="black"/>
                </a:solidFill>
                <a:latin typeface="微软雅黑" panose="020B0503020204020204" pitchFamily="34" charset="-122"/>
                <a:ea typeface="微软雅黑" panose="020B0503020204020204" pitchFamily="34" charset="-122"/>
              </a:rPr>
              <a:t>Li+</a:t>
            </a:r>
            <a:r>
              <a:rPr lang="zh-CN" altLang="en-US" dirty="0">
                <a:solidFill>
                  <a:prstClr val="black"/>
                </a:solidFill>
                <a:latin typeface="微软雅黑" panose="020B0503020204020204" pitchFamily="34" charset="-122"/>
                <a:ea typeface="微软雅黑" panose="020B0503020204020204" pitchFamily="34" charset="-122"/>
              </a:rPr>
              <a:t>传输</a:t>
            </a:r>
          </a:p>
        </p:txBody>
      </p:sp>
      <p:sp>
        <p:nvSpPr>
          <p:cNvPr id="14" name="文本框 13">
            <a:extLst>
              <a:ext uri="{FF2B5EF4-FFF2-40B4-BE49-F238E27FC236}">
                <a16:creationId xmlns:a16="http://schemas.microsoft.com/office/drawing/2014/main" id="{3AFE8E0B-9E06-2EB2-1CEF-428D6BEC535A}"/>
              </a:ext>
            </a:extLst>
          </p:cNvPr>
          <p:cNvSpPr txBox="1"/>
          <p:nvPr/>
        </p:nvSpPr>
        <p:spPr>
          <a:xfrm>
            <a:off x="1930670" y="3768363"/>
            <a:ext cx="3035030" cy="400110"/>
          </a:xfrm>
          <a:prstGeom prst="rect">
            <a:avLst/>
          </a:prstGeom>
          <a:noFill/>
        </p:spPr>
        <p:txBody>
          <a:bodyPr wrap="square">
            <a:spAutoFit/>
          </a:bodyPr>
          <a:lstStyle/>
          <a:p>
            <a:pPr algn="ctr"/>
            <a:r>
              <a:rPr lang="zh-CN" altLang="en-US" sz="2000" dirty="0">
                <a:solidFill>
                  <a:schemeClr val="accent1"/>
                </a:solidFill>
                <a:latin typeface="微软雅黑" panose="020B0503020204020204" pitchFamily="34" charset="-122"/>
                <a:ea typeface="微软雅黑" panose="020B0503020204020204" pitchFamily="34" charset="-122"/>
              </a:rPr>
              <a:t>采用退火工艺方法</a:t>
            </a:r>
          </a:p>
        </p:txBody>
      </p:sp>
      <p:cxnSp>
        <p:nvCxnSpPr>
          <p:cNvPr id="15" name="直接连接符 14">
            <a:extLst>
              <a:ext uri="{FF2B5EF4-FFF2-40B4-BE49-F238E27FC236}">
                <a16:creationId xmlns:a16="http://schemas.microsoft.com/office/drawing/2014/main" id="{F1C935D2-C62C-9E87-F359-CF5CEA898962}"/>
              </a:ext>
            </a:extLst>
          </p:cNvPr>
          <p:cNvCxnSpPr>
            <a:cxnSpLocks/>
          </p:cNvCxnSpPr>
          <p:nvPr/>
        </p:nvCxnSpPr>
        <p:spPr>
          <a:xfrm>
            <a:off x="1616104" y="3652636"/>
            <a:ext cx="3990975" cy="0"/>
          </a:xfrm>
          <a:prstGeom prst="line">
            <a:avLst/>
          </a:prstGeom>
          <a:noFill/>
          <a:ln w="3175" cap="flat" cmpd="sng" algn="ctr">
            <a:solidFill>
              <a:schemeClr val="accent1">
                <a:alpha val="50000"/>
              </a:schemeClr>
            </a:solidFill>
            <a:prstDash val="solid"/>
            <a:miter lim="800000"/>
          </a:ln>
          <a:effectLst/>
        </p:spPr>
      </p:cxnSp>
      <p:sp>
        <p:nvSpPr>
          <p:cNvPr id="16" name="矩形: 圆角 15">
            <a:extLst>
              <a:ext uri="{FF2B5EF4-FFF2-40B4-BE49-F238E27FC236}">
                <a16:creationId xmlns:a16="http://schemas.microsoft.com/office/drawing/2014/main" id="{4F668A10-3DC8-24C6-FE26-27E6E8516363}"/>
              </a:ext>
            </a:extLst>
          </p:cNvPr>
          <p:cNvSpPr/>
          <p:nvPr/>
        </p:nvSpPr>
        <p:spPr>
          <a:xfrm>
            <a:off x="6243442" y="4544661"/>
            <a:ext cx="5478916" cy="1640093"/>
          </a:xfrm>
          <a:prstGeom prst="roundRect">
            <a:avLst>
              <a:gd name="adj" fmla="val 1076"/>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7" name="矩形 16">
            <a:extLst>
              <a:ext uri="{FF2B5EF4-FFF2-40B4-BE49-F238E27FC236}">
                <a16:creationId xmlns:a16="http://schemas.microsoft.com/office/drawing/2014/main" id="{A4905604-15DE-EA24-01EE-1C6D68F1F4C2}"/>
              </a:ext>
            </a:extLst>
          </p:cNvPr>
          <p:cNvSpPr/>
          <p:nvPr/>
        </p:nvSpPr>
        <p:spPr>
          <a:xfrm>
            <a:off x="6248765" y="4544660"/>
            <a:ext cx="654592" cy="1640093"/>
          </a:xfrm>
          <a:prstGeom prst="rect">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18" name="文本框 17">
            <a:extLst>
              <a:ext uri="{FF2B5EF4-FFF2-40B4-BE49-F238E27FC236}">
                <a16:creationId xmlns:a16="http://schemas.microsoft.com/office/drawing/2014/main" id="{F3272154-7151-60C9-ABAA-1DAFFF2C014D}"/>
              </a:ext>
            </a:extLst>
          </p:cNvPr>
          <p:cNvSpPr txBox="1"/>
          <p:nvPr/>
        </p:nvSpPr>
        <p:spPr>
          <a:xfrm>
            <a:off x="6262129" y="4604311"/>
            <a:ext cx="627864" cy="1506284"/>
          </a:xfrm>
          <a:prstGeom prst="rect">
            <a:avLst/>
          </a:prstGeom>
          <a:noFill/>
        </p:spPr>
        <p:txBody>
          <a:bodyPr vert="eaVert" wrap="square" rtlCol="0">
            <a:spAutoFit/>
          </a:bodyPr>
          <a:lstStyle/>
          <a:p>
            <a:pPr algn="ctr">
              <a:lnSpc>
                <a:spcPct val="120000"/>
              </a:lnSpc>
            </a:pPr>
            <a:r>
              <a:rPr lang="zh-CN" altLang="en-US" sz="2400"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体积变化</a:t>
            </a:r>
          </a:p>
        </p:txBody>
      </p:sp>
      <p:sp>
        <p:nvSpPr>
          <p:cNvPr id="19" name="文本框 18">
            <a:extLst>
              <a:ext uri="{FF2B5EF4-FFF2-40B4-BE49-F238E27FC236}">
                <a16:creationId xmlns:a16="http://schemas.microsoft.com/office/drawing/2014/main" id="{826B9CF4-9037-1AB0-1192-B8E352D4B8DB}"/>
              </a:ext>
            </a:extLst>
          </p:cNvPr>
          <p:cNvSpPr txBox="1"/>
          <p:nvPr/>
        </p:nvSpPr>
        <p:spPr>
          <a:xfrm>
            <a:off x="7283908" y="4755876"/>
            <a:ext cx="4106351" cy="734496"/>
          </a:xfrm>
          <a:prstGeom prst="rect">
            <a:avLst/>
          </a:prstGeom>
          <a:noFill/>
        </p:spPr>
        <p:txBody>
          <a:bodyPr wrap="square">
            <a:spAutoFit/>
          </a:bodyPr>
          <a:lstStyle/>
          <a:p>
            <a:pPr algn="ctr">
              <a:lnSpc>
                <a:spcPct val="120000"/>
              </a:lnSpc>
            </a:pPr>
            <a:r>
              <a:rPr lang="zh-CN" altLang="en-US" dirty="0">
                <a:solidFill>
                  <a:prstClr val="black"/>
                </a:solidFill>
                <a:latin typeface="微软雅黑" panose="020B0503020204020204" pitchFamily="34" charset="-122"/>
                <a:ea typeface="微软雅黑" panose="020B0503020204020204" pitchFamily="34" charset="-122"/>
              </a:rPr>
              <a:t>巨大的体积变化将导致固态电解质与电极材料之间的界面接触恶化</a:t>
            </a:r>
          </a:p>
        </p:txBody>
      </p:sp>
      <p:sp>
        <p:nvSpPr>
          <p:cNvPr id="20" name="文本框 19">
            <a:extLst>
              <a:ext uri="{FF2B5EF4-FFF2-40B4-BE49-F238E27FC236}">
                <a16:creationId xmlns:a16="http://schemas.microsoft.com/office/drawing/2014/main" id="{7E936557-6824-CDEF-EF1A-D16EF6691391}"/>
              </a:ext>
            </a:extLst>
          </p:cNvPr>
          <p:cNvSpPr txBox="1"/>
          <p:nvPr/>
        </p:nvSpPr>
        <p:spPr>
          <a:xfrm>
            <a:off x="7780774" y="5640578"/>
            <a:ext cx="3286991" cy="400110"/>
          </a:xfrm>
          <a:prstGeom prst="rect">
            <a:avLst/>
          </a:prstGeom>
          <a:noFill/>
        </p:spPr>
        <p:txBody>
          <a:bodyPr wrap="square">
            <a:spAutoFit/>
          </a:bodyPr>
          <a:lstStyle/>
          <a:p>
            <a:pPr algn="ctr"/>
            <a:r>
              <a:rPr lang="zh-CN" altLang="en-US" sz="2000" dirty="0">
                <a:solidFill>
                  <a:schemeClr val="accent1"/>
                </a:solidFill>
                <a:latin typeface="微软雅黑" panose="020B0503020204020204" pitchFamily="34" charset="-122"/>
                <a:ea typeface="微软雅黑" panose="020B0503020204020204" pitchFamily="34" charset="-122"/>
              </a:rPr>
              <a:t>施加额外压力抑制体积变化</a:t>
            </a:r>
          </a:p>
        </p:txBody>
      </p:sp>
      <p:cxnSp>
        <p:nvCxnSpPr>
          <p:cNvPr id="21" name="直接连接符 20">
            <a:extLst>
              <a:ext uri="{FF2B5EF4-FFF2-40B4-BE49-F238E27FC236}">
                <a16:creationId xmlns:a16="http://schemas.microsoft.com/office/drawing/2014/main" id="{61FF4C4A-A8E5-80AE-D1AB-1C9CAF8B88CB}"/>
              </a:ext>
            </a:extLst>
          </p:cNvPr>
          <p:cNvCxnSpPr>
            <a:cxnSpLocks/>
          </p:cNvCxnSpPr>
          <p:nvPr/>
        </p:nvCxnSpPr>
        <p:spPr>
          <a:xfrm>
            <a:off x="7399284" y="5566572"/>
            <a:ext cx="3990975" cy="0"/>
          </a:xfrm>
          <a:prstGeom prst="line">
            <a:avLst/>
          </a:prstGeom>
          <a:noFill/>
          <a:ln w="3175" cap="flat" cmpd="sng" algn="ctr">
            <a:solidFill>
              <a:schemeClr val="accent1">
                <a:alpha val="50000"/>
              </a:schemeClr>
            </a:solidFill>
            <a:prstDash val="solid"/>
            <a:miter lim="800000"/>
          </a:ln>
          <a:effectLst/>
        </p:spPr>
      </p:cxnSp>
      <p:sp>
        <p:nvSpPr>
          <p:cNvPr id="22" name="矩形: 圆角 21">
            <a:extLst>
              <a:ext uri="{FF2B5EF4-FFF2-40B4-BE49-F238E27FC236}">
                <a16:creationId xmlns:a16="http://schemas.microsoft.com/office/drawing/2014/main" id="{B1B2C506-F2BF-6F5D-4D57-7B8F035F87E3}"/>
              </a:ext>
            </a:extLst>
          </p:cNvPr>
          <p:cNvSpPr/>
          <p:nvPr/>
        </p:nvSpPr>
        <p:spPr>
          <a:xfrm>
            <a:off x="460262" y="4544661"/>
            <a:ext cx="5478916" cy="1640093"/>
          </a:xfrm>
          <a:prstGeom prst="roundRect">
            <a:avLst>
              <a:gd name="adj" fmla="val 1076"/>
            </a:avLst>
          </a:prstGeom>
          <a:gradFill flip="none" rotWithShape="1">
            <a:gsLst>
              <a:gs pos="25000">
                <a:schemeClr val="accent3"/>
              </a:gs>
              <a:gs pos="99083">
                <a:schemeClr val="bg1"/>
              </a:gs>
            </a:gsLst>
            <a:lin ang="5400000" scaled="1"/>
            <a:tileRect/>
          </a:gradFill>
          <a:ln w="3175" cap="flat" cmpd="sng" algn="ctr">
            <a:solidFill>
              <a:schemeClr val="accent1"/>
            </a:solidFill>
            <a:prstDash val="solid"/>
            <a:miter lim="800000"/>
          </a:ln>
          <a:effectLst>
            <a:outerShdw blurRad="304800" sx="102000" sy="102000" algn="ctr" rotWithShape="0">
              <a:schemeClr val="accent1">
                <a:alpha val="16000"/>
              </a:schemeClr>
            </a:outerShdw>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23" name="矩形 22">
            <a:extLst>
              <a:ext uri="{FF2B5EF4-FFF2-40B4-BE49-F238E27FC236}">
                <a16:creationId xmlns:a16="http://schemas.microsoft.com/office/drawing/2014/main" id="{249035D1-E2D2-1815-3A0F-FD17C77A1300}"/>
              </a:ext>
            </a:extLst>
          </p:cNvPr>
          <p:cNvSpPr/>
          <p:nvPr/>
        </p:nvSpPr>
        <p:spPr>
          <a:xfrm>
            <a:off x="465585" y="4544660"/>
            <a:ext cx="654592" cy="1640093"/>
          </a:xfrm>
          <a:prstGeom prst="rect">
            <a:avLst/>
          </a:prstGeom>
          <a:gradFill>
            <a:gsLst>
              <a:gs pos="0">
                <a:schemeClr val="accent2">
                  <a:lumMod val="50000"/>
                </a:schemeClr>
              </a:gs>
              <a:gs pos="57000">
                <a:schemeClr val="accent1"/>
              </a:gs>
            </a:gsLst>
            <a:lin ang="10800000" scaled="1"/>
          </a:gradFill>
          <a:ln w="19050" cap="flat" cmpd="sng" algn="ctr">
            <a:noFill/>
            <a:prstDash val="solid"/>
            <a:miter lim="800000"/>
          </a:ln>
          <a:effectLst/>
        </p:spPr>
        <p:txBody>
          <a:bodyPr rtlCol="0" anchor="ctr"/>
          <a:lstStyle/>
          <a:p>
            <a:pPr algn="ctr"/>
            <a:endParaRPr lang="zh-CN" altLang="en-US" kern="0" dirty="0">
              <a:solidFill>
                <a:prstClr val="white"/>
              </a:solidFill>
              <a:latin typeface="Arial" panose="020B0604020202020204" pitchFamily="34" charset="0"/>
              <a:ea typeface="微软雅黑" panose="020B0503020204020204" pitchFamily="34" charset="-122"/>
            </a:endParaRPr>
          </a:p>
        </p:txBody>
      </p:sp>
      <p:sp>
        <p:nvSpPr>
          <p:cNvPr id="24" name="文本框 23">
            <a:extLst>
              <a:ext uri="{FF2B5EF4-FFF2-40B4-BE49-F238E27FC236}">
                <a16:creationId xmlns:a16="http://schemas.microsoft.com/office/drawing/2014/main" id="{95DB5C0F-42D3-8077-0291-E03FDE62913D}"/>
              </a:ext>
            </a:extLst>
          </p:cNvPr>
          <p:cNvSpPr txBox="1"/>
          <p:nvPr/>
        </p:nvSpPr>
        <p:spPr>
          <a:xfrm>
            <a:off x="478949" y="4604311"/>
            <a:ext cx="627864" cy="1506284"/>
          </a:xfrm>
          <a:prstGeom prst="rect">
            <a:avLst/>
          </a:prstGeom>
          <a:noFill/>
        </p:spPr>
        <p:txBody>
          <a:bodyPr vert="eaVert" wrap="square" rtlCol="0">
            <a:spAutoFit/>
          </a:bodyPr>
          <a:lstStyle/>
          <a:p>
            <a:pPr algn="ctr">
              <a:lnSpc>
                <a:spcPct val="120000"/>
              </a:lnSpc>
            </a:pPr>
            <a:r>
              <a:rPr lang="zh-CN" altLang="en-US" sz="2400" dirty="0">
                <a:solidFill>
                  <a:prstClr val="white"/>
                </a:solidFill>
                <a:effectLst>
                  <a:outerShdw blurRad="50800" dist="38100" dir="5400000" algn="t" rotWithShape="0">
                    <a:srgbClr val="0B4FA1">
                      <a:lumMod val="50000"/>
                      <a:alpha val="40000"/>
                    </a:srgbClr>
                  </a:outerShdw>
                </a:effectLst>
                <a:latin typeface="微软雅黑" panose="020B0503020204020204" pitchFamily="34" charset="-122"/>
                <a:ea typeface="微软雅黑" panose="020B0503020204020204" pitchFamily="34" charset="-122"/>
              </a:rPr>
              <a:t>可扩展性</a:t>
            </a:r>
          </a:p>
        </p:txBody>
      </p:sp>
      <p:sp>
        <p:nvSpPr>
          <p:cNvPr id="25" name="文本框 24">
            <a:extLst>
              <a:ext uri="{FF2B5EF4-FFF2-40B4-BE49-F238E27FC236}">
                <a16:creationId xmlns:a16="http://schemas.microsoft.com/office/drawing/2014/main" id="{BEA07058-8F52-5426-6A4D-A37A87000A37}"/>
              </a:ext>
            </a:extLst>
          </p:cNvPr>
          <p:cNvSpPr txBox="1"/>
          <p:nvPr/>
        </p:nvSpPr>
        <p:spPr>
          <a:xfrm>
            <a:off x="1500728" y="4755876"/>
            <a:ext cx="4106351" cy="734496"/>
          </a:xfrm>
          <a:prstGeom prst="rect">
            <a:avLst/>
          </a:prstGeom>
          <a:noFill/>
        </p:spPr>
        <p:txBody>
          <a:bodyPr wrap="square">
            <a:spAutoFit/>
          </a:bodyPr>
          <a:lstStyle/>
          <a:p>
            <a:pPr algn="ctr">
              <a:lnSpc>
                <a:spcPct val="120000"/>
              </a:lnSpc>
            </a:pPr>
            <a:r>
              <a:rPr lang="zh-CN" altLang="en-US" dirty="0">
                <a:solidFill>
                  <a:prstClr val="black"/>
                </a:solidFill>
                <a:latin typeface="微软雅黑" panose="020B0503020204020204" pitchFamily="34" charset="-122"/>
                <a:ea typeface="微软雅黑" panose="020B0503020204020204" pitchFamily="34" charset="-122"/>
              </a:rPr>
              <a:t>在全固态锂电池中使用锂金属作为负极仍然具有挑战性</a:t>
            </a:r>
          </a:p>
        </p:txBody>
      </p:sp>
      <p:sp>
        <p:nvSpPr>
          <p:cNvPr id="26" name="文本框 25">
            <a:extLst>
              <a:ext uri="{FF2B5EF4-FFF2-40B4-BE49-F238E27FC236}">
                <a16:creationId xmlns:a16="http://schemas.microsoft.com/office/drawing/2014/main" id="{E313E398-B00F-CBC0-2F14-DAA44412CDF2}"/>
              </a:ext>
            </a:extLst>
          </p:cNvPr>
          <p:cNvSpPr txBox="1"/>
          <p:nvPr/>
        </p:nvSpPr>
        <p:spPr>
          <a:xfrm>
            <a:off x="1976030" y="5640578"/>
            <a:ext cx="3112616" cy="400110"/>
          </a:xfrm>
          <a:prstGeom prst="rect">
            <a:avLst/>
          </a:prstGeom>
          <a:noFill/>
        </p:spPr>
        <p:txBody>
          <a:bodyPr wrap="square">
            <a:spAutoFit/>
          </a:bodyPr>
          <a:lstStyle/>
          <a:p>
            <a:pPr algn="ctr"/>
            <a:r>
              <a:rPr lang="zh-CN" altLang="en-US" sz="2000" dirty="0">
                <a:solidFill>
                  <a:schemeClr val="accent1"/>
                </a:solidFill>
                <a:latin typeface="微软雅黑" panose="020B0503020204020204" pitchFamily="34" charset="-122"/>
                <a:ea typeface="微软雅黑" panose="020B0503020204020204" pitchFamily="34" charset="-122"/>
              </a:rPr>
              <a:t>负极侧补充少量锂</a:t>
            </a:r>
          </a:p>
        </p:txBody>
      </p:sp>
      <p:cxnSp>
        <p:nvCxnSpPr>
          <p:cNvPr id="27" name="直接连接符 26">
            <a:extLst>
              <a:ext uri="{FF2B5EF4-FFF2-40B4-BE49-F238E27FC236}">
                <a16:creationId xmlns:a16="http://schemas.microsoft.com/office/drawing/2014/main" id="{613CD52F-4106-68BA-01B9-32EA1F3B9859}"/>
              </a:ext>
            </a:extLst>
          </p:cNvPr>
          <p:cNvCxnSpPr>
            <a:cxnSpLocks/>
          </p:cNvCxnSpPr>
          <p:nvPr/>
        </p:nvCxnSpPr>
        <p:spPr>
          <a:xfrm>
            <a:off x="1616104" y="5566572"/>
            <a:ext cx="3990975" cy="0"/>
          </a:xfrm>
          <a:prstGeom prst="line">
            <a:avLst/>
          </a:prstGeom>
          <a:noFill/>
          <a:ln w="3175" cap="flat" cmpd="sng" algn="ctr">
            <a:solidFill>
              <a:schemeClr val="accent1">
                <a:alpha val="50000"/>
              </a:schemeClr>
            </a:solidFill>
            <a:prstDash val="solid"/>
            <a:miter lim="800000"/>
          </a:ln>
          <a:effectLst/>
        </p:spPr>
      </p:cxnSp>
    </p:spTree>
    <p:extLst>
      <p:ext uri="{BB962C8B-B14F-4D97-AF65-F5344CB8AC3E}">
        <p14:creationId xmlns:p14="http://schemas.microsoft.com/office/powerpoint/2010/main" val="2866164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48A6D-C6EE-964D-6C1A-BE3EC5A39DA0}"/>
            </a:ext>
          </a:extLst>
        </p:cNvPr>
        <p:cNvGrpSpPr/>
        <p:nvPr/>
      </p:nvGrpSpPr>
      <p:grpSpPr>
        <a:xfrm>
          <a:off x="0" y="0"/>
          <a:ext cx="0" cy="0"/>
          <a:chOff x="0" y="0"/>
          <a:chExt cx="0" cy="0"/>
        </a:xfrm>
      </p:grpSpPr>
      <p:pic>
        <p:nvPicPr>
          <p:cNvPr id="11" name="图片 10" descr="蓝色的火车在站台旁&#10;&#10;描述已自动生成">
            <a:extLst>
              <a:ext uri="{FF2B5EF4-FFF2-40B4-BE49-F238E27FC236}">
                <a16:creationId xmlns:a16="http://schemas.microsoft.com/office/drawing/2014/main" id="{47CB2ABF-6C6A-A145-CBD3-5D4863BE40CD}"/>
              </a:ext>
            </a:extLst>
          </p:cNvPr>
          <p:cNvPicPr>
            <a:picLocks noChangeAspect="1"/>
          </p:cNvPicPr>
          <p:nvPr/>
        </p:nvPicPr>
        <p:blipFill rotWithShape="1">
          <a:blip r:embed="rId2" cstate="print">
            <a:duotone>
              <a:schemeClr val="accent6">
                <a:shade val="45000"/>
                <a:satMod val="135000"/>
              </a:schemeClr>
              <a:prstClr val="white"/>
            </a:duotone>
            <a:extLst>
              <a:ext uri="{BEBA8EAE-BF5A-486C-A8C5-ECC9F3942E4B}">
                <a14:imgProps xmlns:a14="http://schemas.microsoft.com/office/drawing/2010/main">
                  <a14:imgLayer r:embed="rId3">
                    <a14:imgEffect>
                      <a14:saturation sat="0"/>
                    </a14:imgEffect>
                    <a14:imgEffect>
                      <a14:brightnessContrast contrast="-40000"/>
                    </a14:imgEffect>
                  </a14:imgLayer>
                </a14:imgProps>
              </a:ext>
              <a:ext uri="{28A0092B-C50C-407E-A947-70E740481C1C}">
                <a14:useLocalDpi xmlns:a14="http://schemas.microsoft.com/office/drawing/2010/main" val="0"/>
              </a:ext>
            </a:extLst>
          </a:blip>
          <a:srcRect l="51" b="33391"/>
          <a:stretch/>
        </p:blipFill>
        <p:spPr>
          <a:xfrm>
            <a:off x="567" y="1099270"/>
            <a:ext cx="12190866" cy="4060213"/>
          </a:xfrm>
          <a:prstGeom prst="rect">
            <a:avLst/>
          </a:prstGeom>
        </p:spPr>
      </p:pic>
      <p:sp>
        <p:nvSpPr>
          <p:cNvPr id="12" name="矩形 11">
            <a:extLst>
              <a:ext uri="{FF2B5EF4-FFF2-40B4-BE49-F238E27FC236}">
                <a16:creationId xmlns:a16="http://schemas.microsoft.com/office/drawing/2014/main" id="{6DAA6598-060B-09AF-69C5-C131F0EE830A}"/>
              </a:ext>
            </a:extLst>
          </p:cNvPr>
          <p:cNvSpPr/>
          <p:nvPr/>
        </p:nvSpPr>
        <p:spPr>
          <a:xfrm>
            <a:off x="9859" y="-1"/>
            <a:ext cx="12191999" cy="5159483"/>
          </a:xfrm>
          <a:prstGeom prst="rect">
            <a:avLst/>
          </a:prstGeom>
          <a:gradFill flip="none" rotWithShape="1">
            <a:gsLst>
              <a:gs pos="49000">
                <a:schemeClr val="bg1"/>
              </a:gs>
              <a:gs pos="100000">
                <a:schemeClr val="accent3">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dirty="0">
              <a:solidFill>
                <a:prstClr val="white"/>
              </a:solidFill>
              <a:latin typeface="微软雅黑" panose="020B0503020204020204" pitchFamily="34" charset="-122"/>
              <a:ea typeface="微软雅黑" panose="020B0503020204020204" pitchFamily="34" charset="-122"/>
            </a:endParaRPr>
          </a:p>
        </p:txBody>
      </p:sp>
      <p:grpSp>
        <p:nvGrpSpPr>
          <p:cNvPr id="13" name="组合 12">
            <a:extLst>
              <a:ext uri="{FF2B5EF4-FFF2-40B4-BE49-F238E27FC236}">
                <a16:creationId xmlns:a16="http://schemas.microsoft.com/office/drawing/2014/main" id="{8B7BF0E7-40A8-7FA0-2CDB-5543790FC811}"/>
              </a:ext>
            </a:extLst>
          </p:cNvPr>
          <p:cNvGrpSpPr/>
          <p:nvPr/>
        </p:nvGrpSpPr>
        <p:grpSpPr>
          <a:xfrm>
            <a:off x="9859" y="1239674"/>
            <a:ext cx="12172282" cy="2928257"/>
            <a:chOff x="442611" y="2016251"/>
            <a:chExt cx="10694619" cy="2228850"/>
          </a:xfrm>
          <a:gradFill>
            <a:gsLst>
              <a:gs pos="0">
                <a:schemeClr val="bg1">
                  <a:alpha val="0"/>
                </a:schemeClr>
              </a:gs>
              <a:gs pos="50000">
                <a:schemeClr val="bg1">
                  <a:lumMod val="95000"/>
                </a:schemeClr>
              </a:gs>
              <a:gs pos="100000">
                <a:schemeClr val="bg1">
                  <a:alpha val="0"/>
                </a:schemeClr>
              </a:gs>
            </a:gsLst>
            <a:lin ang="0" scaled="1"/>
          </a:gradFill>
        </p:grpSpPr>
        <p:grpSp>
          <p:nvGrpSpPr>
            <p:cNvPr id="14" name="组合 13">
              <a:extLst>
                <a:ext uri="{FF2B5EF4-FFF2-40B4-BE49-F238E27FC236}">
                  <a16:creationId xmlns:a16="http://schemas.microsoft.com/office/drawing/2014/main" id="{F970E494-61EE-587D-4574-8858E921DFBB}"/>
                </a:ext>
              </a:extLst>
            </p:cNvPr>
            <p:cNvGrpSpPr/>
            <p:nvPr/>
          </p:nvGrpSpPr>
          <p:grpSpPr>
            <a:xfrm>
              <a:off x="442611" y="2016251"/>
              <a:ext cx="10694619" cy="2228849"/>
              <a:chOff x="442611" y="2016251"/>
              <a:chExt cx="10694619" cy="2228849"/>
            </a:xfrm>
            <a:grpFill/>
          </p:grpSpPr>
          <p:sp>
            <p:nvSpPr>
              <p:cNvPr id="16" name="矩形 15">
                <a:extLst>
                  <a:ext uri="{FF2B5EF4-FFF2-40B4-BE49-F238E27FC236}">
                    <a16:creationId xmlns:a16="http://schemas.microsoft.com/office/drawing/2014/main" id="{4B88A2BA-CB61-B07D-37EF-4D0FB144C24D}"/>
                  </a:ext>
                </a:extLst>
              </p:cNvPr>
              <p:cNvSpPr/>
              <p:nvPr/>
            </p:nvSpPr>
            <p:spPr>
              <a:xfrm>
                <a:off x="442611" y="2016251"/>
                <a:ext cx="10694619" cy="2228849"/>
              </a:xfrm>
              <a:prstGeom prst="rect">
                <a:avLst/>
              </a:prstGeom>
              <a:grpFill/>
              <a:ln w="9525">
                <a:noFill/>
              </a:ln>
              <a:effectLst>
                <a:outerShdw blurRad="190500" dist="38100" dir="5400000" algn="t" rotWithShape="0">
                  <a:schemeClr val="bg1">
                    <a:lumMod val="75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lnSpc>
                    <a:spcPct val="150000"/>
                  </a:lnSpc>
                  <a:defRPr/>
                </a:pPr>
                <a:endParaRPr lang="zh-CN" altLang="en-US" sz="1200" b="1" dirty="0">
                  <a:solidFill>
                    <a:srgbClr val="03654E"/>
                  </a:solidFill>
                </a:endParaRPr>
              </a:p>
            </p:txBody>
          </p:sp>
          <p:cxnSp>
            <p:nvCxnSpPr>
              <p:cNvPr id="17" name="直接连接符 16">
                <a:extLst>
                  <a:ext uri="{FF2B5EF4-FFF2-40B4-BE49-F238E27FC236}">
                    <a16:creationId xmlns:a16="http://schemas.microsoft.com/office/drawing/2014/main" id="{158E00CD-2609-D798-C0FA-987A012BEC41}"/>
                  </a:ext>
                </a:extLst>
              </p:cNvPr>
              <p:cNvCxnSpPr>
                <a:cxnSpLocks/>
              </p:cNvCxnSpPr>
              <p:nvPr/>
            </p:nvCxnSpPr>
            <p:spPr>
              <a:xfrm>
                <a:off x="2049461" y="2016251"/>
                <a:ext cx="8093075" cy="0"/>
              </a:xfrm>
              <a:prstGeom prst="line">
                <a:avLst/>
              </a:prstGeom>
              <a:grpFill/>
              <a:ln w="12700">
                <a:gradFill flip="none" rotWithShape="1">
                  <a:gsLst>
                    <a:gs pos="0">
                      <a:schemeClr val="accent6">
                        <a:alpha val="0"/>
                      </a:schemeClr>
                    </a:gs>
                    <a:gs pos="50000">
                      <a:schemeClr val="accent6"/>
                    </a:gs>
                    <a:gs pos="100000">
                      <a:schemeClr val="accent6">
                        <a:alpha val="0"/>
                      </a:schemeClr>
                    </a:gs>
                  </a:gsLst>
                  <a:lin ang="0" scaled="1"/>
                  <a:tileRect/>
                </a:gradFill>
              </a:ln>
              <a:effectLst>
                <a:outerShdw blurRad="50800" dist="38100" dir="7200000" algn="t" rotWithShape="0">
                  <a:schemeClr val="bg1">
                    <a:lumMod val="65000"/>
                    <a:alpha val="42000"/>
                  </a:schemeClr>
                </a:outerShdw>
              </a:effectLst>
            </p:spPr>
            <p:style>
              <a:lnRef idx="1">
                <a:schemeClr val="accent1"/>
              </a:lnRef>
              <a:fillRef idx="0">
                <a:schemeClr val="accent1"/>
              </a:fillRef>
              <a:effectRef idx="0">
                <a:schemeClr val="accent1"/>
              </a:effectRef>
              <a:fontRef idx="minor">
                <a:schemeClr val="tx1"/>
              </a:fontRef>
            </p:style>
          </p:cxnSp>
        </p:grpSp>
        <p:cxnSp>
          <p:nvCxnSpPr>
            <p:cNvPr id="15" name="直接连接符 14">
              <a:extLst>
                <a:ext uri="{FF2B5EF4-FFF2-40B4-BE49-F238E27FC236}">
                  <a16:creationId xmlns:a16="http://schemas.microsoft.com/office/drawing/2014/main" id="{9A5C04A5-7A49-3B7C-BC7F-3E42593659C0}"/>
                </a:ext>
              </a:extLst>
            </p:cNvPr>
            <p:cNvCxnSpPr>
              <a:cxnSpLocks/>
            </p:cNvCxnSpPr>
            <p:nvPr/>
          </p:nvCxnSpPr>
          <p:spPr>
            <a:xfrm>
              <a:off x="2049461" y="4245101"/>
              <a:ext cx="8093075" cy="0"/>
            </a:xfrm>
            <a:prstGeom prst="line">
              <a:avLst/>
            </a:prstGeom>
            <a:grpFill/>
            <a:ln w="12700">
              <a:gradFill flip="none" rotWithShape="1">
                <a:gsLst>
                  <a:gs pos="0">
                    <a:schemeClr val="accent6">
                      <a:alpha val="0"/>
                    </a:schemeClr>
                  </a:gs>
                  <a:gs pos="50000">
                    <a:schemeClr val="accent6"/>
                  </a:gs>
                  <a:gs pos="100000">
                    <a:schemeClr val="accent6">
                      <a:alpha val="0"/>
                    </a:schemeClr>
                  </a:gs>
                </a:gsLst>
                <a:lin ang="0" scaled="1"/>
                <a:tileRect/>
              </a:gradFill>
            </a:ln>
            <a:effectLst>
              <a:outerShdw blurRad="50800" dist="38100" dir="7200000" algn="t" rotWithShape="0">
                <a:schemeClr val="bg1">
                  <a:lumMod val="85000"/>
                  <a:alpha val="42000"/>
                </a:schemeClr>
              </a:outerShdw>
            </a:effectLst>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A88CC83B-3930-EC30-7D36-3B736667F610}"/>
              </a:ext>
            </a:extLst>
          </p:cNvPr>
          <p:cNvSpPr txBox="1"/>
          <p:nvPr/>
        </p:nvSpPr>
        <p:spPr>
          <a:xfrm>
            <a:off x="0" y="1366919"/>
            <a:ext cx="12192000" cy="2693751"/>
          </a:xfrm>
          <a:prstGeom prst="rect">
            <a:avLst/>
          </a:prstGeom>
          <a:noFill/>
        </p:spPr>
        <p:txBody>
          <a:bodyPr wrap="square">
            <a:spAutoFit/>
          </a:bodyPr>
          <a:lstStyle/>
          <a:p>
            <a:pPr algn="ctr">
              <a:lnSpc>
                <a:spcPts val="10500"/>
              </a:lnSpc>
              <a:defRPr/>
            </a:pPr>
            <a:r>
              <a:rPr lang="zh-CN" altLang="en-US" sz="8000" b="1" dirty="0">
                <a:solidFill>
                  <a:schemeClr val="accent1"/>
                </a:solidFill>
                <a:latin typeface="微软雅黑" panose="020B0503020204020204" pitchFamily="34" charset="-122"/>
                <a:ea typeface="微软雅黑" panose="020B0503020204020204" pitchFamily="34" charset="-122"/>
              </a:rPr>
              <a:t>感谢各位领导专家</a:t>
            </a:r>
          </a:p>
          <a:p>
            <a:pPr algn="ctr">
              <a:lnSpc>
                <a:spcPts val="10500"/>
              </a:lnSpc>
              <a:defRPr/>
            </a:pPr>
            <a:r>
              <a:rPr lang="zh-CN" altLang="en-US" sz="8000" b="1" dirty="0">
                <a:solidFill>
                  <a:schemeClr val="accent1"/>
                </a:solidFill>
                <a:latin typeface="微软雅黑" panose="020B0503020204020204" pitchFamily="34" charset="-122"/>
                <a:ea typeface="微软雅黑" panose="020B0503020204020204" pitchFamily="34" charset="-122"/>
              </a:rPr>
              <a:t>敬请批评指正！</a:t>
            </a:r>
          </a:p>
        </p:txBody>
      </p:sp>
      <p:sp>
        <p:nvSpPr>
          <p:cNvPr id="3" name="矩形: 圆角 2">
            <a:extLst>
              <a:ext uri="{FF2B5EF4-FFF2-40B4-BE49-F238E27FC236}">
                <a16:creationId xmlns:a16="http://schemas.microsoft.com/office/drawing/2014/main" id="{753A6628-8FA7-25F2-06E2-E59A2C233769}"/>
              </a:ext>
            </a:extLst>
          </p:cNvPr>
          <p:cNvSpPr/>
          <p:nvPr/>
        </p:nvSpPr>
        <p:spPr>
          <a:xfrm>
            <a:off x="4839038" y="4461335"/>
            <a:ext cx="2768614" cy="584778"/>
          </a:xfrm>
          <a:prstGeom prst="roundRect">
            <a:avLst>
              <a:gd name="adj" fmla="val 50000"/>
            </a:avLst>
          </a:prstGeom>
          <a:solidFill>
            <a:srgbClr val="FFFFFF"/>
          </a:solidFill>
          <a:ln w="3175" cap="flat" cmpd="sng" algn="ctr">
            <a:solidFill>
              <a:schemeClr val="accent1"/>
            </a:solid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dirty="0">
              <a:ln>
                <a:noFill/>
              </a:ln>
              <a:solidFill>
                <a:prstClr val="white"/>
              </a:solidFill>
              <a:effectLst/>
              <a:uLnTx/>
              <a:uFillTx/>
              <a:latin typeface="微软雅黑"/>
            </a:endParaRPr>
          </a:p>
        </p:txBody>
      </p:sp>
      <p:sp>
        <p:nvSpPr>
          <p:cNvPr id="4" name="矩形: 圆角 3">
            <a:extLst>
              <a:ext uri="{FF2B5EF4-FFF2-40B4-BE49-F238E27FC236}">
                <a16:creationId xmlns:a16="http://schemas.microsoft.com/office/drawing/2014/main" id="{9F1CD2E0-46BC-99EB-ABA8-B448EF15F9D4}"/>
              </a:ext>
            </a:extLst>
          </p:cNvPr>
          <p:cNvSpPr/>
          <p:nvPr/>
        </p:nvSpPr>
        <p:spPr>
          <a:xfrm>
            <a:off x="3768924" y="4454012"/>
            <a:ext cx="1685122" cy="584776"/>
          </a:xfrm>
          <a:prstGeom prst="roundRect">
            <a:avLst>
              <a:gd name="adj" fmla="val 50000"/>
            </a:avLst>
          </a:prstGeom>
          <a:solidFill>
            <a:schemeClr val="accent1"/>
          </a:solidFill>
          <a:ln w="3175" cap="flat" cmpd="sng" algn="ctr">
            <a:solidFill>
              <a:srgbClr val="0C56AE"/>
            </a:solidFill>
            <a:prstDash val="solid"/>
            <a:miter lim="800000"/>
          </a:ln>
          <a:effectLst/>
        </p:spPr>
        <p:txBody>
          <a:bodyPr wrap="square" rtlCol="0" anchor="ctr">
            <a:noAutofit/>
          </a:bodyPr>
          <a:lstStyle/>
          <a:p>
            <a:pPr algn="ctr">
              <a:defRPr/>
            </a:pPr>
            <a:r>
              <a:rPr lang="zh-CN" altLang="en-US" sz="3200" b="1" kern="0" dirty="0">
                <a:solidFill>
                  <a:prstClr val="white"/>
                </a:solidFill>
                <a:latin typeface="微软雅黑" panose="020B0503020204020204" pitchFamily="34" charset="-122"/>
                <a:ea typeface="微软雅黑" panose="020B0503020204020204" pitchFamily="34" charset="-122"/>
              </a:rPr>
              <a:t>汇报人</a:t>
            </a:r>
          </a:p>
        </p:txBody>
      </p:sp>
      <p:sp>
        <p:nvSpPr>
          <p:cNvPr id="5" name="文本框 4">
            <a:extLst>
              <a:ext uri="{FF2B5EF4-FFF2-40B4-BE49-F238E27FC236}">
                <a16:creationId xmlns:a16="http://schemas.microsoft.com/office/drawing/2014/main" id="{F1B5170C-0A93-DE4E-D3BB-401B5E35536D}"/>
              </a:ext>
            </a:extLst>
          </p:cNvPr>
          <p:cNvSpPr txBox="1"/>
          <p:nvPr/>
        </p:nvSpPr>
        <p:spPr>
          <a:xfrm>
            <a:off x="5812474" y="4461337"/>
            <a:ext cx="1332416" cy="584775"/>
          </a:xfrm>
          <a:prstGeom prst="rect">
            <a:avLst/>
          </a:prstGeom>
          <a:noFill/>
        </p:spPr>
        <p:txBody>
          <a:bodyPr wrap="none">
            <a:spAutoFit/>
          </a:bodyPr>
          <a:lstStyle/>
          <a:p>
            <a:pPr algn="ctr">
              <a:defRPr/>
            </a:pPr>
            <a:r>
              <a:rPr lang="en-US" altLang="zh-CN" sz="3200" b="1" dirty="0">
                <a:solidFill>
                  <a:schemeClr val="accent1"/>
                </a:solidFill>
                <a:latin typeface="微软雅黑" panose="020B0503020204020204" pitchFamily="34" charset="-122"/>
                <a:ea typeface="微软雅黑" panose="020B0503020204020204" pitchFamily="34" charset="-122"/>
              </a:rPr>
              <a:t>XXXX</a:t>
            </a:r>
            <a:endParaRPr lang="zh-CN" altLang="en-US" sz="3200" b="1" dirty="0">
              <a:solidFill>
                <a:schemeClr val="accent1"/>
              </a:solidFill>
              <a:latin typeface="微软雅黑" panose="020B0503020204020204" pitchFamily="34" charset="-122"/>
              <a:ea typeface="微软雅黑" panose="020B0503020204020204" pitchFamily="34" charset="-122"/>
            </a:endParaRPr>
          </a:p>
        </p:txBody>
      </p:sp>
      <p:sp>
        <p:nvSpPr>
          <p:cNvPr id="6" name="任意多边形: 形状 5">
            <a:extLst>
              <a:ext uri="{FF2B5EF4-FFF2-40B4-BE49-F238E27FC236}">
                <a16:creationId xmlns:a16="http://schemas.microsoft.com/office/drawing/2014/main" id="{AD3FB004-3B93-3E9F-C7A6-53529A5C2DC6}"/>
              </a:ext>
            </a:extLst>
          </p:cNvPr>
          <p:cNvSpPr/>
          <p:nvPr/>
        </p:nvSpPr>
        <p:spPr>
          <a:xfrm>
            <a:off x="2614943" y="-5733"/>
            <a:ext cx="6962115" cy="493598"/>
          </a:xfrm>
          <a:custGeom>
            <a:avLst/>
            <a:gdLst>
              <a:gd name="connsiteX0" fmla="*/ 0 w 8717654"/>
              <a:gd name="connsiteY0" fmla="*/ 0 h 562725"/>
              <a:gd name="connsiteX1" fmla="*/ 1155700 w 8717654"/>
              <a:gd name="connsiteY1" fmla="*/ 0 h 562725"/>
              <a:gd name="connsiteX2" fmla="*/ 7561954 w 8717654"/>
              <a:gd name="connsiteY2" fmla="*/ 0 h 562725"/>
              <a:gd name="connsiteX3" fmla="*/ 8717654 w 8717654"/>
              <a:gd name="connsiteY3" fmla="*/ 0 h 562725"/>
              <a:gd name="connsiteX4" fmla="*/ 8717381 w 8717654"/>
              <a:gd name="connsiteY4" fmla="*/ 1022 h 562725"/>
              <a:gd name="connsiteX5" fmla="*/ 8441286 w 8717654"/>
              <a:gd name="connsiteY5" fmla="*/ 521969 h 562725"/>
              <a:gd name="connsiteX6" fmla="*/ 8383695 w 8717654"/>
              <a:gd name="connsiteY6" fmla="*/ 562725 h 562725"/>
              <a:gd name="connsiteX7" fmla="*/ 7227995 w 8717654"/>
              <a:gd name="connsiteY7" fmla="*/ 562725 h 562725"/>
              <a:gd name="connsiteX8" fmla="*/ 1489659 w 8717654"/>
              <a:gd name="connsiteY8" fmla="*/ 562725 h 562725"/>
              <a:gd name="connsiteX9" fmla="*/ 333959 w 8717654"/>
              <a:gd name="connsiteY9" fmla="*/ 562725 h 562725"/>
              <a:gd name="connsiteX10" fmla="*/ 276368 w 8717654"/>
              <a:gd name="connsiteY10" fmla="*/ 521969 h 562725"/>
              <a:gd name="connsiteX11" fmla="*/ 273 w 8717654"/>
              <a:gd name="connsiteY11" fmla="*/ 1022 h 562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17654" h="562725">
                <a:moveTo>
                  <a:pt x="0" y="0"/>
                </a:moveTo>
                <a:lnTo>
                  <a:pt x="1155700" y="0"/>
                </a:lnTo>
                <a:lnTo>
                  <a:pt x="7561954" y="0"/>
                </a:lnTo>
                <a:lnTo>
                  <a:pt x="8717654" y="0"/>
                </a:lnTo>
                <a:lnTo>
                  <a:pt x="8717381" y="1022"/>
                </a:lnTo>
                <a:lnTo>
                  <a:pt x="8441286" y="521969"/>
                </a:lnTo>
                <a:cubicBezTo>
                  <a:pt x="8427678" y="547645"/>
                  <a:pt x="8406370" y="562725"/>
                  <a:pt x="8383695" y="562725"/>
                </a:cubicBezTo>
                <a:lnTo>
                  <a:pt x="7227995" y="562725"/>
                </a:lnTo>
                <a:lnTo>
                  <a:pt x="1489659" y="562725"/>
                </a:lnTo>
                <a:lnTo>
                  <a:pt x="333959" y="562725"/>
                </a:lnTo>
                <a:cubicBezTo>
                  <a:pt x="311285" y="562725"/>
                  <a:pt x="289976" y="547645"/>
                  <a:pt x="276368" y="521969"/>
                </a:cubicBezTo>
                <a:lnTo>
                  <a:pt x="273" y="1022"/>
                </a:lnTo>
                <a:close/>
              </a:path>
            </a:pathLst>
          </a:custGeom>
          <a:solidFill>
            <a:schemeClr val="accent1"/>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dirty="0">
              <a:ln>
                <a:noFill/>
              </a:ln>
              <a:solidFill>
                <a:srgbClr val="0C56AE"/>
              </a:solidFill>
              <a:effectLst/>
              <a:uLnTx/>
              <a:uFillTx/>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4903C5D8-B02C-615F-5E7C-1D735477DD28}"/>
              </a:ext>
            </a:extLst>
          </p:cNvPr>
          <p:cNvSpPr txBox="1"/>
          <p:nvPr/>
        </p:nvSpPr>
        <p:spPr>
          <a:xfrm>
            <a:off x="2925902" y="10234"/>
            <a:ext cx="6340197" cy="461665"/>
          </a:xfrm>
          <a:prstGeom prst="rect">
            <a:avLst/>
          </a:prstGeom>
          <a:noFill/>
        </p:spPr>
        <p:txBody>
          <a:bodyPr wrap="none">
            <a:spAutoFit/>
          </a:bodyPr>
          <a:lstStyle/>
          <a:p>
            <a:pPr>
              <a:defRPr/>
            </a:pPr>
            <a:r>
              <a:rPr lang="zh-CN" altLang="en-US" sz="2400" dirty="0">
                <a:solidFill>
                  <a:srgbClr val="FFFFFF"/>
                </a:solidFill>
                <a:latin typeface="微软雅黑" panose="020B0503020204020204" pitchFamily="34" charset="-122"/>
                <a:ea typeface="微软雅黑" panose="020B0503020204020204" pitchFamily="34" charset="-122"/>
              </a:rPr>
              <a:t>新型铁基非常规多铁材料设计与磁电调控研究</a:t>
            </a:r>
          </a:p>
        </p:txBody>
      </p:sp>
      <p:sp>
        <p:nvSpPr>
          <p:cNvPr id="8" name="文本框 7">
            <a:extLst>
              <a:ext uri="{FF2B5EF4-FFF2-40B4-BE49-F238E27FC236}">
                <a16:creationId xmlns:a16="http://schemas.microsoft.com/office/drawing/2014/main" id="{32FFE97B-23C9-8820-1F31-BED8A87ED8B0}"/>
              </a:ext>
            </a:extLst>
          </p:cNvPr>
          <p:cNvSpPr txBox="1"/>
          <p:nvPr/>
        </p:nvSpPr>
        <p:spPr>
          <a:xfrm>
            <a:off x="5080338" y="5238426"/>
            <a:ext cx="2031326" cy="461665"/>
          </a:xfrm>
          <a:prstGeom prst="rect">
            <a:avLst/>
          </a:prstGeom>
          <a:noFill/>
        </p:spPr>
        <p:txBody>
          <a:bodyPr wrap="none">
            <a:spAutoFit/>
          </a:bodyPr>
          <a:lstStyle/>
          <a:p>
            <a:pPr algn="ctr">
              <a:defRPr/>
            </a:pPr>
            <a:r>
              <a:rPr lang="zh-CN" altLang="en-US" sz="2400" dirty="0">
                <a:ln w="0"/>
                <a:solidFill>
                  <a:prstClr val="black"/>
                </a:solidFill>
                <a:latin typeface="微软雅黑" panose="020B0503020204020204" pitchFamily="34" charset="-122"/>
                <a:ea typeface="微软雅黑" panose="020B0503020204020204" pitchFamily="34" charset="-122"/>
              </a:rPr>
              <a:t>中国科研大学</a:t>
            </a:r>
          </a:p>
        </p:txBody>
      </p:sp>
      <p:sp>
        <p:nvSpPr>
          <p:cNvPr id="9" name="矩形 8">
            <a:extLst>
              <a:ext uri="{FF2B5EF4-FFF2-40B4-BE49-F238E27FC236}">
                <a16:creationId xmlns:a16="http://schemas.microsoft.com/office/drawing/2014/main" id="{D82FF6B3-E791-92AE-46CC-5FB429465CB0}"/>
              </a:ext>
            </a:extLst>
          </p:cNvPr>
          <p:cNvSpPr/>
          <p:nvPr/>
        </p:nvSpPr>
        <p:spPr>
          <a:xfrm>
            <a:off x="0" y="6632574"/>
            <a:ext cx="12192000" cy="23447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文本框 9">
            <a:extLst>
              <a:ext uri="{FF2B5EF4-FFF2-40B4-BE49-F238E27FC236}">
                <a16:creationId xmlns:a16="http://schemas.microsoft.com/office/drawing/2014/main" id="{626C5F9F-EECD-2264-A66A-C58849A197E9}"/>
              </a:ext>
            </a:extLst>
          </p:cNvPr>
          <p:cNvSpPr txBox="1"/>
          <p:nvPr/>
        </p:nvSpPr>
        <p:spPr>
          <a:xfrm>
            <a:off x="4310896" y="5721158"/>
            <a:ext cx="3570209" cy="461665"/>
          </a:xfrm>
          <a:prstGeom prst="rect">
            <a:avLst/>
          </a:prstGeom>
          <a:noFill/>
        </p:spPr>
        <p:txBody>
          <a:bodyPr wrap="none">
            <a:spAutoFit/>
          </a:bodyPr>
          <a:lstStyle/>
          <a:p>
            <a:pPr algn="ctr">
              <a:defRPr/>
            </a:pPr>
            <a:r>
              <a:rPr lang="zh-CN" altLang="en-US" sz="2400" dirty="0">
                <a:ln w="0"/>
                <a:solidFill>
                  <a:prstClr val="black"/>
                </a:solidFill>
                <a:latin typeface="微软雅黑" panose="020B0503020204020204" pitchFamily="34" charset="-122"/>
                <a:ea typeface="微软雅黑" panose="020B0503020204020204" pitchFamily="34" charset="-122"/>
              </a:rPr>
              <a:t>自然科学研究重点实验室</a:t>
            </a:r>
          </a:p>
        </p:txBody>
      </p:sp>
    </p:spTree>
    <p:extLst>
      <p:ext uri="{BB962C8B-B14F-4D97-AF65-F5344CB8AC3E}">
        <p14:creationId xmlns:p14="http://schemas.microsoft.com/office/powerpoint/2010/main" val="31863402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4.3.1"/>
</p:tagLst>
</file>

<file path=ppt/tags/tag2.xml><?xml version="1.0" encoding="utf-8"?>
<p:tagLst xmlns:a="http://schemas.openxmlformats.org/drawingml/2006/main" xmlns:r="http://schemas.openxmlformats.org/officeDocument/2006/relationships" xmlns:p="http://schemas.openxmlformats.org/presentationml/2006/main">
  <p:tag name="PA" val="v4.3.1"/>
</p:tagLst>
</file>

<file path=ppt/tags/tag3.xml><?xml version="1.0" encoding="utf-8"?>
<p:tagLst xmlns:a="http://schemas.openxmlformats.org/drawingml/2006/main" xmlns:r="http://schemas.openxmlformats.org/officeDocument/2006/relationships" xmlns:p="http://schemas.openxmlformats.org/presentationml/2006/main">
  <p:tag name="PA" val="v4.3.1"/>
</p:tagLst>
</file>

<file path=ppt/tags/tag4.xml><?xml version="1.0" encoding="utf-8"?>
<p:tagLst xmlns:a="http://schemas.openxmlformats.org/drawingml/2006/main" xmlns:r="http://schemas.openxmlformats.org/officeDocument/2006/relationships" xmlns:p="http://schemas.openxmlformats.org/presentationml/2006/main">
  <p:tag name="PA" val="v4.3.1"/>
</p:tagLst>
</file>

<file path=ppt/tags/tag5.xml><?xml version="1.0" encoding="utf-8"?>
<p:tagLst xmlns:a="http://schemas.openxmlformats.org/drawingml/2006/main" xmlns:r="http://schemas.openxmlformats.org/officeDocument/2006/relationships" xmlns:p="http://schemas.openxmlformats.org/presentationml/2006/main">
  <p:tag name="PA" val="v4.3.1"/>
</p:tagLst>
</file>

<file path=ppt/tags/tag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15"/>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15"/>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15"/>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15"/>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1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15"/>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15"/>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PA" val="v5.2.11"/>
</p:tagLst>
</file>

<file path=ppt/tags/tag19.xml><?xml version="1.0" encoding="utf-8"?>
<p:tagLst xmlns:a="http://schemas.openxmlformats.org/drawingml/2006/main" xmlns:r="http://schemas.openxmlformats.org/officeDocument/2006/relationships" xmlns:p="http://schemas.openxmlformats.org/presentationml/2006/main">
  <p:tag name="ADJUSTMENTS" val="2.311888"/>
</p:tagLst>
</file>

<file path=ppt/tags/tag20.xml><?xml version="1.0" encoding="utf-8"?>
<p:tagLst xmlns:a="http://schemas.openxmlformats.org/drawingml/2006/main" xmlns:r="http://schemas.openxmlformats.org/officeDocument/2006/relationships" xmlns:p="http://schemas.openxmlformats.org/presentationml/2006/main">
  <p:tag name="PA" val="v5.2.11"/>
</p:tagLst>
</file>

<file path=ppt/tags/tag21.xml><?xml version="1.0" encoding="utf-8"?>
<p:tagLst xmlns:a="http://schemas.openxmlformats.org/drawingml/2006/main" xmlns:r="http://schemas.openxmlformats.org/officeDocument/2006/relationships" xmlns:p="http://schemas.openxmlformats.org/presentationml/2006/main">
  <p:tag name="ADJUSTMENTS" val="2.311888"/>
</p:tagLst>
</file>

<file path=ppt/tags/tag22.xml><?xml version="1.0" encoding="utf-8"?>
<p:tagLst xmlns:a="http://schemas.openxmlformats.org/drawingml/2006/main" xmlns:r="http://schemas.openxmlformats.org/officeDocument/2006/relationships" xmlns:p="http://schemas.openxmlformats.org/presentationml/2006/main">
  <p:tag name="PA" val="v5.2.11"/>
</p:tagLst>
</file>

<file path=ppt/tags/tag23.xml><?xml version="1.0" encoding="utf-8"?>
<p:tagLst xmlns:a="http://schemas.openxmlformats.org/drawingml/2006/main" xmlns:r="http://schemas.openxmlformats.org/officeDocument/2006/relationships" xmlns:p="http://schemas.openxmlformats.org/presentationml/2006/main">
  <p:tag name="ADJUSTMENTS" val="2.311888"/>
</p:tagLst>
</file>

<file path=ppt/tags/tag24.xml><?xml version="1.0" encoding="utf-8"?>
<p:tagLst xmlns:a="http://schemas.openxmlformats.org/drawingml/2006/main" xmlns:r="http://schemas.openxmlformats.org/officeDocument/2006/relationships" xmlns:p="http://schemas.openxmlformats.org/presentationml/2006/main">
  <p:tag name="PA" val="v5.2.11"/>
</p:tagLst>
</file>

<file path=ppt/tags/tag25.xml><?xml version="1.0" encoding="utf-8"?>
<p:tagLst xmlns:a="http://schemas.openxmlformats.org/drawingml/2006/main" xmlns:r="http://schemas.openxmlformats.org/officeDocument/2006/relationships" xmlns:p="http://schemas.openxmlformats.org/presentationml/2006/main">
  <p:tag name="PA" val="v5.2.11"/>
</p:tagLst>
</file>

<file path=ppt/tags/tag26.xml><?xml version="1.0" encoding="utf-8"?>
<p:tagLst xmlns:a="http://schemas.openxmlformats.org/drawingml/2006/main" xmlns:r="http://schemas.openxmlformats.org/officeDocument/2006/relationships" xmlns:p="http://schemas.openxmlformats.org/presentationml/2006/main">
  <p:tag name="PA" val="v5.2.11"/>
</p:tagLst>
</file>

<file path=ppt/tags/tag27.xml><?xml version="1.0" encoding="utf-8"?>
<p:tagLst xmlns:a="http://schemas.openxmlformats.org/drawingml/2006/main" xmlns:r="http://schemas.openxmlformats.org/officeDocument/2006/relationships" xmlns:p="http://schemas.openxmlformats.org/presentationml/2006/main">
  <p:tag name="ADJUSTMENTS" val="2.311888"/>
</p:tagLst>
</file>

<file path=ppt/tags/tag28.xml><?xml version="1.0" encoding="utf-8"?>
<p:tagLst xmlns:a="http://schemas.openxmlformats.org/drawingml/2006/main" xmlns:r="http://schemas.openxmlformats.org/officeDocument/2006/relationships" xmlns:p="http://schemas.openxmlformats.org/presentationml/2006/main">
  <p:tag name="PA" val="v5.2.11"/>
</p:tagLst>
</file>

<file path=ppt/tags/tag29.xml><?xml version="1.0" encoding="utf-8"?>
<p:tagLst xmlns:a="http://schemas.openxmlformats.org/drawingml/2006/main" xmlns:r="http://schemas.openxmlformats.org/officeDocument/2006/relationships" xmlns:p="http://schemas.openxmlformats.org/presentationml/2006/main">
  <p:tag name="ADJUSTMENTS" val="2.311888"/>
</p:tagLst>
</file>

<file path=ppt/tags/tag30.xml><?xml version="1.0" encoding="utf-8"?>
<p:tagLst xmlns:a="http://schemas.openxmlformats.org/drawingml/2006/main" xmlns:r="http://schemas.openxmlformats.org/officeDocument/2006/relationships" xmlns:p="http://schemas.openxmlformats.org/presentationml/2006/main">
  <p:tag name="PA" val="v5.2.11"/>
</p:tagLst>
</file>

<file path=ppt/tags/tag31.xml><?xml version="1.0" encoding="utf-8"?>
<p:tagLst xmlns:a="http://schemas.openxmlformats.org/drawingml/2006/main" xmlns:r="http://schemas.openxmlformats.org/officeDocument/2006/relationships" xmlns:p="http://schemas.openxmlformats.org/presentationml/2006/main">
  <p:tag name="ADJUSTMENTS" val="2.311888"/>
</p:tagLst>
</file>

<file path=ppt/theme/theme1.xml><?xml version="1.0" encoding="utf-8"?>
<a:theme xmlns:a="http://schemas.openxmlformats.org/drawingml/2006/main" name="WPS">
  <a:themeElements>
    <a:clrScheme name="浙大蓝">
      <a:dk1>
        <a:sysClr val="windowText" lastClr="000000"/>
      </a:dk1>
      <a:lt1>
        <a:sysClr val="window" lastClr="FFFFFF"/>
      </a:lt1>
      <a:dk2>
        <a:srgbClr val="2D3847"/>
      </a:dk2>
      <a:lt2>
        <a:srgbClr val="E7E6E6"/>
      </a:lt2>
      <a:accent1>
        <a:srgbClr val="164690"/>
      </a:accent1>
      <a:accent2>
        <a:srgbClr val="45ABF9"/>
      </a:accent2>
      <a:accent3>
        <a:srgbClr val="F4FAFF"/>
      </a:accent3>
      <a:accent4>
        <a:srgbClr val="00AA65"/>
      </a:accent4>
      <a:accent5>
        <a:srgbClr val="D8F8E6"/>
      </a:accent5>
      <a:accent6>
        <a:srgbClr val="F4FAFF"/>
      </a:accent6>
      <a:hlink>
        <a:srgbClr val="0563C1"/>
      </a:hlink>
      <a:folHlink>
        <a:srgbClr val="954F72"/>
      </a:folHlink>
    </a:clrScheme>
    <a:fontScheme name="学术风格字体">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0C56AE"/>
    </a:accent1>
    <a:accent2>
      <a:srgbClr val="0C56AE"/>
    </a:accent2>
    <a:accent3>
      <a:srgbClr val="0C56AE"/>
    </a:accent3>
    <a:accent4>
      <a:srgbClr val="0C56AE"/>
    </a:accent4>
    <a:accent5>
      <a:srgbClr val="0C56AE"/>
    </a:accent5>
    <a:accent6>
      <a:srgbClr val="0C56AE"/>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国际会议蓝色">
    <a:dk1>
      <a:sysClr val="windowText" lastClr="000000"/>
    </a:dk1>
    <a:lt1>
      <a:sysClr val="window" lastClr="FFFFFF"/>
    </a:lt1>
    <a:dk2>
      <a:srgbClr val="44546A"/>
    </a:dk2>
    <a:lt2>
      <a:srgbClr val="E7E6E6"/>
    </a:lt2>
    <a:accent1>
      <a:srgbClr val="0249A1"/>
    </a:accent1>
    <a:accent2>
      <a:srgbClr val="CA865F"/>
    </a:accent2>
    <a:accent3>
      <a:srgbClr val="A5A5A5"/>
    </a:accent3>
    <a:accent4>
      <a:srgbClr val="FFC000"/>
    </a:accent4>
    <a:accent5>
      <a:srgbClr val="5B9BD5"/>
    </a:accent5>
    <a:accent6>
      <a:srgbClr val="1146A8"/>
    </a:accent6>
    <a:hlink>
      <a:srgbClr val="1146A8"/>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国际会议蓝色">
    <a:dk1>
      <a:sysClr val="windowText" lastClr="000000"/>
    </a:dk1>
    <a:lt1>
      <a:sysClr val="window" lastClr="FFFFFF"/>
    </a:lt1>
    <a:dk2>
      <a:srgbClr val="44546A"/>
    </a:dk2>
    <a:lt2>
      <a:srgbClr val="E7E6E6"/>
    </a:lt2>
    <a:accent1>
      <a:srgbClr val="0249A1"/>
    </a:accent1>
    <a:accent2>
      <a:srgbClr val="CA865F"/>
    </a:accent2>
    <a:accent3>
      <a:srgbClr val="A5A5A5"/>
    </a:accent3>
    <a:accent4>
      <a:srgbClr val="FFC000"/>
    </a:accent4>
    <a:accent5>
      <a:srgbClr val="5B9BD5"/>
    </a:accent5>
    <a:accent6>
      <a:srgbClr val="1146A8"/>
    </a:accent6>
    <a:hlink>
      <a:srgbClr val="1146A8"/>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国际会议蓝色">
    <a:dk1>
      <a:sysClr val="windowText" lastClr="000000"/>
    </a:dk1>
    <a:lt1>
      <a:sysClr val="window" lastClr="FFFFFF"/>
    </a:lt1>
    <a:dk2>
      <a:srgbClr val="44546A"/>
    </a:dk2>
    <a:lt2>
      <a:srgbClr val="E7E6E6"/>
    </a:lt2>
    <a:accent1>
      <a:srgbClr val="0249A1"/>
    </a:accent1>
    <a:accent2>
      <a:srgbClr val="CA865F"/>
    </a:accent2>
    <a:accent3>
      <a:srgbClr val="A5A5A5"/>
    </a:accent3>
    <a:accent4>
      <a:srgbClr val="FFC000"/>
    </a:accent4>
    <a:accent5>
      <a:srgbClr val="5B9BD5"/>
    </a:accent5>
    <a:accent6>
      <a:srgbClr val="1146A8"/>
    </a:accent6>
    <a:hlink>
      <a:srgbClr val="1146A8"/>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1183</TotalTime>
  <Words>1786</Words>
  <Application>Microsoft Office PowerPoint</Application>
  <PresentationFormat>宽屏</PresentationFormat>
  <Paragraphs>260</Paragraphs>
  <Slides>16</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vt:i4>
      </vt:variant>
    </vt:vector>
  </HeadingPairs>
  <TitlesOfParts>
    <vt:vector size="20" baseType="lpstr">
      <vt:lpstr>微软雅黑</vt:lpstr>
      <vt:lpstr>Arial</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钟华</dc:creator>
  <cp:lastModifiedBy>Xe L</cp:lastModifiedBy>
  <cp:revision>86</cp:revision>
  <dcterms:created xsi:type="dcterms:W3CDTF">2023-08-09T12:44:00Z</dcterms:created>
  <dcterms:modified xsi:type="dcterms:W3CDTF">2026-05-25T15:43:57Z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